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70" r:id="rId2"/>
    <p:sldId id="271" r:id="rId3"/>
    <p:sldId id="284" r:id="rId4"/>
    <p:sldId id="259" r:id="rId5"/>
    <p:sldId id="288" r:id="rId6"/>
    <p:sldId id="260" r:id="rId7"/>
    <p:sldId id="261" r:id="rId8"/>
    <p:sldId id="262" r:id="rId9"/>
    <p:sldId id="263" r:id="rId10"/>
    <p:sldId id="264" r:id="rId11"/>
    <p:sldId id="265" r:id="rId12"/>
    <p:sldId id="286" r:id="rId13"/>
    <p:sldId id="266" r:id="rId14"/>
    <p:sldId id="269" r:id="rId15"/>
    <p:sldId id="287" r:id="rId16"/>
    <p:sldId id="267" r:id="rId17"/>
    <p:sldId id="268" r:id="rId18"/>
    <p:sldId id="285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8500"/>
    <a:srgbClr val="2BA25F"/>
    <a:srgbClr val="0F6A63"/>
    <a:srgbClr val="FFF7EC"/>
    <a:srgbClr val="CF232E"/>
    <a:srgbClr val="FB84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734"/>
    <p:restoredTop sz="94521"/>
  </p:normalViewPr>
  <p:slideViewPr>
    <p:cSldViewPr snapToGrid="0" snapToObjects="1">
      <p:cViewPr varScale="1">
        <p:scale>
          <a:sx n="120" d="100"/>
          <a:sy n="120" d="100"/>
        </p:scale>
        <p:origin x="179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7C8747-BE57-4342-BD2E-A16D6EFD5AA4}" type="datetimeFigureOut">
              <a:rPr kumimoji="1" lang="zh-CN" altLang="en-US" smtClean="0"/>
              <a:t>2026/6/12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F5D65-63F2-2143-A7A4-887DACEDE23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11689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9686E9-7492-1044-89F0-11F82169CF5B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31196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1F5D65-63F2-2143-A7A4-887DACEDE239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11392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png"/><Relationship Id="rId9" Type="http://schemas.openxmlformats.org/officeDocument/2006/relationships/image" Target="../media/image17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2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pic>
        <p:nvPicPr>
          <p:cNvPr id="5" name="Picture 4" descr="git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667512"/>
            <a:ext cx="1170432" cy="11704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3232" y="1353312"/>
            <a:ext cx="813816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4200" b="1" i="0" noProof="1">
                <a:solidFill>
                  <a:srgbClr val="24292F"/>
                </a:solidFill>
                <a:latin typeface="LXGW WenKai"/>
              </a:rPr>
              <a:t>开源项目潜力发现系统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1438" y="2330267"/>
            <a:ext cx="877824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000" b="1" i="0" noProof="1">
                <a:solidFill>
                  <a:srgbClr val="24292F"/>
                </a:solidFill>
                <a:latin typeface="LXGW WenKai"/>
              </a:rPr>
              <a:t>从 GitHub 早期信号中挖掘值得观察的开源项目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724912"/>
            <a:ext cx="7086600" cy="64008"/>
          </a:xfrm>
          <a:prstGeom prst="rect">
            <a:avLst/>
          </a:prstGeom>
          <a:solidFill>
            <a:srgbClr val="2D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3" name="Rounded Rectangle 12"/>
          <p:cNvSpPr/>
          <p:nvPr/>
        </p:nvSpPr>
        <p:spPr>
          <a:xfrm>
            <a:off x="849230" y="3262838"/>
            <a:ext cx="1783080" cy="8778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6" name="TextBox 15"/>
          <p:cNvSpPr txBox="1"/>
          <p:nvPr/>
        </p:nvSpPr>
        <p:spPr>
          <a:xfrm>
            <a:off x="1599038" y="3574864"/>
            <a:ext cx="996696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600" b="1" i="0" noProof="1">
                <a:solidFill>
                  <a:srgbClr val="24292F"/>
                </a:solidFill>
                <a:latin typeface="LXGW WenKai"/>
              </a:rPr>
              <a:t>历史样本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78030" y="3555446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600" b="1" i="0" noProof="1">
                <a:solidFill>
                  <a:srgbClr val="D0D7DE"/>
                </a:solidFill>
                <a:latin typeface="LXGW WenKa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98070" y="3262838"/>
            <a:ext cx="1783080" cy="8778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22" name="TextBox 21"/>
          <p:cNvSpPr txBox="1"/>
          <p:nvPr/>
        </p:nvSpPr>
        <p:spPr>
          <a:xfrm>
            <a:off x="3769214" y="3574863"/>
            <a:ext cx="996696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600" b="1" noProof="1">
                <a:solidFill>
                  <a:srgbClr val="24292F"/>
                </a:solidFill>
                <a:latin typeface="LXGW WenKai"/>
              </a:rPr>
              <a:t>早期信号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26870" y="3555446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600" b="1" i="0" noProof="1">
                <a:solidFill>
                  <a:srgbClr val="D0D7DE"/>
                </a:solidFill>
                <a:latin typeface="LXGW WenKa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46910" y="3262838"/>
            <a:ext cx="1783080" cy="8778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28" name="TextBox 27"/>
          <p:cNvSpPr txBox="1"/>
          <p:nvPr/>
        </p:nvSpPr>
        <p:spPr>
          <a:xfrm>
            <a:off x="5908729" y="3583711"/>
            <a:ext cx="996696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600" b="1" noProof="1">
                <a:solidFill>
                  <a:srgbClr val="24292F"/>
                </a:solidFill>
                <a:latin typeface="LXGW WenKai"/>
              </a:rPr>
              <a:t>模型训练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75710" y="3555446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600" b="1" i="0" noProof="1">
                <a:solidFill>
                  <a:srgbClr val="D0D7DE"/>
                </a:solidFill>
                <a:latin typeface="LXGW WenKai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95750" y="3262838"/>
            <a:ext cx="1783080" cy="8778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33" name="TextBox 32"/>
          <p:cNvSpPr txBox="1"/>
          <p:nvPr/>
        </p:nvSpPr>
        <p:spPr>
          <a:xfrm>
            <a:off x="7442054" y="3514298"/>
            <a:ext cx="40233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endParaRPr lang="en-US" sz="1000" noProof="1"/>
          </a:p>
        </p:txBody>
      </p:sp>
      <p:sp>
        <p:nvSpPr>
          <p:cNvPr id="34" name="TextBox 33"/>
          <p:cNvSpPr txBox="1"/>
          <p:nvPr/>
        </p:nvSpPr>
        <p:spPr>
          <a:xfrm>
            <a:off x="8143003" y="3578793"/>
            <a:ext cx="996696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600" b="1" noProof="1">
                <a:solidFill>
                  <a:srgbClr val="24292F"/>
                </a:solidFill>
                <a:latin typeface="LXGW WenKai"/>
              </a:rPr>
              <a:t>事实洞察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24550" y="3555446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600" b="1" i="0" noProof="1">
                <a:solidFill>
                  <a:srgbClr val="D0D7DE"/>
                </a:solidFill>
                <a:latin typeface="LXGW WenKai"/>
              </a:rP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44590" y="3262838"/>
            <a:ext cx="1783080" cy="8778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39" name="TextBox 38"/>
          <p:cNvSpPr txBox="1"/>
          <p:nvPr/>
        </p:nvSpPr>
        <p:spPr>
          <a:xfrm>
            <a:off x="9590894" y="3514298"/>
            <a:ext cx="40233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endParaRPr lang="en-US" sz="1000" noProof="1"/>
          </a:p>
        </p:txBody>
      </p:sp>
      <p:sp>
        <p:nvSpPr>
          <p:cNvPr id="40" name="TextBox 39"/>
          <p:cNvSpPr txBox="1"/>
          <p:nvPr/>
        </p:nvSpPr>
        <p:spPr>
          <a:xfrm>
            <a:off x="10250424" y="3598831"/>
            <a:ext cx="996696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600" b="1" noProof="1">
                <a:solidFill>
                  <a:srgbClr val="24292F"/>
                </a:solidFill>
                <a:latin typeface="LXGW WenKai"/>
              </a:rPr>
              <a:t>今日雷达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381468" y="4532575"/>
            <a:ext cx="1965960" cy="786384"/>
          </a:xfrm>
          <a:prstGeom prst="roundRect">
            <a:avLst>
              <a:gd name="adj" fmla="val 10000"/>
            </a:avLst>
          </a:prstGeom>
          <a:solidFill>
            <a:srgbClr val="F6F8FA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43" name="TextBox 42"/>
          <p:cNvSpPr txBox="1"/>
          <p:nvPr/>
        </p:nvSpPr>
        <p:spPr>
          <a:xfrm>
            <a:off x="1381468" y="4624015"/>
            <a:ext cx="1965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2200" b="1" i="0" noProof="1">
                <a:solidFill>
                  <a:srgbClr val="2DA44E"/>
                </a:solidFill>
                <a:latin typeface="LXGW WenKai"/>
              </a:rPr>
              <a:t>500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81468" y="5008063"/>
            <a:ext cx="19659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600" b="1" i="0" noProof="1">
                <a:solidFill>
                  <a:srgbClr val="57606A"/>
                </a:solidFill>
                <a:latin typeface="LXGW WenKai"/>
              </a:rPr>
              <a:t>Repos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996652" y="4532575"/>
            <a:ext cx="1965960" cy="786384"/>
          </a:xfrm>
          <a:prstGeom prst="roundRect">
            <a:avLst>
              <a:gd name="adj" fmla="val 10000"/>
            </a:avLst>
          </a:prstGeom>
          <a:solidFill>
            <a:srgbClr val="F6F8FA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46" name="TextBox 45"/>
          <p:cNvSpPr txBox="1"/>
          <p:nvPr/>
        </p:nvSpPr>
        <p:spPr>
          <a:xfrm>
            <a:off x="3996652" y="4624015"/>
            <a:ext cx="196596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2200" b="1" noProof="1">
                <a:solidFill>
                  <a:srgbClr val="0969DA"/>
                </a:solidFill>
                <a:latin typeface="LXGW WenKai"/>
              </a:rPr>
              <a:t>19</a:t>
            </a:r>
            <a:endParaRPr lang="en-US" sz="2200" b="1" i="0" noProof="1">
              <a:solidFill>
                <a:srgbClr val="0969DA"/>
              </a:solidFill>
              <a:latin typeface="LXGW WenKai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010685" y="5018444"/>
            <a:ext cx="19659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600" b="1" noProof="1">
                <a:solidFill>
                  <a:srgbClr val="5B6977"/>
                </a:solidFill>
                <a:latin typeface="LXGW WenKai"/>
              </a:rPr>
              <a:t>Features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19812" y="4535382"/>
            <a:ext cx="1965960" cy="786384"/>
          </a:xfrm>
          <a:prstGeom prst="roundRect">
            <a:avLst>
              <a:gd name="adj" fmla="val 10000"/>
            </a:avLst>
          </a:prstGeom>
          <a:solidFill>
            <a:srgbClr val="F6F8FA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49" name="TextBox 48"/>
          <p:cNvSpPr txBox="1"/>
          <p:nvPr/>
        </p:nvSpPr>
        <p:spPr>
          <a:xfrm>
            <a:off x="6419812" y="4626822"/>
            <a:ext cx="196596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2200" b="1" i="0" noProof="1">
                <a:solidFill>
                  <a:srgbClr val="FB8500"/>
                </a:solidFill>
                <a:latin typeface="LXGW WenKai"/>
              </a:rPr>
              <a:t>0.883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5779" y="5023876"/>
            <a:ext cx="19659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600" b="1" noProof="1">
                <a:solidFill>
                  <a:srgbClr val="57606A"/>
                </a:solidFill>
                <a:latin typeface="LXGW WenKai"/>
              </a:rPr>
              <a:t>AUC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893264" y="4539954"/>
            <a:ext cx="1965960" cy="786384"/>
          </a:xfrm>
          <a:prstGeom prst="roundRect">
            <a:avLst>
              <a:gd name="adj" fmla="val 10000"/>
            </a:avLst>
          </a:prstGeom>
          <a:solidFill>
            <a:srgbClr val="F6F8FA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52" name="TextBox 51"/>
          <p:cNvSpPr txBox="1"/>
          <p:nvPr/>
        </p:nvSpPr>
        <p:spPr>
          <a:xfrm>
            <a:off x="8893264" y="4631394"/>
            <a:ext cx="1965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2200" b="1" i="0" noProof="1">
                <a:solidFill>
                  <a:srgbClr val="8A3FFC"/>
                </a:solidFill>
                <a:latin typeface="LXGW WenKai"/>
              </a:rPr>
              <a:t>0.80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93264" y="5023877"/>
            <a:ext cx="19659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600" b="1" noProof="1">
                <a:solidFill>
                  <a:srgbClr val="57606A"/>
                </a:solidFill>
                <a:latin typeface="LXGW WenKai"/>
              </a:rPr>
              <a:t>P@10</a:t>
            </a:r>
          </a:p>
        </p:txBody>
      </p:sp>
      <p:pic>
        <p:nvPicPr>
          <p:cNvPr id="59" name="图形 58">
            <a:extLst>
              <a:ext uri="{FF2B5EF4-FFF2-40B4-BE49-F238E27FC236}">
                <a16:creationId xmlns:a16="http://schemas.microsoft.com/office/drawing/2014/main" id="{E77D4FC3-EA79-33AD-54F6-8C8E1B7076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40142" y="742938"/>
            <a:ext cx="2361402" cy="2361402"/>
          </a:xfrm>
          <a:prstGeom prst="rect">
            <a:avLst/>
          </a:prstGeom>
        </p:spPr>
      </p:pic>
      <p:pic>
        <p:nvPicPr>
          <p:cNvPr id="61" name="图片 60">
            <a:extLst>
              <a:ext uri="{FF2B5EF4-FFF2-40B4-BE49-F238E27FC236}">
                <a16:creationId xmlns:a16="http://schemas.microsoft.com/office/drawing/2014/main" id="{6B82F658-3B55-06A4-F2F6-DEFBD53649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0344" y="3469544"/>
            <a:ext cx="515474" cy="515474"/>
          </a:xfrm>
          <a:prstGeom prst="rect">
            <a:avLst/>
          </a:prstGeom>
        </p:spPr>
      </p:pic>
      <p:pic>
        <p:nvPicPr>
          <p:cNvPr id="65" name="图片 64">
            <a:extLst>
              <a:ext uri="{FF2B5EF4-FFF2-40B4-BE49-F238E27FC236}">
                <a16:creationId xmlns:a16="http://schemas.microsoft.com/office/drawing/2014/main" id="{1B1C029B-AF90-E4FE-7900-96BE977B42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6086" y="3425906"/>
            <a:ext cx="496824" cy="496824"/>
          </a:xfrm>
          <a:prstGeom prst="rect">
            <a:avLst/>
          </a:prstGeom>
        </p:spPr>
      </p:pic>
      <p:pic>
        <p:nvPicPr>
          <p:cNvPr id="67" name="图片 66">
            <a:extLst>
              <a:ext uri="{FF2B5EF4-FFF2-40B4-BE49-F238E27FC236}">
                <a16:creationId xmlns:a16="http://schemas.microsoft.com/office/drawing/2014/main" id="{2E7115B8-4AA9-0FA5-56CA-6FBD7D4833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0197" y="3478869"/>
            <a:ext cx="496824" cy="496824"/>
          </a:xfrm>
          <a:prstGeom prst="rect">
            <a:avLst/>
          </a:prstGeom>
        </p:spPr>
      </p:pic>
      <p:pic>
        <p:nvPicPr>
          <p:cNvPr id="69" name="图片 68">
            <a:extLst>
              <a:ext uri="{FF2B5EF4-FFF2-40B4-BE49-F238E27FC236}">
                <a16:creationId xmlns:a16="http://schemas.microsoft.com/office/drawing/2014/main" id="{72D3963F-0E97-BB9D-ADEF-922E39F3810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69034" y="3447629"/>
            <a:ext cx="465959" cy="465959"/>
          </a:xfrm>
          <a:prstGeom prst="rect">
            <a:avLst/>
          </a:prstGeom>
        </p:spPr>
      </p:pic>
      <p:pic>
        <p:nvPicPr>
          <p:cNvPr id="71" name="图片 70">
            <a:extLst>
              <a:ext uri="{FF2B5EF4-FFF2-40B4-BE49-F238E27FC236}">
                <a16:creationId xmlns:a16="http://schemas.microsoft.com/office/drawing/2014/main" id="{36011C0F-33CC-5889-2823-CCF617E16AD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17389" y="3371457"/>
            <a:ext cx="600797" cy="600797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483930" y="6278282"/>
            <a:ext cx="5319439" cy="371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800" b="1" i="0" noProof="1">
                <a:solidFill>
                  <a:srgbClr val="C00000"/>
                </a:solidFill>
                <a:latin typeface="LXGW WenKai"/>
              </a:rPr>
              <a:t>李文俊  2023150001</a:t>
            </a:r>
            <a:r>
              <a:rPr lang="en-US" sz="1800" b="1" i="0" u="none" strike="noStrike" kern="1200" baseline="0" noProof="1">
                <a:solidFill>
                  <a:srgbClr val="24292F"/>
                </a:solidFill>
              </a:rPr>
              <a:t> </a:t>
            </a:r>
            <a:r>
              <a:rPr lang="en-US" sz="1800" b="1" i="0" u="none" strike="noStrike" kern="1200" baseline="0" noProof="1">
                <a:solidFill>
                  <a:srgbClr val="C00000"/>
                </a:solidFill>
              </a:rPr>
              <a:t> ·   </a:t>
            </a:r>
            <a:r>
              <a:rPr lang="en-US" sz="1800" b="1" i="0" noProof="1">
                <a:solidFill>
                  <a:srgbClr val="C00000"/>
                </a:solidFill>
                <a:latin typeface="LXGW WenKai"/>
              </a:rPr>
              <a:t>陈俊年  2023150108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19812" y="6530987"/>
            <a:ext cx="548640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300" b="0" noProof="1">
                <a:solidFill>
                  <a:srgbClr val="5B6977"/>
                </a:solidFill>
                <a:latin typeface="LXGW WenKai"/>
              </a:rPr>
              <a:t>github.com/WenjunLi2004/DataMining---OpenClaw</a:t>
            </a:r>
            <a:endParaRPr lang="en-US" sz="1300" b="0" i="0" noProof="1">
              <a:solidFill>
                <a:srgbClr val="0969DA"/>
              </a:solidFill>
              <a:latin typeface="LXGW WenKai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9398870" y="6464071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300" b="0" noProof="1">
                <a:solidFill>
                  <a:srgbClr val="5B6977"/>
                </a:solidFill>
                <a:latin typeface="LXGW WenKai"/>
              </a:rPr>
              <a:t>2026 · 06 · 10</a:t>
            </a:r>
          </a:p>
        </p:txBody>
      </p:sp>
    </p:spTree>
    <p:extLst>
      <p:ext uri="{BB962C8B-B14F-4D97-AF65-F5344CB8AC3E}">
        <p14:creationId xmlns:p14="http://schemas.microsoft.com/office/powerpoint/2010/main" val="39625538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164592"/>
            <a:ext cx="34747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100" b="1" i="0" noProof="1">
                <a:solidFill>
                  <a:srgbClr val="24292F"/>
                </a:solidFill>
                <a:latin typeface="LXGW WenKai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25603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1300">
                <a:solidFill>
                  <a:srgbClr val="57606A"/>
                </a:solidFill>
                <a:latin typeface="LXGW WenKai"/>
              </a:defRPr>
            </a:pPr>
            <a:r>
              <a:rPr lang="en-US" noProof="1"/>
              <a:t>2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804672"/>
            <a:ext cx="11064240" cy="10972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6" name="TextBox 5"/>
          <p:cNvSpPr txBox="1"/>
          <p:nvPr/>
        </p:nvSpPr>
        <p:spPr>
          <a:xfrm>
            <a:off x="1258942" y="1204057"/>
            <a:ext cx="9809928" cy="333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400" b="1" i="0" noProof="1">
                <a:solidFill>
                  <a:srgbClr val="24292F"/>
                </a:solidFill>
                <a:latin typeface="LXGW WenKai" panose="02020500000000000000" pitchFamily="18" charset="-120"/>
                <a:ea typeface="LXGW WenKai" panose="02020500000000000000" pitchFamily="18" charset="-120"/>
              </a:rPr>
              <a:t>目标是更早一步——在仓库创建后的早期窗口，识别值得关注的潜力项目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3931920" cy="1444752"/>
          </a:xfrm>
          <a:prstGeom prst="roundRect">
            <a:avLst>
              <a:gd name="adj" fmla="val 10000"/>
            </a:avLst>
          </a:prstGeom>
          <a:solidFill>
            <a:srgbClr val="F6F8FA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>
              <a:latin typeface="LXGW WenKai" panose="02020500000000000000" pitchFamily="18" charset="-120"/>
              <a:ea typeface="LXGW WenKai" panose="02020500000000000000" pitchFamily="18" charset="-12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06500" y="2159000"/>
            <a:ext cx="3048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000" b="1" i="0" noProof="1">
                <a:solidFill>
                  <a:srgbClr val="FB8500"/>
                </a:solidFill>
                <a:latin typeface="LXGW WenKai" panose="02020500000000000000" pitchFamily="18" charset="-120"/>
                <a:ea typeface="LXGW WenKai" panose="02020500000000000000" pitchFamily="18" charset="-120"/>
              </a:rPr>
              <a:t>GitHub Trending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900" y="2619496"/>
            <a:ext cx="3429000" cy="5741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sz="1650" b="1" i="0" noProof="1">
                <a:solidFill>
                  <a:srgbClr val="24292F"/>
                </a:solidFill>
                <a:latin typeface="LXGW WenKai" panose="02020500000000000000" pitchFamily="18" charset="-120"/>
                <a:ea typeface="LXGW WenKai" panose="02020500000000000000" pitchFamily="18" charset="-120"/>
              </a:rPr>
              <a:t>看见的是：已经获得关注的项目</a:t>
            </a:r>
          </a:p>
          <a:p>
            <a:pPr algn="l">
              <a:lnSpc>
                <a:spcPct val="125000"/>
              </a:lnSpc>
            </a:pPr>
            <a:r>
              <a:rPr lang="en-US" sz="1650" b="0" i="0" noProof="1">
                <a:solidFill>
                  <a:srgbClr val="57606A"/>
                </a:solidFill>
                <a:latin typeface="LXGW WenKai" panose="02020500000000000000" pitchFamily="18" charset="-120"/>
                <a:ea typeface="LXGW WenKai" panose="02020500000000000000" pitchFamily="18" charset="-120"/>
              </a:rPr>
              <a:t>问题是：可能错过早期机会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1965960"/>
            <a:ext cx="3931920" cy="1444752"/>
          </a:xfrm>
          <a:prstGeom prst="roundRect">
            <a:avLst>
              <a:gd name="adj" fmla="val 10000"/>
            </a:avLst>
          </a:prstGeom>
          <a:solidFill>
            <a:srgbClr val="F6F8FA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>
              <a:latin typeface="LXGW WenKai" panose="02020500000000000000" pitchFamily="18" charset="-120"/>
              <a:ea typeface="LXGW WenKai" panose="02020500000000000000" pitchFamily="18" charset="-12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140700" y="2159000"/>
            <a:ext cx="3048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000" b="1" i="0" noProof="1">
                <a:solidFill>
                  <a:srgbClr val="2DA44E"/>
                </a:solidFill>
                <a:latin typeface="LXGW WenKai" panose="02020500000000000000" pitchFamily="18" charset="-120"/>
                <a:ea typeface="LXGW WenKai" panose="02020500000000000000" pitchFamily="18" charset="-120"/>
              </a:rPr>
              <a:t>OpenClaw Radar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12100" y="2619496"/>
            <a:ext cx="3429000" cy="5741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sz="1650" b="1" i="0" noProof="1">
                <a:solidFill>
                  <a:srgbClr val="24292F"/>
                </a:solidFill>
                <a:latin typeface="LXGW WenKai" panose="02020500000000000000" pitchFamily="18" charset="-120"/>
                <a:ea typeface="LXGW WenKai" panose="02020500000000000000" pitchFamily="18" charset="-120"/>
              </a:rPr>
              <a:t>观察的是：前 30 天的项目行为</a:t>
            </a:r>
          </a:p>
          <a:p>
            <a:pPr algn="l">
              <a:lnSpc>
                <a:spcPct val="125000"/>
              </a:lnSpc>
            </a:pPr>
            <a:r>
              <a:rPr lang="en-US" sz="1650" b="0" i="0" noProof="1">
                <a:solidFill>
                  <a:srgbClr val="57606A"/>
                </a:solidFill>
                <a:latin typeface="LXGW WenKai" panose="02020500000000000000" pitchFamily="18" charset="-120"/>
                <a:ea typeface="LXGW WenKai" panose="02020500000000000000" pitchFamily="18" charset="-120"/>
              </a:rPr>
              <a:t>输出的是：可追踪的潜力清单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1285" y="3817081"/>
            <a:ext cx="71323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000" b="1" i="0" noProof="1">
                <a:solidFill>
                  <a:srgbClr val="24292F"/>
                </a:solidFill>
                <a:latin typeface="LXGW WenKai" panose="02020500000000000000" pitchFamily="18" charset="-120"/>
                <a:ea typeface="LXGW WenKai" panose="02020500000000000000" pitchFamily="18" charset="-120"/>
              </a:rPr>
              <a:t>研究支撑：相关研究表明这条路是可行的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334256"/>
            <a:ext cx="3621532" cy="213846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58368" y="4334256"/>
            <a:ext cx="3611880" cy="54864"/>
          </a:xfrm>
          <a:prstGeom prst="rect">
            <a:avLst/>
          </a:prstGeom>
          <a:solidFill>
            <a:srgbClr val="096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480558" y="4334256"/>
            <a:ext cx="3660141" cy="213846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480559" y="4334256"/>
            <a:ext cx="3611880" cy="54864"/>
          </a:xfrm>
          <a:prstGeom prst="rect">
            <a:avLst/>
          </a:prstGeom>
          <a:solidFill>
            <a:srgbClr val="FB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8302752" y="4334255"/>
            <a:ext cx="3611880" cy="213846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8302752" y="4334256"/>
            <a:ext cx="3611880" cy="54864"/>
          </a:xfrm>
          <a:prstGeom prst="rect">
            <a:avLst/>
          </a:prstGeom>
          <a:solidFill>
            <a:srgbClr val="2D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66928" y="6510528"/>
            <a:ext cx="6400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noProof="1">
                <a:solidFill>
                  <a:srgbClr val="57606A"/>
                </a:solidFill>
                <a:latin typeface="LXGW WenKai"/>
              </a:rPr>
              <a:t>OpenClaw · 开源项目潜力发现系统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6510528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sz="1100" b="0" i="0" noProof="1">
                <a:solidFill>
                  <a:srgbClr val="57606A"/>
                </a:solidFill>
                <a:latin typeface="LXGW WenKai"/>
              </a:rPr>
              <a:t>Motivation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91CF686-BCAD-0943-AAC5-6CE3B5930AE4}"/>
              </a:ext>
            </a:extLst>
          </p:cNvPr>
          <p:cNvSpPr/>
          <p:nvPr/>
        </p:nvSpPr>
        <p:spPr>
          <a:xfrm>
            <a:off x="4826000" y="2705100"/>
            <a:ext cx="2222500" cy="19050"/>
          </a:xfrm>
          <a:prstGeom prst="rect">
            <a:avLst/>
          </a:prstGeom>
          <a:solidFill>
            <a:srgbClr val="8C959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noProof="1">
              <a:latin typeface="LXGW WenKai" panose="02020500000000000000" pitchFamily="18" charset="-120"/>
              <a:ea typeface="LXGW WenKai" panose="02020500000000000000" pitchFamily="18" charset="-120"/>
            </a:endParaRPr>
          </a:p>
        </p:txBody>
      </p:sp>
      <p:sp>
        <p:nvSpPr>
          <p:cNvPr id="11" name="直角三角形 10">
            <a:extLst>
              <a:ext uri="{FF2B5EF4-FFF2-40B4-BE49-F238E27FC236}">
                <a16:creationId xmlns:a16="http://schemas.microsoft.com/office/drawing/2014/main" id="{F78124DE-A47E-1847-82DE-973ACEE98BD6}"/>
              </a:ext>
            </a:extLst>
          </p:cNvPr>
          <p:cNvSpPr/>
          <p:nvPr/>
        </p:nvSpPr>
        <p:spPr>
          <a:xfrm rot="13480738">
            <a:off x="6985126" y="2650653"/>
            <a:ext cx="127000" cy="127000"/>
          </a:xfrm>
          <a:prstGeom prst="rtTriangle">
            <a:avLst/>
          </a:prstGeom>
          <a:solidFill>
            <a:srgbClr val="8C959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noProof="1">
              <a:latin typeface="LXGW WenKai" panose="02020500000000000000" pitchFamily="18" charset="-120"/>
              <a:ea typeface="LXGW WenKai" panose="02020500000000000000" pitchFamily="18" charset="-12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8194289C-E48F-5046-9D29-D306B5D76D6D}"/>
              </a:ext>
            </a:extLst>
          </p:cNvPr>
          <p:cNvSpPr txBox="1"/>
          <p:nvPr/>
        </p:nvSpPr>
        <p:spPr>
          <a:xfrm>
            <a:off x="5581232" y="2234457"/>
            <a:ext cx="1524000" cy="2286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300" b="1" i="1" noProof="1">
                <a:solidFill>
                  <a:srgbClr val="5B6977"/>
                </a:solidFill>
                <a:latin typeface="LXGW WenKai" panose="02020500000000000000" pitchFamily="18" charset="-120"/>
                <a:ea typeface="LXGW WenKai" panose="02020500000000000000" pitchFamily="18" charset="-120"/>
              </a:rPr>
              <a:t>启发</a:t>
            </a:r>
          </a:p>
        </p:txBody>
      </p:sp>
      <p:pic>
        <p:nvPicPr>
          <p:cNvPr id="37" name="Graphic 37" descr="Trending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0900" y="2184400"/>
            <a:ext cx="279400" cy="279400"/>
          </a:xfrm>
          <a:prstGeom prst="rect">
            <a:avLst/>
          </a:prstGeom>
        </p:spPr>
      </p:pic>
      <p:pic>
        <p:nvPicPr>
          <p:cNvPr id="38" name="Graphic 38" descr="Radar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85100" y="2184400"/>
            <a:ext cx="279400" cy="2794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41247" y="4544568"/>
            <a:ext cx="3273552" cy="60350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lang="en-US" sz="1350" b="1" noProof="1">
                <a:solidFill>
                  <a:srgbClr val="242A31"/>
                </a:solidFill>
                <a:latin typeface="LXGW WenKai"/>
              </a:rPr>
              <a:t>Predicting the Popularity of GitHub Repositories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7" y="5175504"/>
            <a:ext cx="3273552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lang="en-US" sz="1400" b="1" noProof="1">
                <a:solidFill>
                  <a:srgbClr val="1F76D3"/>
                </a:solidFill>
                <a:latin typeface="LXGW WenKai"/>
              </a:rPr>
              <a:t>PROMISE '16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7" y="5504688"/>
            <a:ext cx="3273552" cy="42062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lang="en-US" sz="1350" b="0" noProof="1">
                <a:solidFill>
                  <a:srgbClr val="242A31"/>
                </a:solidFill>
                <a:latin typeface="LXGW WenKai"/>
              </a:rPr>
              <a:t>stars 时序 + 回归即可预测流行度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7" y="5989320"/>
            <a:ext cx="32735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lang="en-US" sz="1400" b="1" noProof="1">
                <a:solidFill>
                  <a:srgbClr val="1F76D3"/>
                </a:solidFill>
                <a:latin typeface="LXGW WenKai"/>
              </a:rPr>
              <a:t>→ 流行度是可建模的量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63440" y="4544568"/>
            <a:ext cx="3273552" cy="60350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lang="en-US" sz="1350" b="1" noProof="1">
                <a:solidFill>
                  <a:srgbClr val="242A31"/>
                </a:solidFill>
                <a:latin typeface="LXGW WenKai"/>
              </a:rPr>
              <a:t>Understanding Factors that Impact Popularity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63440" y="5175504"/>
            <a:ext cx="3273552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lang="en-US" sz="1400" b="1" noProof="1">
                <a:solidFill>
                  <a:srgbClr val="F28500"/>
                </a:solidFill>
                <a:latin typeface="LXGW WenKai"/>
              </a:rPr>
              <a:t>ICSME '16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63440" y="5504688"/>
            <a:ext cx="3273552" cy="42062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lang="en-US" sz="1350" b="0" noProof="1">
                <a:solidFill>
                  <a:srgbClr val="242A31"/>
                </a:solidFill>
                <a:latin typeface="LXGW WenKai"/>
              </a:rPr>
              <a:t>2,279 repos · 语言/领域显著影响 stars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63440" y="5989320"/>
            <a:ext cx="32735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lang="en-US" sz="1400" b="1" noProof="1">
                <a:solidFill>
                  <a:srgbClr val="F28500"/>
                </a:solidFill>
                <a:latin typeface="LXGW WenKai"/>
              </a:rPr>
              <a:t>→ 项目特征带预测信号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85632" y="4544568"/>
            <a:ext cx="3273552" cy="60350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lang="en-US" sz="1350" b="1" noProof="1">
                <a:solidFill>
                  <a:srgbClr val="242A31"/>
                </a:solidFill>
                <a:latin typeface="LXGW WenKai"/>
              </a:rPr>
              <a:t>What Makes a Popular Academic AI Repository?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85632" y="5175504"/>
            <a:ext cx="3273552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lang="en-US" sz="1400" b="1" noProof="1">
                <a:solidFill>
                  <a:srgbClr val="2CA25F"/>
                </a:solidFill>
                <a:latin typeface="LXGW WenKai"/>
              </a:rPr>
              <a:t>EMSE / ICSE '21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85632" y="5504688"/>
            <a:ext cx="3273552" cy="42062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lang="en-US" sz="1350" b="0" noProof="1">
                <a:solidFill>
                  <a:srgbClr val="242A31"/>
                </a:solidFill>
                <a:latin typeface="LXGW WenKai"/>
              </a:rPr>
              <a:t>1,149 repos · 11 个特征区分冷热门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85632" y="5989320"/>
            <a:ext cx="3273552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lang="en-US" sz="1400" b="1" noProof="1">
                <a:solidFill>
                  <a:srgbClr val="2CA25F"/>
                </a:solidFill>
                <a:latin typeface="LXGW WenKai"/>
              </a:rPr>
              <a:t>→ 早期工程实践可识别</a:t>
            </a:r>
          </a:p>
        </p:txBody>
      </p:sp>
    </p:spTree>
    <p:extLst>
      <p:ext uri="{BB962C8B-B14F-4D97-AF65-F5344CB8AC3E}">
        <p14:creationId xmlns:p14="http://schemas.microsoft.com/office/powerpoint/2010/main" val="3321939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20">
            <a:extLst>
              <a:ext uri="{FF2B5EF4-FFF2-40B4-BE49-F238E27FC236}">
                <a16:creationId xmlns:a16="http://schemas.microsoft.com/office/drawing/2014/main" id="{23789619-AEAC-6AE3-6090-84B5C0BCD61C}"/>
              </a:ext>
            </a:extLst>
          </p:cNvPr>
          <p:cNvSpPr/>
          <p:nvPr/>
        </p:nvSpPr>
        <p:spPr>
          <a:xfrm>
            <a:off x="570484" y="4267200"/>
            <a:ext cx="1460500" cy="2313304"/>
          </a:xfrm>
          <a:prstGeom prst="roundRect">
            <a:avLst>
              <a:gd name="adj" fmla="val 10000"/>
            </a:avLst>
          </a:prstGeom>
          <a:solidFill>
            <a:srgbClr val="EEF7EE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>
              <a:latin typeface="LXGW WenKai" panose="02020500000000000000" pitchFamily="18" charset="-120"/>
              <a:ea typeface="LXGW WenKai" panose="02020500000000000000" pitchFamily="18" charset="-120"/>
            </a:endParaRPr>
          </a:p>
        </p:txBody>
      </p:sp>
      <p:sp>
        <p:nvSpPr>
          <p:cNvPr id="3" name="Rectangle 21">
            <a:extLst>
              <a:ext uri="{FF2B5EF4-FFF2-40B4-BE49-F238E27FC236}">
                <a16:creationId xmlns:a16="http://schemas.microsoft.com/office/drawing/2014/main" id="{4AF20851-6DDA-8DF4-0C56-703C643A0C49}"/>
              </a:ext>
            </a:extLst>
          </p:cNvPr>
          <p:cNvSpPr/>
          <p:nvPr/>
        </p:nvSpPr>
        <p:spPr>
          <a:xfrm>
            <a:off x="570484" y="4191000"/>
            <a:ext cx="1460500" cy="76200"/>
          </a:xfrm>
          <a:prstGeom prst="rect">
            <a:avLst/>
          </a:prstGeom>
          <a:solidFill>
            <a:srgbClr val="2D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>
              <a:latin typeface="LXGW WenKai" panose="02020500000000000000" pitchFamily="18" charset="-120"/>
              <a:ea typeface="LXGW WenKai" panose="02020500000000000000" pitchFamily="18" charset="-120"/>
            </a:endParaRPr>
          </a:p>
        </p:txBody>
      </p:sp>
      <p:pic>
        <p:nvPicPr>
          <p:cNvPr id="4" name="Picture 22" descr="image.png">
            <a:extLst>
              <a:ext uri="{FF2B5EF4-FFF2-40B4-BE49-F238E27FC236}">
                <a16:creationId xmlns:a16="http://schemas.microsoft.com/office/drawing/2014/main" id="{8C5600EE-19FD-D675-98FF-A3912884C9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484" y="4419600"/>
            <a:ext cx="1206500" cy="1206500"/>
          </a:xfrm>
          <a:prstGeom prst="rect">
            <a:avLst/>
          </a:prstGeom>
          <a:effectLst/>
        </p:spPr>
      </p:pic>
      <p:sp>
        <p:nvSpPr>
          <p:cNvPr id="5" name="TextBox 23">
            <a:extLst>
              <a:ext uri="{FF2B5EF4-FFF2-40B4-BE49-F238E27FC236}">
                <a16:creationId xmlns:a16="http://schemas.microsoft.com/office/drawing/2014/main" id="{55ED8ABB-9C1C-227D-6A05-2AADFC8C7FBB}"/>
              </a:ext>
            </a:extLst>
          </p:cNvPr>
          <p:cNvSpPr txBox="1"/>
          <p:nvPr/>
        </p:nvSpPr>
        <p:spPr>
          <a:xfrm>
            <a:off x="570484" y="5837595"/>
            <a:ext cx="14605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600" b="1" noProof="1">
                <a:solidFill>
                  <a:srgbClr val="242A31"/>
                </a:solidFill>
                <a:latin typeface="LXGW WenKai" panose="02020500000000000000" pitchFamily="18" charset="-120"/>
                <a:ea typeface="LXGW WenKai" panose="02020500000000000000" pitchFamily="18" charset="-120"/>
              </a:rPr>
              <a:t>采集 Agent</a:t>
            </a:r>
          </a:p>
        </p:txBody>
      </p:sp>
      <p:sp>
        <p:nvSpPr>
          <p:cNvPr id="10" name="Rounded Rectangle 28">
            <a:extLst>
              <a:ext uri="{FF2B5EF4-FFF2-40B4-BE49-F238E27FC236}">
                <a16:creationId xmlns:a16="http://schemas.microsoft.com/office/drawing/2014/main" id="{31536FF1-4A60-DD54-4F6C-AFCEAEC0651A}"/>
              </a:ext>
            </a:extLst>
          </p:cNvPr>
          <p:cNvSpPr/>
          <p:nvPr/>
        </p:nvSpPr>
        <p:spPr>
          <a:xfrm>
            <a:off x="2490725" y="4267200"/>
            <a:ext cx="1460500" cy="2334768"/>
          </a:xfrm>
          <a:prstGeom prst="roundRect">
            <a:avLst>
              <a:gd name="adj" fmla="val 10000"/>
            </a:avLst>
          </a:prstGeom>
          <a:solidFill>
            <a:srgbClr val="EEF4FF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>
              <a:latin typeface="LXGW WenKai" panose="02020500000000000000" pitchFamily="18" charset="-120"/>
              <a:ea typeface="LXGW WenKai" panose="02020500000000000000" pitchFamily="18" charset="-120"/>
            </a:endParaRPr>
          </a:p>
        </p:txBody>
      </p:sp>
      <p:sp>
        <p:nvSpPr>
          <p:cNvPr id="11" name="Rectangle 29">
            <a:extLst>
              <a:ext uri="{FF2B5EF4-FFF2-40B4-BE49-F238E27FC236}">
                <a16:creationId xmlns:a16="http://schemas.microsoft.com/office/drawing/2014/main" id="{A8EE5B94-00F7-72B7-FB0A-891F8F047FED}"/>
              </a:ext>
            </a:extLst>
          </p:cNvPr>
          <p:cNvSpPr/>
          <p:nvPr/>
        </p:nvSpPr>
        <p:spPr>
          <a:xfrm>
            <a:off x="2490725" y="4191000"/>
            <a:ext cx="1460500" cy="76200"/>
          </a:xfrm>
          <a:prstGeom prst="rect">
            <a:avLst/>
          </a:prstGeom>
          <a:solidFill>
            <a:srgbClr val="096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>
              <a:latin typeface="LXGW WenKai" panose="02020500000000000000" pitchFamily="18" charset="-120"/>
              <a:ea typeface="LXGW WenKai" panose="02020500000000000000" pitchFamily="18" charset="-120"/>
            </a:endParaRPr>
          </a:p>
        </p:txBody>
      </p:sp>
      <p:pic>
        <p:nvPicPr>
          <p:cNvPr id="12" name="Picture 30" descr="image.png">
            <a:extLst>
              <a:ext uri="{FF2B5EF4-FFF2-40B4-BE49-F238E27FC236}">
                <a16:creationId xmlns:a16="http://schemas.microsoft.com/office/drawing/2014/main" id="{8FF0A8E6-C83C-F5CF-5BA7-7F890D9E1E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7725" y="4419600"/>
            <a:ext cx="1206500" cy="1206500"/>
          </a:xfrm>
          <a:prstGeom prst="rect">
            <a:avLst/>
          </a:prstGeom>
          <a:effectLst/>
        </p:spPr>
      </p:pic>
      <p:sp>
        <p:nvSpPr>
          <p:cNvPr id="13" name="TextBox 31">
            <a:extLst>
              <a:ext uri="{FF2B5EF4-FFF2-40B4-BE49-F238E27FC236}">
                <a16:creationId xmlns:a16="http://schemas.microsoft.com/office/drawing/2014/main" id="{9BFF4244-AE17-3642-F204-47A37329007C}"/>
              </a:ext>
            </a:extLst>
          </p:cNvPr>
          <p:cNvSpPr txBox="1"/>
          <p:nvPr/>
        </p:nvSpPr>
        <p:spPr>
          <a:xfrm>
            <a:off x="2490725" y="5842000"/>
            <a:ext cx="14605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600" b="1" noProof="1">
                <a:solidFill>
                  <a:srgbClr val="242A31"/>
                </a:solidFill>
                <a:latin typeface="LXGW WenKai" panose="02020500000000000000" pitchFamily="18" charset="-120"/>
                <a:ea typeface="LXGW WenKai" panose="02020500000000000000" pitchFamily="18" charset="-120"/>
              </a:rPr>
              <a:t>特征 Agent</a:t>
            </a:r>
          </a:p>
        </p:txBody>
      </p:sp>
      <p:sp>
        <p:nvSpPr>
          <p:cNvPr id="18" name="Rounded Rectangle 36">
            <a:extLst>
              <a:ext uri="{FF2B5EF4-FFF2-40B4-BE49-F238E27FC236}">
                <a16:creationId xmlns:a16="http://schemas.microsoft.com/office/drawing/2014/main" id="{2A767695-7D8E-DFBB-A7D2-BB113BFBA9D9}"/>
              </a:ext>
            </a:extLst>
          </p:cNvPr>
          <p:cNvSpPr/>
          <p:nvPr/>
        </p:nvSpPr>
        <p:spPr>
          <a:xfrm>
            <a:off x="4410965" y="4267200"/>
            <a:ext cx="1460500" cy="2334768"/>
          </a:xfrm>
          <a:prstGeom prst="roundRect">
            <a:avLst>
              <a:gd name="adj" fmla="val 10000"/>
            </a:avLst>
          </a:prstGeom>
          <a:solidFill>
            <a:srgbClr val="FFF8E6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>
              <a:latin typeface="LXGW WenKai" panose="02020500000000000000" pitchFamily="18" charset="-120"/>
              <a:ea typeface="LXGW WenKai" panose="02020500000000000000" pitchFamily="18" charset="-120"/>
            </a:endParaRPr>
          </a:p>
        </p:txBody>
      </p:sp>
      <p:sp>
        <p:nvSpPr>
          <p:cNvPr id="19" name="Rectangle 37">
            <a:extLst>
              <a:ext uri="{FF2B5EF4-FFF2-40B4-BE49-F238E27FC236}">
                <a16:creationId xmlns:a16="http://schemas.microsoft.com/office/drawing/2014/main" id="{16253489-F3DC-D95D-101F-5BCDA2B076D4}"/>
              </a:ext>
            </a:extLst>
          </p:cNvPr>
          <p:cNvSpPr/>
          <p:nvPr/>
        </p:nvSpPr>
        <p:spPr>
          <a:xfrm>
            <a:off x="4410965" y="4191000"/>
            <a:ext cx="1460500" cy="76200"/>
          </a:xfrm>
          <a:prstGeom prst="rect">
            <a:avLst/>
          </a:prstGeom>
          <a:solidFill>
            <a:srgbClr val="FB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>
              <a:latin typeface="LXGW WenKai" panose="02020500000000000000" pitchFamily="18" charset="-120"/>
              <a:ea typeface="LXGW WenKai" panose="02020500000000000000" pitchFamily="18" charset="-120"/>
            </a:endParaRPr>
          </a:p>
        </p:txBody>
      </p:sp>
      <p:pic>
        <p:nvPicPr>
          <p:cNvPr id="20" name="Picture 38" descr="image.png">
            <a:extLst>
              <a:ext uri="{FF2B5EF4-FFF2-40B4-BE49-F238E27FC236}">
                <a16:creationId xmlns:a16="http://schemas.microsoft.com/office/drawing/2014/main" id="{12F679F2-1DDA-B4A8-65BE-F165D6D684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7965" y="4419600"/>
            <a:ext cx="1206500" cy="1206500"/>
          </a:xfrm>
          <a:prstGeom prst="rect">
            <a:avLst/>
          </a:prstGeom>
          <a:effectLst/>
        </p:spPr>
      </p:pic>
      <p:sp>
        <p:nvSpPr>
          <p:cNvPr id="21" name="TextBox 39">
            <a:extLst>
              <a:ext uri="{FF2B5EF4-FFF2-40B4-BE49-F238E27FC236}">
                <a16:creationId xmlns:a16="http://schemas.microsoft.com/office/drawing/2014/main" id="{7F956943-8615-2ED4-1573-7663D89AC030}"/>
              </a:ext>
            </a:extLst>
          </p:cNvPr>
          <p:cNvSpPr txBox="1"/>
          <p:nvPr/>
        </p:nvSpPr>
        <p:spPr>
          <a:xfrm>
            <a:off x="4410965" y="5842000"/>
            <a:ext cx="14605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600" b="1" noProof="1">
                <a:solidFill>
                  <a:srgbClr val="242A31"/>
                </a:solidFill>
                <a:latin typeface="LXGW WenKai" panose="02020500000000000000" pitchFamily="18" charset="-120"/>
                <a:ea typeface="LXGW WenKai" panose="02020500000000000000" pitchFamily="18" charset="-120"/>
              </a:rPr>
              <a:t>训练 Agent</a:t>
            </a:r>
          </a:p>
        </p:txBody>
      </p:sp>
      <p:sp>
        <p:nvSpPr>
          <p:cNvPr id="26" name="Rounded Rectangle 44">
            <a:extLst>
              <a:ext uri="{FF2B5EF4-FFF2-40B4-BE49-F238E27FC236}">
                <a16:creationId xmlns:a16="http://schemas.microsoft.com/office/drawing/2014/main" id="{D2F93E57-F7DD-D4DC-9919-55246F8516C2}"/>
              </a:ext>
            </a:extLst>
          </p:cNvPr>
          <p:cNvSpPr/>
          <p:nvPr/>
        </p:nvSpPr>
        <p:spPr>
          <a:xfrm>
            <a:off x="6331205" y="4267200"/>
            <a:ext cx="1460500" cy="2334768"/>
          </a:xfrm>
          <a:prstGeom prst="roundRect">
            <a:avLst>
              <a:gd name="adj" fmla="val 10000"/>
            </a:avLst>
          </a:prstGeom>
          <a:solidFill>
            <a:srgbClr val="F6F0FF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>
              <a:latin typeface="LXGW WenKai" panose="02020500000000000000" pitchFamily="18" charset="-120"/>
              <a:ea typeface="LXGW WenKai" panose="02020500000000000000" pitchFamily="18" charset="-120"/>
            </a:endParaRPr>
          </a:p>
        </p:txBody>
      </p:sp>
      <p:sp>
        <p:nvSpPr>
          <p:cNvPr id="27" name="Rectangle 45">
            <a:extLst>
              <a:ext uri="{FF2B5EF4-FFF2-40B4-BE49-F238E27FC236}">
                <a16:creationId xmlns:a16="http://schemas.microsoft.com/office/drawing/2014/main" id="{727395E3-3551-0FAC-A94F-0D9BE1266532}"/>
              </a:ext>
            </a:extLst>
          </p:cNvPr>
          <p:cNvSpPr/>
          <p:nvPr/>
        </p:nvSpPr>
        <p:spPr>
          <a:xfrm>
            <a:off x="6331205" y="4191000"/>
            <a:ext cx="1460500" cy="76200"/>
          </a:xfrm>
          <a:prstGeom prst="rect">
            <a:avLst/>
          </a:prstGeom>
          <a:solidFill>
            <a:srgbClr val="8A3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>
              <a:latin typeface="LXGW WenKai" panose="02020500000000000000" pitchFamily="18" charset="-120"/>
              <a:ea typeface="LXGW WenKai" panose="02020500000000000000" pitchFamily="18" charset="-120"/>
            </a:endParaRPr>
          </a:p>
        </p:txBody>
      </p:sp>
      <p:pic>
        <p:nvPicPr>
          <p:cNvPr id="28" name="Picture 46" descr="image.png">
            <a:extLst>
              <a:ext uri="{FF2B5EF4-FFF2-40B4-BE49-F238E27FC236}">
                <a16:creationId xmlns:a16="http://schemas.microsoft.com/office/drawing/2014/main" id="{969031F1-CC29-0F17-A131-237DE0F071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8205" y="4419600"/>
            <a:ext cx="1206500" cy="1206500"/>
          </a:xfrm>
          <a:prstGeom prst="rect">
            <a:avLst/>
          </a:prstGeom>
          <a:effectLst/>
        </p:spPr>
      </p:pic>
      <p:sp>
        <p:nvSpPr>
          <p:cNvPr id="29" name="TextBox 47">
            <a:extLst>
              <a:ext uri="{FF2B5EF4-FFF2-40B4-BE49-F238E27FC236}">
                <a16:creationId xmlns:a16="http://schemas.microsoft.com/office/drawing/2014/main" id="{2AEE2BAA-8083-789A-CC7C-ABEA7F694C90}"/>
              </a:ext>
            </a:extLst>
          </p:cNvPr>
          <p:cNvSpPr txBox="1"/>
          <p:nvPr/>
        </p:nvSpPr>
        <p:spPr>
          <a:xfrm>
            <a:off x="6331205" y="5842000"/>
            <a:ext cx="14605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600" b="1" noProof="1">
                <a:solidFill>
                  <a:srgbClr val="242A31"/>
                </a:solidFill>
                <a:latin typeface="LXGW WenKai" panose="02020500000000000000" pitchFamily="18" charset="-120"/>
                <a:ea typeface="LXGW WenKai" panose="02020500000000000000" pitchFamily="18" charset="-120"/>
              </a:rPr>
              <a:t>事实 Agent</a:t>
            </a:r>
          </a:p>
        </p:txBody>
      </p:sp>
      <p:sp>
        <p:nvSpPr>
          <p:cNvPr id="34" name="Rounded Rectangle 52">
            <a:extLst>
              <a:ext uri="{FF2B5EF4-FFF2-40B4-BE49-F238E27FC236}">
                <a16:creationId xmlns:a16="http://schemas.microsoft.com/office/drawing/2014/main" id="{0D984686-00A5-79C9-5EFE-9BC5D2DDD356}"/>
              </a:ext>
            </a:extLst>
          </p:cNvPr>
          <p:cNvSpPr/>
          <p:nvPr/>
        </p:nvSpPr>
        <p:spPr>
          <a:xfrm>
            <a:off x="8251444" y="4267200"/>
            <a:ext cx="1460500" cy="2334768"/>
          </a:xfrm>
          <a:prstGeom prst="roundRect">
            <a:avLst>
              <a:gd name="adj" fmla="val 10000"/>
            </a:avLst>
          </a:prstGeom>
          <a:solidFill>
            <a:srgbClr val="ECFBF7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>
              <a:latin typeface="LXGW WenKai" panose="02020500000000000000" pitchFamily="18" charset="-120"/>
              <a:ea typeface="LXGW WenKai" panose="02020500000000000000" pitchFamily="18" charset="-120"/>
            </a:endParaRPr>
          </a:p>
        </p:txBody>
      </p:sp>
      <p:sp>
        <p:nvSpPr>
          <p:cNvPr id="35" name="Rectangle 53">
            <a:extLst>
              <a:ext uri="{FF2B5EF4-FFF2-40B4-BE49-F238E27FC236}">
                <a16:creationId xmlns:a16="http://schemas.microsoft.com/office/drawing/2014/main" id="{45DAF50B-FF87-DCB0-DCCC-5F25A022BF5E}"/>
              </a:ext>
            </a:extLst>
          </p:cNvPr>
          <p:cNvSpPr/>
          <p:nvPr/>
        </p:nvSpPr>
        <p:spPr>
          <a:xfrm>
            <a:off x="8251444" y="4191000"/>
            <a:ext cx="1460500" cy="76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>
              <a:latin typeface="LXGW WenKai" panose="02020500000000000000" pitchFamily="18" charset="-120"/>
              <a:ea typeface="LXGW WenKai" panose="02020500000000000000" pitchFamily="18" charset="-120"/>
            </a:endParaRPr>
          </a:p>
        </p:txBody>
      </p:sp>
      <p:pic>
        <p:nvPicPr>
          <p:cNvPr id="36" name="Picture 54" descr="image.png">
            <a:extLst>
              <a:ext uri="{FF2B5EF4-FFF2-40B4-BE49-F238E27FC236}">
                <a16:creationId xmlns:a16="http://schemas.microsoft.com/office/drawing/2014/main" id="{5F0BD008-C263-7728-ECF1-6EF33A053F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8444" y="4419600"/>
            <a:ext cx="1206500" cy="1206500"/>
          </a:xfrm>
          <a:prstGeom prst="rect">
            <a:avLst/>
          </a:prstGeom>
          <a:effectLst/>
        </p:spPr>
      </p:pic>
      <p:sp>
        <p:nvSpPr>
          <p:cNvPr id="37" name="TextBox 55">
            <a:extLst>
              <a:ext uri="{FF2B5EF4-FFF2-40B4-BE49-F238E27FC236}">
                <a16:creationId xmlns:a16="http://schemas.microsoft.com/office/drawing/2014/main" id="{8878DB88-00A6-F684-A371-62B426204C9D}"/>
              </a:ext>
            </a:extLst>
          </p:cNvPr>
          <p:cNvSpPr txBox="1"/>
          <p:nvPr/>
        </p:nvSpPr>
        <p:spPr>
          <a:xfrm>
            <a:off x="8251444" y="5842000"/>
            <a:ext cx="14605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600" b="1" noProof="1">
                <a:solidFill>
                  <a:srgbClr val="242A31"/>
                </a:solidFill>
                <a:latin typeface="LXGW WenKai" panose="02020500000000000000" pitchFamily="18" charset="-120"/>
                <a:ea typeface="LXGW WenKai" panose="02020500000000000000" pitchFamily="18" charset="-120"/>
              </a:rPr>
              <a:t>洞察 Agent</a:t>
            </a:r>
          </a:p>
        </p:txBody>
      </p:sp>
      <p:sp>
        <p:nvSpPr>
          <p:cNvPr id="41" name="Rounded Rectangle 6">
            <a:extLst>
              <a:ext uri="{FF2B5EF4-FFF2-40B4-BE49-F238E27FC236}">
                <a16:creationId xmlns:a16="http://schemas.microsoft.com/office/drawing/2014/main" id="{EDC5BF2A-F22D-5A9B-B972-FB9BC52DA5D3}"/>
              </a:ext>
            </a:extLst>
          </p:cNvPr>
          <p:cNvSpPr/>
          <p:nvPr/>
        </p:nvSpPr>
        <p:spPr>
          <a:xfrm>
            <a:off x="2540000" y="1168400"/>
            <a:ext cx="7112000" cy="2413000"/>
          </a:xfrm>
          <a:prstGeom prst="roundRect">
            <a:avLst>
              <a:gd name="adj" fmla="val 10000"/>
            </a:avLst>
          </a:prstGeom>
          <a:solidFill>
            <a:srgbClr val="FFF8F0"/>
          </a:solidFill>
          <a:ln w="12700" cap="flat" cmpd="sng" algn="ctr">
            <a:solidFill>
              <a:srgbClr val="E8D9C6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>
              <a:latin typeface="LXGW WenKai" panose="02020500000000000000" pitchFamily="18" charset="-120"/>
              <a:ea typeface="LXGW WenKai" panose="02020500000000000000" pitchFamily="18" charset="-120"/>
            </a:endParaRPr>
          </a:p>
        </p:txBody>
      </p:sp>
      <p:sp>
        <p:nvSpPr>
          <p:cNvPr id="45" name="TextBox 10">
            <a:extLst>
              <a:ext uri="{FF2B5EF4-FFF2-40B4-BE49-F238E27FC236}">
                <a16:creationId xmlns:a16="http://schemas.microsoft.com/office/drawing/2014/main" id="{0EA6B3F1-6D12-C571-A1C4-4E504ADC2816}"/>
              </a:ext>
            </a:extLst>
          </p:cNvPr>
          <p:cNvSpPr txBox="1"/>
          <p:nvPr/>
        </p:nvSpPr>
        <p:spPr>
          <a:xfrm>
            <a:off x="5461000" y="1397000"/>
            <a:ext cx="39370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800" b="1" noProof="1">
                <a:solidFill>
                  <a:srgbClr val="24292F"/>
                </a:solidFill>
                <a:latin typeface="LXGW WenKai" panose="02020500000000000000" pitchFamily="18" charset="-120"/>
                <a:ea typeface="LXGW WenKai" panose="02020500000000000000" pitchFamily="18" charset="-120"/>
              </a:rPr>
              <a:t>全局调度者</a:t>
            </a:r>
          </a:p>
        </p:txBody>
      </p: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3F9AED25-CF70-D6F0-AB88-8A8406C00DEE}"/>
              </a:ext>
            </a:extLst>
          </p:cNvPr>
          <p:cNvGrpSpPr/>
          <p:nvPr/>
        </p:nvGrpSpPr>
        <p:grpSpPr>
          <a:xfrm>
            <a:off x="5461000" y="1879600"/>
            <a:ext cx="3937000" cy="457200"/>
            <a:chOff x="4913985" y="1154101"/>
            <a:chExt cx="2240280" cy="257838"/>
          </a:xfrm>
        </p:grpSpPr>
        <p:sp>
          <p:nvSpPr>
            <p:cNvPr id="46" name="Rounded Rectangle 12">
              <a:extLst>
                <a:ext uri="{FF2B5EF4-FFF2-40B4-BE49-F238E27FC236}">
                  <a16:creationId xmlns:a16="http://schemas.microsoft.com/office/drawing/2014/main" id="{01858EC0-3F12-881F-BA14-D1D2D2CA7649}"/>
                </a:ext>
              </a:extLst>
            </p:cNvPr>
            <p:cNvSpPr/>
            <p:nvPr/>
          </p:nvSpPr>
          <p:spPr>
            <a:xfrm>
              <a:off x="4913985" y="1154101"/>
              <a:ext cx="2240280" cy="246888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2700" cap="flat" cmpd="sng" algn="ctr">
              <a:solidFill>
                <a:srgbClr val="2DA44E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1">
                <a:latin typeface="LXGW WenKai" panose="02020500000000000000" pitchFamily="18" charset="-120"/>
                <a:ea typeface="LXGW WenKai" panose="02020500000000000000" pitchFamily="18" charset="-120"/>
              </a:endParaRPr>
            </a:p>
          </p:txBody>
        </p:sp>
        <p:sp>
          <p:nvSpPr>
            <p:cNvPr id="47" name="TextBox 13">
              <a:extLst>
                <a:ext uri="{FF2B5EF4-FFF2-40B4-BE49-F238E27FC236}">
                  <a16:creationId xmlns:a16="http://schemas.microsoft.com/office/drawing/2014/main" id="{7B4D8BA6-F032-9CB6-F3B8-B5361121859C}"/>
                </a:ext>
              </a:extLst>
            </p:cNvPr>
            <p:cNvSpPr txBox="1"/>
            <p:nvPr/>
          </p:nvSpPr>
          <p:spPr>
            <a:xfrm>
              <a:off x="4913985" y="1196495"/>
              <a:ext cx="224028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en-US" sz="1800" b="1" noProof="1">
                  <a:solidFill>
                    <a:srgbClr val="2DA44E"/>
                  </a:solidFill>
                  <a:latin typeface="LXGW WenKai" panose="02020500000000000000" pitchFamily="18" charset="-120"/>
                  <a:ea typeface="LXGW WenKai" panose="02020500000000000000" pitchFamily="18" charset="-120"/>
                </a:rPr>
                <a:t>检查状态</a:t>
              </a:r>
            </a:p>
          </p:txBody>
        </p: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988020EE-95D0-6521-454A-DF3A8D46FDEB}"/>
              </a:ext>
            </a:extLst>
          </p:cNvPr>
          <p:cNvGrpSpPr/>
          <p:nvPr/>
        </p:nvGrpSpPr>
        <p:grpSpPr>
          <a:xfrm>
            <a:off x="5461000" y="2387600"/>
            <a:ext cx="3937000" cy="457200"/>
            <a:chOff x="4913985" y="1492429"/>
            <a:chExt cx="2240280" cy="246888"/>
          </a:xfrm>
        </p:grpSpPr>
        <p:sp>
          <p:nvSpPr>
            <p:cNvPr id="48" name="Rounded Rectangle 14">
              <a:extLst>
                <a:ext uri="{FF2B5EF4-FFF2-40B4-BE49-F238E27FC236}">
                  <a16:creationId xmlns:a16="http://schemas.microsoft.com/office/drawing/2014/main" id="{613E4982-DC21-F69A-AFB9-3E8C8225509F}"/>
                </a:ext>
              </a:extLst>
            </p:cNvPr>
            <p:cNvSpPr/>
            <p:nvPr/>
          </p:nvSpPr>
          <p:spPr>
            <a:xfrm>
              <a:off x="4913985" y="1492429"/>
              <a:ext cx="2240280" cy="246888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2700" cap="flat" cmpd="sng" algn="ctr">
              <a:solidFill>
                <a:srgbClr val="0969DA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1">
                <a:latin typeface="LXGW WenKai" panose="02020500000000000000" pitchFamily="18" charset="-120"/>
                <a:ea typeface="LXGW WenKai" panose="02020500000000000000" pitchFamily="18" charset="-120"/>
              </a:endParaRPr>
            </a:p>
          </p:txBody>
        </p:sp>
        <p:sp>
          <p:nvSpPr>
            <p:cNvPr id="49" name="TextBox 15">
              <a:extLst>
                <a:ext uri="{FF2B5EF4-FFF2-40B4-BE49-F238E27FC236}">
                  <a16:creationId xmlns:a16="http://schemas.microsoft.com/office/drawing/2014/main" id="{693528BB-E17F-D287-290B-ADF82839C6B1}"/>
                </a:ext>
              </a:extLst>
            </p:cNvPr>
            <p:cNvSpPr txBox="1"/>
            <p:nvPr/>
          </p:nvSpPr>
          <p:spPr>
            <a:xfrm>
              <a:off x="4913985" y="1539977"/>
              <a:ext cx="2240280" cy="14957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en-US" b="1" noProof="1">
                  <a:solidFill>
                    <a:srgbClr val="0969DA"/>
                  </a:solidFill>
                  <a:latin typeface="LXGW WenKai" panose="02020500000000000000" pitchFamily="18" charset="-120"/>
                  <a:ea typeface="LXGW WenKai" panose="02020500000000000000" pitchFamily="18" charset="-120"/>
                </a:rPr>
                <a:t>调度Agent</a:t>
              </a:r>
              <a:endParaRPr lang="en-US" sz="1800" b="1" noProof="1">
                <a:solidFill>
                  <a:srgbClr val="0969DA"/>
                </a:solidFill>
                <a:latin typeface="LXGW WenKai" panose="02020500000000000000" pitchFamily="18" charset="-120"/>
                <a:ea typeface="LXGW WenKai" panose="02020500000000000000" pitchFamily="18" charset="-120"/>
              </a:endParaRPr>
            </a:p>
          </p:txBody>
        </p: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17D68123-1041-84A8-2B17-193D665483BD}"/>
              </a:ext>
            </a:extLst>
          </p:cNvPr>
          <p:cNvGrpSpPr/>
          <p:nvPr/>
        </p:nvGrpSpPr>
        <p:grpSpPr>
          <a:xfrm>
            <a:off x="5461000" y="2895600"/>
            <a:ext cx="3937000" cy="457200"/>
            <a:chOff x="4913985" y="1830757"/>
            <a:chExt cx="2240280" cy="246888"/>
          </a:xfrm>
        </p:grpSpPr>
        <p:sp>
          <p:nvSpPr>
            <p:cNvPr id="50" name="Rounded Rectangle 16">
              <a:extLst>
                <a:ext uri="{FF2B5EF4-FFF2-40B4-BE49-F238E27FC236}">
                  <a16:creationId xmlns:a16="http://schemas.microsoft.com/office/drawing/2014/main" id="{B1AE5F9D-8D5E-9898-56E2-3CCE566C5670}"/>
                </a:ext>
              </a:extLst>
            </p:cNvPr>
            <p:cNvSpPr/>
            <p:nvPr/>
          </p:nvSpPr>
          <p:spPr>
            <a:xfrm>
              <a:off x="4913985" y="1830757"/>
              <a:ext cx="2240280" cy="246888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2700" cap="flat" cmpd="sng" algn="ctr">
              <a:solidFill>
                <a:srgbClr val="FB8500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1">
                <a:latin typeface="LXGW WenKai" panose="02020500000000000000" pitchFamily="18" charset="-120"/>
                <a:ea typeface="LXGW WenKai" panose="02020500000000000000" pitchFamily="18" charset="-120"/>
              </a:endParaRPr>
            </a:p>
          </p:txBody>
        </p:sp>
        <p:sp>
          <p:nvSpPr>
            <p:cNvPr id="51" name="TextBox 17">
              <a:extLst>
                <a:ext uri="{FF2B5EF4-FFF2-40B4-BE49-F238E27FC236}">
                  <a16:creationId xmlns:a16="http://schemas.microsoft.com/office/drawing/2014/main" id="{3C82DEA7-61BF-F74F-DE3C-03B6CB7302E2}"/>
                </a:ext>
              </a:extLst>
            </p:cNvPr>
            <p:cNvSpPr txBox="1"/>
            <p:nvPr/>
          </p:nvSpPr>
          <p:spPr>
            <a:xfrm>
              <a:off x="4913985" y="1878305"/>
              <a:ext cx="2240280" cy="14144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en-US" sz="1800" b="1" noProof="1">
                  <a:solidFill>
                    <a:srgbClr val="FB8500"/>
                  </a:solidFill>
                  <a:latin typeface="LXGW WenKai" panose="02020500000000000000" pitchFamily="18" charset="-120"/>
                  <a:ea typeface="LXGW WenKai" panose="02020500000000000000" pitchFamily="18" charset="-120"/>
                </a:rPr>
                <a:t>记录事件</a:t>
              </a:r>
            </a:p>
          </p:txBody>
        </p:sp>
      </p:grpSp>
      <p:sp>
        <p:nvSpPr>
          <p:cNvPr id="59" name="TextBox 2">
            <a:extLst>
              <a:ext uri="{FF2B5EF4-FFF2-40B4-BE49-F238E27FC236}">
                <a16:creationId xmlns:a16="http://schemas.microsoft.com/office/drawing/2014/main" id="{3C1CD6D9-8BBF-0866-5D14-C116FA2235F2}"/>
              </a:ext>
            </a:extLst>
          </p:cNvPr>
          <p:cNvSpPr txBox="1"/>
          <p:nvPr/>
        </p:nvSpPr>
        <p:spPr>
          <a:xfrm>
            <a:off x="566928" y="256032"/>
            <a:ext cx="9784080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500" b="1" noProof="1">
                <a:solidFill>
                  <a:srgbClr val="24292F"/>
                </a:solidFill>
                <a:latin typeface="LXGW WenKai"/>
              </a:rPr>
              <a:t>OpenClaw Multiagent：一个总指挥，六个专职 Agent</a:t>
            </a:r>
          </a:p>
        </p:txBody>
      </p:sp>
      <p:sp>
        <p:nvSpPr>
          <p:cNvPr id="60" name="Rectangle 4">
            <a:extLst>
              <a:ext uri="{FF2B5EF4-FFF2-40B4-BE49-F238E27FC236}">
                <a16:creationId xmlns:a16="http://schemas.microsoft.com/office/drawing/2014/main" id="{A9E9EF82-EC03-75E0-CD61-CBD6683B366F}"/>
              </a:ext>
            </a:extLst>
          </p:cNvPr>
          <p:cNvSpPr/>
          <p:nvPr/>
        </p:nvSpPr>
        <p:spPr>
          <a:xfrm>
            <a:off x="566928" y="841248"/>
            <a:ext cx="11064240" cy="10972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5C6900D4-4D1F-7226-066B-2F31D43C1AD3}"/>
              </a:ext>
            </a:extLst>
          </p:cNvPr>
          <p:cNvGrpSpPr/>
          <p:nvPr/>
        </p:nvGrpSpPr>
        <p:grpSpPr>
          <a:xfrm>
            <a:off x="2730500" y="1143000"/>
            <a:ext cx="2476500" cy="2476500"/>
            <a:chOff x="950976" y="1541437"/>
            <a:chExt cx="2194560" cy="2226564"/>
          </a:xfrm>
        </p:grpSpPr>
        <p:sp>
          <p:nvSpPr>
            <p:cNvPr id="65" name="Oval 7">
              <a:extLst>
                <a:ext uri="{FF2B5EF4-FFF2-40B4-BE49-F238E27FC236}">
                  <a16:creationId xmlns:a16="http://schemas.microsoft.com/office/drawing/2014/main" id="{D44DFA49-95D9-D73E-A2B7-36B719463E2F}"/>
                </a:ext>
              </a:extLst>
            </p:cNvPr>
            <p:cNvSpPr/>
            <p:nvPr/>
          </p:nvSpPr>
          <p:spPr>
            <a:xfrm>
              <a:off x="950976" y="1573441"/>
              <a:ext cx="2194560" cy="2194560"/>
            </a:xfrm>
            <a:prstGeom prst="ellipse">
              <a:avLst/>
            </a:prstGeom>
            <a:solidFill>
              <a:srgbClr val="FFE9D9"/>
            </a:solidFill>
            <a:ln w="9525" cap="flat" cmpd="sng" algn="ctr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1"/>
            </a:p>
          </p:txBody>
        </p:sp>
        <p:sp>
          <p:nvSpPr>
            <p:cNvPr id="66" name="Oval 8">
              <a:extLst>
                <a:ext uri="{FF2B5EF4-FFF2-40B4-BE49-F238E27FC236}">
                  <a16:creationId xmlns:a16="http://schemas.microsoft.com/office/drawing/2014/main" id="{73F5ECC9-37FC-9685-BA2B-15AF9659ED80}"/>
                </a:ext>
              </a:extLst>
            </p:cNvPr>
            <p:cNvSpPr/>
            <p:nvPr/>
          </p:nvSpPr>
          <p:spPr>
            <a:xfrm>
              <a:off x="1088136" y="1737360"/>
              <a:ext cx="1920240" cy="1920240"/>
            </a:xfrm>
            <a:prstGeom prst="ellipse">
              <a:avLst/>
            </a:prstGeom>
            <a:solidFill>
              <a:srgbClr val="FFD4B0"/>
            </a:solidFill>
            <a:ln w="9525" cap="flat" cmpd="sng" algn="ctr">
              <a:noFill/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1"/>
            </a:p>
          </p:txBody>
        </p:sp>
        <p:pic>
          <p:nvPicPr>
            <p:cNvPr id="67" name="Picture 9" descr="image.png">
              <a:extLst>
                <a:ext uri="{FF2B5EF4-FFF2-40B4-BE49-F238E27FC236}">
                  <a16:creationId xmlns:a16="http://schemas.microsoft.com/office/drawing/2014/main" id="{9DCBA69B-5C2D-FED5-2D91-BE43C97B4CD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05840" y="1541437"/>
              <a:ext cx="2139696" cy="2139696"/>
            </a:xfrm>
            <a:prstGeom prst="rect">
              <a:avLst/>
            </a:prstGeom>
            <a:effectLst/>
          </p:spPr>
        </p:pic>
      </p:grpSp>
      <p:sp>
        <p:nvSpPr>
          <p:cNvPr id="600" name="TopAccent"/>
          <p:cNvSpPr/>
          <p:nvPr/>
        </p:nvSpPr>
        <p:spPr>
          <a:xfrm>
            <a:off x="2540000" y="1168400"/>
            <a:ext cx="7112000" cy="63500"/>
          </a:xfrm>
          <a:prstGeom prst="rect">
            <a:avLst/>
          </a:prstGeom>
          <a:solidFill>
            <a:srgbClr val="CF222E"/>
          </a:solidFill>
          <a:ln>
            <a:noFill/>
          </a:ln>
        </p:spPr>
        <p:txBody>
          <a:bodyPr/>
          <a:lstStyle/>
          <a:p>
            <a:endParaRPr lang="en-US" noProof="1"/>
          </a:p>
        </p:txBody>
      </p:sp>
      <p:pic>
        <p:nvPicPr>
          <p:cNvPr id="601" name="Graphic 601" descr="检查状态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64200" y="1968500"/>
            <a:ext cx="279400" cy="279400"/>
          </a:xfrm>
          <a:prstGeom prst="rect">
            <a:avLst/>
          </a:prstGeom>
        </p:spPr>
      </p:pic>
      <p:pic>
        <p:nvPicPr>
          <p:cNvPr id="602" name="Graphic 602" descr="选择技能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64200" y="2476500"/>
            <a:ext cx="279400" cy="279400"/>
          </a:xfrm>
          <a:prstGeom prst="rect">
            <a:avLst/>
          </a:prstGeom>
        </p:spPr>
      </p:pic>
      <p:pic>
        <p:nvPicPr>
          <p:cNvPr id="603" name="Graphic 603" descr="记录事件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664200" y="2984500"/>
            <a:ext cx="279400" cy="279400"/>
          </a:xfrm>
          <a:prstGeom prst="rect">
            <a:avLst/>
          </a:prstGeom>
        </p:spPr>
      </p:pic>
      <p:sp>
        <p:nvSpPr>
          <p:cNvPr id="604" name="TextBox 603"/>
          <p:cNvSpPr txBox="1"/>
          <p:nvPr/>
        </p:nvSpPr>
        <p:spPr>
          <a:xfrm>
            <a:off x="566928" y="6163056"/>
            <a:ext cx="146304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lang="en-US" sz="1100" b="0" noProof="1">
                <a:solidFill>
                  <a:srgbClr val="5B6977"/>
                </a:solidFill>
                <a:latin typeface="LXGW WenKai"/>
              </a:rPr>
              <a:t>GitHub → JSONL</a:t>
            </a:r>
          </a:p>
        </p:txBody>
      </p:sp>
      <p:sp>
        <p:nvSpPr>
          <p:cNvPr id="605" name="TextBox 604"/>
          <p:cNvSpPr txBox="1"/>
          <p:nvPr/>
        </p:nvSpPr>
        <p:spPr>
          <a:xfrm>
            <a:off x="2487168" y="6163056"/>
            <a:ext cx="146304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lang="en-US" sz="1100" b="0" noProof="1">
                <a:solidFill>
                  <a:srgbClr val="5B6977"/>
                </a:solidFill>
                <a:latin typeface="LXGW WenKai"/>
              </a:rPr>
              <a:t>→ 19 features</a:t>
            </a:r>
          </a:p>
        </p:txBody>
      </p:sp>
      <p:sp>
        <p:nvSpPr>
          <p:cNvPr id="606" name="TextBox 605"/>
          <p:cNvSpPr txBox="1"/>
          <p:nvPr/>
        </p:nvSpPr>
        <p:spPr>
          <a:xfrm>
            <a:off x="4407408" y="6163056"/>
            <a:ext cx="146304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lang="en-US" sz="1100" b="0" noProof="1">
                <a:solidFill>
                  <a:srgbClr val="5B6977"/>
                </a:solidFill>
                <a:latin typeface="LXGW WenKai"/>
              </a:rPr>
              <a:t>→ 3 models</a:t>
            </a:r>
          </a:p>
        </p:txBody>
      </p:sp>
      <p:sp>
        <p:nvSpPr>
          <p:cNvPr id="607" name="TextBox 606"/>
          <p:cNvSpPr txBox="1"/>
          <p:nvPr/>
        </p:nvSpPr>
        <p:spPr>
          <a:xfrm>
            <a:off x="6327648" y="6163056"/>
            <a:ext cx="146304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lang="en-US" sz="1100" b="0" noProof="1">
                <a:solidFill>
                  <a:srgbClr val="5B6977"/>
                </a:solidFill>
                <a:latin typeface="LXGW WenKai"/>
              </a:rPr>
              <a:t>→ structured facts</a:t>
            </a:r>
          </a:p>
        </p:txBody>
      </p:sp>
      <p:sp>
        <p:nvSpPr>
          <p:cNvPr id="608" name="TextBox 607"/>
          <p:cNvSpPr txBox="1"/>
          <p:nvPr/>
        </p:nvSpPr>
        <p:spPr>
          <a:xfrm>
            <a:off x="8247888" y="6163056"/>
            <a:ext cx="146304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lang="en-US" sz="1100" b="0" noProof="1">
                <a:solidFill>
                  <a:srgbClr val="5B6977"/>
                </a:solidFill>
                <a:latin typeface="LXGW WenKai"/>
              </a:rPr>
              <a:t>→ why it works</a:t>
            </a:r>
          </a:p>
        </p:txBody>
      </p:sp>
      <p:sp>
        <p:nvSpPr>
          <p:cNvPr id="609" name="Rectangle 608"/>
          <p:cNvSpPr/>
          <p:nvPr/>
        </p:nvSpPr>
        <p:spPr>
          <a:xfrm>
            <a:off x="10168128" y="4187952"/>
            <a:ext cx="1463040" cy="73152"/>
          </a:xfrm>
          <a:prstGeom prst="rect">
            <a:avLst/>
          </a:prstGeom>
          <a:solidFill>
            <a:srgbClr val="CF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610" name="Rounded Rectangle 609"/>
          <p:cNvSpPr/>
          <p:nvPr/>
        </p:nvSpPr>
        <p:spPr>
          <a:xfrm>
            <a:off x="10168128" y="4270248"/>
            <a:ext cx="1463040" cy="2313432"/>
          </a:xfrm>
          <a:prstGeom prst="round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612" name="TextBox 611"/>
          <p:cNvSpPr txBox="1"/>
          <p:nvPr/>
        </p:nvSpPr>
        <p:spPr>
          <a:xfrm>
            <a:off x="10168128" y="5832913"/>
            <a:ext cx="14630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lang="en-US" sz="1600" b="1" noProof="1">
                <a:solidFill>
                  <a:srgbClr val="242A31"/>
                </a:solidFill>
                <a:latin typeface="LXGW WenKai"/>
              </a:rPr>
              <a:t>误差 Agent</a:t>
            </a:r>
          </a:p>
        </p:txBody>
      </p:sp>
      <p:sp>
        <p:nvSpPr>
          <p:cNvPr id="613" name="TextBox 612"/>
          <p:cNvSpPr txBox="1"/>
          <p:nvPr/>
        </p:nvSpPr>
        <p:spPr>
          <a:xfrm>
            <a:off x="10168128" y="6163056"/>
            <a:ext cx="1463040" cy="20621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lang="en-US" sz="1100" b="0" noProof="1">
                <a:solidFill>
                  <a:srgbClr val="5B6977"/>
                </a:solidFill>
                <a:latin typeface="LXGW WenKai"/>
              </a:rPr>
              <a:t>→ why it fails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641B532-9685-DDCC-515F-DCCF6AC4A1C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68128" y="4334256"/>
            <a:ext cx="1479500" cy="1479500"/>
          </a:xfrm>
          <a:prstGeom prst="rect">
            <a:avLst/>
          </a:prstGeom>
        </p:spPr>
      </p:pic>
      <p:sp>
        <p:nvSpPr>
          <p:cNvPr id="7" name="Trunk">
            <a:extLst>
              <a:ext uri="{FF2B5EF4-FFF2-40B4-BE49-F238E27FC236}">
                <a16:creationId xmlns:a16="http://schemas.microsoft.com/office/drawing/2014/main" id="{5B511A41-8245-8BEB-13ED-C4DD333B0F03}"/>
              </a:ext>
            </a:extLst>
          </p:cNvPr>
          <p:cNvSpPr/>
          <p:nvPr/>
        </p:nvSpPr>
        <p:spPr>
          <a:xfrm>
            <a:off x="6070600" y="3581400"/>
            <a:ext cx="50800" cy="190500"/>
          </a:xfrm>
          <a:prstGeom prst="rect">
            <a:avLst/>
          </a:prstGeom>
          <a:solidFill>
            <a:srgbClr val="57606A">
              <a:alpha val="0"/>
            </a:srgbClr>
          </a:solidFill>
          <a:ln>
            <a:noFill/>
          </a:ln>
        </p:spPr>
        <p:txBody>
          <a:bodyPr/>
          <a:lstStyle/>
          <a:p>
            <a:endParaRPr lang="en-US" noProof="1"/>
          </a:p>
        </p:txBody>
      </p:sp>
      <p:sp>
        <p:nvSpPr>
          <p:cNvPr id="8" name="Branch">
            <a:extLst>
              <a:ext uri="{FF2B5EF4-FFF2-40B4-BE49-F238E27FC236}">
                <a16:creationId xmlns:a16="http://schemas.microsoft.com/office/drawing/2014/main" id="{E33729EF-AA26-6271-5DC4-6A5A3DF0C98E}"/>
              </a:ext>
            </a:extLst>
          </p:cNvPr>
          <p:cNvSpPr/>
          <p:nvPr/>
        </p:nvSpPr>
        <p:spPr>
          <a:xfrm>
            <a:off x="1377950" y="3546166"/>
            <a:ext cx="4768850" cy="682934"/>
          </a:xfrm>
          <a:custGeom>
            <a:avLst/>
            <a:gdLst/>
            <a:ahLst/>
            <a:cxnLst/>
            <a:rect l="0" t="0" r="0" b="0"/>
            <a:pathLst>
              <a:path w="100000" h="100000" fill="none">
                <a:moveTo>
                  <a:pt x="98935" y="10000"/>
                </a:moveTo>
                <a:cubicBezTo>
                  <a:pt x="98935" y="45000"/>
                  <a:pt x="1065" y="45000"/>
                  <a:pt x="1065" y="80000"/>
                </a:cubicBezTo>
              </a:path>
            </a:pathLst>
          </a:custGeom>
          <a:ln w="22225" cap="rnd">
            <a:solidFill>
              <a:srgbClr val="2DA44E"/>
            </a:solidFill>
            <a:tailEnd type="triangle" w="med" len="me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9" name="Branch">
            <a:extLst>
              <a:ext uri="{FF2B5EF4-FFF2-40B4-BE49-F238E27FC236}">
                <a16:creationId xmlns:a16="http://schemas.microsoft.com/office/drawing/2014/main" id="{50736A33-2A08-5353-84B7-E49C7164D6A4}"/>
              </a:ext>
            </a:extLst>
          </p:cNvPr>
          <p:cNvSpPr/>
          <p:nvPr/>
        </p:nvSpPr>
        <p:spPr>
          <a:xfrm>
            <a:off x="3663950" y="3526749"/>
            <a:ext cx="2482850" cy="702351"/>
          </a:xfrm>
          <a:custGeom>
            <a:avLst/>
            <a:gdLst/>
            <a:ahLst/>
            <a:cxnLst/>
            <a:rect l="0" t="0" r="0" b="0"/>
            <a:pathLst>
              <a:path w="100000" h="100000" fill="none">
                <a:moveTo>
                  <a:pt x="97954" y="10000"/>
                </a:moveTo>
                <a:cubicBezTo>
                  <a:pt x="97954" y="45000"/>
                  <a:pt x="2046" y="45000"/>
                  <a:pt x="2046" y="80000"/>
                </a:cubicBezTo>
              </a:path>
            </a:pathLst>
          </a:custGeom>
          <a:ln w="22225" cap="rnd">
            <a:solidFill>
              <a:srgbClr val="0969DA"/>
            </a:solidFill>
            <a:tailEnd type="triangle" w="med" len="me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14" name="Branch">
            <a:extLst>
              <a:ext uri="{FF2B5EF4-FFF2-40B4-BE49-F238E27FC236}">
                <a16:creationId xmlns:a16="http://schemas.microsoft.com/office/drawing/2014/main" id="{1B3751E9-A64C-13F5-AD05-F264BCC8393D}"/>
              </a:ext>
            </a:extLst>
          </p:cNvPr>
          <p:cNvSpPr/>
          <p:nvPr/>
        </p:nvSpPr>
        <p:spPr>
          <a:xfrm>
            <a:off x="6080760" y="3526749"/>
            <a:ext cx="1234694" cy="824882"/>
          </a:xfrm>
          <a:custGeom>
            <a:avLst/>
            <a:gdLst/>
            <a:ahLst/>
            <a:cxnLst/>
            <a:rect l="0" t="0" r="0" b="0"/>
            <a:pathLst>
              <a:path w="100000" h="100000" fill="none">
                <a:moveTo>
                  <a:pt x="2216" y="10000"/>
                </a:moveTo>
                <a:cubicBezTo>
                  <a:pt x="2216" y="45000"/>
                  <a:pt x="97784" y="45000"/>
                  <a:pt x="97784" y="80000"/>
                </a:cubicBezTo>
              </a:path>
            </a:pathLst>
          </a:custGeom>
          <a:ln w="22225" cap="rnd">
            <a:solidFill>
              <a:srgbClr val="8A3FFC"/>
            </a:solidFill>
            <a:tailEnd type="triangle" w="med" len="me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15" name="Branch">
            <a:extLst>
              <a:ext uri="{FF2B5EF4-FFF2-40B4-BE49-F238E27FC236}">
                <a16:creationId xmlns:a16="http://schemas.microsoft.com/office/drawing/2014/main" id="{7D30CE6A-843C-0DE2-4B1B-71F6A7062091}"/>
              </a:ext>
            </a:extLst>
          </p:cNvPr>
          <p:cNvSpPr/>
          <p:nvPr/>
        </p:nvSpPr>
        <p:spPr>
          <a:xfrm>
            <a:off x="6068350" y="3522881"/>
            <a:ext cx="3052501" cy="706219"/>
          </a:xfrm>
          <a:custGeom>
            <a:avLst/>
            <a:gdLst/>
            <a:ahLst/>
            <a:cxnLst/>
            <a:rect l="0" t="0" r="0" b="0"/>
            <a:pathLst>
              <a:path w="100000" h="100000" fill="none">
                <a:moveTo>
                  <a:pt x="1110" y="10000"/>
                </a:moveTo>
                <a:cubicBezTo>
                  <a:pt x="1110" y="45000"/>
                  <a:pt x="98890" y="45000"/>
                  <a:pt x="98890" y="80000"/>
                </a:cubicBezTo>
              </a:path>
            </a:pathLst>
          </a:custGeom>
          <a:ln w="22225" cap="rnd">
            <a:solidFill>
              <a:srgbClr val="0F766E"/>
            </a:solidFill>
            <a:tailEnd type="triangle" w="med" len="me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16" name="DispatchLabel">
            <a:extLst>
              <a:ext uri="{FF2B5EF4-FFF2-40B4-BE49-F238E27FC236}">
                <a16:creationId xmlns:a16="http://schemas.microsoft.com/office/drawing/2014/main" id="{A0930A68-B372-14E5-162F-C4B544334BA4}"/>
              </a:ext>
            </a:extLst>
          </p:cNvPr>
          <p:cNvSpPr txBox="1"/>
          <p:nvPr/>
        </p:nvSpPr>
        <p:spPr>
          <a:xfrm>
            <a:off x="5664200" y="3907501"/>
            <a:ext cx="762000" cy="203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/>
            <a:r>
              <a:rPr lang="en-US" b="1" noProof="1">
                <a:solidFill>
                  <a:srgbClr val="CF222E"/>
                </a:solidFill>
                <a:latin typeface="LXGW WenKai"/>
              </a:rPr>
              <a:t>调  度</a:t>
            </a:r>
          </a:p>
        </p:txBody>
      </p:sp>
      <p:sp>
        <p:nvSpPr>
          <p:cNvPr id="17" name="Branch">
            <a:extLst>
              <a:ext uri="{FF2B5EF4-FFF2-40B4-BE49-F238E27FC236}">
                <a16:creationId xmlns:a16="http://schemas.microsoft.com/office/drawing/2014/main" id="{C9C5D098-5375-1FF9-0B3A-14C281A20D38}"/>
              </a:ext>
            </a:extLst>
          </p:cNvPr>
          <p:cNvSpPr/>
          <p:nvPr/>
        </p:nvSpPr>
        <p:spPr>
          <a:xfrm>
            <a:off x="5016755" y="3522881"/>
            <a:ext cx="1460500" cy="811375"/>
          </a:xfrm>
          <a:custGeom>
            <a:avLst/>
            <a:gdLst/>
            <a:ahLst/>
            <a:cxnLst/>
            <a:rect l="0" t="0" r="0" b="0"/>
            <a:pathLst>
              <a:path w="100000" h="100000" fill="none">
                <a:moveTo>
                  <a:pt x="74194" y="10000"/>
                </a:moveTo>
                <a:cubicBezTo>
                  <a:pt x="74194" y="45000"/>
                  <a:pt x="25806" y="45000"/>
                  <a:pt x="25806" y="80000"/>
                </a:cubicBezTo>
              </a:path>
            </a:pathLst>
          </a:custGeom>
          <a:ln w="22225" cap="rnd">
            <a:solidFill>
              <a:srgbClr val="FB8500"/>
            </a:solidFill>
            <a:tailEnd type="triangle" w="med" len="me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22" name="Branch">
            <a:extLst>
              <a:ext uri="{FF2B5EF4-FFF2-40B4-BE49-F238E27FC236}">
                <a16:creationId xmlns:a16="http://schemas.microsoft.com/office/drawing/2014/main" id="{7BE89CA9-8FF0-55A8-A225-275F6D15491C}"/>
              </a:ext>
            </a:extLst>
          </p:cNvPr>
          <p:cNvSpPr/>
          <p:nvPr/>
        </p:nvSpPr>
        <p:spPr>
          <a:xfrm>
            <a:off x="6060915" y="3536800"/>
            <a:ext cx="4741160" cy="706219"/>
          </a:xfrm>
          <a:custGeom>
            <a:avLst/>
            <a:gdLst/>
            <a:ahLst/>
            <a:cxnLst/>
            <a:rect l="0" t="0" r="0" b="0"/>
            <a:pathLst>
              <a:path w="100000" h="100000" fill="none">
                <a:moveTo>
                  <a:pt x="1110" y="10000"/>
                </a:moveTo>
                <a:cubicBezTo>
                  <a:pt x="1110" y="45000"/>
                  <a:pt x="98890" y="45000"/>
                  <a:pt x="98890" y="80000"/>
                </a:cubicBezTo>
              </a:path>
            </a:pathLst>
          </a:custGeom>
          <a:solidFill>
            <a:srgbClr val="CF232E"/>
          </a:solidFill>
          <a:ln w="22225" cap="rnd">
            <a:solidFill>
              <a:srgbClr val="CF232E"/>
            </a:solidFill>
            <a:tailEnd type="triangle" w="med" len="me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614" name="TextBox 613"/>
          <p:cNvSpPr txBox="1"/>
          <p:nvPr/>
        </p:nvSpPr>
        <p:spPr>
          <a:xfrm>
            <a:off x="10561320" y="31089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>
                <a:solidFill>
                  <a:srgbClr val="57606A"/>
                </a:solidFill>
                <a:latin typeface="LXGW WenKai"/>
              </a:defRPr>
            </a:pPr>
            <a:r>
              <a:rPr lang="en-US" noProof="1"/>
              <a:t>3 / 18</a:t>
            </a:r>
          </a:p>
        </p:txBody>
      </p:sp>
    </p:spTree>
    <p:extLst>
      <p:ext uri="{BB962C8B-B14F-4D97-AF65-F5344CB8AC3E}">
        <p14:creationId xmlns:p14="http://schemas.microsoft.com/office/powerpoint/2010/main" val="695303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315664"/>
            <a:ext cx="9509760" cy="4524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2700" b="1" noProof="1">
                <a:solidFill>
                  <a:srgbClr val="242A31"/>
                </a:solidFill>
                <a:latin typeface="LXGW WenKai"/>
              </a:rPr>
              <a:t>Agent 如何封装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274320"/>
            <a:ext cx="1828800" cy="31089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>
              <a:defRPr sz="1300">
                <a:solidFill>
                  <a:srgbClr val="57606A"/>
                </a:solidFill>
                <a:latin typeface="LXGW WenKai"/>
              </a:defRPr>
            </a:pPr>
            <a:r>
              <a:rPr lang="en-US" noProof="1"/>
              <a:t>4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841248"/>
            <a:ext cx="11064240" cy="11887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6" name="TextBox 5"/>
          <p:cNvSpPr txBox="1"/>
          <p:nvPr/>
        </p:nvSpPr>
        <p:spPr>
          <a:xfrm>
            <a:off x="566928" y="1102155"/>
            <a:ext cx="10881360" cy="337721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lang="en-US" sz="1850" b="1" noProof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每个 Agent 都不是一句 prompt，而是一套明确的输入、脚本、输出和事件记录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6400800" cy="21945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1100" b="0" noProof="1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OpenClaw · 开源项目潜力发现系统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510528"/>
            <a:ext cx="3200400" cy="21945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/>
            <a:r>
              <a:rPr lang="en-US" sz="1100" b="0" noProof="1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Agent Packaging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55648"/>
            <a:ext cx="3535680" cy="1627632"/>
          </a:xfrm>
          <a:prstGeom prst="roundRect">
            <a:avLst>
              <a:gd name="adj" fmla="val 7000"/>
            </a:avLst>
          </a:prstGeom>
          <a:solidFill>
            <a:srgbClr val="F6F8FA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0" name="Rectangle 9"/>
          <p:cNvSpPr/>
          <p:nvPr/>
        </p:nvSpPr>
        <p:spPr>
          <a:xfrm>
            <a:off x="566928" y="1755648"/>
            <a:ext cx="3535680" cy="64008"/>
          </a:xfrm>
          <a:prstGeom prst="rect">
            <a:avLst/>
          </a:prstGeom>
          <a:solidFill>
            <a:srgbClr val="2D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1" name="Oval 10"/>
          <p:cNvSpPr/>
          <p:nvPr/>
        </p:nvSpPr>
        <p:spPr>
          <a:xfrm>
            <a:off x="804672" y="2029967"/>
            <a:ext cx="384048" cy="384048"/>
          </a:xfrm>
          <a:prstGeom prst="ellipse">
            <a:avLst/>
          </a:prstGeom>
          <a:solidFill>
            <a:srgbClr val="2D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2" name="TextBox 11"/>
          <p:cNvSpPr txBox="1"/>
          <p:nvPr/>
        </p:nvSpPr>
        <p:spPr>
          <a:xfrm>
            <a:off x="804672" y="202082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500" b="1" noProof="1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1993391"/>
            <a:ext cx="2667000" cy="31089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1550" b="1" noProof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采集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" y="2304288"/>
            <a:ext cx="2667000" cy="21945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1400" b="0" noProof="1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repo-collector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" y="2651760"/>
            <a:ext cx="3060192" cy="10972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6" name="TextBox 15"/>
          <p:cNvSpPr txBox="1"/>
          <p:nvPr/>
        </p:nvSpPr>
        <p:spPr>
          <a:xfrm>
            <a:off x="804672" y="2706624"/>
            <a:ext cx="3078480" cy="27432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1400" b="1" noProof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GitHub 接口 → 原始记录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2999232"/>
            <a:ext cx="3078480" cy="237744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1400" b="0" noProof="1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产出：仓库数据文件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31208" y="1755648"/>
            <a:ext cx="3535680" cy="1627632"/>
          </a:xfrm>
          <a:prstGeom prst="roundRect">
            <a:avLst>
              <a:gd name="adj" fmla="val 7000"/>
            </a:avLst>
          </a:prstGeom>
          <a:solidFill>
            <a:srgbClr val="F6F8FA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9" name="Rectangle 18"/>
          <p:cNvSpPr/>
          <p:nvPr/>
        </p:nvSpPr>
        <p:spPr>
          <a:xfrm>
            <a:off x="4331208" y="1755648"/>
            <a:ext cx="3535680" cy="64008"/>
          </a:xfrm>
          <a:prstGeom prst="rect">
            <a:avLst/>
          </a:prstGeom>
          <a:solidFill>
            <a:srgbClr val="096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20" name="Oval 19"/>
          <p:cNvSpPr/>
          <p:nvPr/>
        </p:nvSpPr>
        <p:spPr>
          <a:xfrm>
            <a:off x="4568952" y="2029967"/>
            <a:ext cx="384048" cy="384048"/>
          </a:xfrm>
          <a:prstGeom prst="ellipse">
            <a:avLst/>
          </a:prstGeom>
          <a:solidFill>
            <a:srgbClr val="096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21" name="TextBox 20"/>
          <p:cNvSpPr txBox="1"/>
          <p:nvPr/>
        </p:nvSpPr>
        <p:spPr>
          <a:xfrm>
            <a:off x="4568952" y="202082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500" b="1" noProof="1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62728" y="1993391"/>
            <a:ext cx="2667000" cy="31089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1550" b="1" noProof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特征 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62728" y="2304288"/>
            <a:ext cx="2667000" cy="21945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1400" b="0" noProof="1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feature-extractor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68952" y="2651760"/>
            <a:ext cx="3060192" cy="10972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25" name="TextBox 24"/>
          <p:cNvSpPr txBox="1"/>
          <p:nvPr/>
        </p:nvSpPr>
        <p:spPr>
          <a:xfrm>
            <a:off x="4568952" y="2706624"/>
            <a:ext cx="3078480" cy="27432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1400" b="1" noProof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原始记录 → 19 个特征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8952" y="2999232"/>
            <a:ext cx="3078480" cy="237744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1400" b="0" noProof="1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产出：特征表 / 特征顺序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5488" y="1755648"/>
            <a:ext cx="3535680" cy="1627632"/>
          </a:xfrm>
          <a:prstGeom prst="roundRect">
            <a:avLst>
              <a:gd name="adj" fmla="val 7000"/>
            </a:avLst>
          </a:prstGeom>
          <a:solidFill>
            <a:srgbClr val="F6F8FA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28" name="Rectangle 27"/>
          <p:cNvSpPr/>
          <p:nvPr/>
        </p:nvSpPr>
        <p:spPr>
          <a:xfrm>
            <a:off x="8095488" y="1755648"/>
            <a:ext cx="3535680" cy="64008"/>
          </a:xfrm>
          <a:prstGeom prst="rect">
            <a:avLst/>
          </a:prstGeom>
          <a:solidFill>
            <a:srgbClr val="FB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29" name="Oval 28"/>
          <p:cNvSpPr/>
          <p:nvPr/>
        </p:nvSpPr>
        <p:spPr>
          <a:xfrm>
            <a:off x="8333232" y="2029967"/>
            <a:ext cx="384048" cy="384048"/>
          </a:xfrm>
          <a:prstGeom prst="ellipse">
            <a:avLst/>
          </a:prstGeom>
          <a:solidFill>
            <a:srgbClr val="FB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30" name="TextBox 29"/>
          <p:cNvSpPr txBox="1"/>
          <p:nvPr/>
        </p:nvSpPr>
        <p:spPr>
          <a:xfrm>
            <a:off x="8333232" y="202082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500" b="1" noProof="1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27008" y="1993391"/>
            <a:ext cx="2667000" cy="31089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1550" b="1" noProof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训练 Agent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27008" y="2304288"/>
            <a:ext cx="2667000" cy="21945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1400" b="0" noProof="1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model-trainer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33232" y="2651760"/>
            <a:ext cx="3060192" cy="10972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34" name="TextBox 33"/>
          <p:cNvSpPr txBox="1"/>
          <p:nvPr/>
        </p:nvSpPr>
        <p:spPr>
          <a:xfrm>
            <a:off x="8333232" y="2706624"/>
            <a:ext cx="3078480" cy="27432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1400" b="1" noProof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特征表 → 模型指标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33232" y="2999232"/>
            <a:ext cx="3078480" cy="237744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1400" b="0" noProof="1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产出：模型结果文件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3584448"/>
            <a:ext cx="3535680" cy="1627632"/>
          </a:xfrm>
          <a:prstGeom prst="roundRect">
            <a:avLst>
              <a:gd name="adj" fmla="val 7000"/>
            </a:avLst>
          </a:prstGeom>
          <a:solidFill>
            <a:srgbClr val="F6F8FA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37" name="Rectangle 36"/>
          <p:cNvSpPr/>
          <p:nvPr/>
        </p:nvSpPr>
        <p:spPr>
          <a:xfrm>
            <a:off x="566928" y="3584448"/>
            <a:ext cx="3535680" cy="64008"/>
          </a:xfrm>
          <a:prstGeom prst="rect">
            <a:avLst/>
          </a:prstGeom>
          <a:solidFill>
            <a:srgbClr val="8A3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38" name="Oval 37"/>
          <p:cNvSpPr/>
          <p:nvPr/>
        </p:nvSpPr>
        <p:spPr>
          <a:xfrm>
            <a:off x="804672" y="3858768"/>
            <a:ext cx="384048" cy="384048"/>
          </a:xfrm>
          <a:prstGeom prst="ellipse">
            <a:avLst/>
          </a:prstGeom>
          <a:solidFill>
            <a:srgbClr val="8A3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39" name="TextBox 38"/>
          <p:cNvSpPr txBox="1"/>
          <p:nvPr/>
        </p:nvSpPr>
        <p:spPr>
          <a:xfrm>
            <a:off x="804672" y="384962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500" b="1" noProof="1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98448" y="3822191"/>
            <a:ext cx="2667000" cy="31089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1550" b="1" noProof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事实 Agent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98448" y="4133087"/>
            <a:ext cx="2667000" cy="21945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1400" b="0" noProof="1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diagnostic-builder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4672" y="4480560"/>
            <a:ext cx="3060192" cy="10972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43" name="TextBox 42"/>
          <p:cNvSpPr txBox="1"/>
          <p:nvPr/>
        </p:nvSpPr>
        <p:spPr>
          <a:xfrm>
            <a:off x="804672" y="4535424"/>
            <a:ext cx="3078480" cy="27432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1400" b="1" noProof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模型指标 → 结构化事实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4672" y="4828032"/>
            <a:ext cx="3078480" cy="237744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1400" b="0" noProof="1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产出：事实摘要文件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331208" y="3584448"/>
            <a:ext cx="3535680" cy="1627632"/>
          </a:xfrm>
          <a:prstGeom prst="roundRect">
            <a:avLst>
              <a:gd name="adj" fmla="val 7000"/>
            </a:avLst>
          </a:prstGeom>
          <a:solidFill>
            <a:srgbClr val="F6F8FA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46" name="Rectangle 45"/>
          <p:cNvSpPr/>
          <p:nvPr/>
        </p:nvSpPr>
        <p:spPr>
          <a:xfrm>
            <a:off x="4331208" y="3584448"/>
            <a:ext cx="3535680" cy="64008"/>
          </a:xfrm>
          <a:prstGeom prst="rect">
            <a:avLst/>
          </a:prstGeom>
          <a:solidFill>
            <a:srgbClr val="0F6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47" name="Oval 46"/>
          <p:cNvSpPr/>
          <p:nvPr/>
        </p:nvSpPr>
        <p:spPr>
          <a:xfrm>
            <a:off x="4568952" y="3858768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48" name="TextBox 47"/>
          <p:cNvSpPr txBox="1"/>
          <p:nvPr/>
        </p:nvSpPr>
        <p:spPr>
          <a:xfrm>
            <a:off x="4568952" y="384962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500" b="1" noProof="1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62728" y="3822191"/>
            <a:ext cx="2667000" cy="31089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1550" b="1" noProof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洞察 Agent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62728" y="4133087"/>
            <a:ext cx="2667000" cy="21945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1400" b="0" noProof="1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insight-analysis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68952" y="4480560"/>
            <a:ext cx="3060192" cy="10972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52" name="TextBox 51"/>
          <p:cNvSpPr txBox="1"/>
          <p:nvPr/>
        </p:nvSpPr>
        <p:spPr>
          <a:xfrm>
            <a:off x="4568952" y="4535424"/>
            <a:ext cx="3078480" cy="27432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1400" b="1" noProof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事实摘要 → 受约束解释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68952" y="4828032"/>
            <a:ext cx="3078480" cy="237744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1400" b="0" noProof="1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产出：洞察分析页面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095488" y="3584448"/>
            <a:ext cx="3535680" cy="1627632"/>
          </a:xfrm>
          <a:prstGeom prst="roundRect">
            <a:avLst>
              <a:gd name="adj" fmla="val 7000"/>
            </a:avLst>
          </a:prstGeom>
          <a:solidFill>
            <a:srgbClr val="F6F8FA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55" name="Rectangle 54"/>
          <p:cNvSpPr/>
          <p:nvPr/>
        </p:nvSpPr>
        <p:spPr>
          <a:xfrm>
            <a:off x="8095488" y="3584448"/>
            <a:ext cx="3535680" cy="64008"/>
          </a:xfrm>
          <a:prstGeom prst="rect">
            <a:avLst/>
          </a:prstGeom>
          <a:solidFill>
            <a:srgbClr val="CF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56" name="Oval 55"/>
          <p:cNvSpPr/>
          <p:nvPr/>
        </p:nvSpPr>
        <p:spPr>
          <a:xfrm>
            <a:off x="8333232" y="3858768"/>
            <a:ext cx="384048" cy="384048"/>
          </a:xfrm>
          <a:prstGeom prst="ellipse">
            <a:avLst/>
          </a:prstGeom>
          <a:solidFill>
            <a:srgbClr val="CF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57" name="TextBox 56"/>
          <p:cNvSpPr txBox="1"/>
          <p:nvPr/>
        </p:nvSpPr>
        <p:spPr>
          <a:xfrm>
            <a:off x="8333232" y="3926232"/>
            <a:ext cx="384048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500" b="1" noProof="1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27008" y="3822191"/>
            <a:ext cx="2667000" cy="31089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1600" b="1" noProof="1">
                <a:solidFill>
                  <a:srgbClr val="242A31"/>
                </a:solidFill>
                <a:latin typeface="LXGW WenKai"/>
              </a:rPr>
              <a:t>误差 Agent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27008" y="4133087"/>
            <a:ext cx="2667000" cy="21945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1400" noProof="1">
                <a:solidFill>
                  <a:srgbClr val="5B6977"/>
                </a:solidFill>
                <a:latin typeface="LXGW WenKai"/>
              </a:rPr>
              <a:t>error-analyst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333232" y="4480560"/>
            <a:ext cx="3060192" cy="10972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61" name="TextBox 60"/>
          <p:cNvSpPr txBox="1"/>
          <p:nvPr/>
        </p:nvSpPr>
        <p:spPr>
          <a:xfrm>
            <a:off x="8333232" y="4546395"/>
            <a:ext cx="3078480" cy="252377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1400" b="1" noProof="1">
                <a:solidFill>
                  <a:srgbClr val="242A31"/>
                </a:solidFill>
                <a:latin typeface="LXGW WenKai"/>
              </a:rPr>
              <a:t>预测错误 → FP / FN 规律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33232" y="4828032"/>
            <a:ext cx="3078480" cy="237744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1400" noProof="1">
                <a:solidFill>
                  <a:srgbClr val="5B6977"/>
                </a:solidFill>
                <a:latin typeface="LXGW WenKai"/>
              </a:rPr>
              <a:t>产出：错误分析页面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66928" y="5413248"/>
            <a:ext cx="11064240" cy="676656"/>
          </a:xfrm>
          <a:prstGeom prst="roundRect">
            <a:avLst>
              <a:gd name="adj" fmla="val 18000"/>
            </a:avLst>
          </a:prstGeom>
          <a:solidFill>
            <a:srgbClr val="F1FBF5"/>
          </a:solidFill>
          <a:ln w="12700">
            <a:solidFill>
              <a:srgbClr val="2D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64" name="TextBox 63"/>
          <p:cNvSpPr txBox="1"/>
          <p:nvPr/>
        </p:nvSpPr>
        <p:spPr>
          <a:xfrm>
            <a:off x="822960" y="5609999"/>
            <a:ext cx="10552176" cy="283154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lang="en-US" sz="1600" b="1" noProof="1">
                <a:solidFill>
                  <a:srgbClr val="242A31"/>
                </a:solidFill>
                <a:latin typeface="LXGW WenKai"/>
              </a:rPr>
              <a:t>第 7 步 report-generator 再把模型结果、聚类、事实诊断、错误分析和洞察统一写入最终 HTML 报告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969264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400" b="1">
                <a:solidFill>
                  <a:srgbClr val="24292F"/>
                </a:solidFill>
                <a:latin typeface="LXGW WenKai"/>
              </a:defRPr>
            </a:pPr>
            <a:r>
              <a:rPr lang="en-US" noProof="1"/>
              <a:t>浅色 Dashboard：把流程状态和报告入口放到同一页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61320" y="310896"/>
            <a:ext cx="10058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0">
                <a:solidFill>
                  <a:srgbClr val="57606A"/>
                </a:solidFill>
                <a:latin typeface="LXGW WenKai"/>
              </a:defRPr>
            </a:pPr>
            <a:r>
              <a:rPr lang="en-US" noProof="1"/>
              <a:t>5 / 18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41248"/>
            <a:ext cx="11018520" cy="9144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640080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0">
                <a:solidFill>
                  <a:srgbClr val="57606A"/>
                </a:solidFill>
                <a:latin typeface="LXGW WenKai"/>
              </a:defRPr>
            </a:pPr>
            <a:r>
              <a:rPr lang="en-US" noProof="1"/>
              <a:t>OpenClaw · 开源项目潜力发现系统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6510528"/>
            <a:ext cx="320040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0">
                <a:solidFill>
                  <a:srgbClr val="57606A"/>
                </a:solidFill>
                <a:latin typeface="LXGW WenKai"/>
              </a:defRPr>
            </a:pPr>
            <a:r>
              <a:rPr lang="en-US" noProof="1"/>
              <a:t>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051560"/>
            <a:ext cx="1088136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800" b="1">
                <a:solidFill>
                  <a:srgbClr val="24292F"/>
                </a:solidFill>
                <a:latin typeface="LXGW WenKai"/>
              </a:defRPr>
            </a:pPr>
            <a:r>
              <a:rPr lang="en-US" noProof="1"/>
              <a:t>控制台不是模型本身，而是让 OpenClaw 的多步骤运行过程可见、可查、可复现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64208"/>
            <a:ext cx="108813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9" name="Rounded Rectangle 8"/>
          <p:cNvSpPr/>
          <p:nvPr/>
        </p:nvSpPr>
        <p:spPr>
          <a:xfrm>
            <a:off x="713232" y="1664208"/>
            <a:ext cx="10881360" cy="384048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0" name="Oval 9"/>
          <p:cNvSpPr/>
          <p:nvPr/>
        </p:nvSpPr>
        <p:spPr>
          <a:xfrm>
            <a:off x="932688" y="1792224"/>
            <a:ext cx="73152" cy="73152"/>
          </a:xfrm>
          <a:prstGeom prst="ellipse">
            <a:avLst/>
          </a:prstGeom>
          <a:solidFill>
            <a:srgbClr val="CF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1" name="Oval 10"/>
          <p:cNvSpPr/>
          <p:nvPr/>
        </p:nvSpPr>
        <p:spPr>
          <a:xfrm>
            <a:off x="1133856" y="1792224"/>
            <a:ext cx="73152" cy="73152"/>
          </a:xfrm>
          <a:prstGeom prst="ellipse">
            <a:avLst/>
          </a:prstGeom>
          <a:solidFill>
            <a:srgbClr val="FB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2" name="Oval 11"/>
          <p:cNvSpPr/>
          <p:nvPr/>
        </p:nvSpPr>
        <p:spPr>
          <a:xfrm>
            <a:off x="1335024" y="1792224"/>
            <a:ext cx="73152" cy="73152"/>
          </a:xfrm>
          <a:prstGeom prst="ellipse">
            <a:avLst/>
          </a:prstGeom>
          <a:solidFill>
            <a:srgbClr val="2CA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3" name="TextBox 12"/>
          <p:cNvSpPr txBox="1"/>
          <p:nvPr/>
        </p:nvSpPr>
        <p:spPr>
          <a:xfrm>
            <a:off x="1627632" y="1746504"/>
            <a:ext cx="530352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0">
                <a:solidFill>
                  <a:srgbClr val="57606A"/>
                </a:solidFill>
                <a:latin typeface="LXGW WenKai"/>
              </a:defRPr>
            </a:pPr>
            <a:r>
              <a:rPr lang="en-US" noProof="1"/>
              <a:t>OpenClaw Console · http://localhost:8080/dashboard/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21240" y="1746504"/>
            <a:ext cx="658368" cy="201168"/>
          </a:xfrm>
          <a:prstGeom prst="roundRect">
            <a:avLst/>
          </a:prstGeom>
          <a:solidFill>
            <a:srgbClr val="2CA25F"/>
          </a:solidFill>
          <a:ln w="12700">
            <a:solidFill>
              <a:srgbClr val="2CA2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solidFill>
                  <a:srgbClr val="FFFFFF"/>
                </a:solidFill>
                <a:latin typeface="LXGW WenKai"/>
              </a:defRPr>
            </a:pPr>
            <a:r>
              <a:rPr lang="en-US" noProof="1"/>
              <a:t>运行中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2331720"/>
            <a:ext cx="1371600" cy="658368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6" name="Rounded Rectangle 15"/>
          <p:cNvSpPr/>
          <p:nvPr/>
        </p:nvSpPr>
        <p:spPr>
          <a:xfrm>
            <a:off x="1051560" y="2496312"/>
            <a:ext cx="292608" cy="256032"/>
          </a:xfrm>
          <a:prstGeom prst="roundRect">
            <a:avLst/>
          </a:prstGeom>
          <a:solidFill>
            <a:srgbClr val="8A3FFC"/>
          </a:solidFill>
          <a:ln w="12700">
            <a:solidFill>
              <a:srgbClr val="8A3F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LXGW WenKai"/>
              </a:defRPr>
            </a:pPr>
            <a:r>
              <a:rPr lang="en-US" noProof="1"/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2450592"/>
            <a:ext cx="749808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200" b="1">
                <a:solidFill>
                  <a:srgbClr val="24292F"/>
                </a:solidFill>
                <a:latin typeface="LXGW WenKai"/>
              </a:defRPr>
            </a:pPr>
            <a:r>
              <a:rPr lang="en-US" noProof="1"/>
              <a:t>编排器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2697480"/>
            <a:ext cx="8229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50" b="0">
                <a:solidFill>
                  <a:srgbClr val="57606A"/>
                </a:solidFill>
                <a:latin typeface="LXGW WenKai"/>
              </a:defRPr>
            </a:pPr>
            <a:r>
              <a:rPr lang="en-US" noProof="1"/>
              <a:t>完成 / 待命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68880" y="2331720"/>
            <a:ext cx="1371600" cy="658368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20" name="Rounded Rectangle 19"/>
          <p:cNvSpPr/>
          <p:nvPr/>
        </p:nvSpPr>
        <p:spPr>
          <a:xfrm>
            <a:off x="2560320" y="2496312"/>
            <a:ext cx="292608" cy="256032"/>
          </a:xfrm>
          <a:prstGeom prst="roundRect">
            <a:avLst/>
          </a:prstGeom>
          <a:solidFill>
            <a:srgbClr val="2CA25F"/>
          </a:solidFill>
          <a:ln w="12700">
            <a:solidFill>
              <a:srgbClr val="2CA2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LXGW WenKai"/>
              </a:defRPr>
            </a:pPr>
            <a:r>
              <a:rPr lang="en-US" noProof="1"/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2450592"/>
            <a:ext cx="749808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200" b="1">
                <a:solidFill>
                  <a:srgbClr val="24292F"/>
                </a:solidFill>
                <a:latin typeface="LXGW WenKai"/>
              </a:defRPr>
            </a:pPr>
            <a:r>
              <a:rPr lang="en-US" noProof="1"/>
              <a:t>采集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62072" y="2697480"/>
            <a:ext cx="8229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50" b="0">
                <a:solidFill>
                  <a:srgbClr val="57606A"/>
                </a:solidFill>
                <a:latin typeface="LXGW WenKai"/>
              </a:defRPr>
            </a:pPr>
            <a:r>
              <a:rPr lang="en-US" noProof="1"/>
              <a:t>完成 / 待命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77639" y="2331720"/>
            <a:ext cx="1371600" cy="658368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24" name="Rounded Rectangle 23"/>
          <p:cNvSpPr/>
          <p:nvPr/>
        </p:nvSpPr>
        <p:spPr>
          <a:xfrm>
            <a:off x="4069079" y="2496312"/>
            <a:ext cx="292608" cy="256032"/>
          </a:xfrm>
          <a:prstGeom prst="roundRect">
            <a:avLst/>
          </a:prstGeom>
          <a:solidFill>
            <a:srgbClr val="0969DA"/>
          </a:solidFill>
          <a:ln w="12700">
            <a:solidFill>
              <a:srgbClr val="0969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LXGW WenKai"/>
              </a:defRPr>
            </a:pPr>
            <a:r>
              <a:rPr lang="en-US" noProof="1"/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2450592"/>
            <a:ext cx="749808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200" b="1">
                <a:solidFill>
                  <a:srgbClr val="24292F"/>
                </a:solidFill>
                <a:latin typeface="LXGW WenKai"/>
              </a:defRPr>
            </a:pPr>
            <a:r>
              <a:rPr lang="en-US" noProof="1"/>
              <a:t>特征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70831" y="2697480"/>
            <a:ext cx="8229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50" b="0">
                <a:solidFill>
                  <a:srgbClr val="57606A"/>
                </a:solidFill>
                <a:latin typeface="LXGW WenKai"/>
              </a:defRPr>
            </a:pPr>
            <a:r>
              <a:rPr lang="en-US" noProof="1"/>
              <a:t>完成 / 待命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399" y="2331720"/>
            <a:ext cx="1371600" cy="658368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28" name="Rounded Rectangle 27"/>
          <p:cNvSpPr/>
          <p:nvPr/>
        </p:nvSpPr>
        <p:spPr>
          <a:xfrm>
            <a:off x="5577839" y="2496312"/>
            <a:ext cx="292608" cy="256032"/>
          </a:xfrm>
          <a:prstGeom prst="roundRect">
            <a:avLst/>
          </a:prstGeom>
          <a:solidFill>
            <a:srgbClr val="FB8500"/>
          </a:solidFill>
          <a:ln w="12700">
            <a:solidFill>
              <a:srgbClr val="FB8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LXGW WenKai"/>
              </a:defRPr>
            </a:pPr>
            <a:r>
              <a:rPr lang="en-US" noProof="1"/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599" y="2450592"/>
            <a:ext cx="749808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200" b="1">
                <a:solidFill>
                  <a:srgbClr val="24292F"/>
                </a:solidFill>
                <a:latin typeface="LXGW WenKai"/>
              </a:defRPr>
            </a:pPr>
            <a:r>
              <a:rPr lang="en-US" noProof="1"/>
              <a:t>训练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79591" y="2697480"/>
            <a:ext cx="8229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50" b="0">
                <a:solidFill>
                  <a:srgbClr val="57606A"/>
                </a:solidFill>
                <a:latin typeface="LXGW WenKai"/>
              </a:defRPr>
            </a:pPr>
            <a:r>
              <a:rPr lang="en-US" noProof="1"/>
              <a:t>完成 / 待命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95159" y="2331720"/>
            <a:ext cx="1371600" cy="658368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32" name="Rounded Rectangle 31"/>
          <p:cNvSpPr/>
          <p:nvPr/>
        </p:nvSpPr>
        <p:spPr>
          <a:xfrm>
            <a:off x="7086599" y="2496312"/>
            <a:ext cx="292608" cy="256032"/>
          </a:xfrm>
          <a:prstGeom prst="roundRect">
            <a:avLst/>
          </a:prstGeom>
          <a:solidFill>
            <a:srgbClr val="0F7B6C"/>
          </a:solidFill>
          <a:ln w="12700">
            <a:solidFill>
              <a:srgbClr val="0F7B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LXGW WenKai"/>
              </a:defRPr>
            </a:pPr>
            <a:r>
              <a:rPr lang="en-US" noProof="1"/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52359" y="2450592"/>
            <a:ext cx="749808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200" b="1">
                <a:solidFill>
                  <a:srgbClr val="24292F"/>
                </a:solidFill>
                <a:latin typeface="LXGW WenKai"/>
              </a:defRPr>
            </a:pPr>
            <a:r>
              <a:rPr lang="en-US" noProof="1"/>
              <a:t>事实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88352" y="2697480"/>
            <a:ext cx="8229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50" b="0">
                <a:solidFill>
                  <a:srgbClr val="57606A"/>
                </a:solidFill>
                <a:latin typeface="LXGW WenKai"/>
              </a:defRPr>
            </a:pPr>
            <a:r>
              <a:rPr lang="en-US" noProof="1"/>
              <a:t>完成 / 待命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503920" y="2331720"/>
            <a:ext cx="1371600" cy="658368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36" name="Rounded Rectangle 35"/>
          <p:cNvSpPr/>
          <p:nvPr/>
        </p:nvSpPr>
        <p:spPr>
          <a:xfrm>
            <a:off x="8595360" y="2496312"/>
            <a:ext cx="292608" cy="256032"/>
          </a:xfrm>
          <a:prstGeom prst="roundRect">
            <a:avLst/>
          </a:prstGeom>
          <a:solidFill>
            <a:srgbClr val="8A3FFC"/>
          </a:solidFill>
          <a:ln w="12700">
            <a:solidFill>
              <a:srgbClr val="8A3F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LXGW WenKai"/>
              </a:defRPr>
            </a:pPr>
            <a:r>
              <a:rPr lang="en-US" noProof="1"/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120" y="2450592"/>
            <a:ext cx="749808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200" b="1">
                <a:solidFill>
                  <a:srgbClr val="24292F"/>
                </a:solidFill>
                <a:latin typeface="LXGW WenKai"/>
              </a:defRPr>
            </a:pPr>
            <a:r>
              <a:rPr lang="en-US" noProof="1"/>
              <a:t>洞察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97112" y="2697480"/>
            <a:ext cx="8229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50" b="0">
                <a:solidFill>
                  <a:srgbClr val="57606A"/>
                </a:solidFill>
                <a:latin typeface="LXGW WenKai"/>
              </a:defRPr>
            </a:pPr>
            <a:r>
              <a:rPr lang="en-US" noProof="1"/>
              <a:t>完成 / 待命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012680" y="2331720"/>
            <a:ext cx="1371600" cy="658368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40" name="Rounded Rectangle 39"/>
          <p:cNvSpPr/>
          <p:nvPr/>
        </p:nvSpPr>
        <p:spPr>
          <a:xfrm>
            <a:off x="10104119" y="2496312"/>
            <a:ext cx="292608" cy="256032"/>
          </a:xfrm>
          <a:prstGeom prst="roundRect">
            <a:avLst/>
          </a:prstGeom>
          <a:solidFill>
            <a:srgbClr val="CF222E"/>
          </a:solidFill>
          <a:ln w="12700">
            <a:solidFill>
              <a:srgbClr val="CF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LXGW WenKai"/>
              </a:defRPr>
            </a:pPr>
            <a:r>
              <a:rPr lang="en-US" noProof="1"/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69880" y="2450592"/>
            <a:ext cx="749808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200" b="1">
                <a:solidFill>
                  <a:srgbClr val="24292F"/>
                </a:solidFill>
                <a:latin typeface="LXGW WenKai"/>
              </a:defRPr>
            </a:pPr>
            <a:r>
              <a:rPr lang="en-US" noProof="1"/>
              <a:t>报告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05872" y="2697480"/>
            <a:ext cx="8229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50" b="0">
                <a:solidFill>
                  <a:srgbClr val="57606A"/>
                </a:solidFill>
                <a:latin typeface="LXGW WenKai"/>
              </a:defRPr>
            </a:pPr>
            <a:r>
              <a:rPr lang="en-US" noProof="1"/>
              <a:t>完成 / 待命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60120" y="3310128"/>
            <a:ext cx="6766560" cy="1627632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44" name="TextBox 43"/>
          <p:cNvSpPr txBox="1"/>
          <p:nvPr/>
        </p:nvSpPr>
        <p:spPr>
          <a:xfrm>
            <a:off x="1170432" y="3456432"/>
            <a:ext cx="13716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24292F"/>
                </a:solidFill>
                <a:latin typeface="LXGW WenKai"/>
              </a:defRPr>
            </a:pPr>
            <a:r>
              <a:rPr lang="en-US" noProof="1"/>
              <a:t>流水线架构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207008" y="3886200"/>
            <a:ext cx="841248" cy="40233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CA2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46" name="TextBox 45"/>
          <p:cNvSpPr txBox="1"/>
          <p:nvPr/>
        </p:nvSpPr>
        <p:spPr>
          <a:xfrm>
            <a:off x="1358328" y="4005072"/>
            <a:ext cx="538609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19" b="1">
                <a:solidFill>
                  <a:srgbClr val="24292F"/>
                </a:solidFill>
                <a:latin typeface="LXGW WenKai"/>
              </a:defRPr>
            </a:pPr>
            <a:r>
              <a:rPr lang="en-US" sz="1050" noProof="1"/>
              <a:t>数据采集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2057400" y="4032504"/>
            <a:ext cx="164592" cy="109728"/>
          </a:xfrm>
          <a:prstGeom prst="rightArrow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48" name="Rounded Rectangle 47"/>
          <p:cNvSpPr/>
          <p:nvPr/>
        </p:nvSpPr>
        <p:spPr>
          <a:xfrm>
            <a:off x="2258568" y="3886200"/>
            <a:ext cx="841248" cy="40233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969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49" name="TextBox 48"/>
          <p:cNvSpPr txBox="1"/>
          <p:nvPr/>
        </p:nvSpPr>
        <p:spPr>
          <a:xfrm>
            <a:off x="2409886" y="4005072"/>
            <a:ext cx="538610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19" b="1">
                <a:solidFill>
                  <a:srgbClr val="24292F"/>
                </a:solidFill>
                <a:latin typeface="LXGW WenKai"/>
              </a:defRPr>
            </a:pPr>
            <a:r>
              <a:rPr lang="en-US" sz="1050" b="1" noProof="1">
                <a:solidFill>
                  <a:srgbClr val="24292F"/>
                </a:solidFill>
                <a:latin typeface="LXGW WenKai"/>
              </a:rPr>
              <a:t>特征工程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3108960" y="4032504"/>
            <a:ext cx="164592" cy="109728"/>
          </a:xfrm>
          <a:prstGeom prst="rightArrow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51" name="Rounded Rectangle 50"/>
          <p:cNvSpPr/>
          <p:nvPr/>
        </p:nvSpPr>
        <p:spPr>
          <a:xfrm>
            <a:off x="3310128" y="3886200"/>
            <a:ext cx="841248" cy="40233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B8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52" name="TextBox 51"/>
          <p:cNvSpPr txBox="1"/>
          <p:nvPr/>
        </p:nvSpPr>
        <p:spPr>
          <a:xfrm>
            <a:off x="3461447" y="4005072"/>
            <a:ext cx="538610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19" b="1">
                <a:solidFill>
                  <a:srgbClr val="24292F"/>
                </a:solidFill>
                <a:latin typeface="LXGW WenKai"/>
              </a:defRPr>
            </a:pPr>
            <a:r>
              <a:rPr lang="en-US" sz="1050" b="1" noProof="1">
                <a:solidFill>
                  <a:srgbClr val="24292F"/>
                </a:solidFill>
                <a:latin typeface="LXGW WenKai"/>
              </a:rPr>
              <a:t>模型训练</a:t>
            </a:r>
          </a:p>
        </p:txBody>
      </p:sp>
      <p:sp>
        <p:nvSpPr>
          <p:cNvPr id="53" name="Right Arrow 52"/>
          <p:cNvSpPr/>
          <p:nvPr/>
        </p:nvSpPr>
        <p:spPr>
          <a:xfrm>
            <a:off x="4160520" y="4032504"/>
            <a:ext cx="164592" cy="109728"/>
          </a:xfrm>
          <a:prstGeom prst="rightArrow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54" name="Rounded Rectangle 53"/>
          <p:cNvSpPr/>
          <p:nvPr/>
        </p:nvSpPr>
        <p:spPr>
          <a:xfrm>
            <a:off x="4361688" y="3886200"/>
            <a:ext cx="841248" cy="40233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F7B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55" name="TextBox 54"/>
          <p:cNvSpPr txBox="1"/>
          <p:nvPr/>
        </p:nvSpPr>
        <p:spPr>
          <a:xfrm>
            <a:off x="4513007" y="4005072"/>
            <a:ext cx="538610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19" b="1">
                <a:solidFill>
                  <a:srgbClr val="24292F"/>
                </a:solidFill>
                <a:latin typeface="LXGW WenKai"/>
              </a:defRPr>
            </a:pPr>
            <a:r>
              <a:rPr lang="en-US" sz="1050" b="1" noProof="1">
                <a:solidFill>
                  <a:srgbClr val="24292F"/>
                </a:solidFill>
                <a:latin typeface="LXGW WenKai"/>
              </a:rPr>
              <a:t>事实诊断</a:t>
            </a:r>
          </a:p>
        </p:txBody>
      </p:sp>
      <p:sp>
        <p:nvSpPr>
          <p:cNvPr id="56" name="Right Arrow 55"/>
          <p:cNvSpPr/>
          <p:nvPr/>
        </p:nvSpPr>
        <p:spPr>
          <a:xfrm>
            <a:off x="5212079" y="4032504"/>
            <a:ext cx="164592" cy="109728"/>
          </a:xfrm>
          <a:prstGeom prst="rightArrow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57" name="Rounded Rectangle 56"/>
          <p:cNvSpPr/>
          <p:nvPr/>
        </p:nvSpPr>
        <p:spPr>
          <a:xfrm>
            <a:off x="5413248" y="3886200"/>
            <a:ext cx="841248" cy="40233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A3F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58" name="TextBox 57"/>
          <p:cNvSpPr txBox="1"/>
          <p:nvPr/>
        </p:nvSpPr>
        <p:spPr>
          <a:xfrm>
            <a:off x="5494837" y="4005072"/>
            <a:ext cx="678071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19" b="1">
                <a:solidFill>
                  <a:srgbClr val="24292F"/>
                </a:solidFill>
                <a:latin typeface="LXGW WenKai"/>
              </a:defRPr>
            </a:pPr>
            <a:r>
              <a:rPr lang="en-US" sz="1050" b="1" noProof="1">
                <a:solidFill>
                  <a:srgbClr val="24292F"/>
                </a:solidFill>
                <a:latin typeface="LXGW WenKai"/>
              </a:rPr>
              <a:t>洞察 / 误差</a:t>
            </a:r>
          </a:p>
        </p:txBody>
      </p:sp>
      <p:sp>
        <p:nvSpPr>
          <p:cNvPr id="59" name="Right Arrow 58"/>
          <p:cNvSpPr/>
          <p:nvPr/>
        </p:nvSpPr>
        <p:spPr>
          <a:xfrm>
            <a:off x="6263640" y="4032504"/>
            <a:ext cx="164592" cy="109728"/>
          </a:xfrm>
          <a:prstGeom prst="rightArrow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60" name="Rounded Rectangle 59"/>
          <p:cNvSpPr/>
          <p:nvPr/>
        </p:nvSpPr>
        <p:spPr>
          <a:xfrm>
            <a:off x="6464808" y="3886200"/>
            <a:ext cx="841248" cy="40233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F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61" name="TextBox 60"/>
          <p:cNvSpPr txBox="1"/>
          <p:nvPr/>
        </p:nvSpPr>
        <p:spPr>
          <a:xfrm>
            <a:off x="6616127" y="4005072"/>
            <a:ext cx="538610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19" b="1">
                <a:solidFill>
                  <a:srgbClr val="24292F"/>
                </a:solidFill>
                <a:latin typeface="LXGW WenKai"/>
              </a:defRPr>
            </a:pPr>
            <a:r>
              <a:rPr lang="en-US" sz="1050" b="1" noProof="1">
                <a:solidFill>
                  <a:srgbClr val="24292F"/>
                </a:solidFill>
                <a:latin typeface="LXGW WenKai"/>
              </a:rPr>
              <a:t>报告生成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88720" y="4553712"/>
            <a:ext cx="4108497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0">
                <a:solidFill>
                  <a:srgbClr val="57606A"/>
                </a:solidFill>
                <a:latin typeface="LXGW WenKai"/>
              </a:defRPr>
            </a:pPr>
            <a:r>
              <a:rPr lang="en-US" noProof="1"/>
              <a:t>每一步都会留下事件日志和中间产物，出错时能定位到具体 Agent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973568" y="3310128"/>
            <a:ext cx="3310128" cy="1627632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64" name="TextBox 63"/>
          <p:cNvSpPr txBox="1"/>
          <p:nvPr/>
        </p:nvSpPr>
        <p:spPr>
          <a:xfrm>
            <a:off x="8183879" y="3456432"/>
            <a:ext cx="13716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24292F"/>
                </a:solidFill>
                <a:latin typeface="LXGW WenKai"/>
              </a:defRPr>
            </a:pPr>
            <a:r>
              <a:rPr lang="en-US" noProof="1"/>
              <a:t>报告工作区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183879" y="3749039"/>
            <a:ext cx="2743200" cy="1920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A2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66" name="TextBox 65"/>
          <p:cNvSpPr txBox="1"/>
          <p:nvPr/>
        </p:nvSpPr>
        <p:spPr>
          <a:xfrm>
            <a:off x="8314358" y="3755952"/>
            <a:ext cx="51296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24292F"/>
                </a:solidFill>
                <a:latin typeface="LXGW WenKai"/>
              </a:defRPr>
            </a:pPr>
            <a:r>
              <a:rPr lang="en-US" sz="1000" noProof="1"/>
              <a:t>历史回测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183879" y="4005072"/>
            <a:ext cx="2743200" cy="1920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B8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68" name="TextBox 67"/>
          <p:cNvSpPr txBox="1"/>
          <p:nvPr/>
        </p:nvSpPr>
        <p:spPr>
          <a:xfrm>
            <a:off x="8321040" y="4032856"/>
            <a:ext cx="51296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24292F"/>
                </a:solidFill>
                <a:latin typeface="LXGW WenKai"/>
              </a:defRPr>
            </a:pPr>
            <a:r>
              <a:rPr lang="en-US" sz="1000" b="1" noProof="1">
                <a:solidFill>
                  <a:srgbClr val="24292F"/>
                </a:solidFill>
                <a:latin typeface="LXGW WenKai"/>
              </a:rPr>
              <a:t>今日雷达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183879" y="4261104"/>
            <a:ext cx="2743200" cy="1920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A3F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70" name="TextBox 69"/>
          <p:cNvSpPr txBox="1"/>
          <p:nvPr/>
        </p:nvSpPr>
        <p:spPr>
          <a:xfrm>
            <a:off x="8321040" y="4280096"/>
            <a:ext cx="51296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24292F"/>
                </a:solidFill>
                <a:latin typeface="LXGW WenKai"/>
              </a:defRPr>
            </a:pPr>
            <a:r>
              <a:rPr lang="en-US" sz="1000" b="1" noProof="1">
                <a:solidFill>
                  <a:srgbClr val="24292F"/>
                </a:solidFill>
                <a:latin typeface="LXGW WenKai"/>
              </a:rPr>
              <a:t>洞察分析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183879" y="4517136"/>
            <a:ext cx="2743200" cy="1920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72" name="TextBox 71"/>
          <p:cNvSpPr txBox="1"/>
          <p:nvPr/>
        </p:nvSpPr>
        <p:spPr>
          <a:xfrm>
            <a:off x="8321040" y="4536128"/>
            <a:ext cx="51296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24292F"/>
                </a:solidFill>
                <a:latin typeface="LXGW WenKai"/>
              </a:defRPr>
            </a:pPr>
            <a:r>
              <a:rPr lang="en-US" sz="1000" b="1" noProof="1">
                <a:solidFill>
                  <a:srgbClr val="24292F"/>
                </a:solidFill>
                <a:latin typeface="LXGW WenKai"/>
              </a:rPr>
              <a:t>错误分析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97112" y="4764024"/>
            <a:ext cx="27432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19" b="0">
                <a:solidFill>
                  <a:srgbClr val="57606A"/>
                </a:solidFill>
                <a:latin typeface="LXGW WenKai"/>
              </a:defRPr>
            </a:pPr>
            <a:r>
              <a:rPr lang="en-US" noProof="1"/>
              <a:t>四个入口集中展示最终产物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60120" y="5285232"/>
            <a:ext cx="3191256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A2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75" name="TextBox 74"/>
          <p:cNvSpPr txBox="1"/>
          <p:nvPr/>
        </p:nvSpPr>
        <p:spPr>
          <a:xfrm>
            <a:off x="1124712" y="5394960"/>
            <a:ext cx="5943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2CA25F"/>
                </a:solidFill>
                <a:latin typeface="LXGW WenKai"/>
              </a:defRPr>
            </a:pPr>
            <a:r>
              <a:rPr lang="en-US" noProof="1"/>
              <a:t>看状态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801368" y="5394960"/>
            <a:ext cx="192024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0">
                <a:solidFill>
                  <a:srgbClr val="57606A"/>
                </a:solidFill>
                <a:latin typeface="LXGW WenKai"/>
              </a:defRPr>
            </a:pPr>
            <a:r>
              <a:rPr lang="en-US" noProof="1"/>
              <a:t>哪个 Agent 正在跑、是否完成、是否失败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416552" y="5285232"/>
            <a:ext cx="306324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969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78" name="TextBox 77"/>
          <p:cNvSpPr txBox="1"/>
          <p:nvPr/>
        </p:nvSpPr>
        <p:spPr>
          <a:xfrm>
            <a:off x="4581144" y="5394960"/>
            <a:ext cx="5943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0969DA"/>
                </a:solidFill>
                <a:latin typeface="LXGW WenKai"/>
              </a:defRPr>
            </a:pPr>
            <a:r>
              <a:rPr lang="en-US" noProof="1"/>
              <a:t>看产物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257800" y="5394960"/>
            <a:ext cx="2071080" cy="2923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0">
                <a:solidFill>
                  <a:srgbClr val="57606A"/>
                </a:solidFill>
                <a:latin typeface="LXGW WenKai"/>
              </a:defRPr>
            </a:pPr>
            <a:r>
              <a:rPr lang="en-US" noProof="1"/>
              <a:t>模型结果、事实摘要、洞察和错误分析</a:t>
            </a:r>
          </a:p>
          <a:p>
            <a:pPr>
              <a:defRPr sz="950" b="0">
                <a:solidFill>
                  <a:srgbClr val="57606A"/>
                </a:solidFill>
                <a:latin typeface="LXGW WenKai"/>
              </a:defRPr>
            </a:pPr>
            <a:r>
              <a:rPr lang="en-US" noProof="1"/>
              <a:t>集中入口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872983" y="5285232"/>
            <a:ext cx="306324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B8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81" name="TextBox 80"/>
          <p:cNvSpPr txBox="1"/>
          <p:nvPr/>
        </p:nvSpPr>
        <p:spPr>
          <a:xfrm>
            <a:off x="8037575" y="5394960"/>
            <a:ext cx="5943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FB8500"/>
                </a:solidFill>
                <a:latin typeface="LXGW WenKai"/>
              </a:defRPr>
            </a:pPr>
            <a:r>
              <a:rPr lang="en-US" noProof="1"/>
              <a:t>可复现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714232" y="5394960"/>
            <a:ext cx="1920240" cy="2923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0">
                <a:solidFill>
                  <a:srgbClr val="57606A"/>
                </a:solidFill>
                <a:latin typeface="LXGW WenKai"/>
              </a:defRPr>
            </a:pPr>
            <a:r>
              <a:rPr lang="en-US" noProof="1"/>
              <a:t>同一条命令重跑本地分析链路，不手工拼结果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182880"/>
            <a:ext cx="9509760" cy="54864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2500" b="1" noProof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数据采集：只看前 30 天，标签放在未来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274320"/>
            <a:ext cx="1828800" cy="31089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>
              <a:defRPr sz="1300">
                <a:solidFill>
                  <a:srgbClr val="57606A"/>
                </a:solidFill>
                <a:latin typeface="LXGW WenKai"/>
              </a:defRPr>
            </a:pPr>
            <a:r>
              <a:rPr lang="en-US" noProof="1"/>
              <a:t>6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841248"/>
            <a:ext cx="11064240" cy="11887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6" name="TextBox 5"/>
          <p:cNvSpPr txBox="1"/>
          <p:nvPr/>
        </p:nvSpPr>
        <p:spPr>
          <a:xfrm>
            <a:off x="566928" y="987552"/>
            <a:ext cx="10881360" cy="56692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lang="en-US" sz="1850" b="1" noProof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每个仓库拆成两部分：创建后 30 天内能看到的信息，以及采集时的热度标签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6400800" cy="21945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1100" b="0" noProof="1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OpenClaw · 开源项目潜力发现系统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510528"/>
            <a:ext cx="3200400" cy="21945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/>
            <a:r>
              <a:rPr lang="en-US" sz="1100" b="0" noProof="1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Data Collector</a:t>
            </a:r>
            <a:endParaRPr lang="en-US" sz="1200" b="0" noProof="1">
              <a:solidFill>
                <a:srgbClr val="57606A"/>
              </a:solidFill>
              <a:latin typeface="LXGW WenKai"/>
              <a:ea typeface="LXGW WenKai"/>
              <a:cs typeface="LXGW WenKa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66928" y="1755648"/>
            <a:ext cx="4160520" cy="3639312"/>
          </a:xfrm>
          <a:prstGeom prst="roundRect">
            <a:avLst>
              <a:gd name="adj" fmla="val 7000"/>
            </a:avLst>
          </a:prstGeom>
          <a:solidFill>
            <a:srgbClr val="F6F8FA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0" name="TextBox 9"/>
          <p:cNvSpPr txBox="1"/>
          <p:nvPr/>
        </p:nvSpPr>
        <p:spPr>
          <a:xfrm>
            <a:off x="841247" y="1938528"/>
            <a:ext cx="3703320" cy="45720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3000" b="1" noProof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500 </a:t>
            </a:r>
            <a:r>
              <a:rPr lang="en-US" sz="2000" b="1" noProof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个仓库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468880"/>
            <a:ext cx="3703320" cy="237744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/>
            <a:r>
              <a:rPr lang="en-US" sz="1350" b="0" noProof="1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创建日期：2025-03-01 .. 2025-04-30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871215"/>
            <a:ext cx="1143000" cy="27432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1350" b="1" noProof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Python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84248" y="2948939"/>
            <a:ext cx="1874519" cy="123444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4" name="Rectangle 13"/>
          <p:cNvSpPr/>
          <p:nvPr/>
        </p:nvSpPr>
        <p:spPr>
          <a:xfrm>
            <a:off x="1984248" y="2948939"/>
            <a:ext cx="1768415" cy="123444"/>
          </a:xfrm>
          <a:prstGeom prst="rect">
            <a:avLst/>
          </a:prstGeom>
          <a:solidFill>
            <a:srgbClr val="2D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5" name="TextBox 14"/>
          <p:cNvSpPr txBox="1"/>
          <p:nvPr/>
        </p:nvSpPr>
        <p:spPr>
          <a:xfrm>
            <a:off x="3931920" y="2871215"/>
            <a:ext cx="457200" cy="27432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1350" b="1" noProof="1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255263"/>
            <a:ext cx="1143000" cy="27432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1350" b="1" noProof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JavaScript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84248" y="3332987"/>
            <a:ext cx="1874519" cy="123444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8" name="Rectangle 17"/>
          <p:cNvSpPr/>
          <p:nvPr/>
        </p:nvSpPr>
        <p:spPr>
          <a:xfrm>
            <a:off x="1984248" y="3332987"/>
            <a:ext cx="1768415" cy="123444"/>
          </a:xfrm>
          <a:prstGeom prst="rect">
            <a:avLst/>
          </a:prstGeom>
          <a:solidFill>
            <a:srgbClr val="2D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9" name="TextBox 18"/>
          <p:cNvSpPr txBox="1"/>
          <p:nvPr/>
        </p:nvSpPr>
        <p:spPr>
          <a:xfrm>
            <a:off x="3931920" y="3255263"/>
            <a:ext cx="457200" cy="27432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1350" b="1" noProof="1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100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3639311"/>
            <a:ext cx="1143000" cy="27432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1350" b="1" noProof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Go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84248" y="3717035"/>
            <a:ext cx="1874519" cy="123444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22" name="Rectangle 21"/>
          <p:cNvSpPr/>
          <p:nvPr/>
        </p:nvSpPr>
        <p:spPr>
          <a:xfrm>
            <a:off x="1984248" y="3717035"/>
            <a:ext cx="1750730" cy="123444"/>
          </a:xfrm>
          <a:prstGeom prst="rect">
            <a:avLst/>
          </a:prstGeom>
          <a:solidFill>
            <a:srgbClr val="2D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23" name="TextBox 22"/>
          <p:cNvSpPr txBox="1"/>
          <p:nvPr/>
        </p:nvSpPr>
        <p:spPr>
          <a:xfrm>
            <a:off x="3931920" y="3639311"/>
            <a:ext cx="457200" cy="27432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1350" b="1" noProof="1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99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" y="4023359"/>
            <a:ext cx="1143000" cy="27432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1350" b="1" noProof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Rust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84248" y="4101083"/>
            <a:ext cx="1874519" cy="123444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26" name="Rectangle 25"/>
          <p:cNvSpPr/>
          <p:nvPr/>
        </p:nvSpPr>
        <p:spPr>
          <a:xfrm>
            <a:off x="1984248" y="4101083"/>
            <a:ext cx="1750730" cy="123444"/>
          </a:xfrm>
          <a:prstGeom prst="rect">
            <a:avLst/>
          </a:prstGeom>
          <a:solidFill>
            <a:srgbClr val="2D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27" name="TextBox 26"/>
          <p:cNvSpPr txBox="1"/>
          <p:nvPr/>
        </p:nvSpPr>
        <p:spPr>
          <a:xfrm>
            <a:off x="3931920" y="4023359"/>
            <a:ext cx="457200" cy="27432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1350" b="1" noProof="1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99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7" y="4407407"/>
            <a:ext cx="1143000" cy="27432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1350" b="1" noProof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TypeScript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84248" y="4485131"/>
            <a:ext cx="1874519" cy="123444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30" name="Rectangle 29"/>
          <p:cNvSpPr/>
          <p:nvPr/>
        </p:nvSpPr>
        <p:spPr>
          <a:xfrm>
            <a:off x="1984248" y="4485131"/>
            <a:ext cx="1750730" cy="123444"/>
          </a:xfrm>
          <a:prstGeom prst="rect">
            <a:avLst/>
          </a:prstGeom>
          <a:solidFill>
            <a:srgbClr val="2D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31" name="TextBox 30"/>
          <p:cNvSpPr txBox="1"/>
          <p:nvPr/>
        </p:nvSpPr>
        <p:spPr>
          <a:xfrm>
            <a:off x="3931920" y="4407407"/>
            <a:ext cx="457200" cy="27432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1350" b="1" noProof="1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99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7" y="4809744"/>
            <a:ext cx="3703320" cy="2560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1350" b="0" noProof="1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其他 / 未知：3 · 五种语言基本均衡</a:t>
            </a:r>
          </a:p>
        </p:txBody>
      </p:sp>
      <p:sp>
        <p:nvSpPr>
          <p:cNvPr id="33" name="Oval 32"/>
          <p:cNvSpPr/>
          <p:nvPr/>
        </p:nvSpPr>
        <p:spPr>
          <a:xfrm>
            <a:off x="5001768" y="1975104"/>
            <a:ext cx="146304" cy="146304"/>
          </a:xfrm>
          <a:prstGeom prst="ellipse">
            <a:avLst/>
          </a:prstGeom>
          <a:solidFill>
            <a:srgbClr val="096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34" name="TextBox 33"/>
          <p:cNvSpPr txBox="1"/>
          <p:nvPr/>
        </p:nvSpPr>
        <p:spPr>
          <a:xfrm>
            <a:off x="4937760" y="2157984"/>
            <a:ext cx="1188720" cy="219456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/>
            <a:r>
              <a:rPr lang="en-US" sz="1350" b="1" noProof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创建日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52160" y="2034540"/>
            <a:ext cx="1874519" cy="45720"/>
          </a:xfrm>
          <a:prstGeom prst="rect">
            <a:avLst/>
          </a:prstGeom>
          <a:solidFill>
            <a:srgbClr val="096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36" name="TextBox 35"/>
          <p:cNvSpPr txBox="1"/>
          <p:nvPr/>
        </p:nvSpPr>
        <p:spPr>
          <a:xfrm>
            <a:off x="5852160" y="1773936"/>
            <a:ext cx="1874519" cy="201168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ctr"/>
            <a:r>
              <a:rPr lang="en-US" sz="1350" b="1" noProof="1">
                <a:solidFill>
                  <a:srgbClr val="0969DA"/>
                </a:solidFill>
                <a:latin typeface="LXGW WenKai"/>
                <a:ea typeface="LXGW WenKai"/>
                <a:cs typeface="LXGW WenKai"/>
              </a:rPr>
              <a:t>30 天观察窗</a:t>
            </a:r>
          </a:p>
        </p:txBody>
      </p:sp>
      <p:sp>
        <p:nvSpPr>
          <p:cNvPr id="37" name="Oval 36"/>
          <p:cNvSpPr/>
          <p:nvPr/>
        </p:nvSpPr>
        <p:spPr>
          <a:xfrm>
            <a:off x="7772400" y="1975104"/>
            <a:ext cx="146304" cy="146304"/>
          </a:xfrm>
          <a:prstGeom prst="ellipse">
            <a:avLst/>
          </a:prstGeom>
          <a:solidFill>
            <a:srgbClr val="096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38" name="TextBox 37"/>
          <p:cNvSpPr txBox="1"/>
          <p:nvPr/>
        </p:nvSpPr>
        <p:spPr>
          <a:xfrm>
            <a:off x="7379208" y="2157984"/>
            <a:ext cx="1188720" cy="219456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ctr"/>
            <a:r>
              <a:rPr lang="en-US" sz="1350" b="1" noProof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第 30 天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953018" y="2043684"/>
            <a:ext cx="292608" cy="27432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40" name="Rectangle 39"/>
          <p:cNvSpPr/>
          <p:nvPr/>
        </p:nvSpPr>
        <p:spPr>
          <a:xfrm>
            <a:off x="9455938" y="2043684"/>
            <a:ext cx="292608" cy="27432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41" name="Rectangle 40"/>
          <p:cNvSpPr/>
          <p:nvPr/>
        </p:nvSpPr>
        <p:spPr>
          <a:xfrm>
            <a:off x="9958858" y="2043684"/>
            <a:ext cx="292608" cy="27432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42" name="TextBox 41"/>
          <p:cNvSpPr txBox="1"/>
          <p:nvPr/>
        </p:nvSpPr>
        <p:spPr>
          <a:xfrm>
            <a:off x="8686800" y="1773936"/>
            <a:ext cx="1737360" cy="201168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ctr"/>
            <a:r>
              <a:rPr lang="en-US" sz="1350" b="1" noProof="1">
                <a:solidFill>
                  <a:srgbClr val="FB8500"/>
                </a:solidFill>
                <a:latin typeface="LXGW WenKai"/>
                <a:ea typeface="LXGW WenKai"/>
                <a:cs typeface="LXGW WenKai"/>
              </a:rPr>
              <a:t>约 1 年</a:t>
            </a:r>
          </a:p>
        </p:txBody>
      </p:sp>
      <p:sp>
        <p:nvSpPr>
          <p:cNvPr id="43" name="Oval 42"/>
          <p:cNvSpPr/>
          <p:nvPr/>
        </p:nvSpPr>
        <p:spPr>
          <a:xfrm>
            <a:off x="10744200" y="1975104"/>
            <a:ext cx="146304" cy="146304"/>
          </a:xfrm>
          <a:prstGeom prst="ellipse">
            <a:avLst/>
          </a:prstGeom>
          <a:solidFill>
            <a:srgbClr val="FB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44" name="TextBox 43"/>
          <p:cNvSpPr txBox="1"/>
          <p:nvPr/>
        </p:nvSpPr>
        <p:spPr>
          <a:xfrm>
            <a:off x="10424160" y="2157984"/>
            <a:ext cx="1097280" cy="219456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ctr"/>
            <a:r>
              <a:rPr lang="en-US" sz="1350" b="1" noProof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一年后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983480" y="2670048"/>
            <a:ext cx="3186684" cy="2724912"/>
          </a:xfrm>
          <a:prstGeom prst="roundRect">
            <a:avLst>
              <a:gd name="adj" fmla="val 7000"/>
            </a:avLst>
          </a:prstGeom>
          <a:solidFill>
            <a:srgbClr val="F1F7FF"/>
          </a:solidFill>
          <a:ln w="12700">
            <a:solidFill>
              <a:srgbClr val="0969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46" name="Rectangle 45"/>
          <p:cNvSpPr/>
          <p:nvPr/>
        </p:nvSpPr>
        <p:spPr>
          <a:xfrm>
            <a:off x="4983480" y="2670048"/>
            <a:ext cx="3186684" cy="64008"/>
          </a:xfrm>
          <a:prstGeom prst="rect">
            <a:avLst/>
          </a:prstGeom>
          <a:solidFill>
            <a:srgbClr val="096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47" name="TextBox 46"/>
          <p:cNvSpPr txBox="1"/>
          <p:nvPr/>
        </p:nvSpPr>
        <p:spPr>
          <a:xfrm>
            <a:off x="5239512" y="2852928"/>
            <a:ext cx="2729484" cy="31089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1700" b="1" noProof="1">
                <a:solidFill>
                  <a:srgbClr val="0969DA"/>
                </a:solidFill>
                <a:latin typeface="LXGW WenKai"/>
                <a:ea typeface="LXGW WenKai"/>
                <a:cs typeface="LXGW WenKai"/>
              </a:rPr>
              <a:t>30 天快照</a:t>
            </a:r>
            <a:r>
              <a:rPr lang="en-US" sz="1350" b="1" noProof="1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  · 模型输入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39512" y="3388954"/>
            <a:ext cx="2729484" cy="24468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1350" b="1" noProof="1">
                <a:solidFill>
                  <a:srgbClr val="0969DA"/>
                </a:solidFill>
                <a:latin typeface="LXGW WenKai"/>
                <a:ea typeface="LXGW WenKai"/>
                <a:cs typeface="LXGW WenKai"/>
              </a:rPr>
              <a:t>· </a:t>
            </a:r>
            <a:r>
              <a:rPr lang="en-US" sz="1350" b="0" noProof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当时的README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39512" y="3809578"/>
            <a:ext cx="2729484" cy="24468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1350" b="1" noProof="1">
                <a:solidFill>
                  <a:srgbClr val="0969DA"/>
                </a:solidFill>
                <a:latin typeface="LXGW WenKai"/>
                <a:ea typeface="LXGW WenKai"/>
                <a:cs typeface="LXGW WenKai"/>
              </a:rPr>
              <a:t>· </a:t>
            </a:r>
            <a:r>
              <a:rPr lang="en-US" sz="1350" b="0" noProof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Commit / Issue / PR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39512" y="4230202"/>
            <a:ext cx="2729484" cy="24468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1350" b="1" noProof="1">
                <a:solidFill>
                  <a:srgbClr val="0969DA"/>
                </a:solidFill>
                <a:latin typeface="LXGW WenKai"/>
                <a:ea typeface="LXGW WenKai"/>
                <a:cs typeface="LXGW WenKai"/>
              </a:rPr>
              <a:t>· </a:t>
            </a:r>
            <a:r>
              <a:rPr lang="en-US" sz="1350" b="0" noProof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前 30 天贡献者数量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39512" y="4650827"/>
            <a:ext cx="2729484" cy="24468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1350" b="1" noProof="1">
                <a:solidFill>
                  <a:srgbClr val="0969DA"/>
                </a:solidFill>
                <a:latin typeface="LXGW WenKai"/>
                <a:ea typeface="LXGW WenKai"/>
                <a:cs typeface="LXGW WenKai"/>
              </a:rPr>
              <a:t>· </a:t>
            </a:r>
            <a:r>
              <a:rPr lang="en-US" sz="1350" b="0" noProof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Language / 所属账号类型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444484" y="2670048"/>
            <a:ext cx="3186684" cy="2724912"/>
          </a:xfrm>
          <a:prstGeom prst="roundRect">
            <a:avLst>
              <a:gd name="adj" fmla="val 7000"/>
            </a:avLst>
          </a:prstGeom>
          <a:solidFill>
            <a:srgbClr val="FFF7EC"/>
          </a:solidFill>
          <a:ln w="12700">
            <a:solidFill>
              <a:srgbClr val="FB8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53" name="Rectangle 52"/>
          <p:cNvSpPr/>
          <p:nvPr/>
        </p:nvSpPr>
        <p:spPr>
          <a:xfrm>
            <a:off x="8444484" y="2670048"/>
            <a:ext cx="3186684" cy="64008"/>
          </a:xfrm>
          <a:prstGeom prst="rect">
            <a:avLst/>
          </a:prstGeom>
          <a:solidFill>
            <a:srgbClr val="FB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54" name="TextBox 53"/>
          <p:cNvSpPr txBox="1"/>
          <p:nvPr/>
        </p:nvSpPr>
        <p:spPr>
          <a:xfrm>
            <a:off x="8700516" y="2852928"/>
            <a:ext cx="2729484" cy="31089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1700" b="1" noProof="1">
                <a:solidFill>
                  <a:srgbClr val="FB8500"/>
                </a:solidFill>
                <a:latin typeface="LXGW WenKai"/>
                <a:ea typeface="LXGW WenKai"/>
                <a:cs typeface="LXGW WenKai"/>
              </a:rPr>
              <a:t>未来标签</a:t>
            </a:r>
            <a:r>
              <a:rPr lang="en-US" sz="1350" b="1" noProof="1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  · 训练答案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00516" y="3388954"/>
            <a:ext cx="2729484" cy="24468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1350" b="1" noProof="1">
                <a:solidFill>
                  <a:srgbClr val="FB8500"/>
                </a:solidFill>
                <a:latin typeface="LXGW WenKai"/>
                <a:ea typeface="LXGW WenKai"/>
                <a:cs typeface="LXGW WenKai"/>
              </a:rPr>
              <a:t>· </a:t>
            </a:r>
            <a:r>
              <a:rPr lang="en-US" sz="1350" b="0" noProof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采集时 Stars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700516" y="3749039"/>
            <a:ext cx="2729484" cy="36576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1350" b="1" noProof="1">
                <a:solidFill>
                  <a:srgbClr val="FB8500"/>
                </a:solidFill>
                <a:latin typeface="LXGW WenKai"/>
                <a:ea typeface="LXGW WenKai"/>
                <a:cs typeface="LXGW WenKai"/>
              </a:rPr>
              <a:t>· </a:t>
            </a:r>
            <a:r>
              <a:rPr lang="en-US" sz="1350" b="0" noProof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是否进入前 20%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595360" y="4261104"/>
            <a:ext cx="2889504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0160">
            <a:solidFill>
              <a:srgbClr val="FB8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58" name="TextBox 57"/>
          <p:cNvSpPr txBox="1"/>
          <p:nvPr/>
        </p:nvSpPr>
        <p:spPr>
          <a:xfrm>
            <a:off x="8595360" y="4261104"/>
            <a:ext cx="2889504" cy="45720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lang="en-US" sz="1300" b="1" noProof="1">
                <a:solidFill>
                  <a:srgbClr val="FB8500"/>
                </a:solidFill>
                <a:latin typeface="LXGW WenKai"/>
                <a:ea typeface="LXGW WenKai"/>
                <a:cs typeface="LXGW WenKai"/>
              </a:rPr>
              <a:t>本批次前 20% 阈值 = 49 Stars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700516" y="4888570"/>
            <a:ext cx="2729484" cy="24468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1350" b="1" noProof="1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只做答案，不进入模型输入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66928" y="5541264"/>
            <a:ext cx="11064240" cy="566928"/>
          </a:xfrm>
          <a:prstGeom prst="roundRect">
            <a:avLst>
              <a:gd name="adj" fmla="val 20000"/>
            </a:avLst>
          </a:prstGeom>
          <a:solidFill>
            <a:srgbClr val="F1FBF5"/>
          </a:solidFill>
          <a:ln w="12700">
            <a:solidFill>
              <a:srgbClr val="2D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61" name="TextBox 60"/>
          <p:cNvSpPr txBox="1"/>
          <p:nvPr/>
        </p:nvSpPr>
        <p:spPr>
          <a:xfrm>
            <a:off x="822960" y="5541264"/>
            <a:ext cx="10552176" cy="56692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1600" b="1" noProof="1">
                <a:solidFill>
                  <a:srgbClr val="24292F"/>
                </a:solidFill>
                <a:latin typeface="LXGW WenKai"/>
              </a:rPr>
              <a:t>预测逻辑：用前 30 天的输入预测采集时是否进入前 20%，中间至少间隔一年，模型无法偷看未来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57784" y="246510"/>
            <a:ext cx="9509760" cy="54864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2400" b="1" noProof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数据样例：30 天快照是输入，未来标签是答案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274320"/>
            <a:ext cx="1828800" cy="31089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>
              <a:defRPr sz="1300">
                <a:solidFill>
                  <a:srgbClr val="57606A"/>
                </a:solidFill>
                <a:latin typeface="LXGW WenKai"/>
              </a:defRPr>
            </a:pPr>
            <a:r>
              <a:rPr lang="en-US" noProof="1"/>
              <a:t>7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841248"/>
            <a:ext cx="11064240" cy="11887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6" name="TextBox 5"/>
          <p:cNvSpPr txBox="1"/>
          <p:nvPr/>
        </p:nvSpPr>
        <p:spPr>
          <a:xfrm>
            <a:off x="566928" y="987552"/>
            <a:ext cx="10881360" cy="56692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lang="en-US" sz="1850" b="1" noProof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用一条仓库记录说明数据切分：模型只能看左边，右边只用来判断是否成功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6400800" cy="21945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1100" b="0" noProof="1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OpenClaw · 开源项目潜力发现系统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510528"/>
            <a:ext cx="3200400" cy="21945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/>
            <a:r>
              <a:rPr lang="en-US" sz="1100" b="0" noProof="1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Data Example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55648"/>
            <a:ext cx="5138928" cy="4005072"/>
          </a:xfrm>
          <a:prstGeom prst="roundRect">
            <a:avLst>
              <a:gd name="adj" fmla="val 7000"/>
            </a:avLst>
          </a:prstGeom>
          <a:solidFill>
            <a:srgbClr val="F1FBF5"/>
          </a:solidFill>
          <a:ln w="12700">
            <a:solidFill>
              <a:srgbClr val="2D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0" name="Rectangle 9"/>
          <p:cNvSpPr/>
          <p:nvPr/>
        </p:nvSpPr>
        <p:spPr>
          <a:xfrm>
            <a:off x="566928" y="1755648"/>
            <a:ext cx="5138928" cy="64008"/>
          </a:xfrm>
          <a:prstGeom prst="rect">
            <a:avLst/>
          </a:prstGeom>
          <a:solidFill>
            <a:srgbClr val="2D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1" name="TextBox 10"/>
          <p:cNvSpPr txBox="1"/>
          <p:nvPr/>
        </p:nvSpPr>
        <p:spPr>
          <a:xfrm>
            <a:off x="877824" y="1938528"/>
            <a:ext cx="4590288" cy="329184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1800" b="1" noProof="1">
                <a:solidFill>
                  <a:srgbClr val="2DA44E"/>
                </a:solidFill>
                <a:latin typeface="LXGW WenKai"/>
                <a:ea typeface="LXGW WenKai"/>
                <a:cs typeface="LXGW WenKai"/>
              </a:rPr>
              <a:t>30 天快照</a:t>
            </a:r>
            <a:r>
              <a:rPr lang="en-US" sz="1250" b="1" noProof="1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  · 模型输入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395728"/>
            <a:ext cx="2103120" cy="36576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1300" b="0" noProof="1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仓库名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98648" y="2395728"/>
            <a:ext cx="2487168" cy="36576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1400" b="1" noProof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roboflow/rf-detr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830068"/>
            <a:ext cx="2103120" cy="36576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1300" b="0" noProof="1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主要语言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98648" y="2830068"/>
            <a:ext cx="2487168" cy="36576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1400" b="1" noProof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Python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328794"/>
            <a:ext cx="2103120" cy="23698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1300" b="0" noProof="1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前 30 天Commit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98648" y="3264408"/>
            <a:ext cx="2487168" cy="36576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1400" b="1" noProof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218 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3763134"/>
            <a:ext cx="2103120" cy="23698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1300" b="0" noProof="1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Issue / PR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98648" y="3698748"/>
            <a:ext cx="2487168" cy="36576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>
              <a:defRPr sz="1300">
                <a:solidFill>
                  <a:srgbClr val="57606A"/>
                </a:solidFill>
                <a:latin typeface="LXGW WenKai"/>
              </a:defRPr>
            </a:pPr>
            <a:r>
              <a:rPr lang="en-US" noProof="1"/>
              <a:t>7 / 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4133087"/>
            <a:ext cx="2103120" cy="36576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1300" b="0" noProof="1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前 30 天贡献者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98648" y="4133087"/>
            <a:ext cx="2487168" cy="36576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1400" b="1" noProof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13 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" y="4631814"/>
            <a:ext cx="2103120" cy="23698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1300" b="0" noProof="1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README长度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98648" y="4567428"/>
            <a:ext cx="2487168" cy="36576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1400" b="1" noProof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25,317 字符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7824" y="5248656"/>
            <a:ext cx="4517136" cy="38404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0160">
            <a:solidFill>
              <a:srgbClr val="2D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25" name="TextBox 24"/>
          <p:cNvSpPr txBox="1"/>
          <p:nvPr/>
        </p:nvSpPr>
        <p:spPr>
          <a:xfrm>
            <a:off x="868680" y="5270965"/>
            <a:ext cx="4517136" cy="38404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lang="en-US" sz="1200" b="1" noProof="1">
                <a:solidFill>
                  <a:srgbClr val="2DA44E"/>
                </a:solidFill>
                <a:latin typeface="LXGW WenKai"/>
                <a:ea typeface="LXGW WenKai"/>
                <a:cs typeface="LXGW WenKai"/>
              </a:rPr>
              <a:t>这些字段都来自创建后 30 天内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5934456" y="3127248"/>
            <a:ext cx="402336" cy="310896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242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27" name="TextBox 26"/>
          <p:cNvSpPr txBox="1"/>
          <p:nvPr/>
        </p:nvSpPr>
        <p:spPr>
          <a:xfrm>
            <a:off x="5614416" y="3522176"/>
            <a:ext cx="969264" cy="283154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ctr"/>
            <a:r>
              <a:rPr lang="en-US" sz="1600" b="1" noProof="1">
                <a:solidFill>
                  <a:srgbClr val="C00000"/>
                </a:solidFill>
                <a:latin typeface="LXGW WenKai"/>
                <a:ea typeface="LXGW WenKai"/>
                <a:cs typeface="LXGW WenKai"/>
              </a:rPr>
              <a:t>预测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92240" y="1755648"/>
            <a:ext cx="5138928" cy="4005072"/>
          </a:xfrm>
          <a:prstGeom prst="roundRect">
            <a:avLst>
              <a:gd name="adj" fmla="val 7000"/>
            </a:avLst>
          </a:prstGeom>
          <a:solidFill>
            <a:srgbClr val="FFF7EC"/>
          </a:solidFill>
          <a:ln w="12700">
            <a:solidFill>
              <a:srgbClr val="FB8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29" name="Rectangle 28"/>
          <p:cNvSpPr/>
          <p:nvPr/>
        </p:nvSpPr>
        <p:spPr>
          <a:xfrm>
            <a:off x="6492240" y="1755648"/>
            <a:ext cx="5138928" cy="64008"/>
          </a:xfrm>
          <a:prstGeom prst="rect">
            <a:avLst/>
          </a:prstGeom>
          <a:solidFill>
            <a:srgbClr val="FB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30" name="TextBox 29"/>
          <p:cNvSpPr txBox="1"/>
          <p:nvPr/>
        </p:nvSpPr>
        <p:spPr>
          <a:xfrm>
            <a:off x="6803136" y="1938528"/>
            <a:ext cx="4590288" cy="329184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1800" b="1" noProof="1">
                <a:solidFill>
                  <a:srgbClr val="FB8500"/>
                </a:solidFill>
                <a:latin typeface="LXGW WenKai"/>
                <a:ea typeface="LXGW WenKai"/>
                <a:cs typeface="LXGW WenKai"/>
              </a:rPr>
              <a:t>未来标签</a:t>
            </a:r>
            <a:r>
              <a:rPr lang="en-US" sz="1250" b="1" noProof="1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  · 训练答案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03136" y="2432304"/>
            <a:ext cx="2103120" cy="36576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1350" b="0" noProof="1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创建日期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23960" y="2432304"/>
            <a:ext cx="2487168" cy="36576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1400" b="1" noProof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2025-03-19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03136" y="2884932"/>
            <a:ext cx="2103120" cy="36576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1350" b="0" noProof="1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采集时 Stars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60" y="2884932"/>
            <a:ext cx="2487168" cy="36576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1400" b="1" noProof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7,453 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03136" y="3337560"/>
            <a:ext cx="2103120" cy="36576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1350" b="0" noProof="1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采集时 fork 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23960" y="3337560"/>
            <a:ext cx="2487168" cy="36576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1400" b="1" noProof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954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03136" y="3995928"/>
            <a:ext cx="4517136" cy="10972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38" name="Rounded Rectangle 37"/>
          <p:cNvSpPr/>
          <p:nvPr/>
        </p:nvSpPr>
        <p:spPr>
          <a:xfrm>
            <a:off x="6803136" y="4151376"/>
            <a:ext cx="4517136" cy="530352"/>
          </a:xfrm>
          <a:prstGeom prst="roundRect">
            <a:avLst>
              <a:gd name="adj" fmla="val 16000"/>
            </a:avLst>
          </a:prstGeom>
          <a:solidFill>
            <a:srgbClr val="F1FBF5"/>
          </a:solidFill>
          <a:ln w="12700">
            <a:solidFill>
              <a:srgbClr val="2D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39" name="TextBox 38"/>
          <p:cNvSpPr txBox="1"/>
          <p:nvPr/>
        </p:nvSpPr>
        <p:spPr>
          <a:xfrm>
            <a:off x="6803136" y="4151376"/>
            <a:ext cx="4517136" cy="53035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lang="en-US" sz="1400" b="1" noProof="1">
                <a:solidFill>
                  <a:srgbClr val="2DA44E"/>
                </a:solidFill>
                <a:latin typeface="LXGW WenKai"/>
                <a:ea typeface="LXGW WenKai"/>
                <a:cs typeface="LXGW WenKai"/>
              </a:rPr>
              <a:t>7,453 ≥ 49  →  标签 = 进入前 20% ✓</a:t>
            </a:r>
          </a:p>
        </p:txBody>
      </p:sp>
      <p:sp>
        <p:nvSpPr>
          <p:cNvPr id="43" name="Rounded Rectangle 23">
            <a:extLst>
              <a:ext uri="{FF2B5EF4-FFF2-40B4-BE49-F238E27FC236}">
                <a16:creationId xmlns:a16="http://schemas.microsoft.com/office/drawing/2014/main" id="{0DD863AA-170B-1E82-43A6-AED5D22A697C}"/>
              </a:ext>
            </a:extLst>
          </p:cNvPr>
          <p:cNvSpPr/>
          <p:nvPr/>
        </p:nvSpPr>
        <p:spPr>
          <a:xfrm>
            <a:off x="6793992" y="5248656"/>
            <a:ext cx="4517136" cy="38404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0160">
            <a:solidFill>
              <a:srgbClr val="FC8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40" name="TextBox 39"/>
          <p:cNvSpPr txBox="1"/>
          <p:nvPr/>
        </p:nvSpPr>
        <p:spPr>
          <a:xfrm>
            <a:off x="7512973" y="5325192"/>
            <a:ext cx="3170614" cy="229294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1250" b="1" noProof="1">
                <a:solidFill>
                  <a:srgbClr val="FB8400"/>
                </a:solidFill>
                <a:latin typeface="LXGW WenKai"/>
                <a:ea typeface="LXGW WenKai"/>
                <a:cs typeface="LXGW WenKai"/>
              </a:rPr>
              <a:t>Stars 只决定训练标签，不作为模型输入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182880"/>
            <a:ext cx="9509760" cy="54864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2500" b="1" noProof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特征工程：把早期行为压缩成 19 个特征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274320"/>
            <a:ext cx="1828800" cy="31089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>
              <a:defRPr sz="1300">
                <a:solidFill>
                  <a:srgbClr val="57606A"/>
                </a:solidFill>
                <a:latin typeface="LXGW WenKai"/>
              </a:defRPr>
            </a:pPr>
            <a:r>
              <a:rPr lang="en-US" noProof="1"/>
              <a:t>8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841248"/>
            <a:ext cx="11064240" cy="11887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6" name="TextBox 5"/>
          <p:cNvSpPr txBox="1"/>
          <p:nvPr/>
        </p:nvSpPr>
        <p:spPr>
          <a:xfrm>
            <a:off x="566928" y="987552"/>
            <a:ext cx="10881360" cy="56692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lang="en-US" sz="1850" b="1" noProof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模型不直接吃原始 JSON，而是把 30 天内的行为整理成五类可比较信号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3778" y="6487378"/>
            <a:ext cx="6400800" cy="21945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1100" b="0" noProof="1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OpenClaw · 开源项目潜力发现系统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510528"/>
            <a:ext cx="3200400" cy="21945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/>
            <a:r>
              <a:rPr lang="en-US" sz="1100" b="0" noProof="1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Features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331720"/>
            <a:ext cx="2057400" cy="2057400"/>
          </a:xfrm>
          <a:prstGeom prst="ellipse">
            <a:avLst/>
          </a:prstGeom>
          <a:solidFill>
            <a:srgbClr val="1F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0" name="TextBox 9"/>
          <p:cNvSpPr txBox="1"/>
          <p:nvPr/>
        </p:nvSpPr>
        <p:spPr>
          <a:xfrm>
            <a:off x="868680" y="2624327"/>
            <a:ext cx="2057400" cy="6400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lang="en-US" sz="4600" b="1" noProof="1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410711"/>
            <a:ext cx="2057400" cy="36576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lang="en-US" sz="1700" b="1" noProof="1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早期特征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4480559"/>
            <a:ext cx="2331720" cy="310896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ctr"/>
            <a:r>
              <a:rPr lang="en-US" sz="1400" b="1" noProof="1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6 + 1 + 4 + 4 + 4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809744"/>
            <a:ext cx="2423160" cy="548640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sz="1400" b="0" noProof="1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把不同仓库变成同一张表，</a:t>
            </a:r>
          </a:p>
          <a:p>
            <a:pPr algn="ctr">
              <a:lnSpc>
                <a:spcPct val="110000"/>
              </a:lnSpc>
            </a:pPr>
            <a:r>
              <a:rPr lang="en-US" sz="1400" b="0" noProof="1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模型才能比较和排序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1783080"/>
            <a:ext cx="8247888" cy="658368"/>
          </a:xfrm>
          <a:prstGeom prst="roundRect">
            <a:avLst>
              <a:gd name="adj" fmla="val 7000"/>
            </a:avLst>
          </a:prstGeom>
          <a:solidFill>
            <a:srgbClr val="F6F8FA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5" name="Oval 14"/>
          <p:cNvSpPr/>
          <p:nvPr/>
        </p:nvSpPr>
        <p:spPr>
          <a:xfrm>
            <a:off x="3621024" y="1920240"/>
            <a:ext cx="384048" cy="384048"/>
          </a:xfrm>
          <a:prstGeom prst="ellipse">
            <a:avLst/>
          </a:prstGeom>
          <a:solidFill>
            <a:srgbClr val="096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6" name="TextBox 15"/>
          <p:cNvSpPr txBox="1"/>
          <p:nvPr/>
        </p:nvSpPr>
        <p:spPr>
          <a:xfrm>
            <a:off x="3621024" y="1911095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b="1" noProof="1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24528" y="1874519"/>
            <a:ext cx="1828800" cy="47548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1550" b="1" noProof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语言信号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1986074"/>
            <a:ext cx="5367527" cy="252377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1400" b="0" noProof="1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Python、JavaScript、Go、Rust、TypeScript、其他「</a:t>
            </a:r>
            <a:r>
              <a:rPr lang="en-US" sz="1400" b="1" noProof="1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独热编码</a:t>
            </a:r>
            <a:r>
              <a:rPr lang="en-US" sz="1400" b="0" noProof="1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3280" y="2551176"/>
            <a:ext cx="8247888" cy="658368"/>
          </a:xfrm>
          <a:prstGeom prst="roundRect">
            <a:avLst>
              <a:gd name="adj" fmla="val 7000"/>
            </a:avLst>
          </a:prstGeom>
          <a:solidFill>
            <a:srgbClr val="F6F8FA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20" name="Oval 19"/>
          <p:cNvSpPr/>
          <p:nvPr/>
        </p:nvSpPr>
        <p:spPr>
          <a:xfrm>
            <a:off x="3621024" y="2688336"/>
            <a:ext cx="384048" cy="384048"/>
          </a:xfrm>
          <a:prstGeom prst="ellipse">
            <a:avLst/>
          </a:prstGeom>
          <a:solidFill>
            <a:srgbClr val="8A3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21" name="TextBox 20"/>
          <p:cNvSpPr txBox="1"/>
          <p:nvPr/>
        </p:nvSpPr>
        <p:spPr>
          <a:xfrm>
            <a:off x="3621024" y="2679191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b="1" noProof="1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24528" y="2642616"/>
            <a:ext cx="1828800" cy="47548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1550" b="1" noProof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归属信号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2642616"/>
            <a:ext cx="5367527" cy="47548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1400" b="0" noProof="1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仓库属于组织账号，还是个人账号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83280" y="3319272"/>
            <a:ext cx="8247888" cy="658368"/>
          </a:xfrm>
          <a:prstGeom prst="roundRect">
            <a:avLst>
              <a:gd name="adj" fmla="val 7000"/>
            </a:avLst>
          </a:prstGeom>
          <a:solidFill>
            <a:srgbClr val="F6F8FA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25" name="Oval 24"/>
          <p:cNvSpPr/>
          <p:nvPr/>
        </p:nvSpPr>
        <p:spPr>
          <a:xfrm>
            <a:off x="3621024" y="3456432"/>
            <a:ext cx="384048" cy="384048"/>
          </a:xfrm>
          <a:prstGeom prst="ellipse">
            <a:avLst/>
          </a:prstGeom>
          <a:solidFill>
            <a:srgbClr val="FB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26" name="TextBox 25"/>
          <p:cNvSpPr txBox="1"/>
          <p:nvPr/>
        </p:nvSpPr>
        <p:spPr>
          <a:xfrm>
            <a:off x="3621024" y="3447287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b="1" noProof="1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24528" y="3410712"/>
            <a:ext cx="1828800" cy="47548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1550" b="1" noProof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活跃信号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60" y="3522267"/>
            <a:ext cx="5367527" cy="252377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1400" b="0" noProof="1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Commit、Issue、PR、Contributor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83280" y="4087368"/>
            <a:ext cx="8247888" cy="658368"/>
          </a:xfrm>
          <a:prstGeom prst="roundRect">
            <a:avLst>
              <a:gd name="adj" fmla="val 7000"/>
            </a:avLst>
          </a:prstGeom>
          <a:solidFill>
            <a:srgbClr val="F6F8FA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30" name="Oval 29"/>
          <p:cNvSpPr/>
          <p:nvPr/>
        </p:nvSpPr>
        <p:spPr>
          <a:xfrm>
            <a:off x="3621024" y="4224528"/>
            <a:ext cx="384048" cy="384048"/>
          </a:xfrm>
          <a:prstGeom prst="ellipse">
            <a:avLst/>
          </a:prstGeom>
          <a:solidFill>
            <a:srgbClr val="2D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31" name="TextBox 30"/>
          <p:cNvSpPr txBox="1"/>
          <p:nvPr/>
        </p:nvSpPr>
        <p:spPr>
          <a:xfrm>
            <a:off x="3621024" y="421538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b="1" noProof="1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24528" y="4178807"/>
            <a:ext cx="1828800" cy="47548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1550" b="1" noProof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文档信号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60" y="4290362"/>
            <a:ext cx="5367527" cy="252377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1400" b="0" noProof="1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是否有README、README长度、图片、演示链接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83280" y="4855464"/>
            <a:ext cx="8247888" cy="658368"/>
          </a:xfrm>
          <a:prstGeom prst="roundRect">
            <a:avLst>
              <a:gd name="adj" fmla="val 7000"/>
            </a:avLst>
          </a:prstGeom>
          <a:solidFill>
            <a:srgbClr val="F6F8FA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35" name="Oval 34"/>
          <p:cNvSpPr/>
          <p:nvPr/>
        </p:nvSpPr>
        <p:spPr>
          <a:xfrm>
            <a:off x="3621024" y="4992624"/>
            <a:ext cx="384048" cy="384048"/>
          </a:xfrm>
          <a:prstGeom prst="ellipse">
            <a:avLst/>
          </a:prstGeom>
          <a:solidFill>
            <a:srgbClr val="242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36" name="TextBox 35"/>
          <p:cNvSpPr txBox="1"/>
          <p:nvPr/>
        </p:nvSpPr>
        <p:spPr>
          <a:xfrm>
            <a:off x="3621024" y="498348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b="1" noProof="1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24528" y="4946903"/>
            <a:ext cx="1828800" cy="47548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1550" b="1" noProof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派生信号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0760" y="4946903"/>
            <a:ext cx="5367527" cy="47548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1400" b="0" noProof="1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总活跃度、平均提交、PR / Issue、有无 PR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6928" y="5669280"/>
            <a:ext cx="11064240" cy="512064"/>
          </a:xfrm>
          <a:prstGeom prst="roundRect">
            <a:avLst>
              <a:gd name="adj" fmla="val 20000"/>
            </a:avLst>
          </a:prstGeom>
          <a:solidFill>
            <a:srgbClr val="F1FBF5"/>
          </a:solidFill>
          <a:ln w="12700">
            <a:solidFill>
              <a:srgbClr val="2D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40" name="TextBox 39"/>
          <p:cNvSpPr txBox="1"/>
          <p:nvPr/>
        </p:nvSpPr>
        <p:spPr>
          <a:xfrm>
            <a:off x="731520" y="5678424"/>
            <a:ext cx="10552176" cy="512064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lang="en-US" sz="1450" b="1" noProof="1">
                <a:solidFill>
                  <a:srgbClr val="242931"/>
                </a:solidFill>
                <a:latin typeface="LXGW WenKai"/>
              </a:rPr>
              <a:t>19 个特征覆盖语言、活跃度、文档与协作密度，由同一条 feature_schema 锁定——训练和雷达共用一套定义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969264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400" b="1">
                <a:solidFill>
                  <a:srgbClr val="24292F"/>
                </a:solidFill>
                <a:latin typeface="LXGW WenKai"/>
              </a:defRPr>
            </a:pPr>
            <a:r>
              <a:t>模型训练：三类模型用真实指标一起比较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61320" y="310896"/>
            <a:ext cx="10058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0">
                <a:solidFill>
                  <a:srgbClr val="57606A"/>
                </a:solidFill>
                <a:latin typeface="LXGW WenKai"/>
              </a:defRPr>
            </a:pPr>
            <a:r>
              <a:t>9 / 18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41248"/>
            <a:ext cx="11018520" cy="9144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640080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0">
                <a:solidFill>
                  <a:srgbClr val="57606A"/>
                </a:solidFill>
                <a:latin typeface="LXGW WenKai"/>
              </a:defRPr>
            </a:pPr>
            <a:r>
              <a:t>OpenClaw · 开源项目潜力发现系统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6510528"/>
            <a:ext cx="320040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0">
                <a:solidFill>
                  <a:srgbClr val="57606A"/>
                </a:solidFill>
                <a:latin typeface="LXGW WenKai"/>
              </a:defRPr>
            </a:pPr>
            <a:r>
              <a:t>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060704"/>
            <a:ext cx="10515600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700" b="1">
                <a:solidFill>
                  <a:srgbClr val="24292F"/>
                </a:solidFill>
                <a:latin typeface="LXGW WenKai"/>
              </a:defRPr>
            </a:pPr>
            <a:r>
              <a:t>数据来源统一为 data/model_results.json；右侧最优标签直接由每一行最大值计算，避免旧实验数字混入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7260" y="2429842"/>
            <a:ext cx="530352" cy="384048"/>
          </a:xfrm>
          <a:prstGeom prst="roundRect">
            <a:avLst/>
          </a:prstGeom>
          <a:solidFill>
            <a:srgbClr val="2CA25F"/>
          </a:solidFill>
          <a:ln w="12700">
            <a:solidFill>
              <a:srgbClr val="2CA2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LXGW WenKa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50492" y="2448130"/>
            <a:ext cx="201168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50" b="1">
                <a:solidFill>
                  <a:srgbClr val="24292F"/>
                </a:solidFill>
                <a:latin typeface="LXGW WenKai"/>
              </a:defRPr>
            </a:pPr>
            <a:r>
              <a:rPr dirty="0" err="1"/>
              <a:t>输入特征矩阵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1650492" y="2731594"/>
            <a:ext cx="39319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19" b="0">
                <a:solidFill>
                  <a:srgbClr val="57606A"/>
                </a:solidFill>
                <a:latin typeface="LXGW WenKai"/>
              </a:defRPr>
            </a:pPr>
            <a:r>
              <a:t>500 个仓库 × 19 个早期特征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" y="3143074"/>
            <a:ext cx="530352" cy="384048"/>
          </a:xfrm>
          <a:prstGeom prst="roundRect">
            <a:avLst/>
          </a:prstGeom>
          <a:solidFill>
            <a:srgbClr val="0969DA"/>
          </a:solidFill>
          <a:ln w="12700">
            <a:solidFill>
              <a:srgbClr val="0969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LXGW WenKa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492" y="3161362"/>
            <a:ext cx="201168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50" b="1">
                <a:solidFill>
                  <a:srgbClr val="24292F"/>
                </a:solidFill>
                <a:latin typeface="LXGW WenKai"/>
              </a:defRPr>
            </a:pPr>
            <a:r>
              <a:t>训练三类模型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50492" y="3444826"/>
            <a:ext cx="39319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19" b="0">
                <a:solidFill>
                  <a:srgbClr val="57606A"/>
                </a:solidFill>
                <a:latin typeface="LXGW WenKai"/>
              </a:defRPr>
            </a:pPr>
            <a:r>
              <a:t>LR · RF · XGBoost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7260" y="3856306"/>
            <a:ext cx="530352" cy="384048"/>
          </a:xfrm>
          <a:prstGeom prst="roundRect">
            <a:avLst/>
          </a:prstGeom>
          <a:solidFill>
            <a:srgbClr val="FB8500"/>
          </a:solidFill>
          <a:ln w="12700">
            <a:solidFill>
              <a:srgbClr val="FB8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LXGW WenKai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50492" y="3874594"/>
            <a:ext cx="201168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50" b="1">
                <a:solidFill>
                  <a:srgbClr val="24292F"/>
                </a:solidFill>
                <a:latin typeface="LXGW WenKai"/>
              </a:defRPr>
            </a:pPr>
            <a:r>
              <a:t>五折交叉验证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492" y="4158058"/>
            <a:ext cx="39319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19" b="0">
                <a:solidFill>
                  <a:srgbClr val="57606A"/>
                </a:solidFill>
                <a:latin typeface="LXGW WenKai"/>
              </a:defRPr>
            </a:pPr>
            <a:r>
              <a:t>AUC / PR-AUC / Precision / Recall / Accuracy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" y="4569538"/>
            <a:ext cx="530352" cy="384048"/>
          </a:xfrm>
          <a:prstGeom prst="roundRect">
            <a:avLst/>
          </a:prstGeom>
          <a:solidFill>
            <a:srgbClr val="8A3FFC"/>
          </a:solidFill>
          <a:ln w="12700">
            <a:solidFill>
              <a:srgbClr val="8A3F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LXGW WenKai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50492" y="4587825"/>
            <a:ext cx="201168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50" b="1">
                <a:solidFill>
                  <a:srgbClr val="24292F"/>
                </a:solidFill>
                <a:latin typeface="LXGW WenKai"/>
              </a:defRPr>
            </a:pPr>
            <a:r>
              <a:t>保存复用产物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50492" y="4871290"/>
            <a:ext cx="39319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19" b="0">
                <a:solidFill>
                  <a:srgbClr val="57606A"/>
                </a:solidFill>
                <a:latin typeface="LXGW WenKai"/>
              </a:defRPr>
            </a:pPr>
            <a:r>
              <a:t>模型文件 · 特征顺序 · OOF 概率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00600" y="1664208"/>
            <a:ext cx="6766560" cy="435254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84064" y="1865376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 b="1">
                <a:solidFill>
                  <a:srgbClr val="24292F"/>
                </a:solidFill>
                <a:latin typeface="LXGW WenKai"/>
              </a:defRPr>
            </a:pPr>
            <a:r>
              <a:t>三模型分类指标对比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69480" y="1847088"/>
            <a:ext cx="566928" cy="246888"/>
          </a:xfrm>
          <a:prstGeom prst="roundRect">
            <a:avLst/>
          </a:prstGeom>
          <a:solidFill>
            <a:srgbClr val="2CA25F"/>
          </a:solidFill>
          <a:ln w="12700">
            <a:solidFill>
              <a:srgbClr val="2CA2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LXGW WenKai"/>
              </a:defRPr>
            </a:pPr>
            <a:r>
              <a:t>LR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57032" y="1847088"/>
            <a:ext cx="566928" cy="246888"/>
          </a:xfrm>
          <a:prstGeom prst="roundRect">
            <a:avLst/>
          </a:prstGeom>
          <a:solidFill>
            <a:srgbClr val="0969DA"/>
          </a:solidFill>
          <a:ln w="12700">
            <a:solidFill>
              <a:srgbClr val="0969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LXGW WenKai"/>
              </a:defRPr>
            </a:pPr>
            <a:r>
              <a:t>RF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44584" y="1847088"/>
            <a:ext cx="566928" cy="246888"/>
          </a:xfrm>
          <a:prstGeom prst="roundRect">
            <a:avLst/>
          </a:prstGeom>
          <a:solidFill>
            <a:srgbClr val="FB8500"/>
          </a:solidFill>
          <a:ln w="12700">
            <a:solidFill>
              <a:srgbClr val="FB8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LXGW WenKai"/>
              </a:defRPr>
            </a:pPr>
            <a:r>
              <a:t>XGB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38928" y="2478024"/>
            <a:ext cx="1005840" cy="1554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80" b="1">
                <a:solidFill>
                  <a:srgbClr val="24292F"/>
                </a:solidFill>
                <a:latin typeface="LXGW WenKai"/>
              </a:defRPr>
            </a:pPr>
            <a:r>
              <a:t>AUC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08192" y="2340864"/>
            <a:ext cx="3154680" cy="77724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108192" y="2340864"/>
            <a:ext cx="2785471" cy="77724"/>
          </a:xfrm>
          <a:prstGeom prst="rect">
            <a:avLst/>
          </a:prstGeom>
          <a:solidFill>
            <a:srgbClr val="2CA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345168" y="2322576"/>
            <a:ext cx="411480" cy="10972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40" b="1">
                <a:solidFill>
                  <a:srgbClr val="24292F"/>
                </a:solidFill>
                <a:latin typeface="LXGW WenKai"/>
              </a:defRPr>
            </a:pPr>
            <a:r>
              <a:t>0.883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8192" y="2487168"/>
            <a:ext cx="3154680" cy="77724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108192" y="2487168"/>
            <a:ext cx="2779955" cy="77724"/>
          </a:xfrm>
          <a:prstGeom prst="rect">
            <a:avLst/>
          </a:prstGeom>
          <a:solidFill>
            <a:srgbClr val="096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345168" y="2468880"/>
            <a:ext cx="411480" cy="10972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40" b="1">
                <a:solidFill>
                  <a:srgbClr val="24292F"/>
                </a:solidFill>
                <a:latin typeface="LXGW WenKai"/>
              </a:defRPr>
            </a:pPr>
            <a:r>
              <a:t>0.881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2633472"/>
            <a:ext cx="3154680" cy="77724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08192" y="2633472"/>
            <a:ext cx="2763188" cy="77724"/>
          </a:xfrm>
          <a:prstGeom prst="rect">
            <a:avLst/>
          </a:prstGeom>
          <a:solidFill>
            <a:srgbClr val="FB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345168" y="2615184"/>
            <a:ext cx="411480" cy="10972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40" b="1">
                <a:solidFill>
                  <a:srgbClr val="24292F"/>
                </a:solidFill>
                <a:latin typeface="LXGW WenKai"/>
              </a:defRPr>
            </a:pPr>
            <a:r>
              <a:t>0.876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12680" y="2414016"/>
            <a:ext cx="50292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19" b="1">
                <a:solidFill>
                  <a:srgbClr val="2CA25F"/>
                </a:solidFill>
                <a:latin typeface="LXGW WenKai"/>
              </a:defRPr>
            </a:pPr>
            <a:r>
              <a:t>0.883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588752" y="2386584"/>
            <a:ext cx="438912" cy="201168"/>
          </a:xfrm>
          <a:prstGeom prst="roundRect">
            <a:avLst/>
          </a:prstGeom>
          <a:solidFill>
            <a:srgbClr val="2CA25F"/>
          </a:solidFill>
          <a:ln w="12700">
            <a:solidFill>
              <a:srgbClr val="2CA2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00" b="1">
                <a:solidFill>
                  <a:srgbClr val="FFFFFF"/>
                </a:solidFill>
                <a:latin typeface="LXGW WenKai"/>
              </a:defRPr>
            </a:pPr>
            <a:r>
              <a:t>LR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38928" y="3081528"/>
            <a:ext cx="1005840" cy="1554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80" b="1">
                <a:solidFill>
                  <a:srgbClr val="24292F"/>
                </a:solidFill>
                <a:latin typeface="LXGW WenKai"/>
              </a:defRPr>
            </a:pPr>
            <a:r>
              <a:t>PR-AUC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2944368"/>
            <a:ext cx="3154680" cy="77724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108192" y="2944368"/>
            <a:ext cx="1969546" cy="77724"/>
          </a:xfrm>
          <a:prstGeom prst="rect">
            <a:avLst/>
          </a:prstGeom>
          <a:solidFill>
            <a:srgbClr val="2CA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345168" y="2926080"/>
            <a:ext cx="411480" cy="10972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40" b="1">
                <a:solidFill>
                  <a:srgbClr val="24292F"/>
                </a:solidFill>
                <a:latin typeface="LXGW WenKai"/>
              </a:defRPr>
            </a:pPr>
            <a:r>
              <a:t>0.624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08192" y="3090672"/>
            <a:ext cx="3154680" cy="77724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108192" y="3090672"/>
            <a:ext cx="2087497" cy="77724"/>
          </a:xfrm>
          <a:prstGeom prst="rect">
            <a:avLst/>
          </a:prstGeom>
          <a:solidFill>
            <a:srgbClr val="096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345168" y="3072384"/>
            <a:ext cx="411480" cy="10972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40" b="1">
                <a:solidFill>
                  <a:srgbClr val="24292F"/>
                </a:solidFill>
                <a:latin typeface="LXGW WenKai"/>
              </a:defRPr>
            </a:pPr>
            <a:r>
              <a:t>0.662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08192" y="3236976"/>
            <a:ext cx="3154680" cy="77724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108192" y="3236976"/>
            <a:ext cx="1999733" cy="77724"/>
          </a:xfrm>
          <a:prstGeom prst="rect">
            <a:avLst/>
          </a:prstGeom>
          <a:solidFill>
            <a:srgbClr val="FB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345168" y="3218688"/>
            <a:ext cx="411480" cy="10972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40" b="1">
                <a:solidFill>
                  <a:srgbClr val="24292F"/>
                </a:solidFill>
                <a:latin typeface="LXGW WenKai"/>
              </a:defRPr>
            </a:pPr>
            <a:r>
              <a:t>0.634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12680" y="3017520"/>
            <a:ext cx="50292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19" b="1">
                <a:solidFill>
                  <a:srgbClr val="0969DA"/>
                </a:solidFill>
                <a:latin typeface="LXGW WenKai"/>
              </a:defRPr>
            </a:pPr>
            <a:r>
              <a:t>0.662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588752" y="2990088"/>
            <a:ext cx="438912" cy="201168"/>
          </a:xfrm>
          <a:prstGeom prst="roundRect">
            <a:avLst/>
          </a:prstGeom>
          <a:solidFill>
            <a:srgbClr val="0969DA"/>
          </a:solidFill>
          <a:ln w="12700">
            <a:solidFill>
              <a:srgbClr val="0969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00" b="1">
                <a:solidFill>
                  <a:srgbClr val="FFFFFF"/>
                </a:solidFill>
                <a:latin typeface="LXGW WenKai"/>
              </a:defRPr>
            </a:pPr>
            <a:r>
              <a:t>RF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38928" y="3685032"/>
            <a:ext cx="1005840" cy="1554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80" b="1">
                <a:solidFill>
                  <a:srgbClr val="24292F"/>
                </a:solidFill>
                <a:latin typeface="LXGW WenKai"/>
              </a:defRPr>
            </a:pPr>
            <a:r>
              <a:t>Precision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3547872"/>
            <a:ext cx="3154680" cy="77724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108192" y="3547872"/>
            <a:ext cx="1619818" cy="77724"/>
          </a:xfrm>
          <a:prstGeom prst="rect">
            <a:avLst/>
          </a:prstGeom>
          <a:solidFill>
            <a:srgbClr val="2CA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345168" y="3529584"/>
            <a:ext cx="411480" cy="10972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40" b="1">
                <a:solidFill>
                  <a:srgbClr val="24292F"/>
                </a:solidFill>
                <a:latin typeface="LXGW WenKai"/>
              </a:defRPr>
            </a:pPr>
            <a:r>
              <a:t>0.513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08192" y="3694176"/>
            <a:ext cx="3154680" cy="77724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108192" y="3694176"/>
            <a:ext cx="1993715" cy="77724"/>
          </a:xfrm>
          <a:prstGeom prst="rect">
            <a:avLst/>
          </a:prstGeom>
          <a:solidFill>
            <a:srgbClr val="096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345168" y="3675888"/>
            <a:ext cx="411480" cy="10972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40" b="1">
                <a:solidFill>
                  <a:srgbClr val="24292F"/>
                </a:solidFill>
                <a:latin typeface="LXGW WenKai"/>
              </a:defRPr>
            </a:pPr>
            <a:r>
              <a:t>0.632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08192" y="3840480"/>
            <a:ext cx="3154680" cy="77724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6108192" y="3840480"/>
            <a:ext cx="1740331" cy="77724"/>
          </a:xfrm>
          <a:prstGeom prst="rect">
            <a:avLst/>
          </a:prstGeom>
          <a:solidFill>
            <a:srgbClr val="FB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345168" y="3822192"/>
            <a:ext cx="411480" cy="10972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40" b="1">
                <a:solidFill>
                  <a:srgbClr val="24292F"/>
                </a:solidFill>
                <a:latin typeface="LXGW WenKai"/>
              </a:defRPr>
            </a:pPr>
            <a:r>
              <a:t>0.552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12680" y="3621024"/>
            <a:ext cx="50292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19" b="1">
                <a:solidFill>
                  <a:srgbClr val="0969DA"/>
                </a:solidFill>
                <a:latin typeface="LXGW WenKai"/>
              </a:defRPr>
            </a:pPr>
            <a:r>
              <a:t>0.632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588752" y="3593591"/>
            <a:ext cx="438912" cy="201168"/>
          </a:xfrm>
          <a:prstGeom prst="roundRect">
            <a:avLst/>
          </a:prstGeom>
          <a:solidFill>
            <a:srgbClr val="0969DA"/>
          </a:solidFill>
          <a:ln w="12700">
            <a:solidFill>
              <a:srgbClr val="0969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00" b="1">
                <a:solidFill>
                  <a:srgbClr val="FFFFFF"/>
                </a:solidFill>
                <a:latin typeface="LXGW WenKai"/>
              </a:defRPr>
            </a:pPr>
            <a:r>
              <a:t>RF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138928" y="4288536"/>
            <a:ext cx="1005840" cy="1554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80" b="1">
                <a:solidFill>
                  <a:srgbClr val="24292F"/>
                </a:solidFill>
                <a:latin typeface="LXGW WenKai"/>
              </a:defRPr>
            </a:pPr>
            <a:r>
              <a:t>Recall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08192" y="4151376"/>
            <a:ext cx="3154680" cy="77724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6108192" y="4151376"/>
            <a:ext cx="2655940" cy="77724"/>
          </a:xfrm>
          <a:prstGeom prst="rect">
            <a:avLst/>
          </a:prstGeom>
          <a:solidFill>
            <a:srgbClr val="2CA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345168" y="4133088"/>
            <a:ext cx="411480" cy="10972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40" b="1">
                <a:solidFill>
                  <a:srgbClr val="24292F"/>
                </a:solidFill>
                <a:latin typeface="LXGW WenKai"/>
              </a:defRPr>
            </a:pPr>
            <a:r>
              <a:t>0.842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108192" y="4297680"/>
            <a:ext cx="3154680" cy="77724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6108192" y="4297680"/>
            <a:ext cx="1542788" cy="77724"/>
          </a:xfrm>
          <a:prstGeom prst="rect">
            <a:avLst/>
          </a:prstGeom>
          <a:solidFill>
            <a:srgbClr val="096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345168" y="4279392"/>
            <a:ext cx="411480" cy="10972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40" b="1">
                <a:solidFill>
                  <a:srgbClr val="24292F"/>
                </a:solidFill>
                <a:latin typeface="LXGW WenKai"/>
              </a:defRPr>
            </a:pPr>
            <a:r>
              <a:t>0.489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08192" y="4443984"/>
            <a:ext cx="3154680" cy="77724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6108192" y="4443984"/>
            <a:ext cx="2158702" cy="77724"/>
          </a:xfrm>
          <a:prstGeom prst="rect">
            <a:avLst/>
          </a:prstGeom>
          <a:solidFill>
            <a:srgbClr val="FB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9345168" y="4425696"/>
            <a:ext cx="411480" cy="10972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40" b="1">
                <a:solidFill>
                  <a:srgbClr val="24292F"/>
                </a:solidFill>
                <a:latin typeface="LXGW WenKai"/>
              </a:defRPr>
            </a:pPr>
            <a:r>
              <a:t>0.684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012680" y="4224528"/>
            <a:ext cx="50292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19" b="1">
                <a:solidFill>
                  <a:srgbClr val="2CA25F"/>
                </a:solidFill>
                <a:latin typeface="LXGW WenKai"/>
              </a:defRPr>
            </a:pPr>
            <a:r>
              <a:t>0.842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0588752" y="4197096"/>
            <a:ext cx="438912" cy="201168"/>
          </a:xfrm>
          <a:prstGeom prst="roundRect">
            <a:avLst/>
          </a:prstGeom>
          <a:solidFill>
            <a:srgbClr val="2CA25F"/>
          </a:solidFill>
          <a:ln w="12700">
            <a:solidFill>
              <a:srgbClr val="2CA2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00" b="1">
                <a:solidFill>
                  <a:srgbClr val="FFFFFF"/>
                </a:solidFill>
                <a:latin typeface="LXGW WenKai"/>
              </a:defRPr>
            </a:pPr>
            <a:r>
              <a:t>LR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138928" y="4892040"/>
            <a:ext cx="1005840" cy="1554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80" b="1">
                <a:solidFill>
                  <a:srgbClr val="24292F"/>
                </a:solidFill>
                <a:latin typeface="LXGW WenKai"/>
              </a:defRPr>
            </a:pPr>
            <a:r>
              <a:t>Accuracy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08192" y="4754880"/>
            <a:ext cx="3154680" cy="77724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6108192" y="4754880"/>
            <a:ext cx="2523744" cy="77724"/>
          </a:xfrm>
          <a:prstGeom prst="rect">
            <a:avLst/>
          </a:prstGeom>
          <a:solidFill>
            <a:srgbClr val="2CA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9345168" y="4736592"/>
            <a:ext cx="411480" cy="10972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40" b="1">
                <a:solidFill>
                  <a:srgbClr val="24292F"/>
                </a:solidFill>
                <a:latin typeface="LXGW WenKai"/>
              </a:defRPr>
            </a:pPr>
            <a:r>
              <a:t>0.800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108192" y="4901184"/>
            <a:ext cx="3154680" cy="77724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6108192" y="4901184"/>
            <a:ext cx="2637312" cy="77724"/>
          </a:xfrm>
          <a:prstGeom prst="rect">
            <a:avLst/>
          </a:prstGeom>
          <a:solidFill>
            <a:srgbClr val="096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9345168" y="4882896"/>
            <a:ext cx="411480" cy="10972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40" b="1">
                <a:solidFill>
                  <a:srgbClr val="24292F"/>
                </a:solidFill>
                <a:latin typeface="LXGW WenKai"/>
              </a:defRPr>
            </a:pPr>
            <a:r>
              <a:t>0.836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08192" y="5047488"/>
            <a:ext cx="3154680" cy="77724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6108192" y="5047488"/>
            <a:ext cx="2580528" cy="77724"/>
          </a:xfrm>
          <a:prstGeom prst="rect">
            <a:avLst/>
          </a:prstGeom>
          <a:solidFill>
            <a:srgbClr val="FB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9345168" y="5029200"/>
            <a:ext cx="411480" cy="10972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40" b="1">
                <a:solidFill>
                  <a:srgbClr val="24292F"/>
                </a:solidFill>
                <a:latin typeface="LXGW WenKai"/>
              </a:defRPr>
            </a:pPr>
            <a:r>
              <a:t>0.818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012680" y="4828032"/>
            <a:ext cx="50292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19" b="1">
                <a:solidFill>
                  <a:srgbClr val="0969DA"/>
                </a:solidFill>
                <a:latin typeface="LXGW WenKai"/>
              </a:defRPr>
            </a:pPr>
            <a:r>
              <a:t>0.836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10588752" y="4800600"/>
            <a:ext cx="438912" cy="201168"/>
          </a:xfrm>
          <a:prstGeom prst="roundRect">
            <a:avLst/>
          </a:prstGeom>
          <a:solidFill>
            <a:srgbClr val="0969DA"/>
          </a:solidFill>
          <a:ln w="12700">
            <a:solidFill>
              <a:srgbClr val="0969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00" b="1">
                <a:solidFill>
                  <a:srgbClr val="FFFFFF"/>
                </a:solidFill>
                <a:latin typeface="LXGW WenKai"/>
              </a:defRPr>
            </a:pPr>
            <a:r>
              <a:t>RF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074920" y="5376672"/>
            <a:ext cx="6099048" cy="420624"/>
          </a:xfrm>
          <a:prstGeom prst="roundRect">
            <a:avLst/>
          </a:prstGeom>
          <a:solidFill>
            <a:srgbClr val="EAF6EF"/>
          </a:solidFill>
          <a:ln w="12700">
            <a:solidFill>
              <a:srgbClr val="BFE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5285232" y="5513832"/>
            <a:ext cx="5900654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60" b="1">
                <a:solidFill>
                  <a:srgbClr val="24292F"/>
                </a:solidFill>
                <a:latin typeface="LXGW WenKai"/>
              </a:defRPr>
            </a:pPr>
            <a:r>
              <a:rPr sz="1050" dirty="0" err="1"/>
              <a:t>结论：LR</a:t>
            </a:r>
            <a:r>
              <a:rPr sz="1050" dirty="0"/>
              <a:t> </a:t>
            </a:r>
            <a:r>
              <a:rPr sz="1050" dirty="0" err="1"/>
              <a:t>在</a:t>
            </a:r>
            <a:r>
              <a:rPr sz="1050" dirty="0"/>
              <a:t> AUC / Recall </a:t>
            </a:r>
            <a:r>
              <a:rPr sz="1050" dirty="0" err="1"/>
              <a:t>更高；RF</a:t>
            </a:r>
            <a:r>
              <a:rPr sz="1050" dirty="0"/>
              <a:t> </a:t>
            </a:r>
            <a:r>
              <a:rPr sz="1050" dirty="0" err="1"/>
              <a:t>在</a:t>
            </a:r>
            <a:r>
              <a:rPr sz="1050" dirty="0"/>
              <a:t> </a:t>
            </a:r>
            <a:r>
              <a:rPr sz="1050" dirty="0" err="1"/>
              <a:t>PR-AUC、Precision、Accuracy</a:t>
            </a:r>
            <a:r>
              <a:rPr sz="1050" dirty="0"/>
              <a:t> </a:t>
            </a:r>
            <a:r>
              <a:rPr sz="1050" dirty="0" err="1"/>
              <a:t>更强，适合后续候选排序</a:t>
            </a:r>
            <a:endParaRPr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969264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400" b="1">
                <a:solidFill>
                  <a:srgbClr val="24292F"/>
                </a:solidFill>
                <a:latin typeface="LXGW WenKai"/>
              </a:defRPr>
            </a:pPr>
            <a:r>
              <a:rPr lang="en-US" noProof="1"/>
              <a:t>指标解释：五个指标对应五种问题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61320" y="310896"/>
            <a:ext cx="10058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0">
                <a:solidFill>
                  <a:srgbClr val="57606A"/>
                </a:solidFill>
                <a:latin typeface="LXGW WenKai"/>
              </a:defRPr>
            </a:pPr>
            <a:r>
              <a:rPr lang="en-US" noProof="1"/>
              <a:t>10 / 18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41248"/>
            <a:ext cx="11018520" cy="9144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640080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0">
                <a:solidFill>
                  <a:srgbClr val="57606A"/>
                </a:solidFill>
                <a:latin typeface="LXGW WenKai"/>
              </a:defRPr>
            </a:pPr>
            <a:r>
              <a:rPr lang="en-US" noProof="1"/>
              <a:t>OpenClaw · 开源项目潜力发现系统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6510528"/>
            <a:ext cx="320040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0">
                <a:solidFill>
                  <a:srgbClr val="57606A"/>
                </a:solidFill>
                <a:latin typeface="LXGW WenKai"/>
              </a:defRPr>
            </a:pPr>
            <a:r>
              <a:rPr lang="en-US" noProof="1"/>
              <a:t>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051560"/>
            <a:ext cx="1088136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800" b="1">
                <a:solidFill>
                  <a:srgbClr val="24292F"/>
                </a:solidFill>
                <a:latin typeface="LXGW WenKai"/>
              </a:defRPr>
            </a:pPr>
            <a:r>
              <a:rPr lang="en-US" noProof="1"/>
              <a:t>候选发现不是只看 AUC：还要看少数正例、命中质量、覆盖程度和整体稳定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828800"/>
            <a:ext cx="4754880" cy="841248"/>
          </a:xfrm>
          <a:prstGeom prst="roundRect">
            <a:avLst/>
          </a:prstGeom>
          <a:solidFill>
            <a:srgbClr val="EAF6E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9" name="TextBox 8"/>
          <p:cNvSpPr txBox="1"/>
          <p:nvPr/>
        </p:nvSpPr>
        <p:spPr>
          <a:xfrm>
            <a:off x="1005840" y="2093976"/>
            <a:ext cx="1572768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750" b="1">
                <a:solidFill>
                  <a:srgbClr val="2CA25F"/>
                </a:solidFill>
                <a:latin typeface="LXGW WenKai"/>
              </a:defRPr>
            </a:pPr>
            <a:r>
              <a:rPr lang="en-US" noProof="1"/>
              <a:t>AUC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1993392"/>
            <a:ext cx="155448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 b="1">
                <a:solidFill>
                  <a:srgbClr val="24292F"/>
                </a:solidFill>
                <a:latin typeface="LXGW WenKai"/>
              </a:defRPr>
            </a:pPr>
            <a:r>
              <a:rPr lang="en-US" noProof="1"/>
              <a:t>整体排序能力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304288"/>
            <a:ext cx="2304288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19" b="0">
                <a:solidFill>
                  <a:srgbClr val="57606A"/>
                </a:solidFill>
                <a:latin typeface="LXGW WenKai"/>
              </a:defRPr>
            </a:pPr>
            <a:r>
              <a:rPr lang="en-US" noProof="1"/>
              <a:t>热门项目是否排在冷门项目前面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2799" y="1926733"/>
            <a:ext cx="615553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00" b="1">
                <a:solidFill>
                  <a:srgbClr val="2CA25F"/>
                </a:solidFill>
                <a:latin typeface="LXGW WenKai"/>
              </a:defRPr>
            </a:pPr>
            <a:r>
              <a:rPr lang="en-US" sz="1200" noProof="1"/>
              <a:t>越高越好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828800"/>
            <a:ext cx="4754880" cy="841248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4" name="TextBox 13"/>
          <p:cNvSpPr txBox="1"/>
          <p:nvPr/>
        </p:nvSpPr>
        <p:spPr>
          <a:xfrm>
            <a:off x="6473952" y="2093976"/>
            <a:ext cx="1572768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750" b="1">
                <a:solidFill>
                  <a:srgbClr val="0969DA"/>
                </a:solidFill>
                <a:latin typeface="LXGW WenKai"/>
              </a:defRPr>
            </a:pPr>
            <a:r>
              <a:rPr lang="en-US" noProof="1"/>
              <a:t>PR-AUC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9871" y="1993392"/>
            <a:ext cx="155448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 b="1">
                <a:solidFill>
                  <a:srgbClr val="24292F"/>
                </a:solidFill>
                <a:latin typeface="LXGW WenKai"/>
              </a:defRPr>
            </a:pPr>
            <a:r>
              <a:rPr lang="en-US" noProof="1"/>
              <a:t>少数正例识别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9871" y="2304288"/>
            <a:ext cx="2304288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19" b="0">
                <a:solidFill>
                  <a:srgbClr val="57606A"/>
                </a:solidFill>
                <a:latin typeface="LXGW WenKai"/>
              </a:defRPr>
            </a:pPr>
            <a:r>
              <a:rPr lang="en-US" noProof="1"/>
              <a:t>正例只有约 20% 时，比 Accuracy 更敏感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74366" y="1936742"/>
            <a:ext cx="615553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00" b="1">
                <a:solidFill>
                  <a:srgbClr val="0969DA"/>
                </a:solidFill>
                <a:latin typeface="LXGW WenKai"/>
              </a:defRPr>
            </a:pPr>
            <a:r>
              <a:rPr lang="en-US" sz="1200" noProof="1"/>
              <a:t>越高越好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3063240"/>
            <a:ext cx="4754880" cy="841248"/>
          </a:xfrm>
          <a:prstGeom prst="roundRect">
            <a:avLst/>
          </a:prstGeom>
          <a:solidFill>
            <a:srgbClr val="FFF5E6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9" name="TextBox 18"/>
          <p:cNvSpPr txBox="1"/>
          <p:nvPr/>
        </p:nvSpPr>
        <p:spPr>
          <a:xfrm>
            <a:off x="1005840" y="3328416"/>
            <a:ext cx="1572768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750" b="1">
                <a:solidFill>
                  <a:srgbClr val="FB8500"/>
                </a:solidFill>
                <a:latin typeface="LXGW WenKai"/>
              </a:defRPr>
            </a:pPr>
            <a:r>
              <a:rPr lang="en-US" noProof="1"/>
              <a:t>Precision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3227832"/>
            <a:ext cx="155448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 b="1">
                <a:solidFill>
                  <a:srgbClr val="24292F"/>
                </a:solidFill>
                <a:latin typeface="LXGW WenKai"/>
              </a:defRPr>
            </a:pPr>
            <a:r>
              <a:rPr lang="en-US" noProof="1"/>
              <a:t>命中质量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3538728"/>
            <a:ext cx="2304288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19" b="0">
                <a:solidFill>
                  <a:srgbClr val="57606A"/>
                </a:solidFill>
                <a:latin typeface="LXGW WenKai"/>
              </a:defRPr>
            </a:pPr>
            <a:r>
              <a:rPr lang="en-US" noProof="1"/>
              <a:t>判成高潜项目后，真正命中的比例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6256" y="3180136"/>
            <a:ext cx="615553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00" b="1">
                <a:solidFill>
                  <a:srgbClr val="FB8500"/>
                </a:solidFill>
                <a:latin typeface="LXGW WenKai"/>
              </a:defRPr>
            </a:pPr>
            <a:r>
              <a:rPr lang="en-US" sz="1200" noProof="1"/>
              <a:t>越高越好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063240"/>
            <a:ext cx="4754880" cy="841248"/>
          </a:xfrm>
          <a:prstGeom prst="roundRect">
            <a:avLst/>
          </a:prstGeom>
          <a:solidFill>
            <a:srgbClr val="F3EA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24" name="TextBox 23"/>
          <p:cNvSpPr txBox="1"/>
          <p:nvPr/>
        </p:nvSpPr>
        <p:spPr>
          <a:xfrm>
            <a:off x="6473952" y="3328416"/>
            <a:ext cx="1572768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750" b="1">
                <a:solidFill>
                  <a:srgbClr val="8A3FFC"/>
                </a:solidFill>
                <a:latin typeface="LXGW WenKai"/>
              </a:defRPr>
            </a:pPr>
            <a:r>
              <a:rPr lang="en-US" noProof="1"/>
              <a:t>Recall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1" y="3227832"/>
            <a:ext cx="155448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 b="1">
                <a:solidFill>
                  <a:srgbClr val="24292F"/>
                </a:solidFill>
                <a:latin typeface="LXGW WenKai"/>
              </a:defRPr>
            </a:pPr>
            <a:r>
              <a:rPr lang="en-US" noProof="1"/>
              <a:t>覆盖程度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19871" y="3538728"/>
            <a:ext cx="2304288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19" b="0">
                <a:solidFill>
                  <a:srgbClr val="57606A"/>
                </a:solidFill>
                <a:latin typeface="LXGW WenKai"/>
              </a:defRPr>
            </a:pPr>
            <a:r>
              <a:rPr lang="en-US" noProof="1"/>
              <a:t>所有真正高潜项目里，被模型抓到的比例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74367" y="3197721"/>
            <a:ext cx="615553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00" b="1">
                <a:solidFill>
                  <a:srgbClr val="8A3FFC"/>
                </a:solidFill>
                <a:latin typeface="LXGW WenKai"/>
              </a:defRPr>
            </a:pPr>
            <a:r>
              <a:rPr lang="en-US" sz="1200" noProof="1"/>
              <a:t>越高越好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520440" y="4297680"/>
            <a:ext cx="4754880" cy="841248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29" name="TextBox 28"/>
          <p:cNvSpPr txBox="1"/>
          <p:nvPr/>
        </p:nvSpPr>
        <p:spPr>
          <a:xfrm>
            <a:off x="3776472" y="4562856"/>
            <a:ext cx="1572768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750" b="1">
                <a:solidFill>
                  <a:srgbClr val="0F7B6C"/>
                </a:solidFill>
                <a:latin typeface="LXGW WenKai"/>
              </a:defRPr>
            </a:pPr>
            <a:r>
              <a:rPr lang="en-US" noProof="1"/>
              <a:t>Accuracy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22392" y="4462272"/>
            <a:ext cx="155448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 b="1">
                <a:solidFill>
                  <a:srgbClr val="24292F"/>
                </a:solidFill>
                <a:latin typeface="LXGW WenKai"/>
              </a:defRPr>
            </a:pPr>
            <a:r>
              <a:rPr lang="en-US" noProof="1"/>
              <a:t>整体正确率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22392" y="4773168"/>
            <a:ext cx="2304288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19" b="0">
                <a:solidFill>
                  <a:srgbClr val="57606A"/>
                </a:solidFill>
                <a:latin typeface="LXGW WenKai"/>
              </a:defRPr>
            </a:pPr>
            <a:r>
              <a:rPr lang="en-US" noProof="1"/>
              <a:t>所有样本上，预测正确的总体比例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04318" y="4408787"/>
            <a:ext cx="615553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00" b="1">
                <a:solidFill>
                  <a:srgbClr val="0F7B6C"/>
                </a:solidFill>
                <a:latin typeface="LXGW WenKai"/>
              </a:defRPr>
            </a:pPr>
            <a:r>
              <a:rPr lang="en-US" sz="1200" noProof="1"/>
              <a:t>越高越好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51560" y="5577840"/>
            <a:ext cx="10012680" cy="411480"/>
          </a:xfrm>
          <a:prstGeom prst="roundRect">
            <a:avLst/>
          </a:prstGeom>
          <a:solidFill>
            <a:srgbClr val="EAF6EF"/>
          </a:solidFill>
          <a:ln w="12700">
            <a:solidFill>
              <a:srgbClr val="BFE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34" name="TextBox 33"/>
          <p:cNvSpPr txBox="1"/>
          <p:nvPr/>
        </p:nvSpPr>
        <p:spPr>
          <a:xfrm>
            <a:off x="1287363" y="5696712"/>
            <a:ext cx="9541073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50" b="1">
                <a:solidFill>
                  <a:srgbClr val="24292F"/>
                </a:solidFill>
                <a:latin typeface="LXGW WenKai"/>
              </a:defRPr>
            </a:pPr>
            <a:r>
              <a:rPr lang="en-US" sz="1400" noProof="1"/>
              <a:t>解释顺序：AUC / PR-AUC 先看排序与少数正例识别，再用 Precision / Recall 看取舍，最后用 Accuracy 看整体稳定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23">
            <a:extLst>
              <a:ext uri="{FF2B5EF4-FFF2-40B4-BE49-F238E27FC236}">
                <a16:creationId xmlns:a16="http://schemas.microsoft.com/office/drawing/2014/main" id="{7976E9EE-587D-9D6D-E947-3DB0D2CEF3AE}"/>
              </a:ext>
            </a:extLst>
          </p:cNvPr>
          <p:cNvSpPr/>
          <p:nvPr/>
        </p:nvSpPr>
        <p:spPr>
          <a:xfrm>
            <a:off x="658368" y="5546396"/>
            <a:ext cx="10881360" cy="603504"/>
          </a:xfrm>
          <a:prstGeom prst="roundRect">
            <a:avLst/>
          </a:prstGeom>
          <a:solidFill>
            <a:srgbClr val="EDF7EF"/>
          </a:solidFill>
          <a:ln w="12700">
            <a:solidFill>
              <a:srgbClr val="BEE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9692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300" b="1" noProof="1">
                <a:solidFill>
                  <a:srgbClr val="242A31"/>
                </a:solidFill>
                <a:latin typeface="LXGW WenKai"/>
              </a:rPr>
              <a:t>实验结果：早期信号能排序，也能形成可解释的行为分群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310896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1300">
                <a:solidFill>
                  <a:srgbClr val="57606A"/>
                </a:solidFill>
                <a:latin typeface="LXGW WenKai"/>
              </a:defRPr>
            </a:pPr>
            <a:r>
              <a:rPr lang="en-US" noProof="1"/>
              <a:t>11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841248"/>
            <a:ext cx="11064240" cy="10972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6" name="TextBox 5"/>
          <p:cNvSpPr txBox="1"/>
          <p:nvPr/>
        </p:nvSpPr>
        <p:spPr>
          <a:xfrm>
            <a:off x="658368" y="1024128"/>
            <a:ext cx="101498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100" b="1" i="0" noProof="1">
                <a:solidFill>
                  <a:srgbClr val="24292F"/>
                </a:solidFill>
                <a:latin typeface="LXGW WenKai"/>
              </a:rPr>
              <a:t>模型最有价值的不是“预测每一个项目”，而是把候选项目排到更值得看的顺序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55648"/>
            <a:ext cx="3246120" cy="1417320"/>
          </a:xfrm>
          <a:prstGeom prst="roundRect">
            <a:avLst>
              <a:gd name="adj" fmla="val 1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8" name="TextBox 7"/>
          <p:cNvSpPr txBox="1"/>
          <p:nvPr/>
        </p:nvSpPr>
        <p:spPr>
          <a:xfrm>
            <a:off x="658368" y="1993392"/>
            <a:ext cx="3246120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4200" b="1" i="0" noProof="1">
                <a:solidFill>
                  <a:srgbClr val="2CA25F"/>
                </a:solidFill>
                <a:latin typeface="LXGW WenKai"/>
              </a:rPr>
              <a:t>0.883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596896"/>
            <a:ext cx="32461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400" b="1" i="0" noProof="1">
                <a:solidFill>
                  <a:srgbClr val="57606A"/>
                </a:solidFill>
                <a:latin typeface="LXGW WenKai"/>
              </a:rPr>
              <a:t>最佳 AUC · 逻辑回归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755648"/>
            <a:ext cx="3246120" cy="1417320"/>
          </a:xfrm>
          <a:prstGeom prst="roundRect">
            <a:avLst>
              <a:gd name="adj" fmla="val 1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1" name="TextBox 10"/>
          <p:cNvSpPr txBox="1"/>
          <p:nvPr/>
        </p:nvSpPr>
        <p:spPr>
          <a:xfrm>
            <a:off x="4407408" y="1993392"/>
            <a:ext cx="3246120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4200" b="1" i="0" noProof="1">
                <a:solidFill>
                  <a:srgbClr val="1F76D3"/>
                </a:solidFill>
                <a:latin typeface="LXGW WenKai"/>
              </a:rPr>
              <a:t>0.662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7408" y="2596896"/>
            <a:ext cx="32461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400" b="1" i="0" noProof="1">
                <a:solidFill>
                  <a:srgbClr val="57606A"/>
                </a:solidFill>
                <a:latin typeface="LXGW WenKai"/>
              </a:rPr>
              <a:t>最佳 PR-AUC · 随机森林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6448" y="1755648"/>
            <a:ext cx="3246120" cy="1417320"/>
          </a:xfrm>
          <a:prstGeom prst="roundRect">
            <a:avLst>
              <a:gd name="adj" fmla="val 10000"/>
            </a:avLst>
          </a:prstGeom>
          <a:solidFill>
            <a:srgbClr val="F6F8FA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4" name="TextBox 13"/>
          <p:cNvSpPr txBox="1"/>
          <p:nvPr/>
        </p:nvSpPr>
        <p:spPr>
          <a:xfrm>
            <a:off x="8156448" y="2029968"/>
            <a:ext cx="324612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3600" b="1" i="0" noProof="1">
                <a:solidFill>
                  <a:srgbClr val="7A45E5"/>
                </a:solidFill>
                <a:latin typeface="LXGW WenKai"/>
              </a:rPr>
              <a:t>+0.0004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8" y="2615184"/>
            <a:ext cx="32461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400" b="1" i="0" noProof="1">
                <a:solidFill>
                  <a:srgbClr val="57606A"/>
                </a:solidFill>
                <a:latin typeface="LXGW WenKai"/>
              </a:rPr>
              <a:t>Time-Split AUC gap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749039"/>
            <a:ext cx="10881360" cy="15727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7" name="TextBox 16"/>
          <p:cNvSpPr txBox="1"/>
          <p:nvPr/>
        </p:nvSpPr>
        <p:spPr>
          <a:xfrm>
            <a:off x="793792" y="3941874"/>
            <a:ext cx="1081307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600" b="1" i="0" noProof="1">
                <a:solidFill>
                  <a:srgbClr val="57606A"/>
                </a:solidFill>
                <a:latin typeface="LXGW WenKai"/>
              </a:rPr>
              <a:t>Ablation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3950208"/>
            <a:ext cx="164592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00" b="1" i="0" noProof="1">
                <a:solidFill>
                  <a:srgbClr val="24292F"/>
                </a:solidFill>
                <a:latin typeface="LXGW WenKai"/>
              </a:rPr>
              <a:t>Language+Owner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40280" y="4407408"/>
            <a:ext cx="1554480" cy="201168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20" name="Rectangle 19"/>
          <p:cNvSpPr/>
          <p:nvPr/>
        </p:nvSpPr>
        <p:spPr>
          <a:xfrm>
            <a:off x="2240280" y="4407408"/>
            <a:ext cx="1179184" cy="201168"/>
          </a:xfrm>
          <a:prstGeom prst="rect">
            <a:avLst/>
          </a:prstGeom>
          <a:solidFill>
            <a:srgbClr val="576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21" name="TextBox 20"/>
          <p:cNvSpPr txBox="1"/>
          <p:nvPr/>
        </p:nvSpPr>
        <p:spPr>
          <a:xfrm>
            <a:off x="2240280" y="4773168"/>
            <a:ext cx="15544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00" b="1" i="0" noProof="1">
                <a:solidFill>
                  <a:srgbClr val="24292F"/>
                </a:solidFill>
                <a:latin typeface="LXGW WenKai"/>
              </a:rPr>
              <a:t>0.8562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16551" y="3950208"/>
            <a:ext cx="1799053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00" b="1" i="0" noProof="1">
                <a:solidFill>
                  <a:srgbClr val="24292F"/>
                </a:solidFill>
                <a:latin typeface="LXGW WenKai"/>
              </a:rPr>
              <a:t>+ </a:t>
            </a:r>
            <a:r>
              <a:rPr lang="en-US" sz="1300" b="1" noProof="1">
                <a:solidFill>
                  <a:srgbClr val="24292F"/>
                </a:solidFill>
                <a:latin typeface="LXGW WenKai"/>
              </a:rPr>
              <a:t>Early Activity (30d)</a:t>
            </a:r>
            <a:endParaRPr lang="en-US" sz="1300" b="1" i="0" noProof="1">
              <a:solidFill>
                <a:srgbClr val="24292F"/>
              </a:solidFill>
              <a:latin typeface="LXGW WenKa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416552" y="4407408"/>
            <a:ext cx="1554480" cy="201168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24" name="Rectangle 23"/>
          <p:cNvSpPr/>
          <p:nvPr/>
        </p:nvSpPr>
        <p:spPr>
          <a:xfrm>
            <a:off x="4416552" y="4407408"/>
            <a:ext cx="1330190" cy="201168"/>
          </a:xfrm>
          <a:prstGeom prst="rect">
            <a:avLst/>
          </a:prstGeom>
          <a:solidFill>
            <a:srgbClr val="2D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25" name="TextBox 24"/>
          <p:cNvSpPr txBox="1"/>
          <p:nvPr/>
        </p:nvSpPr>
        <p:spPr>
          <a:xfrm>
            <a:off x="4416552" y="4773168"/>
            <a:ext cx="15544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00" b="1" i="0" noProof="1">
                <a:solidFill>
                  <a:srgbClr val="24292F"/>
                </a:solidFill>
                <a:latin typeface="LXGW WenKai"/>
              </a:rPr>
              <a:t>0.8698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92824" y="3950208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00" b="1" i="0" noProof="1">
                <a:solidFill>
                  <a:srgbClr val="24292F"/>
                </a:solidFill>
                <a:latin typeface="LXGW WenKai"/>
              </a:rPr>
              <a:t>+ README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92824" y="4407408"/>
            <a:ext cx="1554480" cy="201168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28" name="Rectangle 27"/>
          <p:cNvSpPr/>
          <p:nvPr/>
        </p:nvSpPr>
        <p:spPr>
          <a:xfrm>
            <a:off x="6592824" y="4407408"/>
            <a:ext cx="1537824" cy="201168"/>
          </a:xfrm>
          <a:prstGeom prst="rect">
            <a:avLst/>
          </a:prstGeom>
          <a:solidFill>
            <a:srgbClr val="096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29" name="TextBox 28"/>
          <p:cNvSpPr txBox="1"/>
          <p:nvPr/>
        </p:nvSpPr>
        <p:spPr>
          <a:xfrm>
            <a:off x="6592824" y="4773168"/>
            <a:ext cx="15544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00" b="1" i="0" noProof="1">
                <a:solidFill>
                  <a:srgbClr val="24292F"/>
                </a:solidFill>
                <a:latin typeface="LXGW WenKai"/>
              </a:rPr>
              <a:t>0.8885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69096" y="3950208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00" b="1" i="0" noProof="1">
                <a:solidFill>
                  <a:srgbClr val="24292F"/>
                </a:solidFill>
                <a:latin typeface="LXGW WenKai"/>
              </a:rPr>
              <a:t>+ 派生比率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69096" y="4407408"/>
            <a:ext cx="1554480" cy="201168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32" name="Rectangle 31"/>
          <p:cNvSpPr/>
          <p:nvPr/>
        </p:nvSpPr>
        <p:spPr>
          <a:xfrm>
            <a:off x="8769096" y="4407408"/>
            <a:ext cx="1456769" cy="201168"/>
          </a:xfrm>
          <a:prstGeom prst="rect">
            <a:avLst/>
          </a:prstGeom>
          <a:solidFill>
            <a:srgbClr val="242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33" name="TextBox 32"/>
          <p:cNvSpPr txBox="1"/>
          <p:nvPr/>
        </p:nvSpPr>
        <p:spPr>
          <a:xfrm>
            <a:off x="8769096" y="4773168"/>
            <a:ext cx="15544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00" b="1" i="0" noProof="1">
                <a:solidFill>
                  <a:srgbClr val="24292F"/>
                </a:solidFill>
                <a:latin typeface="LXGW WenKai"/>
              </a:rPr>
              <a:t>0.88</a:t>
            </a:r>
            <a:r>
              <a:rPr lang="en-US" sz="1400" b="1" noProof="1">
                <a:solidFill>
                  <a:srgbClr val="24292F"/>
                </a:solidFill>
                <a:latin typeface="LXGW WenKai"/>
              </a:rPr>
              <a:t>12</a:t>
            </a:r>
            <a:endParaRPr lang="en-US" sz="1400" b="1" i="0" noProof="1">
              <a:solidFill>
                <a:srgbClr val="24292F"/>
              </a:solidFill>
              <a:latin typeface="LXGW WenKai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93792" y="5727447"/>
            <a:ext cx="10608776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700" b="1" noProof="1">
                <a:solidFill>
                  <a:srgbClr val="242A31"/>
                </a:solidFill>
                <a:latin typeface="LXGW WenKai" panose="02020500000000000000" pitchFamily="18" charset="-120"/>
                <a:ea typeface="LXGW WenKai" panose="02020500000000000000" pitchFamily="18" charset="-120"/>
              </a:rPr>
              <a:t>结论：加入 README 组达到最高 0.8885；加入派生比率后回落到 0.8812，说明派生比率没有带来稳定增益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6510528"/>
            <a:ext cx="6400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i="0" noProof="1">
                <a:solidFill>
                  <a:srgbClr val="57606A"/>
                </a:solidFill>
                <a:latin typeface="LXGW WenKai"/>
              </a:rPr>
              <a:t>OpenClaw · 开源项目潜力发现系统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6510528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sz="1100" b="0" i="0" noProof="1">
                <a:solidFill>
                  <a:srgbClr val="57606A"/>
                </a:solidFill>
                <a:latin typeface="LXGW WenKai"/>
              </a:rPr>
              <a:t>Results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969264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lang="en-US" sz="2300" b="1" noProof="1">
                <a:solidFill>
                  <a:srgbClr val="242931"/>
                </a:solidFill>
                <a:latin typeface="LXGW WenKai"/>
              </a:rPr>
              <a:t>回归实验：不仅看会不会火，还预测能火到多大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61320" y="310896"/>
            <a:ext cx="100584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defRPr sz="1300">
                <a:solidFill>
                  <a:srgbClr val="57606A"/>
                </a:solidFill>
                <a:latin typeface="LXGW WenKai"/>
              </a:defRPr>
            </a:pPr>
            <a:r>
              <a:rPr lang="en-US" noProof="1"/>
              <a:t>12 / 18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41248"/>
            <a:ext cx="11064240" cy="9144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5" name="TextBox 4"/>
          <p:cNvSpPr txBox="1"/>
          <p:nvPr/>
        </p:nvSpPr>
        <p:spPr>
          <a:xfrm>
            <a:off x="658368" y="1024128"/>
            <a:ext cx="10607040" cy="28315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lang="en-US" sz="1600" b="0" noProof="1">
                <a:solidFill>
                  <a:srgbClr val="242931"/>
                </a:solidFill>
                <a:latin typeface="LXGW WenKai"/>
              </a:rPr>
              <a:t>用同一套 19 个早期特征，把 是否进前 20% 的分类，</a:t>
            </a:r>
            <a:r>
              <a:rPr lang="en-US" sz="1600" b="1" noProof="1">
                <a:solidFill>
                  <a:srgbClr val="242931"/>
                </a:solidFill>
                <a:latin typeface="LXGW WenKai"/>
              </a:rPr>
              <a:t>扩展为预测约一年后的 log(star 数)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246120" cy="178308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8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7" name="TextBox 6"/>
          <p:cNvSpPr txBox="1"/>
          <p:nvPr/>
        </p:nvSpPr>
        <p:spPr>
          <a:xfrm>
            <a:off x="658368" y="1993392"/>
            <a:ext cx="3246120" cy="5486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lang="en-US" sz="4600" b="1" noProof="1">
                <a:solidFill>
                  <a:srgbClr val="2CA25F"/>
                </a:solidFill>
                <a:latin typeface="LXGW WenKai"/>
              </a:rPr>
              <a:t>0.50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743200"/>
            <a:ext cx="3246120" cy="23698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lang="en-US" sz="1300" b="1" noProof="1">
                <a:solidFill>
                  <a:srgbClr val="242931"/>
                </a:solidFill>
                <a:latin typeface="LXGW WenKai"/>
              </a:rPr>
              <a:t>R²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054096"/>
            <a:ext cx="32461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lang="en-US" sz="1350" b="1" noProof="1">
                <a:solidFill>
                  <a:srgbClr val="242931"/>
                </a:solidFill>
                <a:latin typeface="LXGW WenKai"/>
              </a:rPr>
              <a:t>岭回归 Ridge · 最佳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310128"/>
            <a:ext cx="324612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lang="en-US" sz="1100" b="0" noProof="1">
                <a:solidFill>
                  <a:srgbClr val="5B6977"/>
                </a:solidFill>
                <a:latin typeface="LXGW WenKai"/>
              </a:rPr>
              <a:t>RMSE 1.24 · log₁₊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783080"/>
            <a:ext cx="3246120" cy="178308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8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2" name="TextBox 11"/>
          <p:cNvSpPr txBox="1"/>
          <p:nvPr/>
        </p:nvSpPr>
        <p:spPr>
          <a:xfrm>
            <a:off x="4407408" y="1993392"/>
            <a:ext cx="3246120" cy="5486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lang="en-US" sz="4600" b="1" noProof="1">
                <a:solidFill>
                  <a:srgbClr val="1F76D3"/>
                </a:solidFill>
                <a:latin typeface="LXGW WenKai"/>
              </a:rPr>
              <a:t>0.48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7408" y="2743200"/>
            <a:ext cx="3246120" cy="23698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lang="en-US" sz="1300" b="1" noProof="1">
                <a:solidFill>
                  <a:srgbClr val="242931"/>
                </a:solidFill>
                <a:latin typeface="LXGW WenKai"/>
              </a:rPr>
              <a:t>R²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8" y="3054096"/>
            <a:ext cx="32461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lang="en-US" sz="1350" b="1" noProof="1">
                <a:solidFill>
                  <a:srgbClr val="242931"/>
                </a:solidFill>
                <a:latin typeface="LXGW WenKai"/>
              </a:rPr>
              <a:t>随机森林 RF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8" y="3310128"/>
            <a:ext cx="324612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lang="en-US" sz="1100" b="0" noProof="1">
                <a:solidFill>
                  <a:srgbClr val="5B6977"/>
                </a:solidFill>
                <a:latin typeface="LXGW WenKai"/>
              </a:rPr>
              <a:t>RMSE 1.27 · log₁₊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6448" y="1783080"/>
            <a:ext cx="3246120" cy="178308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8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7" name="TextBox 16"/>
          <p:cNvSpPr txBox="1"/>
          <p:nvPr/>
        </p:nvSpPr>
        <p:spPr>
          <a:xfrm>
            <a:off x="8156448" y="1993392"/>
            <a:ext cx="3246120" cy="5486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lang="en-US" sz="4600" b="1" noProof="1">
                <a:solidFill>
                  <a:srgbClr val="F28500"/>
                </a:solidFill>
                <a:latin typeface="LXGW WenKai"/>
              </a:rPr>
              <a:t>0.46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6448" y="2743200"/>
            <a:ext cx="3246120" cy="23698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lang="en-US" sz="1300" b="1" noProof="1">
                <a:solidFill>
                  <a:srgbClr val="242931"/>
                </a:solidFill>
                <a:latin typeface="LXGW WenKai"/>
              </a:rPr>
              <a:t>R²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6448" y="3054096"/>
            <a:ext cx="32461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lang="en-US" sz="1350" b="1" noProof="1">
                <a:solidFill>
                  <a:srgbClr val="242931"/>
                </a:solidFill>
                <a:latin typeface="LXGW WenKai"/>
              </a:rPr>
              <a:t>XGBoost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56448" y="3310128"/>
            <a:ext cx="324612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lang="en-US" sz="1100" b="0" noProof="1">
                <a:solidFill>
                  <a:srgbClr val="5B6977"/>
                </a:solidFill>
                <a:latin typeface="LXGW WenKai"/>
              </a:rPr>
              <a:t>RMSE 1.29 · log₁₊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069080"/>
            <a:ext cx="107442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22" name="TextBox 21"/>
          <p:cNvSpPr txBox="1"/>
          <p:nvPr/>
        </p:nvSpPr>
        <p:spPr>
          <a:xfrm>
            <a:off x="914400" y="4224528"/>
            <a:ext cx="1024128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lang="en-US" sz="1600" b="1" noProof="1">
                <a:solidFill>
                  <a:srgbClr val="242931"/>
                </a:solidFill>
                <a:latin typeface="LXGW WenKai"/>
              </a:rPr>
              <a:t>两个互补视角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572000"/>
            <a:ext cx="10241280" cy="25237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lang="en-US" sz="1400" b="1" noProof="1">
                <a:solidFill>
                  <a:srgbClr val="242931"/>
                </a:solidFill>
                <a:latin typeface="LXGW WenKai"/>
              </a:rPr>
              <a:t>分类</a:t>
            </a:r>
            <a:r>
              <a:rPr lang="en-US" sz="1400" b="0" noProof="1">
                <a:solidFill>
                  <a:srgbClr val="242931"/>
                </a:solidFill>
                <a:latin typeface="LXGW WenKai"/>
              </a:rPr>
              <a:t>回答会不会进前 20%（AUC 0.883）· </a:t>
            </a:r>
            <a:r>
              <a:rPr lang="en-US" sz="1400" b="1" noProof="1">
                <a:solidFill>
                  <a:srgbClr val="242931"/>
                </a:solidFill>
                <a:latin typeface="LXGW WenKai"/>
              </a:rPr>
              <a:t>回归</a:t>
            </a:r>
            <a:r>
              <a:rPr lang="en-US" sz="1400" b="0" noProof="1">
                <a:solidFill>
                  <a:srgbClr val="242931"/>
                </a:solidFill>
                <a:latin typeface="LXGW WenKai"/>
              </a:rPr>
              <a:t>回答能火到多大（R² ≈ 0.50）——</a:t>
            </a:r>
            <a:r>
              <a:rPr lang="en-US" sz="1400" b="1" noProof="1">
                <a:solidFill>
                  <a:srgbClr val="242931"/>
                </a:solidFill>
                <a:latin typeface="LXGW WenKai"/>
              </a:rPr>
              <a:t>同一套信号，两个互补答案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5840" y="5303520"/>
            <a:ext cx="10241280" cy="603504"/>
          </a:xfrm>
          <a:prstGeom prst="roundRect">
            <a:avLst/>
          </a:prstGeom>
          <a:solidFill>
            <a:srgbClr val="EDF7EF"/>
          </a:solidFill>
          <a:ln w="12700">
            <a:solidFill>
              <a:srgbClr val="BEE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25" name="TextBox 24"/>
          <p:cNvSpPr txBox="1"/>
          <p:nvPr/>
        </p:nvSpPr>
        <p:spPr>
          <a:xfrm>
            <a:off x="1298448" y="5458968"/>
            <a:ext cx="964692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lang="en-US" sz="1550" b="1" noProof="1">
                <a:solidFill>
                  <a:srgbClr val="242931"/>
                </a:solidFill>
                <a:latin typeface="LXGW WenKai"/>
              </a:rPr>
              <a:t>结论：早期行为不仅能区分头部项目，还能在一定程度上预测它们最终的热度量级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510528"/>
            <a:ext cx="640080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lang="en-US" sz="1100" b="0" noProof="1">
                <a:solidFill>
                  <a:srgbClr val="57606A"/>
                </a:solidFill>
                <a:latin typeface="LXGW WenKai"/>
              </a:rPr>
              <a:t>OpenClaw · 开源项目潜力发现系统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6510528"/>
            <a:ext cx="320040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lang="en-US" sz="1100" b="0" noProof="1">
                <a:solidFill>
                  <a:srgbClr val="57606A"/>
                </a:solidFill>
                <a:latin typeface="LXGW WenKai"/>
              </a:rPr>
              <a:t>Regression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182880"/>
            <a:ext cx="9509760" cy="54864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2500" b="1" noProof="1">
                <a:solidFill>
                  <a:srgbClr val="242A31"/>
                </a:solidFill>
                <a:latin typeface="LXGW WenKai"/>
              </a:rPr>
              <a:t>事实诊断 + 错误分析：OpenClaw 的不可替代性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274320"/>
            <a:ext cx="1828800" cy="31089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>
              <a:defRPr sz="1300">
                <a:solidFill>
                  <a:srgbClr val="57606A"/>
                </a:solidFill>
                <a:latin typeface="LXGW WenKai"/>
              </a:defRPr>
            </a:pPr>
            <a:r>
              <a:rPr lang="en-US" noProof="1"/>
              <a:t>13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841248"/>
            <a:ext cx="11064240" cy="11887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6" name="TextBox 5"/>
          <p:cNvSpPr txBox="1"/>
          <p:nvPr/>
        </p:nvSpPr>
        <p:spPr>
          <a:xfrm>
            <a:off x="566928" y="987552"/>
            <a:ext cx="10881360" cy="56692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lang="en-US" sz="1600" noProof="1">
                <a:solidFill>
                  <a:srgbClr val="242A31"/>
                </a:solidFill>
                <a:latin typeface="LXGW WenKai"/>
              </a:rPr>
              <a:t>单次问大模型也能写分析；OpenClaw 解决的是多步骤任务如何稳定运行、留下证据、复盘模型盲区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6400800" cy="21945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1100" b="0" noProof="1">
                <a:solidFill>
                  <a:srgbClr val="57606A"/>
                </a:solidFill>
                <a:latin typeface="LXGW WenKai"/>
                <a:ea typeface="LXGW WenKai"/>
                <a:cs typeface="LXGW WenKai"/>
              </a:rPr>
              <a:t>OpenClaw · 开源项目潜力发现系统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510528"/>
            <a:ext cx="3200400" cy="21945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/>
            <a:r>
              <a:rPr lang="en-US" sz="1100" b="0" noProof="1">
                <a:solidFill>
                  <a:srgbClr val="57606A"/>
                </a:solidFill>
                <a:latin typeface="LXGW WenKai"/>
              </a:rPr>
              <a:t>Why OpenClaw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83080"/>
            <a:ext cx="5440680" cy="2706624"/>
          </a:xfrm>
          <a:prstGeom prst="roundRect">
            <a:avLst>
              <a:gd name="adj" fmla="val 7000"/>
            </a:avLst>
          </a:prstGeom>
          <a:solidFill>
            <a:srgbClr val="F6F8FA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0" name="Rectangle 9"/>
          <p:cNvSpPr/>
          <p:nvPr/>
        </p:nvSpPr>
        <p:spPr>
          <a:xfrm>
            <a:off x="566928" y="1783080"/>
            <a:ext cx="5440680" cy="64008"/>
          </a:xfrm>
          <a:prstGeom prst="rect">
            <a:avLst/>
          </a:prstGeom>
          <a:solidFill>
            <a:srgbClr val="CF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1" name="TextBox 10"/>
          <p:cNvSpPr txBox="1"/>
          <p:nvPr/>
        </p:nvSpPr>
        <p:spPr>
          <a:xfrm>
            <a:off x="877824" y="1984248"/>
            <a:ext cx="4892040" cy="329184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1750" b="1" noProof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直接问大模型</a:t>
            </a:r>
          </a:p>
        </p:txBody>
      </p:sp>
      <p:sp>
        <p:nvSpPr>
          <p:cNvPr id="12" name="Oval 11"/>
          <p:cNvSpPr/>
          <p:nvPr/>
        </p:nvSpPr>
        <p:spPr>
          <a:xfrm>
            <a:off x="896112" y="2523744"/>
            <a:ext cx="237744" cy="237744"/>
          </a:xfrm>
          <a:prstGeom prst="ellipse">
            <a:avLst/>
          </a:prstGeom>
          <a:solidFill>
            <a:srgbClr val="FF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3" name="TextBox 12"/>
          <p:cNvSpPr txBox="1"/>
          <p:nvPr/>
        </p:nvSpPr>
        <p:spPr>
          <a:xfrm>
            <a:off x="896112" y="251460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400" b="1" noProof="1">
                <a:solidFill>
                  <a:srgbClr val="CF222E"/>
                </a:solidFill>
                <a:latin typeface="LXGW WenKai"/>
                <a:ea typeface="LXGW WenKai"/>
                <a:cs typeface="LXGW WenKai"/>
              </a:rPr>
              <a:t>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43584" y="2496312"/>
            <a:ext cx="4526280" cy="329184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1400" b="0" noProof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把结果文件丢给模型总结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2980944"/>
            <a:ext cx="237744" cy="237744"/>
          </a:xfrm>
          <a:prstGeom prst="ellipse">
            <a:avLst/>
          </a:prstGeom>
          <a:solidFill>
            <a:srgbClr val="FF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6" name="TextBox 15"/>
          <p:cNvSpPr txBox="1"/>
          <p:nvPr/>
        </p:nvSpPr>
        <p:spPr>
          <a:xfrm>
            <a:off x="896112" y="297180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400" b="1" noProof="1">
                <a:solidFill>
                  <a:srgbClr val="CF222E"/>
                </a:solidFill>
                <a:latin typeface="LXGW WenKai"/>
                <a:ea typeface="LXGW WenKai"/>
                <a:cs typeface="LXGW WenKai"/>
              </a:rPr>
              <a:t>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3584" y="2953512"/>
            <a:ext cx="4526280" cy="329184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1400" b="0" noProof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可能引用不存在的数字</a:t>
            </a:r>
          </a:p>
        </p:txBody>
      </p:sp>
      <p:sp>
        <p:nvSpPr>
          <p:cNvPr id="18" name="Oval 17"/>
          <p:cNvSpPr/>
          <p:nvPr/>
        </p:nvSpPr>
        <p:spPr>
          <a:xfrm>
            <a:off x="896112" y="3438144"/>
            <a:ext cx="237744" cy="237744"/>
          </a:xfrm>
          <a:prstGeom prst="ellipse">
            <a:avLst/>
          </a:prstGeom>
          <a:solidFill>
            <a:srgbClr val="FF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9" name="TextBox 18"/>
          <p:cNvSpPr txBox="1"/>
          <p:nvPr/>
        </p:nvSpPr>
        <p:spPr>
          <a:xfrm>
            <a:off x="896112" y="342900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400" b="1" noProof="1">
                <a:solidFill>
                  <a:srgbClr val="CF222E"/>
                </a:solidFill>
                <a:latin typeface="LXGW WenKai"/>
                <a:ea typeface="LXGW WenKai"/>
                <a:cs typeface="LXGW WenKai"/>
              </a:rPr>
              <a:t>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43584" y="3410712"/>
            <a:ext cx="4526280" cy="329184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1400" b="0" noProof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每次回答不一定一致</a:t>
            </a:r>
          </a:p>
        </p:txBody>
      </p:sp>
      <p:sp>
        <p:nvSpPr>
          <p:cNvPr id="21" name="Oval 20"/>
          <p:cNvSpPr/>
          <p:nvPr/>
        </p:nvSpPr>
        <p:spPr>
          <a:xfrm>
            <a:off x="896112" y="3895344"/>
            <a:ext cx="237744" cy="237744"/>
          </a:xfrm>
          <a:prstGeom prst="ellipse">
            <a:avLst/>
          </a:prstGeom>
          <a:solidFill>
            <a:srgbClr val="FF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22" name="TextBox 21"/>
          <p:cNvSpPr txBox="1"/>
          <p:nvPr/>
        </p:nvSpPr>
        <p:spPr>
          <a:xfrm>
            <a:off x="896112" y="388620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400" b="1" noProof="1">
                <a:solidFill>
                  <a:srgbClr val="CF222E"/>
                </a:solidFill>
                <a:latin typeface="LXGW WenKai"/>
                <a:ea typeface="LXGW WenKai"/>
                <a:cs typeface="LXGW WenKai"/>
              </a:rPr>
              <a:t>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43584" y="3867912"/>
            <a:ext cx="4526280" cy="329184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1400" b="0" noProof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难以接入完整流程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0488" y="1783080"/>
            <a:ext cx="5440680" cy="2706624"/>
          </a:xfrm>
          <a:prstGeom prst="roundRect">
            <a:avLst>
              <a:gd name="adj" fmla="val 7000"/>
            </a:avLst>
          </a:prstGeom>
          <a:solidFill>
            <a:srgbClr val="F1FBF5"/>
          </a:solidFill>
          <a:ln w="12700">
            <a:solidFill>
              <a:srgbClr val="2D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25" name="Rectangle 24"/>
          <p:cNvSpPr/>
          <p:nvPr/>
        </p:nvSpPr>
        <p:spPr>
          <a:xfrm>
            <a:off x="6190488" y="1783080"/>
            <a:ext cx="5440680" cy="64008"/>
          </a:xfrm>
          <a:prstGeom prst="rect">
            <a:avLst/>
          </a:prstGeom>
          <a:solidFill>
            <a:srgbClr val="2D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26" name="TextBox 25"/>
          <p:cNvSpPr txBox="1"/>
          <p:nvPr/>
        </p:nvSpPr>
        <p:spPr>
          <a:xfrm>
            <a:off x="6501384" y="1984248"/>
            <a:ext cx="4892040" cy="329184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1750" b="1" noProof="1">
                <a:solidFill>
                  <a:srgbClr val="2DA44E"/>
                </a:solidFill>
                <a:latin typeface="LXGW WenKai"/>
                <a:ea typeface="LXGW WenKai"/>
                <a:cs typeface="LXGW WenKai"/>
              </a:rPr>
              <a:t>OpenClaw 工作流</a:t>
            </a:r>
          </a:p>
        </p:txBody>
      </p:sp>
      <p:sp>
        <p:nvSpPr>
          <p:cNvPr id="27" name="Oval 26"/>
          <p:cNvSpPr/>
          <p:nvPr/>
        </p:nvSpPr>
        <p:spPr>
          <a:xfrm>
            <a:off x="6519672" y="2523744"/>
            <a:ext cx="237744" cy="237744"/>
          </a:xfrm>
          <a:prstGeom prst="ellipse">
            <a:avLst/>
          </a:prstGeom>
          <a:solidFill>
            <a:srgbClr val="2D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28" name="TextBox 27"/>
          <p:cNvSpPr txBox="1"/>
          <p:nvPr/>
        </p:nvSpPr>
        <p:spPr>
          <a:xfrm>
            <a:off x="6519672" y="251460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400" b="1" noProof="1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67144" y="2534715"/>
            <a:ext cx="4526280" cy="252377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1400" b="1" noProof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Skill 固定输入 / 输出契约</a:t>
            </a:r>
          </a:p>
        </p:txBody>
      </p:sp>
      <p:sp>
        <p:nvSpPr>
          <p:cNvPr id="30" name="Oval 29"/>
          <p:cNvSpPr/>
          <p:nvPr/>
        </p:nvSpPr>
        <p:spPr>
          <a:xfrm>
            <a:off x="6519672" y="2980944"/>
            <a:ext cx="237744" cy="237744"/>
          </a:xfrm>
          <a:prstGeom prst="ellipse">
            <a:avLst/>
          </a:prstGeom>
          <a:solidFill>
            <a:srgbClr val="2D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31" name="TextBox 30"/>
          <p:cNvSpPr txBox="1"/>
          <p:nvPr/>
        </p:nvSpPr>
        <p:spPr>
          <a:xfrm>
            <a:off x="6519672" y="297180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400" b="1" noProof="1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67144" y="2991915"/>
            <a:ext cx="4526280" cy="252377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1400" b="1" noProof="1">
                <a:solidFill>
                  <a:srgbClr val="242A31"/>
                </a:solidFill>
                <a:latin typeface="LXGW WenKai"/>
              </a:rPr>
              <a:t>先算事实摘要，再定位 FP/FN</a:t>
            </a:r>
          </a:p>
        </p:txBody>
      </p:sp>
      <p:sp>
        <p:nvSpPr>
          <p:cNvPr id="33" name="Oval 32"/>
          <p:cNvSpPr/>
          <p:nvPr/>
        </p:nvSpPr>
        <p:spPr>
          <a:xfrm>
            <a:off x="6519672" y="3438144"/>
            <a:ext cx="237744" cy="237744"/>
          </a:xfrm>
          <a:prstGeom prst="ellipse">
            <a:avLst/>
          </a:prstGeom>
          <a:solidFill>
            <a:srgbClr val="2D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34" name="TextBox 33"/>
          <p:cNvSpPr txBox="1"/>
          <p:nvPr/>
        </p:nvSpPr>
        <p:spPr>
          <a:xfrm>
            <a:off x="6519672" y="342900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400" b="1" noProof="1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67144" y="3410712"/>
            <a:ext cx="4526280" cy="329184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1400" b="1" noProof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引用数字必须能在事实里校验</a:t>
            </a:r>
          </a:p>
        </p:txBody>
      </p:sp>
      <p:sp>
        <p:nvSpPr>
          <p:cNvPr id="36" name="Oval 35"/>
          <p:cNvSpPr/>
          <p:nvPr/>
        </p:nvSpPr>
        <p:spPr>
          <a:xfrm>
            <a:off x="6519672" y="3895344"/>
            <a:ext cx="237744" cy="237744"/>
          </a:xfrm>
          <a:prstGeom prst="ellipse">
            <a:avLst/>
          </a:prstGeom>
          <a:solidFill>
            <a:srgbClr val="2D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37" name="TextBox 36"/>
          <p:cNvSpPr txBox="1"/>
          <p:nvPr/>
        </p:nvSpPr>
        <p:spPr>
          <a:xfrm>
            <a:off x="6519672" y="388620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400" b="1" noProof="1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67144" y="3867912"/>
            <a:ext cx="4526280" cy="329184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lang="en-US" sz="1400" b="1" noProof="1">
                <a:solidFill>
                  <a:srgbClr val="24292F"/>
                </a:solidFill>
                <a:latin typeface="LXGW WenKai"/>
                <a:ea typeface="LXGW WenKai"/>
                <a:cs typeface="LXGW WenKai"/>
              </a:rPr>
              <a:t>控制台展示状态与产物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6928" y="4736592"/>
            <a:ext cx="11064240" cy="768096"/>
          </a:xfrm>
          <a:prstGeom prst="roundRect">
            <a:avLst>
              <a:gd name="adj" fmla="val 12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40" name="TextBox 39"/>
          <p:cNvSpPr txBox="1"/>
          <p:nvPr/>
        </p:nvSpPr>
        <p:spPr>
          <a:xfrm>
            <a:off x="868680" y="4736592"/>
            <a:ext cx="2194560" cy="76809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sz="1400" b="1" noProof="1">
                <a:solidFill>
                  <a:srgbClr val="2DA44E"/>
                </a:solidFill>
                <a:latin typeface="LXGW WenKai"/>
                <a:ea typeface="LXGW WenKai"/>
                <a:cs typeface="LXGW WenKai"/>
              </a:rPr>
              <a:t>先算事实，</a:t>
            </a:r>
          </a:p>
          <a:p>
            <a:pPr algn="l">
              <a:lnSpc>
                <a:spcPct val="105000"/>
              </a:lnSpc>
            </a:pPr>
            <a:r>
              <a:rPr lang="en-US" sz="1400" b="1" noProof="1">
                <a:solidFill>
                  <a:srgbClr val="0969DA"/>
                </a:solidFill>
                <a:latin typeface="LXGW WenKai"/>
                <a:ea typeface="LXGW WenKai"/>
                <a:cs typeface="LXGW WenKai"/>
              </a:rPr>
              <a:t>再让模型解释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108960" y="4910328"/>
            <a:ext cx="1417320" cy="420623"/>
          </a:xfrm>
          <a:prstGeom prst="roundRect">
            <a:avLst>
              <a:gd name="adj" fmla="val 30000"/>
            </a:avLst>
          </a:prstGeom>
          <a:solidFill>
            <a:srgbClr val="8C97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42" name="TextBox 41"/>
          <p:cNvSpPr txBox="1"/>
          <p:nvPr/>
        </p:nvSpPr>
        <p:spPr>
          <a:xfrm>
            <a:off x="3108960" y="4910328"/>
            <a:ext cx="1417320" cy="420623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lang="en-US" sz="1400" b="1" noProof="1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结果文件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983480" y="4910328"/>
            <a:ext cx="2834640" cy="420623"/>
          </a:xfrm>
          <a:prstGeom prst="roundRect">
            <a:avLst>
              <a:gd name="adj" fmla="val 30000"/>
            </a:avLst>
          </a:prstGeom>
          <a:solidFill>
            <a:srgbClr val="2D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44" name="TextBox 43"/>
          <p:cNvSpPr txBox="1"/>
          <p:nvPr/>
        </p:nvSpPr>
        <p:spPr>
          <a:xfrm>
            <a:off x="4983480" y="4910328"/>
            <a:ext cx="2834640" cy="420623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lang="en-US" sz="1400" b="1" noProof="1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事实诊断 → 结构化事实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229600" y="4910328"/>
            <a:ext cx="2926080" cy="420623"/>
          </a:xfrm>
          <a:prstGeom prst="roundRect">
            <a:avLst>
              <a:gd name="adj" fmla="val 30000"/>
            </a:avLst>
          </a:prstGeom>
          <a:solidFill>
            <a:srgbClr val="096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46" name="TextBox 45"/>
          <p:cNvSpPr txBox="1"/>
          <p:nvPr/>
        </p:nvSpPr>
        <p:spPr>
          <a:xfrm>
            <a:off x="8229600" y="4994451"/>
            <a:ext cx="2926080" cy="252377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lang="en-US" sz="1400" b="1" noProof="1">
                <a:solidFill>
                  <a:srgbClr val="FFFFFF"/>
                </a:solidFill>
                <a:latin typeface="LXGW WenKai"/>
              </a:rPr>
              <a:t>洞察/误差 → 受约束解释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4626864" y="5029200"/>
            <a:ext cx="274320" cy="1828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8C97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48" name="Right Arrow 47"/>
          <p:cNvSpPr/>
          <p:nvPr/>
        </p:nvSpPr>
        <p:spPr>
          <a:xfrm>
            <a:off x="7882127" y="5029200"/>
            <a:ext cx="274320" cy="1828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8C97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49" name="Rounded Rectangle 48"/>
          <p:cNvSpPr/>
          <p:nvPr/>
        </p:nvSpPr>
        <p:spPr>
          <a:xfrm>
            <a:off x="566928" y="5687568"/>
            <a:ext cx="11064240" cy="566928"/>
          </a:xfrm>
          <a:prstGeom prst="roundRect">
            <a:avLst>
              <a:gd name="adj" fmla="val 20000"/>
            </a:avLst>
          </a:prstGeom>
          <a:solidFill>
            <a:srgbClr val="F1FBF5"/>
          </a:solidFill>
          <a:ln w="12700">
            <a:solidFill>
              <a:srgbClr val="2D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50" name="TextBox 49"/>
          <p:cNvSpPr txBox="1"/>
          <p:nvPr/>
        </p:nvSpPr>
        <p:spPr>
          <a:xfrm>
            <a:off x="822960" y="5829455"/>
            <a:ext cx="10552176" cy="283154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lang="en-US" sz="1600" b="1" noProof="1">
                <a:solidFill>
                  <a:srgbClr val="242A31"/>
                </a:solidFill>
                <a:latin typeface="LXGW WenKai"/>
              </a:rPr>
              <a:t>OpenClaw 把模型训练、聚类分析、错误案例和大模型解释组织成可审计、可复现的多智能体流程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ounded Rectangle 48">
            <a:extLst>
              <a:ext uri="{FF2B5EF4-FFF2-40B4-BE49-F238E27FC236}">
                <a16:creationId xmlns:a16="http://schemas.microsoft.com/office/drawing/2014/main" id="{6E3BA7AC-C258-79A2-AFF5-69CA7E8581B9}"/>
              </a:ext>
            </a:extLst>
          </p:cNvPr>
          <p:cNvSpPr/>
          <p:nvPr/>
        </p:nvSpPr>
        <p:spPr>
          <a:xfrm>
            <a:off x="644247" y="5897880"/>
            <a:ext cx="11064240" cy="528998"/>
          </a:xfrm>
          <a:prstGeom prst="roundRect">
            <a:avLst>
              <a:gd name="adj" fmla="val 20000"/>
            </a:avLst>
          </a:prstGeom>
          <a:solidFill>
            <a:srgbClr val="F1FBF5"/>
          </a:solidFill>
          <a:ln w="12700">
            <a:solidFill>
              <a:srgbClr val="2D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2" name="TextBox 1"/>
          <p:cNvSpPr txBox="1"/>
          <p:nvPr/>
        </p:nvSpPr>
        <p:spPr>
          <a:xfrm>
            <a:off x="566928" y="219456"/>
            <a:ext cx="9692640" cy="43891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r>
              <a:rPr lang="en-US" sz="2800" b="1" noProof="1">
                <a:solidFill>
                  <a:srgbClr val="242A31"/>
                </a:solidFill>
                <a:latin typeface="LXGW WenKai"/>
              </a:rPr>
              <a:t>聚类 + 错误分析：不仅看分数，也看模型盲区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61320" y="310896"/>
            <a:ext cx="1005840" cy="2743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r">
              <a:defRPr sz="1300">
                <a:solidFill>
                  <a:srgbClr val="57606A"/>
                </a:solidFill>
                <a:latin typeface="LXGW WenKai"/>
              </a:defRPr>
            </a:pPr>
            <a:r>
              <a:rPr lang="en-US" noProof="1"/>
              <a:t>14 / 18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04672"/>
            <a:ext cx="10789920" cy="9144"/>
          </a:xfrm>
          <a:prstGeom prst="rect">
            <a:avLst/>
          </a:prstGeom>
          <a:solidFill>
            <a:srgbClr val="D8E1EC"/>
          </a:solidFill>
          <a:ln>
            <a:solidFill>
              <a:srgbClr val="D8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5" name="TextBox 4"/>
          <p:cNvSpPr txBox="1"/>
          <p:nvPr/>
        </p:nvSpPr>
        <p:spPr>
          <a:xfrm>
            <a:off x="658368" y="1024128"/>
            <a:ext cx="10241280" cy="3139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lang="en-US" b="1" noProof="1">
                <a:solidFill>
                  <a:srgbClr val="242A31"/>
                </a:solidFill>
                <a:latin typeface="LXGW WenKai"/>
              </a:rPr>
              <a:t>Error-analyst </a:t>
            </a:r>
            <a:r>
              <a:rPr lang="en-US" b="0" noProof="1">
                <a:solidFill>
                  <a:srgbClr val="242A31"/>
                </a:solidFill>
                <a:latin typeface="LXGW WenKai"/>
              </a:rPr>
              <a:t>把模型的高置信错误单独拿出来分析，让结果从"跑分"变成"可复盘"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691640"/>
            <a:ext cx="22402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7" name="TextBox 6"/>
          <p:cNvSpPr txBox="1"/>
          <p:nvPr/>
        </p:nvSpPr>
        <p:spPr>
          <a:xfrm>
            <a:off x="886968" y="1856231"/>
            <a:ext cx="1920240" cy="31089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lang="en-US" sz="2400" b="1" noProof="1">
                <a:solidFill>
                  <a:srgbClr val="1F76D3"/>
                </a:solidFill>
                <a:latin typeface="LXGW WenKai"/>
              </a:rPr>
              <a:t>4 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267712"/>
            <a:ext cx="192024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lang="en-US" sz="1250" b="0" noProof="1">
                <a:solidFill>
                  <a:srgbClr val="5B6977"/>
                </a:solidFill>
                <a:latin typeface="LXGW WenKai"/>
              </a:rPr>
              <a:t>KMeans 行为模式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38727" y="1691640"/>
            <a:ext cx="22402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0" name="TextBox 9"/>
          <p:cNvSpPr txBox="1"/>
          <p:nvPr/>
        </p:nvSpPr>
        <p:spPr>
          <a:xfrm>
            <a:off x="4291298" y="1856231"/>
            <a:ext cx="689420" cy="406265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lang="en-US" sz="2400" b="1" noProof="1">
                <a:solidFill>
                  <a:srgbClr val="2DA44E"/>
                </a:solidFill>
                <a:latin typeface="LXGW WenKai"/>
              </a:rPr>
              <a:t>62%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75888" y="2304288"/>
            <a:ext cx="192024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lang="en-US" sz="1250" b="0" noProof="1">
                <a:solidFill>
                  <a:srgbClr val="5B6977"/>
                </a:solidFill>
                <a:latin typeface="LXGW WenKai"/>
              </a:rPr>
              <a:t>最高正例率 cluster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27648" y="1691640"/>
            <a:ext cx="22402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3" name="TextBox 12"/>
          <p:cNvSpPr txBox="1"/>
          <p:nvPr/>
        </p:nvSpPr>
        <p:spPr>
          <a:xfrm>
            <a:off x="7203649" y="1856231"/>
            <a:ext cx="442558" cy="406265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lang="en-US" sz="2400" b="1" noProof="1">
                <a:solidFill>
                  <a:srgbClr val="F28500"/>
                </a:solidFill>
                <a:latin typeface="LXGW WenKai"/>
              </a:rPr>
              <a:t>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2304288"/>
            <a:ext cx="192024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lang="en-US" sz="1250" b="0" noProof="1">
                <a:solidFill>
                  <a:srgbClr val="5B6977"/>
                </a:solidFill>
                <a:latin typeface="LXGW WenKai"/>
              </a:rPr>
              <a:t>高置信假阳性 FP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16567" y="1691640"/>
            <a:ext cx="22402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6" name="TextBox 15"/>
          <p:cNvSpPr txBox="1"/>
          <p:nvPr/>
        </p:nvSpPr>
        <p:spPr>
          <a:xfrm>
            <a:off x="9253728" y="1856231"/>
            <a:ext cx="1920240" cy="31089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lang="en-US" sz="2400" b="1" noProof="1">
                <a:solidFill>
                  <a:srgbClr val="7A45E5"/>
                </a:solidFill>
                <a:latin typeface="LXGW WenKai"/>
              </a:rPr>
              <a:t>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99448" y="2304288"/>
            <a:ext cx="192024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lang="en-US" sz="1250" b="0" noProof="1">
                <a:solidFill>
                  <a:srgbClr val="5B6977"/>
                </a:solidFill>
                <a:latin typeface="LXGW WenKai"/>
              </a:rPr>
              <a:t>低估但成功 FN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2971800"/>
            <a:ext cx="5120640" cy="25603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r>
              <a:rPr lang="en-US" sz="1600" b="1" noProof="1">
                <a:solidFill>
                  <a:srgbClr val="242A31"/>
                </a:solidFill>
                <a:latin typeface="LXGW WenKai"/>
              </a:rPr>
              <a:t>行为分群：同样是早期项目，成功率差异很大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2971800"/>
            <a:ext cx="4846320" cy="25603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r>
              <a:rPr lang="en-US" sz="1600" b="1" noProof="1">
                <a:solidFill>
                  <a:srgbClr val="242A31"/>
                </a:solidFill>
                <a:latin typeface="LXGW WenKai"/>
              </a:rPr>
              <a:t>错误分析：高分不一定成功，低分也可能爆发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46520" y="3401568"/>
            <a:ext cx="5074920" cy="914400"/>
          </a:xfrm>
          <a:prstGeom prst="roundRect">
            <a:avLst/>
          </a:prstGeom>
          <a:solidFill>
            <a:srgbClr val="FFF8EF"/>
          </a:solidFill>
          <a:ln w="12700">
            <a:solidFill>
              <a:srgbClr val="FFD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41" name="TextBox 40"/>
          <p:cNvSpPr txBox="1"/>
          <p:nvPr/>
        </p:nvSpPr>
        <p:spPr>
          <a:xfrm>
            <a:off x="6592824" y="3712464"/>
            <a:ext cx="713232" cy="25603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lang="en-US" sz="1800" b="1" noProof="1">
                <a:solidFill>
                  <a:srgbClr val="F28500"/>
                </a:solidFill>
                <a:latin typeface="LXGW WenKai"/>
              </a:rPr>
              <a:t>FP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52360" y="3465537"/>
            <a:ext cx="3937103" cy="638765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noProof="1">
                <a:solidFill>
                  <a:srgbClr val="242931"/>
                </a:solidFill>
                <a:latin typeface="LXGW WenKai"/>
              </a:rPr>
              <a:t>高活跃但未成功</a:t>
            </a:r>
            <a:endParaRPr lang="en-US" sz="1100" b="0" noProof="1">
              <a:solidFill>
                <a:srgbClr val="242A31"/>
              </a:solidFill>
              <a:latin typeface="LXGW WenKai"/>
            </a:endParaRPr>
          </a:p>
          <a:p>
            <a:pPr>
              <a:lnSpc>
                <a:spcPct val="150000"/>
              </a:lnSpc>
            </a:pPr>
            <a:r>
              <a:rPr lang="en-US" sz="1350" b="0" noProof="1">
                <a:solidFill>
                  <a:srgbClr val="5B6977"/>
                </a:solidFill>
                <a:latin typeface="LXGW WenKai"/>
              </a:rPr>
              <a:t>平均 31 提交 · 2 Issue → 最终 ~</a:t>
            </a:r>
            <a:r>
              <a:rPr lang="en-US" sz="1350" noProof="1">
                <a:solidFill>
                  <a:srgbClr val="5B6977"/>
                </a:solidFill>
                <a:latin typeface="LXGW WenKai"/>
              </a:rPr>
              <a:t>31</a:t>
            </a:r>
            <a:r>
              <a:rPr lang="en-US" sz="1350" b="0" noProof="1">
                <a:solidFill>
                  <a:srgbClr val="5B6977"/>
                </a:solidFill>
                <a:latin typeface="LXGW WenKai"/>
              </a:rPr>
              <a:t> 星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46520" y="4665976"/>
            <a:ext cx="5074920" cy="914400"/>
          </a:xfrm>
          <a:prstGeom prst="roundRect">
            <a:avLst/>
          </a:prstGeom>
          <a:solidFill>
            <a:srgbClr val="F5F1FF"/>
          </a:solidFill>
          <a:ln w="12700">
            <a:solidFill>
              <a:srgbClr val="D2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44" name="TextBox 43"/>
          <p:cNvSpPr txBox="1"/>
          <p:nvPr/>
        </p:nvSpPr>
        <p:spPr>
          <a:xfrm>
            <a:off x="6592824" y="4903720"/>
            <a:ext cx="713232" cy="25603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lang="en-US" sz="1800" b="1" noProof="1">
                <a:solidFill>
                  <a:srgbClr val="7A45E5"/>
                </a:solidFill>
                <a:latin typeface="LXGW WenKai"/>
              </a:rPr>
              <a:t>FN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47314" y="4705561"/>
            <a:ext cx="4119846" cy="638765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noProof="1">
                <a:solidFill>
                  <a:srgbClr val="242931"/>
                </a:solidFill>
                <a:latin typeface="LXGW WenKai"/>
              </a:rPr>
              <a:t>早期低调，后期爆发</a:t>
            </a:r>
            <a:endParaRPr lang="en-US" sz="1100" b="0" noProof="1">
              <a:solidFill>
                <a:srgbClr val="242A31"/>
              </a:solidFill>
              <a:latin typeface="LXGW WenKai"/>
            </a:endParaRPr>
          </a:p>
          <a:p>
            <a:pPr>
              <a:lnSpc>
                <a:spcPct val="150000"/>
              </a:lnSpc>
            </a:pPr>
            <a:r>
              <a:rPr lang="en-US" sz="1350" b="0" noProof="1">
                <a:solidFill>
                  <a:srgbClr val="5B6977"/>
                </a:solidFill>
                <a:latin typeface="LXGW WenKai"/>
              </a:rPr>
              <a:t>平均 26 提交 · 0 Issue → 最终 ~491 星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750194" y="6030126"/>
            <a:ext cx="8691610" cy="283154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lang="en-US" sz="1600" b="1" noProof="1">
                <a:solidFill>
                  <a:srgbClr val="242A31"/>
                </a:solidFill>
                <a:latin typeface="LXGW WenKai"/>
              </a:rPr>
              <a:t>模型的真正价值：不仅排序候选项目，还能定位哪些信号会误导模型、哪些潜力项目可能被遗漏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" y="6510528"/>
            <a:ext cx="640080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lang="en-US" sz="1100" b="0" noProof="1">
                <a:solidFill>
                  <a:srgbClr val="57606A"/>
                </a:solidFill>
                <a:latin typeface="LXGW WenKai"/>
              </a:rPr>
              <a:t>OpenClaw · 开源项目潜力发现系统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80" y="6510528"/>
            <a:ext cx="320040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r"/>
            <a:r>
              <a:rPr lang="en-US" sz="1100" b="0" noProof="1">
                <a:solidFill>
                  <a:srgbClr val="57606A"/>
                </a:solidFill>
                <a:latin typeface="LXGW WenKai"/>
              </a:rPr>
              <a:t>Clustering &amp; Error Analysis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49808" y="3419856"/>
            <a:ext cx="5166360" cy="365760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50" name="TextBox 49"/>
          <p:cNvSpPr txBox="1"/>
          <p:nvPr/>
        </p:nvSpPr>
        <p:spPr>
          <a:xfrm>
            <a:off x="868680" y="3465576"/>
            <a:ext cx="9144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lang="en-US" sz="1500" b="1" noProof="1">
                <a:solidFill>
                  <a:srgbClr val="5B6977"/>
                </a:solidFill>
                <a:latin typeface="LXGW WenKai"/>
              </a:rPr>
              <a:t>聚类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331720" y="3465576"/>
            <a:ext cx="9144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lang="en-US" sz="1500" b="1" noProof="1">
                <a:solidFill>
                  <a:srgbClr val="5B6977"/>
                </a:solidFill>
                <a:latin typeface="LXGW WenKai"/>
              </a:rPr>
              <a:t>仓库数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46120" y="3465576"/>
            <a:ext cx="9144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lang="en-US" sz="1500" b="1" noProof="1">
                <a:solidFill>
                  <a:srgbClr val="5B6977"/>
                </a:solidFill>
                <a:latin typeface="LXGW WenKai"/>
              </a:rPr>
              <a:t>正例率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69080" y="3465576"/>
            <a:ext cx="16459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lang="en-US" sz="1500" b="1" noProof="1">
                <a:solidFill>
                  <a:srgbClr val="5B6977"/>
                </a:solidFill>
                <a:latin typeface="LXGW WenKai"/>
              </a:rPr>
              <a:t>行为特征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49808" y="3840480"/>
            <a:ext cx="5166360" cy="420624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55" name="TextBox 54"/>
          <p:cNvSpPr txBox="1"/>
          <p:nvPr/>
        </p:nvSpPr>
        <p:spPr>
          <a:xfrm>
            <a:off x="868680" y="3913632"/>
            <a:ext cx="13716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lang="en-US" sz="1500" b="1" noProof="1">
                <a:solidFill>
                  <a:srgbClr val="242A31"/>
                </a:solidFill>
                <a:latin typeface="LXGW WenKai"/>
              </a:rPr>
              <a:t>Cluster 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31720" y="3913632"/>
            <a:ext cx="8686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lang="en-US" sz="1400" b="0" noProof="1">
                <a:solidFill>
                  <a:srgbClr val="5B6977"/>
                </a:solidFill>
                <a:latin typeface="LXGW WenKai"/>
              </a:rPr>
              <a:t>89 个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46120" y="3913632"/>
            <a:ext cx="77724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lang="en-US" sz="1500" b="1" noProof="1">
                <a:solidFill>
                  <a:srgbClr val="2DA44E"/>
                </a:solidFill>
                <a:latin typeface="LXGW WenKai"/>
              </a:rPr>
              <a:t>62%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069080" y="3913632"/>
            <a:ext cx="2331720" cy="2743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r>
              <a:rPr lang="en-US" sz="1350" b="0" noProof="1">
                <a:solidFill>
                  <a:srgbClr val="242931"/>
                </a:solidFill>
                <a:latin typeface="LXGW WenKai"/>
              </a:rPr>
              <a:t>中等活跃 · 文档完整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49808" y="4315968"/>
            <a:ext cx="5166360" cy="420624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60" name="TextBox 59"/>
          <p:cNvSpPr txBox="1"/>
          <p:nvPr/>
        </p:nvSpPr>
        <p:spPr>
          <a:xfrm>
            <a:off x="868680" y="4389120"/>
            <a:ext cx="13716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lang="en-US" sz="1500" b="1" noProof="1">
                <a:solidFill>
                  <a:srgbClr val="242A31"/>
                </a:solidFill>
                <a:latin typeface="LXGW WenKai"/>
              </a:rPr>
              <a:t>Cluster 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331720" y="4389120"/>
            <a:ext cx="8686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lang="en-US" sz="1400" b="0" noProof="1">
                <a:solidFill>
                  <a:srgbClr val="5B6977"/>
                </a:solidFill>
                <a:latin typeface="LXGW WenKai"/>
              </a:rPr>
              <a:t>62 个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46120" y="4389120"/>
            <a:ext cx="77724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lang="en-US" sz="1500" b="1" noProof="1">
                <a:solidFill>
                  <a:srgbClr val="2CA25F"/>
                </a:solidFill>
                <a:latin typeface="LXGW WenKai"/>
              </a:rPr>
              <a:t>40%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069080" y="4395216"/>
            <a:ext cx="1301573" cy="24468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lang="en-US" sz="1350" b="0" noProof="1">
                <a:solidFill>
                  <a:srgbClr val="242931"/>
                </a:solidFill>
                <a:latin typeface="LXGW WenKai"/>
              </a:rPr>
              <a:t>高提交 · 高 PR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49808" y="4791456"/>
            <a:ext cx="5166360" cy="420624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65" name="TextBox 64"/>
          <p:cNvSpPr txBox="1"/>
          <p:nvPr/>
        </p:nvSpPr>
        <p:spPr>
          <a:xfrm>
            <a:off x="868680" y="4864608"/>
            <a:ext cx="13716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lang="en-US" sz="1500" b="1" noProof="1">
                <a:solidFill>
                  <a:srgbClr val="242A31"/>
                </a:solidFill>
                <a:latin typeface="LXGW WenKai"/>
              </a:rPr>
              <a:t>Cluster 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331720" y="4864608"/>
            <a:ext cx="8686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lang="en-US" sz="1400" b="0" noProof="1">
                <a:solidFill>
                  <a:srgbClr val="5B6977"/>
                </a:solidFill>
                <a:latin typeface="LXGW WenKai"/>
              </a:rPr>
              <a:t>252 个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246120" y="4864608"/>
            <a:ext cx="77724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lang="en-US" sz="1500" b="1" noProof="1">
                <a:solidFill>
                  <a:srgbClr val="F28500"/>
                </a:solidFill>
                <a:latin typeface="LXGW WenKai"/>
              </a:rPr>
              <a:t>8%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069080" y="4864608"/>
            <a:ext cx="2331720" cy="2743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r>
              <a:rPr lang="en-US" sz="1400" b="0" noProof="1">
                <a:solidFill>
                  <a:srgbClr val="242A31"/>
                </a:solidFill>
                <a:latin typeface="LXGW WenKai"/>
              </a:rPr>
              <a:t>低协作 · 低互动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49808" y="5266944"/>
            <a:ext cx="5166360" cy="420624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70" name="TextBox 69"/>
          <p:cNvSpPr txBox="1"/>
          <p:nvPr/>
        </p:nvSpPr>
        <p:spPr>
          <a:xfrm>
            <a:off x="868680" y="5340096"/>
            <a:ext cx="13716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lang="en-US" sz="1500" b="1" noProof="1">
                <a:solidFill>
                  <a:srgbClr val="242A31"/>
                </a:solidFill>
                <a:latin typeface="LXGW WenKai"/>
              </a:rPr>
              <a:t>Cluster 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331720" y="5340096"/>
            <a:ext cx="8686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lang="en-US" sz="1400" b="0" noProof="1">
                <a:solidFill>
                  <a:srgbClr val="5B6977"/>
                </a:solidFill>
                <a:latin typeface="LXGW WenKai"/>
              </a:rPr>
              <a:t>97 个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246120" y="5340096"/>
            <a:ext cx="77724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lang="en-US" sz="1500" b="1" noProof="1">
                <a:solidFill>
                  <a:srgbClr val="CF222E"/>
                </a:solidFill>
                <a:latin typeface="LXGW WenKai"/>
              </a:rPr>
              <a:t>2%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069080" y="5340096"/>
            <a:ext cx="2331720" cy="2743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r>
              <a:rPr lang="en-US" sz="1400" b="0" noProof="1">
                <a:solidFill>
                  <a:srgbClr val="242A31"/>
                </a:solidFill>
                <a:latin typeface="LXGW WenKai"/>
              </a:rPr>
              <a:t>几乎无 issue / PR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969264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400" b="1">
                <a:solidFill>
                  <a:srgbClr val="24292F"/>
                </a:solidFill>
                <a:latin typeface="LXGW WenKai"/>
              </a:defRPr>
            </a:pPr>
            <a:r>
              <a:t>大模型对比：同一份事实，谁的分析最可靠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61320" y="310896"/>
            <a:ext cx="10058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0">
                <a:solidFill>
                  <a:srgbClr val="57606A"/>
                </a:solidFill>
                <a:latin typeface="LXGW WenKai"/>
              </a:defRPr>
            </a:pPr>
            <a:r>
              <a:t>15 / 18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41248"/>
            <a:ext cx="11018520" cy="9144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640080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0">
                <a:solidFill>
                  <a:srgbClr val="57606A"/>
                </a:solidFill>
                <a:latin typeface="LXGW WenKai"/>
              </a:defRPr>
            </a:pPr>
            <a:r>
              <a:t>OpenClaw · 开源项目潜力发现系统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6510528"/>
            <a:ext cx="320040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0">
                <a:solidFill>
                  <a:srgbClr val="57606A"/>
                </a:solidFill>
                <a:latin typeface="LXGW WenKai"/>
              </a:defRPr>
            </a:pPr>
            <a:r>
              <a:t>LLM 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042415"/>
            <a:ext cx="10515600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700" b="1">
                <a:solidFill>
                  <a:srgbClr val="24292F"/>
                </a:solidFill>
                <a:latin typeface="LXGW WenKai"/>
              </a:defRPr>
            </a:pPr>
            <a:r>
              <a:t>洞察 Agent：结构化事实摘要 + RAG 优化；既看“引用是否准确”，也看“事实分析任务”的分类效果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64208"/>
            <a:ext cx="3246120" cy="123444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1775694"/>
            <a:ext cx="2880360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3000" b="1">
                <a:solidFill>
                  <a:srgbClr val="0969DA"/>
                </a:solidFill>
                <a:latin typeface="LXGW WenKai"/>
              </a:defRPr>
            </a:pPr>
            <a:r>
              <a:rPr dirty="0"/>
              <a:t>98.6%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304288"/>
            <a:ext cx="288036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200" b="1">
                <a:solidFill>
                  <a:srgbClr val="24292F"/>
                </a:solidFill>
                <a:latin typeface="LXGW WenKai"/>
              </a:defRPr>
            </a:pPr>
            <a:r>
              <a:t>引用准确率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542032"/>
            <a:ext cx="288036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200" b="1">
                <a:solidFill>
                  <a:srgbClr val="24292F"/>
                </a:solidFill>
                <a:latin typeface="LXGW WenKai"/>
              </a:defRPr>
            </a:pPr>
            <a:r>
              <a:t>DeepSeek V4 Pro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761488"/>
            <a:ext cx="2880360" cy="1280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 b="0">
                <a:solidFill>
                  <a:srgbClr val="57606A"/>
                </a:solidFill>
                <a:latin typeface="LXGW WenKai"/>
              </a:defRPr>
            </a:pPr>
            <a:r>
              <a:t>146 引用 · 2 处偏差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7" y="1664208"/>
            <a:ext cx="3246120" cy="1234440"/>
          </a:xfrm>
          <a:prstGeom prst="roundRect">
            <a:avLst/>
          </a:prstGeom>
          <a:solidFill>
            <a:srgbClr val="EAF6E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21707" y="1775694"/>
            <a:ext cx="2880360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3000" b="1">
                <a:solidFill>
                  <a:srgbClr val="2CA25F"/>
                </a:solidFill>
                <a:latin typeface="LXGW WenKai"/>
              </a:defRPr>
            </a:pPr>
            <a:r>
              <a:t>98.7%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304288"/>
            <a:ext cx="288036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200" b="1">
                <a:solidFill>
                  <a:srgbClr val="24292F"/>
                </a:solidFill>
                <a:latin typeface="LXGW WenKai"/>
              </a:defRPr>
            </a:pPr>
            <a:r>
              <a:t>引用准确率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2542032"/>
            <a:ext cx="288036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200" b="1">
                <a:solidFill>
                  <a:srgbClr val="24292F"/>
                </a:solidFill>
                <a:latin typeface="LXGW WenKai"/>
              </a:defRPr>
            </a:pPr>
            <a:r>
              <a:t>Kimi K2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2761488"/>
            <a:ext cx="2880360" cy="1280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 b="0">
                <a:solidFill>
                  <a:srgbClr val="57606A"/>
                </a:solidFill>
                <a:latin typeface="LXGW WenKai"/>
              </a:defRPr>
            </a:pPr>
            <a:r>
              <a:t>77 引用 · 1 偏差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56448" y="1664208"/>
            <a:ext cx="3246120" cy="1234440"/>
          </a:xfrm>
          <a:prstGeom prst="roundRect">
            <a:avLst/>
          </a:prstGeom>
          <a:solidFill>
            <a:srgbClr val="FFF5E6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21040" y="1760572"/>
            <a:ext cx="2880360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3000" b="1">
                <a:solidFill>
                  <a:srgbClr val="FB8500"/>
                </a:solidFill>
                <a:latin typeface="LXGW WenKai"/>
              </a:defRPr>
            </a:pPr>
            <a:r>
              <a:rPr dirty="0"/>
              <a:t>99.1%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2304288"/>
            <a:ext cx="288036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200" b="1">
                <a:solidFill>
                  <a:srgbClr val="24292F"/>
                </a:solidFill>
                <a:latin typeface="LXGW WenKai"/>
              </a:defRPr>
            </a:pPr>
            <a:r>
              <a:t>引用准确率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3608" y="2542032"/>
            <a:ext cx="288036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200" b="1">
                <a:solidFill>
                  <a:srgbClr val="24292F"/>
                </a:solidFill>
                <a:latin typeface="LXGW WenKai"/>
              </a:defRPr>
            </a:pPr>
            <a:r>
              <a:t>Qwen3.7 Max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3608" y="2761488"/>
            <a:ext cx="2880360" cy="1280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 b="0">
                <a:solidFill>
                  <a:srgbClr val="57606A"/>
                </a:solidFill>
                <a:latin typeface="LXGW WenKai"/>
              </a:defRPr>
            </a:pPr>
            <a:r>
              <a:t>108 引用 · 1 偏差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5216" y="3282696"/>
            <a:ext cx="10588752" cy="2212848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97280" y="3438144"/>
            <a:ext cx="1256754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 b="1">
                <a:solidFill>
                  <a:srgbClr val="24292F"/>
                </a:solidFill>
                <a:latin typeface="LXGW WenKai"/>
              </a:defRPr>
            </a:pPr>
            <a:r>
              <a:rPr dirty="0" err="1"/>
              <a:t>事实分析可靠性</a:t>
            </a:r>
            <a:endParaRPr dirty="0"/>
          </a:p>
        </p:txBody>
      </p:sp>
      <p:sp>
        <p:nvSpPr>
          <p:cNvPr id="25" name="TextBox 24"/>
          <p:cNvSpPr txBox="1"/>
          <p:nvPr/>
        </p:nvSpPr>
        <p:spPr>
          <a:xfrm>
            <a:off x="6629400" y="3456432"/>
            <a:ext cx="33832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0">
                <a:solidFill>
                  <a:srgbClr val="57606A"/>
                </a:solidFill>
                <a:latin typeface="LXGW WenKai"/>
              </a:defRPr>
            </a:pPr>
            <a:r>
              <a:t>结构化事实摘要驱动的分析评测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52828" y="3721608"/>
            <a:ext cx="2423160" cy="384048"/>
          </a:xfrm>
          <a:prstGeom prst="rect">
            <a:avLst/>
          </a:prstGeom>
          <a:solidFill>
            <a:srgbClr val="F8EFE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098548" y="3794761"/>
            <a:ext cx="2331720" cy="29260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defRPr sz="1300" b="1">
                <a:solidFill>
                  <a:srgbClr val="24292F"/>
                </a:solidFill>
                <a:latin typeface="LXGW WenKai"/>
              </a:defRPr>
            </a:pPr>
            <a:r>
              <a:t>模型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75988" y="3721608"/>
            <a:ext cx="1325880" cy="384048"/>
          </a:xfrm>
          <a:prstGeom prst="rect">
            <a:avLst/>
          </a:prstGeom>
          <a:solidFill>
            <a:srgbClr val="F8EFE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21707" y="3794761"/>
            <a:ext cx="1234439" cy="29260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1300" b="1">
                <a:solidFill>
                  <a:srgbClr val="24292F"/>
                </a:solidFill>
                <a:latin typeface="LXGW WenKai"/>
              </a:defRPr>
            </a:pPr>
            <a:r>
              <a:t>准确率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01868" y="3721608"/>
            <a:ext cx="1325880" cy="384048"/>
          </a:xfrm>
          <a:prstGeom prst="rect">
            <a:avLst/>
          </a:prstGeom>
          <a:solidFill>
            <a:srgbClr val="F8EFE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847587" y="3794761"/>
            <a:ext cx="1234439" cy="29260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1300" b="1">
                <a:solidFill>
                  <a:srgbClr val="24292F"/>
                </a:solidFill>
                <a:latin typeface="LXGW WenKai"/>
              </a:defRPr>
            </a:pPr>
            <a:r>
              <a:t>精确率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27748" y="3721608"/>
            <a:ext cx="1325880" cy="384048"/>
          </a:xfrm>
          <a:prstGeom prst="rect">
            <a:avLst/>
          </a:prstGeom>
          <a:solidFill>
            <a:srgbClr val="F8EFE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173468" y="3794761"/>
            <a:ext cx="1234439" cy="29260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1300" b="1">
                <a:solidFill>
                  <a:srgbClr val="24292F"/>
                </a:solidFill>
                <a:latin typeface="LXGW WenKai"/>
              </a:defRPr>
            </a:pPr>
            <a:r>
              <a:t>召回率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53628" y="3721608"/>
            <a:ext cx="1325880" cy="384048"/>
          </a:xfrm>
          <a:prstGeom prst="rect">
            <a:avLst/>
          </a:prstGeom>
          <a:solidFill>
            <a:srgbClr val="F8EFE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499348" y="3794761"/>
            <a:ext cx="1234439" cy="29260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1300" b="1">
                <a:solidFill>
                  <a:srgbClr val="24292F"/>
                </a:solidFill>
                <a:latin typeface="LXGW WenKai"/>
              </a:defRPr>
            </a:pPr>
            <a:r>
              <a:t>F1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052828" y="4105657"/>
            <a:ext cx="2423160" cy="384048"/>
          </a:xfrm>
          <a:prstGeom prst="rect">
            <a:avLst/>
          </a:prstGeom>
          <a:solidFill>
            <a:srgbClr val="EAF6E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098548" y="4178809"/>
            <a:ext cx="2331720" cy="29260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defRPr sz="1200" b="1">
                <a:solidFill>
                  <a:srgbClr val="24292F"/>
                </a:solidFill>
                <a:latin typeface="LXGW WenKai"/>
              </a:defRPr>
            </a:pPr>
            <a:r>
              <a:t>DeepSeek V4 Pro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75988" y="4105657"/>
            <a:ext cx="1325880" cy="384048"/>
          </a:xfrm>
          <a:prstGeom prst="rect">
            <a:avLst/>
          </a:prstGeom>
          <a:solidFill>
            <a:srgbClr val="EAF6E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21707" y="4178809"/>
            <a:ext cx="1234439" cy="29260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1200" b="1">
                <a:solidFill>
                  <a:srgbClr val="24292F"/>
                </a:solidFill>
                <a:latin typeface="LXGW WenKai"/>
              </a:defRPr>
            </a:pPr>
            <a:r>
              <a:t>86.0%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01868" y="4105657"/>
            <a:ext cx="1325880" cy="384048"/>
          </a:xfrm>
          <a:prstGeom prst="rect">
            <a:avLst/>
          </a:prstGeom>
          <a:solidFill>
            <a:srgbClr val="EAF6E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847587" y="4178809"/>
            <a:ext cx="1234439" cy="29260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1200" b="1">
                <a:solidFill>
                  <a:srgbClr val="24292F"/>
                </a:solidFill>
                <a:latin typeface="LXGW WenKai"/>
              </a:defRPr>
            </a:pPr>
            <a:r>
              <a:t>71.4%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127748" y="4105657"/>
            <a:ext cx="1325880" cy="384048"/>
          </a:xfrm>
          <a:prstGeom prst="rect">
            <a:avLst/>
          </a:prstGeom>
          <a:solidFill>
            <a:srgbClr val="EAF6E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173468" y="4178809"/>
            <a:ext cx="1234439" cy="29260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1200" b="0">
                <a:solidFill>
                  <a:srgbClr val="24292F"/>
                </a:solidFill>
                <a:latin typeface="LXGW WenKai"/>
              </a:defRPr>
            </a:pPr>
            <a:r>
              <a:t>55.0%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53628" y="4105657"/>
            <a:ext cx="1325880" cy="384048"/>
          </a:xfrm>
          <a:prstGeom prst="rect">
            <a:avLst/>
          </a:prstGeom>
          <a:solidFill>
            <a:srgbClr val="EAF6E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499348" y="4178809"/>
            <a:ext cx="1234439" cy="29260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1200" b="1">
                <a:solidFill>
                  <a:srgbClr val="24292F"/>
                </a:solidFill>
                <a:latin typeface="LXGW WenKai"/>
              </a:defRPr>
            </a:pPr>
            <a:r>
              <a:t>62.5%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052828" y="4489705"/>
            <a:ext cx="2423160" cy="384048"/>
          </a:xfrm>
          <a:prstGeom prst="rect">
            <a:avLst/>
          </a:prstGeom>
          <a:solidFill>
            <a:srgbClr val="FFF5E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098548" y="4562857"/>
            <a:ext cx="2331720" cy="29260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defRPr sz="1200" b="1">
                <a:solidFill>
                  <a:srgbClr val="24292F"/>
                </a:solidFill>
                <a:latin typeface="LXGW WenKai"/>
              </a:defRPr>
            </a:pPr>
            <a:r>
              <a:t>Kimi K2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475988" y="4489705"/>
            <a:ext cx="1325880" cy="384048"/>
          </a:xfrm>
          <a:prstGeom prst="rect">
            <a:avLst/>
          </a:prstGeom>
          <a:solidFill>
            <a:srgbClr val="FFF5E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521707" y="4562857"/>
            <a:ext cx="1234439" cy="29260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1200" b="0">
                <a:solidFill>
                  <a:srgbClr val="24292F"/>
                </a:solidFill>
                <a:latin typeface="LXGW WenKai"/>
              </a:defRPr>
            </a:pPr>
            <a:r>
              <a:t>76.0%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801868" y="4489705"/>
            <a:ext cx="1325880" cy="384048"/>
          </a:xfrm>
          <a:prstGeom prst="rect">
            <a:avLst/>
          </a:prstGeom>
          <a:solidFill>
            <a:srgbClr val="FFF5E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847587" y="4562857"/>
            <a:ext cx="1234439" cy="29260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1200" b="0">
                <a:solidFill>
                  <a:srgbClr val="24292F"/>
                </a:solidFill>
                <a:latin typeface="LXGW WenKai"/>
              </a:defRPr>
            </a:pPr>
            <a:r>
              <a:t>42.9%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27748" y="4489705"/>
            <a:ext cx="1325880" cy="384048"/>
          </a:xfrm>
          <a:prstGeom prst="rect">
            <a:avLst/>
          </a:prstGeom>
          <a:solidFill>
            <a:srgbClr val="FFF5E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173468" y="4562857"/>
            <a:ext cx="1234439" cy="29260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1200" b="1">
                <a:solidFill>
                  <a:srgbClr val="24292F"/>
                </a:solidFill>
                <a:latin typeface="LXGW WenKai"/>
              </a:defRPr>
            </a:pPr>
            <a:r>
              <a:t>60.0%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453628" y="4489705"/>
            <a:ext cx="1325880" cy="384048"/>
          </a:xfrm>
          <a:prstGeom prst="rect">
            <a:avLst/>
          </a:prstGeom>
          <a:solidFill>
            <a:srgbClr val="FFF5E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499348" y="4562857"/>
            <a:ext cx="1234439" cy="29260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1200" b="0">
                <a:solidFill>
                  <a:srgbClr val="24292F"/>
                </a:solidFill>
                <a:latin typeface="LXGW WenKai"/>
              </a:defRPr>
            </a:pPr>
            <a:r>
              <a:t>50.0%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052828" y="4873753"/>
            <a:ext cx="2423160" cy="384048"/>
          </a:xfrm>
          <a:prstGeom prst="rect">
            <a:avLst/>
          </a:prstGeom>
          <a:solidFill>
            <a:srgbClr val="EAF2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098548" y="4946905"/>
            <a:ext cx="2331720" cy="29260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defRPr sz="1200" b="1">
                <a:solidFill>
                  <a:srgbClr val="24292F"/>
                </a:solidFill>
                <a:latin typeface="LXGW WenKai"/>
              </a:defRPr>
            </a:pPr>
            <a:r>
              <a:t>Qwen3.7 Max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475988" y="4873753"/>
            <a:ext cx="1325880" cy="384048"/>
          </a:xfrm>
          <a:prstGeom prst="rect">
            <a:avLst/>
          </a:prstGeom>
          <a:solidFill>
            <a:srgbClr val="EAF2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521707" y="4946905"/>
            <a:ext cx="1234439" cy="29260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1200" b="0">
                <a:solidFill>
                  <a:srgbClr val="24292F"/>
                </a:solidFill>
                <a:latin typeface="LXGW WenKai"/>
              </a:defRPr>
            </a:pPr>
            <a:r>
              <a:t>78.0%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801868" y="4873753"/>
            <a:ext cx="1325880" cy="384048"/>
          </a:xfrm>
          <a:prstGeom prst="rect">
            <a:avLst/>
          </a:prstGeom>
          <a:solidFill>
            <a:srgbClr val="EAF2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847587" y="4946905"/>
            <a:ext cx="1234439" cy="29260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1200" b="0">
                <a:solidFill>
                  <a:srgbClr val="24292F"/>
                </a:solidFill>
                <a:latin typeface="LXGW WenKai"/>
              </a:defRPr>
            </a:pPr>
            <a:r>
              <a:t>42.9%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127748" y="4873753"/>
            <a:ext cx="1325880" cy="384048"/>
          </a:xfrm>
          <a:prstGeom prst="rect">
            <a:avLst/>
          </a:prstGeom>
          <a:solidFill>
            <a:srgbClr val="EAF2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173468" y="4946905"/>
            <a:ext cx="1234439" cy="29260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1200" b="0">
                <a:solidFill>
                  <a:srgbClr val="24292F"/>
                </a:solidFill>
                <a:latin typeface="LXGW WenKai"/>
              </a:defRPr>
            </a:pPr>
            <a:r>
              <a:t>30.0%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453628" y="4873753"/>
            <a:ext cx="1325880" cy="384048"/>
          </a:xfrm>
          <a:prstGeom prst="rect">
            <a:avLst/>
          </a:prstGeom>
          <a:solidFill>
            <a:srgbClr val="EAF2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499348" y="4946905"/>
            <a:ext cx="1234439" cy="29260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1200" b="0">
                <a:solidFill>
                  <a:srgbClr val="24292F"/>
                </a:solidFill>
                <a:latin typeface="LXGW WenKai"/>
              </a:defRPr>
            </a:pPr>
            <a:r>
              <a:t>35.3%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234440" y="5715000"/>
            <a:ext cx="9692640" cy="438912"/>
          </a:xfrm>
          <a:prstGeom prst="roundRect">
            <a:avLst/>
          </a:prstGeom>
          <a:solidFill>
            <a:srgbClr val="FFF5E6"/>
          </a:solidFill>
          <a:ln w="12700">
            <a:solidFill>
              <a:srgbClr val="FFD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436297" y="5852160"/>
            <a:ext cx="9279784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080" b="1">
                <a:solidFill>
                  <a:srgbClr val="24292F"/>
                </a:solidFill>
                <a:latin typeface="LXGW WenKai"/>
              </a:defRPr>
            </a:pPr>
            <a:r>
              <a:rPr sz="1400" dirty="0"/>
              <a:t>结论：引用准确率衡量“</a:t>
            </a:r>
            <a:r>
              <a:rPr sz="1400" dirty="0" err="1"/>
              <a:t>有没有编错数字</a:t>
            </a:r>
            <a:r>
              <a:rPr sz="1400" dirty="0"/>
              <a:t>”；事实分析表衡量“</a:t>
            </a:r>
            <a:r>
              <a:rPr sz="1400" dirty="0" err="1"/>
              <a:t>能否正确判断事实</a:t>
            </a:r>
            <a:r>
              <a:rPr sz="1400" dirty="0"/>
              <a:t>”。DeepSeek </a:t>
            </a:r>
            <a:r>
              <a:rPr sz="1400" dirty="0" err="1"/>
              <a:t>综合最好，Kimi</a:t>
            </a:r>
            <a:r>
              <a:rPr sz="1400" dirty="0"/>
              <a:t> </a:t>
            </a:r>
            <a:r>
              <a:rPr sz="1400" dirty="0" err="1"/>
              <a:t>召回更高</a:t>
            </a:r>
            <a:endParaRPr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ounded Rectangle 22">
            <a:extLst>
              <a:ext uri="{FF2B5EF4-FFF2-40B4-BE49-F238E27FC236}">
                <a16:creationId xmlns:a16="http://schemas.microsoft.com/office/drawing/2014/main" id="{412178D2-50A8-B11F-E2BE-B421653A1125}"/>
              </a:ext>
            </a:extLst>
          </p:cNvPr>
          <p:cNvSpPr/>
          <p:nvPr/>
        </p:nvSpPr>
        <p:spPr>
          <a:xfrm>
            <a:off x="3345984" y="5154443"/>
            <a:ext cx="6196584" cy="1670216"/>
          </a:xfrm>
          <a:prstGeom prst="roundRect">
            <a:avLst>
              <a:gd name="adj" fmla="val 10000"/>
            </a:avLst>
          </a:prstGeom>
          <a:noFill/>
          <a:ln w="1016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9692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300" b="1" noProof="1">
                <a:solidFill>
                  <a:srgbClr val="242A31"/>
                </a:solidFill>
                <a:latin typeface="LXGW WenKai"/>
              </a:rPr>
              <a:t>Today Radar：把模型用于今天的候选发现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310896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1300">
                <a:solidFill>
                  <a:srgbClr val="57606A"/>
                </a:solidFill>
                <a:latin typeface="LXGW WenKai"/>
              </a:defRPr>
            </a:pPr>
            <a:r>
              <a:rPr lang="en-US" noProof="1"/>
              <a:t>16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841248"/>
            <a:ext cx="11064240" cy="10972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6" name="TextBox 5"/>
          <p:cNvSpPr txBox="1"/>
          <p:nvPr/>
        </p:nvSpPr>
        <p:spPr>
          <a:xfrm>
            <a:off x="658368" y="1024128"/>
            <a:ext cx="104241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600" noProof="1">
                <a:solidFill>
                  <a:srgbClr val="242A31"/>
                </a:solidFill>
                <a:latin typeface="LXGW WenKai"/>
              </a:rPr>
              <a:t>应用层不重新发明模型，而是复用同一套 19 个特征、训练好的模型文件、动态阈值和错误分析经验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4712" y="1522707"/>
            <a:ext cx="914400" cy="585216"/>
          </a:xfrm>
          <a:prstGeom prst="roundRect">
            <a:avLst>
              <a:gd name="adj" fmla="val 10000"/>
            </a:avLst>
          </a:prstGeom>
          <a:solidFill>
            <a:srgbClr val="2D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8" name="TextBox 7"/>
          <p:cNvSpPr txBox="1"/>
          <p:nvPr/>
        </p:nvSpPr>
        <p:spPr>
          <a:xfrm>
            <a:off x="1124712" y="1650723"/>
            <a:ext cx="914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600" b="1" i="0" noProof="1">
                <a:solidFill>
                  <a:srgbClr val="FFFFFF"/>
                </a:solidFill>
                <a:latin typeface="LXGW WenKa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1504419"/>
            <a:ext cx="34747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700" b="1" i="0" noProof="1">
                <a:solidFill>
                  <a:srgbClr val="24292F"/>
                </a:solidFill>
                <a:latin typeface="LXGW WenKai"/>
              </a:rPr>
              <a:t>近期仓库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70179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00" b="0" i="0" noProof="1">
                <a:solidFill>
                  <a:srgbClr val="57606A"/>
                </a:solidFill>
                <a:latin typeface="LXGW WenKai"/>
              </a:rPr>
              <a:t>创建 30-45 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24712" y="2455395"/>
            <a:ext cx="914400" cy="585216"/>
          </a:xfrm>
          <a:prstGeom prst="roundRect">
            <a:avLst>
              <a:gd name="adj" fmla="val 10000"/>
            </a:avLst>
          </a:prstGeom>
          <a:solidFill>
            <a:srgbClr val="096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2" name="TextBox 11"/>
          <p:cNvSpPr txBox="1"/>
          <p:nvPr/>
        </p:nvSpPr>
        <p:spPr>
          <a:xfrm>
            <a:off x="1124712" y="2583411"/>
            <a:ext cx="914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600" b="1" i="0" noProof="1">
                <a:solidFill>
                  <a:srgbClr val="FFFFFF"/>
                </a:solidFill>
                <a:latin typeface="LXGW WenKa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2437107"/>
            <a:ext cx="34747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700" b="1" i="0" noProof="1">
                <a:solidFill>
                  <a:srgbClr val="24292F"/>
                </a:solidFill>
                <a:latin typeface="LXGW WenKai"/>
              </a:rPr>
              <a:t>特征对齐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802867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00" b="0" i="0" noProof="1">
                <a:solidFill>
                  <a:srgbClr val="57606A"/>
                </a:solidFill>
                <a:latin typeface="LXGW WenKai"/>
              </a:rPr>
              <a:t>同一套 19 个特征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24712" y="3388082"/>
            <a:ext cx="914400" cy="585216"/>
          </a:xfrm>
          <a:prstGeom prst="roundRect">
            <a:avLst>
              <a:gd name="adj" fmla="val 10000"/>
            </a:avLst>
          </a:prstGeom>
          <a:solidFill>
            <a:srgbClr val="FB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6" name="TextBox 15"/>
          <p:cNvSpPr txBox="1"/>
          <p:nvPr/>
        </p:nvSpPr>
        <p:spPr>
          <a:xfrm>
            <a:off x="1124712" y="3516098"/>
            <a:ext cx="914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600" b="1" i="0" noProof="1">
                <a:solidFill>
                  <a:srgbClr val="FFFFFF"/>
                </a:solidFill>
                <a:latin typeface="LXGW WenKa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3369794"/>
            <a:ext cx="34747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700" b="1" i="0" noProof="1">
                <a:solidFill>
                  <a:srgbClr val="24292F"/>
                </a:solidFill>
                <a:latin typeface="LXGW WenKai"/>
              </a:rPr>
              <a:t>模型打分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3735554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50" b="0" noProof="1">
                <a:solidFill>
                  <a:srgbClr val="5B6977"/>
                </a:solidFill>
                <a:latin typeface="LXGW WenKai"/>
              </a:rPr>
              <a:t>复用训练好的随机森林，输出 0–1 潜力分数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24712" y="4320771"/>
            <a:ext cx="914400" cy="585216"/>
          </a:xfrm>
          <a:prstGeom prst="roundRect">
            <a:avLst>
              <a:gd name="adj" fmla="val 10000"/>
            </a:avLst>
          </a:prstGeom>
          <a:solidFill>
            <a:srgbClr val="8A3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20" name="TextBox 19"/>
          <p:cNvSpPr txBox="1"/>
          <p:nvPr/>
        </p:nvSpPr>
        <p:spPr>
          <a:xfrm>
            <a:off x="1124712" y="4448787"/>
            <a:ext cx="914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600" b="1" i="0" noProof="1">
                <a:solidFill>
                  <a:srgbClr val="FFFFFF"/>
                </a:solidFill>
                <a:latin typeface="LXGW WenKa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0280" y="4302483"/>
            <a:ext cx="34747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700" b="1" i="0" noProof="1">
                <a:solidFill>
                  <a:srgbClr val="24292F"/>
                </a:solidFill>
                <a:latin typeface="LXGW WenKai"/>
              </a:rPr>
              <a:t>行动分层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4668243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00" b="0" i="0" noProof="1">
                <a:solidFill>
                  <a:srgbClr val="57606A"/>
                </a:solidFill>
                <a:latin typeface="LXGW WenKai"/>
              </a:rPr>
              <a:t>按训练集分位数划分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0" y="1454127"/>
            <a:ext cx="5462016" cy="3611880"/>
          </a:xfrm>
          <a:prstGeom prst="roundRect">
            <a:avLst>
              <a:gd name="adj" fmla="val 10000"/>
            </a:avLst>
          </a:prstGeom>
          <a:solidFill>
            <a:srgbClr val="F6F8FA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24" name="TextBox 23"/>
          <p:cNvSpPr txBox="1"/>
          <p:nvPr/>
        </p:nvSpPr>
        <p:spPr>
          <a:xfrm>
            <a:off x="6291072" y="1691871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800" b="1" i="0" noProof="1">
                <a:solidFill>
                  <a:srgbClr val="24292F"/>
                </a:solidFill>
                <a:latin typeface="LXGW WenKai"/>
              </a:rPr>
              <a:t>离线样例结果 — 模型潜力分数排名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291072" y="4590519"/>
            <a:ext cx="4526280" cy="329184"/>
          </a:xfrm>
          <a:prstGeom prst="roundRect">
            <a:avLst>
              <a:gd name="adj" fmla="val 10000"/>
            </a:avLst>
          </a:prstGeom>
          <a:solidFill>
            <a:srgbClr val="FFF8E6"/>
          </a:solidFill>
          <a:ln w="10160">
            <a:solidFill>
              <a:srgbClr val="FB8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56" name="TextBox 55"/>
          <p:cNvSpPr txBox="1"/>
          <p:nvPr/>
        </p:nvSpPr>
        <p:spPr>
          <a:xfrm>
            <a:off x="6446520" y="4668243"/>
            <a:ext cx="42062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300" b="1" i="0" noProof="1">
                <a:solidFill>
                  <a:srgbClr val="24292F"/>
                </a:solidFill>
                <a:latin typeface="LXGW WenKai"/>
              </a:rPr>
              <a:t>输出今日观察清单，后续可回看 star 增长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6928" y="6510528"/>
            <a:ext cx="6400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i="0" noProof="1">
                <a:solidFill>
                  <a:srgbClr val="57606A"/>
                </a:solidFill>
                <a:latin typeface="LXGW WenKai"/>
              </a:rPr>
              <a:t>OpenClaw · 开源项目潜力发现系统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12480" y="6510528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sz="1100" b="0" i="0" noProof="1">
                <a:solidFill>
                  <a:srgbClr val="57606A"/>
                </a:solidFill>
                <a:latin typeface="LXGW WenKai"/>
              </a:rPr>
              <a:t>Today Radar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272784" y="2240511"/>
            <a:ext cx="365760" cy="365760"/>
          </a:xfrm>
          <a:prstGeom prst="roundRect">
            <a:avLst/>
          </a:prstGeom>
          <a:solidFill>
            <a:srgbClr val="2CA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sz="1400" b="1" noProof="1">
                <a:solidFill>
                  <a:srgbClr val="FFFFFF"/>
                </a:solidFill>
                <a:latin typeface="LXGW WenKai"/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29984" y="2240511"/>
            <a:ext cx="3246120" cy="365760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r>
              <a:rPr lang="en-US" sz="1150" b="1" noProof="1">
                <a:solidFill>
                  <a:srgbClr val="242931"/>
                </a:solidFill>
                <a:latin typeface="LXGW WenKai"/>
              </a:rPr>
              <a:t>lunashia/o-m_beatmap_trainer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021824" y="2240511"/>
            <a:ext cx="548640" cy="365760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r>
              <a:rPr lang="en-US" sz="1100" b="0" noProof="1">
                <a:solidFill>
                  <a:srgbClr val="5B6977"/>
                </a:solidFill>
                <a:latin typeface="LXGW WenKai"/>
              </a:rPr>
              <a:t>Python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570464" y="2240511"/>
            <a:ext cx="685800" cy="365760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r"/>
            <a:r>
              <a:rPr lang="en-US" sz="1600" b="1" noProof="1">
                <a:solidFill>
                  <a:srgbClr val="2CA25F"/>
                </a:solidFill>
                <a:latin typeface="LXGW WenKai"/>
              </a:rPr>
              <a:t>0.935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272784" y="2697711"/>
            <a:ext cx="365760" cy="365760"/>
          </a:xfrm>
          <a:prstGeom prst="roundRect">
            <a:avLst/>
          </a:prstGeom>
          <a:solidFill>
            <a:srgbClr val="1F7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sz="1400" b="1" noProof="1">
                <a:solidFill>
                  <a:srgbClr val="FFFFFF"/>
                </a:solidFill>
                <a:latin typeface="LXGW WenKai"/>
              </a:rPr>
              <a:t>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29984" y="2773638"/>
            <a:ext cx="1744195" cy="213905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r>
              <a:rPr lang="en-US" sz="1150" b="1" noProof="1">
                <a:solidFill>
                  <a:srgbClr val="242931"/>
                </a:solidFill>
                <a:latin typeface="LXGW WenKai"/>
              </a:rPr>
              <a:t>danielbusnz-lgtm/Peeky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021824" y="2777486"/>
            <a:ext cx="368819" cy="206210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r>
              <a:rPr lang="en-US" sz="1100" b="0" noProof="1">
                <a:solidFill>
                  <a:srgbClr val="5B6977"/>
                </a:solidFill>
                <a:latin typeface="LXGW WenKai"/>
              </a:rPr>
              <a:t>Rust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616537" y="2739014"/>
            <a:ext cx="639727" cy="283154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r"/>
            <a:r>
              <a:rPr lang="en-US" sz="1600" b="1" noProof="1">
                <a:solidFill>
                  <a:srgbClr val="1F76D3"/>
                </a:solidFill>
                <a:latin typeface="LXGW WenKai"/>
              </a:rPr>
              <a:t>0.510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272784" y="3154911"/>
            <a:ext cx="365760" cy="365760"/>
          </a:xfrm>
          <a:prstGeom prst="roundRect">
            <a:avLst/>
          </a:prstGeom>
          <a:solidFill>
            <a:srgbClr val="2BA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sz="1400" b="1" noProof="1">
                <a:solidFill>
                  <a:srgbClr val="FFFFFF"/>
                </a:solidFill>
                <a:latin typeface="LXGW WenKai"/>
              </a:rPr>
              <a:t>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729984" y="3230838"/>
            <a:ext cx="2338910" cy="213905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r>
              <a:rPr lang="en-US" sz="1150" b="1" noProof="1">
                <a:solidFill>
                  <a:srgbClr val="242931"/>
                </a:solidFill>
                <a:latin typeface="LXGW WenKai"/>
              </a:rPr>
              <a:t>AnthonyXu109/FairPrivacySignal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021824" y="3234686"/>
            <a:ext cx="527517" cy="206210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r>
              <a:rPr lang="en-US" sz="1100" noProof="1">
                <a:solidFill>
                  <a:srgbClr val="5B6977"/>
                </a:solidFill>
                <a:latin typeface="LXGW WenKai"/>
              </a:rPr>
              <a:t>Python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616537" y="3196214"/>
            <a:ext cx="639727" cy="283154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r"/>
            <a:r>
              <a:rPr lang="en-US" sz="1600" b="1" noProof="1">
                <a:solidFill>
                  <a:srgbClr val="2CA25F"/>
                </a:solidFill>
                <a:latin typeface="LXGW WenKai"/>
              </a:rPr>
              <a:t>0.505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272784" y="3612111"/>
            <a:ext cx="365760" cy="365760"/>
          </a:xfrm>
          <a:prstGeom prst="roundRect">
            <a:avLst/>
          </a:prstGeom>
          <a:solidFill>
            <a:srgbClr val="2BA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sz="1400" b="1" noProof="1">
                <a:solidFill>
                  <a:srgbClr val="FFFFFF"/>
                </a:solidFill>
                <a:latin typeface="LXGW WenKai"/>
              </a:rPr>
              <a:t>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729984" y="3688038"/>
            <a:ext cx="1202380" cy="213905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r>
              <a:rPr lang="en-US" sz="1150" b="1" noProof="1">
                <a:solidFill>
                  <a:srgbClr val="242931"/>
                </a:solidFill>
                <a:latin typeface="LXGW WenKai"/>
              </a:rPr>
              <a:t>Varn1t/EDAgent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021824" y="3691886"/>
            <a:ext cx="527517" cy="206210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r>
              <a:rPr lang="en-US" sz="1100" b="0" noProof="1">
                <a:solidFill>
                  <a:srgbClr val="5B6977"/>
                </a:solidFill>
                <a:latin typeface="LXGW WenKai"/>
              </a:rPr>
              <a:t>Python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616537" y="3653414"/>
            <a:ext cx="639727" cy="283154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r"/>
            <a:r>
              <a:rPr lang="en-US" sz="1600" b="1" noProof="1">
                <a:solidFill>
                  <a:srgbClr val="2CA25F"/>
                </a:solidFill>
                <a:latin typeface="LXGW WenKai"/>
              </a:rPr>
              <a:t>0.395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272784" y="4069311"/>
            <a:ext cx="365760" cy="365760"/>
          </a:xfrm>
          <a:prstGeom prst="roundRect">
            <a:avLst/>
          </a:prstGeom>
          <a:solidFill>
            <a:srgbClr val="FC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sz="1400" b="1" noProof="1">
                <a:solidFill>
                  <a:srgbClr val="FFFFFF"/>
                </a:solidFill>
                <a:latin typeface="LXGW WenKai"/>
              </a:rPr>
              <a:t>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729984" y="4145238"/>
            <a:ext cx="1252074" cy="213905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r>
              <a:rPr lang="en-US" sz="1150" b="1" noProof="1">
                <a:solidFill>
                  <a:srgbClr val="242931"/>
                </a:solidFill>
                <a:latin typeface="LXGW WenKai"/>
              </a:rPr>
              <a:t>devenjarvis/lathe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021824" y="4069311"/>
            <a:ext cx="548640" cy="365760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r>
              <a:rPr lang="en-US" sz="1100" b="0" noProof="1">
                <a:solidFill>
                  <a:srgbClr val="5B6977"/>
                </a:solidFill>
                <a:latin typeface="LXGW WenKai"/>
              </a:rPr>
              <a:t>Go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616537" y="4110614"/>
            <a:ext cx="639727" cy="283154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r"/>
            <a:r>
              <a:rPr lang="en-US" sz="1600" b="1" noProof="1">
                <a:solidFill>
                  <a:srgbClr val="FC8500"/>
                </a:solidFill>
                <a:latin typeface="LXGW WenKai"/>
              </a:rPr>
              <a:t>0.275</a:t>
            </a: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2A031D06-87EC-7FF1-F6E3-403CF19D9B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331" y="5221455"/>
            <a:ext cx="5980377" cy="155627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23">
            <a:extLst>
              <a:ext uri="{FF2B5EF4-FFF2-40B4-BE49-F238E27FC236}">
                <a16:creationId xmlns:a16="http://schemas.microsoft.com/office/drawing/2014/main" id="{793975BD-83DF-99C8-8545-3908897F9E24}"/>
              </a:ext>
            </a:extLst>
          </p:cNvPr>
          <p:cNvSpPr/>
          <p:nvPr/>
        </p:nvSpPr>
        <p:spPr>
          <a:xfrm>
            <a:off x="1005840" y="5504688"/>
            <a:ext cx="10241280" cy="603504"/>
          </a:xfrm>
          <a:prstGeom prst="roundRect">
            <a:avLst/>
          </a:prstGeom>
          <a:solidFill>
            <a:srgbClr val="FFF8E6"/>
          </a:solidFill>
          <a:ln w="12700">
            <a:solidFill>
              <a:srgbClr val="FFE1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9692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300" b="1" noProof="1">
                <a:solidFill>
                  <a:srgbClr val="242A31"/>
                </a:solidFill>
                <a:latin typeface="LXGW WenKai"/>
              </a:rPr>
              <a:t>总结：系统闭环进一步补上“模型盲区复盘”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310896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1300">
                <a:solidFill>
                  <a:srgbClr val="57606A"/>
                </a:solidFill>
                <a:latin typeface="LXGW WenKai"/>
              </a:defRPr>
            </a:pPr>
            <a:r>
              <a:rPr lang="en-US" noProof="1"/>
              <a:t>17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841248"/>
            <a:ext cx="11064240" cy="10972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6" name="Rounded Rectangle 5"/>
          <p:cNvSpPr/>
          <p:nvPr/>
        </p:nvSpPr>
        <p:spPr>
          <a:xfrm>
            <a:off x="749808" y="1417320"/>
            <a:ext cx="10698480" cy="914400"/>
          </a:xfrm>
          <a:prstGeom prst="roundRect">
            <a:avLst>
              <a:gd name="adj" fmla="val 10000"/>
            </a:avLst>
          </a:prstGeom>
          <a:solidFill>
            <a:srgbClr val="1F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101498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700" b="1" noProof="1">
                <a:solidFill>
                  <a:srgbClr val="FFFFFF"/>
                </a:solidFill>
                <a:latin typeface="LXGW WenKai"/>
              </a:rPr>
              <a:t>分类 + 回归 + OpenClaw 工作流 + 错误分析 + 大模型对比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788920"/>
            <a:ext cx="3246120" cy="2103120"/>
          </a:xfrm>
          <a:prstGeom prst="roundRect">
            <a:avLst>
              <a:gd name="adj" fmla="val 10000"/>
            </a:avLst>
          </a:prstGeom>
          <a:solidFill>
            <a:srgbClr val="F6F8FA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9" name="Rectangle 8"/>
          <p:cNvSpPr/>
          <p:nvPr/>
        </p:nvSpPr>
        <p:spPr>
          <a:xfrm>
            <a:off x="749808" y="2788920"/>
            <a:ext cx="3246120" cy="73152"/>
          </a:xfrm>
          <a:prstGeom prst="rect">
            <a:avLst/>
          </a:prstGeom>
          <a:solidFill>
            <a:srgbClr val="2D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0" name="TextBox 9"/>
          <p:cNvSpPr txBox="1"/>
          <p:nvPr/>
        </p:nvSpPr>
        <p:spPr>
          <a:xfrm>
            <a:off x="978408" y="3054096"/>
            <a:ext cx="2788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500" b="1" i="0" noProof="1">
                <a:solidFill>
                  <a:srgbClr val="24292F"/>
                </a:solidFill>
                <a:latin typeface="LXGW WenKai"/>
              </a:rPr>
              <a:t>模型层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3584448"/>
            <a:ext cx="2788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700" b="1" i="0" noProof="1">
                <a:solidFill>
                  <a:srgbClr val="24292F"/>
                </a:solidFill>
                <a:latin typeface="LXGW WenKai"/>
              </a:rPr>
              <a:t>早期信号可以排序潜力仓库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4370832"/>
            <a:ext cx="278892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00" b="0" i="0" noProof="1">
                <a:solidFill>
                  <a:srgbClr val="57606A"/>
                </a:solidFill>
                <a:latin typeface="LXGW WenKai"/>
              </a:rPr>
              <a:t>AUC 0.883 · PR-AUC 0.662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53128" y="2788920"/>
            <a:ext cx="3246120" cy="2103120"/>
          </a:xfrm>
          <a:prstGeom prst="roundRect">
            <a:avLst>
              <a:gd name="adj" fmla="val 10000"/>
            </a:avLst>
          </a:prstGeom>
          <a:solidFill>
            <a:srgbClr val="F6F8FA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4" name="Rectangle 13"/>
          <p:cNvSpPr/>
          <p:nvPr/>
        </p:nvSpPr>
        <p:spPr>
          <a:xfrm>
            <a:off x="4453128" y="2788920"/>
            <a:ext cx="3246120" cy="73152"/>
          </a:xfrm>
          <a:prstGeom prst="rect">
            <a:avLst/>
          </a:prstGeom>
          <a:solidFill>
            <a:srgbClr val="096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5" name="TextBox 14"/>
          <p:cNvSpPr txBox="1"/>
          <p:nvPr/>
        </p:nvSpPr>
        <p:spPr>
          <a:xfrm>
            <a:off x="4681728" y="3054096"/>
            <a:ext cx="2788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500" b="1" noProof="1">
                <a:solidFill>
                  <a:srgbClr val="242A31"/>
                </a:solidFill>
                <a:latin typeface="LXGW WenKai"/>
              </a:rPr>
              <a:t>分析层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3584448"/>
            <a:ext cx="2788920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700" b="1" noProof="1">
                <a:solidFill>
                  <a:srgbClr val="242A31"/>
                </a:solidFill>
                <a:latin typeface="LXGW WenKai"/>
              </a:rPr>
              <a:t>聚类和错误分析让模型盲区</a:t>
            </a:r>
            <a:r>
              <a:rPr lang="en-US" sz="1700" b="1" u="sng" noProof="1">
                <a:solidFill>
                  <a:srgbClr val="242A31"/>
                </a:solidFill>
                <a:latin typeface="LXGW WenKai"/>
              </a:rPr>
              <a:t>可复盘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1728" y="4370832"/>
            <a:ext cx="278892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00" noProof="1">
                <a:solidFill>
                  <a:srgbClr val="5B6977"/>
                </a:solidFill>
                <a:latin typeface="LXGW WenKai"/>
              </a:rPr>
              <a:t>4 类行为模式 · 12 FP · 15 FN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56448" y="2788920"/>
            <a:ext cx="3246120" cy="2103120"/>
          </a:xfrm>
          <a:prstGeom prst="roundRect">
            <a:avLst>
              <a:gd name="adj" fmla="val 10000"/>
            </a:avLst>
          </a:prstGeom>
          <a:solidFill>
            <a:srgbClr val="F6F8FA"/>
          </a:solidFill>
          <a:ln w="1016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9" name="Rectangle 18"/>
          <p:cNvSpPr/>
          <p:nvPr/>
        </p:nvSpPr>
        <p:spPr>
          <a:xfrm>
            <a:off x="8156448" y="2788920"/>
            <a:ext cx="3246120" cy="73152"/>
          </a:xfrm>
          <a:prstGeom prst="rect">
            <a:avLst/>
          </a:prstGeom>
          <a:solidFill>
            <a:srgbClr val="FB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20" name="TextBox 19"/>
          <p:cNvSpPr txBox="1"/>
          <p:nvPr/>
        </p:nvSpPr>
        <p:spPr>
          <a:xfrm>
            <a:off x="8385048" y="3054096"/>
            <a:ext cx="2788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500" b="1" i="0" noProof="1">
                <a:solidFill>
                  <a:srgbClr val="24292F"/>
                </a:solidFill>
                <a:latin typeface="LXGW WenKai"/>
              </a:rPr>
              <a:t>应用层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8" y="3584448"/>
            <a:ext cx="2788920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700" b="1" i="0" noProof="1">
                <a:solidFill>
                  <a:srgbClr val="24292F"/>
                </a:solidFill>
                <a:latin typeface="LXGW WenKai"/>
              </a:rPr>
              <a:t>Today Radar 复用</a:t>
            </a:r>
          </a:p>
          <a:p>
            <a:pPr algn="l"/>
            <a:r>
              <a:rPr lang="en-US" sz="1700" b="1" i="0" u="sng" noProof="1">
                <a:solidFill>
                  <a:srgbClr val="24292F"/>
                </a:solidFill>
                <a:latin typeface="LXGW WenKai"/>
              </a:rPr>
              <a:t>同一套特征和阈值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5048" y="4370832"/>
            <a:ext cx="2788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00" b="0" i="0" noProof="1">
                <a:solidFill>
                  <a:srgbClr val="57606A"/>
                </a:solidFill>
                <a:latin typeface="LXGW WenKai"/>
              </a:rPr>
              <a:t>19 个特征 · 动态阈值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6760" y="5684096"/>
            <a:ext cx="106984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600" b="1" noProof="1">
                <a:solidFill>
                  <a:srgbClr val="242931"/>
                </a:solidFill>
                <a:latin typeface="LXGW WenKai"/>
              </a:rPr>
              <a:t>核心逻辑：早期信号可排序 → 聚类揭示模式 → 错误分析定位盲区 → Today Radar 落地为可运行系统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510528"/>
            <a:ext cx="6400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i="0" noProof="1">
                <a:solidFill>
                  <a:srgbClr val="57606A"/>
                </a:solidFill>
                <a:latin typeface="LXGW WenKai"/>
              </a:rPr>
              <a:t>OpenClaw · 开源项目潜力发现系统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6510528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sz="1100" b="0" i="0" noProof="1">
                <a:solidFill>
                  <a:srgbClr val="57606A"/>
                </a:solidFill>
                <a:latin typeface="LXGW WenKai"/>
              </a:rPr>
              <a:t>Summary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2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1188720"/>
            <a:ext cx="2011680" cy="2011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346704"/>
            <a:ext cx="10360152" cy="10515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lang="en-US" sz="5600" b="1" noProof="1">
                <a:solidFill>
                  <a:srgbClr val="242A31"/>
                </a:solidFill>
                <a:latin typeface="LXGW WenKa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443984"/>
            <a:ext cx="10360152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lang="en-US" sz="2200" b="0" noProof="1">
                <a:solidFill>
                  <a:srgbClr val="5B6977"/>
                </a:solidFill>
                <a:latin typeface="LXGW WenKai"/>
              </a:rPr>
              <a:t>OpenClaw · 开源项目潜力发现系统</a:t>
            </a:r>
          </a:p>
        </p:txBody>
      </p:sp>
      <p:sp>
        <p:nvSpPr>
          <p:cNvPr id="6" name="Rectangle 5"/>
          <p:cNvSpPr/>
          <p:nvPr/>
        </p:nvSpPr>
        <p:spPr>
          <a:xfrm>
            <a:off x="4992624" y="5047488"/>
            <a:ext cx="2194560" cy="41148"/>
          </a:xfrm>
          <a:prstGeom prst="rect">
            <a:avLst/>
          </a:prstGeom>
          <a:solidFill>
            <a:srgbClr val="2CA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7" name="TextBox 6"/>
          <p:cNvSpPr txBox="1"/>
          <p:nvPr/>
        </p:nvSpPr>
        <p:spPr>
          <a:xfrm>
            <a:off x="914400" y="5248656"/>
            <a:ext cx="10360152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lang="en-US" sz="2100" b="1" noProof="1">
                <a:solidFill>
                  <a:srgbClr val="24292F"/>
                </a:solidFill>
                <a:latin typeface="LXGW WenKai"/>
              </a:rPr>
              <a:t>李文俊  2023150001    ·    陈俊年  2023150108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87568"/>
            <a:ext cx="10360152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lang="en-US" sz="1450" b="0" noProof="1">
                <a:solidFill>
                  <a:srgbClr val="5B6977"/>
                </a:solidFill>
                <a:latin typeface="LXGW WenKai"/>
              </a:rPr>
              <a:t>github.com/WenjunLi2004/DataMining---OpenClaw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623</TotalTime>
  <Words>1456</Words>
  <Application>Microsoft Macintosh PowerPoint</Application>
  <PresentationFormat>宽屏</PresentationFormat>
  <Paragraphs>531</Paragraphs>
  <Slides>18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4" baseType="lpstr">
      <vt:lpstr>等线</vt:lpstr>
      <vt:lpstr>Microsoft YaHei</vt:lpstr>
      <vt:lpstr>LXGW WenKai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Wenjun Lee</cp:lastModifiedBy>
  <cp:revision>49</cp:revision>
  <dcterms:created xsi:type="dcterms:W3CDTF">2013-01-27T09:14:16Z</dcterms:created>
  <dcterms:modified xsi:type="dcterms:W3CDTF">2026-06-12T10:51:37Z</dcterms:modified>
  <cp:category/>
</cp:coreProperties>
</file>