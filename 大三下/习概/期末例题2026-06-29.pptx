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8" r:id="rId3"/>
    <p:sldId id="267" r:id="rId4"/>
    <p:sldId id="266" r:id="rId5"/>
    <p:sldId id="268" r:id="rId6"/>
    <p:sldId id="259" r:id="rId7"/>
    <p:sldId id="271" r:id="rId8"/>
    <p:sldId id="261" r:id="rId9"/>
    <p:sldId id="269" r:id="rId10"/>
    <p:sldId id="264" r:id="rId11"/>
    <p:sldId id="273" r:id="rId12"/>
    <p:sldId id="274" r:id="rId13"/>
    <p:sldId id="265" r:id="rId14"/>
    <p:sldId id="272" r:id="rId15"/>
    <p:sldId id="275" r:id="rId16"/>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9" d="100"/>
          <a:sy n="79" d="100"/>
        </p:scale>
        <p:origin x="1323" y="5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BAA874E-65AD-4C32-9906-AD531010D315}" type="datetimeFigureOut">
              <a:rPr lang="zh-CN" altLang="en-US" smtClean="0"/>
              <a:t>2026/7/3</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8116B37-8E29-4D91-B71F-230AF5947D9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2"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3"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4"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5"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B3C9A9C3-0B3A-4C6C-AA75-4CE83FE03560}" type="datetime2">
              <a:rPr lang="zh-CN" altLang="en-US" smtClean="0"/>
              <a:t>2026年7月3日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pic>
        <p:nvPicPr>
          <p:cNvPr id="2050" name="Picture 2" descr="D:\用户目录\Desktop\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36509" y="5921426"/>
            <a:ext cx="5391150" cy="7810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0A30D5B6-6C46-43D2-B372-56E3427513A4}" type="datetime2">
              <a:rPr lang="zh-CN" altLang="en-US" smtClean="0"/>
              <a:t>2026年7月3日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7" name="Title 6"/>
          <p:cNvSpPr>
            <a:spLocks noGrp="1"/>
          </p:cNvSpPr>
          <p:nvPr>
            <p:ph type="title"/>
          </p:nvPr>
        </p:nvSpPr>
        <p:spPr/>
        <p:txBody>
          <a:bodyPr/>
          <a:lstStyle/>
          <a:p>
            <a:r>
              <a:rPr lang="zh-CN" altLang="en-US"/>
              <a:t>单击此处编辑母版标题样式</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0" name="Freeform 18"/>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1" name="Freeform 22"/>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2" name="Freeform 26"/>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3" name="Freeform 10"/>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C67AF23-6D77-4C23-921C-17CEF439685F}" type="datetime2">
              <a:rPr lang="zh-CN" altLang="en-US" smtClean="0"/>
              <a:t>2026年7月3日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5" name="Date Placeholder 4"/>
          <p:cNvSpPr>
            <a:spLocks noGrp="1"/>
          </p:cNvSpPr>
          <p:nvPr>
            <p:ph type="dt" sz="half" idx="10"/>
          </p:nvPr>
        </p:nvSpPr>
        <p:spPr/>
        <p:txBody>
          <a:bodyPr/>
          <a:lstStyle/>
          <a:p>
            <a:fld id="{F4A8C976-EBB5-4DD4-8706-7D71E74615EE}" type="datetime2">
              <a:rPr lang="zh-CN" altLang="en-US" smtClean="0"/>
              <a:t>2026年7月3日</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9" name="Content Placeholder 8"/>
          <p:cNvSpPr>
            <a:spLocks noGrp="1"/>
          </p:cNvSpPr>
          <p:nvPr>
            <p:ph sz="quarter" idx="13"/>
          </p:nvPr>
        </p:nvSpPr>
        <p:spPr>
          <a:xfrm>
            <a:off x="676655" y="2679192"/>
            <a:ext cx="3822192" cy="34472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F2070EAE-DF40-45AE-A264-8F9C6A799E58}" type="datetime2">
              <a:rPr lang="zh-CN" altLang="en-US" smtClean="0"/>
              <a:t>2026年7月3日</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8B23D498-D6C3-4F7A-916E-B22E568B7660}" type="datetime2">
              <a:rPr lang="zh-CN" altLang="en-US" smtClean="0"/>
              <a:t>2026年7月3日</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Date Placeholder 1"/>
          <p:cNvSpPr>
            <a:spLocks noGrp="1"/>
          </p:cNvSpPr>
          <p:nvPr>
            <p:ph type="dt" sz="half" idx="10"/>
          </p:nvPr>
        </p:nvSpPr>
        <p:spPr/>
        <p:txBody>
          <a:bodyPr/>
          <a:lstStyle/>
          <a:p>
            <a:fld id="{C7F6A0C6-635C-4294-BADD-7207730CDFEF}" type="datetime2">
              <a:rPr lang="zh-CN" altLang="en-US" smtClean="0"/>
              <a:t>2026年7月3日</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412A1823-51F4-41C9-B922-3810075C6D93}" type="datetime2">
              <a:rPr lang="zh-CN" altLang="en-US" smtClean="0"/>
              <a:t>2026年7月3日</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26"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27"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8"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9" name="Freeform 28"/>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1"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2"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3"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4"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0DCB1586-964B-450C-8FAF-6D6C59D49096}" type="datetime2">
              <a:rPr lang="zh-CN" altLang="en-US" smtClean="0"/>
              <a:t>2026年7月3日</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8D834AF8-80B0-4AD0-B3CF-7F53A644E7E1}" type="datetime2">
              <a:rPr lang="zh-CN" altLang="en-US" smtClean="0"/>
              <a:t>2026年7月3日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7868CA26-C5BA-4136-A910-BC8B74F3CE76}" type="datetime2">
              <a:rPr lang="zh-CN" altLang="en-US" smtClean="0"/>
              <a:t>2026年7月3日</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7"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8"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9"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0" name="Freeform 19"/>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73E8CFD6-B887-4A30-9C5E-5C1DEC89C7F9}" type="datetime2">
              <a:rPr lang="zh-CN" altLang="en-US" smtClean="0"/>
              <a:t>2026年7月3日</a:t>
            </a:fld>
            <a:endParaRPr lang="zh-CN" alt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zh-CN" altLang="en-US"/>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0C913308-F349-4B6D-A68A-DD1791B4A57B}" type="slidenum">
              <a:rPr lang="zh-CN" altLang="en-US" smtClean="0"/>
              <a:t>‹#›</a:t>
            </a:fld>
            <a:endParaRPr lang="zh-CN" alt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4320" algn="l" defTabSz="914400" rtl="0" eaLnBrk="1" latinLnBrk="0" hangingPunct="1">
        <a:spcBef>
          <a:spcPct val="20000"/>
        </a:spcBef>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defTabSz="914400" rtl="0" eaLnBrk="1" latinLnBrk="0" hangingPunct="1">
        <a:spcBef>
          <a:spcPct val="20000"/>
        </a:spcBef>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anose="05050102010706020507"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3568" y="1772816"/>
            <a:ext cx="7772400" cy="1319460"/>
          </a:xfrm>
        </p:spPr>
        <p:txBody>
          <a:bodyPr>
            <a:noAutofit/>
          </a:bodyPr>
          <a:lstStyle/>
          <a:p>
            <a:r>
              <a:rPr lang="zh-CN" altLang="en-US" dirty="0"/>
              <a:t>关于本学期期末考试需注意的问题</a:t>
            </a:r>
          </a:p>
        </p:txBody>
      </p:sp>
      <p:sp>
        <p:nvSpPr>
          <p:cNvPr id="3" name="副标题 2"/>
          <p:cNvSpPr>
            <a:spLocks noGrp="1"/>
          </p:cNvSpPr>
          <p:nvPr>
            <p:ph type="subTitle" idx="1"/>
          </p:nvPr>
        </p:nvSpPr>
        <p:spPr/>
        <p:txBody>
          <a:bodyPr>
            <a:noAutofit/>
          </a:bodyPr>
          <a:lstStyle/>
          <a:p>
            <a:r>
              <a:rPr lang="zh-CN" altLang="en-US" sz="2800" dirty="0"/>
              <a:t>和杰</a:t>
            </a:r>
            <a:endParaRPr lang="en-US" altLang="zh-CN" sz="2800" dirty="0"/>
          </a:p>
          <a:p>
            <a:r>
              <a:rPr lang="zh-CN" altLang="en-US" sz="2800" dirty="0"/>
              <a:t>深圳大学马克思主义学院</a:t>
            </a:r>
            <a:endParaRPr lang="en-US" altLang="zh-CN" sz="2800" dirty="0"/>
          </a:p>
          <a:p>
            <a:r>
              <a:rPr lang="en-US" altLang="zh-CN" sz="2800" dirty="0"/>
              <a:t>2026</a:t>
            </a:r>
            <a:r>
              <a:rPr lang="zh-CN" altLang="en-US" sz="2800" dirty="0"/>
              <a:t>年</a:t>
            </a:r>
            <a:r>
              <a:rPr lang="en-US" altLang="zh-CN" sz="2800" dirty="0"/>
              <a:t>6</a:t>
            </a:r>
            <a:r>
              <a:rPr lang="zh-CN" altLang="en-US" sz="2800" dirty="0"/>
              <a:t>月</a:t>
            </a:r>
            <a:r>
              <a:rPr lang="en-US" altLang="zh-CN" sz="2800" dirty="0"/>
              <a:t>29</a:t>
            </a:r>
            <a:r>
              <a:rPr lang="zh-CN" altLang="en-US" sz="2800" dirty="0"/>
              <a:t>日</a:t>
            </a:r>
            <a:endParaRPr lang="en-US" altLang="zh-CN" sz="2800" dirty="0"/>
          </a:p>
        </p:txBody>
      </p:sp>
      <p:sp>
        <p:nvSpPr>
          <p:cNvPr id="4" name="日期占位符 3"/>
          <p:cNvSpPr>
            <a:spLocks noGrp="1"/>
          </p:cNvSpPr>
          <p:nvPr>
            <p:ph type="dt" sz="half" idx="10"/>
          </p:nvPr>
        </p:nvSpPr>
        <p:spPr/>
        <p:txBody>
          <a:bodyPr/>
          <a:lstStyle/>
          <a:p>
            <a:fld id="{5BB5F2FE-33F6-4A00-BAEE-B81D9D6D4CA8}" type="datetime2">
              <a:rPr lang="zh-CN" altLang="en-US" smtClean="0"/>
              <a:t>2026年7月3日</a:t>
            </a:fld>
            <a:endParaRPr lang="zh-CN"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t>1</a:t>
            </a:fld>
            <a:endParaRPr lang="zh-CN" altLang="en-US"/>
          </a:p>
        </p:txBody>
      </p:sp>
    </p:spTree>
  </p:cSld>
  <p:clrMapOvr>
    <a:masterClrMapping/>
  </p:clrMapOvr>
  <p:transition spd="slow">
    <p:wheel spokes="1"/>
    <p:sndAc>
      <p:stSnd>
        <p:snd r:embed="rId2" name="breeze.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95536" y="2852936"/>
            <a:ext cx="8229600" cy="1252728"/>
          </a:xfrm>
        </p:spPr>
        <p:txBody>
          <a:bodyPr>
            <a:normAutofit/>
          </a:bodyPr>
          <a:lstStyle/>
          <a:p>
            <a:pPr marL="0" indent="0"/>
            <a:r>
              <a:rPr lang="zh-CN" altLang="en-US" dirty="0">
                <a:solidFill>
                  <a:srgbClr val="00B0F0"/>
                </a:solidFill>
              </a:rPr>
              <a:t>一、关于平时成绩核算</a:t>
            </a:r>
            <a:endParaRPr lang="en-US" altLang="zh-CN" dirty="0">
              <a:solidFill>
                <a:srgbClr val="00B0F0"/>
              </a:solidFill>
            </a:endParaRPr>
          </a:p>
        </p:txBody>
      </p:sp>
      <p:sp>
        <p:nvSpPr>
          <p:cNvPr id="4" name="日期占位符 3"/>
          <p:cNvSpPr>
            <a:spLocks noGrp="1"/>
          </p:cNvSpPr>
          <p:nvPr>
            <p:ph type="dt" sz="half" idx="10"/>
          </p:nvPr>
        </p:nvSpPr>
        <p:spPr/>
        <p:txBody>
          <a:bodyPr/>
          <a:lstStyle/>
          <a:p>
            <a:fld id="{001D68B3-4BD1-4ACF-A88A-AF5C60D77C81}" type="datetime2">
              <a:rPr lang="zh-CN" altLang="en-US" smtClean="0"/>
              <a:t>2026年7月3日</a:t>
            </a:fld>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2</a:t>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39552" y="836712"/>
            <a:ext cx="7992888" cy="4608512"/>
          </a:xfrm>
        </p:spPr>
        <p:txBody>
          <a:bodyPr>
            <a:noAutofit/>
          </a:bodyPr>
          <a:lstStyle/>
          <a:p>
            <a:pPr marL="0" indent="0">
              <a:buNone/>
            </a:pPr>
            <a:r>
              <a:rPr lang="zh-CN" altLang="en-US" sz="3600" b="1" dirty="0"/>
              <a:t>平时成绩（占总评</a:t>
            </a:r>
            <a:r>
              <a:rPr lang="en-US" altLang="zh-CN" sz="3600" b="1" dirty="0"/>
              <a:t>40%</a:t>
            </a:r>
            <a:r>
              <a:rPr lang="zh-CN" altLang="en-US" sz="3600" b="1" dirty="0"/>
              <a:t>）构成：</a:t>
            </a:r>
            <a:endParaRPr lang="en-US" altLang="zh-CN" sz="3600" b="1" dirty="0"/>
          </a:p>
          <a:p>
            <a:pPr marL="0" indent="0">
              <a:buNone/>
            </a:pPr>
            <a:r>
              <a:rPr lang="zh-CN" altLang="en-US" sz="3200" dirty="0"/>
              <a:t>（一）全体考勤</a:t>
            </a:r>
            <a:r>
              <a:rPr lang="en-US" altLang="zh-CN" sz="3200" dirty="0"/>
              <a:t>3</a:t>
            </a:r>
            <a:r>
              <a:rPr lang="zh-CN" altLang="en-US" sz="3200" dirty="0"/>
              <a:t>次，每次</a:t>
            </a:r>
            <a:r>
              <a:rPr lang="en-US" altLang="zh-CN" sz="3200" dirty="0"/>
              <a:t>10</a:t>
            </a:r>
            <a:r>
              <a:rPr lang="zh-CN" altLang="en-US" sz="3200" dirty="0"/>
              <a:t>分</a:t>
            </a:r>
            <a:r>
              <a:rPr lang="en-US" altLang="zh-CN" sz="3200" dirty="0"/>
              <a:t> </a:t>
            </a:r>
            <a:r>
              <a:rPr lang="zh-CN" altLang="en-US" sz="3200" dirty="0"/>
              <a:t>（</a:t>
            </a:r>
            <a:r>
              <a:rPr lang="en-US" altLang="zh-CN" sz="3200" dirty="0"/>
              <a:t>10*3=30 </a:t>
            </a:r>
          </a:p>
          <a:p>
            <a:pPr marL="0" indent="0">
              <a:buNone/>
            </a:pPr>
            <a:r>
              <a:rPr lang="en-US" altLang="zh-CN" sz="3200" dirty="0"/>
              <a:t>    </a:t>
            </a:r>
            <a:r>
              <a:rPr lang="zh-CN" altLang="en-US" sz="3200" dirty="0"/>
              <a:t>分）；</a:t>
            </a:r>
            <a:endParaRPr lang="en-US" altLang="zh-CN" sz="3200" dirty="0"/>
          </a:p>
          <a:p>
            <a:pPr marL="0" indent="0">
              <a:buNone/>
            </a:pPr>
            <a:r>
              <a:rPr lang="zh-CN" altLang="en-US" sz="3200" dirty="0"/>
              <a:t>（二）堂上小测</a:t>
            </a:r>
            <a:r>
              <a:rPr lang="en-US" altLang="zh-CN" sz="3200" dirty="0"/>
              <a:t>1</a:t>
            </a:r>
            <a:r>
              <a:rPr lang="zh-CN" altLang="en-US" sz="3200" dirty="0"/>
              <a:t>次，计</a:t>
            </a:r>
            <a:r>
              <a:rPr lang="en-US" altLang="zh-CN" sz="3200" dirty="0"/>
              <a:t>20</a:t>
            </a:r>
            <a:r>
              <a:rPr lang="zh-CN" altLang="en-US" sz="3200" dirty="0"/>
              <a:t>分；</a:t>
            </a:r>
            <a:endParaRPr lang="en-US" altLang="zh-CN" sz="3200" dirty="0"/>
          </a:p>
          <a:p>
            <a:pPr marL="0" indent="0">
              <a:buNone/>
            </a:pPr>
            <a:r>
              <a:rPr lang="zh-CN" altLang="en-US" sz="3200" dirty="0"/>
              <a:t>（三）个人思想汇报</a:t>
            </a:r>
            <a:r>
              <a:rPr lang="en-US" altLang="zh-CN" sz="3200" dirty="0"/>
              <a:t>1</a:t>
            </a:r>
            <a:r>
              <a:rPr lang="zh-CN" altLang="en-US" sz="3200" dirty="0"/>
              <a:t>次，计</a:t>
            </a:r>
            <a:r>
              <a:rPr lang="en-US" altLang="zh-CN" sz="3200" dirty="0"/>
              <a:t>20</a:t>
            </a:r>
            <a:r>
              <a:rPr lang="zh-CN" altLang="en-US" sz="3200" dirty="0"/>
              <a:t>分；</a:t>
            </a:r>
            <a:endParaRPr lang="en-US" altLang="zh-CN" sz="3200" dirty="0"/>
          </a:p>
          <a:p>
            <a:pPr marL="0" indent="0">
              <a:buNone/>
            </a:pPr>
            <a:r>
              <a:rPr lang="zh-CN" altLang="en-US" sz="3200" dirty="0"/>
              <a:t>（四）小组社会实践报告</a:t>
            </a:r>
            <a:r>
              <a:rPr lang="en-US" altLang="zh-CN" sz="3200" dirty="0"/>
              <a:t>1</a:t>
            </a:r>
            <a:r>
              <a:rPr lang="zh-CN" altLang="en-US" sz="3200" dirty="0"/>
              <a:t>次，计</a:t>
            </a:r>
            <a:r>
              <a:rPr lang="en-US" altLang="zh-CN" sz="3200" dirty="0"/>
              <a:t>30</a:t>
            </a:r>
            <a:r>
              <a:rPr lang="zh-CN" altLang="en-US" sz="3200" dirty="0"/>
              <a:t>分。</a:t>
            </a:r>
            <a:endParaRPr lang="en-US" altLang="zh-CN" sz="3200" dirty="0"/>
          </a:p>
          <a:p>
            <a:pPr marL="0" indent="0">
              <a:buNone/>
            </a:pPr>
            <a:r>
              <a:rPr lang="zh-CN" altLang="en-US" sz="3200" dirty="0"/>
              <a:t>此外，个别周堂上抽点考勤，堂上讨论互动酌情给平时激励成绩。</a:t>
            </a:r>
            <a:endParaRPr lang="en-US" altLang="zh-CN" sz="3200" dirty="0"/>
          </a:p>
          <a:p>
            <a:pPr marL="0" indent="0">
              <a:buNone/>
            </a:pPr>
            <a:endParaRPr lang="en-US" altLang="zh-CN" sz="3600" dirty="0"/>
          </a:p>
        </p:txBody>
      </p:sp>
      <p:sp>
        <p:nvSpPr>
          <p:cNvPr id="5" name="日期占位符 4"/>
          <p:cNvSpPr>
            <a:spLocks noGrp="1"/>
          </p:cNvSpPr>
          <p:nvPr>
            <p:ph type="dt" sz="half" idx="10"/>
          </p:nvPr>
        </p:nvSpPr>
        <p:spPr/>
        <p:txBody>
          <a:bodyPr/>
          <a:lstStyle/>
          <a:p>
            <a:fld id="{0DDCB6CF-383B-484D-9317-088FC4CAF5B5}" type="datetime2">
              <a:rPr lang="zh-CN" altLang="en-US" smtClean="0"/>
              <a:t>2026年7月3日</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3</a:t>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95536" y="2852936"/>
            <a:ext cx="8229600" cy="1252728"/>
          </a:xfrm>
        </p:spPr>
        <p:txBody>
          <a:bodyPr>
            <a:normAutofit fontScale="90000"/>
          </a:bodyPr>
          <a:lstStyle/>
          <a:p>
            <a:pPr marL="0" indent="0"/>
            <a:r>
              <a:rPr lang="zh-CN" altLang="en-US" dirty="0">
                <a:solidFill>
                  <a:srgbClr val="00B0F0"/>
                </a:solidFill>
              </a:rPr>
              <a:t>二、期末笔试卷面题型及答题要领</a:t>
            </a:r>
            <a:endParaRPr lang="en-US" altLang="zh-CN" dirty="0">
              <a:solidFill>
                <a:srgbClr val="00B0F0"/>
              </a:solidFill>
            </a:endParaRPr>
          </a:p>
        </p:txBody>
      </p:sp>
      <p:sp>
        <p:nvSpPr>
          <p:cNvPr id="4" name="日期占位符 3"/>
          <p:cNvSpPr>
            <a:spLocks noGrp="1"/>
          </p:cNvSpPr>
          <p:nvPr>
            <p:ph type="dt" sz="half" idx="10"/>
          </p:nvPr>
        </p:nvSpPr>
        <p:spPr/>
        <p:txBody>
          <a:bodyPr/>
          <a:lstStyle/>
          <a:p>
            <a:fld id="{001D68B3-4BD1-4ACF-A88A-AF5C60D77C81}" type="datetime2">
              <a:rPr lang="zh-CN" altLang="en-US" smtClean="0"/>
              <a:t>2026年7月3日</a:t>
            </a:fld>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4</a:t>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11560" y="1556792"/>
            <a:ext cx="8064896" cy="4752528"/>
          </a:xfrm>
        </p:spPr>
        <p:txBody>
          <a:bodyPr>
            <a:noAutofit/>
          </a:bodyPr>
          <a:lstStyle/>
          <a:p>
            <a:pPr marL="0" indent="0">
              <a:buNone/>
            </a:pPr>
            <a:r>
              <a:rPr lang="zh-CN" altLang="en-US" sz="3000" dirty="0"/>
              <a:t> 期末笔试总成绩</a:t>
            </a:r>
            <a:r>
              <a:rPr lang="en-US" altLang="zh-CN" sz="3000" dirty="0"/>
              <a:t>100</a:t>
            </a:r>
            <a:r>
              <a:rPr lang="zh-CN" altLang="en-US" sz="3000" dirty="0"/>
              <a:t>分，</a:t>
            </a:r>
            <a:r>
              <a:rPr lang="zh-CN" altLang="en-US" sz="3000" b="1" dirty="0"/>
              <a:t>试题从试题库中随机抽取。</a:t>
            </a:r>
            <a:endParaRPr lang="en-US" altLang="zh-CN" sz="3000" b="1" dirty="0"/>
          </a:p>
          <a:p>
            <a:pPr marL="0" indent="0">
              <a:buNone/>
            </a:pPr>
            <a:r>
              <a:rPr lang="zh-CN" altLang="en-US" sz="3000" b="1" dirty="0"/>
              <a:t>具体题型分布：</a:t>
            </a:r>
            <a:r>
              <a:rPr lang="zh-CN" altLang="en-US" sz="3000" dirty="0"/>
              <a:t>简答题</a:t>
            </a:r>
            <a:r>
              <a:rPr lang="en-US" altLang="zh-CN" sz="3000" dirty="0"/>
              <a:t>3</a:t>
            </a:r>
            <a:r>
              <a:rPr lang="zh-CN" altLang="en-US" sz="3000" dirty="0"/>
              <a:t>道共</a:t>
            </a:r>
            <a:r>
              <a:rPr lang="en-US" altLang="zh-CN" sz="3000" dirty="0"/>
              <a:t>30</a:t>
            </a:r>
            <a:r>
              <a:rPr lang="zh-CN" altLang="en-US" sz="3000" dirty="0"/>
              <a:t>分，辨析题</a:t>
            </a:r>
            <a:r>
              <a:rPr lang="en-US" altLang="zh-CN" sz="3000" dirty="0"/>
              <a:t>2</a:t>
            </a:r>
            <a:r>
              <a:rPr lang="zh-CN" altLang="en-US" sz="3000" dirty="0"/>
              <a:t>道共</a:t>
            </a:r>
            <a:r>
              <a:rPr lang="en-US" altLang="zh-CN" sz="3000" dirty="0"/>
              <a:t>30</a:t>
            </a:r>
            <a:r>
              <a:rPr lang="zh-CN" altLang="en-US" sz="3000" dirty="0"/>
              <a:t>分，材料分析题</a:t>
            </a:r>
            <a:r>
              <a:rPr lang="en-US" altLang="zh-CN" sz="3000" dirty="0"/>
              <a:t>1</a:t>
            </a:r>
            <a:r>
              <a:rPr lang="zh-CN" altLang="en-US" sz="3000" dirty="0"/>
              <a:t>道</a:t>
            </a:r>
            <a:r>
              <a:rPr lang="en-US" altLang="zh-CN" sz="3000" dirty="0"/>
              <a:t>2</a:t>
            </a:r>
            <a:r>
              <a:rPr lang="zh-CN" altLang="en-US" sz="3000" dirty="0"/>
              <a:t>问共</a:t>
            </a:r>
            <a:r>
              <a:rPr lang="en-US" altLang="zh-CN" sz="3000" dirty="0"/>
              <a:t>20</a:t>
            </a:r>
            <a:r>
              <a:rPr lang="zh-CN" altLang="en-US" sz="3000" dirty="0"/>
              <a:t>分，论述题</a:t>
            </a:r>
            <a:r>
              <a:rPr lang="en-US" altLang="zh-CN" sz="3000" dirty="0"/>
              <a:t>1</a:t>
            </a:r>
            <a:r>
              <a:rPr lang="zh-CN" altLang="en-US" sz="3000" dirty="0"/>
              <a:t>道</a:t>
            </a:r>
            <a:r>
              <a:rPr lang="en-US" altLang="zh-CN" sz="3000" dirty="0"/>
              <a:t>2</a:t>
            </a:r>
            <a:r>
              <a:rPr lang="zh-CN" altLang="en-US" sz="3000" dirty="0"/>
              <a:t>问共</a:t>
            </a:r>
            <a:r>
              <a:rPr lang="en-US" altLang="zh-CN" sz="3000" dirty="0"/>
              <a:t>20</a:t>
            </a:r>
            <a:r>
              <a:rPr lang="zh-CN" altLang="en-US" sz="3000" dirty="0"/>
              <a:t>分。</a:t>
            </a:r>
            <a:endParaRPr lang="en-US" altLang="zh-CN" sz="3000" dirty="0"/>
          </a:p>
          <a:p>
            <a:pPr marL="0" indent="0">
              <a:buNone/>
            </a:pPr>
            <a:r>
              <a:rPr lang="zh-CN" altLang="en-US" sz="3000" b="1" dirty="0"/>
              <a:t>试卷中存在开放性题目，</a:t>
            </a:r>
            <a:r>
              <a:rPr lang="zh-CN" altLang="en-US" sz="3000" dirty="0"/>
              <a:t>重点考核学生的思辨分析、综合概括能力，需要结合</a:t>
            </a:r>
            <a:r>
              <a:rPr lang="zh-CN" altLang="en-US" sz="3000" b="1" dirty="0"/>
              <a:t>历史与现实</a:t>
            </a:r>
            <a:r>
              <a:rPr lang="zh-CN" altLang="en-US" sz="3000" dirty="0"/>
              <a:t>、结合</a:t>
            </a:r>
            <a:r>
              <a:rPr lang="zh-CN" altLang="en-US" sz="3000" b="1" dirty="0"/>
              <a:t>教学内容与平时积累</a:t>
            </a:r>
            <a:r>
              <a:rPr lang="zh-CN" altLang="en-US" sz="3000" dirty="0"/>
              <a:t>进行分析、提炼、概括，直接从书本获得大段答案的题目分值低于总分值的</a:t>
            </a:r>
            <a:r>
              <a:rPr lang="en-US" altLang="zh-CN" sz="3000" dirty="0"/>
              <a:t>60%</a:t>
            </a:r>
            <a:r>
              <a:rPr lang="zh-CN" altLang="en-US" sz="3000" dirty="0"/>
              <a:t>。</a:t>
            </a:r>
          </a:p>
        </p:txBody>
      </p:sp>
      <p:sp>
        <p:nvSpPr>
          <p:cNvPr id="3" name="日期占位符 2"/>
          <p:cNvSpPr>
            <a:spLocks noGrp="1"/>
          </p:cNvSpPr>
          <p:nvPr>
            <p:ph type="dt" sz="half" idx="10"/>
          </p:nvPr>
        </p:nvSpPr>
        <p:spPr/>
        <p:txBody>
          <a:bodyPr/>
          <a:lstStyle/>
          <a:p>
            <a:fld id="{0A30D5B6-6C46-43D2-B372-56E3427513A4}" type="datetime2">
              <a:rPr lang="zh-CN" altLang="en-US" smtClean="0"/>
              <a:t>2026年7月3日</a:t>
            </a:fld>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5</a:t>
            </a:fld>
            <a:endParaRPr lang="zh-CN" altLang="en-US"/>
          </a:p>
        </p:txBody>
      </p:sp>
      <p:sp>
        <p:nvSpPr>
          <p:cNvPr id="5" name="标题 4"/>
          <p:cNvSpPr>
            <a:spLocks noGrp="1"/>
          </p:cNvSpPr>
          <p:nvPr>
            <p:ph type="title"/>
          </p:nvPr>
        </p:nvSpPr>
        <p:spPr/>
        <p:txBody>
          <a:bodyPr/>
          <a:lstStyle/>
          <a:p>
            <a:r>
              <a:rPr lang="zh-CN" altLang="en-US" dirty="0"/>
              <a:t>题型、分值及其主导原则</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39552" y="836712"/>
            <a:ext cx="7992888" cy="4608512"/>
          </a:xfrm>
        </p:spPr>
        <p:txBody>
          <a:bodyPr>
            <a:noAutofit/>
          </a:bodyPr>
          <a:lstStyle/>
          <a:p>
            <a:pPr marL="0" indent="0">
              <a:buNone/>
            </a:pPr>
            <a:r>
              <a:rPr lang="zh-CN" altLang="en-US" sz="4000" b="1" dirty="0"/>
              <a:t>简答题</a:t>
            </a:r>
            <a:r>
              <a:rPr lang="en-US" altLang="zh-CN" sz="3600" b="1" dirty="0"/>
              <a:t> </a:t>
            </a:r>
            <a:r>
              <a:rPr lang="zh-CN" altLang="en-US" sz="3600" b="1" dirty="0"/>
              <a:t>（</a:t>
            </a:r>
            <a:r>
              <a:rPr lang="en-US" altLang="zh-CN" sz="3600" b="1" dirty="0"/>
              <a:t>10*3=30</a:t>
            </a:r>
            <a:r>
              <a:rPr lang="zh-CN" altLang="en-US" sz="3600" b="1" dirty="0"/>
              <a:t>分）</a:t>
            </a:r>
            <a:endParaRPr lang="en-US" altLang="zh-CN" sz="3600" b="1" dirty="0"/>
          </a:p>
          <a:p>
            <a:pPr marL="0" indent="0">
              <a:buNone/>
            </a:pPr>
            <a:r>
              <a:rPr lang="zh-CN" altLang="en-US" sz="3200" b="1" dirty="0"/>
              <a:t>答题要领：</a:t>
            </a:r>
            <a:endParaRPr lang="en-US" altLang="zh-CN" sz="3200" b="1" dirty="0"/>
          </a:p>
          <a:p>
            <a:pPr marL="0" indent="0">
              <a:buNone/>
            </a:pPr>
            <a:r>
              <a:rPr lang="en-US" altLang="zh-CN" sz="3200" b="1" dirty="0"/>
              <a:t>1.</a:t>
            </a:r>
            <a:r>
              <a:rPr lang="zh-CN" altLang="en-US" sz="3200" b="1" dirty="0"/>
              <a:t>简明扼要</a:t>
            </a:r>
          </a:p>
          <a:p>
            <a:pPr marL="0" indent="0">
              <a:buNone/>
            </a:pPr>
            <a:r>
              <a:rPr lang="en-US" altLang="zh-CN" sz="3200" b="1" dirty="0"/>
              <a:t>2.</a:t>
            </a:r>
            <a:r>
              <a:rPr lang="zh-CN" altLang="en-US" sz="3200" b="1" dirty="0"/>
              <a:t>要素齐全</a:t>
            </a:r>
          </a:p>
          <a:p>
            <a:pPr marL="0" indent="0">
              <a:buNone/>
            </a:pPr>
            <a:r>
              <a:rPr lang="en-US" altLang="zh-CN" sz="3200" b="1" dirty="0"/>
              <a:t>3.</a:t>
            </a:r>
            <a:r>
              <a:rPr lang="zh-CN" altLang="en-US" sz="3200" b="1" dirty="0"/>
              <a:t>要有主旨句（放在开头或结尾）</a:t>
            </a:r>
          </a:p>
          <a:p>
            <a:pPr marL="0" indent="0">
              <a:buNone/>
            </a:pPr>
            <a:r>
              <a:rPr lang="en-US" altLang="zh-CN" sz="3200" b="1" dirty="0"/>
              <a:t>4.</a:t>
            </a:r>
            <a:r>
              <a:rPr lang="zh-CN" altLang="en-US" sz="3200" b="1" dirty="0"/>
              <a:t>简要进行概念解析</a:t>
            </a:r>
          </a:p>
          <a:p>
            <a:pPr marL="0" indent="0">
              <a:buNone/>
            </a:pPr>
            <a:r>
              <a:rPr lang="en-US" altLang="zh-CN" sz="3200" b="1" dirty="0"/>
              <a:t>5.</a:t>
            </a:r>
            <a:r>
              <a:rPr lang="zh-CN" altLang="en-US" sz="3200" b="1" dirty="0"/>
              <a:t>注意断句（适用于整张试卷）</a:t>
            </a:r>
          </a:p>
        </p:txBody>
      </p:sp>
      <p:sp>
        <p:nvSpPr>
          <p:cNvPr id="5" name="日期占位符 4"/>
          <p:cNvSpPr>
            <a:spLocks noGrp="1"/>
          </p:cNvSpPr>
          <p:nvPr>
            <p:ph type="dt" sz="half" idx="10"/>
          </p:nvPr>
        </p:nvSpPr>
        <p:spPr/>
        <p:txBody>
          <a:bodyPr/>
          <a:lstStyle/>
          <a:p>
            <a:fld id="{0DDCB6CF-383B-484D-9317-088FC4CAF5B5}" type="datetime2">
              <a:rPr lang="zh-CN" altLang="en-US" smtClean="0"/>
              <a:t>2026年7月3日</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6</a:t>
            </a:fld>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1520" y="836712"/>
            <a:ext cx="8640960" cy="5256584"/>
          </a:xfrm>
        </p:spPr>
        <p:txBody>
          <a:bodyPr>
            <a:noAutofit/>
          </a:bodyPr>
          <a:lstStyle/>
          <a:p>
            <a:pPr marL="0" indent="0">
              <a:buNone/>
            </a:pPr>
            <a:r>
              <a:rPr lang="zh-CN" altLang="en-US" sz="2200" b="1" dirty="0"/>
              <a:t>题目：简述社会主义本质中生产力目标和价值目标的关系。</a:t>
            </a:r>
            <a:endParaRPr lang="en-US" altLang="zh-CN" sz="2200" b="1" dirty="0"/>
          </a:p>
          <a:p>
            <a:pPr marL="0" indent="0">
              <a:buNone/>
            </a:pPr>
            <a:r>
              <a:rPr lang="zh-CN" altLang="en-US" sz="2200" b="1" dirty="0"/>
              <a:t>参考答案： </a:t>
            </a:r>
            <a:endParaRPr lang="en-US" altLang="zh-CN" sz="2200" b="1" dirty="0"/>
          </a:p>
          <a:p>
            <a:pPr marL="0" indent="0">
              <a:buNone/>
            </a:pPr>
            <a:r>
              <a:rPr lang="zh-CN" altLang="en-US" sz="2200" dirty="0"/>
              <a:t>（</a:t>
            </a:r>
            <a:r>
              <a:rPr lang="en-US" altLang="zh-CN" sz="2200" dirty="0"/>
              <a:t>1</a:t>
            </a:r>
            <a:r>
              <a:rPr lang="zh-CN" altLang="en-US" sz="2200" dirty="0"/>
              <a:t>）</a:t>
            </a:r>
            <a:r>
              <a:rPr lang="en-US" altLang="zh-CN" sz="2200" dirty="0"/>
              <a:t>1992</a:t>
            </a:r>
            <a:r>
              <a:rPr lang="zh-CN" altLang="en-US" sz="2200" dirty="0"/>
              <a:t>年初，邓小平在“南方谈话”中对社会主义本质做了总结性理论概括：</a:t>
            </a:r>
            <a:r>
              <a:rPr lang="zh-CN" altLang="en-US" sz="2200" b="1" i="1" dirty="0"/>
              <a:t>社会主义的本质</a:t>
            </a:r>
            <a:r>
              <a:rPr lang="zh-CN" altLang="en-US" sz="2200" dirty="0"/>
              <a:t>是解放生产力，发展生产力，消灭剥削，消灭两极分化，最终达到共同富裕。其中，解放生产力、发展生产力是</a:t>
            </a:r>
            <a:r>
              <a:rPr lang="zh-CN" altLang="en-US" sz="2200" b="1" i="1" dirty="0"/>
              <a:t>生产力目标</a:t>
            </a:r>
            <a:r>
              <a:rPr lang="zh-CN" altLang="en-US" sz="2200" dirty="0"/>
              <a:t>，消灭剥削，消灭两极分化，最终达到共同富裕是社会主义的</a:t>
            </a:r>
            <a:r>
              <a:rPr lang="zh-CN" altLang="en-US" sz="2200" b="1" i="1" dirty="0"/>
              <a:t>价值目标</a:t>
            </a:r>
            <a:r>
              <a:rPr lang="zh-CN" altLang="en-US" sz="2200" dirty="0"/>
              <a:t>。</a:t>
            </a:r>
            <a:r>
              <a:rPr lang="zh-CN" altLang="en-US" sz="2200" b="1" dirty="0"/>
              <a:t>这两个目标是互为条件的。</a:t>
            </a:r>
            <a:endParaRPr lang="en-US" altLang="zh-CN" sz="2200" b="1" dirty="0"/>
          </a:p>
          <a:p>
            <a:pPr marL="0" indent="0">
              <a:buNone/>
            </a:pPr>
            <a:endParaRPr lang="en-US" altLang="zh-CN" sz="2200" b="1" dirty="0"/>
          </a:p>
          <a:p>
            <a:pPr marL="0" indent="0">
              <a:buNone/>
            </a:pPr>
            <a:r>
              <a:rPr lang="zh-CN" altLang="en-US" sz="2200" b="1" dirty="0"/>
              <a:t>（</a:t>
            </a:r>
            <a:r>
              <a:rPr lang="en-US" altLang="zh-CN" sz="2200" b="1" dirty="0"/>
              <a:t>2</a:t>
            </a:r>
            <a:r>
              <a:rPr lang="zh-CN" altLang="en-US" sz="2200" b="1" dirty="0"/>
              <a:t>）共同富裕的实现是以生产力的高速发展为条件的，</a:t>
            </a:r>
            <a:r>
              <a:rPr lang="zh-CN" altLang="en-US" sz="2200" dirty="0"/>
              <a:t>如果经济落后，生产力发展水平低下，那么无论用什么办法进行分配，都无法实现共同富裕。</a:t>
            </a:r>
            <a:r>
              <a:rPr lang="zh-CN" altLang="en-US" sz="2200" b="1" dirty="0"/>
              <a:t>即提高生产力是实现社会主义价值目标的物质基础。</a:t>
            </a:r>
            <a:endParaRPr lang="en-US" altLang="zh-CN" sz="2200" b="1" dirty="0"/>
          </a:p>
          <a:p>
            <a:pPr marL="0" indent="0">
              <a:buNone/>
            </a:pPr>
            <a:endParaRPr lang="en-US" altLang="zh-CN" sz="2200" b="1" dirty="0"/>
          </a:p>
          <a:p>
            <a:pPr marL="0" indent="0">
              <a:buNone/>
            </a:pPr>
            <a:r>
              <a:rPr lang="zh-CN" altLang="en-US" sz="2200" b="1" dirty="0"/>
              <a:t>（</a:t>
            </a:r>
            <a:r>
              <a:rPr lang="en-US" altLang="zh-CN" sz="2200" b="1" dirty="0"/>
              <a:t>3</a:t>
            </a:r>
            <a:r>
              <a:rPr lang="zh-CN" altLang="en-US" sz="2200" b="1" dirty="0"/>
              <a:t>）解放生产力和发展生产力，又是以走向共同富裕的道路为条件的。</a:t>
            </a:r>
            <a:r>
              <a:rPr lang="zh-CN" altLang="en-US" sz="2200" dirty="0"/>
              <a:t>在社会主义社会，只能走共同富裕的道路去发展经济，避免两极分化。如果不坚持社会主义，搞两极分化，生产力既得不到解放，也得不到发展。</a:t>
            </a:r>
          </a:p>
        </p:txBody>
      </p:sp>
      <p:sp>
        <p:nvSpPr>
          <p:cNvPr id="3" name="日期占位符 2"/>
          <p:cNvSpPr>
            <a:spLocks noGrp="1"/>
          </p:cNvSpPr>
          <p:nvPr>
            <p:ph type="dt" sz="half" idx="10"/>
          </p:nvPr>
        </p:nvSpPr>
        <p:spPr/>
        <p:txBody>
          <a:bodyPr/>
          <a:lstStyle/>
          <a:p>
            <a:fld id="{0A30D5B6-6C46-43D2-B372-56E3427513A4}" type="datetime2">
              <a:rPr lang="zh-CN" altLang="en-US" smtClean="0"/>
              <a:t>2026年7月3日</a:t>
            </a:fld>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7</a:t>
            </a:fld>
            <a:endParaRPr lang="zh-CN" altLang="en-US"/>
          </a:p>
        </p:txBody>
      </p:sp>
      <p:sp>
        <p:nvSpPr>
          <p:cNvPr id="5" name="标题 4"/>
          <p:cNvSpPr>
            <a:spLocks noGrp="1"/>
          </p:cNvSpPr>
          <p:nvPr>
            <p:ph type="title"/>
          </p:nvPr>
        </p:nvSpPr>
        <p:spPr>
          <a:xfrm>
            <a:off x="457200" y="116632"/>
            <a:ext cx="8229600" cy="786416"/>
          </a:xfrm>
        </p:spPr>
        <p:txBody>
          <a:bodyPr/>
          <a:lstStyle/>
          <a:p>
            <a:r>
              <a:rPr lang="zh-CN" altLang="en-US" dirty="0"/>
              <a:t>例题分析</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39552" y="836712"/>
            <a:ext cx="7992888" cy="4608512"/>
          </a:xfrm>
        </p:spPr>
        <p:txBody>
          <a:bodyPr>
            <a:noAutofit/>
          </a:bodyPr>
          <a:lstStyle/>
          <a:p>
            <a:pPr marL="0" indent="0">
              <a:buNone/>
            </a:pPr>
            <a:r>
              <a:rPr lang="zh-CN" altLang="en-US" sz="4000" b="1" dirty="0"/>
              <a:t>辨析题（</a:t>
            </a:r>
            <a:r>
              <a:rPr lang="en-US" altLang="zh-CN" sz="4000" b="1" dirty="0"/>
              <a:t>15*2=30</a:t>
            </a:r>
            <a:r>
              <a:rPr lang="zh-CN" altLang="en-US" sz="4000" b="1" dirty="0"/>
              <a:t>分）</a:t>
            </a:r>
            <a:endParaRPr lang="en-US" altLang="zh-CN" sz="4000" b="1" dirty="0"/>
          </a:p>
          <a:p>
            <a:pPr marL="0" indent="0">
              <a:buNone/>
            </a:pPr>
            <a:r>
              <a:rPr lang="zh-CN" altLang="en-US" sz="3200" b="1" dirty="0"/>
              <a:t>答题要领：</a:t>
            </a:r>
            <a:endParaRPr lang="en-US" altLang="zh-CN" sz="3200" b="1" dirty="0"/>
          </a:p>
          <a:p>
            <a:pPr marL="0" indent="0">
              <a:buNone/>
            </a:pPr>
            <a:r>
              <a:rPr lang="en-US" altLang="zh-CN" sz="3200" b="1" dirty="0"/>
              <a:t>1.</a:t>
            </a:r>
            <a:r>
              <a:rPr lang="zh-CN" altLang="en-US" sz="3200" b="1" dirty="0"/>
              <a:t>先要“辨”：判断这个命题是正确的、错误的、不完全正确的</a:t>
            </a:r>
            <a:endParaRPr lang="en-US" altLang="zh-CN" sz="3200" b="1" dirty="0"/>
          </a:p>
          <a:p>
            <a:pPr marL="0" indent="0">
              <a:buNone/>
            </a:pPr>
            <a:r>
              <a:rPr lang="en-US" altLang="zh-CN" sz="3200" b="1" dirty="0"/>
              <a:t>2.</a:t>
            </a:r>
            <a:r>
              <a:rPr lang="zh-CN" altLang="en-US" sz="3200" b="1" dirty="0"/>
              <a:t>后要“析”：再按照论述题的答题方式作答</a:t>
            </a:r>
            <a:endParaRPr lang="en-US" altLang="zh-CN" sz="3200" b="1" dirty="0"/>
          </a:p>
          <a:p>
            <a:pPr marL="0" indent="0">
              <a:buNone/>
            </a:pPr>
            <a:r>
              <a:rPr lang="en-US" altLang="zh-CN" sz="3200" b="1" dirty="0"/>
              <a:t>3.</a:t>
            </a:r>
            <a:r>
              <a:rPr lang="zh-CN" altLang="en-US" sz="3200" b="1" dirty="0"/>
              <a:t>论证要求层次分明、条理清晰、逻辑贯通、</a:t>
            </a:r>
          </a:p>
        </p:txBody>
      </p:sp>
      <p:sp>
        <p:nvSpPr>
          <p:cNvPr id="5" name="日期占位符 4"/>
          <p:cNvSpPr>
            <a:spLocks noGrp="1"/>
          </p:cNvSpPr>
          <p:nvPr>
            <p:ph type="dt" sz="half" idx="10"/>
          </p:nvPr>
        </p:nvSpPr>
        <p:spPr/>
        <p:txBody>
          <a:bodyPr/>
          <a:lstStyle/>
          <a:p>
            <a:fld id="{0DDCB6CF-383B-484D-9317-088FC4CAF5B5}" type="datetime2">
              <a:rPr lang="zh-CN" altLang="en-US" smtClean="0"/>
              <a:t>2026年7月3日</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8</a:t>
            </a:fld>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27584" y="1556792"/>
            <a:ext cx="7408333" cy="4680520"/>
          </a:xfrm>
        </p:spPr>
        <p:txBody>
          <a:bodyPr>
            <a:noAutofit/>
          </a:bodyPr>
          <a:lstStyle/>
          <a:p>
            <a:pPr marL="0" indent="0">
              <a:buNone/>
            </a:pPr>
            <a:r>
              <a:rPr lang="zh-CN" altLang="en-US" b="1" dirty="0"/>
              <a:t>题目：“</a:t>
            </a:r>
            <a:r>
              <a:rPr lang="zh-CN" altLang="en-US" dirty="0"/>
              <a:t>三个代表</a:t>
            </a:r>
            <a:r>
              <a:rPr lang="zh-CN" altLang="en-US" b="1" dirty="0"/>
              <a:t>”</a:t>
            </a:r>
            <a:r>
              <a:rPr lang="zh-CN" altLang="en-US" dirty="0"/>
              <a:t>重要思想，坚持把发展先进生产力作为出发点和归宿。</a:t>
            </a:r>
            <a:endParaRPr lang="en-US" altLang="zh-CN" dirty="0"/>
          </a:p>
          <a:p>
            <a:pPr marL="0" indent="0">
              <a:buNone/>
            </a:pPr>
            <a:r>
              <a:rPr lang="zh-CN" altLang="en-US" b="1" dirty="0"/>
              <a:t>参考答案：</a:t>
            </a:r>
            <a:endParaRPr lang="en-US" altLang="zh-CN" b="1" dirty="0"/>
          </a:p>
          <a:p>
            <a:pPr marL="0" indent="0">
              <a:buNone/>
            </a:pPr>
            <a:r>
              <a:rPr lang="zh-CN" altLang="en-US" b="1" dirty="0"/>
              <a:t>（</a:t>
            </a:r>
            <a:r>
              <a:rPr lang="en-US" altLang="zh-CN" b="1" dirty="0"/>
              <a:t>1</a:t>
            </a:r>
            <a:r>
              <a:rPr lang="zh-CN" altLang="en-US" b="1" dirty="0"/>
              <a:t>）这个说法（论述）是错误的。</a:t>
            </a:r>
            <a:endParaRPr lang="en-US" altLang="zh-CN" b="1" dirty="0"/>
          </a:p>
          <a:p>
            <a:pPr marL="0" indent="0">
              <a:buNone/>
            </a:pPr>
            <a:r>
              <a:rPr lang="zh-CN" altLang="en-US" b="1" dirty="0"/>
              <a:t> （</a:t>
            </a:r>
            <a:r>
              <a:rPr lang="en-US" altLang="zh-CN" b="1" dirty="0"/>
              <a:t>2</a:t>
            </a:r>
            <a:r>
              <a:rPr lang="zh-CN" altLang="en-US" b="1" dirty="0"/>
              <a:t>）“</a:t>
            </a:r>
            <a:r>
              <a:rPr lang="zh-CN" altLang="en-US" dirty="0"/>
              <a:t>三个代表</a:t>
            </a:r>
            <a:r>
              <a:rPr lang="zh-CN" altLang="en-US" b="1" dirty="0"/>
              <a:t>”</a:t>
            </a:r>
            <a:r>
              <a:rPr lang="zh-CN" altLang="en-US" dirty="0"/>
              <a:t>重要思想坚持把</a:t>
            </a:r>
            <a:r>
              <a:rPr lang="zh-CN" altLang="en-US" b="1" dirty="0"/>
              <a:t>人民的根本利益作为出发点和归宿</a:t>
            </a:r>
            <a:r>
              <a:rPr lang="zh-CN" altLang="en-US" dirty="0"/>
              <a:t>。江泽民提出，“最大多数人的利益是最紧要和最具有决定性的因素”，时刻要把人民群众的安危冷暖放在心上，关心群众疾苦，努力为群众办好事、办实事。这一思想进一步揭示了人民群众在人类历史发展中的重要地位和作用，为我们党在代表中国最广大人民的根本利益，加强同人民群众的血肉联系方面指明了方向，丰富了马克思主义唯物史观。</a:t>
            </a:r>
          </a:p>
        </p:txBody>
      </p:sp>
      <p:sp>
        <p:nvSpPr>
          <p:cNvPr id="3" name="日期占位符 2"/>
          <p:cNvSpPr>
            <a:spLocks noGrp="1"/>
          </p:cNvSpPr>
          <p:nvPr>
            <p:ph type="dt" sz="half" idx="10"/>
          </p:nvPr>
        </p:nvSpPr>
        <p:spPr/>
        <p:txBody>
          <a:bodyPr/>
          <a:lstStyle/>
          <a:p>
            <a:fld id="{0A30D5B6-6C46-43D2-B372-56E3427513A4}" type="datetime2">
              <a:rPr lang="zh-CN" altLang="en-US" smtClean="0"/>
              <a:t>2026年7月3日</a:t>
            </a:fld>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9</a:t>
            </a:fld>
            <a:endParaRPr lang="zh-CN" altLang="en-US"/>
          </a:p>
        </p:txBody>
      </p:sp>
      <p:sp>
        <p:nvSpPr>
          <p:cNvPr id="5" name="标题 4"/>
          <p:cNvSpPr>
            <a:spLocks noGrp="1"/>
          </p:cNvSpPr>
          <p:nvPr>
            <p:ph type="title"/>
          </p:nvPr>
        </p:nvSpPr>
        <p:spPr/>
        <p:txBody>
          <a:bodyPr/>
          <a:lstStyle/>
          <a:p>
            <a:r>
              <a:rPr lang="zh-CN" altLang="en-US" dirty="0"/>
              <a:t>例题分析</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39552" y="836712"/>
            <a:ext cx="7992888" cy="4608512"/>
          </a:xfrm>
        </p:spPr>
        <p:txBody>
          <a:bodyPr>
            <a:noAutofit/>
          </a:bodyPr>
          <a:lstStyle/>
          <a:p>
            <a:pPr marL="0" indent="0">
              <a:buNone/>
            </a:pPr>
            <a:r>
              <a:rPr lang="zh-CN" altLang="en-US" sz="4000" b="1" dirty="0"/>
              <a:t>材料分析（</a:t>
            </a:r>
            <a:r>
              <a:rPr lang="en-US" altLang="zh-CN" sz="4000" b="1" dirty="0"/>
              <a:t>10*2=20</a:t>
            </a:r>
            <a:r>
              <a:rPr lang="zh-CN" altLang="en-US" sz="4000" b="1" dirty="0"/>
              <a:t>分）</a:t>
            </a:r>
            <a:endParaRPr lang="en-US" altLang="zh-CN" sz="3200" b="1" dirty="0"/>
          </a:p>
          <a:p>
            <a:pPr marL="0" indent="0">
              <a:buNone/>
            </a:pPr>
            <a:endParaRPr lang="en-US" altLang="zh-CN" sz="3200" b="1" dirty="0"/>
          </a:p>
          <a:p>
            <a:pPr marL="0" indent="0">
              <a:buNone/>
            </a:pPr>
            <a:r>
              <a:rPr lang="zh-CN" altLang="en-US" sz="3200" b="1" dirty="0"/>
              <a:t>答题要领：</a:t>
            </a:r>
            <a:endParaRPr lang="en-US" altLang="zh-CN" sz="3200" b="1" dirty="0"/>
          </a:p>
          <a:p>
            <a:pPr marL="0" indent="0">
              <a:buNone/>
            </a:pPr>
            <a:r>
              <a:rPr lang="en-US" altLang="zh-CN" sz="3200" b="1" dirty="0"/>
              <a:t>1.</a:t>
            </a:r>
            <a:r>
              <a:rPr lang="zh-CN" altLang="en-US" sz="3200" b="1" dirty="0"/>
              <a:t>题目出处：党的重要文献（决议），党的领导人历年重要讲话、著述，党媒（党报党刊）中的重要评论员文章等</a:t>
            </a:r>
          </a:p>
          <a:p>
            <a:pPr marL="0" indent="0">
              <a:buNone/>
            </a:pPr>
            <a:r>
              <a:rPr lang="en-US" altLang="zh-CN" sz="3200" b="1" dirty="0"/>
              <a:t>2.</a:t>
            </a:r>
            <a:r>
              <a:rPr lang="zh-CN" altLang="en-US" sz="3200" b="1" dirty="0"/>
              <a:t>简要阐释材料的主旨（内涵、要义等）</a:t>
            </a:r>
            <a:endParaRPr lang="en-US" altLang="zh-CN" sz="3200" b="1" dirty="0"/>
          </a:p>
          <a:p>
            <a:pPr marL="0" indent="0">
              <a:buNone/>
            </a:pPr>
            <a:r>
              <a:rPr lang="en-US" altLang="zh-CN" sz="3200" b="1" dirty="0"/>
              <a:t>3.</a:t>
            </a:r>
            <a:r>
              <a:rPr lang="zh-CN" altLang="en-US" sz="3200" b="1" dirty="0"/>
              <a:t>接下来按照论述题的方式作答</a:t>
            </a:r>
          </a:p>
        </p:txBody>
      </p:sp>
      <p:sp>
        <p:nvSpPr>
          <p:cNvPr id="5" name="日期占位符 4"/>
          <p:cNvSpPr>
            <a:spLocks noGrp="1"/>
          </p:cNvSpPr>
          <p:nvPr>
            <p:ph type="dt" sz="half" idx="10"/>
          </p:nvPr>
        </p:nvSpPr>
        <p:spPr/>
        <p:txBody>
          <a:bodyPr/>
          <a:lstStyle/>
          <a:p>
            <a:fld id="{0DDCB6CF-383B-484D-9317-088FC4CAF5B5}" type="datetime2">
              <a:rPr lang="zh-CN" altLang="en-US" smtClean="0"/>
              <a:t>2026年7月3日</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10</a:t>
            </a:fld>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1520" y="692696"/>
            <a:ext cx="8640960" cy="6048672"/>
          </a:xfrm>
        </p:spPr>
        <p:txBody>
          <a:bodyPr>
            <a:noAutofit/>
          </a:bodyPr>
          <a:lstStyle/>
          <a:p>
            <a:pPr marL="0" indent="0">
              <a:buNone/>
            </a:pPr>
            <a:r>
              <a:rPr lang="zh-CN" altLang="en-US" sz="1800" b="1" dirty="0"/>
              <a:t>题目：</a:t>
            </a:r>
            <a:endParaRPr lang="en-US" altLang="zh-CN" sz="1800" b="1" dirty="0"/>
          </a:p>
          <a:p>
            <a:pPr marL="0" indent="0">
              <a:buNone/>
            </a:pPr>
            <a:r>
              <a:rPr lang="zh-CN" altLang="en-US" sz="2000" dirty="0"/>
              <a:t>材料</a:t>
            </a:r>
            <a:r>
              <a:rPr lang="en-US" altLang="zh-CN" sz="2000" dirty="0"/>
              <a:t>1</a:t>
            </a:r>
          </a:p>
          <a:p>
            <a:pPr marL="0" indent="0">
              <a:buNone/>
            </a:pPr>
            <a:r>
              <a:rPr lang="zh-CN" altLang="en-US" sz="2000" dirty="0"/>
              <a:t>“在打倒地主阶级和官僚资产阶级以后，中国内部的主要矛盾即是工人阶级与民族资产阶级的矛盾，故不应再将民族资产阶级称为中间阶级。”</a:t>
            </a:r>
            <a:r>
              <a:rPr lang="en-US" altLang="zh-CN" sz="2000" dirty="0"/>
              <a:t>--</a:t>
            </a:r>
            <a:r>
              <a:rPr lang="zh-CN" altLang="en-US" sz="2000" dirty="0"/>
              <a:t>摘自毛泽东</a:t>
            </a:r>
            <a:r>
              <a:rPr lang="en-US" altLang="zh-CN" sz="2000" dirty="0"/>
              <a:t>《</a:t>
            </a:r>
            <a:r>
              <a:rPr lang="zh-CN" altLang="en-US" sz="2000" dirty="0"/>
              <a:t>工人阶级与资产阶级的矛盾</a:t>
            </a:r>
            <a:r>
              <a:rPr lang="en-US" altLang="zh-CN" sz="2000" dirty="0"/>
              <a:t>》</a:t>
            </a:r>
          </a:p>
          <a:p>
            <a:pPr marL="0" indent="0">
              <a:buNone/>
            </a:pPr>
            <a:r>
              <a:rPr lang="zh-CN" altLang="en-US" sz="2000" dirty="0"/>
              <a:t>材料</a:t>
            </a:r>
            <a:r>
              <a:rPr lang="en-US" altLang="zh-CN" sz="2000" dirty="0"/>
              <a:t>2</a:t>
            </a:r>
          </a:p>
          <a:p>
            <a:pPr marL="0" indent="0">
              <a:buNone/>
            </a:pPr>
            <a:r>
              <a:rPr lang="en-US" altLang="zh-CN" sz="2000" dirty="0"/>
              <a:t>“</a:t>
            </a:r>
            <a:r>
              <a:rPr lang="zh-CN" altLang="en-US" sz="2000" dirty="0"/>
              <a:t>在我们国家里，工人阶级同民族资产阶级的矛盾属于人民内部矛盾。工人阶级同民族资产阶级的阶级斗争一般属于人民内部的阶级斗争。”</a:t>
            </a:r>
            <a:r>
              <a:rPr lang="en-US" altLang="zh-CN" sz="2000" dirty="0"/>
              <a:t>--</a:t>
            </a:r>
            <a:r>
              <a:rPr lang="zh-CN" altLang="en-US" sz="2000" dirty="0"/>
              <a:t>摘自毛泽东</a:t>
            </a:r>
            <a:r>
              <a:rPr lang="en-US" altLang="zh-CN" sz="2000" dirty="0"/>
              <a:t>《</a:t>
            </a:r>
            <a:r>
              <a:rPr lang="zh-CN" altLang="en-US" sz="2000" dirty="0"/>
              <a:t>关于正确处理人民内部矛盾的问题</a:t>
            </a:r>
            <a:r>
              <a:rPr lang="en-US" altLang="zh-CN" sz="2000" dirty="0"/>
              <a:t>》</a:t>
            </a:r>
          </a:p>
          <a:p>
            <a:pPr marL="0" indent="0">
              <a:buNone/>
            </a:pPr>
            <a:r>
              <a:rPr lang="zh-CN" altLang="en-US" sz="2000" dirty="0"/>
              <a:t>材料</a:t>
            </a:r>
            <a:r>
              <a:rPr lang="en-US" altLang="zh-CN" sz="2000" dirty="0"/>
              <a:t>3</a:t>
            </a:r>
          </a:p>
          <a:p>
            <a:pPr marL="0" indent="0">
              <a:buNone/>
            </a:pPr>
            <a:r>
              <a:rPr lang="en-US" altLang="zh-CN" sz="2000" dirty="0"/>
              <a:t>“</a:t>
            </a:r>
            <a:r>
              <a:rPr lang="zh-CN" altLang="en-US" sz="2000" dirty="0"/>
              <a:t>我国国内的主要矛盾，已经是人民对于建立先进的工业国的要求同落后的农业国的现实之间的矛盾，已经是人民对于经济文化迅速发展的需要同当前经济文化不能满足人民需要的状况之间的矛盾。”</a:t>
            </a:r>
            <a:r>
              <a:rPr lang="en-US" altLang="zh-CN" sz="2000" dirty="0"/>
              <a:t>--</a:t>
            </a:r>
            <a:r>
              <a:rPr lang="zh-CN" altLang="en-US" sz="2000" dirty="0"/>
              <a:t>摘自中共八大决议</a:t>
            </a:r>
            <a:endParaRPr lang="en-US" altLang="zh-CN" sz="2000" b="1" dirty="0"/>
          </a:p>
          <a:p>
            <a:pPr marL="0" indent="0">
              <a:buNone/>
            </a:pPr>
            <a:r>
              <a:rPr lang="zh-CN" altLang="en-US" sz="2000" b="1" dirty="0"/>
              <a:t>根据以上材料请回答：</a:t>
            </a:r>
            <a:endParaRPr lang="en-US" altLang="zh-CN" sz="2000" dirty="0"/>
          </a:p>
          <a:p>
            <a:pPr marL="0" indent="0">
              <a:buNone/>
            </a:pPr>
            <a:r>
              <a:rPr lang="en-US" altLang="zh-CN" sz="2000" dirty="0"/>
              <a:t>(1)</a:t>
            </a:r>
            <a:r>
              <a:rPr lang="zh-CN" altLang="en-US" sz="2000" dirty="0"/>
              <a:t>材料</a:t>
            </a:r>
            <a:r>
              <a:rPr lang="en-US" altLang="zh-CN" sz="2000" dirty="0"/>
              <a:t>1</a:t>
            </a:r>
            <a:r>
              <a:rPr lang="zh-CN" altLang="en-US" sz="2000" dirty="0"/>
              <a:t>中对国内主要矛盾的认识是否正确</a:t>
            </a:r>
            <a:r>
              <a:rPr lang="en-US" altLang="zh-CN" sz="2000" dirty="0"/>
              <a:t>?</a:t>
            </a:r>
            <a:r>
              <a:rPr lang="zh-CN" altLang="en-US" sz="2000" dirty="0"/>
              <a:t>为什么</a:t>
            </a:r>
            <a:r>
              <a:rPr lang="en-US" altLang="zh-CN" sz="2000" dirty="0"/>
              <a:t>?</a:t>
            </a:r>
          </a:p>
          <a:p>
            <a:pPr marL="0" indent="0">
              <a:buNone/>
            </a:pPr>
            <a:r>
              <a:rPr lang="en-US" altLang="zh-CN" sz="2000" dirty="0"/>
              <a:t>(2)</a:t>
            </a:r>
            <a:r>
              <a:rPr lang="zh-CN" altLang="en-US" sz="2000" dirty="0"/>
              <a:t>材料</a:t>
            </a:r>
            <a:r>
              <a:rPr lang="en-US" altLang="zh-CN" sz="2000" dirty="0"/>
              <a:t>2</a:t>
            </a:r>
            <a:r>
              <a:rPr lang="zh-CN" altLang="en-US" sz="2000" dirty="0"/>
              <a:t>提出了一个什么观点</a:t>
            </a:r>
            <a:r>
              <a:rPr lang="en-US" altLang="zh-CN" sz="2000" dirty="0"/>
              <a:t>?</a:t>
            </a:r>
            <a:r>
              <a:rPr lang="zh-CN" altLang="en-US" sz="2000" dirty="0"/>
              <a:t>在实际工作中如何处理的</a:t>
            </a:r>
            <a:r>
              <a:rPr lang="en-US" altLang="zh-CN" sz="2000" dirty="0"/>
              <a:t>?</a:t>
            </a:r>
            <a:r>
              <a:rPr lang="zh-CN" altLang="en-US" sz="2000" dirty="0"/>
              <a:t>依据是什么</a:t>
            </a:r>
            <a:r>
              <a:rPr lang="en-US" altLang="zh-CN" sz="2000" dirty="0"/>
              <a:t>?</a:t>
            </a:r>
          </a:p>
          <a:p>
            <a:pPr marL="0" indent="0">
              <a:buNone/>
            </a:pPr>
            <a:r>
              <a:rPr lang="en-US" altLang="zh-CN" sz="2000" dirty="0"/>
              <a:t>(3)</a:t>
            </a:r>
            <a:r>
              <a:rPr lang="zh-CN" altLang="en-US" sz="2000" dirty="0"/>
              <a:t>材料</a:t>
            </a:r>
            <a:r>
              <a:rPr lang="en-US" altLang="zh-CN" sz="2000" dirty="0"/>
              <a:t>3</a:t>
            </a:r>
            <a:r>
              <a:rPr lang="zh-CN" altLang="en-US" sz="2000" dirty="0"/>
              <a:t>中对国内矛盾的认识是否正确</a:t>
            </a:r>
            <a:r>
              <a:rPr lang="en-US" altLang="zh-CN" sz="2000" dirty="0"/>
              <a:t>?</a:t>
            </a:r>
            <a:r>
              <a:rPr lang="zh-CN" altLang="en-US" sz="2000" dirty="0"/>
              <a:t>请说明理由。</a:t>
            </a:r>
            <a:r>
              <a:rPr lang="en-US" altLang="zh-CN" sz="2000" dirty="0"/>
              <a:t> </a:t>
            </a:r>
          </a:p>
        </p:txBody>
      </p:sp>
      <p:sp>
        <p:nvSpPr>
          <p:cNvPr id="3" name="日期占位符 2"/>
          <p:cNvSpPr>
            <a:spLocks noGrp="1"/>
          </p:cNvSpPr>
          <p:nvPr>
            <p:ph type="dt" sz="half" idx="10"/>
          </p:nvPr>
        </p:nvSpPr>
        <p:spPr/>
        <p:txBody>
          <a:bodyPr/>
          <a:lstStyle/>
          <a:p>
            <a:fld id="{0A30D5B6-6C46-43D2-B372-56E3427513A4}" type="datetime2">
              <a:rPr lang="zh-CN" altLang="en-US" smtClean="0"/>
              <a:t>2026年7月3日</a:t>
            </a:fld>
            <a:endParaRPr lang="zh-CN" altLang="en-US"/>
          </a:p>
        </p:txBody>
      </p:sp>
      <p:sp>
        <p:nvSpPr>
          <p:cNvPr id="5" name="标题 4"/>
          <p:cNvSpPr>
            <a:spLocks noGrp="1"/>
          </p:cNvSpPr>
          <p:nvPr>
            <p:ph type="title"/>
          </p:nvPr>
        </p:nvSpPr>
        <p:spPr>
          <a:xfrm>
            <a:off x="467544" y="188640"/>
            <a:ext cx="8229600" cy="714408"/>
          </a:xfrm>
        </p:spPr>
        <p:txBody>
          <a:bodyPr>
            <a:normAutofit fontScale="90000"/>
          </a:bodyPr>
          <a:lstStyle/>
          <a:p>
            <a:r>
              <a:rPr lang="zh-CN" altLang="en-US" dirty="0"/>
              <a:t>例题分析</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5536" y="764704"/>
            <a:ext cx="8424935" cy="5832648"/>
          </a:xfrm>
        </p:spPr>
        <p:txBody>
          <a:bodyPr>
            <a:noAutofit/>
          </a:bodyPr>
          <a:lstStyle/>
          <a:p>
            <a:pPr marL="0" indent="0">
              <a:buNone/>
            </a:pPr>
            <a:r>
              <a:rPr lang="en-US" altLang="zh-CN" sz="1800" dirty="0"/>
              <a:t>(1)</a:t>
            </a:r>
            <a:r>
              <a:rPr lang="zh-CN" altLang="en-US" sz="1800" dirty="0"/>
              <a:t>材料</a:t>
            </a:r>
            <a:r>
              <a:rPr lang="en-US" altLang="zh-CN" sz="1800" dirty="0"/>
              <a:t>1</a:t>
            </a:r>
            <a:r>
              <a:rPr lang="zh-CN" altLang="en-US" sz="1800" dirty="0"/>
              <a:t>中对国内主要矛盾的认识是正确的，具体分析如下</a:t>
            </a:r>
            <a:r>
              <a:rPr lang="en-US" altLang="zh-CN" sz="1800" dirty="0"/>
              <a:t>:①</a:t>
            </a:r>
            <a:r>
              <a:rPr lang="zh-CN" altLang="en-US" sz="1800" dirty="0"/>
              <a:t>在资产阶级民主革命时期，要完成推翻帝国主义、封建主义和官僚资本主义三座大山统治的任务，民族资产阶级虽与它们有着千丝万缕的联系，却有着反对它们、革命的一面，是无产阶级应该争取和团结的力量，因此是中间阶级。②在</a:t>
            </a:r>
            <a:r>
              <a:rPr lang="en-US" altLang="zh-CN" sz="1800" dirty="0"/>
              <a:t>1952</a:t>
            </a:r>
            <a:r>
              <a:rPr lang="zh-CN" altLang="en-US" sz="1800" dirty="0"/>
              <a:t>年民主革命的遗留任务已经完成之后，工人阶级和资产阶级，社会主义道路和资本主义道路的矛盾成为了国内的主要矛盾。资产阶级和资本主义私有制，是社会主义革命的主要对象。要实行对资本主义私有制的社会主义改造，所以中国内部的主要矛盾即是工人阶级与民族资产阶级的矛盾，故不应再将民族资产阶级称为中间阶级。</a:t>
            </a:r>
            <a:endParaRPr lang="en-US" altLang="zh-CN" sz="1800" dirty="0"/>
          </a:p>
          <a:p>
            <a:pPr marL="0" indent="0">
              <a:buNone/>
            </a:pPr>
            <a:r>
              <a:rPr lang="en-US" altLang="zh-CN" sz="1800" dirty="0"/>
              <a:t>(2)</a:t>
            </a:r>
            <a:r>
              <a:rPr lang="zh-CN" altLang="en-US" sz="1800" dirty="0"/>
              <a:t>材料</a:t>
            </a:r>
            <a:r>
              <a:rPr lang="en-US" altLang="zh-CN" sz="1800" dirty="0"/>
              <a:t>2</a:t>
            </a:r>
            <a:r>
              <a:rPr lang="zh-CN" altLang="en-US" sz="1800" dirty="0"/>
              <a:t>提出的观点是</a:t>
            </a:r>
            <a:r>
              <a:rPr lang="en-US" altLang="zh-CN" sz="1800" dirty="0"/>
              <a:t>:</a:t>
            </a:r>
            <a:r>
              <a:rPr lang="zh-CN" altLang="en-US" sz="1800" dirty="0"/>
              <a:t>工人阶级与民族资产阶级的矛盾属于人民内部矛盾。依据是，民族资产阶级既受帝国主义的压迫，又受封建主义的束缚，它同帝国主义和封建主义有矛盾，是革命的力量之一。其处理方法，具体参见本章简答题第</a:t>
            </a:r>
            <a:r>
              <a:rPr lang="en-US" altLang="zh-CN" sz="1800" dirty="0"/>
              <a:t>2</a:t>
            </a:r>
            <a:r>
              <a:rPr lang="zh-CN" altLang="en-US" sz="1800" dirty="0"/>
              <a:t>题答案。</a:t>
            </a:r>
            <a:endParaRPr lang="en-US" altLang="zh-CN" sz="1800" dirty="0"/>
          </a:p>
          <a:p>
            <a:pPr marL="0" indent="0">
              <a:buNone/>
            </a:pPr>
            <a:r>
              <a:rPr lang="en-US" altLang="zh-CN" sz="1800" dirty="0"/>
              <a:t>(3)</a:t>
            </a:r>
            <a:r>
              <a:rPr lang="zh-CN" altLang="en-US" sz="1800" dirty="0"/>
              <a:t>材料</a:t>
            </a:r>
            <a:r>
              <a:rPr lang="en-US" altLang="zh-CN" sz="1800" dirty="0"/>
              <a:t>3</a:t>
            </a:r>
            <a:r>
              <a:rPr lang="zh-CN" altLang="en-US" sz="1800" dirty="0"/>
              <a:t>对国内矛盾的认识正确。党的八大从我国当时的国情和实际状况出发，认真分析我国的发展阶段和生产力水平，对我国国内的主要矛盾作了科学的判断和分析，八大指出，我国国内的主要矛盾，已经是人民对于建立先进的工业国的要求同落后的农业国的现实之间的矛盾，已经是人民对于经济文化迅速发展的需要同当前经济文化不能满足人民需要的状况之间的矛盾。这一判断符合我国国情，是科学的判断，对集中力量发展社会生产力、实现国家工业化、逐步满足人民日益增长的物质和文化需要指出了明确的方向。</a:t>
            </a:r>
          </a:p>
        </p:txBody>
      </p:sp>
      <p:sp>
        <p:nvSpPr>
          <p:cNvPr id="3" name="日期占位符 2"/>
          <p:cNvSpPr>
            <a:spLocks noGrp="1"/>
          </p:cNvSpPr>
          <p:nvPr>
            <p:ph type="dt" sz="half" idx="10"/>
          </p:nvPr>
        </p:nvSpPr>
        <p:spPr/>
        <p:txBody>
          <a:bodyPr/>
          <a:lstStyle/>
          <a:p>
            <a:fld id="{0A30D5B6-6C46-43D2-B372-56E3427513A4}" type="datetime2">
              <a:rPr lang="zh-CN" altLang="en-US" smtClean="0"/>
              <a:t>2026年7月3日</a:t>
            </a:fld>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12</a:t>
            </a:fld>
            <a:endParaRPr lang="zh-CN" altLang="en-US"/>
          </a:p>
        </p:txBody>
      </p:sp>
      <p:sp>
        <p:nvSpPr>
          <p:cNvPr id="5" name="标题 4"/>
          <p:cNvSpPr>
            <a:spLocks noGrp="1"/>
          </p:cNvSpPr>
          <p:nvPr>
            <p:ph type="title"/>
          </p:nvPr>
        </p:nvSpPr>
        <p:spPr>
          <a:xfrm>
            <a:off x="457200" y="116632"/>
            <a:ext cx="8229600" cy="858424"/>
          </a:xfrm>
        </p:spPr>
        <p:txBody>
          <a:bodyPr>
            <a:normAutofit/>
          </a:bodyPr>
          <a:lstStyle/>
          <a:p>
            <a:r>
              <a:rPr lang="zh-CN" altLang="en-US" sz="3600" dirty="0"/>
              <a:t>参考答案</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39552" y="332656"/>
            <a:ext cx="7992888" cy="6264696"/>
          </a:xfrm>
        </p:spPr>
        <p:txBody>
          <a:bodyPr>
            <a:noAutofit/>
          </a:bodyPr>
          <a:lstStyle/>
          <a:p>
            <a:pPr marL="0" indent="0">
              <a:buNone/>
            </a:pPr>
            <a:r>
              <a:rPr lang="zh-CN" altLang="en-US" sz="4000" b="1" dirty="0"/>
              <a:t>论述题（</a:t>
            </a:r>
            <a:r>
              <a:rPr lang="en-US" altLang="zh-CN" sz="4000" b="1" dirty="0"/>
              <a:t>20*1=20</a:t>
            </a:r>
            <a:r>
              <a:rPr lang="zh-CN" altLang="en-US" sz="4000" b="1" dirty="0"/>
              <a:t>分）</a:t>
            </a:r>
            <a:endParaRPr lang="en-US" altLang="zh-CN" sz="3200" b="1" dirty="0"/>
          </a:p>
          <a:p>
            <a:pPr marL="0" indent="0">
              <a:buNone/>
            </a:pPr>
            <a:r>
              <a:rPr lang="zh-CN" altLang="en-US" sz="3200" b="1" dirty="0"/>
              <a:t>答题要领：</a:t>
            </a:r>
            <a:endParaRPr lang="en-US" altLang="zh-CN" sz="3200" b="1" dirty="0"/>
          </a:p>
          <a:p>
            <a:pPr marL="0" indent="0">
              <a:buNone/>
            </a:pPr>
            <a:r>
              <a:rPr lang="en-US" altLang="zh-CN" sz="3200" b="1" dirty="0"/>
              <a:t>1.</a:t>
            </a:r>
            <a:r>
              <a:rPr lang="zh-CN" altLang="en-US" sz="3200" b="1" dirty="0"/>
              <a:t>题目出处：立足教材而又高于教材，涵盖</a:t>
            </a:r>
          </a:p>
          <a:p>
            <a:pPr marL="0" indent="0">
              <a:buNone/>
            </a:pPr>
            <a:r>
              <a:rPr lang="zh-CN" altLang="en-US" sz="3200" b="1" dirty="0"/>
              <a:t>教师课件、党中央和国家机构主要门户网站</a:t>
            </a:r>
            <a:r>
              <a:rPr lang="zh-CN" altLang="en-US" sz="2800" b="1" dirty="0"/>
              <a:t>（人民网、新华网、光明网、学习强国等）</a:t>
            </a:r>
            <a:r>
              <a:rPr lang="zh-CN" altLang="en-US" sz="3200" b="1" dirty="0"/>
              <a:t>上的社论、社评，以及重大时事新闻的核心观点</a:t>
            </a:r>
          </a:p>
          <a:p>
            <a:pPr marL="0" indent="0">
              <a:buNone/>
            </a:pPr>
            <a:r>
              <a:rPr lang="en-US" altLang="zh-CN" sz="3200" b="1" dirty="0"/>
              <a:t>2.</a:t>
            </a:r>
            <a:r>
              <a:rPr lang="zh-CN" altLang="en-US" sz="3200" b="1" dirty="0"/>
              <a:t>答题思路：因循教材和课件上的主要观点和框架思路，力求论述详尽、内容充实，可以引用个人资料进行辅助论证</a:t>
            </a:r>
            <a:endParaRPr lang="en-US" altLang="zh-CN" sz="3200" b="1" dirty="0"/>
          </a:p>
          <a:p>
            <a:pPr marL="0" indent="0">
              <a:buNone/>
            </a:pPr>
            <a:r>
              <a:rPr lang="en-US" altLang="zh-CN" sz="3200" b="1" dirty="0"/>
              <a:t>3.</a:t>
            </a:r>
            <a:r>
              <a:rPr lang="zh-CN" altLang="en-US" sz="3200" b="1" dirty="0"/>
              <a:t>遵守政治纪律，注意意识形态和政治安全</a:t>
            </a:r>
          </a:p>
        </p:txBody>
      </p:sp>
      <p:sp>
        <p:nvSpPr>
          <p:cNvPr id="5" name="日期占位符 4"/>
          <p:cNvSpPr>
            <a:spLocks noGrp="1"/>
          </p:cNvSpPr>
          <p:nvPr>
            <p:ph type="dt" sz="half" idx="10"/>
          </p:nvPr>
        </p:nvSpPr>
        <p:spPr/>
        <p:txBody>
          <a:bodyPr/>
          <a:lstStyle/>
          <a:p>
            <a:fld id="{0DDCB6CF-383B-484D-9317-088FC4CAF5B5}" type="datetime2">
              <a:rPr lang="zh-CN" altLang="en-US" smtClean="0"/>
              <a:t>2026年7月3日</a:t>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13</a:t>
            </a:fld>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67544" y="1268760"/>
            <a:ext cx="8208912" cy="4680520"/>
          </a:xfrm>
        </p:spPr>
        <p:txBody>
          <a:bodyPr>
            <a:noAutofit/>
          </a:bodyPr>
          <a:lstStyle/>
          <a:p>
            <a:pPr marL="0" indent="0">
              <a:buNone/>
            </a:pPr>
            <a:r>
              <a:rPr lang="zh-CN" altLang="en-US" b="1" dirty="0"/>
              <a:t>题目：如何认识中国确立社会主义基本制度的重大意义？</a:t>
            </a:r>
            <a:endParaRPr lang="en-US" altLang="zh-CN" dirty="0"/>
          </a:p>
          <a:p>
            <a:pPr marL="0" indent="0">
              <a:buNone/>
            </a:pPr>
            <a:r>
              <a:rPr lang="zh-CN" altLang="en-US" b="1" dirty="0"/>
              <a:t>参考答案（要点，可以适当酌情充实）：</a:t>
            </a:r>
            <a:endParaRPr lang="en-US" altLang="zh-CN" dirty="0"/>
          </a:p>
          <a:p>
            <a:pPr marL="0" indent="0">
              <a:buNone/>
            </a:pPr>
            <a:r>
              <a:rPr lang="zh-CN" altLang="en-US" dirty="0"/>
              <a:t>（</a:t>
            </a:r>
            <a:r>
              <a:rPr lang="en-US" altLang="zh-CN" dirty="0"/>
              <a:t>1</a:t>
            </a:r>
            <a:r>
              <a:rPr lang="zh-CN" altLang="en-US" dirty="0"/>
              <a:t>）首先，社会主义制度的确立是中国历史上最深刻、最伟大的</a:t>
            </a:r>
            <a:r>
              <a:rPr lang="zh-CN" altLang="en-US" b="1" dirty="0"/>
              <a:t>社会变革</a:t>
            </a:r>
            <a:r>
              <a:rPr lang="zh-CN" altLang="en-US" dirty="0"/>
              <a:t>，是</a:t>
            </a:r>
            <a:r>
              <a:rPr lang="en-US" altLang="zh-CN" dirty="0"/>
              <a:t>20</a:t>
            </a:r>
            <a:r>
              <a:rPr lang="zh-CN" altLang="en-US" dirty="0"/>
              <a:t>世纪中国又一次划时代的历史巨变。</a:t>
            </a:r>
            <a:endParaRPr lang="en-US" altLang="zh-CN" dirty="0"/>
          </a:p>
          <a:p>
            <a:pPr marL="0" indent="0">
              <a:buNone/>
            </a:pPr>
            <a:r>
              <a:rPr lang="zh-CN" altLang="en-US" dirty="0"/>
              <a:t>（</a:t>
            </a:r>
            <a:r>
              <a:rPr lang="en-US" altLang="zh-CN" dirty="0"/>
              <a:t>2</a:t>
            </a:r>
            <a:r>
              <a:rPr lang="zh-CN" altLang="en-US" dirty="0"/>
              <a:t>）其次，社会主义制度的确立为</a:t>
            </a:r>
            <a:r>
              <a:rPr lang="zh-CN" altLang="en-US" b="1" dirty="0"/>
              <a:t>中国现代化建设</a:t>
            </a:r>
            <a:r>
              <a:rPr lang="zh-CN" altLang="en-US" dirty="0"/>
              <a:t>创造了</a:t>
            </a:r>
            <a:r>
              <a:rPr lang="zh-CN" altLang="en-US" b="1" dirty="0"/>
              <a:t>制度条件</a:t>
            </a:r>
            <a:r>
              <a:rPr lang="zh-CN" altLang="en-US" dirty="0"/>
              <a:t>。</a:t>
            </a:r>
            <a:endParaRPr lang="en-US" altLang="zh-CN" dirty="0"/>
          </a:p>
          <a:p>
            <a:pPr marL="0" indent="0">
              <a:buNone/>
            </a:pPr>
            <a:r>
              <a:rPr lang="zh-CN" altLang="en-US" dirty="0"/>
              <a:t>（</a:t>
            </a:r>
            <a:r>
              <a:rPr lang="en-US" altLang="zh-CN" dirty="0"/>
              <a:t>3</a:t>
            </a:r>
            <a:r>
              <a:rPr lang="zh-CN" altLang="en-US" dirty="0"/>
              <a:t>）再其次，社会主义制度的确立，使广大</a:t>
            </a:r>
            <a:r>
              <a:rPr lang="zh-CN" altLang="en-US" b="1" dirty="0"/>
              <a:t>劳动人民</a:t>
            </a:r>
            <a:r>
              <a:rPr lang="zh-CN" altLang="en-US" dirty="0"/>
              <a:t>真正成为国家的主人和社会主义生产材料的主人。</a:t>
            </a:r>
            <a:endParaRPr lang="en-US" altLang="zh-CN" dirty="0"/>
          </a:p>
          <a:p>
            <a:pPr marL="0" indent="0">
              <a:buNone/>
            </a:pPr>
            <a:r>
              <a:rPr lang="zh-CN" altLang="en-US" dirty="0"/>
              <a:t>（</a:t>
            </a:r>
            <a:r>
              <a:rPr lang="en-US" altLang="zh-CN" dirty="0"/>
              <a:t>4</a:t>
            </a:r>
            <a:r>
              <a:rPr lang="zh-CN" altLang="en-US" dirty="0"/>
              <a:t>）最后，中国社会主义制度的确立，使占世界人口</a:t>
            </a:r>
            <a:r>
              <a:rPr lang="en-US" altLang="zh-CN" dirty="0"/>
              <a:t>1/4</a:t>
            </a:r>
            <a:r>
              <a:rPr lang="zh-CN" altLang="en-US" dirty="0"/>
              <a:t>的东方大国进入了社会主义社会，这是</a:t>
            </a:r>
            <a:r>
              <a:rPr lang="zh-CN" altLang="en-US" b="1" dirty="0"/>
              <a:t>世界社会主义运动史</a:t>
            </a:r>
            <a:r>
              <a:rPr lang="zh-CN" altLang="en-US" dirty="0"/>
              <a:t>上又一个历史性的伟大胜利。</a:t>
            </a:r>
            <a:endParaRPr lang="en-US" altLang="zh-CN" dirty="0"/>
          </a:p>
        </p:txBody>
      </p:sp>
      <p:sp>
        <p:nvSpPr>
          <p:cNvPr id="3" name="日期占位符 2"/>
          <p:cNvSpPr>
            <a:spLocks noGrp="1"/>
          </p:cNvSpPr>
          <p:nvPr>
            <p:ph type="dt" sz="half" idx="10"/>
          </p:nvPr>
        </p:nvSpPr>
        <p:spPr/>
        <p:txBody>
          <a:bodyPr/>
          <a:lstStyle/>
          <a:p>
            <a:fld id="{0A30D5B6-6C46-43D2-B372-56E3427513A4}" type="datetime2">
              <a:rPr lang="zh-CN" altLang="en-US" smtClean="0"/>
              <a:t>2026年7月3日</a:t>
            </a:fld>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14</a:t>
            </a:fld>
            <a:endParaRPr lang="zh-CN" altLang="en-US"/>
          </a:p>
        </p:txBody>
      </p:sp>
      <p:sp>
        <p:nvSpPr>
          <p:cNvPr id="5" name="标题 4"/>
          <p:cNvSpPr>
            <a:spLocks noGrp="1"/>
          </p:cNvSpPr>
          <p:nvPr>
            <p:ph type="title"/>
          </p:nvPr>
        </p:nvSpPr>
        <p:spPr/>
        <p:txBody>
          <a:bodyPr/>
          <a:lstStyle/>
          <a:p>
            <a:r>
              <a:rPr lang="zh-CN" altLang="en-US" dirty="0"/>
              <a:t>例题分析</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39552" y="1772816"/>
            <a:ext cx="8208912" cy="3744416"/>
          </a:xfrm>
        </p:spPr>
        <p:txBody>
          <a:bodyPr>
            <a:noAutofit/>
          </a:bodyPr>
          <a:lstStyle/>
          <a:p>
            <a:pPr marL="0" indent="0">
              <a:buNone/>
            </a:pPr>
            <a:r>
              <a:rPr lang="zh-CN" altLang="en-US" sz="4000" dirty="0"/>
              <a:t>         感谢大家一个学期以来的信任、支持和理解，祝大家期末各科考出优异的成绩，身体健康，学业进步！</a:t>
            </a:r>
            <a:endParaRPr lang="en-US" altLang="zh-CN" sz="4000" dirty="0"/>
          </a:p>
          <a:p>
            <a:pPr marL="0" indent="0">
              <a:buNone/>
            </a:pPr>
            <a:r>
              <a:rPr lang="en-US" altLang="zh-CN" sz="4000" dirty="0"/>
              <a:t>                                                  </a:t>
            </a:r>
            <a:r>
              <a:rPr lang="zh-CN" altLang="en-US" sz="4000" dirty="0"/>
              <a:t>和杰</a:t>
            </a:r>
            <a:endParaRPr lang="en-US" altLang="zh-CN" sz="4000" dirty="0"/>
          </a:p>
          <a:p>
            <a:pPr marL="0" indent="0">
              <a:buNone/>
            </a:pPr>
            <a:r>
              <a:rPr lang="en-US" altLang="zh-CN" sz="4000" dirty="0"/>
              <a:t>                                         2026</a:t>
            </a:r>
            <a:r>
              <a:rPr lang="zh-CN" altLang="en-US" sz="4000" dirty="0"/>
              <a:t>年</a:t>
            </a:r>
            <a:r>
              <a:rPr lang="en-US" altLang="zh-CN" sz="4000"/>
              <a:t>6</a:t>
            </a:r>
            <a:r>
              <a:rPr lang="zh-CN" altLang="en-US" sz="4000"/>
              <a:t>月</a:t>
            </a:r>
            <a:r>
              <a:rPr lang="en-US" altLang="zh-CN" sz="4000" dirty="0"/>
              <a:t>29</a:t>
            </a:r>
            <a:r>
              <a:rPr lang="zh-CN" altLang="en-US" sz="4000" dirty="0"/>
              <a:t>日</a:t>
            </a:r>
            <a:endParaRPr lang="en-US" altLang="zh-CN" sz="4000" dirty="0"/>
          </a:p>
          <a:p>
            <a:pPr marL="0" indent="0">
              <a:buNone/>
            </a:pPr>
            <a:r>
              <a:rPr lang="en-US" altLang="zh-CN" sz="4000" dirty="0"/>
              <a:t> </a:t>
            </a:r>
          </a:p>
        </p:txBody>
      </p:sp>
      <p:sp>
        <p:nvSpPr>
          <p:cNvPr id="3" name="日期占位符 2"/>
          <p:cNvSpPr>
            <a:spLocks noGrp="1"/>
          </p:cNvSpPr>
          <p:nvPr>
            <p:ph type="dt" sz="half" idx="10"/>
          </p:nvPr>
        </p:nvSpPr>
        <p:spPr/>
        <p:txBody>
          <a:bodyPr/>
          <a:lstStyle/>
          <a:p>
            <a:fld id="{0A30D5B6-6C46-43D2-B372-56E3427513A4}" type="datetime2">
              <a:rPr lang="zh-CN" altLang="en-US" smtClean="0"/>
              <a:t>2026年7月3日</a:t>
            </a:fld>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15</a:t>
            </a:fld>
            <a:endParaRPr lang="zh-CN" alt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Waveform</Template>
  <TotalTime>0</TotalTime>
  <Words>1594</Words>
  <Application>Microsoft Office PowerPoint</Application>
  <PresentationFormat>全屏显示(4:3)</PresentationFormat>
  <Paragraphs>110</Paragraphs>
  <Slides>15</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15</vt:i4>
      </vt:variant>
    </vt:vector>
  </HeadingPairs>
  <TitlesOfParts>
    <vt:vector size="19" baseType="lpstr">
      <vt:lpstr>Calibri</vt:lpstr>
      <vt:lpstr>Candara</vt:lpstr>
      <vt:lpstr>Symbol</vt:lpstr>
      <vt:lpstr>波形</vt:lpstr>
      <vt:lpstr>关于本学期期末考试需注意的问题</vt:lpstr>
      <vt:lpstr>一、关于平时成绩核算</vt:lpstr>
      <vt:lpstr>PowerPoint 演示文稿</vt:lpstr>
      <vt:lpstr>二、期末笔试卷面题型及答题要领</vt:lpstr>
      <vt:lpstr>题型、分值及其主导原则</vt:lpstr>
      <vt:lpstr>PowerPoint 演示文稿</vt:lpstr>
      <vt:lpstr>例题分析</vt:lpstr>
      <vt:lpstr>PowerPoint 演示文稿</vt:lpstr>
      <vt:lpstr>例题分析</vt:lpstr>
      <vt:lpstr>PowerPoint 演示文稿</vt:lpstr>
      <vt:lpstr>例题分析</vt:lpstr>
      <vt:lpstr>参考答案</vt:lpstr>
      <vt:lpstr>PowerPoint 演示文稿</vt:lpstr>
      <vt:lpstr>例题分析</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lenovo</dc:creator>
  <cp:lastModifiedBy>Vicky L</cp:lastModifiedBy>
  <cp:revision>42</cp:revision>
  <dcterms:created xsi:type="dcterms:W3CDTF">2024-06-07T11:00:00Z</dcterms:created>
  <dcterms:modified xsi:type="dcterms:W3CDTF">2026-07-03T01:25:59Z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23A5E6784A1B451D80074D4AAF383024_13</vt:lpwstr>
  </property>
  <property fmtid="{D5CDD505-2E9C-101B-9397-08002B2CF9AE}" pid="3" name="KSOProductBuildVer">
    <vt:lpwstr>2052-12.1.0.26895</vt:lpwstr>
  </property>
</Properties>
</file>