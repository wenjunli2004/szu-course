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2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5" r:id="rId10"/>
    <p:sldId id="267" r:id="rId11"/>
    <p:sldId id="268" r:id="rId12"/>
    <p:sldId id="279" r:id="rId13"/>
    <p:sldId id="263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-708" y="-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6643CA-7A7D-4FFD-8CB2-E0CAF5B1178F}" type="datetimeFigureOut">
              <a:rPr lang="en-HK" smtClean="0"/>
              <a:t>18/1/2021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98C31-388F-470D-8AD0-D0F8E444AF4B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7812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626F0-7CC6-493C-8F20-100D7AA7FAC3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9388" indent="-179388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37F8-84C6-4D69-8BCA-D781D6DFBE57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985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8672D-7876-46F6-BB28-1658EA8B6F5D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14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AC08A-D741-4E78-B02C-DA11BA5A9331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70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3A4BF-9FEE-4C18-80CB-F04A0C278DC3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69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4B50C-C430-4856-990E-C18BA95E6E28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85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D1FCA-A705-4B96-9573-C67823ECBE8D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56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C5814855-014C-4A7C-ADDD-F7B81728AA2C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094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DB1BC-9946-443C-9FBF-383A5EC0FEAE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43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592E-039D-4510-9EA7-1B614CBD6378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895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B25D-CF33-4CF7-B800-08C8DE33EC9D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312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B09DA96-88D4-42EF-B7D9-EB8AB415F2B5}" type="datetime1">
              <a:rPr lang="en-US" smtClean="0"/>
              <a:t>1/18/2021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137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atting.as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HK" dirty="0"/>
              <a:t>Introduction to HTML and </a:t>
            </a:r>
            <a:r>
              <a:rPr lang="en-HK" dirty="0" smtClean="0"/>
              <a:t>CSS</a:t>
            </a:r>
            <a:r>
              <a:rPr lang="en-US" altLang="zh-CN" dirty="0" smtClean="0"/>
              <a:t>-1</a:t>
            </a:r>
            <a:br>
              <a:rPr lang="en-US" altLang="zh-CN" dirty="0" smtClean="0"/>
            </a:br>
            <a:endParaRPr lang="en-H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CDS 4010</a:t>
            </a:r>
          </a:p>
          <a:p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66851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HTML is a </a:t>
            </a:r>
            <a:r>
              <a:rPr lang="en-HK" dirty="0" err="1"/>
              <a:t>markup</a:t>
            </a:r>
            <a:r>
              <a:rPr lang="en-HK" dirty="0"/>
              <a:t> language used to control how web pages appear in a browser.</a:t>
            </a:r>
          </a:p>
          <a:p>
            <a:r>
              <a:rPr lang="en-HK" dirty="0"/>
              <a:t>HTML consists of key components called tags. Examples:</a:t>
            </a:r>
          </a:p>
          <a:p>
            <a:pPr lvl="1"/>
            <a:r>
              <a:rPr lang="en-HK" dirty="0"/>
              <a:t>&lt;h1&gt; &lt;/h1&gt;</a:t>
            </a:r>
          </a:p>
          <a:p>
            <a:pPr lvl="1"/>
            <a:r>
              <a:rPr lang="en-HK" dirty="0"/>
              <a:t>&lt;html&gt; &lt;/html&gt;</a:t>
            </a:r>
          </a:p>
          <a:p>
            <a:pPr lvl="1"/>
            <a:r>
              <a:rPr lang="en-HK" dirty="0"/>
              <a:t>&lt;body&gt; &lt;/body&gt;</a:t>
            </a:r>
          </a:p>
          <a:p>
            <a:pPr lvl="1"/>
            <a:r>
              <a:rPr lang="en-HK" dirty="0"/>
              <a:t>&lt;p&gt; &lt;/p&gt;</a:t>
            </a:r>
          </a:p>
          <a:p>
            <a:r>
              <a:rPr lang="en-HK" dirty="0"/>
              <a:t>Tags are often used in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289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A Simple “Hello World”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You can write web pages using any text editor. Today, we will use </a:t>
            </a:r>
            <a:r>
              <a:rPr lang="en-HK" dirty="0">
                <a:solidFill>
                  <a:srgbClr val="FF0000"/>
                </a:solidFill>
              </a:rPr>
              <a:t>Notepad</a:t>
            </a:r>
            <a:r>
              <a:rPr lang="en-HK" dirty="0"/>
              <a:t>.</a:t>
            </a:r>
          </a:p>
          <a:p>
            <a:r>
              <a:rPr lang="en-HK" dirty="0"/>
              <a:t>Copy and paste the following text into Notepad. Save it as “helloworld.html”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0262" y="3336980"/>
            <a:ext cx="2188420" cy="1962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sz="1350" dirty="0"/>
              <a:t>&lt;!DOCTYPE html&gt;</a:t>
            </a:r>
          </a:p>
          <a:p>
            <a:r>
              <a:rPr lang="en-HK" sz="1350" dirty="0"/>
              <a:t>&lt;html&gt;</a:t>
            </a:r>
          </a:p>
          <a:p>
            <a:r>
              <a:rPr lang="en-HK" sz="1350" dirty="0"/>
              <a:t>  &lt;head&gt;</a:t>
            </a:r>
          </a:p>
          <a:p>
            <a:r>
              <a:rPr lang="en-HK" sz="1350" dirty="0"/>
              <a:t>    &lt;title&gt;This is a title&lt;/title&gt;</a:t>
            </a:r>
          </a:p>
          <a:p>
            <a:r>
              <a:rPr lang="en-HK" sz="1350" dirty="0"/>
              <a:t>  &lt;/head&gt;</a:t>
            </a:r>
          </a:p>
          <a:p>
            <a:r>
              <a:rPr lang="en-HK" sz="1350" dirty="0"/>
              <a:t>  &lt;body&gt;</a:t>
            </a:r>
          </a:p>
          <a:p>
            <a:r>
              <a:rPr lang="en-HK" sz="1350" dirty="0"/>
              <a:t>    &lt;p&gt;Hello world!&lt;/p&gt;</a:t>
            </a:r>
          </a:p>
          <a:p>
            <a:r>
              <a:rPr lang="en-HK" sz="1350" dirty="0"/>
              <a:t>  &lt;/body&gt;</a:t>
            </a:r>
          </a:p>
          <a:p>
            <a:r>
              <a:rPr lang="en-HK" sz="1350" dirty="0"/>
              <a:t>&lt;/html&gt;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277" y="3107869"/>
            <a:ext cx="4584483" cy="30786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0262" y="5407429"/>
            <a:ext cx="24977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solidFill>
                  <a:srgbClr val="FF0000"/>
                </a:solidFill>
              </a:rPr>
              <a:t>Don’t forget to use double quotation marks to enclose the file name.</a:t>
            </a:r>
          </a:p>
        </p:txBody>
      </p:sp>
      <p:cxnSp>
        <p:nvCxnSpPr>
          <p:cNvPr id="9" name="Straight Arrow Connector 8"/>
          <p:cNvCxnSpPr>
            <a:stCxn id="7" idx="3"/>
          </p:cNvCxnSpPr>
          <p:nvPr/>
        </p:nvCxnSpPr>
        <p:spPr>
          <a:xfrm flipV="1">
            <a:off x="3358019" y="5407429"/>
            <a:ext cx="1339109" cy="4616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92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The &lt;!DOCTYPE html&gt; declaration defines this document to be HTML5</a:t>
            </a:r>
          </a:p>
          <a:p>
            <a:r>
              <a:rPr lang="en-HK" dirty="0"/>
              <a:t>The &lt;html&gt; element is the root element of an HTML page</a:t>
            </a:r>
          </a:p>
          <a:p>
            <a:r>
              <a:rPr lang="en-HK" dirty="0"/>
              <a:t>The &lt;head&gt; element contains meta information about the document</a:t>
            </a:r>
          </a:p>
          <a:p>
            <a:r>
              <a:rPr lang="en-HK" dirty="0"/>
              <a:t>The &lt;body&gt; element contains the visible page content</a:t>
            </a:r>
          </a:p>
          <a:p>
            <a:r>
              <a:rPr lang="en-HK" dirty="0"/>
              <a:t>The &lt;p&gt; element defines a paragraph</a:t>
            </a:r>
          </a:p>
          <a:p>
            <a:r>
              <a:rPr lang="en-HK" dirty="0"/>
              <a:t>Question:</a:t>
            </a:r>
          </a:p>
          <a:p>
            <a:pPr marL="0" indent="0" algn="ctr">
              <a:buNone/>
            </a:pPr>
            <a:r>
              <a:rPr lang="en-HK" sz="2800" dirty="0"/>
              <a:t>What do &lt;title&gt; and &lt;/title&gt; do?</a:t>
            </a:r>
          </a:p>
          <a:p>
            <a:pPr marL="0" indent="0">
              <a:buNone/>
            </a:pPr>
            <a:endParaRPr lang="en-HK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656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Now, add a heading before the paragraph </a:t>
            </a:r>
            <a:br>
              <a:rPr lang="en-HK" dirty="0"/>
            </a:br>
            <a:r>
              <a:rPr lang="en-HK" dirty="0"/>
              <a:t>using the &lt;h1&gt; and &lt;/h1&gt; tags.</a:t>
            </a:r>
          </a:p>
          <a:p>
            <a:r>
              <a:rPr lang="en-HK" dirty="0"/>
              <a:t>What happens if you change </a:t>
            </a:r>
            <a:br>
              <a:rPr lang="en-HK" dirty="0"/>
            </a:br>
            <a:r>
              <a:rPr lang="en-HK" dirty="0"/>
              <a:t>&lt;h1&gt; to &lt;h</a:t>
            </a:r>
            <a:r>
              <a:rPr lang="en-HK" dirty="0">
                <a:solidFill>
                  <a:srgbClr val="FF0000"/>
                </a:solidFill>
              </a:rPr>
              <a:t>3</a:t>
            </a:r>
            <a:r>
              <a:rPr lang="en-HK" dirty="0"/>
              <a:t>&gt; and &lt;/h1&gt; to &lt;/h</a:t>
            </a:r>
            <a:r>
              <a:rPr lang="en-HK" dirty="0">
                <a:solidFill>
                  <a:srgbClr val="FF0000"/>
                </a:solidFill>
              </a:rPr>
              <a:t>3</a:t>
            </a:r>
            <a:r>
              <a:rPr lang="en-HK" dirty="0"/>
              <a:t>&gt;?</a:t>
            </a:r>
            <a:br>
              <a:rPr lang="en-HK" dirty="0"/>
            </a:br>
            <a:r>
              <a:rPr lang="en-HK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23248" y="2880917"/>
            <a:ext cx="2486115" cy="21698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HK" sz="1350" dirty="0"/>
              <a:t>&lt;!DOCTYPE html&gt;</a:t>
            </a:r>
          </a:p>
          <a:p>
            <a:r>
              <a:rPr lang="en-HK" sz="1350" dirty="0"/>
              <a:t>&lt;html&gt;</a:t>
            </a:r>
          </a:p>
          <a:p>
            <a:r>
              <a:rPr lang="en-HK" sz="1350" dirty="0"/>
              <a:t>  &lt;head&gt;</a:t>
            </a:r>
          </a:p>
          <a:p>
            <a:r>
              <a:rPr lang="en-HK" sz="1350" dirty="0"/>
              <a:t>    &lt;title&gt;This is a title&lt;/title&gt;</a:t>
            </a:r>
          </a:p>
          <a:p>
            <a:r>
              <a:rPr lang="en-HK" sz="1350" dirty="0"/>
              <a:t>  &lt;/head&gt;</a:t>
            </a:r>
          </a:p>
          <a:p>
            <a:r>
              <a:rPr lang="en-HK" sz="1350" dirty="0"/>
              <a:t>  &lt;body&gt;</a:t>
            </a:r>
          </a:p>
          <a:p>
            <a:r>
              <a:rPr lang="en-HK" sz="1350" dirty="0"/>
              <a:t>   </a:t>
            </a:r>
            <a:r>
              <a:rPr lang="en-HK" sz="1350" dirty="0">
                <a:solidFill>
                  <a:srgbClr val="FF0000"/>
                </a:solidFill>
              </a:rPr>
              <a:t>&lt;h1&gt;Heading 1&lt;/h1&gt;</a:t>
            </a:r>
          </a:p>
          <a:p>
            <a:r>
              <a:rPr lang="en-HK" sz="1350" dirty="0"/>
              <a:t>    &lt;p&gt;Hello world!&lt;/p&gt;</a:t>
            </a:r>
          </a:p>
          <a:p>
            <a:r>
              <a:rPr lang="en-HK" sz="1350" dirty="0"/>
              <a:t>  &lt;/body&gt;</a:t>
            </a:r>
          </a:p>
          <a:p>
            <a:r>
              <a:rPr lang="en-HK" sz="1350" dirty="0"/>
              <a:t>&lt;/html&gt;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231135" y="2353941"/>
            <a:ext cx="1830706" cy="186333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784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There are a number of tags for formatting, including:</a:t>
            </a:r>
          </a:p>
          <a:p>
            <a:pPr lvl="1"/>
            <a:r>
              <a:rPr lang="en-HK" dirty="0"/>
              <a:t>&lt;b&gt; and &lt;/b&gt; : enclosed text is in boldface</a:t>
            </a:r>
          </a:p>
          <a:p>
            <a:pPr lvl="1"/>
            <a:r>
              <a:rPr lang="en-HK" dirty="0"/>
              <a:t>&lt;</a:t>
            </a:r>
            <a:r>
              <a:rPr lang="en-HK" dirty="0" err="1"/>
              <a:t>i</a:t>
            </a:r>
            <a:r>
              <a:rPr lang="en-HK" dirty="0"/>
              <a:t>&gt; and &lt;/</a:t>
            </a:r>
            <a:r>
              <a:rPr lang="en-HK" dirty="0" err="1"/>
              <a:t>i</a:t>
            </a:r>
            <a:r>
              <a:rPr lang="en-HK" dirty="0"/>
              <a:t>&gt; : enclosed text is italicized</a:t>
            </a:r>
          </a:p>
          <a:p>
            <a:pPr lvl="1"/>
            <a:r>
              <a:rPr lang="en-HK" dirty="0"/>
              <a:t>For other, please refer to </a:t>
            </a:r>
            <a:r>
              <a:rPr lang="en-HK" dirty="0">
                <a:hlinkClick r:id="rId2"/>
              </a:rPr>
              <a:t>https://www.w3schools.com/html/html_formatting.asp</a:t>
            </a:r>
            <a:endParaRPr lang="en-HK" dirty="0"/>
          </a:p>
          <a:p>
            <a:r>
              <a:rPr lang="en-HK" dirty="0"/>
              <a:t>Try making the word “Hello” bold and “world” italic.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221348" y="3994615"/>
            <a:ext cx="3058871" cy="21698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HK" sz="1350" dirty="0"/>
              <a:t>&lt;!DOCTYPE html&gt;</a:t>
            </a:r>
          </a:p>
          <a:p>
            <a:r>
              <a:rPr lang="en-HK" sz="1350" dirty="0"/>
              <a:t>&lt;html&gt;</a:t>
            </a:r>
          </a:p>
          <a:p>
            <a:r>
              <a:rPr lang="en-HK" sz="1350" dirty="0"/>
              <a:t>  &lt;head&gt;</a:t>
            </a:r>
          </a:p>
          <a:p>
            <a:r>
              <a:rPr lang="en-HK" sz="1350" dirty="0"/>
              <a:t>    &lt;title&gt;This is a title&lt;/title&gt;</a:t>
            </a:r>
          </a:p>
          <a:p>
            <a:r>
              <a:rPr lang="en-HK" sz="1350" dirty="0"/>
              <a:t>  &lt;/head&gt;</a:t>
            </a:r>
          </a:p>
          <a:p>
            <a:r>
              <a:rPr lang="en-HK" sz="1350" dirty="0"/>
              <a:t>  &lt;body&gt;</a:t>
            </a:r>
          </a:p>
          <a:p>
            <a:r>
              <a:rPr lang="en-HK" sz="1350" dirty="0"/>
              <a:t>   &lt;h1&gt;Heading 1&lt;/h1&gt;</a:t>
            </a:r>
          </a:p>
          <a:p>
            <a:r>
              <a:rPr lang="en-HK" sz="1350" dirty="0"/>
              <a:t>    &lt;p&gt;</a:t>
            </a:r>
            <a:r>
              <a:rPr lang="en-HK" sz="1350" dirty="0">
                <a:solidFill>
                  <a:srgbClr val="FF0000"/>
                </a:solidFill>
              </a:rPr>
              <a:t>&lt;b&gt;</a:t>
            </a:r>
            <a:r>
              <a:rPr lang="en-HK" sz="1350" dirty="0"/>
              <a:t>Hello</a:t>
            </a:r>
            <a:r>
              <a:rPr lang="en-HK" sz="1350" dirty="0">
                <a:solidFill>
                  <a:srgbClr val="FF0000"/>
                </a:solidFill>
              </a:rPr>
              <a:t>&lt;/b&gt;</a:t>
            </a:r>
            <a:r>
              <a:rPr lang="en-HK" sz="1350" dirty="0"/>
              <a:t> </a:t>
            </a:r>
            <a:r>
              <a:rPr lang="en-HK" sz="1350" dirty="0">
                <a:solidFill>
                  <a:srgbClr val="FF0000"/>
                </a:solidFill>
              </a:rPr>
              <a:t>&lt;</a:t>
            </a:r>
            <a:r>
              <a:rPr lang="en-HK" sz="1350" dirty="0" err="1">
                <a:solidFill>
                  <a:srgbClr val="FF0000"/>
                </a:solidFill>
              </a:rPr>
              <a:t>i</a:t>
            </a:r>
            <a:r>
              <a:rPr lang="en-HK" sz="1350" dirty="0">
                <a:solidFill>
                  <a:srgbClr val="FF0000"/>
                </a:solidFill>
              </a:rPr>
              <a:t>&gt;</a:t>
            </a:r>
            <a:r>
              <a:rPr lang="en-HK" sz="1350" dirty="0"/>
              <a:t>world</a:t>
            </a:r>
            <a:r>
              <a:rPr lang="en-HK" sz="1350" dirty="0">
                <a:solidFill>
                  <a:srgbClr val="FF0000"/>
                </a:solidFill>
              </a:rPr>
              <a:t>&lt;/</a:t>
            </a:r>
            <a:r>
              <a:rPr lang="en-HK" sz="1350" dirty="0" err="1">
                <a:solidFill>
                  <a:srgbClr val="FF0000"/>
                </a:solidFill>
              </a:rPr>
              <a:t>i</a:t>
            </a:r>
            <a:r>
              <a:rPr lang="en-HK" sz="1350" dirty="0">
                <a:solidFill>
                  <a:srgbClr val="FF0000"/>
                </a:solidFill>
              </a:rPr>
              <a:t>&gt;</a:t>
            </a:r>
            <a:r>
              <a:rPr lang="en-HK" sz="1350" dirty="0"/>
              <a:t>!&lt;/p&gt;</a:t>
            </a:r>
          </a:p>
          <a:p>
            <a:r>
              <a:rPr lang="en-HK" sz="1350" dirty="0"/>
              <a:t>  &lt;/body&gt;</a:t>
            </a:r>
          </a:p>
          <a:p>
            <a:r>
              <a:rPr lang="en-HK" sz="135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076150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/>
              <a:t>Lists</a:t>
            </a:r>
            <a:endParaRPr lang="en-H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There are two types of lists: Unordered &lt;</a:t>
            </a:r>
            <a:r>
              <a:rPr lang="en-HK" dirty="0" err="1"/>
              <a:t>ul</a:t>
            </a:r>
            <a:r>
              <a:rPr lang="en-HK" dirty="0"/>
              <a:t>&gt; and Ordered &lt;</a:t>
            </a:r>
            <a:r>
              <a:rPr lang="en-HK" dirty="0" err="1"/>
              <a:t>ol</a:t>
            </a:r>
            <a:r>
              <a:rPr lang="en-HK" dirty="0"/>
              <a:t>&gt;.</a:t>
            </a:r>
          </a:p>
          <a:p>
            <a:r>
              <a:rPr lang="en-HK" dirty="0"/>
              <a:t>Compare the difference between the following: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040855" y="2772501"/>
            <a:ext cx="3732112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&lt;head&gt;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&lt;title&gt;This is a title&lt;/title&gt;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&lt;/head&gt;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&lt;body&gt;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&lt;h1&gt;Heading 1&lt;/h1&gt;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&lt;p&gt;Hello world!&lt;/p&gt;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&lt;p&gt;Unordered List:&lt;/p&gt;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HK" sz="13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HK" sz="135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HK" sz="13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&lt;li&gt;item 1&lt;/li&gt;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&lt;li&gt;item 2&lt;/li&gt;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&lt;li&gt;item 3&lt;/li&gt;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HK" sz="13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HK" sz="135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en-HK" sz="13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&lt;/body&gt;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90863" y="2748120"/>
            <a:ext cx="3732112" cy="341632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&lt;head&gt;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&lt;title&gt;This is a title&lt;/title&gt;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&lt;/head&gt;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&lt;body&gt;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&lt;h1&gt;Heading 1&lt;/h1&gt;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  &lt;p&gt;Hello world!&lt;/p&gt;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&lt;p&gt;Ordered List:&lt;/p&gt;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HK" sz="13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HK" sz="135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HK" sz="13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&lt;li&gt;item 1&lt;/li&gt;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&lt;li&gt;item 2&lt;/li&gt;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&lt;li&gt;item 2&lt;/li&gt;</a:t>
            </a:r>
          </a:p>
          <a:p>
            <a:r>
              <a:rPr lang="en-HK" sz="135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HK" sz="13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HK" sz="135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ol</a:t>
            </a:r>
            <a:r>
              <a:rPr lang="en-HK" sz="135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  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  &lt;/body&gt;</a:t>
            </a:r>
          </a:p>
          <a:p>
            <a:r>
              <a:rPr lang="en-HK" sz="1350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810493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Hyperlinks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23360"/>
          </a:xfrm>
        </p:spPr>
        <p:txBody>
          <a:bodyPr/>
          <a:lstStyle/>
          <a:p>
            <a:r>
              <a:rPr lang="en-HK" dirty="0"/>
              <a:t>Now, add the following paragraph after the “Hello world paragraph:</a:t>
            </a:r>
          </a:p>
          <a:p>
            <a:pPr lvl="1"/>
            <a:r>
              <a:rPr lang="en-HK" dirty="0"/>
              <a:t>&lt;p&gt; Go to Google. &lt;/p&gt;</a:t>
            </a:r>
          </a:p>
          <a:p>
            <a:r>
              <a:rPr lang="en-HK" dirty="0"/>
              <a:t>We would like to take the user to the Google website when the word “Google” is clicked.</a:t>
            </a:r>
          </a:p>
          <a:p>
            <a:r>
              <a:rPr lang="en-HK" dirty="0"/>
              <a:t>This is done by the &lt;a&gt; and &lt;/a&gt; tags. You will need to provide the web address within the &lt;a&gt; tag by defining the “</a:t>
            </a:r>
            <a:r>
              <a:rPr lang="en-HK" dirty="0" err="1"/>
              <a:t>href</a:t>
            </a:r>
            <a:r>
              <a:rPr lang="en-HK" dirty="0"/>
              <a:t>” attribute, e.g.,</a:t>
            </a:r>
          </a:p>
          <a:p>
            <a:pPr marL="0" indent="0" algn="ctr">
              <a:buNone/>
            </a:pPr>
            <a:r>
              <a:rPr lang="en-HK" dirty="0">
                <a:solidFill>
                  <a:srgbClr val="FF0000"/>
                </a:solidFill>
              </a:rPr>
              <a:t>&lt;a</a:t>
            </a:r>
            <a:r>
              <a:rPr lang="en-HK" dirty="0"/>
              <a:t> </a:t>
            </a:r>
            <a:r>
              <a:rPr lang="en-HK" dirty="0" err="1"/>
              <a:t>href</a:t>
            </a:r>
            <a:r>
              <a:rPr lang="en-HK" dirty="0"/>
              <a:t>="</a:t>
            </a:r>
            <a:r>
              <a:rPr lang="en-HK" i="1" dirty="0" err="1"/>
              <a:t>url</a:t>
            </a:r>
            <a:r>
              <a:rPr lang="en-HK" dirty="0"/>
              <a:t>"</a:t>
            </a:r>
            <a:r>
              <a:rPr lang="en-HK" dirty="0">
                <a:solidFill>
                  <a:srgbClr val="FF0000"/>
                </a:solidFill>
              </a:rPr>
              <a:t>&gt;</a:t>
            </a:r>
            <a:r>
              <a:rPr lang="en-HK" i="1" dirty="0"/>
              <a:t>link text</a:t>
            </a:r>
            <a:r>
              <a:rPr lang="en-HK" dirty="0">
                <a:solidFill>
                  <a:srgbClr val="FF0000"/>
                </a:solidFill>
              </a:rPr>
              <a:t>&lt;/a&gt;</a:t>
            </a:r>
            <a:r>
              <a:rPr lang="en-HK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869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Hyperlinks (Cont’d)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28316" y="2200590"/>
            <a:ext cx="6362255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/>
              <a:t>&lt;!DOCTYPE html&gt;</a:t>
            </a:r>
          </a:p>
          <a:p>
            <a:r>
              <a:rPr lang="en-HK" dirty="0"/>
              <a:t>&lt;html&gt;</a:t>
            </a:r>
          </a:p>
          <a:p>
            <a:r>
              <a:rPr lang="en-HK" dirty="0"/>
              <a:t>  &lt;head&gt;</a:t>
            </a:r>
          </a:p>
          <a:p>
            <a:r>
              <a:rPr lang="en-HK" dirty="0"/>
              <a:t>    &lt;title&gt;This is a title&lt;/title&gt;</a:t>
            </a:r>
          </a:p>
          <a:p>
            <a:r>
              <a:rPr lang="en-HK" dirty="0"/>
              <a:t>  &lt;/head&gt;</a:t>
            </a:r>
          </a:p>
          <a:p>
            <a:r>
              <a:rPr lang="en-HK" dirty="0"/>
              <a:t>  &lt;body&gt;</a:t>
            </a:r>
          </a:p>
          <a:p>
            <a:r>
              <a:rPr lang="en-HK" dirty="0"/>
              <a:t>   &lt;h1&gt;Heading 1&lt;/h1&gt;</a:t>
            </a:r>
          </a:p>
          <a:p>
            <a:r>
              <a:rPr lang="en-HK" dirty="0"/>
              <a:t>    &lt;p&gt;&lt;b&gt;Hello&lt;/b&gt; &lt;</a:t>
            </a:r>
            <a:r>
              <a:rPr lang="en-HK" dirty="0" err="1"/>
              <a:t>i</a:t>
            </a:r>
            <a:r>
              <a:rPr lang="en-HK" dirty="0"/>
              <a:t>&gt;world!&lt;/</a:t>
            </a:r>
            <a:r>
              <a:rPr lang="en-HK" dirty="0" err="1"/>
              <a:t>i</a:t>
            </a:r>
            <a:r>
              <a:rPr lang="en-HK" dirty="0"/>
              <a:t>&gt;&lt;/p&gt;</a:t>
            </a:r>
          </a:p>
          <a:p>
            <a:r>
              <a:rPr lang="en-HK" dirty="0"/>
              <a:t>    &lt;p&gt; Go to </a:t>
            </a:r>
            <a:r>
              <a:rPr lang="en-HK" dirty="0">
                <a:solidFill>
                  <a:srgbClr val="FF0000"/>
                </a:solidFill>
              </a:rPr>
              <a:t>&lt;a </a:t>
            </a:r>
            <a:r>
              <a:rPr lang="en-HK" dirty="0" err="1">
                <a:solidFill>
                  <a:srgbClr val="0070C0"/>
                </a:solidFill>
              </a:rPr>
              <a:t>href</a:t>
            </a:r>
            <a:r>
              <a:rPr lang="en-HK" dirty="0"/>
              <a:t>="http://www.google.com"</a:t>
            </a:r>
            <a:r>
              <a:rPr lang="en-HK" dirty="0">
                <a:solidFill>
                  <a:srgbClr val="FF0000"/>
                </a:solidFill>
              </a:rPr>
              <a:t>&gt;</a:t>
            </a:r>
            <a:r>
              <a:rPr lang="en-HK" dirty="0"/>
              <a:t>Google</a:t>
            </a:r>
            <a:r>
              <a:rPr lang="en-HK" dirty="0">
                <a:solidFill>
                  <a:srgbClr val="FF0000"/>
                </a:solidFill>
              </a:rPr>
              <a:t>&lt;/a&gt;</a:t>
            </a:r>
            <a:r>
              <a:rPr lang="en-HK" dirty="0"/>
              <a:t>. &lt;/p&gt;</a:t>
            </a:r>
          </a:p>
          <a:p>
            <a:r>
              <a:rPr lang="en-HK" dirty="0"/>
              <a:t>  &lt;/body&gt;</a:t>
            </a:r>
          </a:p>
          <a:p>
            <a:r>
              <a:rPr lang="en-HK" dirty="0"/>
              <a:t>&lt;/html&gt;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0453" y="5702804"/>
            <a:ext cx="3928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This is called an absolute URL because the complete address is specified.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5305530" y="4762919"/>
            <a:ext cx="472272" cy="95226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252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Hyperlinks (Cont’d)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However, if you want to link to another webpage that is stored in the same folder, you can use a </a:t>
            </a:r>
            <a:r>
              <a:rPr lang="en-HK" dirty="0">
                <a:solidFill>
                  <a:srgbClr val="FF0000"/>
                </a:solidFill>
              </a:rPr>
              <a:t>relative</a:t>
            </a:r>
            <a:r>
              <a:rPr lang="en-HK" dirty="0"/>
              <a:t> URL.</a:t>
            </a:r>
          </a:p>
          <a:p>
            <a:r>
              <a:rPr lang="en-HK" dirty="0"/>
              <a:t>Now, save your helloworld.html in a folder called "Lab1Web"</a:t>
            </a:r>
          </a:p>
          <a:p>
            <a:r>
              <a:rPr lang="en-HK" dirty="0"/>
              <a:t>Create a second webpage. Let's call it "page2.html"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096829" y="3436537"/>
            <a:ext cx="2939779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/>
              <a:t>&lt;!DOCTYPE html&gt;</a:t>
            </a:r>
          </a:p>
          <a:p>
            <a:r>
              <a:rPr lang="en-HK" dirty="0"/>
              <a:t>&lt;html&gt;</a:t>
            </a:r>
          </a:p>
          <a:p>
            <a:r>
              <a:rPr lang="en-HK" dirty="0"/>
              <a:t>  &lt;head&gt;</a:t>
            </a:r>
          </a:p>
          <a:p>
            <a:r>
              <a:rPr lang="en-HK" dirty="0"/>
              <a:t>    &lt;title&gt;This is Page 2&lt;/title&gt;</a:t>
            </a:r>
          </a:p>
          <a:p>
            <a:r>
              <a:rPr lang="en-HK" dirty="0"/>
              <a:t>  &lt;/head&gt;</a:t>
            </a:r>
          </a:p>
          <a:p>
            <a:r>
              <a:rPr lang="en-HK" dirty="0"/>
              <a:t>  &lt;body&gt;</a:t>
            </a:r>
          </a:p>
          <a:p>
            <a:r>
              <a:rPr lang="en-HK" dirty="0"/>
              <a:t>    &lt;h1&gt;Heading 1&lt;/h1&gt;</a:t>
            </a:r>
          </a:p>
          <a:p>
            <a:r>
              <a:rPr lang="en-HK" dirty="0"/>
              <a:t>    &lt;p&gt;This is Page 2.&lt;/p&gt;</a:t>
            </a:r>
          </a:p>
          <a:p>
            <a:r>
              <a:rPr lang="en-HK" dirty="0"/>
              <a:t>  &lt;/body&gt;</a:t>
            </a:r>
          </a:p>
          <a:p>
            <a:r>
              <a:rPr lang="en-HK" dirty="0"/>
              <a:t>&lt;/html&gt;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6677" y="3436537"/>
            <a:ext cx="124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page2.html</a:t>
            </a:r>
          </a:p>
        </p:txBody>
      </p:sp>
    </p:spTree>
    <p:extLst>
      <p:ext uri="{BB962C8B-B14F-4D97-AF65-F5344CB8AC3E}">
        <p14:creationId xmlns:p14="http://schemas.microsoft.com/office/powerpoint/2010/main" val="1592521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Hyperlinks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Now, return to helloworld.html and change the link:</a:t>
            </a:r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r>
              <a:rPr lang="en-HK" dirty="0"/>
              <a:t>In a browser, test whether the link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34199" y="2287753"/>
            <a:ext cx="5110758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/>
              <a:t>&lt;!DOCTYPE html&gt;</a:t>
            </a:r>
          </a:p>
          <a:p>
            <a:r>
              <a:rPr lang="en-HK" dirty="0"/>
              <a:t>&lt;html&gt;</a:t>
            </a:r>
          </a:p>
          <a:p>
            <a:r>
              <a:rPr lang="en-HK" dirty="0"/>
              <a:t>  &lt;head&gt;</a:t>
            </a:r>
          </a:p>
          <a:p>
            <a:r>
              <a:rPr lang="en-HK" dirty="0"/>
              <a:t>    &lt;title&gt;This is a title&lt;/title&gt;</a:t>
            </a:r>
          </a:p>
          <a:p>
            <a:r>
              <a:rPr lang="en-HK" dirty="0"/>
              <a:t>  &lt;/head&gt;</a:t>
            </a:r>
          </a:p>
          <a:p>
            <a:r>
              <a:rPr lang="en-HK" dirty="0"/>
              <a:t>  &lt;body&gt;</a:t>
            </a:r>
          </a:p>
          <a:p>
            <a:r>
              <a:rPr lang="en-HK" dirty="0"/>
              <a:t>   &lt;h1&gt;Heading 1&lt;/h1&gt;</a:t>
            </a:r>
          </a:p>
          <a:p>
            <a:r>
              <a:rPr lang="en-HK" dirty="0"/>
              <a:t>    &lt;p&gt;&lt;b&gt;Hello&lt;/b&gt; &lt;</a:t>
            </a:r>
            <a:r>
              <a:rPr lang="en-HK" dirty="0" err="1"/>
              <a:t>i</a:t>
            </a:r>
            <a:r>
              <a:rPr lang="en-HK" dirty="0"/>
              <a:t>&gt;world!&lt;/</a:t>
            </a:r>
            <a:r>
              <a:rPr lang="en-HK" dirty="0" err="1"/>
              <a:t>i</a:t>
            </a:r>
            <a:r>
              <a:rPr lang="en-HK" dirty="0"/>
              <a:t>&gt;&lt;/p&gt;</a:t>
            </a:r>
          </a:p>
          <a:p>
            <a:r>
              <a:rPr lang="en-HK" dirty="0"/>
              <a:t>    &lt;p&gt; Go to </a:t>
            </a:r>
            <a:r>
              <a:rPr lang="en-HK" dirty="0">
                <a:solidFill>
                  <a:srgbClr val="FF0000"/>
                </a:solidFill>
              </a:rPr>
              <a:t>&lt;a </a:t>
            </a:r>
            <a:r>
              <a:rPr lang="en-HK" dirty="0" err="1">
                <a:solidFill>
                  <a:srgbClr val="0070C0"/>
                </a:solidFill>
              </a:rPr>
              <a:t>href</a:t>
            </a:r>
            <a:r>
              <a:rPr lang="en-HK" dirty="0"/>
              <a:t>="page2.html"</a:t>
            </a:r>
            <a:r>
              <a:rPr lang="en-HK" dirty="0">
                <a:solidFill>
                  <a:srgbClr val="FF0000"/>
                </a:solidFill>
              </a:rPr>
              <a:t>&gt;</a:t>
            </a:r>
            <a:r>
              <a:rPr lang="en-HK" dirty="0"/>
              <a:t>Page 2</a:t>
            </a:r>
            <a:r>
              <a:rPr lang="en-HK" dirty="0">
                <a:solidFill>
                  <a:srgbClr val="FF0000"/>
                </a:solidFill>
              </a:rPr>
              <a:t>&lt;/a&gt;</a:t>
            </a:r>
            <a:r>
              <a:rPr lang="en-HK" dirty="0"/>
              <a:t>. &lt;/p&gt;</a:t>
            </a:r>
          </a:p>
          <a:p>
            <a:r>
              <a:rPr lang="en-HK" dirty="0"/>
              <a:t>  &lt;/body&gt;</a:t>
            </a:r>
          </a:p>
          <a:p>
            <a:r>
              <a:rPr lang="en-HK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641254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Hyperlinks (Cont’d)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You can specify where to open the linked document using the </a:t>
            </a:r>
            <a:r>
              <a:rPr lang="en-HK" dirty="0">
                <a:solidFill>
                  <a:srgbClr val="FF0000"/>
                </a:solidFill>
              </a:rPr>
              <a:t>target</a:t>
            </a:r>
            <a:r>
              <a:rPr lang="en-HK" dirty="0"/>
              <a:t> attribute.</a:t>
            </a:r>
          </a:p>
          <a:p>
            <a:r>
              <a:rPr lang="en-HK" dirty="0"/>
              <a:t>target="_blank" opens the page in a </a:t>
            </a:r>
            <a:r>
              <a:rPr lang="en-HK" dirty="0">
                <a:solidFill>
                  <a:srgbClr val="FF0000"/>
                </a:solidFill>
              </a:rPr>
              <a:t>new</a:t>
            </a:r>
            <a:r>
              <a:rPr lang="en-HK" dirty="0"/>
              <a:t> window or tab.</a:t>
            </a:r>
          </a:p>
          <a:p>
            <a:r>
              <a:rPr lang="en-HK" dirty="0"/>
              <a:t>target="_self" is the default and opens the linked page in the </a:t>
            </a:r>
            <a:r>
              <a:rPr lang="en-HK" dirty="0">
                <a:solidFill>
                  <a:srgbClr val="FF0000"/>
                </a:solidFill>
              </a:rPr>
              <a:t>same</a:t>
            </a:r>
            <a:r>
              <a:rPr lang="en-HK" dirty="0"/>
              <a:t> window. </a:t>
            </a:r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49944" y="3666059"/>
            <a:ext cx="6651757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/>
              <a:t>&lt;!DOCTYPE html&gt;</a:t>
            </a:r>
          </a:p>
          <a:p>
            <a:r>
              <a:rPr lang="en-HK" dirty="0"/>
              <a:t>&lt;html&gt;</a:t>
            </a:r>
          </a:p>
          <a:p>
            <a:r>
              <a:rPr lang="en-HK" dirty="0"/>
              <a:t>  &lt;head&gt;</a:t>
            </a:r>
          </a:p>
          <a:p>
            <a:r>
              <a:rPr lang="en-HK" dirty="0"/>
              <a:t>    &lt;title&gt;This is a title&lt;/title&gt;</a:t>
            </a:r>
          </a:p>
          <a:p>
            <a:r>
              <a:rPr lang="en-HK" dirty="0"/>
              <a:t>  &lt;/head&gt;</a:t>
            </a:r>
          </a:p>
          <a:p>
            <a:r>
              <a:rPr lang="en-HK" dirty="0"/>
              <a:t>  &lt;body&gt;</a:t>
            </a:r>
          </a:p>
          <a:p>
            <a:r>
              <a:rPr lang="en-HK" dirty="0"/>
              <a:t>   &lt;h1&gt;Heading 1&lt;/h1&gt;</a:t>
            </a:r>
          </a:p>
          <a:p>
            <a:r>
              <a:rPr lang="en-HK" dirty="0"/>
              <a:t>    &lt;p&gt;&lt;b&gt;Hello&lt;/b&gt; &lt;</a:t>
            </a:r>
            <a:r>
              <a:rPr lang="en-HK" dirty="0" err="1"/>
              <a:t>i</a:t>
            </a:r>
            <a:r>
              <a:rPr lang="en-HK" dirty="0"/>
              <a:t>&gt;world!&lt;/</a:t>
            </a:r>
            <a:r>
              <a:rPr lang="en-HK" dirty="0" err="1"/>
              <a:t>i</a:t>
            </a:r>
            <a:r>
              <a:rPr lang="en-HK" dirty="0"/>
              <a:t>&gt;&lt;/p&gt;</a:t>
            </a:r>
          </a:p>
          <a:p>
            <a:r>
              <a:rPr lang="en-HK" dirty="0"/>
              <a:t>    &lt;p&gt; Go to &lt;a </a:t>
            </a:r>
            <a:r>
              <a:rPr lang="en-HK" dirty="0" err="1"/>
              <a:t>href</a:t>
            </a:r>
            <a:r>
              <a:rPr lang="en-HK" dirty="0"/>
              <a:t>="page2.html" </a:t>
            </a:r>
            <a:r>
              <a:rPr lang="en-HK" dirty="0">
                <a:solidFill>
                  <a:srgbClr val="FF0000"/>
                </a:solidFill>
              </a:rPr>
              <a:t>target="_blank"</a:t>
            </a:r>
            <a:r>
              <a:rPr lang="en-HK" dirty="0"/>
              <a:t>&gt;Page 2&lt;/a&gt;. &lt;/p&gt;</a:t>
            </a:r>
          </a:p>
          <a:p>
            <a:r>
              <a:rPr lang="en-HK" dirty="0"/>
              <a:t>  &lt;/body&gt;</a:t>
            </a:r>
          </a:p>
          <a:p>
            <a:r>
              <a:rPr lang="en-HK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363160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Download an image / picture from the Internet and save it in the Lab1Web folder. </a:t>
            </a:r>
          </a:p>
          <a:p>
            <a:r>
              <a:rPr lang="en-HK" dirty="0"/>
              <a:t>We now add the picture at the end of helloworld.html</a:t>
            </a:r>
          </a:p>
          <a:p>
            <a:r>
              <a:rPr lang="en-HK" dirty="0"/>
              <a:t>I have named my image "myimage.jpg". To insert this image onto the page, I need to use the &lt;</a:t>
            </a:r>
            <a:r>
              <a:rPr lang="en-HK" dirty="0" err="1"/>
              <a:t>img</a:t>
            </a:r>
            <a:r>
              <a:rPr lang="en-HK" dirty="0"/>
              <a:t>&gt; tag:</a:t>
            </a:r>
          </a:p>
          <a:p>
            <a:pPr marL="0" indent="0" algn="ctr">
              <a:buNone/>
            </a:pPr>
            <a:r>
              <a:rPr lang="en-HK" dirty="0">
                <a:solidFill>
                  <a:srgbClr val="FF0000"/>
                </a:solidFill>
              </a:rPr>
              <a:t>&lt;</a:t>
            </a:r>
            <a:r>
              <a:rPr lang="en-HK" dirty="0" err="1" smtClean="0">
                <a:solidFill>
                  <a:srgbClr val="FF0000"/>
                </a:solidFill>
              </a:rPr>
              <a:t>img</a:t>
            </a:r>
            <a:r>
              <a:rPr lang="en-HK" smtClean="0"/>
              <a:t> </a:t>
            </a:r>
            <a:r>
              <a:rPr lang="en-HK" smtClean="0">
                <a:solidFill>
                  <a:srgbClr val="0070C0"/>
                </a:solidFill>
              </a:rPr>
              <a:t>src</a:t>
            </a:r>
            <a:r>
              <a:rPr lang="en-HK" dirty="0"/>
              <a:t>="myimage.jpg"</a:t>
            </a:r>
            <a:r>
              <a:rPr lang="en-HK" dirty="0">
                <a:solidFill>
                  <a:srgbClr val="FF0000"/>
                </a:solidFill>
              </a:rPr>
              <a:t>&gt;</a:t>
            </a:r>
          </a:p>
          <a:p>
            <a:r>
              <a:rPr lang="en-HK" dirty="0"/>
              <a:t>See the next page for the complete html code.</a:t>
            </a:r>
          </a:p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350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Images (Cont'd)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2153812" y="2220686"/>
            <a:ext cx="5110758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/>
              <a:t>&lt;!DOCTYPE html&gt;</a:t>
            </a:r>
          </a:p>
          <a:p>
            <a:r>
              <a:rPr lang="en-HK" dirty="0"/>
              <a:t>&lt;html&gt;</a:t>
            </a:r>
          </a:p>
          <a:p>
            <a:r>
              <a:rPr lang="en-HK" dirty="0"/>
              <a:t>  &lt;head&gt;</a:t>
            </a:r>
          </a:p>
          <a:p>
            <a:r>
              <a:rPr lang="en-HK" dirty="0"/>
              <a:t>    &lt;title&gt;This is a title&lt;/title&gt;</a:t>
            </a:r>
          </a:p>
          <a:p>
            <a:r>
              <a:rPr lang="en-HK" dirty="0"/>
              <a:t>  &lt;/head&gt;</a:t>
            </a:r>
          </a:p>
          <a:p>
            <a:r>
              <a:rPr lang="en-HK" dirty="0"/>
              <a:t>  &lt;body&gt;</a:t>
            </a:r>
          </a:p>
          <a:p>
            <a:r>
              <a:rPr lang="en-HK" dirty="0"/>
              <a:t>   &lt;h1&gt;Heading 1&lt;/h1&gt;</a:t>
            </a:r>
          </a:p>
          <a:p>
            <a:r>
              <a:rPr lang="en-HK" dirty="0"/>
              <a:t>    &lt;p&gt;&lt;b&gt;Hello&lt;/b&gt; &lt;</a:t>
            </a:r>
            <a:r>
              <a:rPr lang="en-HK" dirty="0" err="1"/>
              <a:t>i</a:t>
            </a:r>
            <a:r>
              <a:rPr lang="en-HK" dirty="0"/>
              <a:t>&gt;world!&lt;/</a:t>
            </a:r>
            <a:r>
              <a:rPr lang="en-HK" dirty="0" err="1"/>
              <a:t>i</a:t>
            </a:r>
            <a:r>
              <a:rPr lang="en-HK" dirty="0"/>
              <a:t>&gt;&lt;/p&gt;</a:t>
            </a:r>
          </a:p>
          <a:p>
            <a:r>
              <a:rPr lang="en-HK" dirty="0"/>
              <a:t>    &lt;p&gt; Go to &lt;a </a:t>
            </a:r>
            <a:r>
              <a:rPr lang="en-HK" dirty="0" err="1"/>
              <a:t>href</a:t>
            </a:r>
            <a:r>
              <a:rPr lang="en-HK" dirty="0"/>
              <a:t>="page2.html"&gt;Page 2&lt;/a&gt;. &lt;/p&gt;</a:t>
            </a:r>
          </a:p>
          <a:p>
            <a:r>
              <a:rPr lang="en-HK" dirty="0"/>
              <a:t>    </a:t>
            </a:r>
            <a:r>
              <a:rPr lang="en-HK" dirty="0">
                <a:solidFill>
                  <a:srgbClr val="FF0000"/>
                </a:solidFill>
              </a:rPr>
              <a:t>&lt;</a:t>
            </a:r>
            <a:r>
              <a:rPr lang="en-HK" dirty="0" err="1">
                <a:solidFill>
                  <a:srgbClr val="FF0000"/>
                </a:solidFill>
              </a:rPr>
              <a:t>img</a:t>
            </a:r>
            <a:r>
              <a:rPr lang="en-HK" dirty="0">
                <a:solidFill>
                  <a:srgbClr val="FF0000"/>
                </a:solidFill>
              </a:rPr>
              <a:t> </a:t>
            </a:r>
            <a:r>
              <a:rPr lang="en-HK" dirty="0" err="1">
                <a:solidFill>
                  <a:srgbClr val="FF0000"/>
                </a:solidFill>
              </a:rPr>
              <a:t>src</a:t>
            </a:r>
            <a:r>
              <a:rPr lang="en-HK" dirty="0">
                <a:solidFill>
                  <a:srgbClr val="FF0000"/>
                </a:solidFill>
              </a:rPr>
              <a:t>="myimage.jpg"&gt;</a:t>
            </a:r>
          </a:p>
          <a:p>
            <a:r>
              <a:rPr lang="en-HK" dirty="0"/>
              <a:t>  &lt;/body&gt;</a:t>
            </a:r>
          </a:p>
          <a:p>
            <a:r>
              <a:rPr lang="en-HK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689850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CSS stands for </a:t>
            </a:r>
            <a:r>
              <a:rPr lang="en-HK" b="1" dirty="0"/>
              <a:t>C</a:t>
            </a:r>
            <a:r>
              <a:rPr lang="en-HK" dirty="0"/>
              <a:t>ascading </a:t>
            </a:r>
            <a:r>
              <a:rPr lang="en-HK" b="1" dirty="0"/>
              <a:t>S</a:t>
            </a:r>
            <a:r>
              <a:rPr lang="en-HK" dirty="0"/>
              <a:t>tyle </a:t>
            </a:r>
            <a:r>
              <a:rPr lang="en-HK" b="1" dirty="0"/>
              <a:t>S</a:t>
            </a:r>
            <a:r>
              <a:rPr lang="en-HK" dirty="0"/>
              <a:t>heets.</a:t>
            </a:r>
          </a:p>
          <a:p>
            <a:r>
              <a:rPr lang="en-HK" dirty="0"/>
              <a:t>CSS is a language that defines the styles of different elements in an HTML document. </a:t>
            </a:r>
          </a:p>
          <a:p>
            <a:r>
              <a:rPr lang="en-HK" dirty="0"/>
              <a:t>You can define CSS styles within an HTML document. These styles will only affect the current document.</a:t>
            </a:r>
          </a:p>
          <a:p>
            <a:r>
              <a:rPr lang="en-HK" dirty="0"/>
              <a:t>Let's add styles to &lt;body&gt;, &lt;h1&gt; and &lt;p&gt; to our helloworld.html.</a:t>
            </a:r>
          </a:p>
          <a:p>
            <a:r>
              <a:rPr lang="en-HK" dirty="0"/>
              <a:t>We define the styles inside the tags &lt;head&gt; and &lt;/head&gt;. See the next slide.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316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CSS (Cont'd)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614052"/>
          </a:xfrm>
        </p:spPr>
        <p:txBody>
          <a:bodyPr/>
          <a:lstStyle/>
          <a:p>
            <a:r>
              <a:rPr lang="en-HK" dirty="0"/>
              <a:t>What is the advantage of CSS? </a:t>
            </a:r>
            <a:br>
              <a:rPr lang="en-HK" dirty="0"/>
            </a:br>
            <a:r>
              <a:rPr lang="en-HK" dirty="0"/>
              <a:t/>
            </a:r>
            <a:br>
              <a:rPr lang="en-HK" dirty="0"/>
            </a:br>
            <a:r>
              <a:rPr lang="en-HK" dirty="0"/>
              <a:t>Can't we format each element </a:t>
            </a:r>
            <a:br>
              <a:rPr lang="en-HK" dirty="0"/>
            </a:br>
            <a:r>
              <a:rPr lang="en-HK" dirty="0"/>
              <a:t>in the HTML document one by </a:t>
            </a:r>
            <a:br>
              <a:rPr lang="en-HK" dirty="0"/>
            </a:br>
            <a:r>
              <a:rPr lang="en-HK" dirty="0"/>
              <a:t>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11710" y="256458"/>
            <a:ext cx="4250452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&lt;title&gt; This is a title &lt;/title&gt;</a:t>
            </a:r>
          </a:p>
          <a:p>
            <a:r>
              <a:rPr lang="en-HK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&lt;style&gt;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HK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background-</a:t>
            </a:r>
            <a:r>
              <a:rPr lang="en-H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H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lightblue</a:t>
            </a:r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HK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H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white;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text-align: </a:t>
            </a:r>
            <a:r>
              <a:rPr lang="en-H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HK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font-family: </a:t>
            </a:r>
            <a:r>
              <a:rPr lang="en-HK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verdana</a:t>
            </a:r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font-size: 20px;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r>
              <a:rPr lang="en-HK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&lt;/style&gt;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&lt;h1&gt;Heading 1&lt;/h1&gt;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&lt;p&gt;Hello world!&lt;/p&gt;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r>
              <a:rPr lang="en-HK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63471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CSS (Cont'd)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CSS selectors are used to "find" (or select) HTML elements based on their element name, id, class, etc.</a:t>
            </a:r>
          </a:p>
          <a:p>
            <a:r>
              <a:rPr lang="en-HK" dirty="0"/>
              <a:t>The element selector selects elements based on the element name. For example:</a:t>
            </a:r>
          </a:p>
          <a:p>
            <a:endParaRPr lang="en-HK" dirty="0"/>
          </a:p>
          <a:p>
            <a:endParaRPr lang="en-HK" dirty="0"/>
          </a:p>
          <a:p>
            <a:pPr marL="0" indent="0">
              <a:buNone/>
            </a:pPr>
            <a:endParaRPr lang="en-HK" dirty="0"/>
          </a:p>
          <a:p>
            <a:pPr marL="180975" indent="0">
              <a:buNone/>
            </a:pPr>
            <a:r>
              <a:rPr lang="en-HK" dirty="0"/>
              <a:t>with the above, all &lt;p&gt; elements will be selected and formatted with the defined styles.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73346" y="3257249"/>
            <a:ext cx="38485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HK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  font-family: 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verdana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  font-size: 20px;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421809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External Style Sheet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614052"/>
          </a:xfrm>
        </p:spPr>
        <p:txBody>
          <a:bodyPr/>
          <a:lstStyle/>
          <a:p>
            <a:r>
              <a:rPr lang="en-HK" dirty="0"/>
              <a:t>What if I want to apply the same styles on page2.html? Do I need to copy and past everything from &lt;style&gt; to &lt;/style&gt; and paste in the &lt;head&gt; section of page2.html?</a:t>
            </a:r>
          </a:p>
          <a:p>
            <a:r>
              <a:rPr lang="en-HK" dirty="0"/>
              <a:t>What if I have many pages? Should I copy and paste the same styles on to these pages one by one?</a:t>
            </a:r>
          </a:p>
          <a:p>
            <a:pPr lvl="1"/>
            <a:r>
              <a:rPr lang="en-HK" dirty="0"/>
              <a:t>What is the problem of this approach?</a:t>
            </a:r>
          </a:p>
          <a:p>
            <a:r>
              <a:rPr lang="en-HK" dirty="0"/>
              <a:t>You can save the styles in a file. In each html document that applies these styles, refer to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272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External Style Sheet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Copy the contents enclosed by &lt;style&gt; and &lt;/style&gt; into a different text file. Name the text file "lab1css.css":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24932" y="2974312"/>
            <a:ext cx="4458272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HK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body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background-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lightblue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HK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h1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: white;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text-align: 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center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HK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font-family: 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verdana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font-size: 20px;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n-HK" dirty="0"/>
          </a:p>
        </p:txBody>
      </p:sp>
      <p:sp>
        <p:nvSpPr>
          <p:cNvPr id="6" name="TextBox 5"/>
          <p:cNvSpPr txBox="1"/>
          <p:nvPr/>
        </p:nvSpPr>
        <p:spPr>
          <a:xfrm>
            <a:off x="1024932" y="2604980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lab1css.css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60893" y="2944412"/>
            <a:ext cx="28996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When you save this file in Notepad, please use "Save As…" and </a:t>
            </a:r>
            <a:r>
              <a:rPr lang="en-HK" dirty="0" err="1"/>
              <a:t>specifiy</a:t>
            </a:r>
            <a:r>
              <a:rPr lang="en-HK" dirty="0"/>
              <a:t> "lab1css.css" (</a:t>
            </a:r>
            <a:r>
              <a:rPr lang="en-HK" dirty="0">
                <a:solidFill>
                  <a:srgbClr val="FF0000"/>
                </a:solidFill>
              </a:rPr>
              <a:t>with double quotation marks</a:t>
            </a:r>
            <a:r>
              <a:rPr lang="en-HK" dirty="0"/>
              <a:t>) as the file name. Otherwise, the file may be saved as lab1css.css.txt.</a:t>
            </a:r>
          </a:p>
        </p:txBody>
      </p:sp>
    </p:spTree>
    <p:extLst>
      <p:ext uri="{BB962C8B-B14F-4D97-AF65-F5344CB8AC3E}">
        <p14:creationId xmlns:p14="http://schemas.microsoft.com/office/powerpoint/2010/main" val="2530749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External Style Sheet (Cont'd)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Now, in both helloworld.html and page2.html, refer to this file in the &lt;head&gt; section of the html document using the &lt;link&gt;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55901" y="2916180"/>
            <a:ext cx="8594019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&lt;title&gt;This is a title&lt;/title&gt;</a:t>
            </a:r>
          </a:p>
          <a:p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&lt;link </a:t>
            </a:r>
            <a:r>
              <a:rPr lang="en-HK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="stylesheet" type="text/</a:t>
            </a:r>
            <a:r>
              <a:rPr lang="en-HK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HK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="lab1css.css"&gt;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&lt;h1&gt;Heading 1&lt;/h1&gt;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&lt;p&gt;Hello world!&lt;/p&gt;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  <a:endParaRPr lang="en-HK" dirty="0"/>
          </a:p>
        </p:txBody>
      </p:sp>
      <p:sp>
        <p:nvSpPr>
          <p:cNvPr id="6" name="TextBox 5"/>
          <p:cNvSpPr txBox="1"/>
          <p:nvPr/>
        </p:nvSpPr>
        <p:spPr>
          <a:xfrm>
            <a:off x="355901" y="2546848"/>
            <a:ext cx="167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helloworld.html</a:t>
            </a:r>
          </a:p>
        </p:txBody>
      </p:sp>
    </p:spTree>
    <p:extLst>
      <p:ext uri="{BB962C8B-B14F-4D97-AF65-F5344CB8AC3E}">
        <p14:creationId xmlns:p14="http://schemas.microsoft.com/office/powerpoint/2010/main" val="3789367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External Style Sheet (Cont'd)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8921" y="2454779"/>
            <a:ext cx="8731878" cy="31393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&lt;head&gt;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 &lt;title&gt;This is Page 2&lt;/title&gt;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&lt;link </a:t>
            </a:r>
            <a:r>
              <a:rPr lang="en-HK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="stylesheet" type="text/</a:t>
            </a:r>
            <a:r>
              <a:rPr lang="en-HK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HK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="lab1css.css"&gt;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&lt;/head&gt;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&lt;body&gt;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 &lt;h1&gt;Heading 1&lt;/h1&gt;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 &lt;p&gt;This is Page 2.&lt;/p&gt;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&lt;/body&gt;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  <a:endParaRPr lang="en-HK" dirty="0"/>
          </a:p>
        </p:txBody>
      </p:sp>
      <p:sp>
        <p:nvSpPr>
          <p:cNvPr id="6" name="TextBox 5"/>
          <p:cNvSpPr txBox="1"/>
          <p:nvPr/>
        </p:nvSpPr>
        <p:spPr>
          <a:xfrm>
            <a:off x="228921" y="2085447"/>
            <a:ext cx="124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page2.html</a:t>
            </a:r>
          </a:p>
        </p:txBody>
      </p:sp>
    </p:spTree>
    <p:extLst>
      <p:ext uri="{BB962C8B-B14F-4D97-AF65-F5344CB8AC3E}">
        <p14:creationId xmlns:p14="http://schemas.microsoft.com/office/powerpoint/2010/main" val="4181486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Inline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If a specific element is very special, you can overwrite the internal or external style sheets using inline styles. </a:t>
            </a:r>
          </a:p>
          <a:p>
            <a:r>
              <a:rPr lang="en-HK" dirty="0"/>
              <a:t>For example, perhaps the paragraph "Hello world!" is very special and you want to give it a different </a:t>
            </a:r>
            <a:r>
              <a:rPr lang="en-HK" dirty="0" err="1"/>
              <a:t>color</a:t>
            </a:r>
            <a:r>
              <a:rPr lang="en-HK" dirty="0"/>
              <a:t> than other paragraphs in the website.</a:t>
            </a:r>
          </a:p>
          <a:p>
            <a:r>
              <a:rPr lang="en-HK" dirty="0"/>
              <a:t>You can rewrite that paragraph to:</a:t>
            </a:r>
          </a:p>
          <a:p>
            <a:pPr marL="0" indent="0" algn="ctr">
              <a:buNone/>
            </a:pPr>
            <a:r>
              <a:rPr lang="en-HK" dirty="0"/>
              <a:t>&lt;p style="</a:t>
            </a:r>
            <a:r>
              <a:rPr lang="en-HK" dirty="0" err="1"/>
              <a:t>color:red</a:t>
            </a:r>
            <a:r>
              <a:rPr lang="en-HK" dirty="0"/>
              <a:t>;"&gt;Hello world!&lt;/p&gt;</a:t>
            </a:r>
          </a:p>
          <a:p>
            <a:r>
              <a:rPr lang="en-HK" dirty="0"/>
              <a:t>See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91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Inline Styles (Cont'd)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6288" y="2344247"/>
            <a:ext cx="8594019" cy="31393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&lt;head&gt;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&lt;title&gt;This is a title&lt;/title&gt;</a:t>
            </a:r>
          </a:p>
          <a:p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&lt;link 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="stylesheet" type="text/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="lab1css.css"&gt;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&lt;/head&gt;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&lt;body&gt;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&lt;h1&gt;Heading 1&lt;/h1&gt;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&lt;p 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style="</a:t>
            </a:r>
            <a:r>
              <a:rPr lang="en-HK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;"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&gt;Hello world!&lt;/p&gt;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&lt;/body&gt;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6288" y="1974915"/>
            <a:ext cx="1679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helloworld.html</a:t>
            </a:r>
          </a:p>
        </p:txBody>
      </p:sp>
    </p:spTree>
    <p:extLst>
      <p:ext uri="{BB962C8B-B14F-4D97-AF65-F5344CB8AC3E}">
        <p14:creationId xmlns:p14="http://schemas.microsoft.com/office/powerpoint/2010/main" val="1249430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Divisions in a Web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Starting from this slide, the concepts presented become quite complex. </a:t>
            </a:r>
          </a:p>
          <a:p>
            <a:r>
              <a:rPr lang="en-HK" dirty="0"/>
              <a:t>There is no need to go through the following slides if you find the contents too difficult.</a:t>
            </a:r>
          </a:p>
          <a:p>
            <a:r>
              <a:rPr lang="en-HK" dirty="0"/>
              <a:t>A typical web page </a:t>
            </a:r>
            <a:br>
              <a:rPr lang="en-HK" dirty="0"/>
            </a:br>
            <a:r>
              <a:rPr lang="en-HK" dirty="0"/>
              <a:t>design divides </a:t>
            </a:r>
            <a:br>
              <a:rPr lang="en-HK" dirty="0"/>
            </a:br>
            <a:r>
              <a:rPr lang="en-HK" dirty="0"/>
              <a:t>the page into </a:t>
            </a:r>
            <a:br>
              <a:rPr lang="en-HK" dirty="0"/>
            </a:br>
            <a:r>
              <a:rPr lang="en-HK" dirty="0"/>
              <a:t>different sections. </a:t>
            </a:r>
          </a:p>
          <a:p>
            <a:pPr marL="0" indent="0">
              <a:buNone/>
            </a:pP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76246" y="3093590"/>
            <a:ext cx="5124660" cy="28838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3386295" y="5595630"/>
            <a:ext cx="5114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376246" y="3496753"/>
            <a:ext cx="511461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4720799" y="3496753"/>
            <a:ext cx="0" cy="20888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579927" y="5595629"/>
            <a:ext cx="800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Footer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6295" y="4147514"/>
            <a:ext cx="1344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dirty="0"/>
              <a:t>Navigation 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0729" y="4473377"/>
            <a:ext cx="1971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Main Content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9927" y="3127421"/>
            <a:ext cx="872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651908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&lt;div&gt;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For each of the sections, you can create a &lt;div&gt; element and assign a </a:t>
            </a:r>
            <a:r>
              <a:rPr lang="en-HK" dirty="0">
                <a:solidFill>
                  <a:srgbClr val="FF0000"/>
                </a:solidFill>
              </a:rPr>
              <a:t>class</a:t>
            </a:r>
            <a:r>
              <a:rPr lang="en-HK" dirty="0"/>
              <a:t> to it so that you can refer to the specific &lt;div&gt; element easily. </a:t>
            </a:r>
          </a:p>
          <a:p>
            <a:r>
              <a:rPr lang="en-US" altLang="zh-CN" dirty="0"/>
              <a:t>For example, we can name the class for the header </a:t>
            </a:r>
            <a:r>
              <a:rPr lang="en-US" altLang="zh-CN" dirty="0" err="1">
                <a:solidFill>
                  <a:srgbClr val="FF0000"/>
                </a:solidFill>
              </a:rPr>
              <a:t>header</a:t>
            </a:r>
            <a:r>
              <a:rPr lang="en-US" altLang="zh-CN" dirty="0"/>
              <a:t>, the navigation bar </a:t>
            </a:r>
            <a:r>
              <a:rPr lang="en-US" altLang="zh-CN" dirty="0">
                <a:solidFill>
                  <a:srgbClr val="FF0000"/>
                </a:solidFill>
              </a:rPr>
              <a:t>sidebar</a:t>
            </a:r>
            <a:r>
              <a:rPr lang="en-US" altLang="zh-CN" dirty="0"/>
              <a:t>, the footer </a:t>
            </a:r>
            <a:r>
              <a:rPr lang="en-US" altLang="zh-CN" dirty="0" err="1">
                <a:solidFill>
                  <a:srgbClr val="FF0000"/>
                </a:solidFill>
              </a:rPr>
              <a:t>footer</a:t>
            </a:r>
            <a:r>
              <a:rPr lang="en-US" altLang="zh-CN" dirty="0"/>
              <a:t> and the main content </a:t>
            </a:r>
            <a:r>
              <a:rPr lang="en-US" altLang="zh-CN" dirty="0" err="1">
                <a:solidFill>
                  <a:srgbClr val="FF0000"/>
                </a:solidFill>
              </a:rPr>
              <a:t>content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We will also need to define a container to hold these &lt;div&gt; elements together. The container will also be a &lt;div&gt; element. We will call this class </a:t>
            </a:r>
            <a:r>
              <a:rPr lang="en-US" altLang="zh-CN" dirty="0">
                <a:solidFill>
                  <a:srgbClr val="FF0000"/>
                </a:solidFill>
              </a:rPr>
              <a:t>container</a:t>
            </a:r>
            <a:r>
              <a:rPr lang="en-US" altLang="zh-CN" dirty="0"/>
              <a:t>.</a:t>
            </a:r>
          </a:p>
          <a:p>
            <a:pPr lvl="1"/>
            <a:r>
              <a:rPr lang="en-US" altLang="zh-CN" dirty="0"/>
              <a:t>It is like a big box containing smaller boxes.</a:t>
            </a:r>
          </a:p>
          <a:p>
            <a:r>
              <a:rPr lang="en-US" altLang="zh-CN" dirty="0"/>
              <a:t>Then, we can define the properties of these classes…</a:t>
            </a:r>
          </a:p>
          <a:p>
            <a:pPr marL="0" indent="0">
              <a:buNone/>
            </a:pPr>
            <a:endParaRPr lang="en-HK" dirty="0"/>
          </a:p>
          <a:p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40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&lt;div&gt; (Cont'd)</a:t>
            </a:r>
            <a:endParaRPr lang="en-HK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lab1css.css, we will add the following codes to define the property of these classes.</a:t>
            </a:r>
            <a:endParaRPr lang="en-HK" dirty="0"/>
          </a:p>
        </p:txBody>
      </p:sp>
      <p:sp>
        <p:nvSpPr>
          <p:cNvPr id="5" name="TextBox 4"/>
          <p:cNvSpPr txBox="1"/>
          <p:nvPr/>
        </p:nvSpPr>
        <p:spPr>
          <a:xfrm>
            <a:off x="441120" y="4265605"/>
            <a:ext cx="409278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.sidebar {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float: left;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width: 15%;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background-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: blue;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47976" y="2632151"/>
            <a:ext cx="4124719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.content {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width: 85%;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float: left;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background-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: green;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1121" y="2632151"/>
            <a:ext cx="4092786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.header {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float: left;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width: 100%;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background-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: pink;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7976" y="4217851"/>
            <a:ext cx="4124719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.footer {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	background-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: yellow;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HK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clear:both</a:t>
            </a:r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7975" y="5514048"/>
            <a:ext cx="4124719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 {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	width: 960px;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	background-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: purple;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7470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&lt;div&gt; (Cont'd)</a:t>
            </a:r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49722" y="2149256"/>
            <a:ext cx="5527598" cy="38585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6" name="Rectangle 5"/>
          <p:cNvSpPr/>
          <p:nvPr/>
        </p:nvSpPr>
        <p:spPr>
          <a:xfrm>
            <a:off x="320543" y="2310029"/>
            <a:ext cx="5222511" cy="6029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7" name="Rectangle 6"/>
          <p:cNvSpPr/>
          <p:nvPr/>
        </p:nvSpPr>
        <p:spPr>
          <a:xfrm>
            <a:off x="320543" y="3042405"/>
            <a:ext cx="1616023" cy="22508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8" name="Rectangle 7"/>
          <p:cNvSpPr/>
          <p:nvPr/>
        </p:nvSpPr>
        <p:spPr>
          <a:xfrm>
            <a:off x="2099101" y="3042405"/>
            <a:ext cx="3478389" cy="225083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9" name="Rectangle 8"/>
          <p:cNvSpPr/>
          <p:nvPr/>
        </p:nvSpPr>
        <p:spPr>
          <a:xfrm>
            <a:off x="320543" y="5414970"/>
            <a:ext cx="5222511" cy="49236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0" name="TextBox 9"/>
          <p:cNvSpPr txBox="1"/>
          <p:nvPr/>
        </p:nvSpPr>
        <p:spPr>
          <a:xfrm>
            <a:off x="5839855" y="2376060"/>
            <a:ext cx="3147015" cy="35394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class="container"&gt;</a:t>
            </a:r>
          </a:p>
          <a:p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&lt;div class="header"&gt;</a:t>
            </a:r>
          </a:p>
          <a:p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&lt;h1&gt; header &lt;/h1&gt;</a:t>
            </a:r>
          </a:p>
          <a:p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&lt;/div&gt;</a:t>
            </a:r>
          </a:p>
          <a:p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&lt;div class="sidebar"&gt;</a:t>
            </a:r>
          </a:p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&lt;h2&gt; sidebar &lt;/h2&gt;</a:t>
            </a:r>
          </a:p>
          <a:p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&lt;/div&gt;</a:t>
            </a:r>
          </a:p>
          <a:p>
            <a:r>
              <a:rPr lang="en-US" sz="16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&lt;div class="content"&gt;</a:t>
            </a:r>
          </a:p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&lt;p&gt; content &lt;/p&gt;</a:t>
            </a:r>
          </a:p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&lt;/div&gt;</a:t>
            </a:r>
          </a:p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&lt;div class="footer"&gt;</a:t>
            </a:r>
          </a:p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&lt;p&gt; footer &lt;/p&gt;</a:t>
            </a:r>
          </a:p>
          <a:p>
            <a:r>
              <a:rPr 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&lt;/div&gt;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  <a:endParaRPr lang="en-H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33530" y="2006728"/>
            <a:ext cx="2928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Within the &lt;body&gt; element…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235507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35292" y="486331"/>
            <a:ext cx="7837402" cy="57554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&lt;head&gt;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&lt;title&gt;This is Page 3&lt;/title&gt;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&lt;link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="stylesheet" type="text/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="lab1css.css"&gt;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&lt;/head&gt;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&lt;body&gt;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&lt;div class="container"&gt;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&lt;div class="header"&gt;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&lt;h1&gt; Header&lt;/h1&gt;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&lt;/div&gt;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&lt;div class="sidebar"&gt;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&lt;h2&gt;Sidebar &lt;/h2&gt;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&lt;/div&gt;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&lt;div class="content"&gt;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&lt;p&gt; contents &lt;/p&gt;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&lt;/div&gt;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&lt;div class="footer"&gt;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&lt;p&gt; 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&gt;footer&lt;/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&lt;/p&gt;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&lt;/div&gt;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&lt;/div&gt;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&lt;/body&gt;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&lt;/html&gt;</a:t>
            </a:r>
            <a:endParaRPr lang="en-HK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005108" y="101938"/>
            <a:ext cx="5561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 other words, create page3.html with contents below: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674136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Play with the different parameters in lab1css.css</a:t>
            </a:r>
          </a:p>
          <a:p>
            <a:pPr lvl="1"/>
            <a:r>
              <a:rPr lang="en-HK" dirty="0"/>
              <a:t>Change the .container width to 100% (instead of 960px)</a:t>
            </a:r>
          </a:p>
          <a:p>
            <a:pPr lvl="1"/>
            <a:r>
              <a:rPr lang="en-HK" dirty="0"/>
              <a:t>Change the .content width to 75%</a:t>
            </a:r>
          </a:p>
          <a:p>
            <a:pPr lvl="1"/>
            <a:r>
              <a:rPr lang="en-HK" dirty="0"/>
              <a:t>Change the .content float to </a:t>
            </a:r>
            <a:r>
              <a:rPr lang="en-HK" dirty="0">
                <a:solidFill>
                  <a:srgbClr val="FF0000"/>
                </a:solidFill>
              </a:rPr>
              <a:t>right</a:t>
            </a:r>
          </a:p>
          <a:p>
            <a:pPr lvl="1"/>
            <a:r>
              <a:rPr lang="en-HK" dirty="0"/>
              <a:t>Remove "</a:t>
            </a:r>
            <a:r>
              <a:rPr lang="en-HK" dirty="0" err="1"/>
              <a:t>clear:both</a:t>
            </a:r>
            <a:r>
              <a:rPr lang="en-HK" dirty="0"/>
              <a:t>;" from .footer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787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&lt;</a:t>
            </a:r>
            <a:r>
              <a:rPr lang="en-HK" dirty="0" err="1"/>
              <a:t>Div</a:t>
            </a:r>
            <a:r>
              <a:rPr lang="en-HK" dirty="0"/>
              <a:t>&gt; (Cont'd)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I would like the footer to stay at the bottom of the page…</a:t>
            </a:r>
          </a:p>
          <a:p>
            <a:pPr lvl="1"/>
            <a:r>
              <a:rPr lang="en-HK" dirty="0"/>
              <a:t>Solution 1: Ensure there is enough contents in .content and .sidebar</a:t>
            </a:r>
          </a:p>
          <a:p>
            <a:pPr lvl="1"/>
            <a:r>
              <a:rPr lang="en-HK" dirty="0"/>
              <a:t>Solution 2: Change the .footer declaration in lab1css.css to:</a:t>
            </a:r>
          </a:p>
          <a:p>
            <a:pPr lvl="1"/>
            <a:endParaRPr lang="en-HK" dirty="0"/>
          </a:p>
          <a:p>
            <a:pPr lvl="1"/>
            <a:endParaRPr lang="en-H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93442" y="3125037"/>
            <a:ext cx="404469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.footer {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background-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: yellow;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HK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clear:both</a:t>
            </a:r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position: absolute;</a:t>
            </a:r>
          </a:p>
          <a:p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bottom: 0;</a:t>
            </a:r>
          </a:p>
          <a:p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left: 0;</a:t>
            </a:r>
          </a:p>
          <a:p>
            <a:r>
              <a:rPr lang="en-HK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right: 0;</a:t>
            </a:r>
          </a:p>
          <a:p>
            <a:r>
              <a:rPr lang="en-HK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48442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="" xmlns:a16="http://schemas.microsoft.com/office/drawing/2014/main" id="{537B0777-9116-4557-BF87-D279C45F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K" dirty="0"/>
              <a:t>CSS Box Model</a:t>
            </a:r>
          </a:p>
        </p:txBody>
      </p:sp>
      <p:pic>
        <p:nvPicPr>
          <p:cNvPr id="12" name="Content Placeholder 4">
            <a:extLst>
              <a:ext uri="{FF2B5EF4-FFF2-40B4-BE49-F238E27FC236}">
                <a16:creationId xmlns="" xmlns:a16="http://schemas.microsoft.com/office/drawing/2014/main" id="{3833D653-57B8-4866-98B2-D648EE12A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336" y="2210236"/>
            <a:ext cx="3156016" cy="4022725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19D841A-EA5E-4D90-B416-990BA5C421D0}"/>
              </a:ext>
            </a:extLst>
          </p:cNvPr>
          <p:cNvSpPr/>
          <p:nvPr/>
        </p:nvSpPr>
        <p:spPr>
          <a:xfrm>
            <a:off x="228601" y="2210236"/>
            <a:ext cx="4086224" cy="41429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HK" sz="2400" dirty="0">
                <a:solidFill>
                  <a:schemeClr val="tx1"/>
                </a:solidFill>
              </a:rPr>
              <a:t>CSS box consists of 4 elements surrounding the given object:</a:t>
            </a:r>
          </a:p>
          <a:p>
            <a:pPr marL="342900" indent="-342900">
              <a:buAutoNum type="arabicPeriod"/>
            </a:pPr>
            <a:r>
              <a:rPr lang="en-HK" sz="2400" dirty="0">
                <a:solidFill>
                  <a:schemeClr val="tx1"/>
                </a:solidFill>
              </a:rPr>
              <a:t>Padding</a:t>
            </a:r>
          </a:p>
          <a:p>
            <a:pPr marL="342900" indent="-342900">
              <a:buAutoNum type="arabicPeriod"/>
            </a:pPr>
            <a:r>
              <a:rPr lang="en-HK" sz="2400" dirty="0">
                <a:solidFill>
                  <a:schemeClr val="tx1"/>
                </a:solidFill>
              </a:rPr>
              <a:t>Margin</a:t>
            </a:r>
          </a:p>
          <a:p>
            <a:pPr marL="342900" indent="-342900">
              <a:buAutoNum type="arabicPeriod"/>
            </a:pPr>
            <a:r>
              <a:rPr lang="en-HK" sz="2400" dirty="0">
                <a:solidFill>
                  <a:schemeClr val="tx1"/>
                </a:solidFill>
              </a:rPr>
              <a:t>Width</a:t>
            </a:r>
          </a:p>
          <a:p>
            <a:pPr marL="342900" indent="-342900">
              <a:buAutoNum type="arabicPeriod"/>
            </a:pPr>
            <a:r>
              <a:rPr lang="en-HK" sz="2400" dirty="0">
                <a:solidFill>
                  <a:schemeClr val="tx1"/>
                </a:solidFill>
              </a:rPr>
              <a:t>Height</a:t>
            </a:r>
          </a:p>
          <a:p>
            <a:endParaRPr lang="en-HK" sz="2400" dirty="0">
              <a:solidFill>
                <a:schemeClr val="tx1"/>
              </a:solidFill>
            </a:endParaRPr>
          </a:p>
          <a:p>
            <a:r>
              <a:rPr lang="en-HK" sz="2400" dirty="0">
                <a:solidFill>
                  <a:schemeClr val="tx1"/>
                </a:solidFill>
              </a:rPr>
              <a:t>We can set the sizes of the elements in term of the number of pixels or other measurement units.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DF836062-5F71-475C-86CA-AAB878A09EE9}"/>
              </a:ext>
            </a:extLst>
          </p:cNvPr>
          <p:cNvCxnSpPr>
            <a:cxnSpLocks/>
          </p:cNvCxnSpPr>
          <p:nvPr/>
        </p:nvCxnSpPr>
        <p:spPr>
          <a:xfrm>
            <a:off x="5686441" y="3462571"/>
            <a:ext cx="360000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01F58BAA-2B9A-43F8-A563-2096FE246F2D}"/>
              </a:ext>
            </a:extLst>
          </p:cNvPr>
          <p:cNvSpPr/>
          <p:nvPr/>
        </p:nvSpPr>
        <p:spPr>
          <a:xfrm>
            <a:off x="4485768" y="3185737"/>
            <a:ext cx="1190625" cy="513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HK" sz="2400" dirty="0">
                <a:solidFill>
                  <a:schemeClr val="tx1"/>
                </a:solidFill>
              </a:rPr>
              <a:t>Border</a:t>
            </a:r>
          </a:p>
        </p:txBody>
      </p:sp>
    </p:spTree>
    <p:extLst>
      <p:ext uri="{BB962C8B-B14F-4D97-AF65-F5344CB8AC3E}">
        <p14:creationId xmlns:p14="http://schemas.microsoft.com/office/powerpoint/2010/main" val="32908611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478</TotalTime>
  <Words>2732</Words>
  <Application>Microsoft Office PowerPoint</Application>
  <PresentationFormat>全屏显示(4:3)</PresentationFormat>
  <Paragraphs>433</Paragraphs>
  <Slides>31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2" baseType="lpstr">
      <vt:lpstr>Retrospect</vt:lpstr>
      <vt:lpstr>Introduction to HTML and CSS-1 </vt:lpstr>
      <vt:lpstr>HTML</vt:lpstr>
      <vt:lpstr>A Simple “Hello World” Page</vt:lpstr>
      <vt:lpstr>Explanation</vt:lpstr>
      <vt:lpstr>Exercise</vt:lpstr>
      <vt:lpstr>Formatting</vt:lpstr>
      <vt:lpstr>Lists</vt:lpstr>
      <vt:lpstr>Hyperlinks</vt:lpstr>
      <vt:lpstr>Hyperlinks (Cont’d)</vt:lpstr>
      <vt:lpstr>Hyperlinks (Cont’d)</vt:lpstr>
      <vt:lpstr>Hyperlinks (Cont’d)</vt:lpstr>
      <vt:lpstr>Hyperlinks (Cont’d)</vt:lpstr>
      <vt:lpstr>Images</vt:lpstr>
      <vt:lpstr>Images (Cont'd)</vt:lpstr>
      <vt:lpstr>CSS</vt:lpstr>
      <vt:lpstr>CSS (Cont'd) </vt:lpstr>
      <vt:lpstr>CSS (Cont'd) </vt:lpstr>
      <vt:lpstr>External Style Sheet </vt:lpstr>
      <vt:lpstr>External Style Sheet </vt:lpstr>
      <vt:lpstr>External Style Sheet (Cont'd)</vt:lpstr>
      <vt:lpstr>External Style Sheet (Cont'd)</vt:lpstr>
      <vt:lpstr>Inline Styles</vt:lpstr>
      <vt:lpstr>Inline Styles (Cont'd)</vt:lpstr>
      <vt:lpstr>Divisions in a Web Page</vt:lpstr>
      <vt:lpstr>&lt;div&gt;</vt:lpstr>
      <vt:lpstr>&lt;div&gt; (Cont'd)</vt:lpstr>
      <vt:lpstr>&lt;div&gt; (Cont'd)</vt:lpstr>
      <vt:lpstr>PowerPoint 演示文稿</vt:lpstr>
      <vt:lpstr>Exercise</vt:lpstr>
      <vt:lpstr>&lt;Div&gt; (Cont'd)</vt:lpstr>
      <vt:lpstr>CSS Box Model</vt:lpstr>
    </vt:vector>
  </TitlesOfParts>
  <Company>Lingnan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html</dc:title>
  <dc:creator>HUI Wan Yee Wendy</dc:creator>
  <cp:lastModifiedBy>huawel</cp:lastModifiedBy>
  <cp:revision>32</cp:revision>
  <dcterms:created xsi:type="dcterms:W3CDTF">2018-09-05T04:18:36Z</dcterms:created>
  <dcterms:modified xsi:type="dcterms:W3CDTF">2021-01-18T03:24:25Z</dcterms:modified>
</cp:coreProperties>
</file>