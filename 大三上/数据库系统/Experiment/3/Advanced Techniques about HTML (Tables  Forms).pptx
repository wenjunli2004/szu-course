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720" r:id="rId1"/>
  </p:sldMasterIdLst>
  <p:notesMasterIdLst>
    <p:notesMasterId r:id="rId17"/>
  </p:notesMasterIdLst>
  <p:sldIdLst>
    <p:sldId id="256" r:id="rId2"/>
    <p:sldId id="288" r:id="rId3"/>
    <p:sldId id="257" r:id="rId4"/>
    <p:sldId id="258" r:id="rId5"/>
    <p:sldId id="289" r:id="rId6"/>
    <p:sldId id="290" r:id="rId7"/>
    <p:sldId id="291" r:id="rId8"/>
    <p:sldId id="295" r:id="rId9"/>
    <p:sldId id="266" r:id="rId10"/>
    <p:sldId id="292" r:id="rId11"/>
    <p:sldId id="265" r:id="rId12"/>
    <p:sldId id="293" r:id="rId13"/>
    <p:sldId id="274" r:id="rId14"/>
    <p:sldId id="276" r:id="rId15"/>
    <p:sldId id="294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8034E78-7F5D-4C2E-B375-FC64B27BC917}" styleName="深色样式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1" autoAdjust="0"/>
    <p:restoredTop sz="83126" autoAdjust="0"/>
  </p:normalViewPr>
  <p:slideViewPr>
    <p:cSldViewPr snapToGrid="0">
      <p:cViewPr varScale="1">
        <p:scale>
          <a:sx n="94" d="100"/>
          <a:sy n="94" d="100"/>
        </p:scale>
        <p:origin x="-908" y="-8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H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96643CA-7A7D-4FFD-8CB2-E0CAF5B1178F}" type="datetimeFigureOut">
              <a:rPr lang="en-HK" smtClean="0"/>
              <a:t>3/2/2021</a:t>
            </a:fld>
            <a:endParaRPr lang="en-H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H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H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H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398C31-388F-470D-8AD0-D0F8E444AF4B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8781299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/>
              <a:t>Common Gateway Interface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398C31-388F-470D-8AD0-D0F8E444AF4B}" type="slidenum">
              <a:rPr lang="en-HK" smtClean="0"/>
              <a:t>8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3951345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758952"/>
            <a:ext cx="75438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4455621"/>
            <a:ext cx="75438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7626F0-7CC6-493C-8F20-100D7AA7FAC3}" type="datetime1">
              <a:rPr lang="en-US" smtClean="0"/>
              <a:t>2/3/2021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06297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9388" indent="-179388"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6E37F8-84C6-4D69-8BCA-D781D6DFBE57}" type="datetime1">
              <a:rPr lang="en-US" smtClean="0"/>
              <a:t>2/3/2021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09852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758952"/>
            <a:ext cx="75438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4453128"/>
            <a:ext cx="75438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68672D-7876-46F6-BB28-1658EA8B6F5D}" type="datetime1">
              <a:rPr lang="en-US" smtClean="0"/>
              <a:t>2/3/2021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411416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845734"/>
            <a:ext cx="370332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845736"/>
            <a:ext cx="3703320" cy="402335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7AC08A-D741-4E78-B02C-DA11BA5A9331}" type="datetime1">
              <a:rPr lang="en-US" smtClean="0"/>
              <a:t>2/3/2021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17073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2582334"/>
            <a:ext cx="3703320" cy="32867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2582334"/>
            <a:ext cx="3703320" cy="32867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3A4BF-9FEE-4C18-80CB-F04A0C278DC3}" type="datetime1">
              <a:rPr lang="en-US" smtClean="0"/>
              <a:t>2/3/2021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26950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24B50C-C430-4856-990E-C18BA95E6E28}" type="datetime1">
              <a:rPr lang="en-US" smtClean="0"/>
              <a:t>2/3/2021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8858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D1FCA-A705-4B96-9573-C67823ECBE8D}" type="datetime1">
              <a:rPr lang="en-US" smtClean="0"/>
              <a:t>2/3/2021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65693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594359"/>
            <a:ext cx="24003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0237" y="731520"/>
            <a:ext cx="5009393" cy="52578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926080"/>
            <a:ext cx="24003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6459786"/>
            <a:ext cx="1963883" cy="365125"/>
          </a:xfrm>
        </p:spPr>
        <p:txBody>
          <a:bodyPr/>
          <a:lstStyle>
            <a:lvl1pPr algn="l">
              <a:defRPr/>
            </a:lvl1pPr>
          </a:lstStyle>
          <a:p>
            <a:fld id="{C5814855-014C-4A7C-ADDD-F7B81728AA2C}" type="datetime1">
              <a:rPr lang="en-US" smtClean="0"/>
              <a:t>2/3/2021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6459786"/>
            <a:ext cx="348615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A7A6979-0714-4377-B894-6BE4C2D6E2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50943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9141619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2" y="491507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074920"/>
            <a:ext cx="7589520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59" y="5907024"/>
            <a:ext cx="758952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6DB1BC-9946-443C-9FBF-383A5EC0FEAE}" type="datetime1">
              <a:rPr lang="en-US" smtClean="0"/>
              <a:t>2/3/2021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94305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64592E-039D-4510-9EA7-1B614CBD6378}" type="datetime1">
              <a:rPr lang="en-US" smtClean="0"/>
              <a:t>2/3/2021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28953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414779"/>
            <a:ext cx="1971675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414779"/>
            <a:ext cx="5800725" cy="5757420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7B25D-CF33-4CF7-B800-08C8DE33EC9D}" type="datetime1">
              <a:rPr lang="en-US" smtClean="0"/>
              <a:t>2/3/2021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23120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00800"/>
            <a:ext cx="914400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5"/>
            <a:ext cx="9144001" cy="65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CB09DA96-88D4-42EF-B7D9-EB8AB415F2B5}" type="datetime1">
              <a:rPr lang="en-US" smtClean="0"/>
              <a:t>2/3/2021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895149" y="1737845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013752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hf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w3schools.com/tags/tag_th.asp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zh-CN" sz="6600" dirty="0" smtClean="0"/>
              <a:t>Advanced Techniques about</a:t>
            </a:r>
            <a:r>
              <a:rPr lang="en-HK" sz="6600" dirty="0" smtClean="0"/>
              <a:t> HTML </a:t>
            </a:r>
            <a:r>
              <a:rPr lang="en-US" sz="6600" dirty="0" smtClean="0"/>
              <a:t>(Tables &amp; Forms)</a:t>
            </a:r>
            <a:endParaRPr lang="en-HK" sz="66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 smtClean="0"/>
              <a:t>CDS 4010</a:t>
            </a:r>
          </a:p>
          <a:p>
            <a:endParaRPr lang="en-HK" dirty="0"/>
          </a:p>
        </p:txBody>
      </p:sp>
    </p:spTree>
    <p:extLst>
      <p:ext uri="{BB962C8B-B14F-4D97-AF65-F5344CB8AC3E}">
        <p14:creationId xmlns:p14="http://schemas.microsoft.com/office/powerpoint/2010/main" val="6685175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HTML Table</a:t>
            </a:r>
            <a:endParaRPr lang="en-H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9" name="矩形 8"/>
          <p:cNvSpPr/>
          <p:nvPr/>
        </p:nvSpPr>
        <p:spPr>
          <a:xfrm>
            <a:off x="380181" y="1753640"/>
            <a:ext cx="4572000" cy="276999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n-US" altLang="zh-CN" sz="1200" dirty="0"/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055747"/>
              </p:ext>
            </p:extLst>
          </p:nvPr>
        </p:nvGraphicFramePr>
        <p:xfrm>
          <a:off x="1303282" y="2078071"/>
          <a:ext cx="6768662" cy="2560320"/>
        </p:xfrm>
        <a:graphic>
          <a:graphicData uri="http://schemas.openxmlformats.org/drawingml/2006/table">
            <a:tbl>
              <a:tblPr firstRow="1" bandRow="1">
                <a:tableStyleId>{E8034E78-7F5D-4C2E-B375-FC64B27BC917}</a:tableStyleId>
              </a:tblPr>
              <a:tblGrid>
                <a:gridCol w="3384331"/>
                <a:gridCol w="3384331"/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dirty="0" smtClean="0">
                          <a:solidFill>
                            <a:schemeClr val="tx1"/>
                          </a:solidFill>
                        </a:rPr>
                        <a:t>HTML tag </a:t>
                      </a:r>
                    </a:p>
                    <a:p>
                      <a:r>
                        <a:rPr lang="en-US" altLang="zh-CN" b="0" dirty="0" smtClean="0">
                          <a:solidFill>
                            <a:schemeClr val="tx1"/>
                          </a:solidFill>
                        </a:rPr>
                        <a:t>&lt;Table&gt;&lt;/Table&gt;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>
                          <a:solidFill>
                            <a:schemeClr val="tx1"/>
                          </a:solidFill>
                        </a:rPr>
                        <a:t>Comments</a:t>
                      </a:r>
                    </a:p>
                    <a:p>
                      <a:r>
                        <a:rPr lang="en-US" altLang="zh-CN" b="0" dirty="0" smtClean="0">
                          <a:solidFill>
                            <a:schemeClr val="tx1"/>
                          </a:solidFill>
                        </a:rPr>
                        <a:t>Table definition and end tag</a:t>
                      </a:r>
                      <a:endParaRPr lang="zh-CN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8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  <a:cs typeface="宋体" charset="-122"/>
                        </a:rPr>
                        <a:t>&lt;Caption&gt; &lt;/Caption&gt;</a:t>
                      </a:r>
                      <a:endParaRPr kumimoji="0" lang="zh-CN" altLang="en-US" sz="18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charset="-122"/>
                        <a:cs typeface="宋体" charset="-122"/>
                      </a:endParaRPr>
                    </a:p>
                    <a:p>
                      <a:endParaRPr lang="zh-CN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zh-CN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  <a:cs typeface="宋体" charset="-122"/>
                        </a:rPr>
                        <a:t>Caption definition and end tag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8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  <a:cs typeface="宋体" charset="-122"/>
                        </a:rPr>
                        <a:t>&lt;TR&gt; &lt;/TR&gt;</a:t>
                      </a:r>
                      <a:endParaRPr kumimoji="0" lang="zh-CN" altLang="en-US" sz="18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charset="-122"/>
                        <a:cs typeface="宋体" charset="-122"/>
                      </a:endParaRPr>
                    </a:p>
                    <a:p>
                      <a:endParaRPr lang="zh-CN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zh-CN" sz="18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  <a:cs typeface="宋体" charset="-122"/>
                        </a:rPr>
                        <a:t>Row definition and end tag </a:t>
                      </a:r>
                    </a:p>
                    <a:p>
                      <a:endParaRPr kumimoji="0" lang="zh-CN" altLang="en-US" sz="18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charset="-122"/>
                        <a:cs typeface="宋体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kumimoji="0" lang="en-US" altLang="zh-CN" sz="18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  <a:cs typeface="宋体" charset="-122"/>
                        </a:rPr>
                        <a:t>&lt;TD&gt; &lt;/TD&gt;</a:t>
                      </a:r>
                      <a:endParaRPr kumimoji="0" lang="zh-CN" altLang="en-US" sz="18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charset="-122"/>
                        <a:cs typeface="宋体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 smtClean="0">
                          <a:solidFill>
                            <a:schemeClr val="tx1"/>
                          </a:solidFill>
                        </a:rPr>
                        <a:t>Cell definition and end tag</a:t>
                      </a:r>
                      <a:endParaRPr lang="zh-CN" altLang="en-US" dirty="0" smtClean="0">
                        <a:solidFill>
                          <a:schemeClr val="tx1"/>
                        </a:solidFill>
                      </a:endParaRPr>
                    </a:p>
                    <a:p>
                      <a:endParaRPr kumimoji="0" lang="zh-CN" altLang="en-US" sz="18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charset="-122"/>
                        <a:cs typeface="宋体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1" name="矩形 10"/>
          <p:cNvSpPr/>
          <p:nvPr/>
        </p:nvSpPr>
        <p:spPr>
          <a:xfrm>
            <a:off x="1831953" y="5073609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CN" u="sng" dirty="0">
                <a:hlinkClick r:id="rId2"/>
              </a:rPr>
              <a:t/>
            </a:r>
            <a:br>
              <a:rPr lang="en-US" altLang="zh-CN" u="sng" dirty="0">
                <a:hlinkClick r:id="rId2"/>
              </a:rPr>
            </a:br>
            <a:r>
              <a:rPr lang="en-US" altLang="zh-CN" u="sng" dirty="0" smtClean="0">
                <a:hlinkClick r:id="rId2"/>
              </a:rPr>
              <a:t>W3Schools</a:t>
            </a:r>
            <a:r>
              <a:rPr lang="zh-CN" altLang="en-US" u="sng" dirty="0" smtClean="0">
                <a:hlinkClick r:id="rId2"/>
              </a:rPr>
              <a:t>：</a:t>
            </a:r>
            <a:r>
              <a:rPr lang="en-US" altLang="zh-CN" u="sng" dirty="0" smtClean="0">
                <a:hlinkClick r:id="rId2"/>
              </a:rPr>
              <a:t>www.w3schools.com</a:t>
            </a:r>
            <a:endParaRPr lang="en-US" altLang="zh-CN" u="sng" dirty="0">
              <a:hlinkClick r:id="rId2"/>
            </a:endParaRPr>
          </a:p>
        </p:txBody>
      </p:sp>
    </p:spTree>
    <p:extLst>
      <p:ext uri="{BB962C8B-B14F-4D97-AF65-F5344CB8AC3E}">
        <p14:creationId xmlns:p14="http://schemas.microsoft.com/office/powerpoint/2010/main" val="34488159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Table</a:t>
            </a:r>
            <a:endParaRPr lang="en-H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9" name="矩形 8"/>
          <p:cNvSpPr/>
          <p:nvPr/>
        </p:nvSpPr>
        <p:spPr>
          <a:xfrm>
            <a:off x="380181" y="1753640"/>
            <a:ext cx="4572000" cy="415498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CN" sz="1200" dirty="0"/>
              <a:t>&lt;HTML&gt;</a:t>
            </a:r>
          </a:p>
          <a:p>
            <a:r>
              <a:rPr lang="en-US" altLang="zh-CN" sz="1200" dirty="0"/>
              <a:t>&lt;HEAD&gt;</a:t>
            </a:r>
          </a:p>
          <a:p>
            <a:r>
              <a:rPr lang="en-US" altLang="zh-CN" sz="1200" dirty="0"/>
              <a:t>&lt;TITLE&gt;</a:t>
            </a:r>
          </a:p>
          <a:p>
            <a:r>
              <a:rPr lang="en-US" altLang="zh-CN" sz="1200" dirty="0"/>
              <a:t> HTML Table Design</a:t>
            </a:r>
          </a:p>
          <a:p>
            <a:r>
              <a:rPr lang="en-US" altLang="zh-CN" sz="1200" dirty="0"/>
              <a:t>&lt;/TITLE&gt;</a:t>
            </a:r>
          </a:p>
          <a:p>
            <a:r>
              <a:rPr lang="en-US" altLang="zh-CN" sz="1200" dirty="0"/>
              <a:t>&lt;style&gt;</a:t>
            </a:r>
          </a:p>
          <a:p>
            <a:r>
              <a:rPr lang="en-US" altLang="zh-CN" sz="1200" dirty="0"/>
              <a:t>table, </a:t>
            </a:r>
            <a:r>
              <a:rPr lang="en-US" altLang="zh-CN" sz="1200" dirty="0" err="1"/>
              <a:t>th</a:t>
            </a:r>
            <a:r>
              <a:rPr lang="en-US" altLang="zh-CN" sz="1200" dirty="0"/>
              <a:t>, td {</a:t>
            </a:r>
          </a:p>
          <a:p>
            <a:r>
              <a:rPr lang="en-US" altLang="zh-CN" sz="1200" dirty="0"/>
              <a:t> border: 1px solid black;</a:t>
            </a:r>
          </a:p>
          <a:p>
            <a:r>
              <a:rPr lang="en-US" altLang="zh-CN" sz="1200" dirty="0"/>
              <a:t> }</a:t>
            </a:r>
          </a:p>
          <a:p>
            <a:r>
              <a:rPr lang="en-US" altLang="zh-CN" sz="1200" dirty="0"/>
              <a:t>&lt;/style&gt;</a:t>
            </a:r>
          </a:p>
          <a:p>
            <a:r>
              <a:rPr lang="en-US" altLang="zh-CN" sz="1200" dirty="0"/>
              <a:t>&lt;/HEAD&gt;</a:t>
            </a:r>
          </a:p>
          <a:p>
            <a:r>
              <a:rPr lang="en-US" altLang="zh-CN" sz="1200" dirty="0"/>
              <a:t>&lt;BODY&gt;</a:t>
            </a:r>
          </a:p>
          <a:p>
            <a:r>
              <a:rPr lang="en-US" altLang="zh-CN" sz="1200" dirty="0"/>
              <a:t> &lt;TABLE style= "width: 80%" align = "center"&gt;</a:t>
            </a:r>
          </a:p>
          <a:p>
            <a:r>
              <a:rPr lang="en-US" altLang="zh-CN" sz="1200" dirty="0"/>
              <a:t> &lt;caption&gt; </a:t>
            </a:r>
            <a:r>
              <a:rPr lang="en-US" altLang="zh-CN" sz="1200" dirty="0" smtClean="0"/>
              <a:t>CSC4010 </a:t>
            </a:r>
            <a:r>
              <a:rPr lang="en-US" altLang="zh-CN" sz="1200" dirty="0"/>
              <a:t>timetable &lt;/caption&gt;</a:t>
            </a:r>
          </a:p>
          <a:p>
            <a:r>
              <a:rPr lang="en-US" altLang="zh-CN" sz="1200" dirty="0"/>
              <a:t> &lt;</a:t>
            </a:r>
            <a:r>
              <a:rPr lang="en-US" altLang="zh-CN" sz="1200" dirty="0" err="1"/>
              <a:t>tr</a:t>
            </a:r>
            <a:r>
              <a:rPr lang="en-US" altLang="zh-CN" sz="1200" dirty="0"/>
              <a:t> &gt;</a:t>
            </a:r>
          </a:p>
          <a:p>
            <a:r>
              <a:rPr lang="en-US" altLang="zh-CN" sz="1200" dirty="0"/>
              <a:t> &lt;</a:t>
            </a:r>
            <a:r>
              <a:rPr lang="en-US" altLang="zh-CN" sz="1200" dirty="0">
                <a:solidFill>
                  <a:srgbClr val="FF0000"/>
                </a:solidFill>
              </a:rPr>
              <a:t>td</a:t>
            </a:r>
            <a:r>
              <a:rPr lang="en-US" altLang="zh-CN" sz="1200" dirty="0"/>
              <a:t> width=50%&gt; &lt;/td&gt;</a:t>
            </a:r>
          </a:p>
          <a:p>
            <a:r>
              <a:rPr lang="en-US" altLang="zh-CN" sz="1200" dirty="0"/>
              <a:t> &lt;</a:t>
            </a:r>
            <a:r>
              <a:rPr lang="en-US" altLang="zh-CN" sz="1200" dirty="0" err="1"/>
              <a:t>th</a:t>
            </a:r>
            <a:r>
              <a:rPr lang="en-US" altLang="zh-CN" sz="1200" dirty="0"/>
              <a:t> width = 150&gt; Monday &lt;/</a:t>
            </a:r>
            <a:r>
              <a:rPr lang="en-US" altLang="zh-CN" sz="1200" dirty="0" err="1"/>
              <a:t>th</a:t>
            </a:r>
            <a:r>
              <a:rPr lang="en-US" altLang="zh-CN" sz="1200" dirty="0"/>
              <a:t>&gt;</a:t>
            </a:r>
          </a:p>
          <a:p>
            <a:r>
              <a:rPr lang="en-US" altLang="zh-CN" sz="1200" dirty="0"/>
              <a:t> &lt;</a:t>
            </a:r>
            <a:r>
              <a:rPr lang="en-US" altLang="zh-CN" sz="1200" dirty="0" err="1"/>
              <a:t>th</a:t>
            </a:r>
            <a:r>
              <a:rPr lang="en-US" altLang="zh-CN" sz="1200" dirty="0"/>
              <a:t> width = 150&gt; Tuesday&lt;/</a:t>
            </a:r>
            <a:r>
              <a:rPr lang="en-US" altLang="zh-CN" sz="1200" dirty="0" err="1"/>
              <a:t>th</a:t>
            </a:r>
            <a:r>
              <a:rPr lang="en-US" altLang="zh-CN" sz="1200" dirty="0"/>
              <a:t>&gt;</a:t>
            </a:r>
          </a:p>
          <a:p>
            <a:r>
              <a:rPr lang="en-US" altLang="zh-CN" sz="1200" dirty="0"/>
              <a:t> &lt;</a:t>
            </a:r>
            <a:r>
              <a:rPr lang="en-US" altLang="zh-CN" sz="1200" dirty="0" err="1"/>
              <a:t>th</a:t>
            </a:r>
            <a:r>
              <a:rPr lang="en-US" altLang="zh-CN" sz="1200" dirty="0"/>
              <a:t> width = 150&gt; Wednesday &lt;/</a:t>
            </a:r>
            <a:r>
              <a:rPr lang="en-US" altLang="zh-CN" sz="1200" dirty="0" err="1"/>
              <a:t>th</a:t>
            </a:r>
            <a:r>
              <a:rPr lang="en-US" altLang="zh-CN" sz="1200" dirty="0"/>
              <a:t>&gt;</a:t>
            </a:r>
          </a:p>
          <a:p>
            <a:r>
              <a:rPr lang="en-US" altLang="zh-CN" sz="1200" dirty="0"/>
              <a:t> &lt;</a:t>
            </a:r>
            <a:r>
              <a:rPr lang="en-US" altLang="zh-CN" sz="1200" dirty="0" err="1"/>
              <a:t>th</a:t>
            </a:r>
            <a:r>
              <a:rPr lang="en-US" altLang="zh-CN" sz="1200" dirty="0"/>
              <a:t> width = 150&gt; Thursday&lt;/</a:t>
            </a:r>
            <a:r>
              <a:rPr lang="en-US" altLang="zh-CN" sz="1200" dirty="0" err="1"/>
              <a:t>th</a:t>
            </a:r>
            <a:r>
              <a:rPr lang="en-US" altLang="zh-CN" sz="1200" dirty="0"/>
              <a:t>&gt;</a:t>
            </a:r>
          </a:p>
          <a:p>
            <a:r>
              <a:rPr lang="en-US" altLang="zh-CN" sz="1200" dirty="0"/>
              <a:t> &lt;</a:t>
            </a:r>
            <a:r>
              <a:rPr lang="en-US" altLang="zh-CN" sz="1200" dirty="0" err="1"/>
              <a:t>th</a:t>
            </a:r>
            <a:r>
              <a:rPr lang="en-US" altLang="zh-CN" sz="1200" dirty="0"/>
              <a:t> width = 150&gt; Friday&lt;/</a:t>
            </a:r>
            <a:r>
              <a:rPr lang="en-US" altLang="zh-CN" sz="1200" dirty="0" err="1"/>
              <a:t>th</a:t>
            </a:r>
            <a:r>
              <a:rPr lang="en-US" altLang="zh-CN" sz="1200" dirty="0"/>
              <a:t>&gt;</a:t>
            </a:r>
          </a:p>
          <a:p>
            <a:r>
              <a:rPr lang="en-US" altLang="zh-CN" sz="1200" dirty="0"/>
              <a:t> &lt;/</a:t>
            </a:r>
            <a:r>
              <a:rPr lang="en-US" altLang="zh-CN" sz="1200" dirty="0" err="1"/>
              <a:t>tr</a:t>
            </a:r>
            <a:r>
              <a:rPr lang="en-US" altLang="zh-CN" sz="1200" dirty="0" smtClean="0"/>
              <a:t>&gt;</a:t>
            </a:r>
            <a:endParaRPr lang="en-US" altLang="zh-CN" sz="1200" dirty="0"/>
          </a:p>
        </p:txBody>
      </p:sp>
      <p:sp>
        <p:nvSpPr>
          <p:cNvPr id="10" name="矩形 9"/>
          <p:cNvSpPr/>
          <p:nvPr/>
        </p:nvSpPr>
        <p:spPr>
          <a:xfrm>
            <a:off x="4572000" y="1753640"/>
            <a:ext cx="4572000" cy="360098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CN" sz="1200" dirty="0"/>
              <a:t>&lt;</a:t>
            </a:r>
            <a:r>
              <a:rPr lang="en-US" altLang="zh-CN" sz="1200" dirty="0" err="1"/>
              <a:t>tr</a:t>
            </a:r>
            <a:r>
              <a:rPr lang="en-US" altLang="zh-CN" sz="1200" dirty="0"/>
              <a:t> &gt;</a:t>
            </a:r>
          </a:p>
          <a:p>
            <a:r>
              <a:rPr lang="en-US" altLang="zh-CN" sz="1200" dirty="0"/>
              <a:t> &lt;td &gt; 1:30pm-2:59pm &lt;/td&gt;</a:t>
            </a:r>
          </a:p>
          <a:p>
            <a:r>
              <a:rPr lang="en-US" altLang="zh-CN" sz="1200" dirty="0"/>
              <a:t> &lt;td &gt; Tutorial&lt;/td&gt;</a:t>
            </a:r>
          </a:p>
          <a:p>
            <a:r>
              <a:rPr lang="en-US" altLang="zh-CN" sz="1200" dirty="0"/>
              <a:t> &lt;td &gt; free &lt;/td&gt;</a:t>
            </a:r>
          </a:p>
          <a:p>
            <a:r>
              <a:rPr lang="en-US" altLang="zh-CN" sz="1200" dirty="0"/>
              <a:t> &lt;td &gt; Review &lt;/td&gt;</a:t>
            </a:r>
          </a:p>
          <a:p>
            <a:r>
              <a:rPr lang="en-US" altLang="zh-CN" sz="1200" dirty="0"/>
              <a:t> &lt;td &gt; free &lt;/td&gt;</a:t>
            </a:r>
          </a:p>
          <a:p>
            <a:r>
              <a:rPr lang="en-US" altLang="zh-CN" sz="1200" dirty="0"/>
              <a:t> &lt;td &gt; free &lt;/td&gt;</a:t>
            </a:r>
          </a:p>
          <a:p>
            <a:r>
              <a:rPr lang="en-US" altLang="zh-CN" sz="1200" dirty="0"/>
              <a:t> &lt;/</a:t>
            </a:r>
            <a:r>
              <a:rPr lang="en-US" altLang="zh-CN" sz="1200" dirty="0" err="1"/>
              <a:t>tr</a:t>
            </a:r>
            <a:r>
              <a:rPr lang="en-US" altLang="zh-CN" sz="1200" dirty="0"/>
              <a:t>&gt;</a:t>
            </a:r>
          </a:p>
          <a:p>
            <a:r>
              <a:rPr lang="en-US" altLang="zh-CN" sz="1200" dirty="0"/>
              <a:t> &lt;</a:t>
            </a:r>
            <a:r>
              <a:rPr lang="en-US" altLang="zh-CN" sz="1200" dirty="0" err="1"/>
              <a:t>tr</a:t>
            </a:r>
            <a:r>
              <a:rPr lang="en-US" altLang="zh-CN" sz="1200" dirty="0"/>
              <a:t> &gt;</a:t>
            </a:r>
          </a:p>
          <a:p>
            <a:r>
              <a:rPr lang="en-US" altLang="zh-CN" sz="1200" dirty="0"/>
              <a:t> &lt;td &gt; 2:30pm-3:59pm &lt;/td&gt;</a:t>
            </a:r>
          </a:p>
          <a:p>
            <a:r>
              <a:rPr lang="en-US" altLang="zh-CN" sz="1200" dirty="0"/>
              <a:t> &lt;td &gt; Take some notes&lt;/td&gt;</a:t>
            </a:r>
          </a:p>
          <a:p>
            <a:r>
              <a:rPr lang="en-US" altLang="zh-CN" sz="1200" dirty="0"/>
              <a:t> &lt;td &gt; free &lt;/td&gt;</a:t>
            </a:r>
          </a:p>
          <a:p>
            <a:r>
              <a:rPr lang="en-US" altLang="zh-CN" sz="1200" dirty="0"/>
              <a:t> &lt;td &gt; Implementation &lt;/td&gt;</a:t>
            </a:r>
          </a:p>
          <a:p>
            <a:r>
              <a:rPr lang="en-US" altLang="zh-CN" sz="1200" dirty="0"/>
              <a:t> &lt;td &gt; free &lt;/td&gt;</a:t>
            </a:r>
          </a:p>
          <a:p>
            <a:r>
              <a:rPr lang="en-US" altLang="zh-CN" sz="1200" dirty="0"/>
              <a:t> &lt;td &gt; free &lt;/td&gt;</a:t>
            </a:r>
          </a:p>
          <a:p>
            <a:r>
              <a:rPr lang="en-US" altLang="zh-CN" sz="1200" dirty="0"/>
              <a:t> &lt;/</a:t>
            </a:r>
            <a:r>
              <a:rPr lang="en-US" altLang="zh-CN" sz="1200" dirty="0" err="1"/>
              <a:t>tr</a:t>
            </a:r>
            <a:r>
              <a:rPr lang="en-US" altLang="zh-CN" sz="1200" dirty="0"/>
              <a:t>&gt;</a:t>
            </a:r>
          </a:p>
          <a:p>
            <a:r>
              <a:rPr lang="en-US" altLang="zh-CN" sz="1200" dirty="0"/>
              <a:t> &lt;/TABLE&gt;</a:t>
            </a:r>
          </a:p>
          <a:p>
            <a:r>
              <a:rPr lang="en-US" altLang="zh-CN" sz="1200" dirty="0"/>
              <a:t>&lt;/BODY &gt;</a:t>
            </a:r>
          </a:p>
          <a:p>
            <a:r>
              <a:rPr lang="en-US" altLang="zh-CN" sz="1200" dirty="0"/>
              <a:t>&lt;/HTML &gt;</a:t>
            </a:r>
            <a:endParaRPr lang="zh-CN" altLang="en-US" sz="1200" dirty="0"/>
          </a:p>
        </p:txBody>
      </p:sp>
      <p:pic>
        <p:nvPicPr>
          <p:cNvPr id="12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89" t="7226" r="9512" b="75481"/>
          <a:stretch/>
        </p:blipFill>
        <p:spPr bwMode="auto">
          <a:xfrm>
            <a:off x="974707" y="6059409"/>
            <a:ext cx="5883293" cy="7985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1" name="矩形 10"/>
          <p:cNvSpPr/>
          <p:nvPr/>
        </p:nvSpPr>
        <p:spPr>
          <a:xfrm>
            <a:off x="3841780" y="5416489"/>
            <a:ext cx="550847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 smtClean="0">
                <a:solidFill>
                  <a:srgbClr val="FF0000"/>
                </a:solidFill>
              </a:rPr>
              <a:t>‘</a:t>
            </a:r>
            <a:r>
              <a:rPr lang="en-US" altLang="zh-CN" dirty="0">
                <a:solidFill>
                  <a:srgbClr val="FF0000"/>
                </a:solidFill>
              </a:rPr>
              <a:t>td’ stands for ‘tabular data’ </a:t>
            </a:r>
            <a:r>
              <a:rPr lang="en-US" altLang="zh-CN" dirty="0" smtClean="0">
                <a:solidFill>
                  <a:srgbClr val="FF0000"/>
                </a:solidFill>
              </a:rPr>
              <a:t>.</a:t>
            </a:r>
          </a:p>
          <a:p>
            <a:r>
              <a:rPr lang="en-US" altLang="zh-CN" dirty="0" smtClean="0">
                <a:solidFill>
                  <a:srgbClr val="FF0000"/>
                </a:solidFill>
              </a:rPr>
              <a:t>‘</a:t>
            </a:r>
            <a:r>
              <a:rPr lang="en-US" altLang="zh-CN" dirty="0" err="1" smtClean="0">
                <a:solidFill>
                  <a:srgbClr val="FF0000"/>
                </a:solidFill>
              </a:rPr>
              <a:t>th</a:t>
            </a:r>
            <a:r>
              <a:rPr lang="en-US" altLang="zh-CN" dirty="0">
                <a:solidFill>
                  <a:srgbClr val="FF0000"/>
                </a:solidFill>
              </a:rPr>
              <a:t>’ stands for ‘tabular header’.</a:t>
            </a:r>
            <a:r>
              <a:rPr lang="en-US" altLang="zh-CN" dirty="0"/>
              <a:t> 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712891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HTML </a:t>
            </a:r>
            <a:r>
              <a:rPr lang="en-US" altLang="zh-CN" dirty="0" smtClean="0"/>
              <a:t>Color </a:t>
            </a:r>
            <a:r>
              <a:rPr lang="en-US" altLang="zh-CN" dirty="0"/>
              <a:t>Table</a:t>
            </a:r>
            <a:endParaRPr lang="en-HK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13" name="矩形 12"/>
          <p:cNvSpPr/>
          <p:nvPr/>
        </p:nvSpPr>
        <p:spPr>
          <a:xfrm>
            <a:off x="380181" y="1753640"/>
            <a:ext cx="4572000" cy="378565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CN" sz="1200" dirty="0"/>
              <a:t>&lt;HTML&gt;</a:t>
            </a:r>
          </a:p>
          <a:p>
            <a:r>
              <a:rPr lang="en-US" altLang="zh-CN" sz="1200" dirty="0"/>
              <a:t>&lt;HEAD&gt;</a:t>
            </a:r>
          </a:p>
          <a:p>
            <a:r>
              <a:rPr lang="en-US" altLang="zh-CN" sz="1200" dirty="0"/>
              <a:t>&lt;TITLE&gt;</a:t>
            </a:r>
          </a:p>
          <a:p>
            <a:r>
              <a:rPr lang="en-US" altLang="zh-CN" sz="1200" dirty="0"/>
              <a:t> HTML Table Design</a:t>
            </a:r>
          </a:p>
          <a:p>
            <a:r>
              <a:rPr lang="en-US" altLang="zh-CN" sz="1200" dirty="0"/>
              <a:t>&lt;/TITLE&gt;</a:t>
            </a:r>
          </a:p>
          <a:p>
            <a:r>
              <a:rPr lang="en-US" altLang="zh-CN" sz="1200" dirty="0"/>
              <a:t>&lt;style&gt;</a:t>
            </a:r>
          </a:p>
          <a:p>
            <a:r>
              <a:rPr lang="en-US" altLang="zh-CN" sz="1200" dirty="0"/>
              <a:t>table, </a:t>
            </a:r>
            <a:r>
              <a:rPr lang="en-US" altLang="zh-CN" sz="1200" dirty="0" err="1"/>
              <a:t>th</a:t>
            </a:r>
            <a:r>
              <a:rPr lang="en-US" altLang="zh-CN" sz="1200" dirty="0"/>
              <a:t>, td {</a:t>
            </a:r>
          </a:p>
          <a:p>
            <a:r>
              <a:rPr lang="en-US" altLang="zh-CN" sz="1200" dirty="0"/>
              <a:t> border: 1px solid black;</a:t>
            </a:r>
          </a:p>
          <a:p>
            <a:r>
              <a:rPr lang="en-US" altLang="zh-CN" sz="1200" dirty="0"/>
              <a:t> }</a:t>
            </a:r>
          </a:p>
          <a:p>
            <a:r>
              <a:rPr lang="en-US" altLang="zh-CN" sz="1200" dirty="0"/>
              <a:t>&lt;/style&gt;</a:t>
            </a:r>
          </a:p>
          <a:p>
            <a:r>
              <a:rPr lang="en-US" altLang="zh-CN" sz="1200" dirty="0"/>
              <a:t>&lt;/HEAD&gt;</a:t>
            </a:r>
          </a:p>
          <a:p>
            <a:r>
              <a:rPr lang="en-US" altLang="zh-CN" sz="1200" dirty="0"/>
              <a:t>&lt;BODY&gt;</a:t>
            </a:r>
          </a:p>
          <a:p>
            <a:r>
              <a:rPr lang="en-US" altLang="zh-CN" sz="1200" dirty="0"/>
              <a:t> &lt;TABLE style= "width: 80%" align = "center"&gt;</a:t>
            </a:r>
          </a:p>
          <a:p>
            <a:r>
              <a:rPr lang="en-US" altLang="zh-CN" sz="1200" dirty="0"/>
              <a:t> &lt;caption&gt; Some HTML colors &lt;/caption&gt;</a:t>
            </a:r>
          </a:p>
          <a:p>
            <a:r>
              <a:rPr lang="en-US" altLang="zh-CN" sz="1200" dirty="0"/>
              <a:t> &lt;</a:t>
            </a:r>
            <a:r>
              <a:rPr lang="en-US" altLang="zh-CN" sz="1200" dirty="0" err="1"/>
              <a:t>tr</a:t>
            </a:r>
            <a:r>
              <a:rPr lang="en-US" altLang="zh-CN" sz="1200" dirty="0"/>
              <a:t> &gt;</a:t>
            </a:r>
          </a:p>
          <a:p>
            <a:r>
              <a:rPr lang="en-US" altLang="zh-CN" sz="1200" dirty="0"/>
              <a:t> &lt;</a:t>
            </a:r>
            <a:r>
              <a:rPr lang="en-US" altLang="zh-CN" sz="1200" dirty="0" err="1"/>
              <a:t>th</a:t>
            </a:r>
            <a:r>
              <a:rPr lang="en-US" altLang="zh-CN" sz="1200" dirty="0"/>
              <a:t> width = 150&gt; Color&lt;/</a:t>
            </a:r>
            <a:r>
              <a:rPr lang="en-US" altLang="zh-CN" sz="1200" dirty="0" err="1"/>
              <a:t>th</a:t>
            </a:r>
            <a:r>
              <a:rPr lang="en-US" altLang="zh-CN" sz="1200" dirty="0"/>
              <a:t>&gt;</a:t>
            </a:r>
          </a:p>
          <a:p>
            <a:r>
              <a:rPr lang="en-US" altLang="zh-CN" sz="1200" dirty="0"/>
              <a:t> &lt;</a:t>
            </a:r>
            <a:r>
              <a:rPr lang="en-US" altLang="zh-CN" sz="1200" dirty="0" err="1"/>
              <a:t>th</a:t>
            </a:r>
            <a:r>
              <a:rPr lang="en-US" altLang="zh-CN" sz="1200" dirty="0"/>
              <a:t> width = 150&gt; Name&lt;/</a:t>
            </a:r>
            <a:r>
              <a:rPr lang="en-US" altLang="zh-CN" sz="1200" dirty="0" err="1"/>
              <a:t>th</a:t>
            </a:r>
            <a:r>
              <a:rPr lang="en-US" altLang="zh-CN" sz="1200" dirty="0"/>
              <a:t>&gt;</a:t>
            </a:r>
          </a:p>
          <a:p>
            <a:r>
              <a:rPr lang="en-US" altLang="zh-CN" sz="1200" dirty="0"/>
              <a:t> &lt;</a:t>
            </a:r>
            <a:r>
              <a:rPr lang="en-US" altLang="zh-CN" sz="1200" dirty="0" err="1"/>
              <a:t>th</a:t>
            </a:r>
            <a:r>
              <a:rPr lang="en-US" altLang="zh-CN" sz="1200" dirty="0"/>
              <a:t> width = 150&gt; Hexadecimal&lt;/</a:t>
            </a:r>
            <a:r>
              <a:rPr lang="en-US" altLang="zh-CN" sz="1200" dirty="0" err="1"/>
              <a:t>th</a:t>
            </a:r>
            <a:r>
              <a:rPr lang="en-US" altLang="zh-CN" sz="1200" dirty="0"/>
              <a:t>&gt;</a:t>
            </a:r>
          </a:p>
          <a:p>
            <a:r>
              <a:rPr lang="en-US" altLang="zh-CN" sz="1200" dirty="0"/>
              <a:t> &lt;</a:t>
            </a:r>
            <a:r>
              <a:rPr lang="en-US" altLang="zh-CN" sz="1200" dirty="0" err="1"/>
              <a:t>th</a:t>
            </a:r>
            <a:r>
              <a:rPr lang="en-US" altLang="zh-CN" sz="1200" dirty="0"/>
              <a:t> width = 150&gt; RGB Value&lt;/</a:t>
            </a:r>
            <a:r>
              <a:rPr lang="en-US" altLang="zh-CN" sz="1200" dirty="0" err="1"/>
              <a:t>th</a:t>
            </a:r>
            <a:r>
              <a:rPr lang="en-US" altLang="zh-CN" sz="1200" dirty="0"/>
              <a:t>&gt;</a:t>
            </a:r>
          </a:p>
          <a:p>
            <a:r>
              <a:rPr lang="en-US" altLang="zh-CN" sz="1200" dirty="0"/>
              <a:t> &lt;/</a:t>
            </a:r>
            <a:r>
              <a:rPr lang="en-US" altLang="zh-CN" sz="1200" dirty="0" err="1"/>
              <a:t>tr</a:t>
            </a:r>
            <a:r>
              <a:rPr lang="en-US" altLang="zh-CN" sz="1200" dirty="0"/>
              <a:t>&gt;</a:t>
            </a:r>
          </a:p>
        </p:txBody>
      </p:sp>
      <p:sp>
        <p:nvSpPr>
          <p:cNvPr id="14" name="矩形 13"/>
          <p:cNvSpPr/>
          <p:nvPr/>
        </p:nvSpPr>
        <p:spPr>
          <a:xfrm>
            <a:off x="4572000" y="1753640"/>
            <a:ext cx="4572000" cy="332398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CN" sz="1400" dirty="0"/>
              <a:t>&lt;</a:t>
            </a:r>
            <a:r>
              <a:rPr lang="en-US" altLang="zh-CN" sz="1400" dirty="0" err="1"/>
              <a:t>tr</a:t>
            </a:r>
            <a:r>
              <a:rPr lang="en-US" altLang="zh-CN" sz="1400" dirty="0"/>
              <a:t> &gt;</a:t>
            </a:r>
          </a:p>
          <a:p>
            <a:r>
              <a:rPr lang="en-US" altLang="zh-CN" sz="1400" dirty="0"/>
              <a:t> &lt;td </a:t>
            </a:r>
            <a:r>
              <a:rPr lang="en-US" altLang="zh-CN" sz="1400" dirty="0" err="1"/>
              <a:t>bgcolor</a:t>
            </a:r>
            <a:r>
              <a:rPr lang="en-US" altLang="zh-CN" sz="1400" dirty="0"/>
              <a:t> = "fa8072"&gt; &lt;/td&gt;</a:t>
            </a:r>
          </a:p>
          <a:p>
            <a:r>
              <a:rPr lang="en-US" altLang="zh-CN" sz="1400" dirty="0"/>
              <a:t> &lt;td &gt; Salmon&lt;/td&gt;</a:t>
            </a:r>
          </a:p>
          <a:p>
            <a:r>
              <a:rPr lang="en-US" altLang="zh-CN" sz="1400" dirty="0"/>
              <a:t> &lt;td &gt; fa8072 &lt;/td&gt;</a:t>
            </a:r>
          </a:p>
          <a:p>
            <a:r>
              <a:rPr lang="en-US" altLang="zh-CN" sz="1400" dirty="0"/>
              <a:t> &lt;td &gt; 250-128-114 &lt;/td&gt;</a:t>
            </a:r>
          </a:p>
          <a:p>
            <a:r>
              <a:rPr lang="en-US" altLang="zh-CN" sz="1400" dirty="0"/>
              <a:t> &lt;/</a:t>
            </a:r>
            <a:r>
              <a:rPr lang="en-US" altLang="zh-CN" sz="1400" dirty="0" err="1"/>
              <a:t>tr</a:t>
            </a:r>
            <a:r>
              <a:rPr lang="en-US" altLang="zh-CN" sz="1400" dirty="0"/>
              <a:t>&gt;</a:t>
            </a:r>
          </a:p>
          <a:p>
            <a:r>
              <a:rPr lang="en-US" altLang="zh-CN" sz="1400" dirty="0"/>
              <a:t> &lt;</a:t>
            </a:r>
            <a:r>
              <a:rPr lang="en-US" altLang="zh-CN" sz="1400" dirty="0" err="1"/>
              <a:t>tr</a:t>
            </a:r>
            <a:r>
              <a:rPr lang="en-US" altLang="zh-CN" sz="1400" dirty="0"/>
              <a:t> &gt;</a:t>
            </a:r>
          </a:p>
          <a:p>
            <a:r>
              <a:rPr lang="en-US" altLang="zh-CN" sz="1400" dirty="0"/>
              <a:t> &lt;td </a:t>
            </a:r>
            <a:r>
              <a:rPr lang="en-US" altLang="zh-CN" sz="1400" dirty="0" err="1"/>
              <a:t>bgcolor</a:t>
            </a:r>
            <a:r>
              <a:rPr lang="en-US" altLang="zh-CN" sz="1400" dirty="0"/>
              <a:t> = "ffd700"&gt; &lt;/td&gt;</a:t>
            </a:r>
          </a:p>
          <a:p>
            <a:r>
              <a:rPr lang="en-US" altLang="zh-CN" sz="1400" dirty="0"/>
              <a:t> &lt;td &gt; Gold&lt;/td&gt;</a:t>
            </a:r>
          </a:p>
          <a:p>
            <a:r>
              <a:rPr lang="en-US" altLang="zh-CN" sz="1400" dirty="0"/>
              <a:t> &lt;td &gt; ffd700 &lt;/td&gt;</a:t>
            </a:r>
          </a:p>
          <a:p>
            <a:r>
              <a:rPr lang="en-US" altLang="zh-CN" sz="1400" dirty="0"/>
              <a:t> &lt;td &gt; 255-215-0 &lt;/td&gt;</a:t>
            </a:r>
          </a:p>
          <a:p>
            <a:r>
              <a:rPr lang="en-US" altLang="zh-CN" sz="1400" dirty="0"/>
              <a:t> &lt;/</a:t>
            </a:r>
            <a:r>
              <a:rPr lang="en-US" altLang="zh-CN" sz="1400" dirty="0" err="1"/>
              <a:t>tr</a:t>
            </a:r>
            <a:r>
              <a:rPr lang="en-US" altLang="zh-CN" sz="1400" dirty="0"/>
              <a:t>&gt;</a:t>
            </a:r>
          </a:p>
          <a:p>
            <a:r>
              <a:rPr lang="en-US" altLang="zh-CN" sz="1400" dirty="0"/>
              <a:t> &lt;/TABLE&gt;</a:t>
            </a:r>
          </a:p>
          <a:p>
            <a:r>
              <a:rPr lang="en-US" altLang="zh-CN" sz="1400" dirty="0"/>
              <a:t>&lt;/BODY &gt;</a:t>
            </a:r>
          </a:p>
          <a:p>
            <a:r>
              <a:rPr lang="en-US" altLang="zh-CN" sz="1400" dirty="0"/>
              <a:t>&lt;/HTML &gt;</a:t>
            </a:r>
            <a:endParaRPr lang="zh-CN" altLang="en-US" sz="1400" dirty="0"/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790" t="8684" r="9837" b="77853"/>
          <a:stretch/>
        </p:blipFill>
        <p:spPr bwMode="auto">
          <a:xfrm>
            <a:off x="294142" y="5448540"/>
            <a:ext cx="8555715" cy="9156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189200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Using Tables in Page Design </a:t>
            </a:r>
            <a:endParaRPr lang="en-HK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13" name="矩形 12"/>
          <p:cNvSpPr/>
          <p:nvPr/>
        </p:nvSpPr>
        <p:spPr>
          <a:xfrm>
            <a:off x="380181" y="1753640"/>
            <a:ext cx="4572000" cy="156966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CN" sz="1200" dirty="0"/>
              <a:t>&lt;TABLE style= "width: 30%" align = "center"&gt;</a:t>
            </a:r>
          </a:p>
          <a:p>
            <a:r>
              <a:rPr lang="en-US" altLang="zh-CN" sz="1200" dirty="0"/>
              <a:t>&lt;</a:t>
            </a:r>
            <a:r>
              <a:rPr lang="en-US" altLang="zh-CN" sz="1200" dirty="0" err="1"/>
              <a:t>tr</a:t>
            </a:r>
            <a:r>
              <a:rPr lang="en-US" altLang="zh-CN" sz="1200" dirty="0"/>
              <a:t> &gt;</a:t>
            </a:r>
          </a:p>
          <a:p>
            <a:r>
              <a:rPr lang="en-US" altLang="zh-CN" sz="1200" dirty="0"/>
              <a:t>&lt;td </a:t>
            </a:r>
            <a:r>
              <a:rPr lang="en-US" altLang="zh-CN" sz="1200" dirty="0" err="1"/>
              <a:t>bgcolor</a:t>
            </a:r>
            <a:r>
              <a:rPr lang="en-US" altLang="zh-CN" sz="1200" dirty="0"/>
              <a:t> = "silver" height =100&gt; silver cell&lt;/td&gt;</a:t>
            </a:r>
          </a:p>
          <a:p>
            <a:r>
              <a:rPr lang="en-US" altLang="zh-CN" sz="1200" dirty="0"/>
              <a:t>&lt;/</a:t>
            </a:r>
            <a:r>
              <a:rPr lang="en-US" altLang="zh-CN" sz="1200" dirty="0" err="1"/>
              <a:t>tr</a:t>
            </a:r>
            <a:r>
              <a:rPr lang="en-US" altLang="zh-CN" sz="1200" dirty="0"/>
              <a:t>&gt;</a:t>
            </a:r>
          </a:p>
          <a:p>
            <a:r>
              <a:rPr lang="en-US" altLang="zh-CN" sz="1200" dirty="0"/>
              <a:t>&lt;</a:t>
            </a:r>
            <a:r>
              <a:rPr lang="en-US" altLang="zh-CN" sz="1200" dirty="0" err="1"/>
              <a:t>tr</a:t>
            </a:r>
            <a:r>
              <a:rPr lang="en-US" altLang="zh-CN" sz="1200" dirty="0"/>
              <a:t> &gt;</a:t>
            </a:r>
          </a:p>
          <a:p>
            <a:r>
              <a:rPr lang="en-US" altLang="zh-CN" sz="1200" dirty="0"/>
              <a:t>&lt;td </a:t>
            </a:r>
            <a:r>
              <a:rPr lang="en-US" altLang="zh-CN" sz="1200" dirty="0" err="1"/>
              <a:t>bgcolor</a:t>
            </a:r>
            <a:r>
              <a:rPr lang="en-US" altLang="zh-CN" sz="1200" dirty="0"/>
              <a:t> = "gold" height =100&gt; gold cell&lt;/td&gt;</a:t>
            </a:r>
          </a:p>
          <a:p>
            <a:r>
              <a:rPr lang="en-US" altLang="zh-CN" sz="1200" dirty="0"/>
              <a:t>&lt;/</a:t>
            </a:r>
            <a:r>
              <a:rPr lang="en-US" altLang="zh-CN" sz="1200" dirty="0" err="1"/>
              <a:t>tr</a:t>
            </a:r>
            <a:r>
              <a:rPr lang="en-US" altLang="zh-CN" sz="1200" dirty="0"/>
              <a:t>&gt;</a:t>
            </a:r>
          </a:p>
          <a:p>
            <a:r>
              <a:rPr lang="en-US" altLang="zh-CN" sz="1200" dirty="0"/>
              <a:t>&lt;/TABLE&gt;</a:t>
            </a:r>
          </a:p>
        </p:txBody>
      </p:sp>
      <p:sp>
        <p:nvSpPr>
          <p:cNvPr id="14" name="矩形 13"/>
          <p:cNvSpPr/>
          <p:nvPr/>
        </p:nvSpPr>
        <p:spPr>
          <a:xfrm>
            <a:off x="4572000" y="1753640"/>
            <a:ext cx="4572000" cy="203132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CN" sz="1400" dirty="0"/>
              <a:t>&lt;TABLE style= "width: 30%" align = "center"&gt;</a:t>
            </a:r>
          </a:p>
          <a:p>
            <a:r>
              <a:rPr lang="en-US" altLang="zh-CN" sz="1400" dirty="0"/>
              <a:t>&lt;</a:t>
            </a:r>
            <a:r>
              <a:rPr lang="en-US" altLang="zh-CN" sz="1400" dirty="0" err="1"/>
              <a:t>tr</a:t>
            </a:r>
            <a:r>
              <a:rPr lang="en-US" altLang="zh-CN" sz="1400" dirty="0"/>
              <a:t> &gt;</a:t>
            </a:r>
          </a:p>
          <a:p>
            <a:r>
              <a:rPr lang="en-US" altLang="zh-CN" sz="1400" dirty="0">
                <a:solidFill>
                  <a:srgbClr val="FF0000"/>
                </a:solidFill>
              </a:rPr>
              <a:t>&lt;td </a:t>
            </a:r>
            <a:r>
              <a:rPr lang="en-US" altLang="zh-CN" sz="1400" dirty="0" err="1">
                <a:solidFill>
                  <a:srgbClr val="FF0000"/>
                </a:solidFill>
              </a:rPr>
              <a:t>bgcolor</a:t>
            </a:r>
            <a:r>
              <a:rPr lang="en-US" altLang="zh-CN" sz="1400" dirty="0">
                <a:solidFill>
                  <a:srgbClr val="FF0000"/>
                </a:solidFill>
              </a:rPr>
              <a:t> = "red" </a:t>
            </a:r>
            <a:r>
              <a:rPr lang="en-US" altLang="zh-CN" sz="1400" dirty="0" err="1">
                <a:solidFill>
                  <a:srgbClr val="FF0000"/>
                </a:solidFill>
              </a:rPr>
              <a:t>rowspan</a:t>
            </a:r>
            <a:r>
              <a:rPr lang="en-US" altLang="zh-CN" sz="1400" dirty="0">
                <a:solidFill>
                  <a:srgbClr val="FF0000"/>
                </a:solidFill>
              </a:rPr>
              <a:t> = 2 width = 75&gt; red cell&lt;/td&gt;</a:t>
            </a:r>
          </a:p>
          <a:p>
            <a:r>
              <a:rPr lang="en-US" altLang="zh-CN" sz="1400" dirty="0"/>
              <a:t>&lt;td </a:t>
            </a:r>
            <a:r>
              <a:rPr lang="en-US" altLang="zh-CN" sz="1400" dirty="0" err="1"/>
              <a:t>bgcolor</a:t>
            </a:r>
            <a:r>
              <a:rPr lang="en-US" altLang="zh-CN" sz="1400" dirty="0"/>
              <a:t> = "silver" height =100&gt; silver cell&lt;/td&gt;</a:t>
            </a:r>
          </a:p>
          <a:p>
            <a:r>
              <a:rPr lang="en-US" altLang="zh-CN" sz="1400" dirty="0"/>
              <a:t>&lt;/</a:t>
            </a:r>
            <a:r>
              <a:rPr lang="en-US" altLang="zh-CN" sz="1400" dirty="0" err="1"/>
              <a:t>tr</a:t>
            </a:r>
            <a:r>
              <a:rPr lang="en-US" altLang="zh-CN" sz="1400" dirty="0"/>
              <a:t>&gt;</a:t>
            </a:r>
          </a:p>
          <a:p>
            <a:r>
              <a:rPr lang="en-US" altLang="zh-CN" sz="1400" dirty="0"/>
              <a:t>&lt;</a:t>
            </a:r>
            <a:r>
              <a:rPr lang="en-US" altLang="zh-CN" sz="1400" dirty="0" err="1"/>
              <a:t>tr</a:t>
            </a:r>
            <a:r>
              <a:rPr lang="en-US" altLang="zh-CN" sz="1400" dirty="0"/>
              <a:t> &gt;</a:t>
            </a:r>
          </a:p>
          <a:p>
            <a:r>
              <a:rPr lang="en-US" altLang="zh-CN" sz="1400" dirty="0"/>
              <a:t>&lt;td </a:t>
            </a:r>
            <a:r>
              <a:rPr lang="en-US" altLang="zh-CN" sz="1400" dirty="0" err="1"/>
              <a:t>bgcolor</a:t>
            </a:r>
            <a:r>
              <a:rPr lang="en-US" altLang="zh-CN" sz="1400" dirty="0"/>
              <a:t> = "gold" height =100&gt; gold cell&lt;/td&gt;</a:t>
            </a:r>
          </a:p>
          <a:p>
            <a:r>
              <a:rPr lang="en-US" altLang="zh-CN" sz="1400" dirty="0"/>
              <a:t>&lt;/</a:t>
            </a:r>
            <a:r>
              <a:rPr lang="en-US" altLang="zh-CN" sz="1400" dirty="0" err="1"/>
              <a:t>tr</a:t>
            </a:r>
            <a:r>
              <a:rPr lang="en-US" altLang="zh-CN" sz="1400" dirty="0"/>
              <a:t>&gt;</a:t>
            </a:r>
          </a:p>
          <a:p>
            <a:r>
              <a:rPr lang="en-US" altLang="zh-CN" sz="1400" dirty="0"/>
              <a:t>&lt;/TABLE&gt;</a:t>
            </a:r>
            <a:endParaRPr lang="zh-CN" altLang="en-US" sz="1400" dirty="0"/>
          </a:p>
        </p:txBody>
      </p:sp>
      <p:cxnSp>
        <p:nvCxnSpPr>
          <p:cNvPr id="6" name="直接箭头连接符 5"/>
          <p:cNvCxnSpPr/>
          <p:nvPr/>
        </p:nvCxnSpPr>
        <p:spPr>
          <a:xfrm>
            <a:off x="6438637" y="2421583"/>
            <a:ext cx="466660" cy="1545021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/>
          <p:cNvSpPr/>
          <p:nvPr/>
        </p:nvSpPr>
        <p:spPr>
          <a:xfrm>
            <a:off x="5015407" y="4196571"/>
            <a:ext cx="350230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insert a red cell spanning two rows.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021242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Using Tables in Page Design </a:t>
            </a:r>
            <a:endParaRPr lang="en-HK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13" name="矩形 12"/>
          <p:cNvSpPr/>
          <p:nvPr/>
        </p:nvSpPr>
        <p:spPr>
          <a:xfrm>
            <a:off x="380181" y="1753640"/>
            <a:ext cx="4572000" cy="156966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CN" sz="1200" dirty="0"/>
              <a:t>&lt;TABLE style= "width: 30%" align = "center"&gt;</a:t>
            </a:r>
          </a:p>
          <a:p>
            <a:r>
              <a:rPr lang="en-US" altLang="zh-CN" sz="1200" dirty="0"/>
              <a:t>&lt;</a:t>
            </a:r>
            <a:r>
              <a:rPr lang="en-US" altLang="zh-CN" sz="1200" dirty="0" err="1"/>
              <a:t>tr</a:t>
            </a:r>
            <a:r>
              <a:rPr lang="en-US" altLang="zh-CN" sz="1200" dirty="0"/>
              <a:t> &gt;</a:t>
            </a:r>
          </a:p>
          <a:p>
            <a:r>
              <a:rPr lang="en-US" altLang="zh-CN" sz="1200" dirty="0"/>
              <a:t>&lt;td </a:t>
            </a:r>
            <a:r>
              <a:rPr lang="en-US" altLang="zh-CN" sz="1200" dirty="0" err="1"/>
              <a:t>bgcolor</a:t>
            </a:r>
            <a:r>
              <a:rPr lang="en-US" altLang="zh-CN" sz="1200" dirty="0"/>
              <a:t> = "silver" height =100&gt; silver cell&lt;/td&gt;</a:t>
            </a:r>
          </a:p>
          <a:p>
            <a:r>
              <a:rPr lang="en-US" altLang="zh-CN" sz="1200" dirty="0"/>
              <a:t>&lt;/</a:t>
            </a:r>
            <a:r>
              <a:rPr lang="en-US" altLang="zh-CN" sz="1200" dirty="0" err="1"/>
              <a:t>tr</a:t>
            </a:r>
            <a:r>
              <a:rPr lang="en-US" altLang="zh-CN" sz="1200" dirty="0"/>
              <a:t>&gt;</a:t>
            </a:r>
          </a:p>
          <a:p>
            <a:r>
              <a:rPr lang="en-US" altLang="zh-CN" sz="1200" dirty="0"/>
              <a:t>&lt;</a:t>
            </a:r>
            <a:r>
              <a:rPr lang="en-US" altLang="zh-CN" sz="1200" dirty="0" err="1"/>
              <a:t>tr</a:t>
            </a:r>
            <a:r>
              <a:rPr lang="en-US" altLang="zh-CN" sz="1200" dirty="0"/>
              <a:t> &gt;</a:t>
            </a:r>
          </a:p>
          <a:p>
            <a:r>
              <a:rPr lang="en-US" altLang="zh-CN" sz="1200" dirty="0"/>
              <a:t>&lt;td </a:t>
            </a:r>
            <a:r>
              <a:rPr lang="en-US" altLang="zh-CN" sz="1200" dirty="0" err="1"/>
              <a:t>bgcolor</a:t>
            </a:r>
            <a:r>
              <a:rPr lang="en-US" altLang="zh-CN" sz="1200" dirty="0"/>
              <a:t> = "gold" height =100&gt; gold cell&lt;/td&gt;</a:t>
            </a:r>
          </a:p>
          <a:p>
            <a:r>
              <a:rPr lang="en-US" altLang="zh-CN" sz="1200" dirty="0"/>
              <a:t>&lt;/</a:t>
            </a:r>
            <a:r>
              <a:rPr lang="en-US" altLang="zh-CN" sz="1200" dirty="0" err="1"/>
              <a:t>tr</a:t>
            </a:r>
            <a:r>
              <a:rPr lang="en-US" altLang="zh-CN" sz="1200" dirty="0"/>
              <a:t>&gt;</a:t>
            </a:r>
          </a:p>
          <a:p>
            <a:r>
              <a:rPr lang="en-US" altLang="zh-CN" sz="1200" dirty="0"/>
              <a:t>&lt;/TABLE&gt;</a:t>
            </a:r>
          </a:p>
        </p:txBody>
      </p:sp>
      <p:sp>
        <p:nvSpPr>
          <p:cNvPr id="14" name="矩形 13"/>
          <p:cNvSpPr/>
          <p:nvPr/>
        </p:nvSpPr>
        <p:spPr>
          <a:xfrm>
            <a:off x="4572000" y="1753640"/>
            <a:ext cx="4572000" cy="203132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CN" sz="1400" dirty="0"/>
              <a:t>&lt;TABLE style= "width: 30%" align = "center"&gt;</a:t>
            </a:r>
          </a:p>
          <a:p>
            <a:r>
              <a:rPr lang="en-US" altLang="zh-CN" sz="1400" dirty="0"/>
              <a:t>&lt;</a:t>
            </a:r>
            <a:r>
              <a:rPr lang="en-US" altLang="zh-CN" sz="1400" dirty="0" err="1"/>
              <a:t>tr</a:t>
            </a:r>
            <a:r>
              <a:rPr lang="en-US" altLang="zh-CN" sz="1400" dirty="0"/>
              <a:t>&gt;</a:t>
            </a:r>
          </a:p>
          <a:p>
            <a:r>
              <a:rPr lang="en-US" altLang="zh-CN" sz="1400" dirty="0">
                <a:solidFill>
                  <a:srgbClr val="FF0000"/>
                </a:solidFill>
              </a:rPr>
              <a:t>&lt;td </a:t>
            </a:r>
            <a:r>
              <a:rPr lang="en-US" altLang="zh-CN" sz="1400" dirty="0" err="1">
                <a:solidFill>
                  <a:srgbClr val="FF0000"/>
                </a:solidFill>
              </a:rPr>
              <a:t>colspan</a:t>
            </a:r>
            <a:r>
              <a:rPr lang="en-US" altLang="zh-CN" sz="1400" dirty="0">
                <a:solidFill>
                  <a:srgbClr val="FF0000"/>
                </a:solidFill>
              </a:rPr>
              <a:t>=2 height=100 </a:t>
            </a:r>
            <a:r>
              <a:rPr lang="en-US" altLang="zh-CN" sz="1400" dirty="0" err="1">
                <a:solidFill>
                  <a:srgbClr val="FF0000"/>
                </a:solidFill>
              </a:rPr>
              <a:t>bgcolor</a:t>
            </a:r>
            <a:r>
              <a:rPr lang="en-US" altLang="zh-CN" sz="1400" dirty="0">
                <a:solidFill>
                  <a:srgbClr val="FF0000"/>
                </a:solidFill>
              </a:rPr>
              <a:t>="red"&gt;red cell&lt;/td&gt;</a:t>
            </a:r>
          </a:p>
          <a:p>
            <a:r>
              <a:rPr lang="en-US" altLang="zh-CN" sz="1400" dirty="0"/>
              <a:t>&lt;/</a:t>
            </a:r>
            <a:r>
              <a:rPr lang="en-US" altLang="zh-CN" sz="1400" dirty="0" err="1"/>
              <a:t>tr</a:t>
            </a:r>
            <a:r>
              <a:rPr lang="en-US" altLang="zh-CN" sz="1400" dirty="0"/>
              <a:t>&gt;</a:t>
            </a:r>
          </a:p>
          <a:p>
            <a:r>
              <a:rPr lang="en-US" altLang="zh-CN" sz="1400" dirty="0"/>
              <a:t>&lt;</a:t>
            </a:r>
            <a:r>
              <a:rPr lang="en-US" altLang="zh-CN" sz="1400" dirty="0" err="1"/>
              <a:t>tr</a:t>
            </a:r>
            <a:r>
              <a:rPr lang="en-US" altLang="zh-CN" sz="1400" dirty="0"/>
              <a:t> &gt;</a:t>
            </a:r>
          </a:p>
          <a:p>
            <a:r>
              <a:rPr lang="en-US" altLang="zh-CN" sz="1400" dirty="0"/>
              <a:t>&lt;td </a:t>
            </a:r>
            <a:r>
              <a:rPr lang="en-US" altLang="zh-CN" sz="1400" dirty="0" err="1"/>
              <a:t>bgcolor</a:t>
            </a:r>
            <a:r>
              <a:rPr lang="en-US" altLang="zh-CN" sz="1400" dirty="0"/>
              <a:t> = "silver" height =100&gt; silver cell&lt;/td&gt;</a:t>
            </a:r>
          </a:p>
          <a:p>
            <a:r>
              <a:rPr lang="en-US" altLang="zh-CN" sz="1400" dirty="0"/>
              <a:t>&lt;td </a:t>
            </a:r>
            <a:r>
              <a:rPr lang="en-US" altLang="zh-CN" sz="1400" dirty="0" err="1"/>
              <a:t>bgcolor</a:t>
            </a:r>
            <a:r>
              <a:rPr lang="en-US" altLang="zh-CN" sz="1400" dirty="0"/>
              <a:t> = "gold" height =100&gt; gold cell&lt;/td&gt;</a:t>
            </a:r>
          </a:p>
          <a:p>
            <a:r>
              <a:rPr lang="en-US" altLang="zh-CN" sz="1400" dirty="0"/>
              <a:t>&lt;/</a:t>
            </a:r>
            <a:r>
              <a:rPr lang="en-US" altLang="zh-CN" sz="1400" dirty="0" err="1"/>
              <a:t>tr</a:t>
            </a:r>
            <a:r>
              <a:rPr lang="en-US" altLang="zh-CN" sz="1400" dirty="0"/>
              <a:t>&gt;</a:t>
            </a:r>
          </a:p>
          <a:p>
            <a:r>
              <a:rPr lang="en-US" altLang="zh-CN" sz="1400" dirty="0"/>
              <a:t>&lt;/TABLE&gt;</a:t>
            </a:r>
            <a:endParaRPr lang="zh-CN" altLang="en-US" sz="1400" dirty="0"/>
          </a:p>
        </p:txBody>
      </p:sp>
      <p:cxnSp>
        <p:nvCxnSpPr>
          <p:cNvPr id="6" name="直接箭头连接符 5"/>
          <p:cNvCxnSpPr/>
          <p:nvPr/>
        </p:nvCxnSpPr>
        <p:spPr>
          <a:xfrm>
            <a:off x="5341357" y="2465727"/>
            <a:ext cx="466660" cy="1545021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/>
          <p:cNvSpPr/>
          <p:nvPr/>
        </p:nvSpPr>
        <p:spPr>
          <a:xfrm>
            <a:off x="5015407" y="4196571"/>
            <a:ext cx="396159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insert a cell that spans the two </a:t>
            </a:r>
            <a:r>
              <a:rPr lang="en-US" altLang="zh-CN" dirty="0" smtClean="0">
                <a:solidFill>
                  <a:srgbClr val="FF0000"/>
                </a:solidFill>
              </a:rPr>
              <a:t>columns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44995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Using Tables in Page Design </a:t>
            </a:r>
            <a:endParaRPr lang="en-HK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14" name="矩形 13"/>
          <p:cNvSpPr/>
          <p:nvPr/>
        </p:nvSpPr>
        <p:spPr>
          <a:xfrm>
            <a:off x="94594" y="1955439"/>
            <a:ext cx="4572000" cy="224676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CN" sz="1400" dirty="0"/>
              <a:t>&lt;TABLE style= "width: 30%" align = "center" </a:t>
            </a:r>
            <a:r>
              <a:rPr lang="en-US" altLang="zh-CN" sz="1400" dirty="0" err="1" smtClean="0">
                <a:solidFill>
                  <a:srgbClr val="FF0000"/>
                </a:solidFill>
              </a:rPr>
              <a:t>cellspadding</a:t>
            </a:r>
            <a:r>
              <a:rPr lang="en-US" altLang="zh-CN" sz="1400" dirty="0" smtClean="0"/>
              <a:t> </a:t>
            </a:r>
            <a:r>
              <a:rPr lang="en-US" altLang="zh-CN" sz="1400" dirty="0"/>
              <a:t>= 15&gt;</a:t>
            </a:r>
          </a:p>
          <a:p>
            <a:r>
              <a:rPr lang="en-US" altLang="zh-CN" sz="1400" dirty="0"/>
              <a:t>&lt;</a:t>
            </a:r>
            <a:r>
              <a:rPr lang="en-US" altLang="zh-CN" sz="1400" dirty="0" err="1"/>
              <a:t>tr</a:t>
            </a:r>
            <a:r>
              <a:rPr lang="en-US" altLang="zh-CN" sz="1400" dirty="0"/>
              <a:t>&gt;</a:t>
            </a:r>
          </a:p>
          <a:p>
            <a:r>
              <a:rPr lang="en-US" altLang="zh-CN" sz="1400" dirty="0"/>
              <a:t>&lt;td </a:t>
            </a:r>
            <a:r>
              <a:rPr lang="en-US" altLang="zh-CN" sz="1400" dirty="0" err="1"/>
              <a:t>colspan</a:t>
            </a:r>
            <a:r>
              <a:rPr lang="en-US" altLang="zh-CN" sz="1400" dirty="0"/>
              <a:t>=2 height=100 </a:t>
            </a:r>
            <a:r>
              <a:rPr lang="en-US" altLang="zh-CN" sz="1400" dirty="0" err="1"/>
              <a:t>bgcolor</a:t>
            </a:r>
            <a:r>
              <a:rPr lang="en-US" altLang="zh-CN" sz="1400" dirty="0"/>
              <a:t>="red"&gt;red cell&lt;/td&gt;</a:t>
            </a:r>
          </a:p>
          <a:p>
            <a:r>
              <a:rPr lang="en-US" altLang="zh-CN" sz="1400" dirty="0"/>
              <a:t>&lt;/</a:t>
            </a:r>
            <a:r>
              <a:rPr lang="en-US" altLang="zh-CN" sz="1400" dirty="0" err="1"/>
              <a:t>tr</a:t>
            </a:r>
            <a:r>
              <a:rPr lang="en-US" altLang="zh-CN" sz="1400" dirty="0"/>
              <a:t>&gt;</a:t>
            </a:r>
          </a:p>
          <a:p>
            <a:r>
              <a:rPr lang="en-US" altLang="zh-CN" sz="1400" dirty="0"/>
              <a:t>&lt;</a:t>
            </a:r>
            <a:r>
              <a:rPr lang="en-US" altLang="zh-CN" sz="1400" dirty="0" err="1"/>
              <a:t>tr</a:t>
            </a:r>
            <a:r>
              <a:rPr lang="en-US" altLang="zh-CN" sz="1400" dirty="0"/>
              <a:t> &gt;</a:t>
            </a:r>
          </a:p>
          <a:p>
            <a:r>
              <a:rPr lang="en-US" altLang="zh-CN" sz="1400" dirty="0"/>
              <a:t>&lt;td </a:t>
            </a:r>
            <a:r>
              <a:rPr lang="en-US" altLang="zh-CN" sz="1400" dirty="0" err="1"/>
              <a:t>bgcolor</a:t>
            </a:r>
            <a:r>
              <a:rPr lang="en-US" altLang="zh-CN" sz="1400" dirty="0"/>
              <a:t> = "silver" height =100&gt; silver cell&lt;/td&gt;</a:t>
            </a:r>
          </a:p>
          <a:p>
            <a:r>
              <a:rPr lang="en-US" altLang="zh-CN" sz="1400" dirty="0"/>
              <a:t>&lt;td </a:t>
            </a:r>
            <a:r>
              <a:rPr lang="en-US" altLang="zh-CN" sz="1400" dirty="0" err="1"/>
              <a:t>bgcolor</a:t>
            </a:r>
            <a:r>
              <a:rPr lang="en-US" altLang="zh-CN" sz="1400" dirty="0"/>
              <a:t> = "gold" height =100&gt; gold cell&lt;/td&gt;</a:t>
            </a:r>
          </a:p>
          <a:p>
            <a:r>
              <a:rPr lang="en-US" altLang="zh-CN" sz="1400" dirty="0"/>
              <a:t>&lt;/</a:t>
            </a:r>
            <a:r>
              <a:rPr lang="en-US" altLang="zh-CN" sz="1400" dirty="0" err="1"/>
              <a:t>tr</a:t>
            </a:r>
            <a:r>
              <a:rPr lang="en-US" altLang="zh-CN" sz="1400" dirty="0"/>
              <a:t>&gt;</a:t>
            </a:r>
          </a:p>
          <a:p>
            <a:r>
              <a:rPr lang="en-US" altLang="zh-CN" sz="1400" dirty="0"/>
              <a:t>&lt;/TABLE&gt;</a:t>
            </a:r>
            <a:endParaRPr lang="zh-CN" altLang="en-US" sz="1400" dirty="0"/>
          </a:p>
        </p:txBody>
      </p:sp>
      <p:sp>
        <p:nvSpPr>
          <p:cNvPr id="8" name="矩形 7"/>
          <p:cNvSpPr/>
          <p:nvPr/>
        </p:nvSpPr>
        <p:spPr>
          <a:xfrm>
            <a:off x="4477407" y="1962260"/>
            <a:ext cx="4572000" cy="224676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CN" sz="1400" dirty="0"/>
              <a:t>&lt;TABLE style= "width: 30%" align = "center" </a:t>
            </a:r>
            <a:r>
              <a:rPr lang="en-US" altLang="zh-CN" sz="1400" dirty="0" err="1">
                <a:solidFill>
                  <a:srgbClr val="FF0000"/>
                </a:solidFill>
              </a:rPr>
              <a:t>cellspacing</a:t>
            </a:r>
            <a:r>
              <a:rPr lang="en-US" altLang="zh-CN" sz="1400" dirty="0"/>
              <a:t> = </a:t>
            </a:r>
            <a:r>
              <a:rPr lang="en-US" altLang="zh-CN" sz="1400" dirty="0" smtClean="0"/>
              <a:t>15&gt;</a:t>
            </a:r>
            <a:endParaRPr lang="en-US" altLang="zh-CN" sz="1400" dirty="0"/>
          </a:p>
          <a:p>
            <a:r>
              <a:rPr lang="en-US" altLang="zh-CN" sz="1400" dirty="0"/>
              <a:t>&lt;</a:t>
            </a:r>
            <a:r>
              <a:rPr lang="en-US" altLang="zh-CN" sz="1400" dirty="0" err="1"/>
              <a:t>tr</a:t>
            </a:r>
            <a:r>
              <a:rPr lang="en-US" altLang="zh-CN" sz="1400" dirty="0"/>
              <a:t>&gt;</a:t>
            </a:r>
          </a:p>
          <a:p>
            <a:r>
              <a:rPr lang="en-US" altLang="zh-CN" sz="1400" dirty="0"/>
              <a:t>&lt;td </a:t>
            </a:r>
            <a:r>
              <a:rPr lang="en-US" altLang="zh-CN" sz="1400" dirty="0" err="1"/>
              <a:t>colspan</a:t>
            </a:r>
            <a:r>
              <a:rPr lang="en-US" altLang="zh-CN" sz="1400" dirty="0"/>
              <a:t>=2 height=100 </a:t>
            </a:r>
            <a:r>
              <a:rPr lang="en-US" altLang="zh-CN" sz="1400" dirty="0" err="1"/>
              <a:t>bgcolor</a:t>
            </a:r>
            <a:r>
              <a:rPr lang="en-US" altLang="zh-CN" sz="1400" dirty="0"/>
              <a:t>="red"&gt;red cell&lt;/td&gt;</a:t>
            </a:r>
          </a:p>
          <a:p>
            <a:r>
              <a:rPr lang="en-US" altLang="zh-CN" sz="1400" dirty="0"/>
              <a:t>&lt;/</a:t>
            </a:r>
            <a:r>
              <a:rPr lang="en-US" altLang="zh-CN" sz="1400" dirty="0" err="1"/>
              <a:t>tr</a:t>
            </a:r>
            <a:r>
              <a:rPr lang="en-US" altLang="zh-CN" sz="1400" dirty="0"/>
              <a:t>&gt;</a:t>
            </a:r>
          </a:p>
          <a:p>
            <a:r>
              <a:rPr lang="en-US" altLang="zh-CN" sz="1400" dirty="0"/>
              <a:t>&lt;</a:t>
            </a:r>
            <a:r>
              <a:rPr lang="en-US" altLang="zh-CN" sz="1400" dirty="0" err="1"/>
              <a:t>tr</a:t>
            </a:r>
            <a:r>
              <a:rPr lang="en-US" altLang="zh-CN" sz="1400" dirty="0"/>
              <a:t> &gt;</a:t>
            </a:r>
          </a:p>
          <a:p>
            <a:r>
              <a:rPr lang="en-US" altLang="zh-CN" sz="1400" dirty="0"/>
              <a:t>&lt;td </a:t>
            </a:r>
            <a:r>
              <a:rPr lang="en-US" altLang="zh-CN" sz="1400" dirty="0" err="1"/>
              <a:t>bgcolor</a:t>
            </a:r>
            <a:r>
              <a:rPr lang="en-US" altLang="zh-CN" sz="1400" dirty="0"/>
              <a:t> = "silver" height =100&gt; silver cell&lt;/td&gt;</a:t>
            </a:r>
          </a:p>
          <a:p>
            <a:r>
              <a:rPr lang="en-US" altLang="zh-CN" sz="1400" dirty="0"/>
              <a:t>&lt;td </a:t>
            </a:r>
            <a:r>
              <a:rPr lang="en-US" altLang="zh-CN" sz="1400" dirty="0" err="1"/>
              <a:t>bgcolor</a:t>
            </a:r>
            <a:r>
              <a:rPr lang="en-US" altLang="zh-CN" sz="1400" dirty="0"/>
              <a:t> = "gold" height =100&gt; gold cell&lt;/td&gt;</a:t>
            </a:r>
          </a:p>
          <a:p>
            <a:r>
              <a:rPr lang="en-US" altLang="zh-CN" sz="1400" dirty="0"/>
              <a:t>&lt;/</a:t>
            </a:r>
            <a:r>
              <a:rPr lang="en-US" altLang="zh-CN" sz="1400" dirty="0" err="1"/>
              <a:t>tr</a:t>
            </a:r>
            <a:r>
              <a:rPr lang="en-US" altLang="zh-CN" sz="1400" dirty="0"/>
              <a:t>&gt;</a:t>
            </a:r>
          </a:p>
          <a:p>
            <a:r>
              <a:rPr lang="en-US" altLang="zh-CN" sz="1400" dirty="0"/>
              <a:t>&lt;/TABLE&gt;</a:t>
            </a:r>
            <a:endParaRPr lang="zh-CN" altLang="en-US" sz="1400" dirty="0"/>
          </a:p>
        </p:txBody>
      </p:sp>
      <p:cxnSp>
        <p:nvCxnSpPr>
          <p:cNvPr id="9" name="Straight Arrow Connector 9"/>
          <p:cNvCxnSpPr/>
          <p:nvPr/>
        </p:nvCxnSpPr>
        <p:spPr>
          <a:xfrm flipH="1">
            <a:off x="7334119" y="2215204"/>
            <a:ext cx="674434" cy="2880211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矩形 10"/>
          <p:cNvSpPr/>
          <p:nvPr/>
        </p:nvSpPr>
        <p:spPr>
          <a:xfrm>
            <a:off x="3013133" y="5239777"/>
            <a:ext cx="59717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&lt;table </a:t>
            </a:r>
            <a:r>
              <a:rPr lang="en-US" altLang="zh-CN" dirty="0" err="1">
                <a:solidFill>
                  <a:srgbClr val="FF0000"/>
                </a:solidFill>
              </a:rPr>
              <a:t>cellspacing</a:t>
            </a:r>
            <a:r>
              <a:rPr lang="en-US" altLang="zh-CN" dirty="0">
                <a:solidFill>
                  <a:srgbClr val="FF0000"/>
                </a:solidFill>
              </a:rPr>
              <a:t>=x&gt;  x is the amount of </a:t>
            </a:r>
            <a:r>
              <a:rPr lang="en-US" altLang="zh-CN" dirty="0" smtClean="0">
                <a:solidFill>
                  <a:srgbClr val="FF0000"/>
                </a:solidFill>
              </a:rPr>
              <a:t>cells pacing </a:t>
            </a:r>
            <a:r>
              <a:rPr lang="en-US" altLang="zh-CN" dirty="0">
                <a:solidFill>
                  <a:srgbClr val="FF0000"/>
                </a:solidFill>
              </a:rPr>
              <a:t>required.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0" y="4593446"/>
            <a:ext cx="712381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&lt;table </a:t>
            </a:r>
            <a:r>
              <a:rPr lang="en-US" altLang="zh-CN" dirty="0" err="1">
                <a:solidFill>
                  <a:srgbClr val="FF0000"/>
                </a:solidFill>
              </a:rPr>
              <a:t>cellpadding</a:t>
            </a:r>
            <a:r>
              <a:rPr lang="en-US" altLang="zh-CN" dirty="0">
                <a:solidFill>
                  <a:srgbClr val="FF0000"/>
                </a:solidFill>
              </a:rPr>
              <a:t> = x&gt; where x is the thickness, measured in </a:t>
            </a:r>
            <a:r>
              <a:rPr lang="en-US" altLang="zh-CN" dirty="0" smtClean="0">
                <a:solidFill>
                  <a:srgbClr val="FF0000"/>
                </a:solidFill>
              </a:rPr>
              <a:t>pixels. </a:t>
            </a:r>
          </a:p>
          <a:p>
            <a:r>
              <a:rPr lang="en-US" altLang="zh-CN" dirty="0" smtClean="0">
                <a:solidFill>
                  <a:srgbClr val="FF0000"/>
                </a:solidFill>
              </a:rPr>
              <a:t>It specifies </a:t>
            </a:r>
            <a:r>
              <a:rPr lang="en-US" altLang="zh-CN" dirty="0">
                <a:solidFill>
                  <a:srgbClr val="FF0000"/>
                </a:solidFill>
              </a:rPr>
              <a:t>the space between the border of a table cell and its </a:t>
            </a:r>
            <a:r>
              <a:rPr lang="en-US" altLang="zh-CN" dirty="0" smtClean="0">
                <a:solidFill>
                  <a:srgbClr val="FF0000"/>
                </a:solidFill>
              </a:rPr>
              <a:t>contents.</a:t>
            </a:r>
            <a:endParaRPr lang="en-US" altLang="zh-CN" dirty="0">
              <a:solidFill>
                <a:srgbClr val="FF0000"/>
              </a:solidFill>
            </a:endParaRPr>
          </a:p>
        </p:txBody>
      </p:sp>
      <p:cxnSp>
        <p:nvCxnSpPr>
          <p:cNvPr id="16" name="Straight Arrow Connector 9"/>
          <p:cNvCxnSpPr/>
          <p:nvPr/>
        </p:nvCxnSpPr>
        <p:spPr>
          <a:xfrm flipH="1">
            <a:off x="908094" y="2201489"/>
            <a:ext cx="2775452" cy="2433573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111457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Forms</a:t>
            </a:r>
            <a:endParaRPr lang="en-H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6" name="矩形 5"/>
          <p:cNvSpPr/>
          <p:nvPr/>
        </p:nvSpPr>
        <p:spPr>
          <a:xfrm>
            <a:off x="406750" y="1778308"/>
            <a:ext cx="7608439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/>
              <a:t>All forms start with the &lt;FORM&gt; tag and end with &lt;/FORM&gt;. </a:t>
            </a:r>
          </a:p>
          <a:p>
            <a:r>
              <a:rPr lang="en-US" altLang="zh-CN" dirty="0" smtClean="0"/>
              <a:t>The form tag has two main properties: METHOD and ACTION.</a:t>
            </a:r>
          </a:p>
          <a:p>
            <a:r>
              <a:rPr lang="en-US" altLang="zh-CN" b="1" dirty="0" smtClean="0"/>
              <a:t>METHOD</a:t>
            </a:r>
            <a:r>
              <a:rPr lang="en-US" altLang="zh-CN" dirty="0" smtClean="0"/>
              <a:t> </a:t>
            </a:r>
            <a:r>
              <a:rPr lang="en-US" altLang="zh-CN" dirty="0"/>
              <a:t>refers to post or get. The post attribute will send the information from the form as a text document.</a:t>
            </a:r>
          </a:p>
          <a:p>
            <a:r>
              <a:rPr lang="en-US" altLang="zh-CN" dirty="0"/>
              <a:t>The get attribute is used mostly with search engines, and will not be discussed. We will generally </a:t>
            </a:r>
            <a:r>
              <a:rPr lang="en-US" altLang="zh-CN" dirty="0" smtClean="0"/>
              <a:t>set METHOD</a:t>
            </a:r>
            <a:r>
              <a:rPr lang="en-US" altLang="zh-CN" dirty="0"/>
              <a:t>="post</a:t>
            </a:r>
            <a:r>
              <a:rPr lang="en-US" altLang="zh-CN" dirty="0" smtClean="0"/>
              <a:t>".</a:t>
            </a:r>
            <a:endParaRPr lang="en-US" altLang="zh-CN" dirty="0"/>
          </a:p>
          <a:p>
            <a:r>
              <a:rPr lang="en-US" altLang="zh-CN" b="1" dirty="0"/>
              <a:t>ACTION</a:t>
            </a:r>
            <a:r>
              <a:rPr lang="en-US" altLang="zh-CN" dirty="0"/>
              <a:t> usually specifies the location of the CGI script that will process the form data.</a:t>
            </a:r>
            <a:endParaRPr lang="zh-CN" altLang="en-US" dirty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37" t="27585" r="27399" b="26287"/>
          <a:stretch/>
        </p:blipFill>
        <p:spPr bwMode="auto">
          <a:xfrm>
            <a:off x="2358521" y="3793939"/>
            <a:ext cx="3960383" cy="23837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829404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Forms-</a:t>
            </a:r>
            <a:r>
              <a:rPr lang="en-US" altLang="zh-CN" dirty="0"/>
              <a:t>Radio Buttons </a:t>
            </a:r>
            <a:endParaRPr lang="en-H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662483" y="2148187"/>
            <a:ext cx="3732112" cy="113107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Do you like chocolate?</a:t>
            </a:r>
          </a:p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&lt;input type="radio" name="chocolate" value="yes"&gt;Yes</a:t>
            </a:r>
          </a:p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&lt;input type="radio" name="chocolate" value="no"&gt;No</a:t>
            </a:r>
            <a:endParaRPr lang="en-HK" sz="135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738614" y="2132411"/>
            <a:ext cx="3732112" cy="30008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Do you agree that the Earth orbits the Sun?&lt;</a:t>
            </a:r>
            <a:r>
              <a:rPr lang="en-US" sz="13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br</a:t>
            </a:r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&lt;INPUT TYPE="radio" NAME="orbits" VALUE="</a:t>
            </a:r>
            <a:r>
              <a:rPr lang="en-US" sz="13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strongly_agree</a:t>
            </a:r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"&gt;Strongly agree&lt;BR&gt;</a:t>
            </a:r>
          </a:p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&lt;INPUT TYPE="radio" NAME="orbits" VALUE="agree"&gt;Agree&lt;BR&gt;</a:t>
            </a:r>
          </a:p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&lt;INPUT TYPE="radio" NAME="orbits" VALUE="</a:t>
            </a:r>
            <a:r>
              <a:rPr lang="en-US" sz="13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no_opinion</a:t>
            </a:r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"&gt;No opinion&lt;BR&gt;</a:t>
            </a:r>
          </a:p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&lt;INPUT TYPE="radio" NAME="orbits" VALUE="disagree"&gt;Disagree&lt;BR&gt;</a:t>
            </a:r>
          </a:p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&lt;INPUT TYPE="radio" NAME="orbits" VALUE="</a:t>
            </a:r>
            <a:r>
              <a:rPr lang="en-US" sz="13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strongly_disagree</a:t>
            </a:r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"&gt;Strongly</a:t>
            </a:r>
          </a:p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disagree&lt;BR&gt;</a:t>
            </a:r>
            <a:endParaRPr lang="en-HK" sz="135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4583781" y="5152171"/>
            <a:ext cx="4414346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200" dirty="0"/>
              <a:t>&lt;input&gt; is the tag used for most of the form objects.</a:t>
            </a:r>
          </a:p>
          <a:p>
            <a:r>
              <a:rPr lang="en-US" altLang="zh-CN" sz="1200" dirty="0"/>
              <a:t>type="radio" sets the object to a radio button.</a:t>
            </a:r>
          </a:p>
          <a:p>
            <a:r>
              <a:rPr lang="en-US" altLang="zh-CN" sz="1200" dirty="0"/>
              <a:t>name="orbits" labels the entire set of radio buttons. This makes identifying the data easier. </a:t>
            </a:r>
            <a:r>
              <a:rPr lang="en-US" altLang="zh-CN" sz="1200" dirty="0" smtClean="0"/>
              <a:t>This </a:t>
            </a:r>
            <a:r>
              <a:rPr lang="en-US" altLang="zh-CN" sz="1200" dirty="0"/>
              <a:t>information is sent with the data when the form is submitted. </a:t>
            </a:r>
            <a:endParaRPr lang="zh-CN" altLang="en-US" sz="1200" dirty="0"/>
          </a:p>
        </p:txBody>
      </p:sp>
    </p:spTree>
    <p:extLst>
      <p:ext uri="{BB962C8B-B14F-4D97-AF65-F5344CB8AC3E}">
        <p14:creationId xmlns:p14="http://schemas.microsoft.com/office/powerpoint/2010/main" val="18104932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Forms-Check Box</a:t>
            </a:r>
            <a:endParaRPr lang="en-H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4858432" y="1870714"/>
            <a:ext cx="3732112" cy="424731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&lt;INPUT TYPE="checkbox" NAME="autos" VALUE="yes"&gt;Autos&lt;BR&gt;</a:t>
            </a:r>
          </a:p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&lt;INPUT TYPE="checkbox" NAME="business"</a:t>
            </a:r>
          </a:p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VALUE="yes"&gt;Business &amp; Finance&lt;BR&gt;</a:t>
            </a:r>
          </a:p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&lt;INPUT TYPE="checkbox" NAME="movies"</a:t>
            </a:r>
          </a:p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VALUE="yes"&gt;Movies&lt;BR&gt;</a:t>
            </a:r>
          </a:p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&lt;INPUT TYPE="checkbox" NAME="music" VALUE="yes"&gt;Music&lt;BR&gt;</a:t>
            </a:r>
          </a:p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&lt;INPUT TYPE="checkbox" NAME="computing"</a:t>
            </a:r>
          </a:p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VALUE="yes"&gt;Computers &amp; Internet&lt;BR&gt;</a:t>
            </a:r>
          </a:p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&lt;INPUT TYPE="checkbox" NAME="science"</a:t>
            </a:r>
          </a:p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VALUE="yes"&gt;Science&lt;BR&gt;</a:t>
            </a:r>
          </a:p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&lt;INPUT TYPE="checkbox" NAME="sports"</a:t>
            </a:r>
          </a:p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VALUE="yes"&gt;Sports&lt;BR&gt;</a:t>
            </a:r>
            <a:endParaRPr lang="en-HK" sz="135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444086" y="2478339"/>
            <a:ext cx="4414346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200" dirty="0"/>
              <a:t>&lt;INPUT&gt; is the tag used for most of the form</a:t>
            </a:r>
          </a:p>
          <a:p>
            <a:r>
              <a:rPr lang="en-US" altLang="zh-CN" sz="1200" dirty="0"/>
              <a:t>objects. type="checkbox" sets the object to a</a:t>
            </a:r>
          </a:p>
          <a:p>
            <a:r>
              <a:rPr lang="en-US" altLang="zh-CN" sz="1200" dirty="0"/>
              <a:t>checkbox. name is used to supply a name to the</a:t>
            </a:r>
          </a:p>
          <a:p>
            <a:r>
              <a:rPr lang="en-US" altLang="zh-CN" sz="1200" dirty="0"/>
              <a:t>checkbox.</a:t>
            </a:r>
          </a:p>
          <a:p>
            <a:r>
              <a:rPr lang="en-US" altLang="zh-CN" sz="1200" dirty="0"/>
              <a:t>VALUE="yes" if the item is checked, this is the value that will be associated with the </a:t>
            </a:r>
            <a:r>
              <a:rPr lang="en-US" altLang="zh-CN" sz="1200" dirty="0" smtClean="0"/>
              <a:t>name when </a:t>
            </a:r>
            <a:r>
              <a:rPr lang="en-US" altLang="zh-CN" sz="1200" dirty="0"/>
              <a:t>the form is submitted for processing. Hence, in the </a:t>
            </a:r>
            <a:r>
              <a:rPr lang="en-US" altLang="zh-CN" sz="1200" dirty="0" smtClean="0"/>
              <a:t>example</a:t>
            </a:r>
            <a:r>
              <a:rPr lang="en-US" altLang="zh-CN" sz="1200" dirty="0"/>
              <a:t>, yes will be associated</a:t>
            </a:r>
          </a:p>
          <a:p>
            <a:r>
              <a:rPr lang="en-US" altLang="zh-CN" sz="1200" dirty="0"/>
              <a:t>with each of the name values movies, science and sports.</a:t>
            </a:r>
            <a:endParaRPr lang="zh-CN" altLang="en-US" sz="1200" dirty="0"/>
          </a:p>
        </p:txBody>
      </p:sp>
    </p:spTree>
    <p:extLst>
      <p:ext uri="{BB962C8B-B14F-4D97-AF65-F5344CB8AC3E}">
        <p14:creationId xmlns:p14="http://schemas.microsoft.com/office/powerpoint/2010/main" val="11768403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Forms - Submit </a:t>
            </a:r>
            <a:r>
              <a:rPr lang="en-US" altLang="zh-CN" dirty="0"/>
              <a:t>and Reset Buttons</a:t>
            </a:r>
            <a:endParaRPr lang="en-H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460768" y="1960954"/>
            <a:ext cx="8106515" cy="34163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HK" dirty="0"/>
              <a:t>&lt;FORM METHOD="post" ACTION="mailto:pizza-orders@medpizzas.com.eg"&gt;</a:t>
            </a:r>
          </a:p>
          <a:p>
            <a:r>
              <a:rPr lang="en-HK" dirty="0"/>
              <a:t>&lt;P&gt;We only use fresh ingredients and some pizza toppings</a:t>
            </a:r>
          </a:p>
          <a:p>
            <a:r>
              <a:rPr lang="en-HK" dirty="0"/>
              <a:t>may not be available. We will supply three from your list.&lt;/P&gt; </a:t>
            </a:r>
            <a:endParaRPr lang="en-HK" dirty="0" smtClean="0"/>
          </a:p>
          <a:p>
            <a:r>
              <a:rPr lang="en-HK" dirty="0" smtClean="0"/>
              <a:t>Please list </a:t>
            </a:r>
            <a:r>
              <a:rPr lang="en-HK" dirty="0"/>
              <a:t>preferred toppings in order</a:t>
            </a:r>
            <a:r>
              <a:rPr lang="en-HK" dirty="0" smtClean="0"/>
              <a:t>: &lt;</a:t>
            </a:r>
            <a:r>
              <a:rPr lang="en-HK" dirty="0"/>
              <a:t>BR&gt;</a:t>
            </a:r>
          </a:p>
          <a:p>
            <a:r>
              <a:rPr lang="en-HK" dirty="0"/>
              <a:t>&lt;TEXTAREA NAME="toppings" COLS="40" ROWS="5" WRAP=OFF&gt;&lt;/TEXTAREA&gt;&lt;</a:t>
            </a:r>
            <a:r>
              <a:rPr lang="en-HK" dirty="0" err="1"/>
              <a:t>br</a:t>
            </a:r>
            <a:r>
              <a:rPr lang="en-HK" dirty="0"/>
              <a:t>&gt;</a:t>
            </a:r>
          </a:p>
          <a:p>
            <a:r>
              <a:rPr lang="en-HK" dirty="0"/>
              <a:t>Pizza size:&lt;BR&gt;</a:t>
            </a:r>
          </a:p>
          <a:p>
            <a:r>
              <a:rPr lang="en-HK" dirty="0"/>
              <a:t>&lt;INPUT TYPE="radio" NAME="</a:t>
            </a:r>
            <a:r>
              <a:rPr lang="en-HK" dirty="0" err="1"/>
              <a:t>pizza_size</a:t>
            </a:r>
            <a:r>
              <a:rPr lang="en-HK" dirty="0"/>
              <a:t>" VALUE="small"&gt;Small&lt;BR&gt;</a:t>
            </a:r>
          </a:p>
          <a:p>
            <a:r>
              <a:rPr lang="en-HK" dirty="0"/>
              <a:t>&lt;INPUT TYPE="radio" NAME="</a:t>
            </a:r>
            <a:r>
              <a:rPr lang="en-HK" dirty="0" err="1"/>
              <a:t>pizza_size</a:t>
            </a:r>
            <a:r>
              <a:rPr lang="en-HK" dirty="0"/>
              <a:t>" VALUE="medium" CHECKED&gt;Medium&lt;BR&gt;</a:t>
            </a:r>
          </a:p>
          <a:p>
            <a:r>
              <a:rPr lang="en-HK" dirty="0"/>
              <a:t>&lt;INPUT TYPE="radio" NAME="</a:t>
            </a:r>
            <a:r>
              <a:rPr lang="en-HK" dirty="0" err="1"/>
              <a:t>pizza_size</a:t>
            </a:r>
            <a:r>
              <a:rPr lang="en-HK" dirty="0"/>
              <a:t>" VALUE="large"&gt;Large&lt;BR&gt;</a:t>
            </a:r>
          </a:p>
          <a:p>
            <a:r>
              <a:rPr lang="en-HK" dirty="0"/>
              <a:t>&lt;INPUT TYPE="submit" VALUE="Order the pizza"&gt;</a:t>
            </a:r>
          </a:p>
          <a:p>
            <a:r>
              <a:rPr lang="en-HK" dirty="0"/>
              <a:t>&lt;INPUT TYPE="reset" VALUE="Clear to restart"&gt;</a:t>
            </a:r>
          </a:p>
          <a:p>
            <a:r>
              <a:rPr lang="en-HK" dirty="0"/>
              <a:t>&lt;/FORM&gt;</a:t>
            </a:r>
          </a:p>
        </p:txBody>
      </p:sp>
    </p:spTree>
    <p:extLst>
      <p:ext uri="{BB962C8B-B14F-4D97-AF65-F5344CB8AC3E}">
        <p14:creationId xmlns:p14="http://schemas.microsoft.com/office/powerpoint/2010/main" val="11432527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Forms - Submit </a:t>
            </a:r>
            <a:r>
              <a:rPr lang="en-US" altLang="zh-CN" dirty="0"/>
              <a:t>and Reset Buttons</a:t>
            </a:r>
            <a:endParaRPr lang="en-H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460768" y="1960954"/>
            <a:ext cx="8106515" cy="34163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HK" dirty="0"/>
              <a:t>&lt;FORM METHOD="post" ACTION="mailto:pizza-orders@medpizzas.com.eg"&gt;</a:t>
            </a:r>
          </a:p>
          <a:p>
            <a:r>
              <a:rPr lang="en-HK" dirty="0"/>
              <a:t>&lt;P&gt;We only use fresh ingredients and some pizza toppings</a:t>
            </a:r>
          </a:p>
          <a:p>
            <a:r>
              <a:rPr lang="en-HK" dirty="0"/>
              <a:t>may not be available. We will supply three from your list.&lt;/P&gt; Please</a:t>
            </a:r>
          </a:p>
          <a:p>
            <a:r>
              <a:rPr lang="en-HK" dirty="0"/>
              <a:t>list preferred toppings in order:&lt;BR&gt;</a:t>
            </a:r>
          </a:p>
          <a:p>
            <a:r>
              <a:rPr lang="en-HK" dirty="0"/>
              <a:t>&lt;TEXTAREA NAME="toppings" COLS="40" ROWS="5" WRAP=OFF&gt;&lt;/TEXTAREA&gt;&lt;</a:t>
            </a:r>
            <a:r>
              <a:rPr lang="en-HK" dirty="0" err="1"/>
              <a:t>br</a:t>
            </a:r>
            <a:r>
              <a:rPr lang="en-HK" dirty="0"/>
              <a:t>&gt;</a:t>
            </a:r>
          </a:p>
          <a:p>
            <a:r>
              <a:rPr lang="en-HK" dirty="0"/>
              <a:t>Pizza size:&lt;BR&gt;</a:t>
            </a:r>
          </a:p>
          <a:p>
            <a:r>
              <a:rPr lang="en-HK" dirty="0"/>
              <a:t>&lt;INPUT TYPE="radio" NAME="</a:t>
            </a:r>
            <a:r>
              <a:rPr lang="en-HK" dirty="0" err="1"/>
              <a:t>pizza_size</a:t>
            </a:r>
            <a:r>
              <a:rPr lang="en-HK" dirty="0"/>
              <a:t>" VALUE="small"&gt;Small&lt;BR&gt;</a:t>
            </a:r>
          </a:p>
          <a:p>
            <a:r>
              <a:rPr lang="en-HK" dirty="0"/>
              <a:t>&lt;INPUT TYPE="radio" NAME="</a:t>
            </a:r>
            <a:r>
              <a:rPr lang="en-HK" dirty="0" err="1"/>
              <a:t>pizza_size</a:t>
            </a:r>
            <a:r>
              <a:rPr lang="en-HK" dirty="0"/>
              <a:t>" VALUE="medium" CHECKED&gt;Medium&lt;BR&gt;</a:t>
            </a:r>
          </a:p>
          <a:p>
            <a:r>
              <a:rPr lang="en-HK" dirty="0"/>
              <a:t>&lt;INPUT TYPE="radio" NAME="</a:t>
            </a:r>
            <a:r>
              <a:rPr lang="en-HK" dirty="0" err="1"/>
              <a:t>pizza_size</a:t>
            </a:r>
            <a:r>
              <a:rPr lang="en-HK" dirty="0"/>
              <a:t>" VALUE="large"&gt;Large&lt;BR&gt;</a:t>
            </a:r>
          </a:p>
          <a:p>
            <a:r>
              <a:rPr lang="en-HK" dirty="0"/>
              <a:t>&lt;INPUT TYPE="submit" VALUE="Order the pizza"&gt;</a:t>
            </a:r>
          </a:p>
          <a:p>
            <a:r>
              <a:rPr lang="en-HK" dirty="0"/>
              <a:t>&lt;INPUT TYPE="reset" VALUE="Clear to restart"&gt;</a:t>
            </a:r>
          </a:p>
          <a:p>
            <a:r>
              <a:rPr lang="en-HK" dirty="0"/>
              <a:t>&lt;/FORM&gt;</a:t>
            </a:r>
          </a:p>
        </p:txBody>
      </p:sp>
    </p:spTree>
    <p:extLst>
      <p:ext uri="{BB962C8B-B14F-4D97-AF65-F5344CB8AC3E}">
        <p14:creationId xmlns:p14="http://schemas.microsoft.com/office/powerpoint/2010/main" val="39169528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Forms</a:t>
            </a:r>
            <a:endParaRPr lang="en-H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971483" y="1831124"/>
            <a:ext cx="7467109" cy="181588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Address 1: &lt;INPUT TYPE="text" NAME="address1" SIZE="40</a:t>
            </a:r>
            <a:r>
              <a:rPr lang="en-US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"&gt;</a:t>
            </a:r>
          </a:p>
          <a:p>
            <a:r>
              <a:rPr lang="en-US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BR&gt; </a:t>
            </a:r>
            <a:endParaRPr lang="en-US" sz="16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Address 2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: &lt;INPUT TYPE="text" NAME="address2" SIZE="40</a:t>
            </a:r>
            <a:r>
              <a:rPr lang="en-US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"&gt;</a:t>
            </a:r>
          </a:p>
          <a:p>
            <a:r>
              <a:rPr lang="en-US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BR&gt; </a:t>
            </a:r>
            <a:endParaRPr lang="en-US" sz="16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Address 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3</a:t>
            </a:r>
            <a:r>
              <a:rPr lang="en-US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:&lt;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INPUT TYPE="text" NAME="address3" SIZE="40</a:t>
            </a:r>
            <a:r>
              <a:rPr lang="en-US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"&gt;</a:t>
            </a:r>
          </a:p>
          <a:p>
            <a:r>
              <a:rPr lang="en-US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BR&gt; </a:t>
            </a:r>
            <a:endParaRPr lang="en-US" sz="16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Postcode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: &lt;</a:t>
            </a:r>
            <a:r>
              <a:rPr lang="en-US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INPUT TYPE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="text" NAME="postcode" SIZE="20"&gt;&lt;BR&gt;</a:t>
            </a:r>
          </a:p>
        </p:txBody>
      </p:sp>
    </p:spTree>
    <p:extLst>
      <p:ext uri="{BB962C8B-B14F-4D97-AF65-F5344CB8AC3E}">
        <p14:creationId xmlns:p14="http://schemas.microsoft.com/office/powerpoint/2010/main" val="25307499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Forms</a:t>
            </a:r>
            <a:endParaRPr lang="en-H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386575" y="1861995"/>
            <a:ext cx="8183559" cy="397031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&lt;TR&gt;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&lt;TDALIGN="right"&gt;What is your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favourite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World Wide Web site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and why?&lt;/TD&gt;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&lt;TD&gt;&lt;TEXTAREA name="textfield4" cols="40" rows="4"&gt;give details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here&lt;/TEXTAREA&gt;&lt;/TD&gt;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&lt;/TR&gt;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&lt;TR&gt;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&lt;TDALIGN="right"&gt;What is your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favourite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USENET discussion group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and why?&lt;/TD&gt;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&lt;TD&gt;&lt;TEXTAREA name="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textarea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" cols="40" rows="4"&gt;give details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here&lt;/TEXTAREA&gt;&lt;/TD&gt;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&lt;/TR&gt;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&lt;TR&gt;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&lt;TDALIGN="right"&gt;What it the best designed website you have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come across and why?&lt;/TD&gt;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&lt;TD&gt;&lt;TEXTAREA name="textarea2" cols="40" rows="4"&gt;give details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here&lt;/TEXTAREA&gt;&lt;/TD&gt;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&lt;/TR&gt;</a:t>
            </a:r>
            <a:endParaRPr lang="en-HK" sz="1400" dirty="0"/>
          </a:p>
        </p:txBody>
      </p:sp>
    </p:spTree>
    <p:extLst>
      <p:ext uri="{BB962C8B-B14F-4D97-AF65-F5344CB8AC3E}">
        <p14:creationId xmlns:p14="http://schemas.microsoft.com/office/powerpoint/2010/main" val="41814861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Forms – Drop-down Menu</a:t>
            </a:r>
            <a:endParaRPr lang="en-H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386575" y="1861995"/>
            <a:ext cx="3397149" cy="427809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&lt;FORM METHOD="post" ACTION=mailto:name@xyz.ac.uk&gt;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Title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&lt;SELECT NAME="title"&gt;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&lt;OPTION&gt;Select title&lt;/OPTION&gt;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&lt;OPTION&gt;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Mr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&lt;/OPTION&gt;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&lt;OPTION&gt;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Mrs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&lt;/OPTION&gt;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&lt;OPTION&gt;Miss&lt;/OPTION&gt;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&lt;OPTION&gt;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Ms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&lt;/OPTION&gt;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&lt;OPTION&gt;</a:t>
            </a:r>
            <a:r>
              <a:rPr lang="en-US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Dr</a:t>
            </a:r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&lt;/OPTION&gt;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&lt;/SELECT&gt;&lt;BR&gt;&lt;BR&gt;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Age: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&lt;SELECT NAME="age"&gt;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&lt;OPTION&gt;Select Age&lt;/OPTION&gt;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&lt;OPTION&gt;-19&lt;/OPTION&gt;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&lt;OPTION&gt;20-29&lt;/OPTION&gt;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&lt;OPTION&gt;30-39&lt;/OPTION&gt;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&lt;OPTION&gt;40-49&lt;/OPTION&gt;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&lt;OPTION&gt;50-59&lt;/OPTION&gt;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&lt;OPTION&gt;60+&lt;/OPTION&gt;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&lt;/SELECT&gt;&lt;BR&gt;&lt;BR&gt;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Gender: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&lt;SELECT NAME="gender"&gt;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&lt;OPTION&gt;Select Gender&lt;/OPTION&gt;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&lt;OPTION&gt;Male&lt;/OPTION&gt;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&lt;OPTION&gt;Female&lt;/OPTION&gt;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&lt;/SELECT&gt;&lt;BR&gt;&lt;BR&gt;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Status: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&lt;SELECT NAME="status"&gt;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&lt;OPTION&gt;Select Status&lt;/OPTION&gt;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&lt;OPTION&gt;Employed&lt;/OPTION&gt;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&lt;OPTION&gt;Unemployed&lt;/OPTION&gt;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&lt;OPTION&gt;Student&lt;/OPTION&gt;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&lt;/SELECT&gt;&lt;BR&gt;&lt;BR&gt;</a:t>
            </a:r>
          </a:p>
          <a:p>
            <a:r>
              <a:rPr lang="en-US" sz="800" dirty="0">
                <a:latin typeface="Courier New" panose="02070309020205020404" pitchFamily="49" charset="0"/>
                <a:cs typeface="Courier New" panose="02070309020205020404" pitchFamily="49" charset="0"/>
              </a:rPr>
              <a:t>&lt;/FORM&gt;</a:t>
            </a:r>
            <a:endParaRPr lang="en-HK" sz="800" dirty="0"/>
          </a:p>
        </p:txBody>
      </p:sp>
    </p:spTree>
    <p:extLst>
      <p:ext uri="{BB962C8B-B14F-4D97-AF65-F5344CB8AC3E}">
        <p14:creationId xmlns:p14="http://schemas.microsoft.com/office/powerpoint/2010/main" val="269019968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660</TotalTime>
  <Words>2274</Words>
  <Application>Microsoft Office PowerPoint</Application>
  <PresentationFormat>全屏显示(4:3)</PresentationFormat>
  <Paragraphs>297</Paragraphs>
  <Slides>15</Slides>
  <Notes>1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16" baseType="lpstr">
      <vt:lpstr>Retrospect</vt:lpstr>
      <vt:lpstr>Advanced Techniques about HTML (Tables &amp; Forms)</vt:lpstr>
      <vt:lpstr>HTML Table</vt:lpstr>
      <vt:lpstr>Table</vt:lpstr>
      <vt:lpstr>HTML Color Table</vt:lpstr>
      <vt:lpstr>Using Tables in Page Design </vt:lpstr>
      <vt:lpstr>Using Tables in Page Design </vt:lpstr>
      <vt:lpstr>Using Tables in Page Design </vt:lpstr>
      <vt:lpstr>Forms</vt:lpstr>
      <vt:lpstr>Forms-Radio Buttons </vt:lpstr>
      <vt:lpstr>Forms-Check Box</vt:lpstr>
      <vt:lpstr>Forms - Submit and Reset Buttons</vt:lpstr>
      <vt:lpstr>Forms - Submit and Reset Buttons</vt:lpstr>
      <vt:lpstr>Forms</vt:lpstr>
      <vt:lpstr>Forms</vt:lpstr>
      <vt:lpstr>Forms – Drop-down Menu</vt:lpstr>
    </vt:vector>
  </TitlesOfParts>
  <Company>Lingnan University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html</dc:title>
  <dc:creator>HUI Wan Yee Wendy</dc:creator>
  <cp:lastModifiedBy>huawel</cp:lastModifiedBy>
  <cp:revision>65</cp:revision>
  <dcterms:created xsi:type="dcterms:W3CDTF">2018-09-05T04:18:36Z</dcterms:created>
  <dcterms:modified xsi:type="dcterms:W3CDTF">2021-02-03T06:29:17Z</dcterms:modified>
</cp:coreProperties>
</file>