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98" r:id="rId6"/>
    <p:sldId id="299" r:id="rId7"/>
    <p:sldId id="343" r:id="rId8"/>
    <p:sldId id="342" r:id="rId9"/>
    <p:sldId id="301" r:id="rId10"/>
    <p:sldId id="351" r:id="rId11"/>
    <p:sldId id="302" r:id="rId12"/>
    <p:sldId id="303" r:id="rId13"/>
    <p:sldId id="304" r:id="rId14"/>
    <p:sldId id="305" r:id="rId15"/>
    <p:sldId id="267" r:id="rId16"/>
    <p:sldId id="344" r:id="rId17"/>
    <p:sldId id="268" r:id="rId18"/>
    <p:sldId id="269" r:id="rId19"/>
    <p:sldId id="270" r:id="rId20"/>
    <p:sldId id="271" r:id="rId21"/>
    <p:sldId id="272" r:id="rId22"/>
    <p:sldId id="276" r:id="rId23"/>
    <p:sldId id="277" r:id="rId24"/>
    <p:sldId id="278" r:id="rId25"/>
    <p:sldId id="279" r:id="rId26"/>
    <p:sldId id="345" r:id="rId27"/>
    <p:sldId id="346" r:id="rId28"/>
    <p:sldId id="324" r:id="rId29"/>
    <p:sldId id="325" r:id="rId30"/>
    <p:sldId id="347" r:id="rId31"/>
    <p:sldId id="327" r:id="rId32"/>
    <p:sldId id="328" r:id="rId33"/>
    <p:sldId id="280" r:id="rId34"/>
    <p:sldId id="281" r:id="rId35"/>
    <p:sldId id="282" r:id="rId36"/>
    <p:sldId id="340" r:id="rId37"/>
    <p:sldId id="283" r:id="rId38"/>
    <p:sldId id="284" r:id="rId39"/>
    <p:sldId id="285" r:id="rId40"/>
    <p:sldId id="286" r:id="rId41"/>
    <p:sldId id="287" r:id="rId42"/>
    <p:sldId id="288" r:id="rId43"/>
    <p:sldId id="349" r:id="rId44"/>
    <p:sldId id="289" r:id="rId45"/>
    <p:sldId id="348" r:id="rId46"/>
    <p:sldId id="330" r:id="rId47"/>
    <p:sldId id="290" r:id="rId48"/>
    <p:sldId id="291" r:id="rId49"/>
    <p:sldId id="293" r:id="rId50"/>
    <p:sldId id="294" r:id="rId51"/>
    <p:sldId id="296" r:id="rId52"/>
    <p:sldId id="350" r:id="rId53"/>
    <p:sldId id="297" r:id="rId54"/>
    <p:sldId id="331" r:id="rId55"/>
    <p:sldId id="332" r:id="rId56"/>
    <p:sldId id="333" r:id="rId57"/>
    <p:sldId id="334" r:id="rId58"/>
    <p:sldId id="335" r:id="rId5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9" autoAdjust="0"/>
    <p:restoredTop sz="94710" autoAdjust="0"/>
  </p:normalViewPr>
  <p:slideViewPr>
    <p:cSldViewPr>
      <p:cViewPr varScale="1">
        <p:scale>
          <a:sx n="115" d="100"/>
          <a:sy n="115" d="100"/>
        </p:scale>
        <p:origin x="375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C5BF142-A565-53F7-38BF-783A93FDF4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C11476-A8E2-D380-6A07-DCFF68A547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36C0486-CABD-42DB-A998-4601726A80C1}" type="datetimeFigureOut">
              <a:rPr lang="en-US"/>
              <a:pPr>
                <a:defRPr/>
              </a:pPr>
              <a:t>9/16/2025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7A5D885-2200-8283-B589-88526FA60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64AC8FA-7BC3-7F95-B8C9-396023525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FF4C2-E26C-908F-99A0-358B51A231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86EEA1-0A21-1A90-E27C-11380EA7F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05A4CE4-9362-4B26-AA97-5A32DCE5882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1171A107-FA9D-DED4-AF52-60D3B44BB3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25A2F0B5-F0DC-C123-A6CC-D45207C237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转意字符 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8D4F0E61-A92A-E804-FB0B-FA0352188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69B3E3-D991-4EBE-9255-2BC74DF7266E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51A314BA-D353-01D4-4D85-0EAA2D0569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6BC4D627-70AB-BB73-5F0E-BA2CE401B4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Tuple variable</a:t>
            </a: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40377352-422D-3A9A-A519-5D82B0780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95AEA7-8382-436F-AA1C-9C570E1266BB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9192DE51-B771-1C13-6CBA-AC11FB109C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501FC47D-DA2F-A0B5-D04F-2B537D4B6A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学生做</a:t>
            </a: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1B710F10-33E1-B3BD-0DA9-DD2B0051C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16FF31-9A73-4C85-8685-6E7F2E26539F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F613D468-6994-17F0-7F3D-530DE6CF9A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0FE43231-343A-BD74-F3A7-53A86AE8E1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（）</a:t>
            </a:r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F21B385-7E2D-3A52-6BD0-134D5D2A9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B5908A-3418-432C-9ECE-FFDE2A49958D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A4357388-DA85-77E8-9BDC-9C1CB5D222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34FB5969-D77A-380B-134F-39A4E9BEAB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Test in SQL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501F84A8-A683-1852-73A0-43F311FE7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502145-E6F7-414F-98EC-F830EDD881B6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0093D672-DF47-7644-6A71-80CFEC681D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9842EDA4-B984-A6D2-FD6E-51DD839991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学生做，</a:t>
            </a:r>
            <a:r>
              <a:rPr lang="en-US" altLang="zh-CN"/>
              <a:t>nested</a:t>
            </a: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809A5CA7-FD85-6F13-49A0-83150F52C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502823-4075-487D-9CE5-E2F4426E8406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55BD8A01-4A94-FBD6-3DCB-DAF7466160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E964903A-49EB-EFB0-3C57-9A0C8E3537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学生做，</a:t>
            </a:r>
            <a:r>
              <a:rPr lang="en-US" altLang="zh-CN"/>
              <a:t>JOIN</a:t>
            </a:r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7C6FACE3-E530-5178-550A-EE9A27312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CFEA29-4214-4B73-BAAB-E9DC16F06186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AD5864CD-4ABE-E376-DCAC-4C1248AB35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0374E1DA-534F-5071-3380-E32401C9E1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内部查询优先</a:t>
            </a:r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4556A960-B80D-7039-F785-01F703497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450DAB-36D7-4CE7-B8D7-99E09B96C80E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37C346BB-73DB-5C83-9FB0-C8EBD4956E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09E36E12-5CF6-896E-4AA0-B5D5574B20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JOIN, nested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1D22424A-3BB6-776A-A056-E13D736D8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A1F3E4-DED6-4A4D-98BB-3994796B5CF9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F6B77F5B-E3D4-403B-D647-E03CB6340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D76351-BC45-4851-BC4D-B812B0AED65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60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20CD35BF-DC8D-9370-BC7A-7D4447D65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0EB2D6-CBB7-46DC-8E99-FF47F93D3DD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972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DC4F0B2A-7A7F-B328-F9B1-819C85D4A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9F7EB6-A5BB-4861-9FCC-952DCEA755A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79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A3F4CE4-8098-B97C-CE39-C2A36E5A8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92F51E-92D0-4A7A-B067-5932813D90B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77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757A2F65-D2C0-28D8-10F8-5982A69D3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070E3-06F0-4AD8-9565-AEBD9D8DB4F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61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6B3F94-0990-BAD2-BBCC-FC50973F9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4976F7-BCFD-4231-B560-E19E17A351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869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13982E74-07D5-07A2-5300-4525A9973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1A6AB8-6710-43E1-AEE0-5BB025CF41C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1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62CC84A-36B0-DDC9-DF82-716796ED0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49918-DDFD-4298-A0CD-FFC2D71B91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04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5A0CD30-B801-535B-854D-AB10C2F8F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1091AD-B7B6-45B0-8245-F49F1BC52E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302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A22ACAC8-3EA6-232A-2CB2-3A606C53D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3787A8-EBC0-486B-91BC-0AF9DCC211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485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4EF5CF53-1BD5-0D8A-E5EE-9F9731684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467A12-56D0-4F68-A338-BFC695C9F6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58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Box 17">
            <a:extLst>
              <a:ext uri="{FF2B5EF4-FFF2-40B4-BE49-F238E27FC236}">
                <a16:creationId xmlns:a16="http://schemas.microsoft.com/office/drawing/2014/main" id="{A5E586F7-B8F4-B995-EC8A-667EC2D2F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553200"/>
            <a:ext cx="152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000">
                <a:latin typeface="Verdana" pitchFamily="34" charset="0"/>
              </a:rPr>
              <a:t>zhangd@szu.edu.cn</a:t>
            </a:r>
            <a:endParaRPr lang="en-US" altLang="zh-CN" sz="1000" dirty="0">
              <a:latin typeface="Verdana" pitchFamily="34" charset="0"/>
            </a:endParaRPr>
          </a:p>
        </p:txBody>
      </p:sp>
      <p:sp>
        <p:nvSpPr>
          <p:cNvPr id="1027" name="TextBox 18">
            <a:extLst>
              <a:ext uri="{FF2B5EF4-FFF2-40B4-BE49-F238E27FC236}">
                <a16:creationId xmlns:a16="http://schemas.microsoft.com/office/drawing/2014/main" id="{10409863-E5B2-7C7B-D8B6-313F1A196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553200"/>
            <a:ext cx="1752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D1E7C9A7-077A-404E-BE39-D35927F3ECAC}" type="datetime5">
              <a:rPr lang="zh-CN" altLang="en-US" sz="1000" smtClean="0">
                <a:latin typeface="Verdana" pitchFamily="34" charset="0"/>
              </a:rPr>
              <a:pPr eaLnBrk="1" hangingPunct="1">
                <a:defRPr/>
              </a:pPr>
              <a:t>2025/9/16</a:t>
            </a:fld>
            <a:endParaRPr lang="zh-CN" altLang="en-US" sz="1000" dirty="0">
              <a:latin typeface="Verdana" pitchFamily="34" charset="0"/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CAECD876-49BB-548A-0604-68405C4FD95C}"/>
              </a:ext>
            </a:extLst>
          </p:cNvPr>
          <p:cNvSpPr txBox="1">
            <a:spLocks/>
          </p:cNvSpPr>
          <p:nvPr/>
        </p:nvSpPr>
        <p:spPr bwMode="auto">
          <a:xfrm>
            <a:off x="66294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/>
            </a:lvl1pPr>
          </a:lstStyle>
          <a:p>
            <a:pPr algn="r" eaLnBrk="1" hangingPunct="1">
              <a:defRPr/>
            </a:pPr>
            <a:endParaRPr lang="en-US" altLang="zh-CN" sz="1200" dirty="0">
              <a:latin typeface="Arial Black" pitchFamily="34" charset="0"/>
              <a:ea typeface="宋体" charset="-122"/>
            </a:endParaRPr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BA3AA106-A1E7-8946-D968-EFE67733C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标题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AD580CB0-B558-061D-A601-1557DA71E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61667C4B-E77E-2B33-8F03-B50DD2342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553200"/>
            <a:ext cx="21336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E443CA25-76FF-4A3A-8DB4-557787DFF18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4CCD4CE7-63A6-951F-FF68-8193F1D6D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SQL -</a:t>
            </a:r>
            <a:r>
              <a:rPr lang="en-US" altLang="zh-CN" sz="4000" b="1"/>
              <a:t>Some interesting facts about SQL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5704FAAD-2B95-9BEB-36AA-187CB9C1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229600" cy="4648200"/>
          </a:xfrm>
        </p:spPr>
        <p:txBody>
          <a:bodyPr/>
          <a:lstStyle/>
          <a:p>
            <a:r>
              <a:rPr lang="en-US" altLang="zh-CN" sz="3000">
                <a:ea typeface="宋体" panose="02010600030101010101" pitchFamily="2" charset="-122"/>
              </a:rPr>
              <a:t>Full name of SQL --- Structural Query Language</a:t>
            </a:r>
          </a:p>
          <a:p>
            <a:r>
              <a:rPr lang="en-US" altLang="zh-CN" sz="3000">
                <a:ea typeface="宋体" panose="02010600030101010101" pitchFamily="2" charset="-122"/>
              </a:rPr>
              <a:t>Old name --- SEQUEL (Structural English QUEry Language)</a:t>
            </a:r>
          </a:p>
          <a:p>
            <a:r>
              <a:rPr lang="en-US" altLang="zh-CN" sz="3000">
                <a:ea typeface="宋体" panose="02010600030101010101" pitchFamily="2" charset="-122"/>
              </a:rPr>
              <a:t>First developed at IBM's San Jose (now Almaden) Research Lab. in 1974.</a:t>
            </a:r>
          </a:p>
          <a:p>
            <a:r>
              <a:rPr lang="en-US" altLang="zh-CN" sz="3000">
                <a:ea typeface="宋体" panose="02010600030101010101" pitchFamily="2" charset="-122"/>
              </a:rPr>
              <a:t>Over 100 SQL-based products in the market.</a:t>
            </a:r>
          </a:p>
          <a:p>
            <a:r>
              <a:rPr lang="en-US" altLang="zh-CN" sz="3000">
                <a:ea typeface="宋体" panose="02010600030101010101" pitchFamily="2" charset="-122"/>
              </a:rPr>
              <a:t>E.g.: Oracle, Sybase, Ingres, Informix, DB2.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08A6083-617F-E3AE-D396-31E1598D9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86A99CF-F036-ADEF-89F4-3E408009E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first SQL standard (SQL-86) was published in 1986 by ANSI. (about 100 pages).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SQL1 was also adopted by ISO in 1987.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A major revision made in 1989 (SQL-89).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second SQL standard (SQL2) was announced in 1992. It has about 600 pages. 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third SQL standard (SQL3) is under discussion. Expected release time: 20??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F08C6B-0FFE-ECA4-F561-E71536341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Major Components of SQL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14A1625-A399-9922-8D1F-C83A342DF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DDL --- Data Definition Language used to define tables.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DML --- Data Manipulation Language (Interactive DML, ISQL) used to manipulate data directly.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Embedded DML (Embedded SQL) which supports the manipulation of data from a program in a high-level programming language.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View Definition used to create different ways to look at a database.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Authorization (DCL).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Integrity Constraints which defines various constraints on the data.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Transaction Definition which defines which group of commands should be treated as an atomic command.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E4D0DF-8B53-2BF1-A622-428394295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Domain Types in DB2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06849E7-9DB2-D7CF-D64B-1FCEF86FA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CHAR(n) --- fixed length character string of length n, n &lt; 254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varchar(n) --- variable length character string of length up to n, n &lt;= 4000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DECIMAL(n,m) --- float point of n digits, of which m digits are after the decimal point,      n &gt;= m &gt;= 0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REAL --- single precision floating point Values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Range: -3.402E+38 ~-1.175E-37 OR 1.175E-37 ~-3.402E+38 OR 0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Integer --- integer of up to 10 digits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Range: -2147483648 ~2147483647 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DATE--- DD-MM-YY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TIME-HH.MM.SS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TIMESTAMP: DD-MM-YY-HH.MM.SS.000000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34BF35-00EA-C047-660A-0FF5D5076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z="4000" b="1"/>
              <a:t>THE DATA DEFINITION LANGUAGE</a:t>
            </a:r>
            <a:r>
              <a:rPr lang="en-GB" altLang="zh-CN" sz="4000"/>
              <a:t> (DDL) in SQL</a:t>
            </a:r>
            <a:endParaRPr lang="en-US" altLang="zh-CN" sz="40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96E6B43-BBAD-05D5-63B7-6EC740FD3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CREATE	</a:t>
            </a:r>
          </a:p>
          <a:p>
            <a:pPr lvl="1"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used to create new objects (tables, views, etc.) in the database</a:t>
            </a:r>
          </a:p>
          <a:p>
            <a:pPr>
              <a:lnSpc>
                <a:spcPct val="9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ALTER	</a:t>
            </a:r>
          </a:p>
          <a:p>
            <a:pPr lvl="1"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used to change the structure of an existing object</a:t>
            </a:r>
          </a:p>
          <a:p>
            <a:pPr>
              <a:lnSpc>
                <a:spcPct val="9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DROP</a:t>
            </a:r>
          </a:p>
          <a:p>
            <a:pPr lvl="1"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used to remove the object from the database, (all its data plus any reference to it in the data dictionary)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BF4522D-7A17-4434-E8BF-81DA5F36B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Create table command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90CCAD3-310B-C21C-2E12-1123D3731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CREATE TABLE emp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(empno	NUMBER	NOT NULL,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ename	CHAR(10) 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job		CHAR(9),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mgr		NUMBER (4),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hiredate	DATE 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sal		NUMBER(10,2),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comm	NUMBER(9,0) ,</a:t>
            </a:r>
          </a:p>
          <a:p>
            <a:pPr>
              <a:lnSpc>
                <a:spcPct val="80000"/>
              </a:lnSpc>
            </a:pPr>
            <a:r>
              <a:rPr lang="en-GB" altLang="zh-CN" sz="2800" b="1">
                <a:ea typeface="宋体" panose="02010600030101010101" pitchFamily="2" charset="-122"/>
              </a:rPr>
              <a:t>	deptno  	NUMBER(4) NOT NULL);</a:t>
            </a:r>
            <a:endParaRPr lang="en-US" altLang="zh-CN" sz="28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79769F4-9262-9016-06A3-776E75AB2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Integrity Constraints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5326912-3B55-0427-5020-5AE9FB690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Integrity constraints are rules or regulations imposed on data to ensure their integrity and correctness.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Constraints on individual columns.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Constraints on a table.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Constraints on multiple tables.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type: values must be of the given type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not null: no null value can be taken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unique: no identical non-null values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primary key: no null value and no identical values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references to another attribute S(B): any non-null value must be currently under S(B).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191627F-0251-F414-9E27-A66F544BA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Some constrains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1329D67-EC04-9A83-B922-BADF8A11B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537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CREATE TABLE emp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(empno	NUMBER	NOT NULL primary key,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ename          CHAR(10) NOT NULL CHECK (ename = UPPER (ename))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job		CHAR(9),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mgr	NUMBER REFERENCES emp(empno),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hiredate	DATE CHECK (hiredate &lt;=SYSDATE),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sal		NUMBER(10,2)CHECK sal &gt; 500,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comm		NUMBER(9,0) DEFAULT NULL,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deptno  	NUMBER(2) NOT NULL REFERENCES dept(deptno));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85E926C-44E4-1DAD-F360-6FE9C140A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/>
              <a:t>ALTER  the table structure</a:t>
            </a:r>
            <a:r>
              <a:rPr lang="en-GB" altLang="zh-CN"/>
              <a:t> </a:t>
            </a:r>
            <a:endParaRPr lang="en-US" altLang="zh-CN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E55E308-56B4-D8AD-53D3-021AAB39A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991600" cy="48768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GB" altLang="zh-CN" sz="2400" dirty="0">
                <a:ea typeface="宋体" pitchFamily="2" charset="-122"/>
              </a:rPr>
              <a:t>To add a new column</a:t>
            </a:r>
            <a:endParaRPr lang="en-GB" altLang="zh-CN" sz="2400" b="1" dirty="0">
              <a:ea typeface="宋体" pitchFamily="2" charset="-122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b="1" dirty="0">
                <a:ea typeface="宋体" pitchFamily="2" charset="-122"/>
              </a:rPr>
              <a:t>    </a:t>
            </a:r>
            <a:r>
              <a:rPr lang="en-GB" altLang="zh-CN" sz="2400" dirty="0">
                <a:ea typeface="宋体" pitchFamily="2" charset="-122"/>
              </a:rPr>
              <a:t>ALTER TABLE &lt;</a:t>
            </a:r>
            <a:r>
              <a:rPr lang="en-GB" altLang="zh-CN" sz="2400" dirty="0" err="1">
                <a:ea typeface="宋体" pitchFamily="2" charset="-122"/>
              </a:rPr>
              <a:t>tablename</a:t>
            </a:r>
            <a:r>
              <a:rPr lang="en-GB" altLang="zh-CN" sz="2400" dirty="0">
                <a:ea typeface="宋体" pitchFamily="2" charset="-122"/>
              </a:rPr>
              <a:t>&gt;ADD (</a:t>
            </a:r>
            <a:r>
              <a:rPr lang="en-GB" altLang="zh-CN" sz="2400" dirty="0" err="1">
                <a:ea typeface="宋体" pitchFamily="2" charset="-122"/>
              </a:rPr>
              <a:t>column_name</a:t>
            </a:r>
            <a:r>
              <a:rPr lang="en-GB" altLang="zh-CN" sz="2400" dirty="0">
                <a:ea typeface="宋体" pitchFamily="2" charset="-122"/>
              </a:rPr>
              <a:t> </a:t>
            </a:r>
            <a:r>
              <a:rPr lang="en-GB" altLang="zh-CN" sz="2400" dirty="0" err="1">
                <a:ea typeface="宋体" pitchFamily="2" charset="-122"/>
              </a:rPr>
              <a:t>datatype</a:t>
            </a:r>
            <a:r>
              <a:rPr lang="en-GB" altLang="zh-CN" sz="2400" dirty="0">
                <a:ea typeface="宋体" pitchFamily="2" charset="-122"/>
              </a:rPr>
              <a:t>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ea typeface="宋体" pitchFamily="2" charset="-122"/>
              </a:rPr>
              <a:t>   </a:t>
            </a:r>
            <a:r>
              <a:rPr lang="en-GB" altLang="zh-CN" sz="2400" b="1" dirty="0">
                <a:ea typeface="宋体" pitchFamily="2" charset="-122"/>
              </a:rPr>
              <a:t>ALTER TABLE </a:t>
            </a:r>
            <a:r>
              <a:rPr lang="en-GB" altLang="zh-CN" sz="2400" b="1" dirty="0" err="1">
                <a:ea typeface="宋体" pitchFamily="2" charset="-122"/>
              </a:rPr>
              <a:t>emp</a:t>
            </a:r>
            <a:r>
              <a:rPr lang="en-GB" altLang="zh-CN" sz="2400" b="1" dirty="0">
                <a:ea typeface="宋体" pitchFamily="2" charset="-122"/>
              </a:rPr>
              <a:t> ADD (gender CHAR(1));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GB" altLang="zh-CN" sz="2400" dirty="0">
                <a:ea typeface="宋体" pitchFamily="2" charset="-122"/>
              </a:rPr>
              <a:t>To change the definition of an existing column.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ea typeface="宋体" pitchFamily="2" charset="-122"/>
              </a:rPr>
              <a:t>ALTER TABLE &lt;</a:t>
            </a:r>
            <a:r>
              <a:rPr lang="en-GB" altLang="zh-CN" sz="2400" dirty="0" err="1">
                <a:ea typeface="宋体" pitchFamily="2" charset="-122"/>
              </a:rPr>
              <a:t>tablename</a:t>
            </a:r>
            <a:r>
              <a:rPr lang="en-GB" altLang="zh-CN" sz="2400" dirty="0">
                <a:ea typeface="宋体" pitchFamily="2" charset="-122"/>
              </a:rPr>
              <a:t>&gt; MODIFY (</a:t>
            </a:r>
            <a:r>
              <a:rPr lang="en-GB" altLang="zh-CN" sz="2400" dirty="0" err="1">
                <a:ea typeface="宋体" pitchFamily="2" charset="-122"/>
              </a:rPr>
              <a:t>column_name</a:t>
            </a:r>
            <a:r>
              <a:rPr lang="en-GB" altLang="zh-CN" sz="2400" dirty="0">
                <a:ea typeface="宋体" pitchFamily="2" charset="-122"/>
              </a:rPr>
              <a:t> </a:t>
            </a:r>
            <a:r>
              <a:rPr lang="en-GB" altLang="zh-CN" sz="2400" dirty="0" err="1">
                <a:ea typeface="宋体" pitchFamily="2" charset="-122"/>
              </a:rPr>
              <a:t>datatype</a:t>
            </a:r>
            <a:r>
              <a:rPr lang="en-GB" altLang="zh-CN" sz="2400" dirty="0">
                <a:ea typeface="宋体" pitchFamily="2" charset="-122"/>
              </a:rPr>
              <a:t>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ea typeface="宋体" pitchFamily="2" charset="-122"/>
              </a:rPr>
              <a:t> </a:t>
            </a:r>
            <a:r>
              <a:rPr lang="en-GB" altLang="zh-CN" sz="2400" b="1" dirty="0">
                <a:ea typeface="宋体" pitchFamily="2" charset="-122"/>
              </a:rPr>
              <a:t>ALTER TABLE </a:t>
            </a:r>
            <a:r>
              <a:rPr lang="en-GB" altLang="zh-CN" sz="2400" b="1" dirty="0" err="1">
                <a:ea typeface="宋体" pitchFamily="2" charset="-122"/>
              </a:rPr>
              <a:t>emp</a:t>
            </a:r>
            <a:r>
              <a:rPr lang="en-GB" altLang="zh-CN" sz="2400" b="1" dirty="0">
                <a:ea typeface="宋体" pitchFamily="2" charset="-122"/>
              </a:rPr>
              <a:t>  MODIFY (</a:t>
            </a:r>
            <a:r>
              <a:rPr lang="en-GB" altLang="zh-CN" sz="2400" b="1" dirty="0" err="1">
                <a:ea typeface="宋体" pitchFamily="2" charset="-122"/>
              </a:rPr>
              <a:t>deptno</a:t>
            </a:r>
            <a:r>
              <a:rPr lang="en-GB" altLang="zh-CN" sz="2400" b="1" dirty="0">
                <a:ea typeface="宋体" pitchFamily="2" charset="-122"/>
              </a:rPr>
              <a:t> NUMBER(6));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400" b="1" dirty="0"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GB" altLang="zh-CN" sz="2400" dirty="0">
                <a:ea typeface="宋体" pitchFamily="2" charset="-122"/>
              </a:rPr>
              <a:t>To drop a column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ea typeface="宋体" pitchFamily="2" charset="-122"/>
              </a:rPr>
              <a:t>      ALTER TABLE &lt;</a:t>
            </a:r>
            <a:r>
              <a:rPr lang="en-GB" altLang="zh-CN" sz="2400" dirty="0" err="1">
                <a:ea typeface="宋体" pitchFamily="2" charset="-122"/>
              </a:rPr>
              <a:t>tablename</a:t>
            </a:r>
            <a:r>
              <a:rPr lang="en-GB" altLang="zh-CN" sz="2400" dirty="0">
                <a:ea typeface="宋体" pitchFamily="2" charset="-122"/>
              </a:rPr>
              <a:t>&gt; DROP (</a:t>
            </a:r>
            <a:r>
              <a:rPr lang="en-GB" altLang="zh-CN" sz="2400" dirty="0" err="1">
                <a:ea typeface="宋体" pitchFamily="2" charset="-122"/>
              </a:rPr>
              <a:t>column_name</a:t>
            </a:r>
            <a:r>
              <a:rPr lang="en-GB" altLang="zh-CN" sz="2400" dirty="0">
                <a:ea typeface="宋体" pitchFamily="2" charset="-122"/>
              </a:rPr>
              <a:t>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a typeface="宋体" pitchFamily="2" charset="-122"/>
              </a:rPr>
              <a:t>      </a:t>
            </a:r>
            <a:r>
              <a:rPr lang="en-US" altLang="zh-CN" sz="2400" b="1" dirty="0">
                <a:ea typeface="宋体" pitchFamily="2" charset="-122"/>
              </a:rPr>
              <a:t>ALTER TABLE student DROP Address;</a:t>
            </a:r>
            <a:endParaRPr lang="en-GB" altLang="zh-CN" sz="2400" b="1" dirty="0">
              <a:ea typeface="宋体" pitchFamily="2" charset="-122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F753298D-CDFF-2C79-FC01-B583683D9A2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en-US" altLang="zh-CN"/>
              <a:t>DROP TABLE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451F00F0-1E4D-055B-1FEB-6961DB0242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5288" y="1585913"/>
            <a:ext cx="7696200" cy="5272087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 DROP TABLE command allows you to destroy an existing table.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If we want to permanently remove the student table that we created: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DROP TABLE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2" name="页脚占位符 3">
            <a:extLst>
              <a:ext uri="{FF2B5EF4-FFF2-40B4-BE49-F238E27FC236}">
                <a16:creationId xmlns:a16="http://schemas.microsoft.com/office/drawing/2014/main" id="{C5AD770A-1F4F-EFDA-A135-6B715F03115B}"/>
              </a:ext>
            </a:extLst>
          </p:cNvPr>
          <p:cNvSpPr txBox="1">
            <a:spLocks noGrp="1"/>
          </p:cNvSpPr>
          <p:nvPr/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Comic Sans MS" panose="030F0702030302020204" pitchFamily="66" charset="0"/>
              </a:rPr>
              <a:t>An Introduction to Database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73D578E-D467-D9B9-C5F4-3CDEFC1D4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DML modifying contents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32C98D1-A715-AED8-3CC6-F7996D315A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1">
                <a:ea typeface="宋体" panose="02010600030101010101" pitchFamily="2" charset="-122"/>
              </a:rPr>
              <a:t>INSERT allows insertion of records into a table</a:t>
            </a:r>
          </a:p>
          <a:p>
            <a:r>
              <a:rPr lang="en-GB" altLang="zh-CN" b="1">
                <a:ea typeface="宋体" panose="02010600030101010101" pitchFamily="2" charset="-122"/>
              </a:rPr>
              <a:t>UPDATE updates existing rows in a table</a:t>
            </a:r>
          </a:p>
          <a:p>
            <a:r>
              <a:rPr lang="en-GB" altLang="zh-CN" b="1">
                <a:ea typeface="宋体" panose="02010600030101010101" pitchFamily="2" charset="-122"/>
              </a:rPr>
              <a:t>DELETE removes unwanted rows from a table</a:t>
            </a: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808D6AD-3174-54D4-CFA8-EF7E91932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Insert 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B019E8C-4CD2-8C66-662D-D48FD340E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INSERT INTO emp (empno, ename, job, mgr, hiredate, sal, comm, 	deptno)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VALUES(7500, 'CAMPBELL', 'ANALYST', 7566, '30-OCT-1992', 24500,0, 40);	</a:t>
            </a: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AFC751E-9EF4-3351-0D5C-E4753D6F4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Update Command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4EC5F3C-A06D-CAE4-1A6B-71BBCBE84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1)UPDATE emp SET comm = 0;</a:t>
            </a:r>
          </a:p>
          <a:p>
            <a:pPr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To give a 15% raise to all Analysts and Clerks in department 20 could use;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UPDATE emp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SET sal = sal* 1.15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b="1">
                <a:ea typeface="宋体" panose="02010600030101010101" pitchFamily="2" charset="-122"/>
              </a:rPr>
              <a:t>WHERE (job = 'ANALYST' OR job = 'CLERK') AND deptno = 20;</a:t>
            </a: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3AD35B4-BB1F-F37C-61C5-CF790200B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Delete command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DECB775-7A8C-C5EF-ED08-87CEA9B24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GB" altLang="zh-CN" sz="2800" dirty="0">
                <a:ea typeface="宋体" pitchFamily="2" charset="-122"/>
              </a:rPr>
              <a:t>i.e. To remove from EMP all sales staff who made less than  100 commission last month enter: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>
                <a:ea typeface="宋体" pitchFamily="2" charset="-122"/>
              </a:rPr>
              <a:t>		</a:t>
            </a:r>
            <a:r>
              <a:rPr lang="en-GB" altLang="zh-CN" sz="2800" b="1" dirty="0">
                <a:ea typeface="宋体" pitchFamily="2" charset="-122"/>
              </a:rPr>
              <a:t>DELETE FROM </a:t>
            </a:r>
            <a:r>
              <a:rPr lang="en-GB" altLang="zh-CN" sz="2800" b="1" dirty="0" err="1">
                <a:ea typeface="宋体" pitchFamily="2" charset="-122"/>
              </a:rPr>
              <a:t>emp</a:t>
            </a:r>
            <a:endParaRPr lang="en-GB" altLang="zh-CN" sz="2800" b="1" dirty="0">
              <a:ea typeface="宋体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		WHERE job = 'SALESMAN'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		AND </a:t>
            </a:r>
            <a:r>
              <a:rPr lang="en-GB" altLang="zh-CN" sz="2800" b="1" dirty="0" err="1">
                <a:ea typeface="宋体" pitchFamily="2" charset="-122"/>
              </a:rPr>
              <a:t>comm</a:t>
            </a:r>
            <a:r>
              <a:rPr lang="en-GB" altLang="zh-CN" sz="2800" b="1" dirty="0">
                <a:ea typeface="宋体" pitchFamily="2" charset="-122"/>
              </a:rPr>
              <a:t> &lt; 100;</a:t>
            </a:r>
            <a:endParaRPr lang="en-GB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en-GB" altLang="zh-CN" sz="2800" dirty="0">
                <a:ea typeface="宋体" pitchFamily="2" charset="-122"/>
              </a:rPr>
              <a:t>To delete everything in a table :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>
                <a:ea typeface="宋体" pitchFamily="2" charset="-122"/>
              </a:rPr>
              <a:t>		</a:t>
            </a:r>
            <a:r>
              <a:rPr lang="en-GB" altLang="zh-CN" sz="2800" b="1" dirty="0">
                <a:ea typeface="宋体" pitchFamily="2" charset="-122"/>
              </a:rPr>
              <a:t>DELETE FROM &lt;</a:t>
            </a:r>
            <a:r>
              <a:rPr lang="en-GB" altLang="zh-CN" sz="2800" b="1" dirty="0" err="1">
                <a:ea typeface="宋体" pitchFamily="2" charset="-122"/>
              </a:rPr>
              <a:t>tablename</a:t>
            </a:r>
            <a:r>
              <a:rPr lang="en-GB" altLang="zh-CN" sz="2800" b="1" dirty="0">
                <a:ea typeface="宋体" pitchFamily="2" charset="-122"/>
              </a:rPr>
              <a:t>&gt;;</a:t>
            </a:r>
            <a:endParaRPr lang="en-US" altLang="zh-CN" sz="2800" b="1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31EB5EE-D89D-CF28-093B-9AA3BDDF2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Basic Structure of an SQL Query 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A99F0D4-A468-B83B-E83D-DDA44C0FF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select    target-attribute-list</a:t>
            </a:r>
          </a:p>
          <a:p>
            <a:r>
              <a:rPr lang="en-US" altLang="zh-CN">
                <a:ea typeface="宋体" panose="02010600030101010101" pitchFamily="2" charset="-122"/>
              </a:rPr>
              <a:t>from     table-list</a:t>
            </a:r>
          </a:p>
          <a:p>
            <a:r>
              <a:rPr lang="en-US" altLang="zh-CN">
                <a:ea typeface="宋体" panose="02010600030101010101" pitchFamily="2" charset="-122"/>
              </a:rPr>
              <a:t>where   conditions</a:t>
            </a:r>
          </a:p>
          <a:p>
            <a:r>
              <a:rPr lang="en-US" altLang="zh-CN" u="sng">
                <a:ea typeface="宋体" panose="02010600030101010101" pitchFamily="2" charset="-122"/>
              </a:rPr>
              <a:t>Relational algebra correspondence:</a:t>
            </a:r>
          </a:p>
          <a:p>
            <a:r>
              <a:rPr lang="en-US" altLang="zh-CN">
                <a:ea typeface="宋体" panose="02010600030101010101" pitchFamily="2" charset="-122"/>
              </a:rPr>
              <a:t>select-clause         projection ( ) </a:t>
            </a:r>
          </a:p>
          <a:p>
            <a:r>
              <a:rPr lang="en-US" altLang="zh-CN">
                <a:ea typeface="宋体" panose="02010600030101010101" pitchFamily="2" charset="-122"/>
              </a:rPr>
              <a:t>from-clause          Cartesian product ( ) </a:t>
            </a:r>
          </a:p>
          <a:p>
            <a:r>
              <a:rPr lang="en-US" altLang="zh-CN">
                <a:ea typeface="宋体" panose="02010600030101010101" pitchFamily="2" charset="-122"/>
              </a:rPr>
              <a:t>where-clause        selection ( )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396187-B07D-642D-84C4-8F1EB0C51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Relation schemas under consideration: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52C6377-2D4D-AD22-7A7F-89BC4DDBA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191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Students (SID, Name, GPA, Age)</a:t>
            </a:r>
          </a:p>
          <a:p>
            <a:r>
              <a:rPr lang="en-US" altLang="zh-CN">
                <a:ea typeface="宋体" panose="02010600030101010101" pitchFamily="2" charset="-122"/>
              </a:rPr>
              <a:t>Courses (Course_no, Title, Dept_Name)</a:t>
            </a:r>
          </a:p>
          <a:p>
            <a:r>
              <a:rPr lang="en-US" altLang="zh-CN">
                <a:ea typeface="宋体" panose="02010600030101010101" pitchFamily="2" charset="-122"/>
              </a:rPr>
              <a:t>Enrollment (SID, Course_no, Grade)</a:t>
            </a:r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 b="1" u="sng">
                <a:ea typeface="宋体" panose="02010600030101010101" pitchFamily="2" charset="-122"/>
              </a:rPr>
              <a:t>Inserting Tuples into a Table: DML</a:t>
            </a:r>
            <a:endParaRPr lang="en-US" altLang="zh-CN" u="sng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insert into Students values (2006006004, 'LIZI', 20, 3.54);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27E4CC0-E60B-44EE-40CE-816982257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033E822-EE62-E4C7-7A1F-33196C305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Find the SID, Name , GPA  and AGE of all students whose GPA is higher than 3.01. 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select SID, </a:t>
            </a:r>
            <a:r>
              <a:rPr lang="en-US" altLang="zh-CN" dirty="0" err="1">
                <a:ea typeface="宋体" pitchFamily="2" charset="-122"/>
              </a:rPr>
              <a:t>SName</a:t>
            </a:r>
            <a:r>
              <a:rPr lang="en-US" altLang="zh-CN" dirty="0">
                <a:ea typeface="宋体" pitchFamily="2" charset="-122"/>
              </a:rPr>
              <a:t>, GPA,AGE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from Students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where GPA &gt; 3.01;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4">
            <a:extLst>
              <a:ext uri="{FF2B5EF4-FFF2-40B4-BE49-F238E27FC236}">
                <a16:creationId xmlns:a16="http://schemas.microsoft.com/office/drawing/2014/main" id="{BC40EF39-AD84-07B6-3FFD-4E6BF6527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7848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5">
            <a:extLst>
              <a:ext uri="{FF2B5EF4-FFF2-40B4-BE49-F238E27FC236}">
                <a16:creationId xmlns:a16="http://schemas.microsoft.com/office/drawing/2014/main" id="{5A8C0913-31F4-47D5-D31C-23B813455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E799610A-9901-EF74-6F78-D2AD4DE0A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To retrieve all attributes of a relation, use the *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8A7931A4-4671-C5EF-B66A-61D60A745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00200"/>
            <a:ext cx="8915400" cy="135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33375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>
                <a:latin typeface="Calibri" panose="020F0502020204030204" pitchFamily="34" charset="0"/>
                <a:cs typeface="Times New Roman" panose="02020603050405020304" pitchFamily="18" charset="0"/>
              </a:rPr>
              <a:t>Find all students whose GPA is higher than 3.5. </a:t>
            </a:r>
            <a:r>
              <a:rPr lang="en-US" altLang="zh-CN" sz="330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>
                <a:latin typeface="Calibri" panose="020F0502020204030204" pitchFamily="34" charset="0"/>
                <a:cs typeface="Times New Roman" panose="02020603050405020304" pitchFamily="18" charset="0"/>
              </a:rPr>
              <a:t>select * from Students where GPA &gt; 3.5</a:t>
            </a:r>
            <a:endParaRPr lang="en-US" altLang="zh-CN" sz="33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Calibri" panose="020F0502020204030204" pitchFamily="34" charset="0"/>
              </a:rPr>
              <a:t>     </a:t>
            </a:r>
            <a:endParaRPr lang="en-US" altLang="zh-CN"/>
          </a:p>
        </p:txBody>
      </p:sp>
      <p:pic>
        <p:nvPicPr>
          <p:cNvPr id="26628" name="图片 7">
            <a:extLst>
              <a:ext uri="{FF2B5EF4-FFF2-40B4-BE49-F238E27FC236}">
                <a16:creationId xmlns:a16="http://schemas.microsoft.com/office/drawing/2014/main" id="{35DB3E0C-420A-AA94-A833-6708A84C6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0"/>
            <a:ext cx="8610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10DF6B0-E174-36D9-2117-917E7CADF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B4284D1-75A4-2CAB-3125-A4ADC14E1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781800" cy="1905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where-clause may be absent.</a:t>
            </a:r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Find the Names of all students.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select Name from Students</a:t>
            </a:r>
          </a:p>
        </p:txBody>
      </p:sp>
      <p:pic>
        <p:nvPicPr>
          <p:cNvPr id="27652" name="图片 10">
            <a:extLst>
              <a:ext uri="{FF2B5EF4-FFF2-40B4-BE49-F238E27FC236}">
                <a16:creationId xmlns:a16="http://schemas.microsoft.com/office/drawing/2014/main" id="{FF8DEE6D-8105-0367-055C-3D2597DDE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600200"/>
            <a:ext cx="1676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C5CC497-7F4F-6B17-A1FF-7F04BF8FB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DBBB2DE-3B28-7935-6534-C5EFE9840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610600" cy="4876800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“ select” results do not remove duplicate rows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Duplicate rows can provide additional information.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It may be costly to remove duplicate rows.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To remove duplicate rows,  use “select distinct”  </a:t>
            </a:r>
            <a:endParaRPr lang="en-US" altLang="zh-CN" sz="2800" b="1">
              <a:ea typeface="宋体" panose="02010600030101010101" pitchFamily="2" charset="-122"/>
            </a:endParaRPr>
          </a:p>
          <a:p>
            <a:endParaRPr lang="en-US" altLang="zh-CN" sz="2800" b="1">
              <a:ea typeface="宋体" panose="02010600030101010101" pitchFamily="2" charset="-122"/>
            </a:endParaRPr>
          </a:p>
          <a:p>
            <a:r>
              <a:rPr lang="en-US" altLang="zh-CN" sz="2800" b="1">
                <a:ea typeface="宋体" panose="02010600030101010101" pitchFamily="2" charset="-122"/>
              </a:rPr>
              <a:t>Example:  Find the Names of all students without duplicate rows.</a:t>
            </a:r>
            <a:endParaRPr lang="en-US" altLang="zh-CN" sz="2800">
              <a:ea typeface="宋体" panose="02010600030101010101" pitchFamily="2" charset="-122"/>
            </a:endParaRPr>
          </a:p>
          <a:p>
            <a:r>
              <a:rPr lang="en-US" altLang="zh-CN" sz="2800">
                <a:ea typeface="宋体" panose="02010600030101010101" pitchFamily="2" charset="-122"/>
              </a:rPr>
              <a:t>select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distinct</a:t>
            </a:r>
            <a:r>
              <a:rPr lang="en-US" altLang="zh-CN" sz="2800">
                <a:ea typeface="宋体" panose="02010600030101010101" pitchFamily="2" charset="-122"/>
              </a:rPr>
              <a:t> NAME from Students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97691E4-72CB-809B-A1D3-327D2DC5B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Between clause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EB334FF-5330-03B5-02AB-5852F9528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Example:  Find the names of all students whose GPA is between 3.0 and 3.5. 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select </a:t>
            </a:r>
            <a:r>
              <a:rPr lang="en-US" altLang="zh-CN" dirty="0" err="1">
                <a:ea typeface="宋体" pitchFamily="2" charset="-122"/>
              </a:rPr>
              <a:t>SName</a:t>
            </a:r>
            <a:r>
              <a:rPr lang="en-US" altLang="zh-CN" dirty="0">
                <a:ea typeface="宋体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  from Students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  where GPA between 3.0 and 3.5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not  between ... and … is the opposite of  between … and ...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4F4A276-A73B-30E1-DEE9-67188AB4A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Like clause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9479D5D-50D5-B0D4-2CAB-F4EBC3F78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% matches 0 or more characters. </a:t>
            </a:r>
            <a:endParaRPr lang="en-US" altLang="zh-CN" b="1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Example:  Find the course numbers and titles of all courses whose title contains "systems".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    select </a:t>
            </a:r>
            <a:r>
              <a:rPr lang="en-US" altLang="zh-CN" dirty="0" err="1">
                <a:ea typeface="宋体" pitchFamily="2" charset="-122"/>
              </a:rPr>
              <a:t>Course_no</a:t>
            </a:r>
            <a:r>
              <a:rPr lang="en-US" altLang="zh-CN" dirty="0">
                <a:ea typeface="宋体" pitchFamily="2" charset="-122"/>
              </a:rPr>
              <a:t>, Title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       from Courses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       where Title like '% </a:t>
            </a:r>
            <a:r>
              <a:rPr lang="en-US" altLang="zh-CN" b="1" dirty="0">
                <a:ea typeface="宋体" pitchFamily="2" charset="-122"/>
              </a:rPr>
              <a:t>systems</a:t>
            </a:r>
            <a:r>
              <a:rPr lang="en-US" altLang="zh-CN" dirty="0">
                <a:ea typeface="宋体" pitchFamily="2" charset="-122"/>
              </a:rPr>
              <a:t> %'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5414EB1-5D1D-1F48-4008-CE9AAC094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553A2B6-7724-0B73-0D30-47AB319FE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Example:  Find all students whose name starts with M and is seven-character long.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  select * from Students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    where </a:t>
            </a:r>
            <a:r>
              <a:rPr lang="en-US" altLang="zh-CN" dirty="0" err="1">
                <a:ea typeface="宋体" pitchFamily="2" charset="-122"/>
              </a:rPr>
              <a:t>SName</a:t>
            </a:r>
            <a:r>
              <a:rPr lang="en-US" altLang="zh-CN" dirty="0">
                <a:ea typeface="宋体" pitchFamily="2" charset="-122"/>
              </a:rPr>
              <a:t> like ‘M______'     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	_  matches exactly one character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A1AD7E1-1BE1-9CE9-A227-EB9160201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478199E-9425-157E-7D12-CAF9C660A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Example:  Find all students whose name contains a _.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select * from Students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where </a:t>
            </a:r>
            <a:r>
              <a:rPr lang="en-US" altLang="zh-CN" dirty="0" err="1">
                <a:ea typeface="宋体" pitchFamily="2" charset="-122"/>
              </a:rPr>
              <a:t>SName</a:t>
            </a:r>
            <a:r>
              <a:rPr lang="en-US" altLang="zh-CN" dirty="0">
                <a:ea typeface="宋体" pitchFamily="2" charset="-122"/>
              </a:rPr>
              <a:t> like '%\_ %' escape '\'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Escape character can be defined in a query.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F743540-5981-D531-B130-785EDA12C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z="4000" b="1"/>
              <a:t>THE ORDER BY CLAUSE</a:t>
            </a:r>
            <a:endParaRPr lang="en-US" altLang="zh-CN" sz="4000" b="1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5FB9EE7-AC6C-ADD9-2DC8-EFC14F9AF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The use of ORDER BY causes data to be sorted (by default) as follows:-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NUMERICS		ascending order by value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DATES		chronological order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	CHAR			alphabetically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The keyword DESC causes the sort to be reversed.</a:t>
            </a:r>
          </a:p>
          <a:p>
            <a:pPr>
              <a:lnSpc>
                <a:spcPct val="9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NULL values in a sorted column will always be sorted high, i.e. they will be first when values are sorted in descending order and last when sorted in ascending order.</a:t>
            </a:r>
            <a:r>
              <a:rPr lang="en-GB" altLang="zh-CN" sz="2400">
                <a:ea typeface="宋体" panose="02010600030101010101" pitchFamily="2" charset="-122"/>
              </a:rPr>
              <a:t> 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33AD716-7EEB-A56B-CA23-6C832C023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2AFFC86-CD71-9E77-AF78-E6660977D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altLang="zh-CN" dirty="0">
                <a:ea typeface="宋体" pitchFamily="2" charset="-122"/>
              </a:rPr>
              <a:t>Shows the ID, name and hire date of employees with earliest </a:t>
            </a:r>
            <a:r>
              <a:rPr lang="en-GB" altLang="zh-CN" dirty="0" err="1">
                <a:ea typeface="宋体" pitchFamily="2" charset="-122"/>
              </a:rPr>
              <a:t>hiredate</a:t>
            </a:r>
            <a:r>
              <a:rPr lang="en-GB" altLang="zh-CN" dirty="0">
                <a:ea typeface="宋体" pitchFamily="2" charset="-122"/>
              </a:rPr>
              <a:t> first.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endParaRPr lang="en-GB" altLang="zh-CN" b="1" dirty="0">
              <a:ea typeface="宋体" pitchFamily="2" charset="-122"/>
            </a:endParaRPr>
          </a:p>
          <a:p>
            <a:pPr>
              <a:defRPr/>
            </a:pPr>
            <a:r>
              <a:rPr lang="en-GB" altLang="zh-CN" b="1" dirty="0">
                <a:ea typeface="宋体" pitchFamily="2" charset="-122"/>
              </a:rPr>
              <a:t>SELECT </a:t>
            </a:r>
            <a:r>
              <a:rPr lang="en-GB" altLang="zh-CN" b="1" dirty="0" err="1">
                <a:ea typeface="宋体" pitchFamily="2" charset="-122"/>
              </a:rPr>
              <a:t>empno</a:t>
            </a:r>
            <a:r>
              <a:rPr lang="en-GB" altLang="zh-CN" b="1" dirty="0">
                <a:ea typeface="宋体" pitchFamily="2" charset="-122"/>
              </a:rPr>
              <a:t>, </a:t>
            </a:r>
            <a:r>
              <a:rPr lang="en-GB" altLang="zh-CN" b="1" dirty="0" err="1">
                <a:ea typeface="宋体" pitchFamily="2" charset="-122"/>
              </a:rPr>
              <a:t>ename</a:t>
            </a:r>
            <a:r>
              <a:rPr lang="en-GB" altLang="zh-CN" b="1" dirty="0">
                <a:ea typeface="宋体" pitchFamily="2" charset="-122"/>
              </a:rPr>
              <a:t>, </a:t>
            </a:r>
            <a:r>
              <a:rPr lang="en-GB" altLang="zh-CN" b="1" dirty="0" err="1">
                <a:ea typeface="宋体" pitchFamily="2" charset="-122"/>
              </a:rPr>
              <a:t>hiredate</a:t>
            </a:r>
            <a:r>
              <a:rPr lang="en-GB" altLang="zh-CN" b="1" dirty="0">
                <a:ea typeface="宋体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zh-CN" b="1" dirty="0">
                <a:ea typeface="宋体" pitchFamily="2" charset="-122"/>
              </a:rPr>
              <a:t>   FROM </a:t>
            </a:r>
            <a:r>
              <a:rPr lang="en-GB" altLang="zh-CN" b="1" dirty="0" err="1">
                <a:ea typeface="宋体" pitchFamily="2" charset="-122"/>
              </a:rPr>
              <a:t>emp</a:t>
            </a:r>
            <a:endParaRPr lang="en-GB" altLang="zh-CN" b="1" dirty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zh-CN" b="1" dirty="0">
                <a:ea typeface="宋体" pitchFamily="2" charset="-122"/>
              </a:rPr>
              <a:t>  ORDER BY </a:t>
            </a:r>
            <a:r>
              <a:rPr lang="en-GB" altLang="zh-CN" b="1" dirty="0" err="1">
                <a:ea typeface="宋体" pitchFamily="2" charset="-122"/>
              </a:rPr>
              <a:t>hiredate</a:t>
            </a:r>
            <a:r>
              <a:rPr lang="en-GB" altLang="zh-CN" b="1" dirty="0">
                <a:ea typeface="宋体" pitchFamily="2" charset="-122"/>
              </a:rPr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zh-CN" b="1" dirty="0">
                <a:ea typeface="宋体" pitchFamily="2" charset="-122"/>
              </a:rPr>
              <a:t>	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44B5C42-EB58-6ACB-A75B-60F2DF464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/>
              <a:t>JOINING TABLES</a:t>
            </a:r>
            <a:endParaRPr lang="en-US" altLang="zh-CN" b="1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F2FDC00-5C26-4956-50A5-A1AF575B8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61645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What if we want to combine two tables for some information?</a:t>
            </a:r>
          </a:p>
          <a:p>
            <a:r>
              <a:rPr lang="en-US" altLang="zh-CN" b="1">
                <a:ea typeface="宋体" panose="02010600030101010101" pitchFamily="2" charset="-122"/>
              </a:rPr>
              <a:t>EMP:{EMPNO,</a:t>
            </a:r>
            <a:r>
              <a:rPr lang="en-GB" altLang="zh-CN" b="1">
                <a:ea typeface="宋体" panose="02010600030101010101" pitchFamily="2" charset="-122"/>
              </a:rPr>
              <a:t> ENAME,</a:t>
            </a:r>
            <a:r>
              <a:rPr lang="en-US" altLang="zh-CN" b="1">
                <a:ea typeface="宋体" panose="02010600030101010101" pitchFamily="2" charset="-122"/>
              </a:rPr>
              <a:t>…  DEPTNO}</a:t>
            </a:r>
          </a:p>
          <a:p>
            <a:r>
              <a:rPr lang="en-US" altLang="zh-CN" b="1">
                <a:ea typeface="宋体" panose="02010600030101010101" pitchFamily="2" charset="-122"/>
              </a:rPr>
              <a:t>DEPT:{</a:t>
            </a:r>
            <a:r>
              <a:rPr lang="en-GB" altLang="zh-CN" b="1">
                <a:ea typeface="宋体" panose="02010600030101010101" pitchFamily="2" charset="-122"/>
              </a:rPr>
              <a:t>DEPTNO</a:t>
            </a:r>
            <a:r>
              <a:rPr lang="en-US" altLang="zh-CN" b="1">
                <a:ea typeface="宋体" panose="02010600030101010101" pitchFamily="2" charset="-122"/>
              </a:rPr>
              <a:t> ,DNAME,LOC} EMP-</a:t>
            </a:r>
          </a:p>
          <a:p>
            <a:r>
              <a:rPr lang="en-US" altLang="zh-CN">
                <a:ea typeface="宋体" panose="02010600030101010101" pitchFamily="2" charset="-122"/>
              </a:rPr>
              <a:t>Into:</a:t>
            </a:r>
          </a:p>
          <a:p>
            <a:r>
              <a:rPr lang="en-US" altLang="zh-CN" b="1">
                <a:ea typeface="宋体" panose="02010600030101010101" pitchFamily="2" charset="-122"/>
              </a:rPr>
              <a:t>EMP-DEPT:{EMPNO,</a:t>
            </a:r>
            <a:r>
              <a:rPr lang="en-GB" altLang="zh-CN" b="1">
                <a:ea typeface="宋体" panose="02010600030101010101" pitchFamily="2" charset="-122"/>
              </a:rPr>
              <a:t> ENAME,</a:t>
            </a:r>
            <a:r>
              <a:rPr lang="en-US" altLang="zh-CN" b="1">
                <a:ea typeface="宋体" panose="02010600030101010101" pitchFamily="2" charset="-122"/>
              </a:rPr>
              <a:t>…</a:t>
            </a:r>
            <a:r>
              <a:rPr lang="en-GB" altLang="zh-CN" b="1">
                <a:ea typeface="宋体" panose="02010600030101010101" pitchFamily="2" charset="-122"/>
              </a:rPr>
              <a:t>DEPTNO</a:t>
            </a:r>
            <a:r>
              <a:rPr lang="en-US" altLang="zh-CN" b="1">
                <a:ea typeface="宋体" panose="02010600030101010101" pitchFamily="2" charset="-122"/>
              </a:rPr>
              <a:t> ,DNAME,LOC}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FE5EC87-B1A7-FC0F-553C-C0FB96058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/>
              <a:t>JOINING TABLES</a:t>
            </a:r>
            <a:r>
              <a:rPr lang="en-GB" altLang="zh-CN"/>
              <a:t> in SQL</a:t>
            </a:r>
            <a:endParaRPr lang="en-US" altLang="zh-CN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5E81F28-6E68-9472-3AE3-9A697EEF8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GB" altLang="zh-CN" sz="2800" dirty="0">
                <a:ea typeface="宋体" pitchFamily="2" charset="-122"/>
              </a:rPr>
              <a:t>Find Allen's name and salary from the EMP table and location of Allen's department from the DEPT  table.</a:t>
            </a: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endParaRPr lang="en-GB" altLang="zh-CN" sz="2800" b="1" dirty="0"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GB" altLang="zh-CN" sz="2800" b="1" dirty="0">
                <a:ea typeface="宋体" pitchFamily="2" charset="-122"/>
              </a:rPr>
              <a:t>SELECT </a:t>
            </a:r>
            <a:r>
              <a:rPr lang="en-GB" altLang="zh-CN" sz="2800" b="1" dirty="0" err="1">
                <a:ea typeface="宋体" pitchFamily="2" charset="-122"/>
              </a:rPr>
              <a:t>ename</a:t>
            </a:r>
            <a:r>
              <a:rPr lang="en-GB" altLang="zh-CN" sz="2800" b="1" dirty="0">
                <a:ea typeface="宋体" pitchFamily="2" charset="-122"/>
              </a:rPr>
              <a:t>, </a:t>
            </a:r>
            <a:r>
              <a:rPr lang="en-GB" altLang="zh-CN" sz="2800" b="1" dirty="0" err="1">
                <a:ea typeface="宋体" pitchFamily="2" charset="-122"/>
              </a:rPr>
              <a:t>sal</a:t>
            </a:r>
            <a:r>
              <a:rPr lang="en-GB" altLang="zh-CN" sz="2800" b="1" dirty="0">
                <a:ea typeface="宋体" pitchFamily="2" charset="-122"/>
              </a:rPr>
              <a:t>, </a:t>
            </a:r>
            <a:r>
              <a:rPr lang="en-GB" altLang="zh-CN" sz="2800" b="1" dirty="0" err="1">
                <a:ea typeface="宋体" pitchFamily="2" charset="-122"/>
              </a:rPr>
              <a:t>loc</a:t>
            </a:r>
            <a:r>
              <a:rPr lang="en-GB" altLang="zh-CN" sz="2800" b="1" dirty="0">
                <a:ea typeface="宋体" pitchFamily="2" charset="-122"/>
              </a:rPr>
              <a:t>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    FROM </a:t>
            </a:r>
            <a:r>
              <a:rPr lang="en-GB" altLang="zh-CN" sz="2800" b="1" dirty="0" err="1">
                <a:ea typeface="宋体" pitchFamily="2" charset="-122"/>
              </a:rPr>
              <a:t>emp</a:t>
            </a:r>
            <a:r>
              <a:rPr lang="en-GB" altLang="zh-CN" sz="2800" b="1" dirty="0">
                <a:ea typeface="宋体" pitchFamily="2" charset="-122"/>
              </a:rPr>
              <a:t>, </a:t>
            </a:r>
            <a:r>
              <a:rPr lang="en-GB" altLang="zh-CN" sz="2800" b="1" dirty="0" err="1">
                <a:ea typeface="宋体" pitchFamily="2" charset="-122"/>
              </a:rPr>
              <a:t>dept</a:t>
            </a:r>
            <a:endParaRPr lang="en-GB" altLang="zh-CN" sz="2800" b="1" dirty="0">
              <a:ea typeface="宋体" pitchFamily="2" charset="-122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    WHERE </a:t>
            </a:r>
            <a:r>
              <a:rPr lang="en-GB" altLang="zh-CN" sz="2800" b="1" dirty="0" err="1">
                <a:ea typeface="宋体" pitchFamily="2" charset="-122"/>
              </a:rPr>
              <a:t>ename</a:t>
            </a:r>
            <a:r>
              <a:rPr lang="en-GB" altLang="zh-CN" sz="2800" b="1" dirty="0">
                <a:ea typeface="宋体" pitchFamily="2" charset="-122"/>
              </a:rPr>
              <a:t> = 'ALLEN' 	</a:t>
            </a:r>
            <a:r>
              <a:rPr lang="en-GB" altLang="zh-CN" sz="2800" b="1" dirty="0">
                <a:solidFill>
                  <a:srgbClr val="FF0000"/>
                </a:solidFill>
                <a:ea typeface="宋体" pitchFamily="2" charset="-122"/>
              </a:rPr>
              <a:t>(search condition)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   AND </a:t>
            </a:r>
            <a:r>
              <a:rPr lang="en-GB" altLang="zh-CN" sz="2800" b="1" dirty="0" err="1">
                <a:ea typeface="宋体" pitchFamily="2" charset="-122"/>
              </a:rPr>
              <a:t>emp.deptno</a:t>
            </a:r>
            <a:r>
              <a:rPr lang="en-GB" altLang="zh-CN" sz="2800" b="1" dirty="0">
                <a:ea typeface="宋体" pitchFamily="2" charset="-122"/>
              </a:rPr>
              <a:t> = </a:t>
            </a:r>
            <a:r>
              <a:rPr lang="en-GB" altLang="zh-CN" sz="2800" b="1" dirty="0" err="1">
                <a:ea typeface="宋体" pitchFamily="2" charset="-122"/>
              </a:rPr>
              <a:t>dept.deptno</a:t>
            </a:r>
            <a:r>
              <a:rPr lang="en-GB" altLang="zh-CN" sz="2800" b="1" dirty="0">
                <a:ea typeface="宋体" pitchFamily="2" charset="-122"/>
              </a:rPr>
              <a:t>;     </a:t>
            </a:r>
            <a:r>
              <a:rPr lang="en-GB" altLang="zh-CN" sz="2800" b="1" dirty="0">
                <a:solidFill>
                  <a:srgbClr val="FF0000"/>
                </a:solidFill>
                <a:ea typeface="宋体" pitchFamily="2" charset="-122"/>
              </a:rPr>
              <a:t>(join condition)</a:t>
            </a:r>
            <a:endParaRPr lang="en-GB" altLang="zh-CN" sz="2800" dirty="0">
              <a:solidFill>
                <a:srgbClr val="FF0000"/>
              </a:solidFill>
              <a:ea typeface="宋体" pitchFamily="2" charset="-122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>
                <a:ea typeface="宋体" pitchFamily="2" charset="-122"/>
              </a:rPr>
              <a:t> </a:t>
            </a:r>
            <a:endParaRPr lang="en-US" altLang="zh-CN" sz="28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894DB98-A263-BB79-D41D-1D0FCB4BF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Alias for a table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EE4499E-0FC4-1410-93BC-875BC472A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382000" cy="45434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zh-CN" sz="2400">
                <a:ea typeface="宋体" panose="02010600030101010101" pitchFamily="2" charset="-122"/>
              </a:rPr>
              <a:t>Table names can be </a:t>
            </a:r>
            <a:r>
              <a:rPr lang="en-GB" altLang="zh-CN" sz="2400" b="1">
                <a:ea typeface="宋体" panose="02010600030101010101" pitchFamily="2" charset="-122"/>
              </a:rPr>
              <a:t>abbreviated</a:t>
            </a:r>
            <a:r>
              <a:rPr lang="en-GB" altLang="zh-CN" sz="2400">
                <a:ea typeface="宋体" panose="02010600030101010101" pitchFamily="2" charset="-122"/>
              </a:rPr>
              <a:t> in order to simplify what is typed in with the query.</a:t>
            </a:r>
          </a:p>
          <a:p>
            <a:pPr>
              <a:lnSpc>
                <a:spcPct val="80000"/>
              </a:lnSpc>
            </a:pPr>
            <a:r>
              <a:rPr lang="en-GB" altLang="zh-CN" sz="2400">
                <a:ea typeface="宋体" panose="02010600030101010101" pitchFamily="2" charset="-122"/>
              </a:rPr>
              <a:t>In this example E and D are abbreviated names for emp and dept.</a:t>
            </a:r>
          </a:p>
          <a:p>
            <a:pPr>
              <a:lnSpc>
                <a:spcPct val="80000"/>
              </a:lnSpc>
            </a:pPr>
            <a:r>
              <a:rPr lang="en-GB" altLang="zh-CN" sz="2400">
                <a:ea typeface="宋体" panose="02010600030101010101" pitchFamily="2" charset="-122"/>
              </a:rPr>
              <a:t>List the department name and all employee data for employees that work in luton;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400" b="1">
                <a:ea typeface="宋体" panose="02010600030101010101" pitchFamily="2" charset="-122"/>
              </a:rPr>
              <a:t>SELECT dname, E.*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400" b="1">
                <a:ea typeface="宋体" panose="02010600030101010101" pitchFamily="2" charset="-122"/>
              </a:rPr>
              <a:t>FROM emp E, dept 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400" b="1">
                <a:ea typeface="宋体" panose="02010600030101010101" pitchFamily="2" charset="-122"/>
              </a:rPr>
              <a:t>WHERE E.deptno = D.deptno AND loc = 'LUTON'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400" b="1">
                <a:ea typeface="宋体" panose="02010600030101010101" pitchFamily="2" charset="-122"/>
              </a:rPr>
              <a:t>ORDER BY E.deptno;</a:t>
            </a:r>
          </a:p>
          <a:p>
            <a:pPr>
              <a:lnSpc>
                <a:spcPct val="80000"/>
              </a:lnSpc>
            </a:pPr>
            <a:r>
              <a:rPr lang="en-GB" altLang="zh-CN" sz="2400" b="1">
                <a:ea typeface="宋体" panose="02010600030101010101" pitchFamily="2" charset="-122"/>
              </a:rPr>
              <a:t>Note – if we didn’t have ORDER BY E.deptno, but had ORDER BY deptno--a syntax error!!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653FFDC-D5EC-9CF7-9007-102954B9B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/>
              <a:t>Joining a Table to Itself</a:t>
            </a:r>
            <a:endParaRPr lang="en-US" altLang="zh-CN" b="1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B327B91-4F9C-E8DA-3706-CB7E0495F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800" b="1">
                <a:ea typeface="宋体" panose="02010600030101010101" pitchFamily="2" charset="-122"/>
              </a:rPr>
              <a:t>We want to know the name and salary of the workers who earn more than their manager.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zh-CN" sz="28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EMP:{EMPNO,</a:t>
            </a:r>
            <a:r>
              <a:rPr lang="en-GB" altLang="zh-CN" sz="2800" b="1">
                <a:ea typeface="宋体" panose="02010600030101010101" pitchFamily="2" charset="-122"/>
              </a:rPr>
              <a:t> ENAME,</a:t>
            </a:r>
            <a:r>
              <a:rPr lang="en-GB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MGR</a:t>
            </a:r>
            <a:r>
              <a:rPr lang="en-US" altLang="zh-CN" sz="2800" b="1">
                <a:ea typeface="宋体" panose="02010600030101010101" pitchFamily="2" charset="-122"/>
              </a:rPr>
              <a:t>… ,SAL}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zh-CN" sz="28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800" b="1">
                <a:ea typeface="宋体" panose="02010600030101010101" pitchFamily="2" charset="-122"/>
              </a:rPr>
              <a:t>SELECT WORKER.ename, WORKER.sal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800" b="1">
                <a:ea typeface="宋体" panose="02010600030101010101" pitchFamily="2" charset="-122"/>
              </a:rPr>
              <a:t>FROM emp WORKER, emp MANAGER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800" b="1">
                <a:ea typeface="宋体" panose="02010600030101010101" pitchFamily="2" charset="-122"/>
              </a:rPr>
              <a:t>WHERE WORKER.mgr = MANAGER.empno AND WORKER.sal &gt; MANAGER.sal;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D57670C-2E4D-5FE0-0838-87ADD197E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8D667E1-7F60-FA1F-C2E2-CB23F2D5E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GB" altLang="zh-CN" sz="2800" dirty="0">
                <a:ea typeface="宋体" pitchFamily="2" charset="-122"/>
              </a:rPr>
              <a:t>Find the name and salary of all employees that earn more than Jones.</a:t>
            </a:r>
          </a:p>
          <a:p>
            <a:pPr>
              <a:lnSpc>
                <a:spcPct val="90000"/>
              </a:lnSpc>
              <a:defRPr/>
            </a:pPr>
            <a:r>
              <a:rPr lang="en-GB" altLang="zh-CN" sz="2800" b="1" dirty="0">
                <a:ea typeface="宋体" pitchFamily="2" charset="-122"/>
              </a:rPr>
              <a:t>SELECT </a:t>
            </a:r>
            <a:r>
              <a:rPr lang="en-GB" altLang="zh-CN" sz="2800" b="1" dirty="0" err="1">
                <a:ea typeface="宋体" pitchFamily="2" charset="-122"/>
              </a:rPr>
              <a:t>X.ename</a:t>
            </a:r>
            <a:r>
              <a:rPr lang="en-GB" altLang="zh-CN" sz="2800" b="1" dirty="0">
                <a:ea typeface="宋体" pitchFamily="2" charset="-122"/>
              </a:rPr>
              <a:t>, </a:t>
            </a:r>
            <a:r>
              <a:rPr lang="en-GB" altLang="zh-CN" sz="2800" b="1" dirty="0" err="1">
                <a:ea typeface="宋体" pitchFamily="2" charset="-122"/>
              </a:rPr>
              <a:t>X.sal</a:t>
            </a:r>
            <a:endParaRPr lang="en-GB" altLang="zh-CN" sz="2800" b="1" dirty="0">
              <a:ea typeface="宋体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    FROM </a:t>
            </a:r>
            <a:r>
              <a:rPr lang="en-GB" altLang="zh-CN" sz="2800" b="1" dirty="0" err="1">
                <a:ea typeface="宋体" pitchFamily="2" charset="-122"/>
              </a:rPr>
              <a:t>emp</a:t>
            </a:r>
            <a:r>
              <a:rPr lang="en-GB" altLang="zh-CN" sz="2800" b="1" dirty="0">
                <a:ea typeface="宋体" pitchFamily="2" charset="-122"/>
              </a:rPr>
              <a:t> X, </a:t>
            </a:r>
            <a:r>
              <a:rPr lang="en-GB" altLang="zh-CN" sz="2800" b="1" dirty="0" err="1">
                <a:ea typeface="宋体" pitchFamily="2" charset="-122"/>
              </a:rPr>
              <a:t>emp</a:t>
            </a:r>
            <a:r>
              <a:rPr lang="en-GB" altLang="zh-CN" sz="2800" b="1" dirty="0">
                <a:ea typeface="宋体" pitchFamily="2" charset="-122"/>
              </a:rPr>
              <a:t> Y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    WHERE </a:t>
            </a:r>
            <a:r>
              <a:rPr lang="en-GB" altLang="zh-CN" sz="2800" b="1" dirty="0" err="1">
                <a:ea typeface="宋体" pitchFamily="2" charset="-122"/>
              </a:rPr>
              <a:t>X.sal</a:t>
            </a:r>
            <a:r>
              <a:rPr lang="en-GB" altLang="zh-CN" sz="2800" b="1" dirty="0">
                <a:ea typeface="宋体" pitchFamily="2" charset="-122"/>
              </a:rPr>
              <a:t> &gt; </a:t>
            </a:r>
            <a:r>
              <a:rPr lang="en-GB" altLang="zh-CN" sz="2800" b="1" dirty="0" err="1">
                <a:ea typeface="宋体" pitchFamily="2" charset="-122"/>
              </a:rPr>
              <a:t>Y.sal</a:t>
            </a:r>
            <a:endParaRPr lang="en-GB" altLang="zh-CN" sz="2800" b="1" dirty="0">
              <a:ea typeface="宋体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b="1" dirty="0">
                <a:ea typeface="宋体" pitchFamily="2" charset="-122"/>
              </a:rPr>
              <a:t>	         AND </a:t>
            </a:r>
            <a:r>
              <a:rPr lang="en-GB" altLang="zh-CN" sz="2800" b="1" dirty="0" err="1">
                <a:ea typeface="宋体" pitchFamily="2" charset="-122"/>
              </a:rPr>
              <a:t>Y.ename</a:t>
            </a:r>
            <a:r>
              <a:rPr lang="en-GB" altLang="zh-CN" sz="2800" b="1" dirty="0">
                <a:ea typeface="宋体" pitchFamily="2" charset="-122"/>
              </a:rPr>
              <a:t> = 'JONES';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a typeface="宋体" pitchFamily="2" charset="-122"/>
              </a:rPr>
              <a:t>How to change it if I want to know who earn not less than john?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30CC69B-1584-C739-5C86-88C38E287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Alias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A1E0E23-CF97-109C-2D9E-5D920D92E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Example: Find the names and GPAs of all students who take Course A. 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  select  </a:t>
            </a:r>
            <a:r>
              <a:rPr lang="en-US" altLang="zh-CN" sz="2000" b="1" dirty="0" err="1">
                <a:ea typeface="宋体" pitchFamily="2" charset="-122"/>
              </a:rPr>
              <a:t>SName</a:t>
            </a:r>
            <a:r>
              <a:rPr lang="en-US" altLang="zh-CN" sz="2000" b="1" dirty="0">
                <a:ea typeface="宋体" pitchFamily="2" charset="-122"/>
              </a:rPr>
              <a:t>, GPA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ea typeface="宋体" pitchFamily="2" charset="-122"/>
              </a:rPr>
              <a:t>        from   Students s, Enrollment e, Courses c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ea typeface="宋体" pitchFamily="2" charset="-122"/>
              </a:rPr>
              <a:t>       where  Title = '</a:t>
            </a:r>
            <a:r>
              <a:rPr lang="en-US" altLang="zh-CN" sz="2000" b="1" dirty="0" err="1">
                <a:ea typeface="宋体" pitchFamily="2" charset="-122"/>
              </a:rPr>
              <a:t>CourseA</a:t>
            </a:r>
            <a:r>
              <a:rPr lang="en-US" altLang="zh-CN" sz="2000" b="1" dirty="0">
                <a:ea typeface="宋体" pitchFamily="2" charset="-122"/>
              </a:rPr>
              <a:t>'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ea typeface="宋体" pitchFamily="2" charset="-122"/>
              </a:rPr>
              <a:t>                    and </a:t>
            </a:r>
            <a:r>
              <a:rPr lang="en-US" altLang="zh-CN" sz="2000" b="1" dirty="0" err="1">
                <a:ea typeface="宋体" pitchFamily="2" charset="-122"/>
              </a:rPr>
              <a:t>s.SID</a:t>
            </a:r>
            <a:r>
              <a:rPr lang="en-US" altLang="zh-CN" sz="2000" b="1" dirty="0">
                <a:ea typeface="宋体" pitchFamily="2" charset="-122"/>
              </a:rPr>
              <a:t> = </a:t>
            </a:r>
            <a:r>
              <a:rPr lang="en-US" altLang="zh-CN" sz="2000" b="1" dirty="0" err="1">
                <a:ea typeface="宋体" pitchFamily="2" charset="-122"/>
              </a:rPr>
              <a:t>e.SID</a:t>
            </a:r>
            <a:r>
              <a:rPr lang="en-US" altLang="zh-CN" sz="2000" b="1" dirty="0">
                <a:ea typeface="宋体" pitchFamily="2" charset="-122"/>
              </a:rPr>
              <a:t>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ea typeface="宋体" pitchFamily="2" charset="-122"/>
              </a:rPr>
              <a:t>                     and </a:t>
            </a:r>
            <a:r>
              <a:rPr lang="en-US" altLang="zh-CN" sz="2000" b="1" dirty="0" err="1">
                <a:ea typeface="宋体" pitchFamily="2" charset="-122"/>
              </a:rPr>
              <a:t>e.Course_no</a:t>
            </a:r>
            <a:r>
              <a:rPr lang="en-US" altLang="zh-CN" sz="2000" b="1" dirty="0">
                <a:ea typeface="宋体" pitchFamily="2" charset="-122"/>
              </a:rPr>
              <a:t> = </a:t>
            </a:r>
            <a:r>
              <a:rPr lang="en-US" altLang="zh-CN" sz="2000" b="1" dirty="0" err="1">
                <a:ea typeface="宋体" pitchFamily="2" charset="-122"/>
              </a:rPr>
              <a:t>c.Course_no</a:t>
            </a:r>
            <a:r>
              <a:rPr lang="en-US" altLang="zh-CN" sz="2000" b="1" dirty="0">
                <a:ea typeface="宋体" pitchFamily="2" charset="-122"/>
              </a:rPr>
              <a:t>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ea typeface="宋体" pitchFamily="2" charset="-122"/>
              </a:rPr>
              <a:t> 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s, e and c are (relational) tuple variables (aliases, correlation names) for relations Students,  Enrollment and Courses. 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Tuple variables can be used to simplify query specification and save time.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Tuple variables are also useful when tuples from the same relation need to be compared.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8AC35AE-2B93-B913-B577-C8339EB06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6995455-424F-3EA6-B902-2B98C4627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3434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Example:  Find the ID information of all pairs of students who have the same GPA.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select s1.SID, s2.SID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from Students s1, Students s2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where s1.GPA = s2.GPA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         and s1.SID &lt; s2.SID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60B95AB-DDE5-1EA6-182F-8E8291A2A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9CEBC51-7090-6D78-ECDD-532780BD6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Example:  Find the names of all students whose GPA is higher than CHENSHI 's GPA.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select s1.SName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from Students s1, Students s2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where s2.SName = 'CHENGSHI'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itchFamily="2" charset="-122"/>
              </a:rPr>
              <a:t>                 and s1.GPA &gt; s2.GPA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4DBCFE7-8A9D-5213-19DA-6D9239E02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C35B4B3-3B07-693B-2D74-0C55CEFF5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8915400" cy="26670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Find the names and GPAs of all students who take database systems.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b="1" dirty="0">
                <a:ea typeface="宋体" pitchFamily="2" charset="-122"/>
              </a:rPr>
              <a:t>select </a:t>
            </a:r>
            <a:r>
              <a:rPr lang="en-US" altLang="zh-CN" sz="2400" b="1" dirty="0" err="1">
                <a:ea typeface="宋体" pitchFamily="2" charset="-122"/>
              </a:rPr>
              <a:t>SName</a:t>
            </a:r>
            <a:r>
              <a:rPr lang="en-US" altLang="zh-CN" sz="2400" b="1" dirty="0">
                <a:ea typeface="宋体" pitchFamily="2" charset="-122"/>
              </a:rPr>
              <a:t>, GPA from Students, Enrollment, Courses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a typeface="宋体" pitchFamily="2" charset="-122"/>
              </a:rPr>
              <a:t>   where Title = `DBS‘ and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a typeface="宋体" pitchFamily="2" charset="-122"/>
              </a:rPr>
              <a:t>             </a:t>
            </a:r>
            <a:r>
              <a:rPr lang="en-US" altLang="zh-CN" sz="2400" b="1" dirty="0">
                <a:ea typeface="宋体" pitchFamily="2" charset="-122"/>
              </a:rPr>
              <a:t> </a:t>
            </a:r>
            <a:r>
              <a:rPr lang="en-US" altLang="zh-CN" sz="2400" b="1" dirty="0" err="1">
                <a:ea typeface="宋体" pitchFamily="2" charset="-122"/>
              </a:rPr>
              <a:t>Students.SID</a:t>
            </a:r>
            <a:r>
              <a:rPr lang="en-US" altLang="zh-CN" sz="2400" b="1" dirty="0">
                <a:ea typeface="宋体" pitchFamily="2" charset="-122"/>
              </a:rPr>
              <a:t> = </a:t>
            </a:r>
            <a:r>
              <a:rPr lang="en-US" altLang="zh-CN" sz="2400" b="1" dirty="0" err="1">
                <a:ea typeface="宋体" pitchFamily="2" charset="-122"/>
              </a:rPr>
              <a:t>Enrollment.SID</a:t>
            </a:r>
            <a:r>
              <a:rPr lang="en-US" altLang="zh-CN" sz="2400" b="1" dirty="0">
                <a:ea typeface="宋体" pitchFamily="2" charset="-122"/>
              </a:rPr>
              <a:t>   and </a:t>
            </a:r>
            <a:r>
              <a:rPr lang="zh-CN" altLang="en-US" sz="2400" b="1" dirty="0">
                <a:ea typeface="宋体" pitchFamily="2" charset="-122"/>
              </a:rPr>
              <a:t>       </a:t>
            </a:r>
            <a:endParaRPr lang="en-US" altLang="zh-CN" sz="2400" b="1" dirty="0">
              <a:ea typeface="宋体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a typeface="宋体" pitchFamily="2" charset="-122"/>
              </a:rPr>
              <a:t>              </a:t>
            </a:r>
            <a:r>
              <a:rPr lang="en-US" altLang="zh-CN" sz="2400" b="1" dirty="0" err="1">
                <a:ea typeface="宋体" pitchFamily="2" charset="-122"/>
              </a:rPr>
              <a:t>Enrollment.Course_no</a:t>
            </a:r>
            <a:r>
              <a:rPr lang="en-US" altLang="zh-CN" sz="2400" b="1" dirty="0">
                <a:ea typeface="宋体" pitchFamily="2" charset="-122"/>
              </a:rPr>
              <a:t> = </a:t>
            </a:r>
            <a:r>
              <a:rPr lang="en-US" altLang="zh-CN" sz="2400" b="1" dirty="0" err="1">
                <a:ea typeface="宋体" pitchFamily="2" charset="-122"/>
              </a:rPr>
              <a:t>Courses.Course_no</a:t>
            </a:r>
            <a:endParaRPr lang="en-US" altLang="zh-CN" sz="2400" b="1" dirty="0">
              <a:ea typeface="宋体" pitchFamily="2" charset="-122"/>
            </a:endParaRPr>
          </a:p>
        </p:txBody>
      </p:sp>
      <p:pic>
        <p:nvPicPr>
          <p:cNvPr id="41988" name="图片 13">
            <a:extLst>
              <a:ext uri="{FF2B5EF4-FFF2-40B4-BE49-F238E27FC236}">
                <a16:creationId xmlns:a16="http://schemas.microsoft.com/office/drawing/2014/main" id="{CCB227C1-1DC5-67D3-D27C-027B5454A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67200"/>
            <a:ext cx="7086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7FD4927-9108-A4E7-E2F8-275F087C7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Set Operation :Union Intersect &amp; Minus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AD4D856-967F-AA4D-AB4E-4DE6D295C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SQL supports three set operations: union, intersect, minus</a:t>
            </a:r>
          </a:p>
          <a:p>
            <a:r>
              <a:rPr lang="en-US" altLang="zh-CN">
                <a:ea typeface="宋体" panose="02010600030101010101" pitchFamily="2" charset="-122"/>
              </a:rPr>
              <a:t>Union compatibility is required.</a:t>
            </a:r>
          </a:p>
          <a:p>
            <a:r>
              <a:rPr lang="en-US" altLang="zh-CN">
                <a:ea typeface="宋体" panose="02010600030101010101" pitchFamily="2" charset="-122"/>
              </a:rPr>
              <a:t>Consider the following two relations: </a:t>
            </a:r>
          </a:p>
          <a:p>
            <a:r>
              <a:rPr lang="en-US" altLang="zh-CN" b="1">
                <a:ea typeface="宋体" panose="02010600030101010101" pitchFamily="2" charset="-122"/>
              </a:rPr>
              <a:t>G_Students(SID, Name, GPA, GRE, Dept_Name)</a:t>
            </a:r>
          </a:p>
          <a:p>
            <a:r>
              <a:rPr lang="en-US" altLang="zh-CN" b="1">
                <a:ea typeface="宋体" panose="02010600030101010101" pitchFamily="2" charset="-122"/>
              </a:rPr>
              <a:t>Instructors(SID, Name, Office, Salary, Dept_Name)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23C1C21-EF0D-52E1-DE16-7A9AF8981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Union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4FD92BF-ABD8-2A68-70E8-92BD93F96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ea typeface="宋体" pitchFamily="2" charset="-122"/>
              </a:rPr>
              <a:t>Example:  Find the names of those people who are either select lesson 21001001 or  lesson 22003002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ea typeface="宋体" pitchFamily="2" charset="-122"/>
              </a:rPr>
              <a:t>  (select </a:t>
            </a:r>
            <a:r>
              <a:rPr lang="en-US" altLang="zh-CN" sz="2800" dirty="0" err="1">
                <a:ea typeface="宋体" pitchFamily="2" charset="-122"/>
              </a:rPr>
              <a:t>SName</a:t>
            </a:r>
            <a:r>
              <a:rPr lang="en-US" altLang="zh-CN" sz="2800" dirty="0">
                <a:ea typeface="宋体" pitchFamily="2" charset="-122"/>
              </a:rPr>
              <a:t> from students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where   SID=any (select SID from enrollment      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where </a:t>
            </a:r>
            <a:r>
              <a:rPr lang="en-US" altLang="zh-CN" sz="2800" dirty="0" err="1">
                <a:ea typeface="宋体" pitchFamily="2" charset="-122"/>
              </a:rPr>
              <a:t>course_no</a:t>
            </a:r>
            <a:r>
              <a:rPr lang="en-US" altLang="zh-CN" sz="2800" dirty="0">
                <a:ea typeface="宋体" pitchFamily="2" charset="-122"/>
              </a:rPr>
              <a:t>=21001001)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 union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 (select </a:t>
            </a:r>
            <a:r>
              <a:rPr lang="en-US" altLang="zh-CN" sz="2800" dirty="0" err="1">
                <a:ea typeface="宋体" pitchFamily="2" charset="-122"/>
              </a:rPr>
              <a:t>SName</a:t>
            </a:r>
            <a:r>
              <a:rPr lang="en-US" altLang="zh-CN" sz="2800" dirty="0">
                <a:ea typeface="宋体" pitchFamily="2" charset="-122"/>
              </a:rPr>
              <a:t> from students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where   SID=any (select SID from enrollment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 where </a:t>
            </a:r>
            <a:r>
              <a:rPr lang="en-US" altLang="zh-CN" sz="2800" dirty="0" err="1">
                <a:ea typeface="宋体" pitchFamily="2" charset="-122"/>
              </a:rPr>
              <a:t>course_no</a:t>
            </a:r>
            <a:r>
              <a:rPr lang="en-US" altLang="zh-CN" sz="2800" dirty="0">
                <a:ea typeface="宋体" pitchFamily="2" charset="-122"/>
              </a:rPr>
              <a:t>=22003002) 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1A87CDC-26E9-BBF0-7EFA-6033B1171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0F75D6F-5BD1-6F1C-93C7-8E0B91B31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3352800"/>
          </a:xfrm>
        </p:spPr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union </a:t>
            </a:r>
            <a:r>
              <a:rPr lang="en-US" altLang="zh-CN">
                <a:ea typeface="宋体" panose="02010600030101010101" pitchFamily="2" charset="-122"/>
              </a:rPr>
              <a:t>removes duplicate rows.</a:t>
            </a:r>
          </a:p>
          <a:p>
            <a:r>
              <a:rPr lang="en-US" altLang="zh-CN" b="1">
                <a:ea typeface="宋体" panose="02010600030101010101" pitchFamily="2" charset="-122"/>
              </a:rPr>
              <a:t>union all </a:t>
            </a:r>
            <a:r>
              <a:rPr lang="en-US" altLang="zh-CN">
                <a:ea typeface="宋体" panose="02010600030101010101" pitchFamily="2" charset="-122"/>
              </a:rPr>
              <a:t>keeps duplicate rows.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78022C7-50B5-C075-8368-D4291D05D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Set Operation: Intersect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1E86C95-CBE1-2B5A-0CE2-02853755D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Example: Find the names of those people who  select lesson 21001001 and lesson 22003002</a:t>
            </a:r>
            <a:endParaRPr lang="en-US" altLang="zh-CN" sz="2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(select SName from students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where   SID=any (select SID from enrollment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  where course_no=21001001) )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intersect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(select SName from students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where   SID=any (select SID from enrollment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  where course_no=22003002) 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E0930FB1-89C6-358F-14C6-9DB4443D8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Set Operation: Minus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D253ECD-D82F-BEA7-BE73-6C36B8BC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Example: Find the names of those who select lesson 21001001 but has not select the lesson 22003002</a:t>
            </a:r>
            <a:endParaRPr lang="en-US" altLang="zh-CN" sz="2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(select SName from students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where   SID=any (select SID from enrollment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  where course_no=21001001) )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minus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(select SName from students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where   SID=any (select SID from enrollment 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       where course_no=22003002) 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B8CE322-90B5-0404-98AC-CF5F51003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Set Operation: IN &amp; NOT IN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3F26D3A-05C5-BBFB-39CD-D98485511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8768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Example: Find all students who are 20, 21, or 19 years old.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select * from Students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     where Age in (19, 20, 21)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not in is the opposite of in.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BEBEB4A-2B92-7B5E-9553-CFCC79E19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Nested Query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E5D9602-1362-4E0D-C3A6-A579DEF5E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2800">
                <a:ea typeface="宋体" panose="02010600030101010101" pitchFamily="2" charset="-122"/>
              </a:rPr>
              <a:t>SELECT  select-list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FROM .........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WHERE  (select-field1, select-field2,.........)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	comparison operator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		(SELECT  select-list2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			FROM........</a:t>
            </a:r>
          </a:p>
          <a:p>
            <a:r>
              <a:rPr lang="en-GB" altLang="zh-CN" sz="2800">
                <a:ea typeface="宋体" panose="02010600030101010101" pitchFamily="2" charset="-122"/>
              </a:rPr>
              <a:t>				WHERE (..........))</a:t>
            </a: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4FE8DE4A-9BCF-D504-2F12-1DEA9EE1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Nested Query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17C0AD4-3950-FD4E-F268-A49F97E27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b="1" dirty="0">
                <a:ea typeface="宋体" pitchFamily="2" charset="-122"/>
              </a:rPr>
              <a:t>Example: Find the names of all students who take at least one course offered by the College Of Software college. </a:t>
            </a:r>
          </a:p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select </a:t>
            </a:r>
            <a:r>
              <a:rPr lang="en-US" altLang="zh-CN" sz="2800" dirty="0" err="1">
                <a:ea typeface="宋体" pitchFamily="2" charset="-122"/>
              </a:rPr>
              <a:t>sName</a:t>
            </a:r>
            <a:r>
              <a:rPr lang="en-US" altLang="zh-CN" sz="2800" dirty="0">
                <a:ea typeface="宋体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from Students s, Enrollment 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where </a:t>
            </a:r>
            <a:r>
              <a:rPr lang="en-US" altLang="zh-CN" sz="2800" dirty="0" err="1">
                <a:ea typeface="宋体" pitchFamily="2" charset="-122"/>
              </a:rPr>
              <a:t>s.SID</a:t>
            </a:r>
            <a:r>
              <a:rPr lang="en-US" altLang="zh-CN" sz="2800" dirty="0">
                <a:ea typeface="宋体" pitchFamily="2" charset="-122"/>
              </a:rPr>
              <a:t> = </a:t>
            </a:r>
            <a:r>
              <a:rPr lang="en-US" altLang="zh-CN" sz="2800" dirty="0" err="1">
                <a:ea typeface="宋体" pitchFamily="2" charset="-122"/>
              </a:rPr>
              <a:t>e.SID</a:t>
            </a:r>
            <a:r>
              <a:rPr lang="en-US" altLang="zh-CN" sz="2800" dirty="0">
                <a:ea typeface="宋体" pitchFamily="2" charset="-122"/>
              </a:rPr>
              <a:t> and </a:t>
            </a:r>
            <a:r>
              <a:rPr lang="en-US" altLang="zh-CN" sz="2800" dirty="0" err="1">
                <a:ea typeface="宋体" pitchFamily="2" charset="-122"/>
              </a:rPr>
              <a:t>e.Course_no</a:t>
            </a:r>
            <a:r>
              <a:rPr lang="en-US" altLang="zh-CN" sz="2800" dirty="0">
                <a:ea typeface="宋体" pitchFamily="2" charset="-122"/>
              </a:rPr>
              <a:t> in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        (select </a:t>
            </a:r>
            <a:r>
              <a:rPr lang="en-US" altLang="zh-CN" sz="2800" dirty="0" err="1">
                <a:ea typeface="宋体" pitchFamily="2" charset="-122"/>
              </a:rPr>
              <a:t>Course_no</a:t>
            </a:r>
            <a:r>
              <a:rPr lang="en-US" altLang="zh-CN" sz="2800" dirty="0">
                <a:ea typeface="宋体" pitchFamily="2" charset="-122"/>
              </a:rPr>
              <a:t>  from Courses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          where </a:t>
            </a:r>
            <a:r>
              <a:rPr lang="en-US" altLang="zh-CN" sz="2800" dirty="0" err="1">
                <a:ea typeface="宋体" pitchFamily="2" charset="-122"/>
              </a:rPr>
              <a:t>C_name</a:t>
            </a:r>
            <a:r>
              <a:rPr lang="en-US" altLang="zh-CN" sz="2800" dirty="0">
                <a:ea typeface="宋体" pitchFamily="2" charset="-122"/>
              </a:rPr>
              <a:t> = ' College Of Software')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3093F05-E565-24C2-5FDF-500570925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ED64CDA-6EDA-FD5B-8C09-E0A9E4335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(2)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select SName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from Students where SID in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(select SID from Enrollment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where Course_no in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(select Course_no from Courses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where c_name = 'College Of Software'))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B76107F-D7D4-907D-28D0-53B785DCC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comparison-operator:</a:t>
            </a:r>
            <a:endParaRPr lang="en-US" altLang="zh-CN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A1BC31F-F888-F01F-8ED9-E7031A9E6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ALL  -- the comparison must be true for all returned values.</a:t>
            </a:r>
          </a:p>
          <a:p>
            <a:r>
              <a:rPr lang="en-GB" altLang="zh-CN">
                <a:ea typeface="宋体" panose="02010600030101010101" pitchFamily="2" charset="-122"/>
              </a:rPr>
              <a:t>ANY -- The comparison need only be true for one returned value.</a:t>
            </a:r>
          </a:p>
          <a:p>
            <a:r>
              <a:rPr lang="en-GB" altLang="zh-CN">
                <a:ea typeface="宋体" panose="02010600030101010101" pitchFamily="2" charset="-122"/>
              </a:rPr>
              <a:t>IN  may be used in place of  = ANY.</a:t>
            </a:r>
          </a:p>
          <a:p>
            <a:r>
              <a:rPr lang="en-GB" altLang="zh-CN">
                <a:ea typeface="宋体" panose="02010600030101010101" pitchFamily="2" charset="-122"/>
              </a:rPr>
              <a:t>NOT IN  may be used in place of !=  ALL.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68125E1-B38F-F048-F61D-9A5CC98D4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E4D3ADE-A2D2-80FD-C6BF-A661DE4EB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previous query is a </a:t>
            </a:r>
            <a:r>
              <a:rPr lang="en-US" altLang="zh-CN" b="1">
                <a:ea typeface="宋体" panose="02010600030101010101" pitchFamily="2" charset="-122"/>
              </a:rPr>
              <a:t>nested query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query outside is an </a:t>
            </a:r>
            <a:r>
              <a:rPr lang="en-US" altLang="zh-CN" b="1">
                <a:ea typeface="宋体" panose="02010600030101010101" pitchFamily="2" charset="-122"/>
              </a:rPr>
              <a:t>outer query </a:t>
            </a:r>
            <a:r>
              <a:rPr lang="en-US" altLang="zh-CN">
                <a:ea typeface="宋体" panose="02010600030101010101" pitchFamily="2" charset="-122"/>
              </a:rPr>
              <a:t>and the query nested under the outer query is an </a:t>
            </a:r>
            <a:r>
              <a:rPr lang="en-US" altLang="zh-CN" b="1">
                <a:ea typeface="宋体" panose="02010600030101010101" pitchFamily="2" charset="-122"/>
              </a:rPr>
              <a:t>inner query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Multiple nesting's are allowed.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The semantics of the above query is to </a:t>
            </a:r>
            <a:r>
              <a:rPr lang="en-US" altLang="zh-CN" b="1">
                <a:ea typeface="宋体" panose="02010600030101010101" pitchFamily="2" charset="-122"/>
              </a:rPr>
              <a:t>evaluate the inner query first and evaluate the outer query last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Many nested queries have equivalent non-nested versions.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A8C448B8-78EA-D179-8EF8-6DD33C64C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Non Nested Equivalent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A441F6B-D141-1059-74AD-C192033B7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The previous query is equivalent to: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(1)  select SName  from Students s, Enrollment e, Courses 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where s.SID = e.SID  and e.Course_no =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c.Course_no and c.c_name = 'College Of Software 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2067708-94FC-E87C-EF86-0AC1B57F2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Correlated Query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8C0ADD7-DC9E-E8DB-B044-734196D1E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Definition: If some attributes of a relation declared in the from clause of an </a:t>
            </a:r>
            <a:r>
              <a:rPr lang="en-US" altLang="zh-CN" sz="2800" b="1">
                <a:ea typeface="宋体" panose="02010600030101010101" pitchFamily="2" charset="-122"/>
              </a:rPr>
              <a:t>outer query </a:t>
            </a:r>
            <a:r>
              <a:rPr lang="en-US" altLang="zh-CN" sz="2800">
                <a:ea typeface="宋体" panose="02010600030101010101" pitchFamily="2" charset="-122"/>
              </a:rPr>
              <a:t>are referenced in the where clause of an </a:t>
            </a:r>
            <a:r>
              <a:rPr lang="en-US" altLang="zh-CN" sz="2800" b="1">
                <a:ea typeface="宋体" panose="02010600030101010101" pitchFamily="2" charset="-122"/>
              </a:rPr>
              <a:t>inner query</a:t>
            </a:r>
            <a:r>
              <a:rPr lang="en-US" altLang="zh-CN" sz="2800">
                <a:ea typeface="宋体" panose="02010600030101010101" pitchFamily="2" charset="-122"/>
              </a:rPr>
              <a:t>, then the two queries are said to be </a:t>
            </a:r>
            <a:r>
              <a:rPr lang="en-US" altLang="zh-CN" sz="2800" b="1">
                <a:ea typeface="宋体" panose="02010600030101010101" pitchFamily="2" charset="-122"/>
              </a:rPr>
              <a:t>correlated</a:t>
            </a:r>
            <a:r>
              <a:rPr lang="en-US" altLang="zh-CN" sz="2800">
                <a:ea typeface="宋体" panose="02010600030101010101" pitchFamily="2" charset="-122"/>
              </a:rPr>
              <a:t>, and the inner query is called a correlated inner query.</a:t>
            </a:r>
            <a:endParaRPr lang="en-US" altLang="zh-CN" sz="28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Find the names of all student  who has select the CourseA.</a:t>
            </a:r>
          </a:p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select sname from students where SID in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(select SID from enrollment where course_no in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(select course_no from courses where title='CourseA' )) 	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E1B948A-7756-8199-B029-48DE12A0F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BF38215-8B76-16FF-2D63-57318D88F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Evaluation of correlated queries: </a:t>
            </a:r>
            <a:r>
              <a:rPr lang="en-US" altLang="zh-CN" sz="2800">
                <a:ea typeface="宋体" panose="02010600030101010101" pitchFamily="2" charset="-122"/>
              </a:rPr>
              <a:t>for each tuple  in the outer query, evaluate the inner query once. 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The scoping rule of attribute names: 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  select ... from R1, ..., Rk where 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 (select ... from S1, ..., Sm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where S1.A = R2.B and C = D and ... )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(1)  If attribute C is not an attribute in S1, ..., Sm, and C is an attribute in  some Ri, then C = Ri.C.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(2)  If C is in both Sj and Ri, then C = Sj.C.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B31F717-2A6A-2A45-CC11-00E4F453F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>
                <a:ea typeface="宋体" panose="02010600030101010101" pitchFamily="2" charset="-122"/>
              </a:rPr>
              <a:t>Other set comparison operators:  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516095D-5A69-7C49-1CEF-44726A628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&lt;some,  &lt;=some,  &gt;=some,  =some,  &lt;&gt;some,  &gt;any,  &lt;any,  &lt;=any,    &gt;=any,  =any,  &lt;&gt;any,  &gt;all,  &lt;all,  &lt;=all,  &gt;=all,  =all,   &lt;&gt;all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some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b="1">
                <a:ea typeface="宋体" panose="02010600030101010101" pitchFamily="2" charset="-122"/>
              </a:rPr>
              <a:t>any</a:t>
            </a:r>
            <a:r>
              <a:rPr lang="en-US" altLang="zh-CN" sz="2800">
                <a:ea typeface="宋体" panose="02010600030101010101" pitchFamily="2" charset="-122"/>
              </a:rPr>
              <a:t> have identical meaning.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=some </a:t>
            </a:r>
            <a:r>
              <a:rPr lang="en-US" altLang="zh-CN" sz="2800">
                <a:ea typeface="宋体" panose="02010600030101010101" pitchFamily="2" charset="-122"/>
              </a:rPr>
              <a:t>is equivalent to </a:t>
            </a:r>
            <a:r>
              <a:rPr lang="en-US" altLang="zh-CN" sz="2800" b="1">
                <a:ea typeface="宋体" panose="02010600030101010101" pitchFamily="2" charset="-122"/>
              </a:rPr>
              <a:t>in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&lt;&gt;some </a:t>
            </a:r>
            <a:r>
              <a:rPr lang="en-US" altLang="zh-CN" sz="2800">
                <a:ea typeface="宋体" panose="02010600030101010101" pitchFamily="2" charset="-122"/>
              </a:rPr>
              <a:t>is </a:t>
            </a:r>
            <a:r>
              <a:rPr lang="en-US" altLang="zh-CN" sz="2800" b="1">
                <a:ea typeface="宋体" panose="02010600030101010101" pitchFamily="2" charset="-122"/>
              </a:rPr>
              <a:t>not</a:t>
            </a:r>
            <a:r>
              <a:rPr lang="en-US" altLang="zh-CN" sz="2800">
                <a:ea typeface="宋体" panose="02010600030101010101" pitchFamily="2" charset="-122"/>
              </a:rPr>
              <a:t> equivalent to </a:t>
            </a:r>
            <a:r>
              <a:rPr lang="en-US" altLang="zh-CN" sz="2800" b="1">
                <a:ea typeface="宋体" panose="02010600030101010101" pitchFamily="2" charset="-122"/>
              </a:rPr>
              <a:t>not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  <a:r>
              <a:rPr lang="en-US" altLang="zh-CN" sz="2800" b="1">
                <a:ea typeface="宋体" panose="02010600030101010101" pitchFamily="2" charset="-122"/>
              </a:rPr>
              <a:t>in</a:t>
            </a:r>
            <a:r>
              <a:rPr lang="en-US" altLang="zh-CN" sz="2800">
                <a:ea typeface="宋体" panose="02010600030101010101" pitchFamily="2" charset="-122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&lt;&gt;all </a:t>
            </a:r>
            <a:r>
              <a:rPr lang="en-US" altLang="zh-CN" sz="2800">
                <a:ea typeface="宋体" panose="02010600030101010101" pitchFamily="2" charset="-122"/>
              </a:rPr>
              <a:t>is equivalent to </a:t>
            </a:r>
            <a:r>
              <a:rPr lang="en-US" altLang="zh-CN" sz="2800" b="1">
                <a:ea typeface="宋体" panose="02010600030101010101" pitchFamily="2" charset="-122"/>
              </a:rPr>
              <a:t>not in</a:t>
            </a:r>
            <a:r>
              <a:rPr lang="en-US" altLang="zh-CN" sz="2800">
                <a:ea typeface="宋体" panose="02010600030101010101" pitchFamily="2" charset="-122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Let x = a and S = {a, b}.  </a:t>
            </a:r>
          </a:p>
          <a:p>
            <a:pPr>
              <a:lnSpc>
                <a:spcPct val="80000"/>
              </a:lnSpc>
            </a:pPr>
            <a:r>
              <a:rPr lang="en-US" altLang="zh-CN" sz="2800">
                <a:ea typeface="宋体" panose="02010600030101010101" pitchFamily="2" charset="-122"/>
              </a:rPr>
              <a:t>Then </a:t>
            </a:r>
            <a:r>
              <a:rPr lang="en-US" altLang="zh-CN" sz="2800" b="1">
                <a:ea typeface="宋体" panose="02010600030101010101" pitchFamily="2" charset="-122"/>
              </a:rPr>
              <a:t>x &lt;&gt;some S</a:t>
            </a:r>
            <a:r>
              <a:rPr lang="en-US" altLang="zh-CN" sz="2800">
                <a:ea typeface="宋体" panose="02010600030101010101" pitchFamily="2" charset="-122"/>
              </a:rPr>
              <a:t> is true but </a:t>
            </a:r>
            <a:r>
              <a:rPr lang="en-US" altLang="zh-CN" sz="2800" b="1">
                <a:ea typeface="宋体" panose="02010600030101010101" pitchFamily="2" charset="-122"/>
              </a:rPr>
              <a:t>x not in S </a:t>
            </a:r>
            <a:r>
              <a:rPr lang="en-US" altLang="zh-CN" sz="2800">
                <a:ea typeface="宋体" panose="02010600030101010101" pitchFamily="2" charset="-122"/>
              </a:rPr>
              <a:t>is false.  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x &lt;&gt;all S </a:t>
            </a:r>
            <a:r>
              <a:rPr lang="en-US" altLang="zh-CN" sz="2800">
                <a:ea typeface="宋体" panose="02010600030101010101" pitchFamily="2" charset="-122"/>
              </a:rPr>
              <a:t>is also false.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3066A3C-985D-21B3-8003-4320E2FFD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1884951-01E8-01EB-2454-AEE4160FC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Example: Find the names of those students who are 18 or younger and whose GPA is higher than the GPA of some students who are 20 or older.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select Name from Students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where Age &lt;= 18 and GPA &gt;some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(select GPA from Students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where Age &gt;= 20)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F630112-CAE4-7F64-66FE-26FCCDEC0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Exists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82AF934-5EBB-B17A-B04E-40F390EA0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Example:  Find all students who take at least one course.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select * from Students s where exists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(select * from Enrollment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where SID = s.SID)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1BB9B44-4A0C-3C4D-4B03-0E4307B2D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Exists and not Exists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A480ED7-97A7-BCA8-DFC4-86A62C5B5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exists ( ) is true if the set ( ) is not empty.</a:t>
            </a:r>
          </a:p>
          <a:p>
            <a:r>
              <a:rPr lang="en-US" altLang="zh-CN">
                <a:ea typeface="宋体" panose="02010600030101010101" pitchFamily="2" charset="-122"/>
              </a:rPr>
              <a:t>exists ( ) is false if the set ( ) is empty.</a:t>
            </a:r>
          </a:p>
          <a:p>
            <a:r>
              <a:rPr lang="en-US" altLang="zh-CN">
                <a:ea typeface="宋体" panose="02010600030101010101" pitchFamily="2" charset="-122"/>
              </a:rPr>
              <a:t>not exists ( ) is true if the set ( ) is empty.</a:t>
            </a:r>
          </a:p>
          <a:p>
            <a:r>
              <a:rPr lang="en-US" altLang="zh-CN">
                <a:ea typeface="宋体" panose="02010600030101010101" pitchFamily="2" charset="-122"/>
              </a:rPr>
              <a:t>not exists ( ) is false if the set ( ) is not empty.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C0BF933-FB5B-DACA-DD9F-491BC6582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07539E4-2E52-54D5-F6DA-F87E26A25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The previous query is equivalent to: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(1)      select s.* </a:t>
            </a:r>
          </a:p>
          <a:p>
            <a:r>
              <a:rPr lang="en-US" altLang="zh-CN">
                <a:ea typeface="宋体" panose="02010600030101010101" pitchFamily="2" charset="-122"/>
              </a:rPr>
              <a:t>           from Students s, Enrollment e </a:t>
            </a:r>
          </a:p>
          <a:p>
            <a:r>
              <a:rPr lang="en-US" altLang="zh-CN">
                <a:ea typeface="宋体" panose="02010600030101010101" pitchFamily="2" charset="-122"/>
              </a:rPr>
              <a:t>           where s.SID = e.SID</a:t>
            </a:r>
          </a:p>
          <a:p>
            <a:r>
              <a:rPr lang="en-US" altLang="zh-CN">
                <a:ea typeface="宋体" panose="02010600030101010101" pitchFamily="2" charset="-122"/>
              </a:rPr>
              <a:t>(2)      select * from Students where SID in </a:t>
            </a:r>
          </a:p>
          <a:p>
            <a:r>
              <a:rPr lang="en-US" altLang="zh-CN">
                <a:ea typeface="宋体" panose="02010600030101010101" pitchFamily="2" charset="-122"/>
              </a:rPr>
              <a:t>                (select SID from Enrollment)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983B563-8D0B-3739-A05A-80E798CA8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Cont…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390664D-6B39-5D70-9AD0-D3C21CC57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b="1" dirty="0">
                <a:ea typeface="宋体" pitchFamily="2" charset="-122"/>
              </a:rPr>
              <a:t>Find all students who do not take 21003001</a:t>
            </a:r>
            <a:r>
              <a:rPr lang="en-US" altLang="zh-CN" sz="2800" dirty="0">
                <a:ea typeface="宋体" pitchFamily="2" charset="-122"/>
              </a:rPr>
              <a:t>.</a:t>
            </a:r>
          </a:p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select * from Students s where not exists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(select * from Enrollment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where SID = </a:t>
            </a:r>
            <a:r>
              <a:rPr lang="en-US" altLang="zh-CN" sz="2800" dirty="0" err="1">
                <a:ea typeface="宋体" pitchFamily="2" charset="-122"/>
              </a:rPr>
              <a:t>s.SID</a:t>
            </a:r>
            <a:r>
              <a:rPr lang="en-US" altLang="zh-CN" sz="2800" dirty="0">
                <a:ea typeface="宋体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and </a:t>
            </a:r>
            <a:r>
              <a:rPr lang="en-US" altLang="zh-CN" sz="2800" dirty="0" err="1">
                <a:ea typeface="宋体" pitchFamily="2" charset="-122"/>
              </a:rPr>
              <a:t>Course_no</a:t>
            </a:r>
            <a:r>
              <a:rPr lang="en-US" altLang="zh-CN" sz="2800" dirty="0">
                <a:ea typeface="宋体" pitchFamily="2" charset="-122"/>
              </a:rPr>
              <a:t> = '21003001.')</a:t>
            </a:r>
          </a:p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This query is equivalent to: (nested query)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select * from Students where SID not in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(select SID from Enrollment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itchFamily="2" charset="-122"/>
              </a:rPr>
              <a:t>   where </a:t>
            </a:r>
            <a:r>
              <a:rPr lang="en-US" altLang="zh-CN" sz="2800" dirty="0" err="1">
                <a:ea typeface="宋体" pitchFamily="2" charset="-122"/>
              </a:rPr>
              <a:t>Course_no</a:t>
            </a:r>
            <a:r>
              <a:rPr lang="en-US" altLang="zh-CN" sz="2800" dirty="0">
                <a:ea typeface="宋体" pitchFamily="2" charset="-122"/>
              </a:rPr>
              <a:t> = '21003001.')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67">
            <a:extLst>
              <a:ext uri="{FF2B5EF4-FFF2-40B4-BE49-F238E27FC236}">
                <a16:creationId xmlns:a16="http://schemas.microsoft.com/office/drawing/2014/main" id="{4EAD3EBE-3EAC-7ABE-7DE2-9CEBFAD60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6FF6036-EECA-6FA3-6452-B3B5590DF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Find all the students who take all courses.</a:t>
            </a:r>
            <a:endParaRPr lang="en-US" altLang="zh-CN" sz="400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A1284F6-B894-5EE4-FC0A-22C305FE8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191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select * from Students s where not exists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(select * from Courses c where not exists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(select * from Enrollment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where SID = </a:t>
            </a:r>
            <a:r>
              <a:rPr lang="en-US" altLang="zh-CN" dirty="0" err="1">
                <a:ea typeface="宋体" pitchFamily="2" charset="-122"/>
              </a:rPr>
              <a:t>s.SID</a:t>
            </a:r>
            <a:r>
              <a:rPr lang="en-US" altLang="zh-CN" dirty="0">
                <a:ea typeface="宋体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  and </a:t>
            </a:r>
            <a:r>
              <a:rPr lang="en-US" altLang="zh-CN" dirty="0" err="1">
                <a:ea typeface="宋体" pitchFamily="2" charset="-122"/>
              </a:rPr>
              <a:t>Course_no</a:t>
            </a:r>
            <a:r>
              <a:rPr lang="en-US" altLang="zh-CN" dirty="0">
                <a:ea typeface="宋体" pitchFamily="2" charset="-122"/>
              </a:rPr>
              <a:t> = </a:t>
            </a:r>
            <a:r>
              <a:rPr lang="en-US" altLang="zh-CN" dirty="0" err="1">
                <a:ea typeface="宋体" pitchFamily="2" charset="-122"/>
              </a:rPr>
              <a:t>c.Course_no</a:t>
            </a:r>
            <a:r>
              <a:rPr lang="en-US" altLang="zh-CN" dirty="0">
                <a:ea typeface="宋体" pitchFamily="2" charset="-122"/>
              </a:rPr>
              <a:t>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黑体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DBStemplate</Template>
  <TotalTime>2220</TotalTime>
  <Words>3392</Words>
  <Application>Microsoft Office PowerPoint</Application>
  <PresentationFormat>全屏显示(4:3)</PresentationFormat>
  <Paragraphs>407</Paragraphs>
  <Slides>58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8" baseType="lpstr">
      <vt:lpstr>Arial</vt:lpstr>
      <vt:lpstr>宋体</vt:lpstr>
      <vt:lpstr>黑体</vt:lpstr>
      <vt:lpstr>Wingdings</vt:lpstr>
      <vt:lpstr>Calibri</vt:lpstr>
      <vt:lpstr>Verdana</vt:lpstr>
      <vt:lpstr>Arial Black</vt:lpstr>
      <vt:lpstr>Comic Sans MS</vt:lpstr>
      <vt:lpstr>Times New Roman</vt:lpstr>
      <vt:lpstr>1_Pixel</vt:lpstr>
      <vt:lpstr>SQL -Some interesting facts about SQL</vt:lpstr>
      <vt:lpstr>Cont…</vt:lpstr>
      <vt:lpstr>Major Components of SQL </vt:lpstr>
      <vt:lpstr>Domain Types in DB2</vt:lpstr>
      <vt:lpstr>THE DATA DEFINITION LANGUAGE (DDL) in SQL</vt:lpstr>
      <vt:lpstr>Create table command</vt:lpstr>
      <vt:lpstr>Integrity Constraints</vt:lpstr>
      <vt:lpstr>Some constrains</vt:lpstr>
      <vt:lpstr>ALTER  the table structure </vt:lpstr>
      <vt:lpstr>DROP TABLE</vt:lpstr>
      <vt:lpstr>DML modifying contents</vt:lpstr>
      <vt:lpstr>Insert </vt:lpstr>
      <vt:lpstr>Update Command</vt:lpstr>
      <vt:lpstr>Delete command</vt:lpstr>
      <vt:lpstr>Basic Structure of an SQL Query </vt:lpstr>
      <vt:lpstr>Relation schemas under consideration:</vt:lpstr>
      <vt:lpstr>CONT…</vt:lpstr>
      <vt:lpstr>Cont…</vt:lpstr>
      <vt:lpstr>To retrieve all attributes of a relation, use the *</vt:lpstr>
      <vt:lpstr>Cont…</vt:lpstr>
      <vt:lpstr>Cont…</vt:lpstr>
      <vt:lpstr>Between clause</vt:lpstr>
      <vt:lpstr>Like clause</vt:lpstr>
      <vt:lpstr>Cont…</vt:lpstr>
      <vt:lpstr>Cont…</vt:lpstr>
      <vt:lpstr>THE ORDER BY CLAUSE</vt:lpstr>
      <vt:lpstr>Cont…</vt:lpstr>
      <vt:lpstr>JOINING TABLES</vt:lpstr>
      <vt:lpstr>JOINING TABLES in SQL</vt:lpstr>
      <vt:lpstr>Alias for a table</vt:lpstr>
      <vt:lpstr>Joining a Table to Itself</vt:lpstr>
      <vt:lpstr>Cont…</vt:lpstr>
      <vt:lpstr>Alias</vt:lpstr>
      <vt:lpstr>Cont…</vt:lpstr>
      <vt:lpstr>Cont…</vt:lpstr>
      <vt:lpstr>Cont…</vt:lpstr>
      <vt:lpstr>Set Operation :Union Intersect &amp; Minus</vt:lpstr>
      <vt:lpstr>Union</vt:lpstr>
      <vt:lpstr>Cont…</vt:lpstr>
      <vt:lpstr>Set Operation: Intersect</vt:lpstr>
      <vt:lpstr>Set Operation: Minus</vt:lpstr>
      <vt:lpstr>Set Operation: IN &amp; NOT IN</vt:lpstr>
      <vt:lpstr>Nested Query</vt:lpstr>
      <vt:lpstr>Nested Query</vt:lpstr>
      <vt:lpstr>Cont…</vt:lpstr>
      <vt:lpstr>comparison-operator:</vt:lpstr>
      <vt:lpstr>Cont…</vt:lpstr>
      <vt:lpstr>Non Nested Equivalent</vt:lpstr>
      <vt:lpstr>Correlated Query</vt:lpstr>
      <vt:lpstr>Cont…</vt:lpstr>
      <vt:lpstr>Other set comparison operators:  </vt:lpstr>
      <vt:lpstr>Cont…</vt:lpstr>
      <vt:lpstr>Exists</vt:lpstr>
      <vt:lpstr>Exists and not Exists</vt:lpstr>
      <vt:lpstr>Cont…</vt:lpstr>
      <vt:lpstr>Cont…</vt:lpstr>
      <vt:lpstr>PowerPoint 演示文稿</vt:lpstr>
      <vt:lpstr>Find all the students who take all courses.</vt:lpstr>
    </vt:vector>
  </TitlesOfParts>
  <Company>Software Dept., CIE, SZU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-Some interesting facts about SQL</dc:title>
  <dc:creator>Basker George</dc:creator>
  <cp:lastModifiedBy>Wenjun Lee</cp:lastModifiedBy>
  <cp:revision>70</cp:revision>
  <dcterms:created xsi:type="dcterms:W3CDTF">2009-03-09T05:30:10Z</dcterms:created>
  <dcterms:modified xsi:type="dcterms:W3CDTF">2025-09-15T16:08:17Z</dcterms:modified>
</cp:coreProperties>
</file>