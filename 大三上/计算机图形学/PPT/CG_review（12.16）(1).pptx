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94"/>
  </p:notesMasterIdLst>
  <p:sldIdLst>
    <p:sldId id="256" r:id="rId2"/>
    <p:sldId id="477" r:id="rId3"/>
    <p:sldId id="348" r:id="rId4"/>
    <p:sldId id="333" r:id="rId5"/>
    <p:sldId id="472" r:id="rId6"/>
    <p:sldId id="473" r:id="rId7"/>
    <p:sldId id="335" r:id="rId8"/>
    <p:sldId id="336" r:id="rId9"/>
    <p:sldId id="366" r:id="rId10"/>
    <p:sldId id="352" r:id="rId11"/>
    <p:sldId id="350" r:id="rId12"/>
    <p:sldId id="353" r:id="rId13"/>
    <p:sldId id="409" r:id="rId14"/>
    <p:sldId id="408" r:id="rId15"/>
    <p:sldId id="272" r:id="rId16"/>
    <p:sldId id="354" r:id="rId17"/>
    <p:sldId id="355" r:id="rId18"/>
    <p:sldId id="371" r:id="rId19"/>
    <p:sldId id="373" r:id="rId20"/>
    <p:sldId id="279" r:id="rId21"/>
    <p:sldId id="275" r:id="rId22"/>
    <p:sldId id="276" r:id="rId23"/>
    <p:sldId id="277" r:id="rId24"/>
    <p:sldId id="278" r:id="rId25"/>
    <p:sldId id="281" r:id="rId26"/>
    <p:sldId id="282" r:id="rId27"/>
    <p:sldId id="284" r:id="rId28"/>
    <p:sldId id="470" r:id="rId29"/>
    <p:sldId id="356" r:id="rId30"/>
    <p:sldId id="410" r:id="rId31"/>
    <p:sldId id="411" r:id="rId32"/>
    <p:sldId id="358" r:id="rId33"/>
    <p:sldId id="413" r:id="rId34"/>
    <p:sldId id="360" r:id="rId35"/>
    <p:sldId id="351" r:id="rId36"/>
    <p:sldId id="342" r:id="rId37"/>
    <p:sldId id="290" r:id="rId38"/>
    <p:sldId id="296" r:id="rId39"/>
    <p:sldId id="297" r:id="rId40"/>
    <p:sldId id="301" r:id="rId41"/>
    <p:sldId id="374" r:id="rId42"/>
    <p:sldId id="293" r:id="rId43"/>
    <p:sldId id="375" r:id="rId44"/>
    <p:sldId id="376" r:id="rId45"/>
    <p:sldId id="377" r:id="rId46"/>
    <p:sldId id="378" r:id="rId47"/>
    <p:sldId id="320" r:id="rId48"/>
    <p:sldId id="379" r:id="rId49"/>
    <p:sldId id="380" r:id="rId50"/>
    <p:sldId id="359" r:id="rId51"/>
    <p:sldId id="307" r:id="rId52"/>
    <p:sldId id="381" r:id="rId53"/>
    <p:sldId id="308" r:id="rId54"/>
    <p:sldId id="316" r:id="rId55"/>
    <p:sldId id="317" r:id="rId56"/>
    <p:sldId id="315" r:id="rId57"/>
    <p:sldId id="326" r:id="rId58"/>
    <p:sldId id="344" r:id="rId59"/>
    <p:sldId id="345" r:id="rId60"/>
    <p:sldId id="327" r:id="rId61"/>
    <p:sldId id="329" r:id="rId62"/>
    <p:sldId id="330" r:id="rId63"/>
    <p:sldId id="331" r:id="rId64"/>
    <p:sldId id="332" r:id="rId65"/>
    <p:sldId id="382" r:id="rId66"/>
    <p:sldId id="383" r:id="rId67"/>
    <p:sldId id="367" r:id="rId68"/>
    <p:sldId id="384" r:id="rId69"/>
    <p:sldId id="385" r:id="rId70"/>
    <p:sldId id="386" r:id="rId71"/>
    <p:sldId id="387" r:id="rId72"/>
    <p:sldId id="388" r:id="rId73"/>
    <p:sldId id="389" r:id="rId74"/>
    <p:sldId id="390" r:id="rId75"/>
    <p:sldId id="471" r:id="rId76"/>
    <p:sldId id="464" r:id="rId77"/>
    <p:sldId id="407" r:id="rId78"/>
    <p:sldId id="368" r:id="rId79"/>
    <p:sldId id="394" r:id="rId80"/>
    <p:sldId id="395" r:id="rId81"/>
    <p:sldId id="396" r:id="rId82"/>
    <p:sldId id="397" r:id="rId83"/>
    <p:sldId id="399" r:id="rId84"/>
    <p:sldId id="400" r:id="rId85"/>
    <p:sldId id="401" r:id="rId86"/>
    <p:sldId id="402" r:id="rId87"/>
    <p:sldId id="403" r:id="rId88"/>
    <p:sldId id="404" r:id="rId89"/>
    <p:sldId id="474" r:id="rId90"/>
    <p:sldId id="475" r:id="rId91"/>
    <p:sldId id="568" r:id="rId92"/>
    <p:sldId id="263" r:id="rId93"/>
  </p:sldIdLst>
  <p:sldSz cx="9144000" cy="6858000" type="screen4x3"/>
  <p:notesSz cx="6858000" cy="9144000"/>
  <p:custDataLst>
    <p:tags r:id="rId9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91C8"/>
    <a:srgbClr val="92D050"/>
    <a:srgbClr val="D5A6DF"/>
    <a:srgbClr val="464DD9"/>
    <a:srgbClr val="BDD7EE"/>
    <a:srgbClr val="A50021"/>
    <a:srgbClr val="7030A0"/>
    <a:srgbClr val="5B9BD5"/>
    <a:srgbClr val="99CC6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451" autoAdjust="0"/>
    <p:restoredTop sz="93883" autoAdjust="0"/>
  </p:normalViewPr>
  <p:slideViewPr>
    <p:cSldViewPr snapToGrid="0">
      <p:cViewPr varScale="1">
        <p:scale>
          <a:sx n="116" d="100"/>
          <a:sy n="116" d="100"/>
        </p:scale>
        <p:origin x="1616"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tags" Target="tags/tag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notesMaster" Target="notesMasters/notesMaster1.xml"/><Relationship Id="rId9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4264AA-669E-4804-A1D5-94FA36B6DCCD}" type="datetimeFigureOut">
              <a:rPr lang="zh-CN" altLang="en-US" smtClean="0"/>
              <a:t>2025/12/29</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DC56F0-BEE5-4715-8E33-DABC78619DE8}"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www.zwqxin.com/archives/opengl/vao-and-vbo-stuff.html"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1DC56F0-BEE5-4715-8E33-DABC78619DE8}"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早期的</a:t>
            </a:r>
            <a:r>
              <a:rPr lang="en-US" altLang="zh-CN" sz="1200" b="0" i="0" kern="1200" dirty="0">
                <a:solidFill>
                  <a:schemeClr val="tx1"/>
                </a:solidFill>
                <a:effectLst/>
                <a:latin typeface="+mn-lt"/>
                <a:ea typeface="+mn-ea"/>
                <a:cs typeface="+mn-cs"/>
              </a:rPr>
              <a:t>OpenGL</a:t>
            </a:r>
            <a:r>
              <a:rPr lang="zh-CN" altLang="en-US" sz="1200" b="0" i="0" kern="1200" dirty="0">
                <a:solidFill>
                  <a:schemeClr val="tx1"/>
                </a:solidFill>
                <a:effectLst/>
                <a:latin typeface="+mn-lt"/>
                <a:ea typeface="+mn-ea"/>
                <a:cs typeface="+mn-cs"/>
              </a:rPr>
              <a:t>为了将模型的顶点数据传送到显卡，需要逐个顶点进行（冗余处理的问题），如果还需要额外的信息（纹理坐标和法线）的话，当模型比较复杂时，将导致大量函数的调用，传输开销是相当大的！为了解决这个问题引入了</a:t>
            </a:r>
            <a:r>
              <a:rPr lang="en-US" altLang="zh-CN" sz="1200" b="0" i="0" kern="1200" dirty="0">
                <a:solidFill>
                  <a:schemeClr val="tx1"/>
                </a:solidFill>
                <a:effectLst/>
                <a:latin typeface="+mn-lt"/>
                <a:ea typeface="+mn-ea"/>
                <a:cs typeface="+mn-cs"/>
              </a:rPr>
              <a:t>VBO(Vertex Buffer Object)</a:t>
            </a:r>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VBO</a:t>
            </a:r>
            <a:r>
              <a:rPr lang="zh-CN" altLang="en-US" sz="1200" b="0" i="0" kern="1200" dirty="0">
                <a:solidFill>
                  <a:schemeClr val="tx1"/>
                </a:solidFill>
                <a:effectLst/>
                <a:latin typeface="+mn-lt"/>
                <a:ea typeface="+mn-ea"/>
                <a:cs typeface="+mn-cs"/>
              </a:rPr>
              <a:t>可以将顶点数据保存在显存中，绘制时直接从显存中取数据，减少了数据传输的开销。</a:t>
            </a:r>
            <a:endParaRPr lang="en-US" altLang="zh-CN" sz="1200" b="0" i="0" kern="1200" dirty="0">
              <a:solidFill>
                <a:schemeClr val="tx1"/>
              </a:solidFill>
              <a:effectLst/>
              <a:latin typeface="+mn-lt"/>
              <a:ea typeface="+mn-ea"/>
              <a:cs typeface="+mn-cs"/>
            </a:endParaRPr>
          </a:p>
          <a:p>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通过</a:t>
            </a:r>
            <a:r>
              <a:rPr lang="en-US" altLang="zh-CN" sz="1200" b="0" i="0" kern="1200" dirty="0">
                <a:solidFill>
                  <a:schemeClr val="tx1"/>
                </a:solidFill>
                <a:effectLst/>
                <a:latin typeface="+mn-lt"/>
                <a:ea typeface="+mn-ea"/>
                <a:cs typeface="+mn-cs"/>
              </a:rPr>
              <a:t>VBO</a:t>
            </a:r>
            <a:r>
              <a:rPr lang="zh-CN" altLang="en-US" sz="1200" b="0" i="0" kern="1200" dirty="0">
                <a:solidFill>
                  <a:schemeClr val="tx1"/>
                </a:solidFill>
                <a:effectLst/>
                <a:latin typeface="+mn-lt"/>
                <a:ea typeface="+mn-ea"/>
                <a:cs typeface="+mn-cs"/>
              </a:rPr>
              <a:t>我们可以将顶点属性数据保存在显存中，当绘制时问题又来了，需要调用好几个函数，过程挺复杂的。为了解决这个问题，</a:t>
            </a:r>
            <a:r>
              <a:rPr lang="en-US" altLang="zh-CN" sz="1200" b="0" i="0" kern="1200" dirty="0">
                <a:solidFill>
                  <a:schemeClr val="tx1"/>
                </a:solidFill>
                <a:effectLst/>
                <a:latin typeface="+mn-lt"/>
                <a:ea typeface="+mn-ea"/>
                <a:cs typeface="+mn-cs"/>
              </a:rPr>
              <a:t>OpenGL</a:t>
            </a:r>
            <a:r>
              <a:rPr lang="zh-CN" altLang="en-US" sz="1200" b="0" i="0" kern="1200" dirty="0">
                <a:solidFill>
                  <a:schemeClr val="tx1"/>
                </a:solidFill>
                <a:effectLst/>
                <a:latin typeface="+mn-lt"/>
                <a:ea typeface="+mn-ea"/>
                <a:cs typeface="+mn-cs"/>
              </a:rPr>
              <a:t>又引入了</a:t>
            </a:r>
            <a:r>
              <a:rPr lang="en-US" altLang="zh-CN" sz="1200" b="0" i="0" kern="1200" dirty="0">
                <a:solidFill>
                  <a:schemeClr val="tx1"/>
                </a:solidFill>
                <a:effectLst/>
                <a:latin typeface="+mn-lt"/>
                <a:ea typeface="+mn-ea"/>
                <a:cs typeface="+mn-cs"/>
              </a:rPr>
              <a:t>VAO(Vertex Array Object)</a:t>
            </a:r>
            <a:r>
              <a:rPr lang="zh-CN" altLang="en-US" sz="1200" b="0" i="0" kern="1200" dirty="0">
                <a:solidFill>
                  <a:schemeClr val="tx1"/>
                </a:solidFill>
                <a:effectLst/>
                <a:latin typeface="+mn-lt"/>
                <a:ea typeface="+mn-ea"/>
                <a:cs typeface="+mn-cs"/>
              </a:rPr>
              <a:t>来关联</a:t>
            </a:r>
            <a:r>
              <a:rPr lang="en-US" altLang="zh-CN" sz="1200" b="0" i="0" kern="1200" dirty="0">
                <a:solidFill>
                  <a:schemeClr val="tx1"/>
                </a:solidFill>
                <a:effectLst/>
                <a:latin typeface="+mn-lt"/>
                <a:ea typeface="+mn-ea"/>
                <a:cs typeface="+mn-cs"/>
              </a:rPr>
              <a:t>VBO</a:t>
            </a:r>
            <a:r>
              <a:rPr lang="zh-CN" altLang="en-US" sz="1200" b="0" i="0" kern="1200" dirty="0">
                <a:solidFill>
                  <a:schemeClr val="tx1"/>
                </a:solidFill>
                <a:effectLst/>
                <a:latin typeface="+mn-lt"/>
                <a:ea typeface="+mn-ea"/>
                <a:cs typeface="+mn-cs"/>
              </a:rPr>
              <a:t>中的数据 （</a:t>
            </a:r>
            <a:r>
              <a:rPr lang="en-US" altLang="zh-CN" sz="1200" b="0" i="0" kern="1200" dirty="0">
                <a:solidFill>
                  <a:schemeClr val="tx1"/>
                </a:solidFill>
                <a:effectLst/>
                <a:latin typeface="+mn-lt"/>
                <a:ea typeface="+mn-ea"/>
                <a:cs typeface="+mn-cs"/>
                <a:hlinkClick r:id="rId3"/>
              </a:rPr>
              <a:t>VAO</a:t>
            </a:r>
            <a:r>
              <a:rPr lang="zh-CN" altLang="en-US" sz="1200" b="0" i="0" kern="1200" dirty="0">
                <a:solidFill>
                  <a:schemeClr val="tx1"/>
                </a:solidFill>
                <a:effectLst/>
                <a:latin typeface="+mn-lt"/>
                <a:ea typeface="+mn-ea"/>
                <a:cs typeface="+mn-cs"/>
                <a:hlinkClick r:id="rId3"/>
              </a:rPr>
              <a:t>详解</a:t>
            </a:r>
            <a:r>
              <a:rPr lang="zh-CN" altLang="en-US" sz="1200" b="0" i="0" kern="1200" dirty="0">
                <a:solidFill>
                  <a:schemeClr val="tx1"/>
                </a:solidFill>
                <a:effectLst/>
                <a:latin typeface="+mn-lt"/>
                <a:ea typeface="+mn-ea"/>
                <a:cs typeface="+mn-cs"/>
              </a:rPr>
              <a:t>），有了</a:t>
            </a:r>
            <a:r>
              <a:rPr lang="en-US" altLang="zh-CN" sz="1200" b="0" i="0" kern="1200" dirty="0">
                <a:solidFill>
                  <a:schemeClr val="tx1"/>
                </a:solidFill>
                <a:effectLst/>
                <a:latin typeface="+mn-lt"/>
                <a:ea typeface="+mn-ea"/>
                <a:cs typeface="+mn-cs"/>
              </a:rPr>
              <a:t>VAO</a:t>
            </a:r>
            <a:r>
              <a:rPr lang="zh-CN" altLang="en-US" sz="1200" b="0" i="0" kern="1200" dirty="0">
                <a:solidFill>
                  <a:schemeClr val="tx1"/>
                </a:solidFill>
                <a:effectLst/>
                <a:latin typeface="+mn-lt"/>
                <a:ea typeface="+mn-ea"/>
                <a:cs typeface="+mn-cs"/>
              </a:rPr>
              <a:t>，任何数组形式的</a:t>
            </a:r>
            <a:r>
              <a:rPr lang="en-US" altLang="zh-CN" sz="1200" b="0" i="0" kern="1200" dirty="0">
                <a:solidFill>
                  <a:schemeClr val="tx1"/>
                </a:solidFill>
                <a:effectLst/>
                <a:latin typeface="+mn-lt"/>
                <a:ea typeface="+mn-ea"/>
                <a:cs typeface="+mn-cs"/>
              </a:rPr>
              <a:t>GL</a:t>
            </a:r>
            <a:r>
              <a:rPr lang="zh-CN" altLang="en-US" sz="1200" b="0" i="0" kern="1200" dirty="0">
                <a:solidFill>
                  <a:schemeClr val="tx1"/>
                </a:solidFill>
                <a:effectLst/>
                <a:latin typeface="+mn-lt"/>
                <a:ea typeface="+mn-ea"/>
                <a:cs typeface="+mn-cs"/>
              </a:rPr>
              <a:t>函数调用都会添加到</a:t>
            </a:r>
            <a:r>
              <a:rPr lang="en-US" altLang="zh-CN" sz="1200" b="0" i="0" kern="1200" dirty="0">
                <a:solidFill>
                  <a:schemeClr val="tx1"/>
                </a:solidFill>
                <a:effectLst/>
                <a:latin typeface="+mn-lt"/>
                <a:ea typeface="+mn-ea"/>
                <a:cs typeface="+mn-cs"/>
              </a:rPr>
              <a:t>VAO</a:t>
            </a:r>
            <a:r>
              <a:rPr lang="zh-CN" altLang="en-US" sz="1200" b="0" i="0" kern="1200" dirty="0">
                <a:solidFill>
                  <a:schemeClr val="tx1"/>
                </a:solidFill>
                <a:effectLst/>
                <a:latin typeface="+mn-lt"/>
                <a:ea typeface="+mn-ea"/>
                <a:cs typeface="+mn-cs"/>
              </a:rPr>
              <a:t>的绘制列表当中（直到解除</a:t>
            </a:r>
            <a:r>
              <a:rPr lang="en-US" altLang="zh-CN" sz="1200" b="0" i="0" kern="1200" dirty="0">
                <a:solidFill>
                  <a:schemeClr val="tx1"/>
                </a:solidFill>
                <a:effectLst/>
                <a:latin typeface="+mn-lt"/>
                <a:ea typeface="+mn-ea"/>
                <a:cs typeface="+mn-cs"/>
              </a:rPr>
              <a:t>VAO</a:t>
            </a:r>
            <a:r>
              <a:rPr lang="zh-CN" altLang="en-US" sz="1200" b="0" i="0" kern="1200" dirty="0">
                <a:solidFill>
                  <a:schemeClr val="tx1"/>
                </a:solidFill>
                <a:effectLst/>
                <a:latin typeface="+mn-lt"/>
                <a:ea typeface="+mn-ea"/>
                <a:cs typeface="+mn-cs"/>
              </a:rPr>
              <a:t>绑定），当需要绘制的时候，我们仅需要重新绑定</a:t>
            </a:r>
            <a:r>
              <a:rPr lang="en-US" altLang="zh-CN" sz="1200" b="0" i="0" kern="1200" dirty="0">
                <a:solidFill>
                  <a:schemeClr val="tx1"/>
                </a:solidFill>
                <a:effectLst/>
                <a:latin typeface="+mn-lt"/>
                <a:ea typeface="+mn-ea"/>
                <a:cs typeface="+mn-cs"/>
              </a:rPr>
              <a:t>VAO</a:t>
            </a:r>
            <a:r>
              <a:rPr lang="zh-CN" altLang="en-US" sz="1200" b="0" i="0" kern="1200" dirty="0">
                <a:solidFill>
                  <a:schemeClr val="tx1"/>
                </a:solidFill>
                <a:effectLst/>
                <a:latin typeface="+mn-lt"/>
                <a:ea typeface="+mn-ea"/>
                <a:cs typeface="+mn-cs"/>
              </a:rPr>
              <a:t>，那么之前创建的绘制列表将会重新激活，使得绘制代码更加简洁。</a:t>
            </a:r>
            <a:endParaRPr lang="en-US" altLang="zh-CN"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r>
              <a:rPr lang="en-US" altLang="zh-CN" sz="1200" b="0" i="0" kern="1200" dirty="0" err="1">
                <a:solidFill>
                  <a:schemeClr val="tx1"/>
                </a:solidFill>
                <a:effectLst/>
                <a:latin typeface="+mn-lt"/>
                <a:ea typeface="+mn-ea"/>
                <a:cs typeface="+mn-cs"/>
              </a:rPr>
              <a:t>glBufferData</a:t>
            </a:r>
            <a:r>
              <a:rPr lang="zh-CN" altLang="en-US" sz="1200" b="0" i="0" kern="1200" dirty="0">
                <a:solidFill>
                  <a:schemeClr val="tx1"/>
                </a:solidFill>
                <a:effectLst/>
                <a:latin typeface="+mn-lt"/>
                <a:ea typeface="+mn-ea"/>
                <a:cs typeface="+mn-cs"/>
              </a:rPr>
              <a:t>用于向</a:t>
            </a:r>
            <a:r>
              <a:rPr lang="en-US" altLang="zh-CN" sz="1200" b="0" i="0" kern="1200" dirty="0">
                <a:solidFill>
                  <a:schemeClr val="tx1"/>
                </a:solidFill>
                <a:effectLst/>
                <a:latin typeface="+mn-lt"/>
                <a:ea typeface="+mn-ea"/>
                <a:cs typeface="+mn-cs"/>
              </a:rPr>
              <a:t>VBO</a:t>
            </a:r>
            <a:r>
              <a:rPr lang="zh-CN" altLang="en-US" sz="1200" b="0" i="0" kern="1200" dirty="0">
                <a:solidFill>
                  <a:schemeClr val="tx1"/>
                </a:solidFill>
                <a:effectLst/>
                <a:latin typeface="+mn-lt"/>
                <a:ea typeface="+mn-ea"/>
                <a:cs typeface="+mn-cs"/>
              </a:rPr>
              <a:t>传递数据：第二个参数表示数据的大小，第三个参数表示指向数据的指针；</a:t>
            </a:r>
          </a:p>
          <a:p>
            <a:r>
              <a:rPr lang="en-US" altLang="zh-CN" sz="1200" b="0" i="0" kern="1200" dirty="0" err="1">
                <a:solidFill>
                  <a:schemeClr val="tx1"/>
                </a:solidFill>
                <a:effectLst/>
                <a:latin typeface="+mn-lt"/>
                <a:ea typeface="+mn-ea"/>
                <a:cs typeface="+mn-cs"/>
              </a:rPr>
              <a:t>glVertexAttribPointer</a:t>
            </a:r>
            <a:r>
              <a:rPr lang="zh-CN" altLang="en-US" sz="1200" b="0" i="0" kern="1200" dirty="0">
                <a:solidFill>
                  <a:schemeClr val="tx1"/>
                </a:solidFill>
                <a:effectLst/>
                <a:latin typeface="+mn-lt"/>
                <a:ea typeface="+mn-ea"/>
                <a:cs typeface="+mn-cs"/>
              </a:rPr>
              <a:t>用于将顶点着色器中的</a:t>
            </a:r>
            <a:r>
              <a:rPr lang="en-US" altLang="zh-CN" sz="1200" b="0" i="0" kern="1200" dirty="0">
                <a:solidFill>
                  <a:schemeClr val="tx1"/>
                </a:solidFill>
                <a:effectLst/>
                <a:latin typeface="+mn-lt"/>
                <a:ea typeface="+mn-ea"/>
                <a:cs typeface="+mn-cs"/>
              </a:rPr>
              <a:t>attribute</a:t>
            </a:r>
            <a:r>
              <a:rPr lang="zh-CN" altLang="en-US" sz="1200" b="0" i="0" kern="1200" dirty="0">
                <a:solidFill>
                  <a:schemeClr val="tx1"/>
                </a:solidFill>
                <a:effectLst/>
                <a:latin typeface="+mn-lt"/>
                <a:ea typeface="+mn-ea"/>
                <a:cs typeface="+mn-cs"/>
              </a:rPr>
              <a:t>变量与</a:t>
            </a:r>
            <a:r>
              <a:rPr lang="en-US" altLang="zh-CN" sz="1200" b="0" i="0" kern="1200" dirty="0">
                <a:solidFill>
                  <a:schemeClr val="tx1"/>
                </a:solidFill>
                <a:effectLst/>
                <a:latin typeface="+mn-lt"/>
                <a:ea typeface="+mn-ea"/>
                <a:cs typeface="+mn-cs"/>
              </a:rPr>
              <a:t>VBO</a:t>
            </a:r>
            <a:r>
              <a:rPr lang="zh-CN" altLang="en-US" sz="1200" b="0" i="0" kern="1200" dirty="0">
                <a:solidFill>
                  <a:schemeClr val="tx1"/>
                </a:solidFill>
                <a:effectLst/>
                <a:latin typeface="+mn-lt"/>
                <a:ea typeface="+mn-ea"/>
                <a:cs typeface="+mn-cs"/>
              </a:rPr>
              <a:t>中的数据进行绑定：第一个参数表示属性的位置，第二个参数表示分量的个数，第三个参数表示数据类型，第四个参数表示是否归一化，第五个参数表示连续顶点属性之间的偏移量，第六个参数表示组件的第一个分量在对应的数组顶点属性中的偏移量</a:t>
            </a:r>
            <a:endParaRPr lang="en-US" altLang="zh-CN" sz="1200" b="0" i="0" kern="1200" dirty="0">
              <a:solidFill>
                <a:schemeClr val="tx1"/>
              </a:solidFill>
              <a:effectLst/>
              <a:latin typeface="+mn-lt"/>
              <a:ea typeface="+mn-ea"/>
              <a:cs typeface="+mn-cs"/>
            </a:endParaRPr>
          </a:p>
          <a:p>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可以把</a:t>
            </a:r>
            <a:r>
              <a:rPr lang="en-US" altLang="zh-CN" sz="1200" b="0" i="0" kern="1200" dirty="0">
                <a:solidFill>
                  <a:schemeClr val="tx1"/>
                </a:solidFill>
                <a:effectLst/>
                <a:latin typeface="+mn-lt"/>
                <a:ea typeface="+mn-ea"/>
                <a:cs typeface="+mn-cs"/>
              </a:rPr>
              <a:t>VBO</a:t>
            </a:r>
            <a:r>
              <a:rPr lang="zh-CN" altLang="en-US" sz="1200" b="0" i="0" kern="1200" dirty="0">
                <a:solidFill>
                  <a:schemeClr val="tx1"/>
                </a:solidFill>
                <a:effectLst/>
                <a:latin typeface="+mn-lt"/>
                <a:ea typeface="+mn-ea"/>
                <a:cs typeface="+mn-cs"/>
              </a:rPr>
              <a:t>理解成一个数据区域，这里面存放了渲染所需要的一切信息。但需要注意的是，数据在</a:t>
            </a:r>
            <a:r>
              <a:rPr lang="en-US" altLang="zh-CN" sz="1200" b="0" i="0" kern="1200" dirty="0">
                <a:solidFill>
                  <a:schemeClr val="tx1"/>
                </a:solidFill>
                <a:effectLst/>
                <a:latin typeface="+mn-lt"/>
                <a:ea typeface="+mn-ea"/>
                <a:cs typeface="+mn-cs"/>
              </a:rPr>
              <a:t>VBO</a:t>
            </a:r>
            <a:r>
              <a:rPr lang="zh-CN" altLang="en-US" sz="1200" b="0" i="0" kern="1200" dirty="0">
                <a:solidFill>
                  <a:schemeClr val="tx1"/>
                </a:solidFill>
                <a:effectLst/>
                <a:latin typeface="+mn-lt"/>
                <a:ea typeface="+mn-ea"/>
                <a:cs typeface="+mn-cs"/>
              </a:rPr>
              <a:t>里面的时候，</a:t>
            </a:r>
            <a:r>
              <a:rPr lang="en-US" altLang="zh-CN" sz="1200" b="0" i="0" kern="1200" dirty="0">
                <a:solidFill>
                  <a:schemeClr val="tx1"/>
                </a:solidFill>
                <a:effectLst/>
                <a:latin typeface="+mn-lt"/>
                <a:ea typeface="+mn-ea"/>
                <a:cs typeface="+mn-cs"/>
              </a:rPr>
              <a:t>OpenGL</a:t>
            </a:r>
            <a:r>
              <a:rPr lang="zh-CN" altLang="en-US" sz="1200" b="0" i="0" kern="1200" dirty="0">
                <a:solidFill>
                  <a:schemeClr val="tx1"/>
                </a:solidFill>
                <a:effectLst/>
                <a:latin typeface="+mn-lt"/>
                <a:ea typeface="+mn-ea"/>
                <a:cs typeface="+mn-cs"/>
              </a:rPr>
              <a:t>是并不知道这里面的每个数据所代表的具体含义的，只是一堆数值罢了。</a:t>
            </a:r>
            <a:r>
              <a:rPr lang="en-US" altLang="zh-CN" sz="1200" b="0" i="0" kern="1200" dirty="0">
                <a:solidFill>
                  <a:schemeClr val="tx1"/>
                </a:solidFill>
                <a:effectLst/>
                <a:latin typeface="+mn-lt"/>
                <a:ea typeface="+mn-ea"/>
                <a:cs typeface="+mn-cs"/>
              </a:rPr>
              <a:t>VAO</a:t>
            </a:r>
            <a:r>
              <a:rPr lang="zh-CN" altLang="en-US" sz="1200" b="0" i="0" kern="1200" dirty="0">
                <a:solidFill>
                  <a:schemeClr val="tx1"/>
                </a:solidFill>
                <a:effectLst/>
                <a:latin typeface="+mn-lt"/>
                <a:ea typeface="+mn-ea"/>
                <a:cs typeface="+mn-cs"/>
              </a:rPr>
              <a:t>可以定义一种格式说，我每次只取</a:t>
            </a:r>
            <a:r>
              <a:rPr lang="en-US" altLang="zh-CN" sz="1200" b="0" i="0" kern="1200" dirty="0">
                <a:solidFill>
                  <a:schemeClr val="tx1"/>
                </a:solidFill>
                <a:effectLst/>
                <a:latin typeface="+mn-lt"/>
                <a:ea typeface="+mn-ea"/>
                <a:cs typeface="+mn-cs"/>
              </a:rPr>
              <a:t>VBO</a:t>
            </a:r>
            <a:r>
              <a:rPr lang="zh-CN" altLang="en-US" sz="1200" b="0" i="0" kern="1200" dirty="0">
                <a:solidFill>
                  <a:schemeClr val="tx1"/>
                </a:solidFill>
                <a:effectLst/>
                <a:latin typeface="+mn-lt"/>
                <a:ea typeface="+mn-ea"/>
                <a:cs typeface="+mn-cs"/>
              </a:rPr>
              <a:t>里面的</a:t>
            </a:r>
            <a:r>
              <a:rPr lang="en-US" altLang="zh-CN" sz="1200" b="0" i="0" kern="1200" dirty="0" err="1">
                <a:solidFill>
                  <a:schemeClr val="tx1"/>
                </a:solidFill>
                <a:effectLst/>
                <a:latin typeface="+mn-lt"/>
                <a:ea typeface="+mn-ea"/>
                <a:cs typeface="+mn-cs"/>
              </a:rPr>
              <a:t>x,y,z</a:t>
            </a:r>
            <a:r>
              <a:rPr lang="zh-CN" altLang="en-US" sz="1200" b="0" i="0" kern="1200" dirty="0">
                <a:solidFill>
                  <a:schemeClr val="tx1"/>
                </a:solidFill>
                <a:effectLst/>
                <a:latin typeface="+mn-lt"/>
                <a:ea typeface="+mn-ea"/>
                <a:cs typeface="+mn-cs"/>
              </a:rPr>
              <a:t>的值；也可以定义一种格式说，每次只取</a:t>
            </a:r>
            <a:r>
              <a:rPr lang="en-US" altLang="zh-CN" sz="1200" b="0" i="0" kern="1200" dirty="0">
                <a:solidFill>
                  <a:schemeClr val="tx1"/>
                </a:solidFill>
                <a:effectLst/>
                <a:latin typeface="+mn-lt"/>
                <a:ea typeface="+mn-ea"/>
                <a:cs typeface="+mn-cs"/>
              </a:rPr>
              <a:t>VBO</a:t>
            </a:r>
            <a:r>
              <a:rPr lang="zh-CN" altLang="en-US" sz="1200" b="0" i="0" kern="1200" dirty="0">
                <a:solidFill>
                  <a:schemeClr val="tx1"/>
                </a:solidFill>
                <a:effectLst/>
                <a:latin typeface="+mn-lt"/>
                <a:ea typeface="+mn-ea"/>
                <a:cs typeface="+mn-cs"/>
              </a:rPr>
              <a:t>里面的</a:t>
            </a:r>
            <a:r>
              <a:rPr lang="en-US" altLang="zh-CN" sz="1200" b="0" i="0" kern="1200" dirty="0" err="1">
                <a:solidFill>
                  <a:schemeClr val="tx1"/>
                </a:solidFill>
                <a:effectLst/>
                <a:latin typeface="+mn-lt"/>
                <a:ea typeface="+mn-ea"/>
                <a:cs typeface="+mn-cs"/>
              </a:rPr>
              <a:t>r,g,b</a:t>
            </a:r>
            <a:r>
              <a:rPr lang="zh-CN" altLang="en-US" sz="1200" b="0" i="0" kern="1200" dirty="0">
                <a:solidFill>
                  <a:schemeClr val="tx1"/>
                </a:solidFill>
                <a:effectLst/>
                <a:latin typeface="+mn-lt"/>
                <a:ea typeface="+mn-ea"/>
                <a:cs typeface="+mn-cs"/>
              </a:rPr>
              <a:t>的值。这样我们就可以在渲染的时候，绑定不同的</a:t>
            </a:r>
            <a:r>
              <a:rPr lang="en-US" altLang="zh-CN" sz="1200" b="0" i="0" kern="1200" dirty="0">
                <a:solidFill>
                  <a:schemeClr val="tx1"/>
                </a:solidFill>
                <a:effectLst/>
                <a:latin typeface="+mn-lt"/>
                <a:ea typeface="+mn-ea"/>
                <a:cs typeface="+mn-cs"/>
              </a:rPr>
              <a:t>VAO</a:t>
            </a:r>
            <a:r>
              <a:rPr lang="zh-CN" altLang="en-US" sz="1200" b="0" i="0" kern="1200" dirty="0">
                <a:solidFill>
                  <a:schemeClr val="tx1"/>
                </a:solidFill>
                <a:effectLst/>
                <a:latin typeface="+mn-lt"/>
                <a:ea typeface="+mn-ea"/>
                <a:cs typeface="+mn-cs"/>
              </a:rPr>
              <a:t>，实现按照不同的格式将</a:t>
            </a:r>
            <a:r>
              <a:rPr lang="en-US" altLang="zh-CN" sz="1200" b="0" i="0" kern="1200" dirty="0">
                <a:solidFill>
                  <a:schemeClr val="tx1"/>
                </a:solidFill>
                <a:effectLst/>
                <a:latin typeface="+mn-lt"/>
                <a:ea typeface="+mn-ea"/>
                <a:cs typeface="+mn-cs"/>
              </a:rPr>
              <a:t>VBO</a:t>
            </a:r>
            <a:r>
              <a:rPr lang="zh-CN" altLang="en-US" sz="1200" b="0" i="0" kern="1200" dirty="0">
                <a:solidFill>
                  <a:schemeClr val="tx1"/>
                </a:solidFill>
                <a:effectLst/>
                <a:latin typeface="+mn-lt"/>
                <a:ea typeface="+mn-ea"/>
                <a:cs typeface="+mn-cs"/>
              </a:rPr>
              <a:t>里面的东西渲染出来。</a:t>
            </a:r>
          </a:p>
          <a:p>
            <a:endParaRPr lang="en-US" dirty="0"/>
          </a:p>
        </p:txBody>
      </p:sp>
      <p:sp>
        <p:nvSpPr>
          <p:cNvPr id="4" name="Slide Number Placeholder 3"/>
          <p:cNvSpPr>
            <a:spLocks noGrp="1"/>
          </p:cNvSpPr>
          <p:nvPr>
            <p:ph type="sldNum" sz="quarter" idx="10"/>
          </p:nvPr>
        </p:nvSpPr>
        <p:spPr/>
        <p:txBody>
          <a:bodyPr/>
          <a:lstStyle/>
          <a:p>
            <a:fld id="{E1DC56F0-BEE5-4715-8E33-DABC78619DE8}" type="slidenum">
              <a:rPr lang="zh-CN" altLang="en-US" smtClean="0"/>
              <a:t>5</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1DC56F0-BEE5-4715-8E33-DABC78619DE8}" type="slidenum">
              <a:rPr lang="zh-CN" altLang="en-US" smtClean="0"/>
              <a:t>6</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sz="1200" b="0" i="0" kern="1200" dirty="0">
                <a:solidFill>
                  <a:schemeClr val="tx1"/>
                </a:solidFill>
                <a:effectLst/>
                <a:latin typeface="+mn-lt"/>
                <a:ea typeface="+mn-ea"/>
                <a:cs typeface="+mn-cs"/>
              </a:rPr>
              <a:t>Φ</a:t>
            </a:r>
            <a:r>
              <a:rPr lang="zh-CN" altLang="en-US" sz="1200" b="0" i="0" kern="1200" dirty="0">
                <a:solidFill>
                  <a:schemeClr val="tx1"/>
                </a:solidFill>
                <a:effectLst/>
                <a:latin typeface="+mn-lt"/>
                <a:ea typeface="+mn-ea"/>
                <a:cs typeface="+mn-cs"/>
              </a:rPr>
              <a:t> </a:t>
            </a:r>
            <a:r>
              <a:rPr lang="el-GR" sz="1200" b="0" i="0" kern="1200" dirty="0">
                <a:solidFill>
                  <a:schemeClr val="tx1"/>
                </a:solidFill>
                <a:effectLst/>
                <a:latin typeface="+mn-lt"/>
                <a:ea typeface="+mn-ea"/>
                <a:cs typeface="+mn-cs"/>
              </a:rPr>
              <a:t>φ</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phi</a:t>
            </a:r>
            <a:r>
              <a:rPr lang="zh-CN" altLang="en-US" sz="1200" kern="1200" dirty="0">
                <a:solidFill>
                  <a:schemeClr val="tx1"/>
                </a:solidFill>
                <a:effectLst/>
                <a:latin typeface="+mn-lt"/>
                <a:ea typeface="+mn-ea"/>
                <a:cs typeface="+mn-cs"/>
              </a:rPr>
              <a:t>  </a:t>
            </a:r>
            <a:r>
              <a:rPr lang="en-US" dirty="0">
                <a:effectLst/>
              </a:rPr>
              <a:t>/</a:t>
            </a:r>
            <a:r>
              <a:rPr lang="en-US" dirty="0" err="1">
                <a:effectLst/>
              </a:rPr>
              <a:t>faɪ</a:t>
            </a:r>
            <a:r>
              <a:rPr lang="en-US" dirty="0">
                <a:effectLst/>
              </a:rPr>
              <a:t>/</a:t>
            </a:r>
          </a:p>
          <a:p>
            <a:pPr marL="0" marR="0" indent="0" algn="l" defTabSz="914400" rtl="0" eaLnBrk="1" fontAlgn="auto" latinLnBrk="0" hangingPunct="1">
              <a:lnSpc>
                <a:spcPct val="100000"/>
              </a:lnSpc>
              <a:spcBef>
                <a:spcPts val="0"/>
              </a:spcBef>
              <a:spcAft>
                <a:spcPts val="0"/>
              </a:spcAft>
              <a:buClrTx/>
              <a:buSzTx/>
              <a:buFontTx/>
              <a:buNone/>
              <a:defRPr/>
            </a:pPr>
            <a:r>
              <a:rPr lang="el-GR" sz="1200" b="0" i="0" kern="1200" dirty="0">
                <a:solidFill>
                  <a:schemeClr val="tx1"/>
                </a:solidFill>
                <a:effectLst/>
                <a:latin typeface="+mn-lt"/>
                <a:ea typeface="+mn-ea"/>
                <a:cs typeface="+mn-cs"/>
              </a:rPr>
              <a:t>Ψ</a:t>
            </a:r>
            <a:r>
              <a:rPr lang="zh-CN" altLang="en-US" sz="1200" b="0" i="0" kern="1200" dirty="0">
                <a:solidFill>
                  <a:schemeClr val="tx1"/>
                </a:solidFill>
                <a:effectLst/>
                <a:latin typeface="+mn-lt"/>
                <a:ea typeface="+mn-ea"/>
                <a:cs typeface="+mn-cs"/>
              </a:rPr>
              <a:t> </a:t>
            </a:r>
            <a:r>
              <a:rPr lang="el-GR" sz="1200" b="0" i="0" kern="1200" dirty="0">
                <a:solidFill>
                  <a:schemeClr val="tx1"/>
                </a:solidFill>
                <a:effectLst/>
                <a:latin typeface="+mn-lt"/>
                <a:ea typeface="+mn-ea"/>
                <a:cs typeface="+mn-cs"/>
              </a:rPr>
              <a:t>ψ</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psi</a:t>
            </a:r>
            <a:r>
              <a:rPr lang="zh-CN" altLang="en-US" sz="1200" kern="1200" dirty="0">
                <a:solidFill>
                  <a:schemeClr val="tx1"/>
                </a:solidFill>
                <a:effectLst/>
                <a:latin typeface="+mn-lt"/>
                <a:ea typeface="+mn-ea"/>
                <a:cs typeface="+mn-cs"/>
              </a:rPr>
              <a:t> </a:t>
            </a:r>
            <a:r>
              <a:rPr lang="en-US" dirty="0">
                <a:effectLst/>
              </a:rPr>
              <a:t>/</a:t>
            </a:r>
            <a:r>
              <a:rPr lang="en-US" dirty="0" err="1">
                <a:effectLst/>
              </a:rPr>
              <a:t>psaɪ</a:t>
            </a:r>
            <a:r>
              <a:rPr lang="en-US" dirty="0">
                <a:effectLst/>
              </a:rPr>
              <a:t>/</a:t>
            </a:r>
            <a:endParaRPr lang="en-US" sz="1200" b="0" i="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E1DC56F0-BEE5-4715-8E33-DABC78619DE8}" type="slidenum">
              <a:rPr lang="zh-CN" altLang="en-US" smtClean="0"/>
              <a:t>84</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EBE93B95-C703-CD4C-B49F-E1CD62379AD1}" type="datetime1">
              <a:rPr lang="en-US" altLang="zh-CN" smtClean="0"/>
              <a:t>12/29/25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B792F4E-54C0-4D36-B331-9C6FCFE9A340}"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A9D698B4-4B2D-654A-B790-9D28830F66D1}" type="datetime1">
              <a:rPr lang="en-US" altLang="zh-CN" smtClean="0"/>
              <a:t>12/29/25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a:xfrm>
            <a:off x="8438318" y="6492875"/>
            <a:ext cx="775255" cy="365125"/>
          </a:xfrm>
        </p:spPr>
        <p:txBody>
          <a:bodyPr/>
          <a:lstStyle>
            <a:lvl1pPr algn="ctr">
              <a:defRPr/>
            </a:lvl1pPr>
          </a:lstStyle>
          <a:p>
            <a:fld id="{EB792F4E-54C0-4D36-B331-9C6FCFE9A340}" type="slidenum">
              <a:rPr lang="zh-CN" altLang="en-US" smtClean="0"/>
              <a:t>‹#›</a:t>
            </a:fld>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84CC563D-8133-5F4C-88A4-D8B7B49EC82F}" type="datetime1">
              <a:rPr lang="en-US" altLang="zh-CN" smtClean="0"/>
              <a:t>12/29/25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B792F4E-54C0-4D36-B331-9C6FCFE9A340}"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330037"/>
            <a:ext cx="3886200" cy="476942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629150" y="1330037"/>
            <a:ext cx="3886200" cy="476942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832F789E-5532-C44B-BE37-3720379333A3}" type="datetime1">
              <a:rPr lang="en-US" altLang="zh-CN" smtClean="0"/>
              <a:t>12/29/25</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B792F4E-54C0-4D36-B331-9C6FCFE9A340}"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00C4CE90-35DF-714E-A54B-1616793996EF}" type="datetime1">
              <a:rPr lang="en-US" altLang="zh-CN" smtClean="0"/>
              <a:t>12/29/25</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EB792F4E-54C0-4D36-B331-9C6FCFE9A340}"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24CB29BE-C124-6E4B-9540-86B6226EA005}" type="datetime1">
              <a:rPr lang="en-US" altLang="zh-CN" smtClean="0"/>
              <a:t>12/29/25</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EB792F4E-54C0-4D36-B331-9C6FCFE9A340}"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5654D0E-4541-D041-AAF9-9DC55280BABC}" type="datetime1">
              <a:rPr lang="en-US" altLang="zh-CN" smtClean="0"/>
              <a:t>12/29/25</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938121E4-0B7D-5B4D-A93A-4D6BDC0EFBD5}" type="datetime1">
              <a:rPr lang="en-US" altLang="zh-CN" smtClean="0"/>
              <a:t>12/29/25</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B792F4E-54C0-4D36-B331-9C6FCFE9A340}"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928477D0-6F70-944E-B052-F3A5D9F888C2}" type="datetime1">
              <a:rPr lang="en-US" altLang="zh-CN" smtClean="0"/>
              <a:t>12/29/25</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B792F4E-54C0-4D36-B331-9C6FCFE9A340}"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47A81147-639A-1645-AB65-BD692A4B0E54}" type="datetime1">
              <a:rPr lang="en-US" altLang="zh-CN" smtClean="0"/>
              <a:t>12/29/25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B792F4E-54C0-4D36-B331-9C6FCFE9A340}"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CADA74F4-7A2A-464D-AD92-27658FAA9AEC}" type="datetime1">
              <a:rPr lang="en-US" altLang="zh-CN" smtClean="0"/>
              <a:t>12/29/25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B792F4E-54C0-4D36-B331-9C6FCFE9A340}"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5121" y="95705"/>
            <a:ext cx="7886700" cy="532945"/>
          </a:xfrm>
          <a:prstGeom prst="rect">
            <a:avLst/>
          </a:prstGeom>
          <a:noFill/>
        </p:spPr>
        <p:txBody>
          <a:bodyPr/>
          <a:lstStyle/>
          <a:p>
            <a:pPr marL="0" lvl="0"/>
            <a:r>
              <a:rPr lang="zh-CN" altLang="en-US" dirty="0"/>
              <a:t>单击此处编辑母版标题样式</a:t>
            </a:r>
            <a:endParaRPr lang="en-US" dirty="0"/>
          </a:p>
        </p:txBody>
      </p:sp>
      <p:sp>
        <p:nvSpPr>
          <p:cNvPr id="3" name="Text Placeholder 2"/>
          <p:cNvSpPr>
            <a:spLocks noGrp="1"/>
          </p:cNvSpPr>
          <p:nvPr>
            <p:ph type="body" idx="1"/>
          </p:nvPr>
        </p:nvSpPr>
        <p:spPr>
          <a:xfrm>
            <a:off x="628650" y="1316831"/>
            <a:ext cx="78867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latin typeface="微软雅黑" panose="020B0503020204020204" pitchFamily="34" charset="-122"/>
                <a:ea typeface="微软雅黑" panose="020B0503020204020204" pitchFamily="34" charset="-122"/>
              </a:defRPr>
            </a:lvl1pPr>
          </a:lstStyle>
          <a:p>
            <a:fld id="{0783800F-2EDC-054D-B04D-A89CE5DA3858}" type="datetime1">
              <a:rPr lang="en-US" altLang="zh-CN" smtClean="0"/>
              <a:t>12/29/25</a:t>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latin typeface="微软雅黑" panose="020B0503020204020204" pitchFamily="34" charset="-122"/>
                <a:ea typeface="微软雅黑" panose="020B0503020204020204" pitchFamily="34" charset="-122"/>
              </a:defRPr>
            </a:lvl1pPr>
          </a:lstStyle>
          <a:p>
            <a:endParaRPr lang="zh-CN" altLang="en-US"/>
          </a:p>
        </p:txBody>
      </p:sp>
      <p:sp>
        <p:nvSpPr>
          <p:cNvPr id="6" name="Slide Number Placeholder 5"/>
          <p:cNvSpPr>
            <a:spLocks noGrp="1"/>
          </p:cNvSpPr>
          <p:nvPr>
            <p:ph type="sldNum" sz="quarter" idx="4"/>
          </p:nvPr>
        </p:nvSpPr>
        <p:spPr>
          <a:xfrm>
            <a:off x="8451988" y="6492875"/>
            <a:ext cx="762828" cy="365125"/>
          </a:xfrm>
          <a:prstGeom prst="rect">
            <a:avLst/>
          </a:prstGeom>
        </p:spPr>
        <p:txBody>
          <a:bodyPr vert="horz" lIns="91440" tIns="45720" rIns="91440" bIns="45720" rtlCol="0" anchor="ctr"/>
          <a:lstStyle>
            <a:lvl1pPr algn="ctr">
              <a:defRPr sz="1600" b="1">
                <a:solidFill>
                  <a:schemeClr val="tx1"/>
                </a:solidFill>
                <a:latin typeface="微软雅黑" panose="020B0503020204020204" pitchFamily="34" charset="-122"/>
                <a:ea typeface="微软雅黑" panose="020B0503020204020204" pitchFamily="34" charset="-122"/>
              </a:defRPr>
            </a:lvl1pPr>
          </a:lstStyle>
          <a:p>
            <a:fld id="{EB792F4E-54C0-4D36-B331-9C6FCFE9A340}" type="slidenum">
              <a:rPr lang="zh-CN" altLang="en-US" smtClean="0"/>
              <a:t>‹#›</a:t>
            </a:fld>
            <a:endParaRPr lang="zh-CN" altLang="en-US"/>
          </a:p>
        </p:txBody>
      </p:sp>
      <p:sp>
        <p:nvSpPr>
          <p:cNvPr id="8" name="矩形 7"/>
          <p:cNvSpPr/>
          <p:nvPr userDrawn="1"/>
        </p:nvSpPr>
        <p:spPr>
          <a:xfrm>
            <a:off x="7835710" y="144689"/>
            <a:ext cx="1355499" cy="369332"/>
          </a:xfrm>
          <a:prstGeom prst="rect">
            <a:avLst/>
          </a:prstGeom>
        </p:spPr>
        <p:txBody>
          <a:bodyPr wrap="none">
            <a:spAutoFit/>
          </a:bodyPr>
          <a:lstStyle/>
          <a:p>
            <a:pPr algn="ctr"/>
            <a:r>
              <a:rPr lang="zh-CN" altLang="en-US" sz="1800" b="1" dirty="0">
                <a:solidFill>
                  <a:schemeClr val="bg1"/>
                </a:solidFill>
                <a:latin typeface="微软雅黑" panose="020B0503020204020204" pitchFamily="34" charset="-122"/>
                <a:ea typeface="微软雅黑" panose="020B0503020204020204" pitchFamily="34" charset="-122"/>
              </a:rPr>
              <a:t>VCC@SZU</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lang="en-US" altLang="en-US" sz="3200" b="1" kern="1200" cap="none" spc="0" dirty="0">
          <a:ln w="0"/>
          <a:solidFill>
            <a:schemeClr val="bg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j-cs"/>
        </a:defRPr>
      </a:lvl1pPr>
    </p:titleStyle>
    <p:bodyStyle>
      <a:lvl1pPr marL="360045" indent="-360045" algn="l" defTabSz="914400" rtl="0" eaLnBrk="1" latinLnBrk="0" hangingPunct="1">
        <a:lnSpc>
          <a:spcPct val="90000"/>
        </a:lnSpc>
        <a:spcBef>
          <a:spcPts val="1000"/>
        </a:spcBef>
        <a:buClr>
          <a:srgbClr val="94003F"/>
        </a:buClr>
        <a:buSzPct val="70000"/>
        <a:buFont typeface="Wingdings" panose="05000000000000000000" pitchFamily="2" charset="2"/>
        <a:buChar char="u"/>
        <a:defRPr sz="2800" b="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04b" panose="00000400000000000000" pitchFamily="2"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emf"/><Relationship Id="rId4" Type="http://schemas.openxmlformats.org/officeDocument/2006/relationships/image" Target="../media/image3.em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emf"/><Relationship Id="rId7" Type="http://schemas.openxmlformats.org/officeDocument/2006/relationships/image" Target="../media/image16.png"/><Relationship Id="rId12" Type="http://schemas.openxmlformats.org/officeDocument/2006/relationships/image" Target="../media/image21.jpe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15.png"/><Relationship Id="rId11" Type="http://schemas.openxmlformats.org/officeDocument/2006/relationships/image" Target="../media/image20.emf"/><Relationship Id="rId5" Type="http://schemas.openxmlformats.org/officeDocument/2006/relationships/image" Target="../media/image14.png"/><Relationship Id="rId10" Type="http://schemas.openxmlformats.org/officeDocument/2006/relationships/image" Target="../media/image19.emf"/><Relationship Id="rId4" Type="http://schemas.openxmlformats.org/officeDocument/2006/relationships/image" Target="../media/image13.jpeg"/><Relationship Id="rId9" Type="http://schemas.openxmlformats.org/officeDocument/2006/relationships/image" Target="../media/image18.jpeg"/></Relationships>
</file>

<file path=ppt/slides/_rels/slide9.xml.rels><?xml version="1.0" encoding="UTF-8" standalone="yes"?>
<Relationships xmlns="http://schemas.openxmlformats.org/package/2006/relationships"><Relationship Id="rId8" Type="http://schemas.openxmlformats.org/officeDocument/2006/relationships/image" Target="../media/image19.emf"/><Relationship Id="rId3" Type="http://schemas.openxmlformats.org/officeDocument/2006/relationships/image" Target="../media/image13.jpeg"/><Relationship Id="rId7" Type="http://schemas.openxmlformats.org/officeDocument/2006/relationships/image" Target="../media/image21.jpeg"/><Relationship Id="rId12" Type="http://schemas.openxmlformats.org/officeDocument/2006/relationships/image" Target="../media/image18.jpeg"/><Relationship Id="rId2" Type="http://schemas.openxmlformats.org/officeDocument/2006/relationships/image" Target="../media/image12.emf"/><Relationship Id="rId1" Type="http://schemas.openxmlformats.org/officeDocument/2006/relationships/slideLayout" Target="../slideLayouts/slideLayout2.xml"/><Relationship Id="rId6" Type="http://schemas.openxmlformats.org/officeDocument/2006/relationships/image" Target="../media/image20.emf"/><Relationship Id="rId11" Type="http://schemas.openxmlformats.org/officeDocument/2006/relationships/image" Target="../media/image17.png"/><Relationship Id="rId5" Type="http://schemas.openxmlformats.org/officeDocument/2006/relationships/image" Target="../media/image15.png"/><Relationship Id="rId10" Type="http://schemas.openxmlformats.org/officeDocument/2006/relationships/image" Target="../media/image11.png"/><Relationship Id="rId4" Type="http://schemas.openxmlformats.org/officeDocument/2006/relationships/image" Target="../media/image14.png"/><Relationship Id="rId9"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image" Target="../media/image22.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image" Target="../media/image26.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image" Target="../media/image28.emf"/><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0.emf"/></Relationships>
</file>

<file path=ppt/slides/_rels/slide18.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36.png"/><Relationship Id="rId7" Type="http://schemas.openxmlformats.org/officeDocument/2006/relationships/image" Target="../media/image40.png"/><Relationship Id="rId2" Type="http://schemas.openxmlformats.org/officeDocument/2006/relationships/image" Target="../media/image35.png"/><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19.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36.png"/><Relationship Id="rId7" Type="http://schemas.openxmlformats.org/officeDocument/2006/relationships/image" Target="../media/image43.png"/><Relationship Id="rId2" Type="http://schemas.openxmlformats.org/officeDocument/2006/relationships/image" Target="../media/image35.png"/><Relationship Id="rId1" Type="http://schemas.openxmlformats.org/officeDocument/2006/relationships/slideLayout" Target="../slideLayouts/slideLayout2.xml"/><Relationship Id="rId6" Type="http://schemas.openxmlformats.org/officeDocument/2006/relationships/image" Target="../media/image41.png"/><Relationship Id="rId5" Type="http://schemas.openxmlformats.org/officeDocument/2006/relationships/image" Target="../media/image42.png"/><Relationship Id="rId4" Type="http://schemas.openxmlformats.org/officeDocument/2006/relationships/image" Target="../media/image37.png"/></Relationships>
</file>

<file path=ppt/slides/_rels/slide20.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image" Target="../media/image31.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1.png"/><Relationship Id="rId7" Type="http://schemas.openxmlformats.org/officeDocument/2006/relationships/image" Target="../media/image35.jpeg"/><Relationship Id="rId2" Type="http://schemas.openxmlformats.org/officeDocument/2006/relationships/image" Target="../media/image50.png"/><Relationship Id="rId1" Type="http://schemas.openxmlformats.org/officeDocument/2006/relationships/slideLayout" Target="../slideLayouts/slideLayout2.xml"/><Relationship Id="rId6" Type="http://schemas.openxmlformats.org/officeDocument/2006/relationships/image" Target="../media/image53.png"/><Relationship Id="rId5" Type="http://schemas.openxmlformats.org/officeDocument/2006/relationships/image" Target="../media/image34.wmf"/><Relationship Id="rId4" Type="http://schemas.openxmlformats.org/officeDocument/2006/relationships/oleObject" Target="../embeddings/oleObject1.bin"/><Relationship Id="rId9" Type="http://schemas.openxmlformats.org/officeDocument/2006/relationships/image" Target="../media/image56.png"/></Relationships>
</file>

<file path=ppt/slides/_rels/slide24.xml.rels><?xml version="1.0" encoding="UTF-8" standalone="yes"?>
<Relationships xmlns="http://schemas.openxmlformats.org/package/2006/relationships"><Relationship Id="rId3" Type="http://schemas.openxmlformats.org/officeDocument/2006/relationships/image" Target="../media/image58.png"/><Relationship Id="rId7" Type="http://schemas.openxmlformats.org/officeDocument/2006/relationships/image" Target="../media/image37.wmf"/><Relationship Id="rId2" Type="http://schemas.openxmlformats.org/officeDocument/2006/relationships/image" Target="../media/image57.png"/><Relationship Id="rId1" Type="http://schemas.openxmlformats.org/officeDocument/2006/relationships/slideLayout" Target="../slideLayouts/slideLayout2.xml"/><Relationship Id="rId6" Type="http://schemas.openxmlformats.org/officeDocument/2006/relationships/oleObject" Target="../embeddings/oleObject3.bin"/><Relationship Id="rId5" Type="http://schemas.openxmlformats.org/officeDocument/2006/relationships/image" Target="../media/image36.wmf"/><Relationship Id="rId4" Type="http://schemas.openxmlformats.org/officeDocument/2006/relationships/oleObject" Target="../embeddings/oleObject2.bin"/></Relationships>
</file>

<file path=ppt/slides/_rels/slide25.xml.rels><?xml version="1.0" encoding="UTF-8" standalone="yes"?>
<Relationships xmlns="http://schemas.openxmlformats.org/package/2006/relationships"><Relationship Id="rId3" Type="http://schemas.openxmlformats.org/officeDocument/2006/relationships/image" Target="../media/image38.emf"/><Relationship Id="rId2" Type="http://schemas.openxmlformats.org/officeDocument/2006/relationships/image" Target="../media/image61.png"/><Relationship Id="rId1" Type="http://schemas.openxmlformats.org/officeDocument/2006/relationships/slideLayout" Target="../slideLayouts/slideLayout2.xml"/><Relationship Id="rId4" Type="http://schemas.openxmlformats.org/officeDocument/2006/relationships/image" Target="../media/image39.emf"/></Relationships>
</file>

<file path=ppt/slides/_rels/slide26.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image" Target="../media/image40.emf"/><Relationship Id="rId1" Type="http://schemas.openxmlformats.org/officeDocument/2006/relationships/slideLayout" Target="../slideLayouts/slideLayout2.xml"/><Relationship Id="rId5" Type="http://schemas.openxmlformats.org/officeDocument/2006/relationships/image" Target="../media/image43.emf"/><Relationship Id="rId4" Type="http://schemas.openxmlformats.org/officeDocument/2006/relationships/image" Target="../media/image42.emf"/></Relationships>
</file>

<file path=ppt/slides/_rels/slide27.xml.rels><?xml version="1.0" encoding="UTF-8" standalone="yes"?>
<Relationships xmlns="http://schemas.openxmlformats.org/package/2006/relationships"><Relationship Id="rId3" Type="http://schemas.openxmlformats.org/officeDocument/2006/relationships/image" Target="../media/image44.emf"/><Relationship Id="rId2" Type="http://schemas.openxmlformats.org/officeDocument/2006/relationships/image" Target="../media/image68.png"/><Relationship Id="rId1" Type="http://schemas.openxmlformats.org/officeDocument/2006/relationships/slideLayout" Target="../slideLayouts/slideLayout2.xml"/><Relationship Id="rId6" Type="http://schemas.openxmlformats.org/officeDocument/2006/relationships/image" Target="../media/image72.png"/><Relationship Id="rId5" Type="http://schemas.openxmlformats.org/officeDocument/2006/relationships/image" Target="../media/image46.emf"/><Relationship Id="rId4" Type="http://schemas.openxmlformats.org/officeDocument/2006/relationships/image" Target="../media/image45.emf"/></Relationships>
</file>

<file path=ppt/slides/_rels/slide28.xml.rels><?xml version="1.0" encoding="UTF-8" standalone="yes"?>
<Relationships xmlns="http://schemas.openxmlformats.org/package/2006/relationships"><Relationship Id="rId3" Type="http://schemas.openxmlformats.org/officeDocument/2006/relationships/image" Target="../media/image47.emf"/><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image" Target="../media/image48.emf"/><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50.emf"/><Relationship Id="rId2" Type="http://schemas.openxmlformats.org/officeDocument/2006/relationships/image" Target="../media/image49.jpeg"/><Relationship Id="rId1" Type="http://schemas.openxmlformats.org/officeDocument/2006/relationships/slideLayout" Target="../slideLayouts/slideLayout6.xml"/><Relationship Id="rId4" Type="http://schemas.openxmlformats.org/officeDocument/2006/relationships/image" Target="../media/image51.emf"/></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image" Target="../media/image52.jpeg"/><Relationship Id="rId1" Type="http://schemas.openxmlformats.org/officeDocument/2006/relationships/slideLayout" Target="../slideLayouts/slideLayout2.xml"/><Relationship Id="rId4" Type="http://schemas.openxmlformats.org/officeDocument/2006/relationships/image" Target="../media/image54.png"/></Relationships>
</file>

<file path=ppt/slides/_rels/slide33.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oleObject" Target="../embeddings/oleObject5.bin"/><Relationship Id="rId1" Type="http://schemas.openxmlformats.org/officeDocument/2006/relationships/slideLayout" Target="../slideLayouts/slideLayout2.xml"/><Relationship Id="rId4" Type="http://schemas.openxmlformats.org/officeDocument/2006/relationships/image" Target="../media/image60.jpeg"/></Relationships>
</file>

<file path=ppt/slides/_rels/slide34.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oleObject" Target="../embeddings/oleObject6.bin"/><Relationship Id="rId1" Type="http://schemas.openxmlformats.org/officeDocument/2006/relationships/slideLayout" Target="../slideLayouts/slideLayout2.xml"/><Relationship Id="rId4" Type="http://schemas.openxmlformats.org/officeDocument/2006/relationships/image" Target="../media/image63.jpeg"/></Relationships>
</file>

<file path=ppt/slides/_rels/slide35.xml.rels><?xml version="1.0" encoding="UTF-8" standalone="yes"?>
<Relationships xmlns="http://schemas.openxmlformats.org/package/2006/relationships"><Relationship Id="rId2" Type="http://schemas.openxmlformats.org/officeDocument/2006/relationships/image" Target="../media/image64.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65.emf"/><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image" Target="../media/image66.emf"/><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68.emf"/><Relationship Id="rId2" Type="http://schemas.openxmlformats.org/officeDocument/2006/relationships/image" Target="../media/image89.png"/><Relationship Id="rId1" Type="http://schemas.openxmlformats.org/officeDocument/2006/relationships/slideLayout" Target="../slideLayouts/slideLayout2.xml"/><Relationship Id="rId4" Type="http://schemas.openxmlformats.org/officeDocument/2006/relationships/image" Target="../media/image69.emf"/></Relationships>
</file>

<file path=ppt/slides/_rels/slide39.xml.rels><?xml version="1.0" encoding="UTF-8" standalone="yes"?>
<Relationships xmlns="http://schemas.openxmlformats.org/package/2006/relationships"><Relationship Id="rId2" Type="http://schemas.openxmlformats.org/officeDocument/2006/relationships/image" Target="../media/image70.emf"/><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71.emf"/><Relationship Id="rId2" Type="http://schemas.openxmlformats.org/officeDocument/2006/relationships/image" Target="../media/image93.png"/><Relationship Id="rId1" Type="http://schemas.openxmlformats.org/officeDocument/2006/relationships/slideLayout" Target="../slideLayouts/slideLayout2.xml"/><Relationship Id="rId5" Type="http://schemas.openxmlformats.org/officeDocument/2006/relationships/image" Target="../media/image73.emf"/><Relationship Id="rId4" Type="http://schemas.openxmlformats.org/officeDocument/2006/relationships/image" Target="../media/image72.emf"/></Relationships>
</file>

<file path=ppt/slides/_rels/slide41.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74.emf"/><Relationship Id="rId1" Type="http://schemas.openxmlformats.org/officeDocument/2006/relationships/slideLayout" Target="../slideLayouts/slideLayout2.xml"/><Relationship Id="rId5" Type="http://schemas.openxmlformats.org/officeDocument/2006/relationships/image" Target="../media/image76.emf"/><Relationship Id="rId4" Type="http://schemas.openxmlformats.org/officeDocument/2006/relationships/image" Target="../media/image75.emf"/></Relationships>
</file>

<file path=ppt/slides/_rels/slide42.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image" Target="../media/image77.emf"/><Relationship Id="rId1" Type="http://schemas.openxmlformats.org/officeDocument/2006/relationships/slideLayout" Target="../slideLayouts/slideLayout2.xml"/><Relationship Id="rId4" Type="http://schemas.openxmlformats.org/officeDocument/2006/relationships/image" Target="../media/image78.emf"/></Relationships>
</file>

<file path=ppt/slides/_rels/slide43.xml.rels><?xml version="1.0" encoding="UTF-8" standalone="yes"?>
<Relationships xmlns="http://schemas.openxmlformats.org/package/2006/relationships"><Relationship Id="rId2" Type="http://schemas.openxmlformats.org/officeDocument/2006/relationships/image" Target="../media/image79.emf"/><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80.emf"/><Relationship Id="rId2" Type="http://schemas.openxmlformats.org/officeDocument/2006/relationships/image" Target="../media/image105.png"/><Relationship Id="rId1" Type="http://schemas.openxmlformats.org/officeDocument/2006/relationships/slideLayout" Target="../slideLayouts/slideLayout2.xml"/><Relationship Id="rId5" Type="http://schemas.openxmlformats.org/officeDocument/2006/relationships/image" Target="../media/image82.emf"/><Relationship Id="rId4" Type="http://schemas.openxmlformats.org/officeDocument/2006/relationships/image" Target="../media/image81.emf"/></Relationships>
</file>

<file path=ppt/slides/_rels/slide45.xml.rels><?xml version="1.0" encoding="UTF-8" standalone="yes"?>
<Relationships xmlns="http://schemas.openxmlformats.org/package/2006/relationships"><Relationship Id="rId3" Type="http://schemas.openxmlformats.org/officeDocument/2006/relationships/image" Target="../media/image84.emf"/><Relationship Id="rId2" Type="http://schemas.openxmlformats.org/officeDocument/2006/relationships/image" Target="../media/image83.emf"/><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86.emf"/><Relationship Id="rId2" Type="http://schemas.openxmlformats.org/officeDocument/2006/relationships/image" Target="../media/image85.emf"/><Relationship Id="rId1" Type="http://schemas.openxmlformats.org/officeDocument/2006/relationships/slideLayout" Target="../slideLayouts/slideLayout2.xml"/><Relationship Id="rId6" Type="http://schemas.openxmlformats.org/officeDocument/2006/relationships/image" Target="../media/image88.emf"/><Relationship Id="rId5" Type="http://schemas.openxmlformats.org/officeDocument/2006/relationships/image" Target="../media/image87.emf"/><Relationship Id="rId4" Type="http://schemas.openxmlformats.org/officeDocument/2006/relationships/image" Target="../media/image113.png"/></Relationships>
</file>

<file path=ppt/slides/_rels/slide47.xml.rels><?xml version="1.0" encoding="UTF-8" standalone="yes"?>
<Relationships xmlns="http://schemas.openxmlformats.org/package/2006/relationships"><Relationship Id="rId8" Type="http://schemas.openxmlformats.org/officeDocument/2006/relationships/image" Target="../media/image88.emf"/><Relationship Id="rId13" Type="http://schemas.openxmlformats.org/officeDocument/2006/relationships/image" Target="../media/image124.png"/><Relationship Id="rId3" Type="http://schemas.openxmlformats.org/officeDocument/2006/relationships/image" Target="../media/image89.emf"/><Relationship Id="rId7" Type="http://schemas.openxmlformats.org/officeDocument/2006/relationships/image" Target="../media/image87.emf"/><Relationship Id="rId12" Type="http://schemas.openxmlformats.org/officeDocument/2006/relationships/image" Target="../media/image95.png"/><Relationship Id="rId2" Type="http://schemas.openxmlformats.org/officeDocument/2006/relationships/image" Target="../media/image86.emf"/><Relationship Id="rId1" Type="http://schemas.openxmlformats.org/officeDocument/2006/relationships/slideLayout" Target="../slideLayouts/slideLayout2.xml"/><Relationship Id="rId6" Type="http://schemas.openxmlformats.org/officeDocument/2006/relationships/image" Target="../media/image92.emf"/><Relationship Id="rId11" Type="http://schemas.openxmlformats.org/officeDocument/2006/relationships/image" Target="../media/image94.png"/><Relationship Id="rId5" Type="http://schemas.openxmlformats.org/officeDocument/2006/relationships/image" Target="../media/image91.emf"/><Relationship Id="rId15" Type="http://schemas.openxmlformats.org/officeDocument/2006/relationships/image" Target="../media/image126.png"/><Relationship Id="rId10" Type="http://schemas.openxmlformats.org/officeDocument/2006/relationships/image" Target="../media/image121.png"/><Relationship Id="rId4" Type="http://schemas.openxmlformats.org/officeDocument/2006/relationships/image" Target="../media/image90.emf"/><Relationship Id="rId9" Type="http://schemas.openxmlformats.org/officeDocument/2006/relationships/image" Target="../media/image120.png"/><Relationship Id="rId14" Type="http://schemas.openxmlformats.org/officeDocument/2006/relationships/image" Target="../media/image125.png"/></Relationships>
</file>

<file path=ppt/slides/_rels/slide48.xml.rels><?xml version="1.0" encoding="UTF-8" standalone="yes"?>
<Relationships xmlns="http://schemas.openxmlformats.org/package/2006/relationships"><Relationship Id="rId3" Type="http://schemas.openxmlformats.org/officeDocument/2006/relationships/image" Target="../media/image96.emf"/><Relationship Id="rId2" Type="http://schemas.openxmlformats.org/officeDocument/2006/relationships/image" Target="../media/image127.png"/><Relationship Id="rId1" Type="http://schemas.openxmlformats.org/officeDocument/2006/relationships/slideLayout" Target="../slideLayouts/slideLayout2.xml"/><Relationship Id="rId6" Type="http://schemas.openxmlformats.org/officeDocument/2006/relationships/image" Target="../media/image99.emf"/><Relationship Id="rId5" Type="http://schemas.openxmlformats.org/officeDocument/2006/relationships/image" Target="../media/image98.emf"/><Relationship Id="rId4" Type="http://schemas.openxmlformats.org/officeDocument/2006/relationships/image" Target="../media/image97.emf"/></Relationships>
</file>

<file path=ppt/slides/_rels/slide49.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99.emf"/><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image" Target="../media/image101.png"/><Relationship Id="rId1" Type="http://schemas.openxmlformats.org/officeDocument/2006/relationships/slideLayout" Target="../slideLayouts/slideLayout2.xml"/><Relationship Id="rId4" Type="http://schemas.openxmlformats.org/officeDocument/2006/relationships/image" Target="../media/image104.png"/></Relationships>
</file>

<file path=ppt/slides/_rels/slide52.xml.rels><?xml version="1.0" encoding="UTF-8" standalone="yes"?>
<Relationships xmlns="http://schemas.openxmlformats.org/package/2006/relationships"><Relationship Id="rId2" Type="http://schemas.openxmlformats.org/officeDocument/2006/relationships/image" Target="../media/image105.emf"/><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8" Type="http://schemas.openxmlformats.org/officeDocument/2006/relationships/image" Target="../media/image112.emf"/><Relationship Id="rId3" Type="http://schemas.openxmlformats.org/officeDocument/2006/relationships/image" Target="../media/image107.emf"/><Relationship Id="rId7" Type="http://schemas.openxmlformats.org/officeDocument/2006/relationships/image" Target="../media/image111.emf"/><Relationship Id="rId2" Type="http://schemas.openxmlformats.org/officeDocument/2006/relationships/image" Target="../media/image106.emf"/><Relationship Id="rId1" Type="http://schemas.openxmlformats.org/officeDocument/2006/relationships/slideLayout" Target="../slideLayouts/slideLayout2.xml"/><Relationship Id="rId6" Type="http://schemas.openxmlformats.org/officeDocument/2006/relationships/image" Target="../media/image110.emf"/><Relationship Id="rId5" Type="http://schemas.openxmlformats.org/officeDocument/2006/relationships/image" Target="../media/image109.emf"/><Relationship Id="rId4" Type="http://schemas.openxmlformats.org/officeDocument/2006/relationships/image" Target="../media/image108.emf"/></Relationships>
</file>

<file path=ppt/slides/_rels/slide54.xml.rels><?xml version="1.0" encoding="UTF-8" standalone="yes"?>
<Relationships xmlns="http://schemas.openxmlformats.org/package/2006/relationships"><Relationship Id="rId3" Type="http://schemas.openxmlformats.org/officeDocument/2006/relationships/image" Target="../media/image113.emf"/><Relationship Id="rId2" Type="http://schemas.openxmlformats.org/officeDocument/2006/relationships/image" Target="../media/image144.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14.emf"/><Relationship Id="rId2" Type="http://schemas.openxmlformats.org/officeDocument/2006/relationships/image" Target="../media/image146.png"/><Relationship Id="rId1" Type="http://schemas.openxmlformats.org/officeDocument/2006/relationships/slideLayout" Target="../slideLayouts/slideLayout2.xml"/><Relationship Id="rId6" Type="http://schemas.openxmlformats.org/officeDocument/2006/relationships/image" Target="../media/image113.emf"/><Relationship Id="rId5" Type="http://schemas.openxmlformats.org/officeDocument/2006/relationships/image" Target="../media/image116.emf"/><Relationship Id="rId4" Type="http://schemas.openxmlformats.org/officeDocument/2006/relationships/image" Target="../media/image115.emf"/></Relationships>
</file>

<file path=ppt/slides/_rels/slide56.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image" Target="../media/image117.emf"/><Relationship Id="rId1" Type="http://schemas.openxmlformats.org/officeDocument/2006/relationships/slideLayout" Target="../slideLayouts/slideLayout2.xml"/><Relationship Id="rId4" Type="http://schemas.openxmlformats.org/officeDocument/2006/relationships/image" Target="../media/image152.png"/></Relationships>
</file>

<file path=ppt/slides/_rels/slide57.xml.rels><?xml version="1.0" encoding="UTF-8" standalone="yes"?>
<Relationships xmlns="http://schemas.openxmlformats.org/package/2006/relationships"><Relationship Id="rId3" Type="http://schemas.openxmlformats.org/officeDocument/2006/relationships/image" Target="../media/image119.emf"/><Relationship Id="rId2" Type="http://schemas.openxmlformats.org/officeDocument/2006/relationships/image" Target="../media/image153.png"/><Relationship Id="rId1" Type="http://schemas.openxmlformats.org/officeDocument/2006/relationships/slideLayout" Target="../slideLayouts/slideLayout2.xml"/><Relationship Id="rId6" Type="http://schemas.openxmlformats.org/officeDocument/2006/relationships/image" Target="../media/image157.png"/><Relationship Id="rId5" Type="http://schemas.openxmlformats.org/officeDocument/2006/relationships/image" Target="../media/image156.png"/><Relationship Id="rId4" Type="http://schemas.openxmlformats.org/officeDocument/2006/relationships/image" Target="../media/image155.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hyperlink" Target="https://en.wikipedia.org/wiki/Shading" TargetMode="External"/><Relationship Id="rId7" Type="http://schemas.openxmlformats.org/officeDocument/2006/relationships/image" Target="../media/image125.emf"/><Relationship Id="rId2" Type="http://schemas.openxmlformats.org/officeDocument/2006/relationships/image" Target="../media/image120.emf"/><Relationship Id="rId1" Type="http://schemas.openxmlformats.org/officeDocument/2006/relationships/slideLayout" Target="../slideLayouts/slideLayout2.xml"/><Relationship Id="rId6" Type="http://schemas.openxmlformats.org/officeDocument/2006/relationships/image" Target="../media/image124.emf"/><Relationship Id="rId5" Type="http://schemas.openxmlformats.org/officeDocument/2006/relationships/image" Target="../media/image123.emf"/><Relationship Id="rId4" Type="http://schemas.openxmlformats.org/officeDocument/2006/relationships/image" Target="../media/image122.png"/></Relationships>
</file>

<file path=ppt/slides/_rels/slide61.xml.rels><?xml version="1.0" encoding="UTF-8" standalone="yes"?>
<Relationships xmlns="http://schemas.openxmlformats.org/package/2006/relationships"><Relationship Id="rId3" Type="http://schemas.openxmlformats.org/officeDocument/2006/relationships/image" Target="../media/image127.emf"/><Relationship Id="rId2" Type="http://schemas.openxmlformats.org/officeDocument/2006/relationships/image" Target="../media/image126.emf"/><Relationship Id="rId1" Type="http://schemas.openxmlformats.org/officeDocument/2006/relationships/slideLayout" Target="../slideLayouts/slideLayout2.xml"/><Relationship Id="rId4" Type="http://schemas.openxmlformats.org/officeDocument/2006/relationships/image" Target="../media/image128.jpeg"/></Relationships>
</file>

<file path=ppt/slides/_rels/slide62.xml.rels><?xml version="1.0" encoding="UTF-8" standalone="yes"?>
<Relationships xmlns="http://schemas.openxmlformats.org/package/2006/relationships"><Relationship Id="rId3" Type="http://schemas.openxmlformats.org/officeDocument/2006/relationships/image" Target="../media/image130.emf"/><Relationship Id="rId2" Type="http://schemas.openxmlformats.org/officeDocument/2006/relationships/image" Target="../media/image129.emf"/><Relationship Id="rId1" Type="http://schemas.openxmlformats.org/officeDocument/2006/relationships/slideLayout" Target="../slideLayouts/slideLayout2.xml"/><Relationship Id="rId4" Type="http://schemas.openxmlformats.org/officeDocument/2006/relationships/image" Target="../media/image131.jpeg"/></Relationships>
</file>

<file path=ppt/slides/_rels/slide63.xml.rels><?xml version="1.0" encoding="UTF-8" standalone="yes"?>
<Relationships xmlns="http://schemas.openxmlformats.org/package/2006/relationships"><Relationship Id="rId3" Type="http://schemas.openxmlformats.org/officeDocument/2006/relationships/image" Target="../media/image133.emf"/><Relationship Id="rId2" Type="http://schemas.openxmlformats.org/officeDocument/2006/relationships/image" Target="../media/image132.emf"/><Relationship Id="rId1" Type="http://schemas.openxmlformats.org/officeDocument/2006/relationships/slideLayout" Target="../slideLayouts/slideLayout2.xml"/><Relationship Id="rId5" Type="http://schemas.openxmlformats.org/officeDocument/2006/relationships/image" Target="../media/image131.jpeg"/><Relationship Id="rId4" Type="http://schemas.openxmlformats.org/officeDocument/2006/relationships/image" Target="../media/image134.emf"/></Relationships>
</file>

<file path=ppt/slides/_rels/slide6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136.emf"/><Relationship Id="rId2" Type="http://schemas.openxmlformats.org/officeDocument/2006/relationships/image" Target="../media/image135.png"/><Relationship Id="rId1" Type="http://schemas.openxmlformats.org/officeDocument/2006/relationships/slideLayout" Target="../slideLayouts/slideLayout2.xml"/><Relationship Id="rId6" Type="http://schemas.openxmlformats.org/officeDocument/2006/relationships/image" Target="../media/image176.png"/><Relationship Id="rId5" Type="http://schemas.openxmlformats.org/officeDocument/2006/relationships/image" Target="../media/image175.png"/><Relationship Id="rId4" Type="http://schemas.openxmlformats.org/officeDocument/2006/relationships/image" Target="../media/image174.png"/></Relationships>
</file>

<file path=ppt/slides/_rels/slide66.xml.rels><?xml version="1.0" encoding="UTF-8" standalone="yes"?>
<Relationships xmlns="http://schemas.openxmlformats.org/package/2006/relationships"><Relationship Id="rId8" Type="http://schemas.openxmlformats.org/officeDocument/2006/relationships/image" Target="../media/image180.png"/><Relationship Id="rId3" Type="http://schemas.openxmlformats.org/officeDocument/2006/relationships/image" Target="../media/image178.png"/><Relationship Id="rId7" Type="http://schemas.openxmlformats.org/officeDocument/2006/relationships/image" Target="../media/image73.emf"/><Relationship Id="rId2" Type="http://schemas.openxmlformats.org/officeDocument/2006/relationships/image" Target="../media/image177.png"/><Relationship Id="rId1" Type="http://schemas.openxmlformats.org/officeDocument/2006/relationships/slideLayout" Target="../slideLayouts/slideLayout2.xml"/><Relationship Id="rId6" Type="http://schemas.openxmlformats.org/officeDocument/2006/relationships/image" Target="../media/image76.emf"/><Relationship Id="rId11" Type="http://schemas.openxmlformats.org/officeDocument/2006/relationships/image" Target="../media/image183.png"/><Relationship Id="rId5" Type="http://schemas.openxmlformats.org/officeDocument/2006/relationships/image" Target="../media/image137.emf"/><Relationship Id="rId10" Type="http://schemas.openxmlformats.org/officeDocument/2006/relationships/image" Target="../media/image182.png"/><Relationship Id="rId4" Type="http://schemas.openxmlformats.org/officeDocument/2006/relationships/image" Target="../media/image136.emf"/><Relationship Id="rId9" Type="http://schemas.openxmlformats.org/officeDocument/2006/relationships/image" Target="../media/image181.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image" Target="../media/image138.jpeg"/><Relationship Id="rId1" Type="http://schemas.openxmlformats.org/officeDocument/2006/relationships/slideLayout" Target="../slideLayouts/slideLayout2.xml"/><Relationship Id="rId4" Type="http://schemas.openxmlformats.org/officeDocument/2006/relationships/image" Target="../media/image140.png"/></Relationships>
</file>

<file path=ppt/slides/_rels/slide69.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42.png"/></Relationships>
</file>

<file path=ppt/slides/_rels/slide70.xml.rels><?xml version="1.0" encoding="UTF-8" standalone="yes"?>
<Relationships xmlns="http://schemas.openxmlformats.org/package/2006/relationships"><Relationship Id="rId2" Type="http://schemas.openxmlformats.org/officeDocument/2006/relationships/image" Target="../media/image143.jpe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145.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147.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148.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149.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151.png"/><Relationship Id="rId2" Type="http://schemas.openxmlformats.org/officeDocument/2006/relationships/image" Target="../media/image150.png"/><Relationship Id="rId1" Type="http://schemas.openxmlformats.org/officeDocument/2006/relationships/slideLayout" Target="../slideLayouts/slideLayout2.xml"/><Relationship Id="rId4" Type="http://schemas.openxmlformats.org/officeDocument/2006/relationships/image" Target="../media/image154.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9.xml.rels><?xml version="1.0" encoding="UTF-8" standalone="yes"?>
<Relationships xmlns="http://schemas.openxmlformats.org/package/2006/relationships"><Relationship Id="rId2" Type="http://schemas.openxmlformats.org/officeDocument/2006/relationships/image" Target="../media/image155.jpe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199.png"/><Relationship Id="rId2" Type="http://schemas.openxmlformats.org/officeDocument/2006/relationships/image" Target="../media/image158.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image" Target="../media/image159.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161.jpeg"/><Relationship Id="rId2" Type="http://schemas.openxmlformats.org/officeDocument/2006/relationships/image" Target="../media/image202.png"/><Relationship Id="rId1" Type="http://schemas.openxmlformats.org/officeDocument/2006/relationships/slideLayout" Target="../slideLayouts/slideLayout2.xml"/><Relationship Id="rId4" Type="http://schemas.openxmlformats.org/officeDocument/2006/relationships/image" Target="../media/image162.jpeg"/></Relationships>
</file>

<file path=ppt/slides/_rels/slide84.xml.rels><?xml version="1.0" encoding="UTF-8" standalone="yes"?>
<Relationships xmlns="http://schemas.openxmlformats.org/package/2006/relationships"><Relationship Id="rId3" Type="http://schemas.openxmlformats.org/officeDocument/2006/relationships/image" Target="../media/image162.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164.jpeg"/><Relationship Id="rId2" Type="http://schemas.openxmlformats.org/officeDocument/2006/relationships/image" Target="../media/image163.emf"/><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165.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165.png"/><Relationship Id="rId2" Type="http://schemas.openxmlformats.org/officeDocument/2006/relationships/image" Target="../media/image208.png"/><Relationship Id="rId1" Type="http://schemas.openxmlformats.org/officeDocument/2006/relationships/slideLayout" Target="../slideLayouts/slideLayout2.xml"/><Relationship Id="rId5" Type="http://schemas.openxmlformats.org/officeDocument/2006/relationships/image" Target="../media/image210.png"/><Relationship Id="rId4" Type="http://schemas.openxmlformats.org/officeDocument/2006/relationships/image" Target="../media/image166.png"/></Relationships>
</file>

<file path=ppt/slides/_rels/slide88.xml.rels><?xml version="1.0" encoding="UTF-8" standalone="yes"?>
<Relationships xmlns="http://schemas.openxmlformats.org/package/2006/relationships"><Relationship Id="rId3" Type="http://schemas.openxmlformats.org/officeDocument/2006/relationships/image" Target="../media/image163.emf"/><Relationship Id="rId2" Type="http://schemas.openxmlformats.org/officeDocument/2006/relationships/image" Target="../media/image167.png"/><Relationship Id="rId1" Type="http://schemas.openxmlformats.org/officeDocument/2006/relationships/slideLayout" Target="../slideLayouts/slideLayout2.xml"/><Relationship Id="rId4" Type="http://schemas.openxmlformats.org/officeDocument/2006/relationships/image" Target="../media/image164.jpeg"/></Relationships>
</file>

<file path=ppt/slides/_rels/slide89.xml.rels><?xml version="1.0" encoding="UTF-8" standalone="yes"?>
<Relationships xmlns="http://schemas.openxmlformats.org/package/2006/relationships"><Relationship Id="rId3" Type="http://schemas.openxmlformats.org/officeDocument/2006/relationships/image" Target="../media/image169.png"/><Relationship Id="rId2" Type="http://schemas.openxmlformats.org/officeDocument/2006/relationships/image" Target="../media/image168.jpeg"/><Relationship Id="rId1" Type="http://schemas.openxmlformats.org/officeDocument/2006/relationships/slideLayout" Target="../slideLayouts/slideLayout2.xml"/><Relationship Id="rId4" Type="http://schemas.openxmlformats.org/officeDocument/2006/relationships/image" Target="../media/image170.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71.jpeg"/><Relationship Id="rId1" Type="http://schemas.openxmlformats.org/officeDocument/2006/relationships/slideLayout" Target="../slideLayouts/slideLayout1.xml"/><Relationship Id="rId6" Type="http://schemas.openxmlformats.org/officeDocument/2006/relationships/image" Target="../media/image173.jpeg"/><Relationship Id="rId5" Type="http://schemas.openxmlformats.org/officeDocument/2006/relationships/image" Target="../media/image172.png"/><Relationship Id="rId4" Type="http://schemas.openxmlformats.org/officeDocument/2006/relationships/hyperlink" Target="http://csse.szu.edu.cn/staff/ruizhenhu/" TargetMode="Externa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8" name="图片 10"/>
          <p:cNvPicPr>
            <a:picLocks noChangeAspect="1"/>
          </p:cNvPicPr>
          <p:nvPr/>
        </p:nvPicPr>
        <p:blipFill>
          <a:blip r:embed="rId4"/>
          <a:stretch>
            <a:fillRect/>
          </a:stretch>
        </p:blipFill>
        <p:spPr>
          <a:xfrm>
            <a:off x="199988" y="207807"/>
            <a:ext cx="972064" cy="972064"/>
          </a:xfrm>
          <a:prstGeom prst="rect">
            <a:avLst/>
          </a:prstGeom>
        </p:spPr>
      </p:pic>
      <p:pic>
        <p:nvPicPr>
          <p:cNvPr id="9" name="图片 2"/>
          <p:cNvPicPr>
            <a:picLocks noChangeAspect="1"/>
          </p:cNvPicPr>
          <p:nvPr/>
        </p:nvPicPr>
        <p:blipFill>
          <a:blip r:embed="rId5"/>
          <a:stretch>
            <a:fillRect/>
          </a:stretch>
        </p:blipFill>
        <p:spPr>
          <a:xfrm>
            <a:off x="1155576" y="3086551"/>
            <a:ext cx="7156402" cy="539088"/>
          </a:xfrm>
          <a:prstGeom prst="rect">
            <a:avLst/>
          </a:prstGeom>
        </p:spPr>
      </p:pic>
      <p:sp>
        <p:nvSpPr>
          <p:cNvPr id="12" name="文本框 3"/>
          <p:cNvSpPr txBox="1"/>
          <p:nvPr/>
        </p:nvSpPr>
        <p:spPr>
          <a:xfrm>
            <a:off x="1287380" y="1688450"/>
            <a:ext cx="7109639" cy="1477328"/>
          </a:xfrm>
          <a:prstGeom prst="rect">
            <a:avLst/>
          </a:prstGeom>
          <a:noFill/>
        </p:spPr>
        <p:txBody>
          <a:bodyPr wrap="none" rtlCol="0">
            <a:spAutoFit/>
          </a:bodyPr>
          <a:lstStyle/>
          <a:p>
            <a:r>
              <a:rPr lang="zh-CN" altLang="en-US" sz="9000" b="1" dirty="0">
                <a:solidFill>
                  <a:srgbClr val="94003F"/>
                </a:solidFill>
                <a:latin typeface="微软雅黑" panose="020B0503020204020204" pitchFamily="34" charset="-122"/>
                <a:ea typeface="微软雅黑" panose="020B0503020204020204" pitchFamily="34" charset="-122"/>
              </a:rPr>
              <a:t>计算机图形学</a:t>
            </a:r>
          </a:p>
        </p:txBody>
      </p:sp>
      <p:sp>
        <p:nvSpPr>
          <p:cNvPr id="13" name="矩形 6"/>
          <p:cNvSpPr/>
          <p:nvPr/>
        </p:nvSpPr>
        <p:spPr>
          <a:xfrm>
            <a:off x="3711120" y="4100410"/>
            <a:ext cx="2262158" cy="923330"/>
          </a:xfrm>
          <a:prstGeom prst="rect">
            <a:avLst/>
          </a:prstGeom>
        </p:spPr>
        <p:txBody>
          <a:bodyPr wrap="none">
            <a:spAutoFit/>
          </a:bodyPr>
          <a:lstStyle/>
          <a:p>
            <a:pPr algn="ctr"/>
            <a:r>
              <a:rPr lang="zh-CN" altLang="en-US" sz="5400" dirty="0">
                <a:latin typeface="叶根友刀锋黑草" panose="02010601030101010101" pitchFamily="2" charset="-122"/>
                <a:ea typeface="叶根友刀锋黑草" panose="02010601030101010101" pitchFamily="2" charset="-122"/>
              </a:rPr>
              <a:t>胡瑞珍</a:t>
            </a:r>
          </a:p>
        </p:txBody>
      </p:sp>
      <p:pic>
        <p:nvPicPr>
          <p:cNvPr id="14" name="Picture 13"/>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346282" y="207808"/>
            <a:ext cx="972064" cy="97206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EB792F4E-54C0-4D36-B331-9C6FCFE9A340}" type="slidenum">
              <a:rPr lang="zh-CN" altLang="en-US" smtClean="0"/>
              <a:t>2</a:t>
            </a:fld>
            <a:endParaRPr lang="zh-CN" altLang="en-US"/>
          </a:p>
        </p:txBody>
      </p:sp>
      <p:sp>
        <p:nvSpPr>
          <p:cNvPr id="8" name="文本框 7"/>
          <p:cNvSpPr txBox="1"/>
          <p:nvPr/>
        </p:nvSpPr>
        <p:spPr>
          <a:xfrm>
            <a:off x="172542" y="1263466"/>
            <a:ext cx="8679815" cy="4399915"/>
          </a:xfrm>
          <a:prstGeom prst="rect">
            <a:avLst/>
          </a:prstGeom>
          <a:noFill/>
        </p:spPr>
        <p:txBody>
          <a:bodyPr wrap="none" rtlCol="0">
            <a:spAutoFit/>
          </a:bodyPr>
          <a:lstStyle/>
          <a:p>
            <a:pPr algn="ctr"/>
            <a:r>
              <a:rPr lang="zh-CN" altLang="en-US" sz="4800" b="1" dirty="0">
                <a:latin typeface="微软雅黑" panose="020B0503020204020204" pitchFamily="34" charset="-122"/>
                <a:ea typeface="微软雅黑" panose="020B0503020204020204" pitchFamily="34" charset="-122"/>
              </a:rPr>
              <a:t>笔试，闭卷</a:t>
            </a:r>
            <a:endParaRPr lang="en-US" altLang="zh-CN" sz="4800" b="1" dirty="0">
              <a:latin typeface="微软雅黑" panose="020B0503020204020204" pitchFamily="34" charset="-122"/>
              <a:ea typeface="微软雅黑" panose="020B0503020204020204" pitchFamily="34" charset="-122"/>
            </a:endParaRPr>
          </a:p>
          <a:p>
            <a:pPr algn="ctr"/>
            <a:endParaRPr lang="en-US" altLang="zh-CN" sz="4800" b="1" dirty="0">
              <a:latin typeface="微软雅黑" panose="020B0503020204020204" pitchFamily="34" charset="-122"/>
              <a:ea typeface="微软雅黑" panose="020B0503020204020204" pitchFamily="34" charset="-122"/>
            </a:endParaRPr>
          </a:p>
          <a:p>
            <a:pPr algn="ctr"/>
            <a:r>
              <a:rPr lang="zh-CN" altLang="en-US" sz="4800" b="1" dirty="0">
                <a:latin typeface="微软雅黑" panose="020B0503020204020204" pitchFamily="34" charset="-122"/>
                <a:ea typeface="微软雅黑" panose="020B0503020204020204" pitchFamily="34" charset="-122"/>
              </a:rPr>
              <a:t>致理楼</a:t>
            </a:r>
            <a:r>
              <a:rPr lang="en-US" altLang="zh-CN" sz="4800" b="1" dirty="0">
                <a:latin typeface="微软雅黑" panose="020B0503020204020204" pitchFamily="34" charset="-122"/>
                <a:ea typeface="微软雅黑" panose="020B0503020204020204" pitchFamily="34" charset="-122"/>
              </a:rPr>
              <a:t> L1-205</a:t>
            </a:r>
          </a:p>
          <a:p>
            <a:pPr algn="ctr"/>
            <a:endParaRPr lang="en-US" altLang="zh-CN" sz="4800" b="1" dirty="0">
              <a:latin typeface="微软雅黑" panose="020B0503020204020204" pitchFamily="34" charset="-122"/>
              <a:ea typeface="微软雅黑" panose="020B0503020204020204" pitchFamily="34" charset="-122"/>
            </a:endParaRPr>
          </a:p>
          <a:p>
            <a:pPr algn="ctr"/>
            <a:r>
              <a:rPr lang="en-US" altLang="zh-CN" sz="4800" b="1" dirty="0">
                <a:latin typeface="微软雅黑" panose="020B0503020204020204" pitchFamily="34" charset="-122"/>
                <a:ea typeface="微软雅黑" panose="020B0503020204020204" pitchFamily="34" charset="-122"/>
              </a:rPr>
              <a:t>2026.1.3</a:t>
            </a:r>
            <a:r>
              <a:rPr lang="zh-CN" altLang="en-US" sz="4800" b="1" dirty="0">
                <a:latin typeface="微软雅黑" panose="020B0503020204020204" pitchFamily="34" charset="-122"/>
                <a:ea typeface="微软雅黑" panose="020B0503020204020204" pitchFamily="34" charset="-122"/>
              </a:rPr>
              <a:t>周六</a:t>
            </a:r>
            <a:r>
              <a:rPr lang="en-US" altLang="zh-CN" sz="4800" b="1" dirty="0">
                <a:latin typeface="微软雅黑" panose="020B0503020204020204" pitchFamily="34" charset="-122"/>
                <a:ea typeface="微软雅黑" panose="020B0503020204020204" pitchFamily="34" charset="-122"/>
              </a:rPr>
              <a:t>10</a:t>
            </a:r>
            <a:r>
              <a:rPr lang="zh-CN" altLang="en-US" sz="4800" b="1" dirty="0">
                <a:latin typeface="微软雅黑" panose="020B0503020204020204" pitchFamily="34" charset="-122"/>
                <a:ea typeface="微软雅黑" panose="020B0503020204020204" pitchFamily="34" charset="-122"/>
              </a:rPr>
              <a:t>：</a:t>
            </a:r>
            <a:r>
              <a:rPr lang="en-US" altLang="zh-CN" sz="4800" b="1" dirty="0">
                <a:latin typeface="微软雅黑" panose="020B0503020204020204" pitchFamily="34" charset="-122"/>
                <a:ea typeface="微软雅黑" panose="020B0503020204020204" pitchFamily="34" charset="-122"/>
              </a:rPr>
              <a:t>00-11</a:t>
            </a:r>
            <a:r>
              <a:rPr lang="zh-CN" altLang="en-US" sz="4800" b="1" dirty="0">
                <a:latin typeface="微软雅黑" panose="020B0503020204020204" pitchFamily="34" charset="-122"/>
                <a:ea typeface="微软雅黑" panose="020B0503020204020204" pitchFamily="34" charset="-122"/>
              </a:rPr>
              <a:t>：</a:t>
            </a:r>
            <a:r>
              <a:rPr lang="en-US" altLang="zh-CN" sz="4800" b="1" dirty="0">
                <a:latin typeface="微软雅黑" panose="020B0503020204020204" pitchFamily="34" charset="-122"/>
                <a:ea typeface="微软雅黑" panose="020B0503020204020204" pitchFamily="34" charset="-122"/>
              </a:rPr>
              <a:t>30</a:t>
            </a:r>
            <a:r>
              <a:rPr lang="zh-CN" altLang="en-US" sz="4800" b="1" dirty="0">
                <a:latin typeface="微软雅黑" panose="020B0503020204020204" pitchFamily="34" charset="-122"/>
                <a:ea typeface="微软雅黑" panose="020B0503020204020204" pitchFamily="34" charset="-122"/>
              </a:rPr>
              <a:t> </a:t>
            </a:r>
            <a:endParaRPr lang="en-US" altLang="zh-CN" sz="4800" b="1" dirty="0">
              <a:latin typeface="微软雅黑" panose="020B0503020204020204" pitchFamily="34" charset="-122"/>
              <a:ea typeface="微软雅黑" panose="020B0503020204020204" pitchFamily="34" charset="-122"/>
            </a:endParaRPr>
          </a:p>
          <a:p>
            <a:pPr algn="ctr"/>
            <a:r>
              <a:rPr lang="zh-CN" altLang="en-US" sz="4000" b="1" dirty="0">
                <a:latin typeface="微软雅黑" panose="020B0503020204020204" pitchFamily="34" charset="-122"/>
                <a:ea typeface="微软雅黑" panose="020B0503020204020204" pitchFamily="34" charset="-122"/>
              </a:rPr>
              <a:t>（携带校园卡提前</a:t>
            </a:r>
            <a:r>
              <a:rPr lang="en-US" altLang="zh-CN" sz="4000" b="1" dirty="0">
                <a:latin typeface="微软雅黑" panose="020B0503020204020204" pitchFamily="34" charset="-122"/>
                <a:ea typeface="微软雅黑" panose="020B0503020204020204" pitchFamily="34" charset="-122"/>
              </a:rPr>
              <a:t>20</a:t>
            </a:r>
            <a:r>
              <a:rPr lang="zh-CN" altLang="en-US" sz="4000" b="1" dirty="0">
                <a:latin typeface="微软雅黑" panose="020B0503020204020204" pitchFamily="34" charset="-122"/>
                <a:ea typeface="微软雅黑" panose="020B0503020204020204" pitchFamily="34" charset="-122"/>
              </a:rPr>
              <a:t>分钟到场）</a:t>
            </a:r>
          </a:p>
        </p:txBody>
      </p:sp>
      <p:sp>
        <p:nvSpPr>
          <p:cNvPr id="7" name="Title 6"/>
          <p:cNvSpPr>
            <a:spLocks noGrp="1"/>
          </p:cNvSpPr>
          <p:nvPr>
            <p:ph type="title"/>
          </p:nvPr>
        </p:nvSpPr>
        <p:spPr/>
        <p:txBody>
          <a:bodyPr/>
          <a:lstStyle/>
          <a:p>
            <a:r>
              <a:rPr lang="zh-CN" altLang="en-US" dirty="0"/>
              <a:t>期末测试</a:t>
            </a:r>
            <a:br>
              <a:rPr lang="en-US" altLang="zh-CN" dirty="0"/>
            </a:b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椭圆 8"/>
          <p:cNvSpPr/>
          <p:nvPr/>
        </p:nvSpPr>
        <p:spPr>
          <a:xfrm>
            <a:off x="3650349" y="1520687"/>
            <a:ext cx="2177274" cy="2177274"/>
          </a:xfrm>
          <a:prstGeom prst="ellips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大纲</a:t>
            </a:r>
          </a:p>
        </p:txBody>
      </p:sp>
      <p:sp>
        <p:nvSpPr>
          <p:cNvPr id="8" name="文本框 7"/>
          <p:cNvSpPr txBox="1"/>
          <p:nvPr/>
        </p:nvSpPr>
        <p:spPr>
          <a:xfrm>
            <a:off x="2334144" y="3850885"/>
            <a:ext cx="4801314" cy="646331"/>
          </a:xfrm>
          <a:prstGeom prst="rect">
            <a:avLst/>
          </a:prstGeom>
          <a:noFill/>
        </p:spPr>
        <p:txBody>
          <a:bodyPr wrap="none" rtlCol="0">
            <a:spAutoFit/>
          </a:bodyPr>
          <a:lstStyle/>
          <a:p>
            <a:pPr algn="ctr"/>
            <a:r>
              <a:rPr lang="zh-CN" altLang="en-US" sz="3600" b="1" dirty="0">
                <a:latin typeface="微软雅黑" panose="020B0503020204020204" pitchFamily="34" charset="-122"/>
                <a:ea typeface="微软雅黑" panose="020B0503020204020204" pitchFamily="34" charset="-122"/>
              </a:rPr>
              <a:t>重要知识点回顾和巩固</a:t>
            </a:r>
          </a:p>
        </p:txBody>
      </p:sp>
      <p:sp>
        <p:nvSpPr>
          <p:cNvPr id="14" name="文本框 13"/>
          <p:cNvSpPr txBox="1"/>
          <p:nvPr/>
        </p:nvSpPr>
        <p:spPr>
          <a:xfrm>
            <a:off x="4028428" y="2780384"/>
            <a:ext cx="1532599" cy="584775"/>
          </a:xfrm>
          <a:prstGeom prst="rect">
            <a:avLst/>
          </a:prstGeom>
          <a:noFill/>
        </p:spPr>
        <p:txBody>
          <a:bodyPr wrap="none" rtlCol="0">
            <a:spAutoFit/>
          </a:bodyPr>
          <a:lstStyle/>
          <a:p>
            <a:pPr algn="ctr"/>
            <a:r>
              <a:rPr lang="en-US" altLang="zh-CN" sz="3200" b="1" dirty="0">
                <a:solidFill>
                  <a:schemeClr val="bg1"/>
                </a:solidFill>
              </a:rPr>
              <a:t>Chapter</a:t>
            </a:r>
            <a:endParaRPr lang="zh-CN" altLang="en-US" sz="3200" b="1" dirty="0">
              <a:solidFill>
                <a:schemeClr val="bg1"/>
              </a:solidFill>
            </a:endParaRPr>
          </a:p>
        </p:txBody>
      </p:sp>
      <p:sp>
        <p:nvSpPr>
          <p:cNvPr id="15" name="文本框 14"/>
          <p:cNvSpPr txBox="1"/>
          <p:nvPr/>
        </p:nvSpPr>
        <p:spPr>
          <a:xfrm>
            <a:off x="3679672" y="1367763"/>
            <a:ext cx="2130711" cy="1862048"/>
          </a:xfrm>
          <a:prstGeom prst="rect">
            <a:avLst/>
          </a:prstGeom>
          <a:noFill/>
        </p:spPr>
        <p:txBody>
          <a:bodyPr wrap="none" rtlCol="0">
            <a:spAutoFit/>
          </a:bodyPr>
          <a:lstStyle/>
          <a:p>
            <a:r>
              <a:rPr lang="en-US" altLang="zh-CN" sz="11500" b="1" dirty="0">
                <a:solidFill>
                  <a:schemeClr val="bg1"/>
                </a:solidFill>
              </a:rPr>
              <a:t>1-8</a:t>
            </a:r>
            <a:endParaRPr lang="zh-CN" altLang="en-US" sz="11500" b="1" dirty="0">
              <a:solidFill>
                <a:schemeClr val="bg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Hello World to OpenGL</a:t>
            </a:r>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4</a:t>
            </a:fld>
            <a:endParaRPr lang="zh-CN" altLang="en-US"/>
          </a:p>
        </p:txBody>
      </p:sp>
      <p:sp>
        <p:nvSpPr>
          <p:cNvPr id="10" name="文本框 9"/>
          <p:cNvSpPr txBox="1"/>
          <p:nvPr/>
        </p:nvSpPr>
        <p:spPr>
          <a:xfrm>
            <a:off x="1483360" y="5831840"/>
            <a:ext cx="184731" cy="369332"/>
          </a:xfrm>
          <a:prstGeom prst="rect">
            <a:avLst/>
          </a:prstGeom>
          <a:noFill/>
        </p:spPr>
        <p:txBody>
          <a:bodyPr wrap="none" rtlCol="0">
            <a:spAutoFit/>
          </a:bodyPr>
          <a:lstStyle/>
          <a:p>
            <a:endParaRPr lang="zh-CN" altLang="en-US" dirty="0"/>
          </a:p>
        </p:txBody>
      </p:sp>
      <p:sp>
        <p:nvSpPr>
          <p:cNvPr id="5" name="TextBox 4"/>
          <p:cNvSpPr txBox="1"/>
          <p:nvPr/>
        </p:nvSpPr>
        <p:spPr>
          <a:xfrm>
            <a:off x="5415862" y="5801214"/>
            <a:ext cx="2207656" cy="646331"/>
          </a:xfrm>
          <a:prstGeom prst="rect">
            <a:avLst/>
          </a:prstGeom>
          <a:noFill/>
        </p:spPr>
        <p:txBody>
          <a:bodyPr wrap="none" rtlCol="0">
            <a:spAutoFit/>
          </a:bodyPr>
          <a:lstStyle/>
          <a:p>
            <a:pPr algn="ctr"/>
            <a:r>
              <a:rPr lang="zh-CN" altLang="en-US" dirty="0"/>
              <a:t>实验 </a:t>
            </a:r>
            <a:r>
              <a:rPr lang="en-US" altLang="zh-CN" dirty="0"/>
              <a:t>1.1</a:t>
            </a:r>
          </a:p>
          <a:p>
            <a:r>
              <a:rPr lang="zh-CN" altLang="en-US" dirty="0"/>
              <a:t>新版本：</a:t>
            </a:r>
            <a:r>
              <a:rPr lang="en-US" altLang="zh-CN" dirty="0"/>
              <a:t>OpenGL</a:t>
            </a:r>
            <a:r>
              <a:rPr lang="zh-CN" altLang="en-US" dirty="0"/>
              <a:t> </a:t>
            </a:r>
            <a:r>
              <a:rPr lang="en-US" altLang="zh-CN" dirty="0"/>
              <a:t>3.3</a:t>
            </a:r>
            <a:endParaRPr lang="en-US" dirty="0"/>
          </a:p>
        </p:txBody>
      </p:sp>
      <p:pic>
        <p:nvPicPr>
          <p:cNvPr id="9" name="图片 11" descr="QQ截图20160819015834"/>
          <p:cNvPicPr/>
          <p:nvPr/>
        </p:nvPicPr>
        <p:blipFill>
          <a:blip r:embed="rId2">
            <a:extLst>
              <a:ext uri="{28A0092B-C50C-407E-A947-70E740481C1C}">
                <a14:useLocalDpi xmlns:a14="http://schemas.microsoft.com/office/drawing/2010/main" val="0"/>
              </a:ext>
            </a:extLst>
          </a:blip>
          <a:srcRect/>
          <a:stretch>
            <a:fillRect/>
          </a:stretch>
        </p:blipFill>
        <p:spPr bwMode="auto">
          <a:xfrm>
            <a:off x="4491149" y="1327774"/>
            <a:ext cx="4057081" cy="4218201"/>
          </a:xfrm>
          <a:prstGeom prst="rect">
            <a:avLst/>
          </a:prstGeom>
          <a:noFill/>
          <a:ln>
            <a:noFill/>
          </a:ln>
        </p:spPr>
      </p:pic>
      <p:pic>
        <p:nvPicPr>
          <p:cNvPr id="11" name="Picture 10"/>
          <p:cNvPicPr>
            <a:picLocks noChangeAspect="1"/>
          </p:cNvPicPr>
          <p:nvPr/>
        </p:nvPicPr>
        <p:blipFill>
          <a:blip r:embed="rId3"/>
          <a:stretch>
            <a:fillRect/>
          </a:stretch>
        </p:blipFill>
        <p:spPr>
          <a:xfrm>
            <a:off x="713026" y="1434454"/>
            <a:ext cx="2852045" cy="4953000"/>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Hello World to OpenGL</a:t>
            </a:r>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5</a:t>
            </a:fld>
            <a:endParaRPr lang="zh-CN" altLang="en-US"/>
          </a:p>
        </p:txBody>
      </p:sp>
      <p:sp>
        <p:nvSpPr>
          <p:cNvPr id="10" name="文本框 9"/>
          <p:cNvSpPr txBox="1"/>
          <p:nvPr/>
        </p:nvSpPr>
        <p:spPr>
          <a:xfrm>
            <a:off x="1483360" y="5831840"/>
            <a:ext cx="184731" cy="369332"/>
          </a:xfrm>
          <a:prstGeom prst="rect">
            <a:avLst/>
          </a:prstGeom>
          <a:noFill/>
        </p:spPr>
        <p:txBody>
          <a:bodyPr wrap="none" rtlCol="0">
            <a:spAutoFit/>
          </a:bodyPr>
          <a:lstStyle/>
          <a:p>
            <a:endParaRPr lang="zh-CN" altLang="en-US" dirty="0"/>
          </a:p>
        </p:txBody>
      </p:sp>
      <p:pic>
        <p:nvPicPr>
          <p:cNvPr id="11" name="Picture 10"/>
          <p:cNvPicPr>
            <a:picLocks noChangeAspect="1"/>
          </p:cNvPicPr>
          <p:nvPr/>
        </p:nvPicPr>
        <p:blipFill rotWithShape="1">
          <a:blip r:embed="rId3"/>
          <a:srcRect b="46121"/>
          <a:stretch>
            <a:fillRect/>
          </a:stretch>
        </p:blipFill>
        <p:spPr>
          <a:xfrm>
            <a:off x="314147" y="1350523"/>
            <a:ext cx="4789277" cy="448131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3" name="TextBox 2"/>
          <p:cNvSpPr txBox="1"/>
          <p:nvPr/>
        </p:nvSpPr>
        <p:spPr>
          <a:xfrm>
            <a:off x="2386117" y="2965837"/>
            <a:ext cx="1870705" cy="276999"/>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US" sz="1200"/>
              <a:t>VAO </a:t>
            </a:r>
            <a:r>
              <a:rPr lang="en-US" altLang="zh-CN" sz="1200"/>
              <a:t>(</a:t>
            </a:r>
            <a:r>
              <a:rPr lang="en-US" sz="1200"/>
              <a:t> Vertex Array Object </a:t>
            </a:r>
            <a:r>
              <a:rPr lang="en-US" altLang="zh-CN" sz="1200"/>
              <a:t>)</a:t>
            </a:r>
            <a:endParaRPr lang="en-US" sz="1200"/>
          </a:p>
        </p:txBody>
      </p:sp>
      <p:sp>
        <p:nvSpPr>
          <p:cNvPr id="12" name="TextBox 11"/>
          <p:cNvSpPr txBox="1"/>
          <p:nvPr/>
        </p:nvSpPr>
        <p:spPr>
          <a:xfrm>
            <a:off x="2386117" y="3591181"/>
            <a:ext cx="1921808" cy="276999"/>
          </a:xfrm>
          <a:prstGeom prst="rect">
            <a:avLst/>
          </a:prstGeom>
        </p:spPr>
        <p:style>
          <a:lnRef idx="1">
            <a:schemeClr val="accent2"/>
          </a:lnRef>
          <a:fillRef idx="3">
            <a:schemeClr val="accent2"/>
          </a:fillRef>
          <a:effectRef idx="2">
            <a:schemeClr val="accent2"/>
          </a:effectRef>
          <a:fontRef idx="minor">
            <a:schemeClr val="lt1"/>
          </a:fontRef>
        </p:style>
        <p:txBody>
          <a:bodyPr wrap="none" rtlCol="0">
            <a:spAutoFit/>
          </a:bodyPr>
          <a:lstStyle/>
          <a:p>
            <a:r>
              <a:rPr lang="en-US" sz="1200" dirty="0"/>
              <a:t>V</a:t>
            </a:r>
            <a:r>
              <a:rPr lang="en-US" altLang="zh-CN" sz="1200" dirty="0"/>
              <a:t>B</a:t>
            </a:r>
            <a:r>
              <a:rPr lang="en-US" sz="1200" dirty="0"/>
              <a:t>O </a:t>
            </a:r>
            <a:r>
              <a:rPr lang="en-US" altLang="zh-CN" sz="1200" dirty="0"/>
              <a:t>(</a:t>
            </a:r>
            <a:r>
              <a:rPr lang="en-US" sz="1200" dirty="0"/>
              <a:t> Vertex </a:t>
            </a:r>
            <a:r>
              <a:rPr lang="en-US" altLang="zh-CN" sz="1200" dirty="0"/>
              <a:t>Buffer</a:t>
            </a:r>
            <a:r>
              <a:rPr lang="zh-CN" altLang="en-US" sz="1200" dirty="0"/>
              <a:t> </a:t>
            </a:r>
            <a:r>
              <a:rPr lang="en-US" sz="1200" dirty="0"/>
              <a:t>Object </a:t>
            </a:r>
            <a:r>
              <a:rPr lang="en-US" altLang="zh-CN" sz="1200" dirty="0"/>
              <a:t>)</a:t>
            </a:r>
            <a:endParaRPr lang="en-US" sz="1200" dirty="0"/>
          </a:p>
        </p:txBody>
      </p:sp>
      <p:sp>
        <p:nvSpPr>
          <p:cNvPr id="6" name="TextBox 5"/>
          <p:cNvSpPr txBox="1"/>
          <p:nvPr/>
        </p:nvSpPr>
        <p:spPr>
          <a:xfrm>
            <a:off x="7021002" y="803082"/>
            <a:ext cx="1066318" cy="369332"/>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r>
              <a:rPr lang="en-US" altLang="zh-CN"/>
              <a:t>main.cpp</a:t>
            </a:r>
            <a:endParaRPr lang="en-US" dirty="0"/>
          </a:p>
        </p:txBody>
      </p:sp>
      <p:sp>
        <p:nvSpPr>
          <p:cNvPr id="7" name="Rounded Rectangle 6"/>
          <p:cNvSpPr/>
          <p:nvPr/>
        </p:nvSpPr>
        <p:spPr>
          <a:xfrm>
            <a:off x="699715" y="4277802"/>
            <a:ext cx="3975652" cy="469127"/>
          </a:xfrm>
          <a:prstGeom prst="roundRect">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3" name="Rounded Rectangle 6"/>
          <p:cNvSpPr/>
          <p:nvPr/>
        </p:nvSpPr>
        <p:spPr>
          <a:xfrm>
            <a:off x="699714" y="4803782"/>
            <a:ext cx="4160609" cy="469128"/>
          </a:xfrm>
          <a:prstGeom prst="roundRect">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pic>
        <p:nvPicPr>
          <p:cNvPr id="14" name="Picture 7"/>
          <p:cNvPicPr>
            <a:picLocks noChangeAspect="1"/>
          </p:cNvPicPr>
          <p:nvPr/>
        </p:nvPicPr>
        <p:blipFill rotWithShape="1">
          <a:blip r:embed="rId4">
            <a:extLst>
              <a:ext uri="{28A0092B-C50C-407E-A947-70E740481C1C}">
                <a14:useLocalDpi xmlns:a14="http://schemas.microsoft.com/office/drawing/2010/main" val="0"/>
              </a:ext>
            </a:extLst>
          </a:blip>
          <a:srcRect t="9" b="127"/>
          <a:stretch>
            <a:fillRect/>
          </a:stretch>
        </p:blipFill>
        <p:spPr>
          <a:xfrm>
            <a:off x="5185509" y="1533832"/>
            <a:ext cx="3552478" cy="410988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inVertic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barn(inVertical)">
                                      <p:cBhvr>
                                        <p:cTn id="1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Hello World to OpenGL</a:t>
            </a:r>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6</a:t>
            </a:fld>
            <a:endParaRPr lang="zh-CN" altLang="en-US"/>
          </a:p>
        </p:txBody>
      </p:sp>
      <p:sp>
        <p:nvSpPr>
          <p:cNvPr id="10" name="文本框 9"/>
          <p:cNvSpPr txBox="1"/>
          <p:nvPr/>
        </p:nvSpPr>
        <p:spPr>
          <a:xfrm>
            <a:off x="1483360" y="5831840"/>
            <a:ext cx="184731" cy="369332"/>
          </a:xfrm>
          <a:prstGeom prst="rect">
            <a:avLst/>
          </a:prstGeom>
          <a:noFill/>
        </p:spPr>
        <p:txBody>
          <a:bodyPr wrap="none" rtlCol="0">
            <a:spAutoFit/>
          </a:bodyPr>
          <a:lstStyle/>
          <a:p>
            <a:endParaRPr lang="zh-CN" altLang="en-US" dirty="0"/>
          </a:p>
        </p:txBody>
      </p:sp>
      <p:sp>
        <p:nvSpPr>
          <p:cNvPr id="6" name="TextBox 5"/>
          <p:cNvSpPr txBox="1"/>
          <p:nvPr/>
        </p:nvSpPr>
        <p:spPr>
          <a:xfrm>
            <a:off x="1713366" y="1685677"/>
            <a:ext cx="1269065" cy="369332"/>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r>
              <a:rPr lang="en-US" altLang="zh-CN"/>
              <a:t>vshader.glsl</a:t>
            </a:r>
            <a:endParaRPr lang="en-US" dirty="0"/>
          </a:p>
        </p:txBody>
      </p:sp>
      <p:sp>
        <p:nvSpPr>
          <p:cNvPr id="13" name="TextBox 12"/>
          <p:cNvSpPr txBox="1"/>
          <p:nvPr/>
        </p:nvSpPr>
        <p:spPr>
          <a:xfrm>
            <a:off x="6408122" y="1685677"/>
            <a:ext cx="1269065" cy="369332"/>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r>
              <a:rPr lang="en-US" altLang="zh-CN" dirty="0" err="1"/>
              <a:t>fshader.glsl</a:t>
            </a:r>
            <a:endParaRPr lang="en-US" dirty="0"/>
          </a:p>
        </p:txBody>
      </p:sp>
      <p:sp>
        <p:nvSpPr>
          <p:cNvPr id="5" name="Rectangle 4"/>
          <p:cNvSpPr/>
          <p:nvPr/>
        </p:nvSpPr>
        <p:spPr>
          <a:xfrm>
            <a:off x="393866" y="2650763"/>
            <a:ext cx="3908067" cy="2308324"/>
          </a:xfrm>
          <a:prstGeom prst="rect">
            <a:avLst/>
          </a:prstGeom>
          <a:solidFill>
            <a:srgbClr val="BDD7EE">
              <a:alpha val="52941"/>
            </a:srgbClr>
          </a:solidFill>
        </p:spPr>
        <p:txBody>
          <a:bodyPr wrap="square">
            <a:spAutoFit/>
          </a:bodyPr>
          <a:lstStyle/>
          <a:p>
            <a:r>
              <a:rPr lang="en-US" dirty="0">
                <a:latin typeface="ZztexMono-Regular"/>
              </a:rPr>
              <a:t>#version 330 core</a:t>
            </a:r>
          </a:p>
          <a:p>
            <a:endParaRPr lang="en-US" dirty="0">
              <a:latin typeface="ZztexMono-Regular"/>
            </a:endParaRPr>
          </a:p>
          <a:p>
            <a:r>
              <a:rPr lang="en-US" dirty="0">
                <a:latin typeface="ZztexMono-Regular"/>
              </a:rPr>
              <a:t>in vec3 </a:t>
            </a:r>
            <a:r>
              <a:rPr lang="en-US" dirty="0" err="1">
                <a:latin typeface="ZztexMono-Regular"/>
              </a:rPr>
              <a:t>vPosition</a:t>
            </a:r>
            <a:r>
              <a:rPr lang="en-US" dirty="0">
                <a:latin typeface="ZztexMono-Regular"/>
              </a:rPr>
              <a:t>;</a:t>
            </a:r>
          </a:p>
          <a:p>
            <a:endParaRPr lang="en-US" dirty="0">
              <a:latin typeface="ZztexMono-Regular"/>
            </a:endParaRPr>
          </a:p>
          <a:p>
            <a:r>
              <a:rPr lang="en-US" dirty="0">
                <a:latin typeface="ZztexMono-Regular"/>
              </a:rPr>
              <a:t>void main()</a:t>
            </a:r>
          </a:p>
          <a:p>
            <a:r>
              <a:rPr lang="en-US" dirty="0">
                <a:latin typeface="ZztexMono-Regular"/>
              </a:rPr>
              <a:t>{    </a:t>
            </a:r>
          </a:p>
          <a:p>
            <a:r>
              <a:rPr lang="zh-CN" altLang="en-US" dirty="0">
                <a:latin typeface="ZztexMono-Regular"/>
              </a:rPr>
              <a:t>        </a:t>
            </a:r>
            <a:r>
              <a:rPr lang="en-US" dirty="0" err="1">
                <a:latin typeface="ZztexMono-Regular"/>
              </a:rPr>
              <a:t>gl_Position</a:t>
            </a:r>
            <a:r>
              <a:rPr lang="en-US" dirty="0">
                <a:latin typeface="ZztexMono-Regular"/>
              </a:rPr>
              <a:t> = vec4(</a:t>
            </a:r>
            <a:r>
              <a:rPr lang="en-US" dirty="0" err="1">
                <a:latin typeface="ZztexMono-Regular"/>
              </a:rPr>
              <a:t>vPosition</a:t>
            </a:r>
            <a:r>
              <a:rPr lang="en-US" dirty="0">
                <a:latin typeface="ZztexMono-Regular"/>
              </a:rPr>
              <a:t>, 1.0);</a:t>
            </a:r>
          </a:p>
          <a:p>
            <a:r>
              <a:rPr lang="en-US" dirty="0">
                <a:latin typeface="ZztexMono-Regular"/>
              </a:rPr>
              <a:t>}</a:t>
            </a:r>
          </a:p>
        </p:txBody>
      </p:sp>
      <p:sp>
        <p:nvSpPr>
          <p:cNvPr id="7" name="Rectangle 6"/>
          <p:cNvSpPr/>
          <p:nvPr/>
        </p:nvSpPr>
        <p:spPr>
          <a:xfrm>
            <a:off x="5171898" y="2650763"/>
            <a:ext cx="3741515" cy="2308324"/>
          </a:xfrm>
          <a:prstGeom prst="rect">
            <a:avLst/>
          </a:prstGeom>
          <a:solidFill>
            <a:srgbClr val="BDD7EE">
              <a:alpha val="52941"/>
            </a:srgbClr>
          </a:solidFill>
        </p:spPr>
        <p:txBody>
          <a:bodyPr wrap="square">
            <a:spAutoFit/>
          </a:bodyPr>
          <a:lstStyle/>
          <a:p>
            <a:r>
              <a:rPr lang="en-US" dirty="0">
                <a:latin typeface="ZztexMono-Regular"/>
              </a:rPr>
              <a:t>#version 330 core</a:t>
            </a:r>
          </a:p>
          <a:p>
            <a:endParaRPr lang="en-US" dirty="0">
              <a:latin typeface="ZztexMono-Regular"/>
            </a:endParaRPr>
          </a:p>
          <a:p>
            <a:r>
              <a:rPr lang="en-US" dirty="0">
                <a:latin typeface="ZztexMono-Regular"/>
              </a:rPr>
              <a:t>out vec4 </a:t>
            </a:r>
            <a:r>
              <a:rPr lang="en-US" dirty="0" err="1">
                <a:latin typeface="ZztexMono-Regular"/>
              </a:rPr>
              <a:t>fColor</a:t>
            </a:r>
            <a:r>
              <a:rPr lang="en-US" dirty="0">
                <a:latin typeface="ZztexMono-Regular"/>
              </a:rPr>
              <a:t>;</a:t>
            </a:r>
          </a:p>
          <a:p>
            <a:endParaRPr lang="en-US" dirty="0">
              <a:latin typeface="ZztexMono-Regular"/>
            </a:endParaRPr>
          </a:p>
          <a:p>
            <a:r>
              <a:rPr lang="en-US" dirty="0">
                <a:latin typeface="ZztexMono-Regular"/>
              </a:rPr>
              <a:t>void main()</a:t>
            </a:r>
          </a:p>
          <a:p>
            <a:r>
              <a:rPr lang="en-US" dirty="0">
                <a:latin typeface="ZztexMono-Regular"/>
              </a:rPr>
              <a:t>{    </a:t>
            </a:r>
          </a:p>
          <a:p>
            <a:r>
              <a:rPr lang="zh-CN" altLang="en-US" dirty="0">
                <a:latin typeface="ZztexMono-Regular"/>
              </a:rPr>
              <a:t>        </a:t>
            </a:r>
            <a:r>
              <a:rPr lang="en-US" dirty="0" err="1">
                <a:latin typeface="ZztexMono-Regular"/>
              </a:rPr>
              <a:t>fColor</a:t>
            </a:r>
            <a:r>
              <a:rPr lang="en-US" dirty="0">
                <a:latin typeface="ZztexMono-Regular"/>
              </a:rPr>
              <a:t> = vec4(1.0, 0.0, 0.0, 1.0);</a:t>
            </a:r>
          </a:p>
          <a:p>
            <a:r>
              <a:rPr lang="en-US" dirty="0">
                <a:latin typeface="ZztexMono-Regular"/>
              </a:rPr>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图形绘制原理</a:t>
            </a:r>
          </a:p>
        </p:txBody>
      </p:sp>
      <p:sp>
        <p:nvSpPr>
          <p:cNvPr id="3" name="内容占位符 2"/>
          <p:cNvSpPr>
            <a:spLocks noGrp="1"/>
          </p:cNvSpPr>
          <p:nvPr>
            <p:ph idx="1"/>
          </p:nvPr>
        </p:nvSpPr>
        <p:spPr>
          <a:xfrm>
            <a:off x="628650" y="1316831"/>
            <a:ext cx="7886700" cy="5176044"/>
          </a:xfrm>
        </p:spPr>
        <p:txBody>
          <a:bodyPr>
            <a:normAutofit/>
          </a:bodyPr>
          <a:lstStyle/>
          <a:p>
            <a:r>
              <a:rPr lang="zh-CN" altLang="en-US" sz="2400" dirty="0"/>
              <a:t>计算机图形绘制的高层观点：</a:t>
            </a:r>
            <a:endParaRPr lang="en-US" altLang="zh-CN" sz="2400" dirty="0"/>
          </a:p>
          <a:p>
            <a:pPr lvl="1"/>
            <a:r>
              <a:rPr lang="zh-CN" altLang="en-US" sz="1800" dirty="0"/>
              <a:t>以应用程序为起点，而以图像的生成为终点</a:t>
            </a:r>
            <a:endParaRPr lang="en-US" altLang="zh-CN" sz="1800" dirty="0"/>
          </a:p>
          <a:p>
            <a:pPr lvl="1"/>
            <a:r>
              <a:rPr lang="zh-CN" altLang="en-US" sz="1800" dirty="0"/>
              <a:t>输入：</a:t>
            </a:r>
            <a:r>
              <a:rPr lang="zh-CN" altLang="en-US" sz="1800" dirty="0">
                <a:solidFill>
                  <a:srgbClr val="0000FF"/>
                </a:solidFill>
              </a:rPr>
              <a:t>顶点和状态变量</a:t>
            </a:r>
            <a:r>
              <a:rPr lang="zh-CN" altLang="en-US" sz="1800" dirty="0"/>
              <a:t>，即几何对象、属性和相机参数等</a:t>
            </a:r>
            <a:endParaRPr lang="en-US" altLang="zh-CN" sz="1800" dirty="0"/>
          </a:p>
          <a:p>
            <a:pPr lvl="1"/>
            <a:r>
              <a:rPr lang="zh-CN" altLang="en-US" sz="1800" dirty="0"/>
              <a:t>输出：位于帧缓存中的彩色</a:t>
            </a:r>
            <a:r>
              <a:rPr lang="zh-CN" altLang="en-US" sz="1800" dirty="0">
                <a:solidFill>
                  <a:srgbClr val="0000FF"/>
                </a:solidFill>
              </a:rPr>
              <a:t>像素阵列</a:t>
            </a:r>
            <a:endParaRPr lang="en-US" altLang="zh-CN" sz="1800" dirty="0">
              <a:solidFill>
                <a:srgbClr val="0000FF"/>
              </a:solidFill>
            </a:endParaRPr>
          </a:p>
          <a:p>
            <a:pPr marL="0" indent="0">
              <a:buNone/>
            </a:pPr>
            <a:endParaRPr lang="en-US" altLang="zh-CN" sz="2400" dirty="0"/>
          </a:p>
          <a:p>
            <a:endParaRPr lang="en-US" altLang="zh-CN" sz="2400" dirty="0"/>
          </a:p>
          <a:p>
            <a:endParaRPr lang="en-US" altLang="zh-CN" sz="2400" dirty="0"/>
          </a:p>
          <a:p>
            <a:r>
              <a:rPr lang="en-US" altLang="zh-CN" sz="2400" dirty="0"/>
              <a:t>OpenGL</a:t>
            </a:r>
            <a:r>
              <a:rPr lang="zh-CN" altLang="en-US" sz="2400" dirty="0"/>
              <a:t>渲染管线：</a:t>
            </a:r>
            <a:endParaRPr lang="en-US" altLang="zh-CN" sz="2400" dirty="0"/>
          </a:p>
          <a:p>
            <a:endParaRPr lang="en-US" altLang="zh-CN" sz="2400" dirty="0"/>
          </a:p>
          <a:p>
            <a:endParaRPr lang="en-US" altLang="zh-CN" dirty="0"/>
          </a:p>
          <a:p>
            <a:pPr marL="0" indent="0">
              <a:buNone/>
            </a:pPr>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7</a:t>
            </a:fld>
            <a:endParaRPr lang="zh-CN" altLang="en-US"/>
          </a:p>
        </p:txBody>
      </p:sp>
      <p:pic>
        <p:nvPicPr>
          <p:cNvPr id="7" name="图片 6"/>
          <p:cNvPicPr>
            <a:picLocks noChangeAspect="1"/>
          </p:cNvPicPr>
          <p:nvPr/>
        </p:nvPicPr>
        <p:blipFill>
          <a:blip r:embed="rId2"/>
          <a:stretch>
            <a:fillRect/>
          </a:stretch>
        </p:blipFill>
        <p:spPr>
          <a:xfrm>
            <a:off x="1071939" y="2793509"/>
            <a:ext cx="6554186" cy="1003428"/>
          </a:xfrm>
          <a:prstGeom prst="rect">
            <a:avLst/>
          </a:prstGeom>
        </p:spPr>
      </p:pic>
      <p:pic>
        <p:nvPicPr>
          <p:cNvPr id="9" name="内容占位符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4434" y="4721386"/>
            <a:ext cx="6554186" cy="1574540"/>
          </a:xfrm>
          <a:prstGeom prst="rect">
            <a:avLst/>
          </a:prstGeom>
        </p:spPr>
      </p:pic>
      <p:sp>
        <p:nvSpPr>
          <p:cNvPr id="6" name="Rectangle 5"/>
          <p:cNvSpPr/>
          <p:nvPr/>
        </p:nvSpPr>
        <p:spPr>
          <a:xfrm>
            <a:off x="3868615" y="4656013"/>
            <a:ext cx="3757510" cy="1710253"/>
          </a:xfrm>
          <a:prstGeom prst="rect">
            <a:avLst/>
          </a:prstGeom>
          <a:solidFill>
            <a:schemeClr val="bg1">
              <a:alpha val="66000"/>
            </a:schemeClr>
          </a:solidFill>
          <a:ln w="25400">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0" name="Rectangle 9"/>
          <p:cNvSpPr/>
          <p:nvPr/>
        </p:nvSpPr>
        <p:spPr>
          <a:xfrm>
            <a:off x="1071939" y="4653529"/>
            <a:ext cx="2430916" cy="1710253"/>
          </a:xfrm>
          <a:prstGeom prst="rect">
            <a:avLst/>
          </a:prstGeom>
          <a:noFill/>
          <a:ln w="25400">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1" name="TextBox 10"/>
          <p:cNvSpPr txBox="1"/>
          <p:nvPr/>
        </p:nvSpPr>
        <p:spPr>
          <a:xfrm>
            <a:off x="4962540" y="6389435"/>
            <a:ext cx="1569660" cy="369332"/>
          </a:xfrm>
          <a:prstGeom prst="rect">
            <a:avLst/>
          </a:prstGeom>
          <a:noFill/>
        </p:spPr>
        <p:txBody>
          <a:bodyPr wrap="none" rtlCol="0">
            <a:spAutoFit/>
          </a:bodyPr>
          <a:lstStyle/>
          <a:p>
            <a:r>
              <a:rPr lang="zh-CN" altLang="en-US" dirty="0"/>
              <a:t>使用默认设置</a:t>
            </a:r>
            <a:endParaRPr lang="en-US" dirty="0"/>
          </a:p>
        </p:txBody>
      </p:sp>
      <p:sp>
        <p:nvSpPr>
          <p:cNvPr id="12" name="TextBox 11"/>
          <p:cNvSpPr txBox="1"/>
          <p:nvPr/>
        </p:nvSpPr>
        <p:spPr>
          <a:xfrm>
            <a:off x="1669642" y="6389435"/>
            <a:ext cx="1144865" cy="369332"/>
          </a:xfrm>
          <a:prstGeom prst="rect">
            <a:avLst/>
          </a:prstGeom>
          <a:noFill/>
        </p:spPr>
        <p:txBody>
          <a:bodyPr wrap="none" rtlCol="0">
            <a:spAutoFit/>
          </a:bodyPr>
          <a:lstStyle/>
          <a:p>
            <a:r>
              <a:rPr lang="zh-CN" altLang="en-US" dirty="0"/>
              <a:t>编程处理</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par>
                          <p:cTn id="16" fill="hold">
                            <p:stCondLst>
                              <p:cond delay="500"/>
                            </p:stCondLst>
                            <p:childTnLst>
                              <p:par>
                                <p:cTn id="17" presetID="1" presetClass="entr" presetSubtype="0" fill="hold" grpId="0" nodeType="after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6" presetClass="entr" presetSubtype="21"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barn(inVertical)">
                                      <p:cBhvr>
                                        <p:cTn id="23" dur="500"/>
                                        <p:tgtEl>
                                          <p:spTgt spid="10"/>
                                        </p:tgtEl>
                                      </p:cBhvr>
                                    </p:animEffect>
                                  </p:childTnLst>
                                </p:cTn>
                              </p:par>
                            </p:childTnLst>
                          </p:cTn>
                        </p:par>
                        <p:par>
                          <p:cTn id="24" fill="hold">
                            <p:stCondLst>
                              <p:cond delay="500"/>
                            </p:stCondLst>
                            <p:childTnLst>
                              <p:par>
                                <p:cTn id="25" presetID="1" presetClass="entr" presetSubtype="0" fill="hold" grpId="0" nodeType="after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p:bldP spid="1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主要任务</a:t>
            </a:r>
          </a:p>
        </p:txBody>
      </p:sp>
      <p:sp>
        <p:nvSpPr>
          <p:cNvPr id="3" name="内容占位符 2"/>
          <p:cNvSpPr>
            <a:spLocks noGrp="1"/>
          </p:cNvSpPr>
          <p:nvPr>
            <p:ph idx="1"/>
          </p:nvPr>
        </p:nvSpPr>
        <p:spPr>
          <a:xfrm>
            <a:off x="628650" y="1316831"/>
            <a:ext cx="7886700" cy="4819274"/>
          </a:xfrm>
        </p:spPr>
        <p:txBody>
          <a:bodyPr>
            <a:normAutofit/>
          </a:bodyPr>
          <a:lstStyle/>
          <a:p>
            <a:r>
              <a:rPr lang="zh-CN" altLang="en-US" sz="2400" dirty="0"/>
              <a:t>图形绘制系统的</a:t>
            </a:r>
            <a:r>
              <a:rPr lang="en-US" altLang="zh-CN" sz="2400" dirty="0"/>
              <a:t>4</a:t>
            </a:r>
            <a:r>
              <a:rPr lang="zh-CN" altLang="en-US" sz="2400" dirty="0"/>
              <a:t>个主要任务：</a:t>
            </a:r>
            <a:endParaRPr lang="en-US" altLang="zh-CN" sz="2400" dirty="0"/>
          </a:p>
          <a:p>
            <a:endParaRPr lang="en-US" altLang="zh-CN" sz="2400" dirty="0"/>
          </a:p>
          <a:p>
            <a:endParaRPr lang="en-US" altLang="zh-CN" sz="2400" dirty="0"/>
          </a:p>
          <a:p>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marL="0" indent="0">
              <a:buClr>
                <a:srgbClr val="94003F"/>
              </a:buClr>
              <a:buNone/>
            </a:pPr>
            <a:endParaRPr lang="zh-CN" altLang="en-US" sz="24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8</a:t>
            </a:fld>
            <a:endParaRPr lang="zh-CN" altLang="en-US"/>
          </a:p>
        </p:txBody>
      </p:sp>
      <p:grpSp>
        <p:nvGrpSpPr>
          <p:cNvPr id="23" name="Group 22"/>
          <p:cNvGrpSpPr/>
          <p:nvPr/>
        </p:nvGrpSpPr>
        <p:grpSpPr>
          <a:xfrm>
            <a:off x="839984" y="3929414"/>
            <a:ext cx="7985961" cy="623063"/>
            <a:chOff x="490352" y="4486020"/>
            <a:chExt cx="8403651" cy="655651"/>
          </a:xfrm>
        </p:grpSpPr>
        <p:sp>
          <p:nvSpPr>
            <p:cNvPr id="9" name="矩形 7"/>
            <p:cNvSpPr/>
            <p:nvPr/>
          </p:nvSpPr>
          <p:spPr>
            <a:xfrm>
              <a:off x="490352" y="4493419"/>
              <a:ext cx="1163782" cy="613063"/>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CN" altLang="en-US"/>
            </a:p>
          </p:txBody>
        </p:sp>
        <p:sp>
          <p:nvSpPr>
            <p:cNvPr id="10" name="文本框 8"/>
            <p:cNvSpPr txBox="1"/>
            <p:nvPr/>
          </p:nvSpPr>
          <p:spPr>
            <a:xfrm>
              <a:off x="721550" y="4615290"/>
              <a:ext cx="701386" cy="369332"/>
            </a:xfrm>
            <a:prstGeom prst="rect">
              <a:avLst/>
            </a:prstGeom>
            <a:noFill/>
          </p:spPr>
          <p:txBody>
            <a:bodyPr wrap="square" rtlCol="0">
              <a:spAutoFit/>
            </a:bodyPr>
            <a:lstStyle/>
            <a:p>
              <a:r>
                <a:rPr lang="zh-CN" altLang="en-US" dirty="0"/>
                <a:t>建模</a:t>
              </a:r>
            </a:p>
          </p:txBody>
        </p:sp>
        <p:cxnSp>
          <p:nvCxnSpPr>
            <p:cNvPr id="11" name="直接箭头连接符 10"/>
            <p:cNvCxnSpPr>
              <a:stCxn id="15" idx="3"/>
            </p:cNvCxnSpPr>
            <p:nvPr/>
          </p:nvCxnSpPr>
          <p:spPr>
            <a:xfrm>
              <a:off x="1654134" y="4799950"/>
              <a:ext cx="633845"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2" name="矩形 11"/>
            <p:cNvSpPr/>
            <p:nvPr/>
          </p:nvSpPr>
          <p:spPr>
            <a:xfrm>
              <a:off x="2287979" y="4493419"/>
              <a:ext cx="1163782" cy="613063"/>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CN" altLang="en-US"/>
            </a:p>
          </p:txBody>
        </p:sp>
        <p:sp>
          <p:nvSpPr>
            <p:cNvPr id="13" name="文本框 12"/>
            <p:cNvSpPr txBox="1"/>
            <p:nvPr/>
          </p:nvSpPr>
          <p:spPr>
            <a:xfrm>
              <a:off x="2526971" y="4490598"/>
              <a:ext cx="701386" cy="646330"/>
            </a:xfrm>
            <a:prstGeom prst="rect">
              <a:avLst/>
            </a:prstGeom>
            <a:noFill/>
          </p:spPr>
          <p:txBody>
            <a:bodyPr wrap="square" rtlCol="0">
              <a:spAutoFit/>
            </a:bodyPr>
            <a:lstStyle/>
            <a:p>
              <a:r>
                <a:rPr lang="zh-CN" altLang="en-US" dirty="0"/>
                <a:t>几何处理</a:t>
              </a:r>
            </a:p>
          </p:txBody>
        </p:sp>
        <p:cxnSp>
          <p:nvCxnSpPr>
            <p:cNvPr id="14" name="直接箭头连接符 13"/>
            <p:cNvCxnSpPr>
              <a:stCxn id="19" idx="3"/>
            </p:cNvCxnSpPr>
            <p:nvPr/>
          </p:nvCxnSpPr>
          <p:spPr>
            <a:xfrm>
              <a:off x="3451763" y="4799952"/>
              <a:ext cx="633845"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5" name="矩形 14"/>
            <p:cNvSpPr/>
            <p:nvPr/>
          </p:nvSpPr>
          <p:spPr>
            <a:xfrm>
              <a:off x="4085608" y="4490596"/>
              <a:ext cx="1163782" cy="613063"/>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a:p>
          </p:txBody>
        </p:sp>
        <p:sp>
          <p:nvSpPr>
            <p:cNvPr id="16" name="文本框 15"/>
            <p:cNvSpPr txBox="1"/>
            <p:nvPr/>
          </p:nvSpPr>
          <p:spPr>
            <a:xfrm>
              <a:off x="4221999" y="4612462"/>
              <a:ext cx="959462" cy="388649"/>
            </a:xfrm>
            <a:prstGeom prst="rect">
              <a:avLst/>
            </a:prstGeom>
            <a:noFill/>
          </p:spPr>
          <p:txBody>
            <a:bodyPr wrap="square" rtlCol="0">
              <a:spAutoFit/>
            </a:bodyPr>
            <a:lstStyle/>
            <a:p>
              <a:r>
                <a:rPr lang="zh-CN" altLang="en-US" dirty="0"/>
                <a:t>光栅化</a:t>
              </a:r>
            </a:p>
          </p:txBody>
        </p:sp>
        <p:cxnSp>
          <p:nvCxnSpPr>
            <p:cNvPr id="17" name="直接箭头连接符 16"/>
            <p:cNvCxnSpPr>
              <a:stCxn id="22" idx="3"/>
            </p:cNvCxnSpPr>
            <p:nvPr/>
          </p:nvCxnSpPr>
          <p:spPr>
            <a:xfrm>
              <a:off x="5249389" y="4797128"/>
              <a:ext cx="633845"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8" name="矩形 17"/>
            <p:cNvSpPr/>
            <p:nvPr/>
          </p:nvSpPr>
          <p:spPr>
            <a:xfrm>
              <a:off x="5937786" y="4490596"/>
              <a:ext cx="1163782" cy="61306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sp>
          <p:nvSpPr>
            <p:cNvPr id="19" name="文本框 18"/>
            <p:cNvSpPr txBox="1"/>
            <p:nvPr/>
          </p:nvSpPr>
          <p:spPr>
            <a:xfrm>
              <a:off x="6176778" y="4495338"/>
              <a:ext cx="701386" cy="646333"/>
            </a:xfrm>
            <a:prstGeom prst="rect">
              <a:avLst/>
            </a:prstGeom>
            <a:noFill/>
          </p:spPr>
          <p:txBody>
            <a:bodyPr wrap="square" rtlCol="0">
              <a:spAutoFit/>
            </a:bodyPr>
            <a:lstStyle/>
            <a:p>
              <a:r>
                <a:rPr lang="zh-CN" altLang="en-US" dirty="0"/>
                <a:t>片元处理</a:t>
              </a:r>
            </a:p>
          </p:txBody>
        </p:sp>
        <p:cxnSp>
          <p:nvCxnSpPr>
            <p:cNvPr id="20" name="直接箭头连接符 19"/>
            <p:cNvCxnSpPr/>
            <p:nvPr/>
          </p:nvCxnSpPr>
          <p:spPr>
            <a:xfrm>
              <a:off x="7101570" y="4797126"/>
              <a:ext cx="633845"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1" name="矩形 20"/>
            <p:cNvSpPr/>
            <p:nvPr/>
          </p:nvSpPr>
          <p:spPr>
            <a:xfrm>
              <a:off x="7730221" y="4486020"/>
              <a:ext cx="1163782" cy="613063"/>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zh-CN" altLang="en-US"/>
            </a:p>
          </p:txBody>
        </p:sp>
        <p:sp>
          <p:nvSpPr>
            <p:cNvPr id="22" name="文本框 21"/>
            <p:cNvSpPr txBox="1"/>
            <p:nvPr/>
          </p:nvSpPr>
          <p:spPr>
            <a:xfrm>
              <a:off x="7889580" y="4607890"/>
              <a:ext cx="987136" cy="369332"/>
            </a:xfrm>
            <a:prstGeom prst="rect">
              <a:avLst/>
            </a:prstGeom>
            <a:noFill/>
          </p:spPr>
          <p:txBody>
            <a:bodyPr wrap="square" rtlCol="0">
              <a:spAutoFit/>
            </a:bodyPr>
            <a:lstStyle/>
            <a:p>
              <a:r>
                <a:rPr lang="zh-CN" altLang="en-US" dirty="0"/>
                <a:t>帧缓存</a:t>
              </a:r>
            </a:p>
          </p:txBody>
        </p:sp>
      </p:grpSp>
      <p:cxnSp>
        <p:nvCxnSpPr>
          <p:cNvPr id="8" name="Straight Arrow Connector 7"/>
          <p:cNvCxnSpPr/>
          <p:nvPr/>
        </p:nvCxnSpPr>
        <p:spPr>
          <a:xfrm flipV="1">
            <a:off x="1382066" y="3524964"/>
            <a:ext cx="0" cy="411481"/>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pic>
        <p:nvPicPr>
          <p:cNvPr id="25" name="图片 3"/>
          <p:cNvPicPr>
            <a:picLocks noChangeAspect="1"/>
          </p:cNvPicPr>
          <p:nvPr/>
        </p:nvPicPr>
        <p:blipFill rotWithShape="1">
          <a:blip r:embed="rId2"/>
          <a:srcRect r="69644" b="27271"/>
          <a:stretch>
            <a:fillRect/>
          </a:stretch>
        </p:blipFill>
        <p:spPr>
          <a:xfrm>
            <a:off x="2036537" y="2200839"/>
            <a:ext cx="1089361" cy="1205426"/>
          </a:xfrm>
          <a:prstGeom prst="rect">
            <a:avLst/>
          </a:prstGeom>
        </p:spPr>
      </p:pic>
      <p:sp>
        <p:nvSpPr>
          <p:cNvPr id="26" name="TextBox 25"/>
          <p:cNvSpPr txBox="1"/>
          <p:nvPr/>
        </p:nvSpPr>
        <p:spPr>
          <a:xfrm>
            <a:off x="2579207" y="3133114"/>
            <a:ext cx="663964" cy="369332"/>
          </a:xfrm>
          <a:prstGeom prst="rect">
            <a:avLst/>
          </a:prstGeom>
          <a:noFill/>
        </p:spPr>
        <p:txBody>
          <a:bodyPr wrap="none" rtlCol="0">
            <a:spAutoFit/>
          </a:bodyPr>
          <a:lstStyle/>
          <a:p>
            <a:r>
              <a:rPr lang="en-US" altLang="zh-CN" dirty="0"/>
              <a:t>Ch08</a:t>
            </a:r>
            <a:endParaRPr lang="en-US" dirty="0"/>
          </a:p>
        </p:txBody>
      </p:sp>
      <p:cxnSp>
        <p:nvCxnSpPr>
          <p:cNvPr id="27" name="Straight Arrow Connector 26"/>
          <p:cNvCxnSpPr/>
          <p:nvPr/>
        </p:nvCxnSpPr>
        <p:spPr>
          <a:xfrm flipV="1">
            <a:off x="4809513" y="3524963"/>
            <a:ext cx="0" cy="411481"/>
          </a:xfrm>
          <a:prstGeom prst="straightConnector1">
            <a:avLst/>
          </a:prstGeom>
          <a:ln>
            <a:solidFill>
              <a:schemeClr val="bg1">
                <a:lumMod val="50000"/>
              </a:schemeClr>
            </a:solidFill>
            <a:tailEnd type="triangle"/>
          </a:ln>
        </p:spPr>
        <p:style>
          <a:lnRef idx="1">
            <a:schemeClr val="accent6"/>
          </a:lnRef>
          <a:fillRef idx="0">
            <a:schemeClr val="accent6"/>
          </a:fillRef>
          <a:effectRef idx="0">
            <a:schemeClr val="accent6"/>
          </a:effectRef>
          <a:fontRef idx="minor">
            <a:schemeClr val="tx1"/>
          </a:fontRef>
        </p:style>
      </p:cxnSp>
      <p:pic>
        <p:nvPicPr>
          <p:cNvPr id="28" name="图片 6"/>
          <p:cNvPicPr>
            <a:picLocks noChangeAspect="1"/>
          </p:cNvPicPr>
          <p:nvPr/>
        </p:nvPicPr>
        <p:blipFill>
          <a:blip r:embed="rId3"/>
          <a:stretch>
            <a:fillRect/>
          </a:stretch>
        </p:blipFill>
        <p:spPr>
          <a:xfrm>
            <a:off x="3976111" y="2277868"/>
            <a:ext cx="905293" cy="899530"/>
          </a:xfrm>
          <a:prstGeom prst="rect">
            <a:avLst/>
          </a:prstGeom>
        </p:spPr>
      </p:pic>
      <p:pic>
        <p:nvPicPr>
          <p:cNvPr id="29" name="Picture 2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941466" y="2293165"/>
            <a:ext cx="842029" cy="842029"/>
          </a:xfrm>
          <a:prstGeom prst="rect">
            <a:avLst/>
          </a:prstGeom>
        </p:spPr>
      </p:pic>
      <p:sp>
        <p:nvSpPr>
          <p:cNvPr id="30" name="TextBox 29"/>
          <p:cNvSpPr txBox="1"/>
          <p:nvPr/>
        </p:nvSpPr>
        <p:spPr>
          <a:xfrm>
            <a:off x="4510059" y="3135897"/>
            <a:ext cx="663964" cy="369332"/>
          </a:xfrm>
          <a:prstGeom prst="rect">
            <a:avLst/>
          </a:prstGeom>
          <a:noFill/>
        </p:spPr>
        <p:txBody>
          <a:bodyPr wrap="none" rtlCol="0">
            <a:spAutoFit/>
          </a:bodyPr>
          <a:lstStyle/>
          <a:p>
            <a:r>
              <a:rPr lang="en-US" altLang="zh-CN" dirty="0"/>
              <a:t>Ch06</a:t>
            </a:r>
            <a:endParaRPr lang="en-US" dirty="0"/>
          </a:p>
        </p:txBody>
      </p:sp>
      <p:sp>
        <p:nvSpPr>
          <p:cNvPr id="32" name="TextBox 31"/>
          <p:cNvSpPr txBox="1"/>
          <p:nvPr/>
        </p:nvSpPr>
        <p:spPr>
          <a:xfrm>
            <a:off x="1045529" y="3132769"/>
            <a:ext cx="663964" cy="369332"/>
          </a:xfrm>
          <a:prstGeom prst="rect">
            <a:avLst/>
          </a:prstGeom>
          <a:noFill/>
        </p:spPr>
        <p:txBody>
          <a:bodyPr wrap="none" rtlCol="0">
            <a:spAutoFit/>
          </a:bodyPr>
          <a:lstStyle/>
          <a:p>
            <a:r>
              <a:rPr lang="en-US" altLang="zh-CN" dirty="0"/>
              <a:t>Ch02</a:t>
            </a:r>
            <a:endParaRPr lang="en-US" dirty="0"/>
          </a:p>
        </p:txBody>
      </p:sp>
      <p:cxnSp>
        <p:nvCxnSpPr>
          <p:cNvPr id="33" name="Straight Arrow Connector 32"/>
          <p:cNvCxnSpPr/>
          <p:nvPr/>
        </p:nvCxnSpPr>
        <p:spPr>
          <a:xfrm rot="16200000" flipV="1">
            <a:off x="2081649" y="2480166"/>
            <a:ext cx="0" cy="411481"/>
          </a:xfrm>
          <a:prstGeom prst="straightConnector1">
            <a:avLst/>
          </a:prstGeom>
          <a:ln>
            <a:headEnd type="triangle"/>
            <a:tailEnd type="none"/>
          </a:ln>
        </p:spPr>
        <p:style>
          <a:lnRef idx="1">
            <a:schemeClr val="accent6"/>
          </a:lnRef>
          <a:fillRef idx="0">
            <a:schemeClr val="accent6"/>
          </a:fillRef>
          <a:effectRef idx="0">
            <a:schemeClr val="accent6"/>
          </a:effectRef>
          <a:fontRef idx="minor">
            <a:schemeClr val="tx1"/>
          </a:fontRef>
        </p:style>
      </p:cxnSp>
      <p:sp>
        <p:nvSpPr>
          <p:cNvPr id="3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square" lIns="91440" tIns="45720" rIns="91440" bIns="45720" numCol="1" anchor="ctr" anchorCtr="0" compatLnSpc="1">
            <a:spAutoFit/>
          </a:bodyPr>
          <a:lstStyle/>
          <a:p>
            <a:endParaRPr lang="en-US"/>
          </a:p>
        </p:txBody>
      </p:sp>
      <p:pic>
        <p:nvPicPr>
          <p:cNvPr id="3073" name="Picture 1" descr="QQ截图20160824152434"/>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10777" t="13412" r="12586" b="10501"/>
          <a:stretch>
            <a:fillRect/>
          </a:stretch>
        </p:blipFill>
        <p:spPr bwMode="auto">
          <a:xfrm>
            <a:off x="960343" y="2305173"/>
            <a:ext cx="834336" cy="844919"/>
          </a:xfrm>
          <a:prstGeom prst="rect">
            <a:avLst/>
          </a:prstGeom>
          <a:noFill/>
          <a:extLst>
            <a:ext uri="{909E8E84-426E-40DD-AFC4-6F175D3DCCD1}">
              <a14:hiddenFill xmlns:a14="http://schemas.microsoft.com/office/drawing/2010/main">
                <a:solidFill>
                  <a:srgbClr val="FFFFFF"/>
                </a:solidFill>
              </a14:hiddenFill>
            </a:ext>
          </a:extLst>
        </p:spPr>
      </p:pic>
      <p:cxnSp>
        <p:nvCxnSpPr>
          <p:cNvPr id="36" name="Straight Arrow Connector 35"/>
          <p:cNvCxnSpPr/>
          <p:nvPr/>
        </p:nvCxnSpPr>
        <p:spPr>
          <a:xfrm flipV="1">
            <a:off x="6601190" y="3524962"/>
            <a:ext cx="0" cy="411481"/>
          </a:xfrm>
          <a:prstGeom prst="straightConnector1">
            <a:avLst/>
          </a:prstGeom>
          <a:ln>
            <a:solidFill>
              <a:schemeClr val="accent1"/>
            </a:solidFill>
            <a:tailEnd type="triangle"/>
          </a:ln>
        </p:spPr>
        <p:style>
          <a:lnRef idx="1">
            <a:schemeClr val="accent6"/>
          </a:lnRef>
          <a:fillRef idx="0">
            <a:schemeClr val="accent6"/>
          </a:fillRef>
          <a:effectRef idx="0">
            <a:schemeClr val="accent6"/>
          </a:effectRef>
          <a:fontRef idx="minor">
            <a:schemeClr val="tx1"/>
          </a:fontRef>
        </p:style>
      </p:cxnSp>
      <p:sp>
        <p:nvSpPr>
          <p:cNvPr id="37" name="TextBox 36"/>
          <p:cNvSpPr txBox="1"/>
          <p:nvPr/>
        </p:nvSpPr>
        <p:spPr>
          <a:xfrm>
            <a:off x="6047717" y="6180763"/>
            <a:ext cx="663964" cy="369332"/>
          </a:xfrm>
          <a:prstGeom prst="rect">
            <a:avLst/>
          </a:prstGeom>
          <a:noFill/>
        </p:spPr>
        <p:txBody>
          <a:bodyPr wrap="none" rtlCol="0">
            <a:spAutoFit/>
          </a:bodyPr>
          <a:lstStyle/>
          <a:p>
            <a:r>
              <a:rPr lang="en-US" altLang="zh-CN"/>
              <a:t>Ch05</a:t>
            </a:r>
            <a:endParaRPr lang="en-US" dirty="0"/>
          </a:p>
        </p:txBody>
      </p:sp>
      <p:pic>
        <p:nvPicPr>
          <p:cNvPr id="38" name="Picture 37"/>
          <p:cNvPicPr/>
          <p:nvPr/>
        </p:nvPicPr>
        <p:blipFill>
          <a:blip r:embed="rId6"/>
          <a:stretch>
            <a:fillRect/>
          </a:stretch>
        </p:blipFill>
        <p:spPr>
          <a:xfrm>
            <a:off x="3431951" y="10516595"/>
            <a:ext cx="825339" cy="872883"/>
          </a:xfrm>
          <a:prstGeom prst="rect">
            <a:avLst/>
          </a:prstGeom>
        </p:spPr>
      </p:pic>
      <p:pic>
        <p:nvPicPr>
          <p:cNvPr id="39" name="Picture 38"/>
          <p:cNvPicPr/>
          <p:nvPr/>
        </p:nvPicPr>
        <p:blipFill>
          <a:blip r:embed="rId7"/>
          <a:stretch>
            <a:fillRect/>
          </a:stretch>
        </p:blipFill>
        <p:spPr>
          <a:xfrm>
            <a:off x="5964822" y="5326651"/>
            <a:ext cx="825332" cy="872883"/>
          </a:xfrm>
          <a:prstGeom prst="rect">
            <a:avLst/>
          </a:prstGeom>
        </p:spPr>
      </p:pic>
      <p:cxnSp>
        <p:nvCxnSpPr>
          <p:cNvPr id="40" name="Straight Arrow Connector 39"/>
          <p:cNvCxnSpPr/>
          <p:nvPr/>
        </p:nvCxnSpPr>
        <p:spPr>
          <a:xfrm rot="5400000" flipV="1">
            <a:off x="7311407" y="2483602"/>
            <a:ext cx="0" cy="411481"/>
          </a:xfrm>
          <a:prstGeom prst="straightConnector1">
            <a:avLst/>
          </a:prstGeom>
          <a:ln>
            <a:solidFill>
              <a:schemeClr val="accent1"/>
            </a:solidFill>
            <a:tailEnd type="triangle"/>
          </a:ln>
        </p:spPr>
        <p:style>
          <a:lnRef idx="1">
            <a:schemeClr val="accent6"/>
          </a:lnRef>
          <a:fillRef idx="0">
            <a:schemeClr val="accent6"/>
          </a:fillRef>
          <a:effectRef idx="0">
            <a:schemeClr val="accent6"/>
          </a:effectRef>
          <a:fontRef idx="minor">
            <a:schemeClr val="tx1"/>
          </a:fontRef>
        </p:style>
      </p:cxnSp>
      <p:sp>
        <p:nvSpPr>
          <p:cNvPr id="41" name="TextBox 40"/>
          <p:cNvSpPr txBox="1"/>
          <p:nvPr/>
        </p:nvSpPr>
        <p:spPr>
          <a:xfrm>
            <a:off x="7700333" y="3132769"/>
            <a:ext cx="663964" cy="369332"/>
          </a:xfrm>
          <a:prstGeom prst="rect">
            <a:avLst/>
          </a:prstGeom>
          <a:noFill/>
        </p:spPr>
        <p:txBody>
          <a:bodyPr wrap="none" rtlCol="0">
            <a:spAutoFit/>
          </a:bodyPr>
          <a:lstStyle/>
          <a:p>
            <a:r>
              <a:rPr lang="en-US" altLang="zh-CN" dirty="0"/>
              <a:t>Ch07</a:t>
            </a:r>
            <a:endParaRPr lang="en-US" dirty="0"/>
          </a:p>
        </p:txBody>
      </p:sp>
      <p:pic>
        <p:nvPicPr>
          <p:cNvPr id="42" name="图片 3"/>
          <p:cNvPicPr>
            <a:picLocks noChangeAspect="1"/>
          </p:cNvPicPr>
          <p:nvPr/>
        </p:nvPicPr>
        <p:blipFill rotWithShape="1">
          <a:blip r:embed="rId8"/>
          <a:srcRect l="49770" r="2105" b="12188"/>
          <a:stretch>
            <a:fillRect/>
          </a:stretch>
        </p:blipFill>
        <p:spPr>
          <a:xfrm>
            <a:off x="7545021" y="2263001"/>
            <a:ext cx="959732" cy="887091"/>
          </a:xfrm>
          <a:prstGeom prst="rect">
            <a:avLst/>
          </a:prstGeom>
        </p:spPr>
      </p:pic>
      <p:sp>
        <p:nvSpPr>
          <p:cNvPr id="35" name="TextBox 34"/>
          <p:cNvSpPr txBox="1"/>
          <p:nvPr/>
        </p:nvSpPr>
        <p:spPr>
          <a:xfrm>
            <a:off x="922757" y="4959611"/>
            <a:ext cx="1178528" cy="369332"/>
          </a:xfrm>
          <a:prstGeom prst="rect">
            <a:avLst/>
          </a:prstGeom>
          <a:noFill/>
        </p:spPr>
        <p:txBody>
          <a:bodyPr wrap="none" rtlCol="0">
            <a:spAutoFit/>
          </a:bodyPr>
          <a:lstStyle/>
          <a:p>
            <a:r>
              <a:rPr lang="zh-CN" altLang="en-US"/>
              <a:t>模</a:t>
            </a:r>
            <a:r>
              <a:rPr lang="en-US" altLang="zh-CN" dirty="0"/>
              <a:t>-</a:t>
            </a:r>
            <a:r>
              <a:rPr lang="zh-CN" altLang="en-US" dirty="0"/>
              <a:t>视变换</a:t>
            </a:r>
            <a:endParaRPr lang="en-US" dirty="0"/>
          </a:p>
        </p:txBody>
      </p:sp>
      <p:sp>
        <p:nvSpPr>
          <p:cNvPr id="44" name="TextBox 43"/>
          <p:cNvSpPr txBox="1"/>
          <p:nvPr/>
        </p:nvSpPr>
        <p:spPr>
          <a:xfrm>
            <a:off x="2750390" y="4959611"/>
            <a:ext cx="646331" cy="369332"/>
          </a:xfrm>
          <a:prstGeom prst="rect">
            <a:avLst/>
          </a:prstGeom>
          <a:noFill/>
        </p:spPr>
        <p:txBody>
          <a:bodyPr wrap="none" rtlCol="0">
            <a:spAutoFit/>
          </a:bodyPr>
          <a:lstStyle/>
          <a:p>
            <a:r>
              <a:rPr lang="zh-CN" altLang="en-US" dirty="0"/>
              <a:t>投影</a:t>
            </a:r>
            <a:endParaRPr lang="en-US" dirty="0"/>
          </a:p>
        </p:txBody>
      </p:sp>
      <p:sp>
        <p:nvSpPr>
          <p:cNvPr id="45" name="TextBox 44"/>
          <p:cNvSpPr txBox="1"/>
          <p:nvPr/>
        </p:nvSpPr>
        <p:spPr>
          <a:xfrm>
            <a:off x="4400225" y="4959611"/>
            <a:ext cx="646331" cy="369332"/>
          </a:xfrm>
          <a:prstGeom prst="rect">
            <a:avLst/>
          </a:prstGeom>
          <a:noFill/>
        </p:spPr>
        <p:txBody>
          <a:bodyPr wrap="none" rtlCol="0">
            <a:spAutoFit/>
          </a:bodyPr>
          <a:lstStyle/>
          <a:p>
            <a:r>
              <a:rPr lang="zh-CN" altLang="en-US" dirty="0"/>
              <a:t>裁剪</a:t>
            </a:r>
            <a:endParaRPr lang="en-US" dirty="0"/>
          </a:p>
        </p:txBody>
      </p:sp>
      <p:cxnSp>
        <p:nvCxnSpPr>
          <p:cNvPr id="46" name="Straight Arrow Connector 45"/>
          <p:cNvCxnSpPr/>
          <p:nvPr/>
        </p:nvCxnSpPr>
        <p:spPr>
          <a:xfrm rot="10800000" flipV="1">
            <a:off x="3058466" y="4522568"/>
            <a:ext cx="0" cy="411481"/>
          </a:xfrm>
          <a:prstGeom prst="straightConnector1">
            <a:avLst/>
          </a:prstGeom>
          <a:ln>
            <a:solidFill>
              <a:srgbClr val="FFC000"/>
            </a:solidFill>
            <a:tailEnd type="triangle"/>
          </a:ln>
        </p:spPr>
        <p:style>
          <a:lnRef idx="1">
            <a:schemeClr val="accent6"/>
          </a:lnRef>
          <a:fillRef idx="0">
            <a:schemeClr val="accent6"/>
          </a:fillRef>
          <a:effectRef idx="0">
            <a:schemeClr val="accent6"/>
          </a:effectRef>
          <a:fontRef idx="minor">
            <a:schemeClr val="tx1"/>
          </a:fontRef>
        </p:style>
      </p:cxnSp>
      <p:sp>
        <p:nvSpPr>
          <p:cNvPr id="47" name="TextBox 46"/>
          <p:cNvSpPr txBox="1"/>
          <p:nvPr/>
        </p:nvSpPr>
        <p:spPr>
          <a:xfrm>
            <a:off x="4365007" y="6175912"/>
            <a:ext cx="663964" cy="369332"/>
          </a:xfrm>
          <a:prstGeom prst="rect">
            <a:avLst/>
          </a:prstGeom>
          <a:noFill/>
        </p:spPr>
        <p:txBody>
          <a:bodyPr wrap="none" rtlCol="0">
            <a:spAutoFit/>
          </a:bodyPr>
          <a:lstStyle/>
          <a:p>
            <a:r>
              <a:rPr lang="en-US" altLang="zh-CN" dirty="0"/>
              <a:t>Ch06</a:t>
            </a:r>
            <a:endParaRPr lang="en-US" dirty="0"/>
          </a:p>
        </p:txBody>
      </p:sp>
      <p:sp>
        <p:nvSpPr>
          <p:cNvPr id="48" name="TextBox 47"/>
          <p:cNvSpPr txBox="1"/>
          <p:nvPr/>
        </p:nvSpPr>
        <p:spPr>
          <a:xfrm>
            <a:off x="1125615" y="6175912"/>
            <a:ext cx="663964" cy="369332"/>
          </a:xfrm>
          <a:prstGeom prst="rect">
            <a:avLst/>
          </a:prstGeom>
          <a:noFill/>
        </p:spPr>
        <p:txBody>
          <a:bodyPr wrap="none" rtlCol="0">
            <a:spAutoFit/>
          </a:bodyPr>
          <a:lstStyle/>
          <a:p>
            <a:r>
              <a:rPr lang="en-US" altLang="zh-CN" dirty="0"/>
              <a:t>Ch03</a:t>
            </a:r>
            <a:endParaRPr lang="en-US" dirty="0"/>
          </a:p>
        </p:txBody>
      </p:sp>
      <p:sp>
        <p:nvSpPr>
          <p:cNvPr id="49" name="TextBox 48"/>
          <p:cNvSpPr txBox="1"/>
          <p:nvPr/>
        </p:nvSpPr>
        <p:spPr>
          <a:xfrm>
            <a:off x="2715172" y="6175912"/>
            <a:ext cx="663964" cy="369332"/>
          </a:xfrm>
          <a:prstGeom prst="rect">
            <a:avLst/>
          </a:prstGeom>
          <a:noFill/>
        </p:spPr>
        <p:txBody>
          <a:bodyPr wrap="none" rtlCol="0">
            <a:spAutoFit/>
          </a:bodyPr>
          <a:lstStyle/>
          <a:p>
            <a:r>
              <a:rPr lang="en-US" altLang="zh-CN" dirty="0"/>
              <a:t>Ch04</a:t>
            </a:r>
            <a:endParaRPr lang="en-US" dirty="0"/>
          </a:p>
        </p:txBody>
      </p:sp>
      <p:cxnSp>
        <p:nvCxnSpPr>
          <p:cNvPr id="50" name="Straight Arrow Connector 49"/>
          <p:cNvCxnSpPr/>
          <p:nvPr/>
        </p:nvCxnSpPr>
        <p:spPr>
          <a:xfrm rot="5400000" flipV="1">
            <a:off x="2285932" y="4952332"/>
            <a:ext cx="0" cy="411481"/>
          </a:xfrm>
          <a:prstGeom prst="straightConnector1">
            <a:avLst/>
          </a:prstGeom>
          <a:ln>
            <a:solidFill>
              <a:srgbClr val="FFC000"/>
            </a:solidFill>
            <a:tailEnd type="triangle"/>
          </a:ln>
        </p:spPr>
        <p:style>
          <a:lnRef idx="1">
            <a:schemeClr val="accent6"/>
          </a:lnRef>
          <a:fillRef idx="0">
            <a:schemeClr val="accent6"/>
          </a:fillRef>
          <a:effectRef idx="0">
            <a:schemeClr val="accent6"/>
          </a:effectRef>
          <a:fontRef idx="minor">
            <a:schemeClr val="tx1"/>
          </a:fontRef>
        </p:style>
      </p:cxnSp>
      <p:cxnSp>
        <p:nvCxnSpPr>
          <p:cNvPr id="51" name="Straight Arrow Connector 50"/>
          <p:cNvCxnSpPr/>
          <p:nvPr/>
        </p:nvCxnSpPr>
        <p:spPr>
          <a:xfrm rot="5400000" flipV="1">
            <a:off x="3898473" y="4938537"/>
            <a:ext cx="0" cy="411481"/>
          </a:xfrm>
          <a:prstGeom prst="straightConnector1">
            <a:avLst/>
          </a:prstGeom>
          <a:ln>
            <a:solidFill>
              <a:srgbClr val="FFC000"/>
            </a:solidFill>
            <a:tailEnd type="triangle"/>
          </a:ln>
        </p:spPr>
        <p:style>
          <a:lnRef idx="1">
            <a:schemeClr val="accent6"/>
          </a:lnRef>
          <a:fillRef idx="0">
            <a:schemeClr val="accent6"/>
          </a:fillRef>
          <a:effectRef idx="0">
            <a:schemeClr val="accent6"/>
          </a:effectRef>
          <a:fontRef idx="minor">
            <a:schemeClr val="tx1"/>
          </a:fontRef>
        </p:style>
      </p:cxnSp>
      <p:pic>
        <p:nvPicPr>
          <p:cNvPr id="52" name="Picture 2" descr="E:\CG\交互式计算机图形学—基于OpenGL着色器的自顶向下方法（第六版）\Figures\CHAPTER03 JPEG\an03f36.jpg"/>
          <p:cNvPicPr>
            <a:picLocks noChangeAspect="1" noChangeArrowheads="1"/>
          </p:cNvPicPr>
          <p:nvPr/>
        </p:nvPicPr>
        <p:blipFill>
          <a:blip r:embed="rId9" cstate="print"/>
          <a:srcRect/>
          <a:stretch>
            <a:fillRect/>
          </a:stretch>
        </p:blipFill>
        <p:spPr bwMode="auto">
          <a:xfrm>
            <a:off x="1017356" y="5368750"/>
            <a:ext cx="947662" cy="813837"/>
          </a:xfrm>
          <a:prstGeom prst="rect">
            <a:avLst/>
          </a:prstGeom>
          <a:noFill/>
        </p:spPr>
      </p:pic>
      <p:pic>
        <p:nvPicPr>
          <p:cNvPr id="53" name="图片 4"/>
          <p:cNvPicPr>
            <a:picLocks noChangeAspect="1"/>
          </p:cNvPicPr>
          <p:nvPr/>
        </p:nvPicPr>
        <p:blipFill>
          <a:blip r:embed="rId10"/>
          <a:stretch>
            <a:fillRect/>
          </a:stretch>
        </p:blipFill>
        <p:spPr>
          <a:xfrm>
            <a:off x="2623064" y="5354754"/>
            <a:ext cx="848180" cy="755539"/>
          </a:xfrm>
          <a:prstGeom prst="rect">
            <a:avLst/>
          </a:prstGeom>
        </p:spPr>
      </p:pic>
      <p:pic>
        <p:nvPicPr>
          <p:cNvPr id="54" name="图片 6"/>
          <p:cNvPicPr>
            <a:picLocks noChangeAspect="1"/>
          </p:cNvPicPr>
          <p:nvPr/>
        </p:nvPicPr>
        <p:blipFill>
          <a:blip r:embed="rId11"/>
          <a:stretch>
            <a:fillRect/>
          </a:stretch>
        </p:blipFill>
        <p:spPr>
          <a:xfrm>
            <a:off x="6047717" y="2364267"/>
            <a:ext cx="1030076" cy="651531"/>
          </a:xfrm>
          <a:prstGeom prst="rect">
            <a:avLst/>
          </a:prstGeom>
        </p:spPr>
      </p:pic>
      <p:sp>
        <p:nvSpPr>
          <p:cNvPr id="56" name="TextBox 55"/>
          <p:cNvSpPr txBox="1"/>
          <p:nvPr/>
        </p:nvSpPr>
        <p:spPr>
          <a:xfrm>
            <a:off x="6269208" y="3126887"/>
            <a:ext cx="663964" cy="369332"/>
          </a:xfrm>
          <a:prstGeom prst="rect">
            <a:avLst/>
          </a:prstGeom>
          <a:noFill/>
        </p:spPr>
        <p:txBody>
          <a:bodyPr wrap="none" rtlCol="0">
            <a:spAutoFit/>
          </a:bodyPr>
          <a:lstStyle/>
          <a:p>
            <a:r>
              <a:rPr lang="en-US" altLang="zh-CN" dirty="0"/>
              <a:t>Ch06</a:t>
            </a:r>
            <a:endParaRPr lang="en-US" dirty="0"/>
          </a:p>
        </p:txBody>
      </p:sp>
      <p:pic>
        <p:nvPicPr>
          <p:cNvPr id="57" name="Picture 56"/>
          <p:cNvPicPr>
            <a:picLocks noChangeAspect="1"/>
          </p:cNvPicPr>
          <p:nvPr/>
        </p:nvPicPr>
        <p:blipFill rotWithShape="1">
          <a:blip r:embed="rId12" cstate="print">
            <a:extLst>
              <a:ext uri="{28A0092B-C50C-407E-A947-70E740481C1C}">
                <a14:useLocalDpi xmlns:a14="http://schemas.microsoft.com/office/drawing/2010/main" val="0"/>
              </a:ext>
            </a:extLst>
          </a:blip>
          <a:srcRect l="63117" t="2858" r="128" b="31715"/>
          <a:stretch>
            <a:fillRect/>
          </a:stretch>
        </p:blipFill>
        <p:spPr>
          <a:xfrm>
            <a:off x="4261469" y="5448162"/>
            <a:ext cx="884087" cy="580428"/>
          </a:xfrm>
          <a:prstGeom prst="rect">
            <a:avLst/>
          </a:prstGeom>
        </p:spPr>
      </p:pic>
      <p:sp>
        <p:nvSpPr>
          <p:cNvPr id="58" name="TextBox 57"/>
          <p:cNvSpPr txBox="1"/>
          <p:nvPr/>
        </p:nvSpPr>
        <p:spPr>
          <a:xfrm>
            <a:off x="868479" y="1871829"/>
            <a:ext cx="1107996" cy="369332"/>
          </a:xfrm>
          <a:prstGeom prst="rect">
            <a:avLst/>
          </a:prstGeom>
          <a:noFill/>
        </p:spPr>
        <p:txBody>
          <a:bodyPr wrap="none" rtlCol="0">
            <a:spAutoFit/>
          </a:bodyPr>
          <a:lstStyle/>
          <a:p>
            <a:r>
              <a:rPr lang="zh-CN" altLang="en-US" dirty="0"/>
              <a:t>基本图元</a:t>
            </a:r>
            <a:endParaRPr lang="en-US" dirty="0"/>
          </a:p>
        </p:txBody>
      </p:sp>
      <p:sp>
        <p:nvSpPr>
          <p:cNvPr id="59" name="TextBox 58"/>
          <p:cNvSpPr txBox="1"/>
          <p:nvPr/>
        </p:nvSpPr>
        <p:spPr>
          <a:xfrm>
            <a:off x="2118346" y="1871829"/>
            <a:ext cx="1107996" cy="369332"/>
          </a:xfrm>
          <a:prstGeom prst="rect">
            <a:avLst/>
          </a:prstGeom>
          <a:noFill/>
        </p:spPr>
        <p:txBody>
          <a:bodyPr wrap="none" rtlCol="0">
            <a:spAutoFit/>
          </a:bodyPr>
          <a:lstStyle/>
          <a:p>
            <a:r>
              <a:rPr lang="zh-CN" altLang="en-US" dirty="0"/>
              <a:t>层级建模</a:t>
            </a:r>
            <a:endParaRPr lang="en-US" dirty="0"/>
          </a:p>
        </p:txBody>
      </p:sp>
      <p:sp>
        <p:nvSpPr>
          <p:cNvPr id="60" name="TextBox 59"/>
          <p:cNvSpPr txBox="1"/>
          <p:nvPr/>
        </p:nvSpPr>
        <p:spPr>
          <a:xfrm>
            <a:off x="4463587" y="1871829"/>
            <a:ext cx="877163" cy="369332"/>
          </a:xfrm>
          <a:prstGeom prst="rect">
            <a:avLst/>
          </a:prstGeom>
          <a:noFill/>
        </p:spPr>
        <p:txBody>
          <a:bodyPr wrap="none" rtlCol="0">
            <a:spAutoFit/>
          </a:bodyPr>
          <a:lstStyle/>
          <a:p>
            <a:r>
              <a:rPr lang="zh-CN" altLang="en-US" dirty="0"/>
              <a:t>光栅化</a:t>
            </a:r>
            <a:endParaRPr lang="en-US" dirty="0"/>
          </a:p>
        </p:txBody>
      </p:sp>
      <p:sp>
        <p:nvSpPr>
          <p:cNvPr id="61" name="TextBox 60"/>
          <p:cNvSpPr txBox="1"/>
          <p:nvPr/>
        </p:nvSpPr>
        <p:spPr>
          <a:xfrm>
            <a:off x="5825176" y="4956898"/>
            <a:ext cx="1107996" cy="369332"/>
          </a:xfrm>
          <a:prstGeom prst="rect">
            <a:avLst/>
          </a:prstGeom>
          <a:noFill/>
        </p:spPr>
        <p:txBody>
          <a:bodyPr wrap="none" rtlCol="0">
            <a:spAutoFit/>
          </a:bodyPr>
          <a:lstStyle/>
          <a:p>
            <a:r>
              <a:rPr lang="zh-CN" altLang="en-US"/>
              <a:t>明暗绘制</a:t>
            </a:r>
            <a:endParaRPr lang="en-US" dirty="0"/>
          </a:p>
        </p:txBody>
      </p:sp>
      <p:sp>
        <p:nvSpPr>
          <p:cNvPr id="62" name="TextBox 61"/>
          <p:cNvSpPr txBox="1"/>
          <p:nvPr/>
        </p:nvSpPr>
        <p:spPr>
          <a:xfrm>
            <a:off x="7457576" y="1871829"/>
            <a:ext cx="1107996" cy="369332"/>
          </a:xfrm>
          <a:prstGeom prst="rect">
            <a:avLst/>
          </a:prstGeom>
          <a:noFill/>
        </p:spPr>
        <p:txBody>
          <a:bodyPr wrap="none" rtlCol="0">
            <a:spAutoFit/>
          </a:bodyPr>
          <a:lstStyle/>
          <a:p>
            <a:r>
              <a:rPr lang="zh-CN" altLang="en-US" dirty="0"/>
              <a:t>纹理映射</a:t>
            </a:r>
            <a:endParaRPr lang="en-US" dirty="0"/>
          </a:p>
        </p:txBody>
      </p:sp>
      <p:sp>
        <p:nvSpPr>
          <p:cNvPr id="63" name="TextBox 62"/>
          <p:cNvSpPr txBox="1"/>
          <p:nvPr/>
        </p:nvSpPr>
        <p:spPr>
          <a:xfrm>
            <a:off x="5931776" y="1868077"/>
            <a:ext cx="1338828" cy="369332"/>
          </a:xfrm>
          <a:prstGeom prst="rect">
            <a:avLst/>
          </a:prstGeom>
          <a:noFill/>
        </p:spPr>
        <p:txBody>
          <a:bodyPr wrap="none" rtlCol="0">
            <a:spAutoFit/>
          </a:bodyPr>
          <a:lstStyle/>
          <a:p>
            <a:r>
              <a:rPr lang="zh-CN" altLang="en-US" dirty="0"/>
              <a:t>隐藏面消除</a:t>
            </a:r>
            <a:endParaRPr lang="en-US" dirty="0"/>
          </a:p>
        </p:txBody>
      </p:sp>
      <p:cxnSp>
        <p:nvCxnSpPr>
          <p:cNvPr id="64" name="Straight Arrow Connector 63"/>
          <p:cNvCxnSpPr/>
          <p:nvPr/>
        </p:nvCxnSpPr>
        <p:spPr>
          <a:xfrm rot="5400000" flipV="1">
            <a:off x="5434374" y="4960866"/>
            <a:ext cx="0" cy="411481"/>
          </a:xfrm>
          <a:prstGeom prst="straightConnector1">
            <a:avLst/>
          </a:prstGeom>
          <a:ln>
            <a:solidFill>
              <a:srgbClr val="FFC000"/>
            </a:solidFill>
            <a:tailEnd type="triangle"/>
          </a:ln>
        </p:spPr>
        <p:style>
          <a:lnRef idx="1">
            <a:schemeClr val="accent6"/>
          </a:lnRef>
          <a:fillRef idx="0">
            <a:schemeClr val="accent6"/>
          </a:fillRef>
          <a:effectRef idx="0">
            <a:schemeClr val="accent6"/>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left)">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down)">
                                      <p:cBhvr>
                                        <p:cTn id="12" dur="500"/>
                                        <p:tgtEl>
                                          <p:spTgt spid="8"/>
                                        </p:tgtEl>
                                      </p:cBhvr>
                                    </p:animEffect>
                                  </p:childTnLst>
                                </p:cTn>
                              </p:par>
                            </p:childTnLst>
                          </p:cTn>
                        </p:par>
                        <p:par>
                          <p:cTn id="13" fill="hold">
                            <p:stCondLst>
                              <p:cond delay="500"/>
                            </p:stCondLst>
                            <p:childTnLst>
                              <p:par>
                                <p:cTn id="14" presetID="10" presetClass="entr" presetSubtype="0" fill="hold" nodeType="afterEffect">
                                  <p:stCondLst>
                                    <p:cond delay="0"/>
                                  </p:stCondLst>
                                  <p:childTnLst>
                                    <p:set>
                                      <p:cBhvr>
                                        <p:cTn id="15" dur="1" fill="hold">
                                          <p:stCondLst>
                                            <p:cond delay="0"/>
                                          </p:stCondLst>
                                        </p:cTn>
                                        <p:tgtEl>
                                          <p:spTgt spid="3073"/>
                                        </p:tgtEl>
                                        <p:attrNameLst>
                                          <p:attrName>style.visibility</p:attrName>
                                        </p:attrNameLst>
                                      </p:cBhvr>
                                      <p:to>
                                        <p:strVal val="visible"/>
                                      </p:to>
                                    </p:set>
                                    <p:animEffect transition="in" filter="fade">
                                      <p:cBhvr>
                                        <p:cTn id="16" dur="500"/>
                                        <p:tgtEl>
                                          <p:spTgt spid="3073"/>
                                        </p:tgtEl>
                                      </p:cBhvr>
                                    </p:animEffect>
                                  </p:childTnLst>
                                </p:cTn>
                              </p:par>
                              <p:par>
                                <p:cTn id="17" presetID="10" presetClass="entr" presetSubtype="0" fill="hold" grpId="1" nodeType="withEffect">
                                  <p:stCondLst>
                                    <p:cond delay="0"/>
                                  </p:stCondLst>
                                  <p:childTnLst>
                                    <p:set>
                                      <p:cBhvr>
                                        <p:cTn id="18" dur="1" fill="hold">
                                          <p:stCondLst>
                                            <p:cond delay="0"/>
                                          </p:stCondLst>
                                        </p:cTn>
                                        <p:tgtEl>
                                          <p:spTgt spid="32"/>
                                        </p:tgtEl>
                                        <p:attrNameLst>
                                          <p:attrName>style.visibility</p:attrName>
                                        </p:attrNameLst>
                                      </p:cBhvr>
                                      <p:to>
                                        <p:strVal val="visible"/>
                                      </p:to>
                                    </p:set>
                                    <p:animEffect transition="in" filter="fade">
                                      <p:cBhvr>
                                        <p:cTn id="19" dur="500"/>
                                        <p:tgtEl>
                                          <p:spTgt spid="32"/>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58"/>
                                        </p:tgtEl>
                                        <p:attrNameLst>
                                          <p:attrName>style.visibility</p:attrName>
                                        </p:attrNameLst>
                                      </p:cBhvr>
                                      <p:to>
                                        <p:strVal val="visible"/>
                                      </p:to>
                                    </p:set>
                                    <p:animEffect transition="in" filter="fade">
                                      <p:cBhvr>
                                        <p:cTn id="22" dur="500"/>
                                        <p:tgtEl>
                                          <p:spTgt spid="5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wipe(left)">
                                      <p:cBhvr>
                                        <p:cTn id="27" dur="500"/>
                                        <p:tgtEl>
                                          <p:spTgt spid="33"/>
                                        </p:tgtEl>
                                      </p:cBhvr>
                                    </p:animEffect>
                                  </p:childTnLst>
                                </p:cTn>
                              </p:par>
                            </p:childTnLst>
                          </p:cTn>
                        </p:par>
                        <p:par>
                          <p:cTn id="28" fill="hold">
                            <p:stCondLst>
                              <p:cond delay="500"/>
                            </p:stCondLst>
                            <p:childTnLst>
                              <p:par>
                                <p:cTn id="29" presetID="10" presetClass="entr" presetSubtype="0" fill="hold" grpId="0" nodeType="after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fade">
                                      <p:cBhvr>
                                        <p:cTn id="31" dur="500"/>
                                        <p:tgtEl>
                                          <p:spTgt spid="26"/>
                                        </p:tgtEl>
                                      </p:cBhvr>
                                    </p:animEffect>
                                  </p:childTnLst>
                                </p:cTn>
                              </p:par>
                              <p:par>
                                <p:cTn id="32" presetID="10" presetClass="entr" presetSubtype="0" fill="hold" nodeType="withEffect">
                                  <p:stCondLst>
                                    <p:cond delay="0"/>
                                  </p:stCondLst>
                                  <p:childTnLst>
                                    <p:set>
                                      <p:cBhvr>
                                        <p:cTn id="33" dur="1" fill="hold">
                                          <p:stCondLst>
                                            <p:cond delay="0"/>
                                          </p:stCondLst>
                                        </p:cTn>
                                        <p:tgtEl>
                                          <p:spTgt spid="25"/>
                                        </p:tgtEl>
                                        <p:attrNameLst>
                                          <p:attrName>style.visibility</p:attrName>
                                        </p:attrNameLst>
                                      </p:cBhvr>
                                      <p:to>
                                        <p:strVal val="visible"/>
                                      </p:to>
                                    </p:set>
                                    <p:animEffect transition="in" filter="fade">
                                      <p:cBhvr>
                                        <p:cTn id="34" dur="500"/>
                                        <p:tgtEl>
                                          <p:spTgt spid="25"/>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59"/>
                                        </p:tgtEl>
                                        <p:attrNameLst>
                                          <p:attrName>style.visibility</p:attrName>
                                        </p:attrNameLst>
                                      </p:cBhvr>
                                      <p:to>
                                        <p:strVal val="visible"/>
                                      </p:to>
                                    </p:set>
                                    <p:animEffect transition="in" filter="fade">
                                      <p:cBhvr>
                                        <p:cTn id="37" dur="500"/>
                                        <p:tgtEl>
                                          <p:spTgt spid="5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nodeType="clickEffect">
                                  <p:stCondLst>
                                    <p:cond delay="0"/>
                                  </p:stCondLst>
                                  <p:childTnLst>
                                    <p:set>
                                      <p:cBhvr>
                                        <p:cTn id="41" dur="1" fill="hold">
                                          <p:stCondLst>
                                            <p:cond delay="0"/>
                                          </p:stCondLst>
                                        </p:cTn>
                                        <p:tgtEl>
                                          <p:spTgt spid="46"/>
                                        </p:tgtEl>
                                        <p:attrNameLst>
                                          <p:attrName>style.visibility</p:attrName>
                                        </p:attrNameLst>
                                      </p:cBhvr>
                                      <p:to>
                                        <p:strVal val="visible"/>
                                      </p:to>
                                    </p:set>
                                    <p:animEffect transition="in" filter="wipe(up)">
                                      <p:cBhvr>
                                        <p:cTn id="42" dur="500"/>
                                        <p:tgtEl>
                                          <p:spTgt spid="46"/>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iterate type="lt">
                                    <p:tmPct val="0"/>
                                  </p:iterate>
                                  <p:childTnLst>
                                    <p:set>
                                      <p:cBhvr>
                                        <p:cTn id="46" dur="1" fill="hold">
                                          <p:stCondLst>
                                            <p:cond delay="0"/>
                                          </p:stCondLst>
                                        </p:cTn>
                                        <p:tgtEl>
                                          <p:spTgt spid="35"/>
                                        </p:tgtEl>
                                        <p:attrNameLst>
                                          <p:attrName>style.visibility</p:attrName>
                                        </p:attrNameLst>
                                      </p:cBhvr>
                                      <p:to>
                                        <p:strVal val="visible"/>
                                      </p:to>
                                    </p:set>
                                    <p:animEffect transition="in" filter="fade">
                                      <p:cBhvr>
                                        <p:cTn id="47" dur="500"/>
                                        <p:tgtEl>
                                          <p:spTgt spid="35"/>
                                        </p:tgtEl>
                                      </p:cBhvr>
                                    </p:animEffect>
                                  </p:childTnLst>
                                </p:cTn>
                              </p:par>
                              <p:par>
                                <p:cTn id="48" presetID="10" presetClass="entr" presetSubtype="0" fill="hold" nodeType="withEffect">
                                  <p:stCondLst>
                                    <p:cond delay="0"/>
                                  </p:stCondLst>
                                  <p:childTnLst>
                                    <p:set>
                                      <p:cBhvr>
                                        <p:cTn id="49" dur="1" fill="hold">
                                          <p:stCondLst>
                                            <p:cond delay="0"/>
                                          </p:stCondLst>
                                        </p:cTn>
                                        <p:tgtEl>
                                          <p:spTgt spid="52"/>
                                        </p:tgtEl>
                                        <p:attrNameLst>
                                          <p:attrName>style.visibility</p:attrName>
                                        </p:attrNameLst>
                                      </p:cBhvr>
                                      <p:to>
                                        <p:strVal val="visible"/>
                                      </p:to>
                                    </p:set>
                                    <p:animEffect transition="in" filter="fade">
                                      <p:cBhvr>
                                        <p:cTn id="50" dur="500"/>
                                        <p:tgtEl>
                                          <p:spTgt spid="52"/>
                                        </p:tgtEl>
                                      </p:cBhvr>
                                    </p:animEffect>
                                  </p:childTnLst>
                                </p:cTn>
                              </p:par>
                              <p:par>
                                <p:cTn id="51" presetID="10" presetClass="entr" presetSubtype="0" fill="hold" grpId="1" nodeType="withEffect">
                                  <p:stCondLst>
                                    <p:cond delay="0"/>
                                  </p:stCondLst>
                                  <p:childTnLst>
                                    <p:set>
                                      <p:cBhvr>
                                        <p:cTn id="52" dur="1" fill="hold">
                                          <p:stCondLst>
                                            <p:cond delay="0"/>
                                          </p:stCondLst>
                                        </p:cTn>
                                        <p:tgtEl>
                                          <p:spTgt spid="48"/>
                                        </p:tgtEl>
                                        <p:attrNameLst>
                                          <p:attrName>style.visibility</p:attrName>
                                        </p:attrNameLst>
                                      </p:cBhvr>
                                      <p:to>
                                        <p:strVal val="visible"/>
                                      </p:to>
                                    </p:set>
                                    <p:animEffect transition="in" filter="fade">
                                      <p:cBhvr>
                                        <p:cTn id="53" dur="500"/>
                                        <p:tgtEl>
                                          <p:spTgt spid="48"/>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nodeType="clickEffect">
                                  <p:stCondLst>
                                    <p:cond delay="0"/>
                                  </p:stCondLst>
                                  <p:childTnLst>
                                    <p:set>
                                      <p:cBhvr>
                                        <p:cTn id="57" dur="1" fill="hold">
                                          <p:stCondLst>
                                            <p:cond delay="0"/>
                                          </p:stCondLst>
                                        </p:cTn>
                                        <p:tgtEl>
                                          <p:spTgt spid="50"/>
                                        </p:tgtEl>
                                        <p:attrNameLst>
                                          <p:attrName>style.visibility</p:attrName>
                                        </p:attrNameLst>
                                      </p:cBhvr>
                                      <p:to>
                                        <p:strVal val="visible"/>
                                      </p:to>
                                    </p:set>
                                    <p:animEffect transition="in" filter="wipe(left)">
                                      <p:cBhvr>
                                        <p:cTn id="58" dur="500"/>
                                        <p:tgtEl>
                                          <p:spTgt spid="50"/>
                                        </p:tgtEl>
                                      </p:cBhvr>
                                    </p:animEffect>
                                  </p:childTnLst>
                                </p:cTn>
                              </p:par>
                            </p:childTnLst>
                          </p:cTn>
                        </p:par>
                        <p:par>
                          <p:cTn id="59" fill="hold">
                            <p:stCondLst>
                              <p:cond delay="500"/>
                            </p:stCondLst>
                            <p:childTnLst>
                              <p:par>
                                <p:cTn id="60" presetID="10" presetClass="entr" presetSubtype="0" fill="hold" grpId="0" nodeType="afterEffect">
                                  <p:stCondLst>
                                    <p:cond delay="0"/>
                                  </p:stCondLst>
                                  <p:iterate type="lt">
                                    <p:tmPct val="0"/>
                                  </p:iterate>
                                  <p:childTnLst>
                                    <p:set>
                                      <p:cBhvr>
                                        <p:cTn id="61" dur="1" fill="hold">
                                          <p:stCondLst>
                                            <p:cond delay="0"/>
                                          </p:stCondLst>
                                        </p:cTn>
                                        <p:tgtEl>
                                          <p:spTgt spid="44"/>
                                        </p:tgtEl>
                                        <p:attrNameLst>
                                          <p:attrName>style.visibility</p:attrName>
                                        </p:attrNameLst>
                                      </p:cBhvr>
                                      <p:to>
                                        <p:strVal val="visible"/>
                                      </p:to>
                                    </p:set>
                                    <p:animEffect transition="in" filter="fade">
                                      <p:cBhvr>
                                        <p:cTn id="62" dur="500"/>
                                        <p:tgtEl>
                                          <p:spTgt spid="44"/>
                                        </p:tgtEl>
                                      </p:cBhvr>
                                    </p:animEffect>
                                  </p:childTnLst>
                                </p:cTn>
                              </p:par>
                              <p:par>
                                <p:cTn id="63" presetID="10" presetClass="entr" presetSubtype="0" fill="hold" nodeType="withEffect">
                                  <p:stCondLst>
                                    <p:cond delay="0"/>
                                  </p:stCondLst>
                                  <p:childTnLst>
                                    <p:set>
                                      <p:cBhvr>
                                        <p:cTn id="64" dur="1" fill="hold">
                                          <p:stCondLst>
                                            <p:cond delay="0"/>
                                          </p:stCondLst>
                                        </p:cTn>
                                        <p:tgtEl>
                                          <p:spTgt spid="53"/>
                                        </p:tgtEl>
                                        <p:attrNameLst>
                                          <p:attrName>style.visibility</p:attrName>
                                        </p:attrNameLst>
                                      </p:cBhvr>
                                      <p:to>
                                        <p:strVal val="visible"/>
                                      </p:to>
                                    </p:set>
                                    <p:animEffect transition="in" filter="fade">
                                      <p:cBhvr>
                                        <p:cTn id="65" dur="500"/>
                                        <p:tgtEl>
                                          <p:spTgt spid="53"/>
                                        </p:tgtEl>
                                      </p:cBhvr>
                                    </p:animEffect>
                                  </p:childTnLst>
                                </p:cTn>
                              </p:par>
                              <p:par>
                                <p:cTn id="66" presetID="10" presetClass="entr" presetSubtype="0" fill="hold" grpId="1" nodeType="withEffect">
                                  <p:stCondLst>
                                    <p:cond delay="0"/>
                                  </p:stCondLst>
                                  <p:childTnLst>
                                    <p:set>
                                      <p:cBhvr>
                                        <p:cTn id="67" dur="1" fill="hold">
                                          <p:stCondLst>
                                            <p:cond delay="0"/>
                                          </p:stCondLst>
                                        </p:cTn>
                                        <p:tgtEl>
                                          <p:spTgt spid="49"/>
                                        </p:tgtEl>
                                        <p:attrNameLst>
                                          <p:attrName>style.visibility</p:attrName>
                                        </p:attrNameLst>
                                      </p:cBhvr>
                                      <p:to>
                                        <p:strVal val="visible"/>
                                      </p:to>
                                    </p:set>
                                    <p:animEffect transition="in" filter="fade">
                                      <p:cBhvr>
                                        <p:cTn id="68" dur="500"/>
                                        <p:tgtEl>
                                          <p:spTgt spid="49"/>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nodeType="clickEffect">
                                  <p:stCondLst>
                                    <p:cond delay="0"/>
                                  </p:stCondLst>
                                  <p:childTnLst>
                                    <p:set>
                                      <p:cBhvr>
                                        <p:cTn id="72" dur="1" fill="hold">
                                          <p:stCondLst>
                                            <p:cond delay="0"/>
                                          </p:stCondLst>
                                        </p:cTn>
                                        <p:tgtEl>
                                          <p:spTgt spid="51"/>
                                        </p:tgtEl>
                                        <p:attrNameLst>
                                          <p:attrName>style.visibility</p:attrName>
                                        </p:attrNameLst>
                                      </p:cBhvr>
                                      <p:to>
                                        <p:strVal val="visible"/>
                                      </p:to>
                                    </p:set>
                                    <p:animEffect transition="in" filter="wipe(left)">
                                      <p:cBhvr>
                                        <p:cTn id="73" dur="500"/>
                                        <p:tgtEl>
                                          <p:spTgt spid="51"/>
                                        </p:tgtEl>
                                      </p:cBhvr>
                                    </p:animEffect>
                                  </p:childTnLst>
                                </p:cTn>
                              </p:par>
                            </p:childTnLst>
                          </p:cTn>
                        </p:par>
                        <p:par>
                          <p:cTn id="74" fill="hold">
                            <p:stCondLst>
                              <p:cond delay="500"/>
                            </p:stCondLst>
                            <p:childTnLst>
                              <p:par>
                                <p:cTn id="75" presetID="10" presetClass="entr" presetSubtype="0" fill="hold" grpId="0" nodeType="afterEffect">
                                  <p:stCondLst>
                                    <p:cond delay="0"/>
                                  </p:stCondLst>
                                  <p:childTnLst>
                                    <p:set>
                                      <p:cBhvr>
                                        <p:cTn id="76" dur="1" fill="hold">
                                          <p:stCondLst>
                                            <p:cond delay="0"/>
                                          </p:stCondLst>
                                        </p:cTn>
                                        <p:tgtEl>
                                          <p:spTgt spid="45"/>
                                        </p:tgtEl>
                                        <p:attrNameLst>
                                          <p:attrName>style.visibility</p:attrName>
                                        </p:attrNameLst>
                                      </p:cBhvr>
                                      <p:to>
                                        <p:strVal val="visible"/>
                                      </p:to>
                                    </p:set>
                                    <p:animEffect transition="in" filter="fade">
                                      <p:cBhvr>
                                        <p:cTn id="77" dur="500"/>
                                        <p:tgtEl>
                                          <p:spTgt spid="45"/>
                                        </p:tgtEl>
                                      </p:cBhvr>
                                    </p:animEffect>
                                  </p:childTnLst>
                                </p:cTn>
                              </p:par>
                              <p:par>
                                <p:cTn id="78" presetID="10" presetClass="entr" presetSubtype="0" fill="hold" nodeType="withEffect">
                                  <p:stCondLst>
                                    <p:cond delay="0"/>
                                  </p:stCondLst>
                                  <p:childTnLst>
                                    <p:set>
                                      <p:cBhvr>
                                        <p:cTn id="79" dur="1" fill="hold">
                                          <p:stCondLst>
                                            <p:cond delay="0"/>
                                          </p:stCondLst>
                                        </p:cTn>
                                        <p:tgtEl>
                                          <p:spTgt spid="57"/>
                                        </p:tgtEl>
                                        <p:attrNameLst>
                                          <p:attrName>style.visibility</p:attrName>
                                        </p:attrNameLst>
                                      </p:cBhvr>
                                      <p:to>
                                        <p:strVal val="visible"/>
                                      </p:to>
                                    </p:set>
                                    <p:animEffect transition="in" filter="fade">
                                      <p:cBhvr>
                                        <p:cTn id="80" dur="500"/>
                                        <p:tgtEl>
                                          <p:spTgt spid="57"/>
                                        </p:tgtEl>
                                      </p:cBhvr>
                                    </p:animEffect>
                                  </p:childTnLst>
                                </p:cTn>
                              </p:par>
                              <p:par>
                                <p:cTn id="81" presetID="10" presetClass="entr" presetSubtype="0" fill="hold" grpId="1" nodeType="withEffect">
                                  <p:stCondLst>
                                    <p:cond delay="0"/>
                                  </p:stCondLst>
                                  <p:childTnLst>
                                    <p:set>
                                      <p:cBhvr>
                                        <p:cTn id="82" dur="1" fill="hold">
                                          <p:stCondLst>
                                            <p:cond delay="0"/>
                                          </p:stCondLst>
                                        </p:cTn>
                                        <p:tgtEl>
                                          <p:spTgt spid="47"/>
                                        </p:tgtEl>
                                        <p:attrNameLst>
                                          <p:attrName>style.visibility</p:attrName>
                                        </p:attrNameLst>
                                      </p:cBhvr>
                                      <p:to>
                                        <p:strVal val="visible"/>
                                      </p:to>
                                    </p:set>
                                    <p:animEffect transition="in" filter="fade">
                                      <p:cBhvr>
                                        <p:cTn id="83" dur="500"/>
                                        <p:tgtEl>
                                          <p:spTgt spid="47"/>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8" fill="hold" nodeType="clickEffect">
                                  <p:stCondLst>
                                    <p:cond delay="0"/>
                                  </p:stCondLst>
                                  <p:childTnLst>
                                    <p:set>
                                      <p:cBhvr>
                                        <p:cTn id="87" dur="1" fill="hold">
                                          <p:stCondLst>
                                            <p:cond delay="0"/>
                                          </p:stCondLst>
                                        </p:cTn>
                                        <p:tgtEl>
                                          <p:spTgt spid="64"/>
                                        </p:tgtEl>
                                        <p:attrNameLst>
                                          <p:attrName>style.visibility</p:attrName>
                                        </p:attrNameLst>
                                      </p:cBhvr>
                                      <p:to>
                                        <p:strVal val="visible"/>
                                      </p:to>
                                    </p:set>
                                    <p:animEffect transition="in" filter="wipe(left)">
                                      <p:cBhvr>
                                        <p:cTn id="88" dur="500"/>
                                        <p:tgtEl>
                                          <p:spTgt spid="64"/>
                                        </p:tgtEl>
                                      </p:cBhvr>
                                    </p:animEffect>
                                  </p:childTnLst>
                                </p:cTn>
                              </p:par>
                            </p:childTnLst>
                          </p:cTn>
                        </p:par>
                        <p:par>
                          <p:cTn id="89" fill="hold">
                            <p:stCondLst>
                              <p:cond delay="500"/>
                            </p:stCondLst>
                            <p:childTnLst>
                              <p:par>
                                <p:cTn id="90" presetID="10" presetClass="entr" presetSubtype="0" fill="hold" nodeType="afterEffect">
                                  <p:stCondLst>
                                    <p:cond delay="0"/>
                                  </p:stCondLst>
                                  <p:childTnLst>
                                    <p:set>
                                      <p:cBhvr>
                                        <p:cTn id="91" dur="1" fill="hold">
                                          <p:stCondLst>
                                            <p:cond delay="0"/>
                                          </p:stCondLst>
                                        </p:cTn>
                                        <p:tgtEl>
                                          <p:spTgt spid="39"/>
                                        </p:tgtEl>
                                        <p:attrNameLst>
                                          <p:attrName>style.visibility</p:attrName>
                                        </p:attrNameLst>
                                      </p:cBhvr>
                                      <p:to>
                                        <p:strVal val="visible"/>
                                      </p:to>
                                    </p:set>
                                    <p:animEffect transition="in" filter="fade">
                                      <p:cBhvr>
                                        <p:cTn id="92" dur="500"/>
                                        <p:tgtEl>
                                          <p:spTgt spid="39"/>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37"/>
                                        </p:tgtEl>
                                        <p:attrNameLst>
                                          <p:attrName>style.visibility</p:attrName>
                                        </p:attrNameLst>
                                      </p:cBhvr>
                                      <p:to>
                                        <p:strVal val="visible"/>
                                      </p:to>
                                    </p:set>
                                    <p:animEffect transition="in" filter="fade">
                                      <p:cBhvr>
                                        <p:cTn id="95" dur="500"/>
                                        <p:tgtEl>
                                          <p:spTgt spid="37"/>
                                        </p:tgtEl>
                                      </p:cBhvr>
                                    </p:animEffect>
                                  </p:childTnLst>
                                </p:cTn>
                              </p:par>
                              <p:par>
                                <p:cTn id="96" presetID="10" presetClass="entr" presetSubtype="0" fill="hold" grpId="0" nodeType="withEffect">
                                  <p:stCondLst>
                                    <p:cond delay="0"/>
                                  </p:stCondLst>
                                  <p:iterate type="lt">
                                    <p:tmPct val="0"/>
                                  </p:iterate>
                                  <p:childTnLst>
                                    <p:set>
                                      <p:cBhvr>
                                        <p:cTn id="97" dur="1" fill="hold">
                                          <p:stCondLst>
                                            <p:cond delay="0"/>
                                          </p:stCondLst>
                                        </p:cTn>
                                        <p:tgtEl>
                                          <p:spTgt spid="61"/>
                                        </p:tgtEl>
                                        <p:attrNameLst>
                                          <p:attrName>style.visibility</p:attrName>
                                        </p:attrNameLst>
                                      </p:cBhvr>
                                      <p:to>
                                        <p:strVal val="visible"/>
                                      </p:to>
                                    </p:set>
                                    <p:animEffect transition="in" filter="fade">
                                      <p:cBhvr>
                                        <p:cTn id="98" dur="500"/>
                                        <p:tgtEl>
                                          <p:spTgt spid="61"/>
                                        </p:tgtEl>
                                      </p:cBhvr>
                                    </p:animEffect>
                                  </p:childTnLst>
                                </p:cTn>
                              </p:par>
                            </p:childTnLst>
                          </p:cTn>
                        </p:par>
                      </p:childTnLst>
                    </p:cTn>
                  </p:par>
                  <p:par>
                    <p:cTn id="99" fill="hold">
                      <p:stCondLst>
                        <p:cond delay="indefinite"/>
                      </p:stCondLst>
                      <p:childTnLst>
                        <p:par>
                          <p:cTn id="100" fill="hold">
                            <p:stCondLst>
                              <p:cond delay="0"/>
                            </p:stCondLst>
                            <p:childTnLst>
                              <p:par>
                                <p:cTn id="101" presetID="22" presetClass="entr" presetSubtype="4" fill="hold" nodeType="clickEffect">
                                  <p:stCondLst>
                                    <p:cond delay="0"/>
                                  </p:stCondLst>
                                  <p:childTnLst>
                                    <p:set>
                                      <p:cBhvr>
                                        <p:cTn id="102" dur="1" fill="hold">
                                          <p:stCondLst>
                                            <p:cond delay="0"/>
                                          </p:stCondLst>
                                        </p:cTn>
                                        <p:tgtEl>
                                          <p:spTgt spid="27"/>
                                        </p:tgtEl>
                                        <p:attrNameLst>
                                          <p:attrName>style.visibility</p:attrName>
                                        </p:attrNameLst>
                                      </p:cBhvr>
                                      <p:to>
                                        <p:strVal val="visible"/>
                                      </p:to>
                                    </p:set>
                                    <p:animEffect transition="in" filter="wipe(down)">
                                      <p:cBhvr>
                                        <p:cTn id="103" dur="500"/>
                                        <p:tgtEl>
                                          <p:spTgt spid="27"/>
                                        </p:tgtEl>
                                      </p:cBhvr>
                                    </p:animEffect>
                                  </p:childTnLst>
                                </p:cTn>
                              </p:par>
                            </p:childTnLst>
                          </p:cTn>
                        </p:par>
                        <p:par>
                          <p:cTn id="104" fill="hold">
                            <p:stCondLst>
                              <p:cond delay="500"/>
                            </p:stCondLst>
                            <p:childTnLst>
                              <p:par>
                                <p:cTn id="105" presetID="10" presetClass="entr" presetSubtype="0" fill="hold" grpId="1" nodeType="afterEffect">
                                  <p:stCondLst>
                                    <p:cond delay="0"/>
                                  </p:stCondLst>
                                  <p:childTnLst>
                                    <p:set>
                                      <p:cBhvr>
                                        <p:cTn id="106" dur="1" fill="hold">
                                          <p:stCondLst>
                                            <p:cond delay="0"/>
                                          </p:stCondLst>
                                        </p:cTn>
                                        <p:tgtEl>
                                          <p:spTgt spid="30"/>
                                        </p:tgtEl>
                                        <p:attrNameLst>
                                          <p:attrName>style.visibility</p:attrName>
                                        </p:attrNameLst>
                                      </p:cBhvr>
                                      <p:to>
                                        <p:strVal val="visible"/>
                                      </p:to>
                                    </p:set>
                                    <p:animEffect transition="in" filter="fade">
                                      <p:cBhvr>
                                        <p:cTn id="107" dur="500"/>
                                        <p:tgtEl>
                                          <p:spTgt spid="30"/>
                                        </p:tgtEl>
                                      </p:cBhvr>
                                    </p:animEffect>
                                  </p:childTnLst>
                                </p:cTn>
                              </p:par>
                              <p:par>
                                <p:cTn id="108" presetID="10" presetClass="entr" presetSubtype="0" fill="hold" nodeType="withEffect">
                                  <p:stCondLst>
                                    <p:cond delay="0"/>
                                  </p:stCondLst>
                                  <p:childTnLst>
                                    <p:set>
                                      <p:cBhvr>
                                        <p:cTn id="109" dur="1" fill="hold">
                                          <p:stCondLst>
                                            <p:cond delay="0"/>
                                          </p:stCondLst>
                                        </p:cTn>
                                        <p:tgtEl>
                                          <p:spTgt spid="28"/>
                                        </p:tgtEl>
                                        <p:attrNameLst>
                                          <p:attrName>style.visibility</p:attrName>
                                        </p:attrNameLst>
                                      </p:cBhvr>
                                      <p:to>
                                        <p:strVal val="visible"/>
                                      </p:to>
                                    </p:set>
                                    <p:animEffect transition="in" filter="fade">
                                      <p:cBhvr>
                                        <p:cTn id="110" dur="500"/>
                                        <p:tgtEl>
                                          <p:spTgt spid="28"/>
                                        </p:tgtEl>
                                      </p:cBhvr>
                                    </p:animEffect>
                                  </p:childTnLst>
                                </p:cTn>
                              </p:par>
                              <p:par>
                                <p:cTn id="111" presetID="10" presetClass="entr" presetSubtype="0" fill="hold" nodeType="withEffect">
                                  <p:stCondLst>
                                    <p:cond delay="0"/>
                                  </p:stCondLst>
                                  <p:childTnLst>
                                    <p:set>
                                      <p:cBhvr>
                                        <p:cTn id="112" dur="1" fill="hold">
                                          <p:stCondLst>
                                            <p:cond delay="0"/>
                                          </p:stCondLst>
                                        </p:cTn>
                                        <p:tgtEl>
                                          <p:spTgt spid="29"/>
                                        </p:tgtEl>
                                        <p:attrNameLst>
                                          <p:attrName>style.visibility</p:attrName>
                                        </p:attrNameLst>
                                      </p:cBhvr>
                                      <p:to>
                                        <p:strVal val="visible"/>
                                      </p:to>
                                    </p:set>
                                    <p:animEffect transition="in" filter="fade">
                                      <p:cBhvr>
                                        <p:cTn id="113" dur="500"/>
                                        <p:tgtEl>
                                          <p:spTgt spid="29"/>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60"/>
                                        </p:tgtEl>
                                        <p:attrNameLst>
                                          <p:attrName>style.visibility</p:attrName>
                                        </p:attrNameLst>
                                      </p:cBhvr>
                                      <p:to>
                                        <p:strVal val="visible"/>
                                      </p:to>
                                    </p:set>
                                    <p:animEffect transition="in" filter="fade">
                                      <p:cBhvr>
                                        <p:cTn id="116" dur="500"/>
                                        <p:tgtEl>
                                          <p:spTgt spid="60"/>
                                        </p:tgtEl>
                                      </p:cBhvr>
                                    </p:animEffect>
                                  </p:childTnLst>
                                </p:cTn>
                              </p:par>
                            </p:childTnLst>
                          </p:cTn>
                        </p:par>
                      </p:childTnLst>
                    </p:cTn>
                  </p:par>
                  <p:par>
                    <p:cTn id="117" fill="hold">
                      <p:stCondLst>
                        <p:cond delay="indefinite"/>
                      </p:stCondLst>
                      <p:childTnLst>
                        <p:par>
                          <p:cTn id="118" fill="hold">
                            <p:stCondLst>
                              <p:cond delay="0"/>
                            </p:stCondLst>
                            <p:childTnLst>
                              <p:par>
                                <p:cTn id="119" presetID="22" presetClass="entr" presetSubtype="4" fill="hold" nodeType="clickEffect">
                                  <p:stCondLst>
                                    <p:cond delay="0"/>
                                  </p:stCondLst>
                                  <p:childTnLst>
                                    <p:set>
                                      <p:cBhvr>
                                        <p:cTn id="120" dur="1" fill="hold">
                                          <p:stCondLst>
                                            <p:cond delay="0"/>
                                          </p:stCondLst>
                                        </p:cTn>
                                        <p:tgtEl>
                                          <p:spTgt spid="36"/>
                                        </p:tgtEl>
                                        <p:attrNameLst>
                                          <p:attrName>style.visibility</p:attrName>
                                        </p:attrNameLst>
                                      </p:cBhvr>
                                      <p:to>
                                        <p:strVal val="visible"/>
                                      </p:to>
                                    </p:set>
                                    <p:animEffect transition="in" filter="wipe(down)">
                                      <p:cBhvr>
                                        <p:cTn id="121" dur="500"/>
                                        <p:tgtEl>
                                          <p:spTgt spid="36"/>
                                        </p:tgtEl>
                                      </p:cBhvr>
                                    </p:animEffect>
                                  </p:childTnLst>
                                </p:cTn>
                              </p:par>
                            </p:childTnLst>
                          </p:cTn>
                        </p:par>
                        <p:par>
                          <p:cTn id="122" fill="hold">
                            <p:stCondLst>
                              <p:cond delay="500"/>
                            </p:stCondLst>
                            <p:childTnLst>
                              <p:par>
                                <p:cTn id="123" presetID="10" presetClass="entr" presetSubtype="0" fill="hold" nodeType="afterEffect">
                                  <p:stCondLst>
                                    <p:cond delay="0"/>
                                  </p:stCondLst>
                                  <p:childTnLst>
                                    <p:set>
                                      <p:cBhvr>
                                        <p:cTn id="124" dur="1" fill="hold">
                                          <p:stCondLst>
                                            <p:cond delay="0"/>
                                          </p:stCondLst>
                                        </p:cTn>
                                        <p:tgtEl>
                                          <p:spTgt spid="54"/>
                                        </p:tgtEl>
                                        <p:attrNameLst>
                                          <p:attrName>style.visibility</p:attrName>
                                        </p:attrNameLst>
                                      </p:cBhvr>
                                      <p:to>
                                        <p:strVal val="visible"/>
                                      </p:to>
                                    </p:set>
                                    <p:animEffect transition="in" filter="fade">
                                      <p:cBhvr>
                                        <p:cTn id="125" dur="500"/>
                                        <p:tgtEl>
                                          <p:spTgt spid="54"/>
                                        </p:tgtEl>
                                      </p:cBhvr>
                                    </p:animEffect>
                                  </p:childTnLst>
                                </p:cTn>
                              </p:par>
                              <p:par>
                                <p:cTn id="126" presetID="10" presetClass="entr" presetSubtype="0" fill="hold" grpId="0" nodeType="withEffect">
                                  <p:stCondLst>
                                    <p:cond delay="0"/>
                                  </p:stCondLst>
                                  <p:childTnLst>
                                    <p:set>
                                      <p:cBhvr>
                                        <p:cTn id="127" dur="1" fill="hold">
                                          <p:stCondLst>
                                            <p:cond delay="0"/>
                                          </p:stCondLst>
                                        </p:cTn>
                                        <p:tgtEl>
                                          <p:spTgt spid="56"/>
                                        </p:tgtEl>
                                        <p:attrNameLst>
                                          <p:attrName>style.visibility</p:attrName>
                                        </p:attrNameLst>
                                      </p:cBhvr>
                                      <p:to>
                                        <p:strVal val="visible"/>
                                      </p:to>
                                    </p:set>
                                    <p:animEffect transition="in" filter="fade">
                                      <p:cBhvr>
                                        <p:cTn id="128" dur="500"/>
                                        <p:tgtEl>
                                          <p:spTgt spid="56"/>
                                        </p:tgtEl>
                                      </p:cBhvr>
                                    </p:animEffect>
                                  </p:childTnLst>
                                </p:cTn>
                              </p:par>
                              <p:par>
                                <p:cTn id="129" presetID="10" presetClass="entr" presetSubtype="0" fill="hold" grpId="0" nodeType="withEffect">
                                  <p:stCondLst>
                                    <p:cond delay="0"/>
                                  </p:stCondLst>
                                  <p:childTnLst>
                                    <p:set>
                                      <p:cBhvr>
                                        <p:cTn id="130" dur="1" fill="hold">
                                          <p:stCondLst>
                                            <p:cond delay="0"/>
                                          </p:stCondLst>
                                        </p:cTn>
                                        <p:tgtEl>
                                          <p:spTgt spid="63"/>
                                        </p:tgtEl>
                                        <p:attrNameLst>
                                          <p:attrName>style.visibility</p:attrName>
                                        </p:attrNameLst>
                                      </p:cBhvr>
                                      <p:to>
                                        <p:strVal val="visible"/>
                                      </p:to>
                                    </p:set>
                                    <p:animEffect transition="in" filter="fade">
                                      <p:cBhvr>
                                        <p:cTn id="131" dur="500"/>
                                        <p:tgtEl>
                                          <p:spTgt spid="63"/>
                                        </p:tgtEl>
                                      </p:cBhvr>
                                    </p:animEffect>
                                  </p:childTnLst>
                                </p:cTn>
                              </p:par>
                            </p:childTnLst>
                          </p:cTn>
                        </p:par>
                      </p:childTnLst>
                    </p:cTn>
                  </p:par>
                  <p:par>
                    <p:cTn id="132" fill="hold">
                      <p:stCondLst>
                        <p:cond delay="indefinite"/>
                      </p:stCondLst>
                      <p:childTnLst>
                        <p:par>
                          <p:cTn id="133" fill="hold">
                            <p:stCondLst>
                              <p:cond delay="0"/>
                            </p:stCondLst>
                            <p:childTnLst>
                              <p:par>
                                <p:cTn id="134" presetID="22" presetClass="entr" presetSubtype="4" fill="hold" nodeType="clickEffect">
                                  <p:stCondLst>
                                    <p:cond delay="0"/>
                                  </p:stCondLst>
                                  <p:childTnLst>
                                    <p:set>
                                      <p:cBhvr>
                                        <p:cTn id="135" dur="1" fill="hold">
                                          <p:stCondLst>
                                            <p:cond delay="0"/>
                                          </p:stCondLst>
                                        </p:cTn>
                                        <p:tgtEl>
                                          <p:spTgt spid="40"/>
                                        </p:tgtEl>
                                        <p:attrNameLst>
                                          <p:attrName>style.visibility</p:attrName>
                                        </p:attrNameLst>
                                      </p:cBhvr>
                                      <p:to>
                                        <p:strVal val="visible"/>
                                      </p:to>
                                    </p:set>
                                    <p:animEffect transition="in" filter="wipe(down)">
                                      <p:cBhvr>
                                        <p:cTn id="136" dur="500"/>
                                        <p:tgtEl>
                                          <p:spTgt spid="40"/>
                                        </p:tgtEl>
                                      </p:cBhvr>
                                    </p:animEffect>
                                  </p:childTnLst>
                                </p:cTn>
                              </p:par>
                            </p:childTnLst>
                          </p:cTn>
                        </p:par>
                        <p:par>
                          <p:cTn id="137" fill="hold">
                            <p:stCondLst>
                              <p:cond delay="500"/>
                            </p:stCondLst>
                            <p:childTnLst>
                              <p:par>
                                <p:cTn id="138" presetID="10" presetClass="entr" presetSubtype="0" fill="hold" nodeType="afterEffect">
                                  <p:stCondLst>
                                    <p:cond delay="0"/>
                                  </p:stCondLst>
                                  <p:childTnLst>
                                    <p:set>
                                      <p:cBhvr>
                                        <p:cTn id="139" dur="1" fill="hold">
                                          <p:stCondLst>
                                            <p:cond delay="0"/>
                                          </p:stCondLst>
                                        </p:cTn>
                                        <p:tgtEl>
                                          <p:spTgt spid="42"/>
                                        </p:tgtEl>
                                        <p:attrNameLst>
                                          <p:attrName>style.visibility</p:attrName>
                                        </p:attrNameLst>
                                      </p:cBhvr>
                                      <p:to>
                                        <p:strVal val="visible"/>
                                      </p:to>
                                    </p:set>
                                    <p:animEffect transition="in" filter="fade">
                                      <p:cBhvr>
                                        <p:cTn id="140" dur="500"/>
                                        <p:tgtEl>
                                          <p:spTgt spid="42"/>
                                        </p:tgtEl>
                                      </p:cBhvr>
                                    </p:animEffect>
                                  </p:childTnLst>
                                </p:cTn>
                              </p:par>
                              <p:par>
                                <p:cTn id="141" presetID="10" presetClass="entr" presetSubtype="0" fill="hold" grpId="0" nodeType="withEffect">
                                  <p:stCondLst>
                                    <p:cond delay="0"/>
                                  </p:stCondLst>
                                  <p:childTnLst>
                                    <p:set>
                                      <p:cBhvr>
                                        <p:cTn id="142" dur="1" fill="hold">
                                          <p:stCondLst>
                                            <p:cond delay="0"/>
                                          </p:stCondLst>
                                        </p:cTn>
                                        <p:tgtEl>
                                          <p:spTgt spid="41"/>
                                        </p:tgtEl>
                                        <p:attrNameLst>
                                          <p:attrName>style.visibility</p:attrName>
                                        </p:attrNameLst>
                                      </p:cBhvr>
                                      <p:to>
                                        <p:strVal val="visible"/>
                                      </p:to>
                                    </p:set>
                                    <p:animEffect transition="in" filter="fade">
                                      <p:cBhvr>
                                        <p:cTn id="143" dur="500"/>
                                        <p:tgtEl>
                                          <p:spTgt spid="41"/>
                                        </p:tgtEl>
                                      </p:cBhvr>
                                    </p:animEffect>
                                  </p:childTnLst>
                                </p:cTn>
                              </p:par>
                              <p:par>
                                <p:cTn id="144" presetID="10" presetClass="entr" presetSubtype="0" fill="hold" grpId="0" nodeType="withEffect">
                                  <p:stCondLst>
                                    <p:cond delay="0"/>
                                  </p:stCondLst>
                                  <p:childTnLst>
                                    <p:set>
                                      <p:cBhvr>
                                        <p:cTn id="145" dur="1" fill="hold">
                                          <p:stCondLst>
                                            <p:cond delay="0"/>
                                          </p:stCondLst>
                                        </p:cTn>
                                        <p:tgtEl>
                                          <p:spTgt spid="62"/>
                                        </p:tgtEl>
                                        <p:attrNameLst>
                                          <p:attrName>style.visibility</p:attrName>
                                        </p:attrNameLst>
                                      </p:cBhvr>
                                      <p:to>
                                        <p:strVal val="visible"/>
                                      </p:to>
                                    </p:set>
                                    <p:animEffect transition="in" filter="fade">
                                      <p:cBhvr>
                                        <p:cTn id="146" dur="500"/>
                                        <p:tgtEl>
                                          <p:spTgt spid="62"/>
                                        </p:tgtEl>
                                      </p:cBhvr>
                                    </p:animEffect>
                                  </p:childTnLst>
                                </p:cTn>
                              </p:par>
                            </p:childTnLst>
                          </p:cTn>
                        </p:par>
                      </p:childTnLst>
                    </p:cTn>
                  </p:par>
                  <p:par>
                    <p:cTn id="147" fill="hold">
                      <p:stCondLst>
                        <p:cond delay="indefinite"/>
                      </p:stCondLst>
                      <p:childTnLst>
                        <p:par>
                          <p:cTn id="148" fill="hold">
                            <p:stCondLst>
                              <p:cond delay="0"/>
                            </p:stCondLst>
                            <p:childTnLst>
                              <p:par>
                                <p:cTn id="149" presetID="26" presetClass="emph" presetSubtype="0" repeatCount="2000" fill="hold" grpId="1" nodeType="clickEffect">
                                  <p:stCondLst>
                                    <p:cond delay="0"/>
                                  </p:stCondLst>
                                  <p:childTnLst>
                                    <p:animEffect transition="out" filter="fade">
                                      <p:cBhvr>
                                        <p:cTn id="150" dur="500" tmFilter="0, 0; .2, .5; .8, .5; 1, 0"/>
                                        <p:tgtEl>
                                          <p:spTgt spid="59"/>
                                        </p:tgtEl>
                                      </p:cBhvr>
                                    </p:animEffect>
                                    <p:animScale>
                                      <p:cBhvr>
                                        <p:cTn id="151" dur="250" autoRev="1" fill="hold"/>
                                        <p:tgtEl>
                                          <p:spTgt spid="59"/>
                                        </p:tgtEl>
                                      </p:cBhvr>
                                      <p:by x="105000" y="105000"/>
                                    </p:animScale>
                                  </p:childTnLst>
                                </p:cTn>
                              </p:par>
                              <p:par>
                                <p:cTn id="152" presetID="26" presetClass="emph" presetSubtype="0" repeatCount="2000" fill="hold" grpId="1" nodeType="withEffect">
                                  <p:stCondLst>
                                    <p:cond delay="0"/>
                                  </p:stCondLst>
                                  <p:childTnLst>
                                    <p:animEffect transition="out" filter="fade">
                                      <p:cBhvr>
                                        <p:cTn id="153" dur="500" tmFilter="0, 0; .2, .5; .8, .5; 1, 0"/>
                                        <p:tgtEl>
                                          <p:spTgt spid="62"/>
                                        </p:tgtEl>
                                      </p:cBhvr>
                                    </p:animEffect>
                                    <p:animScale>
                                      <p:cBhvr>
                                        <p:cTn id="154" dur="250" autoRev="1" fill="hold"/>
                                        <p:tgtEl>
                                          <p:spTgt spid="62"/>
                                        </p:tgtEl>
                                      </p:cBhvr>
                                      <p:by x="105000" y="105000"/>
                                    </p:animScale>
                                  </p:childTnLst>
                                </p:cTn>
                              </p:par>
                              <p:par>
                                <p:cTn id="155" presetID="26" presetClass="emph" presetSubtype="0" repeatCount="2000" fill="hold" grpId="1" nodeType="withEffect">
                                  <p:stCondLst>
                                    <p:cond delay="0"/>
                                  </p:stCondLst>
                                  <p:iterate type="lt">
                                    <p:tmPct val="0"/>
                                  </p:iterate>
                                  <p:childTnLst>
                                    <p:animEffect transition="out" filter="fade">
                                      <p:cBhvr>
                                        <p:cTn id="156" dur="500" tmFilter="0, 0; .2, .5; .8, .5; 1, 0"/>
                                        <p:tgtEl>
                                          <p:spTgt spid="35"/>
                                        </p:tgtEl>
                                      </p:cBhvr>
                                    </p:animEffect>
                                    <p:animScale>
                                      <p:cBhvr>
                                        <p:cTn id="157" dur="250" autoRev="1" fill="hold"/>
                                        <p:tgtEl>
                                          <p:spTgt spid="35"/>
                                        </p:tgtEl>
                                      </p:cBhvr>
                                      <p:by x="105000" y="105000"/>
                                    </p:animScale>
                                  </p:childTnLst>
                                </p:cTn>
                              </p:par>
                              <p:par>
                                <p:cTn id="158" presetID="26" presetClass="emph" presetSubtype="0" repeatCount="2000" fill="hold" grpId="1" nodeType="withEffect">
                                  <p:stCondLst>
                                    <p:cond delay="0"/>
                                  </p:stCondLst>
                                  <p:iterate type="lt">
                                    <p:tmPct val="0"/>
                                  </p:iterate>
                                  <p:childTnLst>
                                    <p:animEffect transition="out" filter="fade">
                                      <p:cBhvr>
                                        <p:cTn id="159" dur="500" tmFilter="0, 0; .2, .5; .8, .5; 1, 0"/>
                                        <p:tgtEl>
                                          <p:spTgt spid="44"/>
                                        </p:tgtEl>
                                      </p:cBhvr>
                                    </p:animEffect>
                                    <p:animScale>
                                      <p:cBhvr>
                                        <p:cTn id="160" dur="250" autoRev="1" fill="hold"/>
                                        <p:tgtEl>
                                          <p:spTgt spid="44"/>
                                        </p:tgtEl>
                                      </p:cBhvr>
                                      <p:by x="105000" y="105000"/>
                                    </p:animScale>
                                  </p:childTnLst>
                                </p:cTn>
                              </p:par>
                              <p:par>
                                <p:cTn id="161" presetID="26" presetClass="emph" presetSubtype="0" repeatCount="2000" fill="hold" grpId="1" nodeType="withEffect">
                                  <p:stCondLst>
                                    <p:cond delay="0"/>
                                  </p:stCondLst>
                                  <p:iterate type="lt">
                                    <p:tmPct val="0"/>
                                  </p:iterate>
                                  <p:childTnLst>
                                    <p:animEffect transition="out" filter="fade">
                                      <p:cBhvr>
                                        <p:cTn id="162" dur="500" tmFilter="0, 0; .2, .5; .8, .5; 1, 0"/>
                                        <p:tgtEl>
                                          <p:spTgt spid="61"/>
                                        </p:tgtEl>
                                      </p:cBhvr>
                                    </p:animEffect>
                                    <p:animScale>
                                      <p:cBhvr>
                                        <p:cTn id="163" dur="250" autoRev="1" fill="hold"/>
                                        <p:tgtEl>
                                          <p:spTgt spid="61"/>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30" grpId="1"/>
      <p:bldP spid="32" grpId="1"/>
      <p:bldP spid="37" grpId="0"/>
      <p:bldP spid="41" grpId="0"/>
      <p:bldP spid="35" grpId="0"/>
      <p:bldP spid="35" grpId="1"/>
      <p:bldP spid="44" grpId="0"/>
      <p:bldP spid="44" grpId="1"/>
      <p:bldP spid="45" grpId="0"/>
      <p:bldP spid="47" grpId="1"/>
      <p:bldP spid="48" grpId="1"/>
      <p:bldP spid="49" grpId="1"/>
      <p:bldP spid="56" grpId="0"/>
      <p:bldP spid="58" grpId="0"/>
      <p:bldP spid="59" grpId="0"/>
      <p:bldP spid="59" grpId="1"/>
      <p:bldP spid="60" grpId="0"/>
      <p:bldP spid="61" grpId="0"/>
      <p:bldP spid="61" grpId="1"/>
      <p:bldP spid="62" grpId="0"/>
      <p:bldP spid="62" grpId="1"/>
      <p:bldP spid="6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主要任务</a:t>
            </a:r>
          </a:p>
        </p:txBody>
      </p:sp>
      <p:sp>
        <p:nvSpPr>
          <p:cNvPr id="3" name="内容占位符 2"/>
          <p:cNvSpPr>
            <a:spLocks noGrp="1"/>
          </p:cNvSpPr>
          <p:nvPr>
            <p:ph idx="1"/>
          </p:nvPr>
        </p:nvSpPr>
        <p:spPr>
          <a:xfrm>
            <a:off x="628650" y="1316831"/>
            <a:ext cx="7886700" cy="4819274"/>
          </a:xfrm>
        </p:spPr>
        <p:txBody>
          <a:bodyPr>
            <a:normAutofit/>
          </a:bodyPr>
          <a:lstStyle/>
          <a:p>
            <a:r>
              <a:rPr lang="zh-CN" altLang="en-US" sz="2400" dirty="0"/>
              <a:t>图形绘制系统的</a:t>
            </a:r>
            <a:r>
              <a:rPr lang="en-US" altLang="zh-CN" sz="2400" dirty="0"/>
              <a:t>4</a:t>
            </a:r>
            <a:r>
              <a:rPr lang="zh-CN" altLang="en-US" sz="2400" dirty="0"/>
              <a:t>个主要任务：</a:t>
            </a:r>
            <a:endParaRPr lang="en-US" altLang="zh-CN" sz="2400" dirty="0"/>
          </a:p>
          <a:p>
            <a:endParaRPr lang="en-US" altLang="zh-CN" sz="2400" dirty="0"/>
          </a:p>
          <a:p>
            <a:endParaRPr lang="en-US" altLang="zh-CN" sz="2400" dirty="0"/>
          </a:p>
          <a:p>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marL="0" indent="0">
              <a:buClr>
                <a:srgbClr val="94003F"/>
              </a:buClr>
              <a:buNone/>
            </a:pPr>
            <a:endParaRPr lang="zh-CN" altLang="en-US" sz="24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9</a:t>
            </a:fld>
            <a:endParaRPr lang="zh-CN" altLang="en-US"/>
          </a:p>
        </p:txBody>
      </p:sp>
      <p:grpSp>
        <p:nvGrpSpPr>
          <p:cNvPr id="23" name="Group 22"/>
          <p:cNvGrpSpPr/>
          <p:nvPr/>
        </p:nvGrpSpPr>
        <p:grpSpPr>
          <a:xfrm>
            <a:off x="839984" y="3929414"/>
            <a:ext cx="7985961" cy="623063"/>
            <a:chOff x="490352" y="4486020"/>
            <a:chExt cx="8403651" cy="655651"/>
          </a:xfrm>
        </p:grpSpPr>
        <p:sp>
          <p:nvSpPr>
            <p:cNvPr id="9" name="矩形 7"/>
            <p:cNvSpPr/>
            <p:nvPr/>
          </p:nvSpPr>
          <p:spPr>
            <a:xfrm>
              <a:off x="490352" y="4493419"/>
              <a:ext cx="1163782" cy="613063"/>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CN" altLang="en-US"/>
            </a:p>
          </p:txBody>
        </p:sp>
        <p:sp>
          <p:nvSpPr>
            <p:cNvPr id="10" name="文本框 8"/>
            <p:cNvSpPr txBox="1"/>
            <p:nvPr/>
          </p:nvSpPr>
          <p:spPr>
            <a:xfrm>
              <a:off x="721550" y="4615290"/>
              <a:ext cx="701386" cy="369332"/>
            </a:xfrm>
            <a:prstGeom prst="rect">
              <a:avLst/>
            </a:prstGeom>
            <a:noFill/>
          </p:spPr>
          <p:txBody>
            <a:bodyPr wrap="square" rtlCol="0">
              <a:spAutoFit/>
            </a:bodyPr>
            <a:lstStyle/>
            <a:p>
              <a:r>
                <a:rPr lang="zh-CN" altLang="en-US" dirty="0"/>
                <a:t>建模</a:t>
              </a:r>
            </a:p>
          </p:txBody>
        </p:sp>
        <p:cxnSp>
          <p:nvCxnSpPr>
            <p:cNvPr id="11" name="直接箭头连接符 10"/>
            <p:cNvCxnSpPr>
              <a:stCxn id="15" idx="3"/>
            </p:cNvCxnSpPr>
            <p:nvPr/>
          </p:nvCxnSpPr>
          <p:spPr>
            <a:xfrm>
              <a:off x="1654134" y="4799950"/>
              <a:ext cx="633845"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2" name="矩形 11"/>
            <p:cNvSpPr/>
            <p:nvPr/>
          </p:nvSpPr>
          <p:spPr>
            <a:xfrm>
              <a:off x="2287979" y="4493419"/>
              <a:ext cx="1163782" cy="613063"/>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CN" altLang="en-US"/>
            </a:p>
          </p:txBody>
        </p:sp>
        <p:sp>
          <p:nvSpPr>
            <p:cNvPr id="13" name="文本框 12"/>
            <p:cNvSpPr txBox="1"/>
            <p:nvPr/>
          </p:nvSpPr>
          <p:spPr>
            <a:xfrm>
              <a:off x="2526971" y="4490598"/>
              <a:ext cx="701386" cy="646330"/>
            </a:xfrm>
            <a:prstGeom prst="rect">
              <a:avLst/>
            </a:prstGeom>
            <a:noFill/>
          </p:spPr>
          <p:txBody>
            <a:bodyPr wrap="square" rtlCol="0">
              <a:spAutoFit/>
            </a:bodyPr>
            <a:lstStyle/>
            <a:p>
              <a:r>
                <a:rPr lang="zh-CN" altLang="en-US" dirty="0"/>
                <a:t>几何处理</a:t>
              </a:r>
            </a:p>
          </p:txBody>
        </p:sp>
        <p:cxnSp>
          <p:nvCxnSpPr>
            <p:cNvPr id="14" name="直接箭头连接符 13"/>
            <p:cNvCxnSpPr>
              <a:stCxn id="19" idx="3"/>
            </p:cNvCxnSpPr>
            <p:nvPr/>
          </p:nvCxnSpPr>
          <p:spPr>
            <a:xfrm>
              <a:off x="3451763" y="4799952"/>
              <a:ext cx="633845"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5" name="矩形 14"/>
            <p:cNvSpPr/>
            <p:nvPr/>
          </p:nvSpPr>
          <p:spPr>
            <a:xfrm>
              <a:off x="4085608" y="4490596"/>
              <a:ext cx="1163782" cy="613063"/>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a:p>
          </p:txBody>
        </p:sp>
        <p:sp>
          <p:nvSpPr>
            <p:cNvPr id="16" name="文本框 15"/>
            <p:cNvSpPr txBox="1"/>
            <p:nvPr/>
          </p:nvSpPr>
          <p:spPr>
            <a:xfrm>
              <a:off x="4221999" y="4612462"/>
              <a:ext cx="959462" cy="388649"/>
            </a:xfrm>
            <a:prstGeom prst="rect">
              <a:avLst/>
            </a:prstGeom>
            <a:noFill/>
          </p:spPr>
          <p:txBody>
            <a:bodyPr wrap="square" rtlCol="0">
              <a:spAutoFit/>
            </a:bodyPr>
            <a:lstStyle/>
            <a:p>
              <a:r>
                <a:rPr lang="zh-CN" altLang="en-US" dirty="0"/>
                <a:t>光栅化</a:t>
              </a:r>
            </a:p>
          </p:txBody>
        </p:sp>
        <p:cxnSp>
          <p:nvCxnSpPr>
            <p:cNvPr id="17" name="直接箭头连接符 16"/>
            <p:cNvCxnSpPr>
              <a:stCxn id="22" idx="3"/>
            </p:cNvCxnSpPr>
            <p:nvPr/>
          </p:nvCxnSpPr>
          <p:spPr>
            <a:xfrm>
              <a:off x="5249389" y="4797128"/>
              <a:ext cx="633845"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8" name="矩形 17"/>
            <p:cNvSpPr/>
            <p:nvPr/>
          </p:nvSpPr>
          <p:spPr>
            <a:xfrm>
              <a:off x="5937786" y="4490596"/>
              <a:ext cx="1163782" cy="61306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sp>
          <p:nvSpPr>
            <p:cNvPr id="19" name="文本框 18"/>
            <p:cNvSpPr txBox="1"/>
            <p:nvPr/>
          </p:nvSpPr>
          <p:spPr>
            <a:xfrm>
              <a:off x="6176778" y="4495338"/>
              <a:ext cx="701386" cy="646333"/>
            </a:xfrm>
            <a:prstGeom prst="rect">
              <a:avLst/>
            </a:prstGeom>
            <a:noFill/>
          </p:spPr>
          <p:txBody>
            <a:bodyPr wrap="square" rtlCol="0">
              <a:spAutoFit/>
            </a:bodyPr>
            <a:lstStyle/>
            <a:p>
              <a:r>
                <a:rPr lang="zh-CN" altLang="en-US" dirty="0"/>
                <a:t>片元处理</a:t>
              </a:r>
            </a:p>
          </p:txBody>
        </p:sp>
        <p:cxnSp>
          <p:nvCxnSpPr>
            <p:cNvPr id="20" name="直接箭头连接符 19"/>
            <p:cNvCxnSpPr/>
            <p:nvPr/>
          </p:nvCxnSpPr>
          <p:spPr>
            <a:xfrm>
              <a:off x="7101570" y="4797126"/>
              <a:ext cx="633845"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1" name="矩形 20"/>
            <p:cNvSpPr/>
            <p:nvPr/>
          </p:nvSpPr>
          <p:spPr>
            <a:xfrm>
              <a:off x="7730221" y="4486020"/>
              <a:ext cx="1163782" cy="613063"/>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zh-CN" altLang="en-US"/>
            </a:p>
          </p:txBody>
        </p:sp>
        <p:sp>
          <p:nvSpPr>
            <p:cNvPr id="22" name="文本框 21"/>
            <p:cNvSpPr txBox="1"/>
            <p:nvPr/>
          </p:nvSpPr>
          <p:spPr>
            <a:xfrm>
              <a:off x="7889580" y="4607890"/>
              <a:ext cx="987136" cy="369332"/>
            </a:xfrm>
            <a:prstGeom prst="rect">
              <a:avLst/>
            </a:prstGeom>
            <a:noFill/>
          </p:spPr>
          <p:txBody>
            <a:bodyPr wrap="square" rtlCol="0">
              <a:spAutoFit/>
            </a:bodyPr>
            <a:lstStyle/>
            <a:p>
              <a:r>
                <a:rPr lang="zh-CN" altLang="en-US" dirty="0"/>
                <a:t>帧缓存</a:t>
              </a:r>
            </a:p>
          </p:txBody>
        </p:sp>
      </p:grpSp>
      <p:cxnSp>
        <p:nvCxnSpPr>
          <p:cNvPr id="8" name="Straight Arrow Connector 7"/>
          <p:cNvCxnSpPr/>
          <p:nvPr/>
        </p:nvCxnSpPr>
        <p:spPr>
          <a:xfrm flipV="1">
            <a:off x="1382066" y="3524964"/>
            <a:ext cx="0" cy="411481"/>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27" name="Straight Arrow Connector 26"/>
          <p:cNvCxnSpPr/>
          <p:nvPr/>
        </p:nvCxnSpPr>
        <p:spPr>
          <a:xfrm flipV="1">
            <a:off x="4809513" y="3524963"/>
            <a:ext cx="0" cy="411481"/>
          </a:xfrm>
          <a:prstGeom prst="straightConnector1">
            <a:avLst/>
          </a:prstGeom>
          <a:ln>
            <a:solidFill>
              <a:schemeClr val="bg1">
                <a:lumMod val="50000"/>
              </a:schemeClr>
            </a:solidFill>
            <a:tailEnd type="triangle"/>
          </a:ln>
        </p:spPr>
        <p:style>
          <a:lnRef idx="1">
            <a:schemeClr val="accent6"/>
          </a:lnRef>
          <a:fillRef idx="0">
            <a:schemeClr val="accent6"/>
          </a:fillRef>
          <a:effectRef idx="0">
            <a:schemeClr val="accent6"/>
          </a:effectRef>
          <a:fontRef idx="minor">
            <a:schemeClr val="tx1"/>
          </a:fontRef>
        </p:style>
      </p:cxnSp>
      <p:pic>
        <p:nvPicPr>
          <p:cNvPr id="28" name="图片 6"/>
          <p:cNvPicPr>
            <a:picLocks noChangeAspect="1"/>
          </p:cNvPicPr>
          <p:nvPr/>
        </p:nvPicPr>
        <p:blipFill>
          <a:blip r:embed="rId2"/>
          <a:stretch>
            <a:fillRect/>
          </a:stretch>
        </p:blipFill>
        <p:spPr>
          <a:xfrm>
            <a:off x="3976111" y="2277868"/>
            <a:ext cx="905293" cy="899530"/>
          </a:xfrm>
          <a:prstGeom prst="rect">
            <a:avLst/>
          </a:prstGeom>
        </p:spPr>
      </p:pic>
      <p:pic>
        <p:nvPicPr>
          <p:cNvPr id="29" name="Picture 2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41466" y="2293165"/>
            <a:ext cx="842029" cy="842029"/>
          </a:xfrm>
          <a:prstGeom prst="rect">
            <a:avLst/>
          </a:prstGeom>
        </p:spPr>
      </p:pic>
      <p:sp>
        <p:nvSpPr>
          <p:cNvPr id="30" name="TextBox 29"/>
          <p:cNvSpPr txBox="1"/>
          <p:nvPr/>
        </p:nvSpPr>
        <p:spPr>
          <a:xfrm>
            <a:off x="4510059" y="3135897"/>
            <a:ext cx="663964" cy="369332"/>
          </a:xfrm>
          <a:prstGeom prst="rect">
            <a:avLst/>
          </a:prstGeom>
          <a:noFill/>
        </p:spPr>
        <p:txBody>
          <a:bodyPr wrap="none" rtlCol="0">
            <a:spAutoFit/>
          </a:bodyPr>
          <a:lstStyle/>
          <a:p>
            <a:r>
              <a:rPr lang="en-US" altLang="zh-CN" dirty="0"/>
              <a:t>Ch06</a:t>
            </a:r>
            <a:endParaRPr lang="en-US" dirty="0"/>
          </a:p>
        </p:txBody>
      </p:sp>
      <p:sp>
        <p:nvSpPr>
          <p:cNvPr id="32" name="TextBox 31"/>
          <p:cNvSpPr txBox="1"/>
          <p:nvPr/>
        </p:nvSpPr>
        <p:spPr>
          <a:xfrm>
            <a:off x="1045529" y="3132769"/>
            <a:ext cx="663964" cy="369332"/>
          </a:xfrm>
          <a:prstGeom prst="rect">
            <a:avLst/>
          </a:prstGeom>
          <a:noFill/>
        </p:spPr>
        <p:txBody>
          <a:bodyPr wrap="none" rtlCol="0">
            <a:spAutoFit/>
          </a:bodyPr>
          <a:lstStyle/>
          <a:p>
            <a:r>
              <a:rPr lang="en-US" altLang="zh-CN" dirty="0"/>
              <a:t>Ch02</a:t>
            </a:r>
            <a:endParaRPr lang="en-US" dirty="0"/>
          </a:p>
        </p:txBody>
      </p:sp>
      <p:sp>
        <p:nvSpPr>
          <p:cNvPr id="3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square" lIns="91440" tIns="45720" rIns="91440" bIns="45720" numCol="1" anchor="ctr" anchorCtr="0" compatLnSpc="1">
            <a:spAutoFit/>
          </a:bodyPr>
          <a:lstStyle/>
          <a:p>
            <a:endParaRPr lang="en-US"/>
          </a:p>
        </p:txBody>
      </p:sp>
      <p:pic>
        <p:nvPicPr>
          <p:cNvPr id="3073" name="Picture 1" descr="QQ截图20160824152434"/>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10777" t="13412" r="12586" b="10501"/>
          <a:stretch>
            <a:fillRect/>
          </a:stretch>
        </p:blipFill>
        <p:spPr bwMode="auto">
          <a:xfrm>
            <a:off x="960343" y="2305173"/>
            <a:ext cx="834336" cy="844919"/>
          </a:xfrm>
          <a:prstGeom prst="rect">
            <a:avLst/>
          </a:prstGeom>
          <a:noFill/>
          <a:extLst>
            <a:ext uri="{909E8E84-426E-40DD-AFC4-6F175D3DCCD1}">
              <a14:hiddenFill xmlns:a14="http://schemas.microsoft.com/office/drawing/2010/main">
                <a:solidFill>
                  <a:srgbClr val="FFFFFF"/>
                </a:solidFill>
              </a14:hiddenFill>
            </a:ext>
          </a:extLst>
        </p:spPr>
      </p:pic>
      <p:cxnSp>
        <p:nvCxnSpPr>
          <p:cNvPr id="36" name="Straight Arrow Connector 35"/>
          <p:cNvCxnSpPr/>
          <p:nvPr/>
        </p:nvCxnSpPr>
        <p:spPr>
          <a:xfrm flipV="1">
            <a:off x="6601190" y="3524962"/>
            <a:ext cx="0" cy="411481"/>
          </a:xfrm>
          <a:prstGeom prst="straightConnector1">
            <a:avLst/>
          </a:prstGeom>
          <a:ln>
            <a:solidFill>
              <a:schemeClr val="accent1"/>
            </a:solidFill>
            <a:tailEnd type="triangle"/>
          </a:ln>
        </p:spPr>
        <p:style>
          <a:lnRef idx="1">
            <a:schemeClr val="accent6"/>
          </a:lnRef>
          <a:fillRef idx="0">
            <a:schemeClr val="accent6"/>
          </a:fillRef>
          <a:effectRef idx="0">
            <a:schemeClr val="accent6"/>
          </a:effectRef>
          <a:fontRef idx="minor">
            <a:schemeClr val="tx1"/>
          </a:fontRef>
        </p:style>
      </p:cxnSp>
      <p:pic>
        <p:nvPicPr>
          <p:cNvPr id="38" name="Picture 37"/>
          <p:cNvPicPr/>
          <p:nvPr/>
        </p:nvPicPr>
        <p:blipFill>
          <a:blip r:embed="rId5"/>
          <a:stretch>
            <a:fillRect/>
          </a:stretch>
        </p:blipFill>
        <p:spPr>
          <a:xfrm>
            <a:off x="3431951" y="10516595"/>
            <a:ext cx="825339" cy="872883"/>
          </a:xfrm>
          <a:prstGeom prst="rect">
            <a:avLst/>
          </a:prstGeom>
        </p:spPr>
      </p:pic>
      <p:cxnSp>
        <p:nvCxnSpPr>
          <p:cNvPr id="40" name="Straight Arrow Connector 39"/>
          <p:cNvCxnSpPr/>
          <p:nvPr/>
        </p:nvCxnSpPr>
        <p:spPr>
          <a:xfrm rot="5400000" flipV="1">
            <a:off x="7311407" y="2483602"/>
            <a:ext cx="0" cy="411481"/>
          </a:xfrm>
          <a:prstGeom prst="straightConnector1">
            <a:avLst/>
          </a:prstGeom>
          <a:ln>
            <a:solidFill>
              <a:schemeClr val="accent1"/>
            </a:solidFill>
            <a:tailEnd type="triangle"/>
          </a:ln>
        </p:spPr>
        <p:style>
          <a:lnRef idx="1">
            <a:schemeClr val="accent6"/>
          </a:lnRef>
          <a:fillRef idx="0">
            <a:schemeClr val="accent6"/>
          </a:fillRef>
          <a:effectRef idx="0">
            <a:schemeClr val="accent6"/>
          </a:effectRef>
          <a:fontRef idx="minor">
            <a:schemeClr val="tx1"/>
          </a:fontRef>
        </p:style>
      </p:cxnSp>
      <p:sp>
        <p:nvSpPr>
          <p:cNvPr id="45" name="TextBox 44"/>
          <p:cNvSpPr txBox="1"/>
          <p:nvPr/>
        </p:nvSpPr>
        <p:spPr>
          <a:xfrm>
            <a:off x="4400225" y="4959611"/>
            <a:ext cx="646331" cy="369332"/>
          </a:xfrm>
          <a:prstGeom prst="rect">
            <a:avLst/>
          </a:prstGeom>
          <a:noFill/>
        </p:spPr>
        <p:txBody>
          <a:bodyPr wrap="none" rtlCol="0">
            <a:spAutoFit/>
          </a:bodyPr>
          <a:lstStyle/>
          <a:p>
            <a:r>
              <a:rPr lang="zh-CN" altLang="en-US" dirty="0"/>
              <a:t>裁剪</a:t>
            </a:r>
            <a:endParaRPr lang="en-US" dirty="0"/>
          </a:p>
        </p:txBody>
      </p:sp>
      <p:cxnSp>
        <p:nvCxnSpPr>
          <p:cNvPr id="46" name="Straight Arrow Connector 45"/>
          <p:cNvCxnSpPr/>
          <p:nvPr/>
        </p:nvCxnSpPr>
        <p:spPr>
          <a:xfrm rot="10800000" flipV="1">
            <a:off x="3058466" y="4522568"/>
            <a:ext cx="0" cy="411481"/>
          </a:xfrm>
          <a:prstGeom prst="straightConnector1">
            <a:avLst/>
          </a:prstGeom>
          <a:ln>
            <a:solidFill>
              <a:srgbClr val="FFC000"/>
            </a:solidFill>
            <a:tailEnd type="triangle"/>
          </a:ln>
        </p:spPr>
        <p:style>
          <a:lnRef idx="1">
            <a:schemeClr val="accent6"/>
          </a:lnRef>
          <a:fillRef idx="0">
            <a:schemeClr val="accent6"/>
          </a:fillRef>
          <a:effectRef idx="0">
            <a:schemeClr val="accent6"/>
          </a:effectRef>
          <a:fontRef idx="minor">
            <a:schemeClr val="tx1"/>
          </a:fontRef>
        </p:style>
      </p:cxnSp>
      <p:sp>
        <p:nvSpPr>
          <p:cNvPr id="47" name="TextBox 46"/>
          <p:cNvSpPr txBox="1"/>
          <p:nvPr/>
        </p:nvSpPr>
        <p:spPr>
          <a:xfrm>
            <a:off x="4365007" y="6175912"/>
            <a:ext cx="663964" cy="369332"/>
          </a:xfrm>
          <a:prstGeom prst="rect">
            <a:avLst/>
          </a:prstGeom>
          <a:noFill/>
        </p:spPr>
        <p:txBody>
          <a:bodyPr wrap="none" rtlCol="0">
            <a:spAutoFit/>
          </a:bodyPr>
          <a:lstStyle/>
          <a:p>
            <a:r>
              <a:rPr lang="en-US" altLang="zh-CN" dirty="0"/>
              <a:t>Ch06</a:t>
            </a:r>
            <a:endParaRPr lang="en-US" dirty="0"/>
          </a:p>
        </p:txBody>
      </p:sp>
      <p:cxnSp>
        <p:nvCxnSpPr>
          <p:cNvPr id="50" name="Straight Arrow Connector 49"/>
          <p:cNvCxnSpPr/>
          <p:nvPr/>
        </p:nvCxnSpPr>
        <p:spPr>
          <a:xfrm rot="5400000" flipV="1">
            <a:off x="2285932" y="4952332"/>
            <a:ext cx="0" cy="411481"/>
          </a:xfrm>
          <a:prstGeom prst="straightConnector1">
            <a:avLst/>
          </a:prstGeom>
          <a:ln>
            <a:solidFill>
              <a:srgbClr val="FFC000"/>
            </a:solidFill>
            <a:tailEnd type="triangle"/>
          </a:ln>
        </p:spPr>
        <p:style>
          <a:lnRef idx="1">
            <a:schemeClr val="accent6"/>
          </a:lnRef>
          <a:fillRef idx="0">
            <a:schemeClr val="accent6"/>
          </a:fillRef>
          <a:effectRef idx="0">
            <a:schemeClr val="accent6"/>
          </a:effectRef>
          <a:fontRef idx="minor">
            <a:schemeClr val="tx1"/>
          </a:fontRef>
        </p:style>
      </p:cxnSp>
      <p:cxnSp>
        <p:nvCxnSpPr>
          <p:cNvPr id="51" name="Straight Arrow Connector 50"/>
          <p:cNvCxnSpPr/>
          <p:nvPr/>
        </p:nvCxnSpPr>
        <p:spPr>
          <a:xfrm rot="5400000" flipV="1">
            <a:off x="3898473" y="4938537"/>
            <a:ext cx="0" cy="411481"/>
          </a:xfrm>
          <a:prstGeom prst="straightConnector1">
            <a:avLst/>
          </a:prstGeom>
          <a:ln>
            <a:solidFill>
              <a:srgbClr val="FFC000"/>
            </a:solidFill>
            <a:tailEnd type="triangle"/>
          </a:ln>
        </p:spPr>
        <p:style>
          <a:lnRef idx="1">
            <a:schemeClr val="accent6"/>
          </a:lnRef>
          <a:fillRef idx="0">
            <a:schemeClr val="accent6"/>
          </a:fillRef>
          <a:effectRef idx="0">
            <a:schemeClr val="accent6"/>
          </a:effectRef>
          <a:fontRef idx="minor">
            <a:schemeClr val="tx1"/>
          </a:fontRef>
        </p:style>
      </p:cxnSp>
      <p:pic>
        <p:nvPicPr>
          <p:cNvPr id="54" name="图片 6"/>
          <p:cNvPicPr>
            <a:picLocks noChangeAspect="1"/>
          </p:cNvPicPr>
          <p:nvPr/>
        </p:nvPicPr>
        <p:blipFill>
          <a:blip r:embed="rId6"/>
          <a:stretch>
            <a:fillRect/>
          </a:stretch>
        </p:blipFill>
        <p:spPr>
          <a:xfrm>
            <a:off x="6047717" y="2364267"/>
            <a:ext cx="1030076" cy="651531"/>
          </a:xfrm>
          <a:prstGeom prst="rect">
            <a:avLst/>
          </a:prstGeom>
        </p:spPr>
      </p:pic>
      <p:sp>
        <p:nvSpPr>
          <p:cNvPr id="56" name="TextBox 55"/>
          <p:cNvSpPr txBox="1"/>
          <p:nvPr/>
        </p:nvSpPr>
        <p:spPr>
          <a:xfrm>
            <a:off x="6269208" y="3126887"/>
            <a:ext cx="663964" cy="369332"/>
          </a:xfrm>
          <a:prstGeom prst="rect">
            <a:avLst/>
          </a:prstGeom>
          <a:noFill/>
        </p:spPr>
        <p:txBody>
          <a:bodyPr wrap="none" rtlCol="0">
            <a:spAutoFit/>
          </a:bodyPr>
          <a:lstStyle/>
          <a:p>
            <a:r>
              <a:rPr lang="en-US" altLang="zh-CN" dirty="0"/>
              <a:t>Ch06</a:t>
            </a:r>
            <a:endParaRPr lang="en-US" dirty="0"/>
          </a:p>
        </p:txBody>
      </p:sp>
      <p:pic>
        <p:nvPicPr>
          <p:cNvPr id="57" name="Picture 56"/>
          <p:cNvPicPr>
            <a:picLocks noChangeAspect="1"/>
          </p:cNvPicPr>
          <p:nvPr/>
        </p:nvPicPr>
        <p:blipFill rotWithShape="1">
          <a:blip r:embed="rId7" cstate="print">
            <a:extLst>
              <a:ext uri="{28A0092B-C50C-407E-A947-70E740481C1C}">
                <a14:useLocalDpi xmlns:a14="http://schemas.microsoft.com/office/drawing/2010/main" val="0"/>
              </a:ext>
            </a:extLst>
          </a:blip>
          <a:srcRect l="63117" t="2858" r="128" b="31715"/>
          <a:stretch>
            <a:fillRect/>
          </a:stretch>
        </p:blipFill>
        <p:spPr>
          <a:xfrm>
            <a:off x="4261469" y="5448162"/>
            <a:ext cx="884087" cy="580428"/>
          </a:xfrm>
          <a:prstGeom prst="rect">
            <a:avLst/>
          </a:prstGeom>
        </p:spPr>
      </p:pic>
      <p:sp>
        <p:nvSpPr>
          <p:cNvPr id="58" name="TextBox 57"/>
          <p:cNvSpPr txBox="1"/>
          <p:nvPr/>
        </p:nvSpPr>
        <p:spPr>
          <a:xfrm>
            <a:off x="868479" y="1871829"/>
            <a:ext cx="1107996" cy="369332"/>
          </a:xfrm>
          <a:prstGeom prst="rect">
            <a:avLst/>
          </a:prstGeom>
          <a:noFill/>
        </p:spPr>
        <p:txBody>
          <a:bodyPr wrap="none" rtlCol="0">
            <a:spAutoFit/>
          </a:bodyPr>
          <a:lstStyle/>
          <a:p>
            <a:r>
              <a:rPr lang="zh-CN" altLang="en-US" dirty="0"/>
              <a:t>基本图元</a:t>
            </a:r>
            <a:endParaRPr lang="en-US" dirty="0"/>
          </a:p>
        </p:txBody>
      </p:sp>
      <p:sp>
        <p:nvSpPr>
          <p:cNvPr id="60" name="TextBox 59"/>
          <p:cNvSpPr txBox="1"/>
          <p:nvPr/>
        </p:nvSpPr>
        <p:spPr>
          <a:xfrm>
            <a:off x="4463587" y="1871829"/>
            <a:ext cx="877163" cy="369332"/>
          </a:xfrm>
          <a:prstGeom prst="rect">
            <a:avLst/>
          </a:prstGeom>
          <a:noFill/>
        </p:spPr>
        <p:txBody>
          <a:bodyPr wrap="none" rtlCol="0">
            <a:spAutoFit/>
          </a:bodyPr>
          <a:lstStyle/>
          <a:p>
            <a:r>
              <a:rPr lang="zh-CN" altLang="en-US" dirty="0"/>
              <a:t>光栅化</a:t>
            </a:r>
            <a:endParaRPr lang="en-US" dirty="0"/>
          </a:p>
        </p:txBody>
      </p:sp>
      <p:sp>
        <p:nvSpPr>
          <p:cNvPr id="63" name="TextBox 62"/>
          <p:cNvSpPr txBox="1"/>
          <p:nvPr/>
        </p:nvSpPr>
        <p:spPr>
          <a:xfrm>
            <a:off x="5931776" y="1868077"/>
            <a:ext cx="1338828" cy="369332"/>
          </a:xfrm>
          <a:prstGeom prst="rect">
            <a:avLst/>
          </a:prstGeom>
          <a:noFill/>
        </p:spPr>
        <p:txBody>
          <a:bodyPr wrap="none" rtlCol="0">
            <a:spAutoFit/>
          </a:bodyPr>
          <a:lstStyle/>
          <a:p>
            <a:r>
              <a:rPr lang="zh-CN" altLang="en-US" dirty="0"/>
              <a:t>隐藏面消除</a:t>
            </a:r>
            <a:endParaRPr lang="en-US" dirty="0"/>
          </a:p>
        </p:txBody>
      </p:sp>
      <p:cxnSp>
        <p:nvCxnSpPr>
          <p:cNvPr id="64" name="Straight Arrow Connector 63"/>
          <p:cNvCxnSpPr/>
          <p:nvPr/>
        </p:nvCxnSpPr>
        <p:spPr>
          <a:xfrm rot="5400000" flipV="1">
            <a:off x="5434374" y="4960866"/>
            <a:ext cx="0" cy="411481"/>
          </a:xfrm>
          <a:prstGeom prst="straightConnector1">
            <a:avLst/>
          </a:prstGeom>
          <a:ln>
            <a:solidFill>
              <a:srgbClr val="FFC000"/>
            </a:solidFill>
            <a:tailEnd type="triangle"/>
          </a:ln>
        </p:spPr>
        <p:style>
          <a:lnRef idx="1">
            <a:schemeClr val="accent6"/>
          </a:lnRef>
          <a:fillRef idx="0">
            <a:schemeClr val="accent6"/>
          </a:fillRef>
          <a:effectRef idx="0">
            <a:schemeClr val="accent6"/>
          </a:effectRef>
          <a:fontRef idx="minor">
            <a:schemeClr val="tx1"/>
          </a:fontRef>
        </p:style>
      </p:cxnSp>
      <p:sp>
        <p:nvSpPr>
          <p:cNvPr id="65" name="Rectangle 64"/>
          <p:cNvSpPr/>
          <p:nvPr/>
        </p:nvSpPr>
        <p:spPr>
          <a:xfrm>
            <a:off x="661904" y="1836333"/>
            <a:ext cx="8295217" cy="4809066"/>
          </a:xfrm>
          <a:prstGeom prst="rect">
            <a:avLst/>
          </a:prstGeom>
          <a:solidFill>
            <a:schemeClr val="bg1">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TextBox 43"/>
          <p:cNvSpPr txBox="1"/>
          <p:nvPr/>
        </p:nvSpPr>
        <p:spPr>
          <a:xfrm>
            <a:off x="2750390" y="4959611"/>
            <a:ext cx="646331" cy="369332"/>
          </a:xfrm>
          <a:prstGeom prst="rect">
            <a:avLst/>
          </a:prstGeom>
          <a:noFill/>
        </p:spPr>
        <p:txBody>
          <a:bodyPr wrap="none" rtlCol="0">
            <a:spAutoFit/>
          </a:bodyPr>
          <a:lstStyle/>
          <a:p>
            <a:r>
              <a:rPr lang="zh-CN" altLang="en-US" dirty="0"/>
              <a:t>投影</a:t>
            </a:r>
            <a:endParaRPr lang="en-US" dirty="0"/>
          </a:p>
        </p:txBody>
      </p:sp>
      <p:sp>
        <p:nvSpPr>
          <p:cNvPr id="49" name="TextBox 48"/>
          <p:cNvSpPr txBox="1"/>
          <p:nvPr/>
        </p:nvSpPr>
        <p:spPr>
          <a:xfrm>
            <a:off x="2715172" y="6175912"/>
            <a:ext cx="663964" cy="369332"/>
          </a:xfrm>
          <a:prstGeom prst="rect">
            <a:avLst/>
          </a:prstGeom>
          <a:noFill/>
        </p:spPr>
        <p:txBody>
          <a:bodyPr wrap="none" rtlCol="0">
            <a:spAutoFit/>
          </a:bodyPr>
          <a:lstStyle/>
          <a:p>
            <a:r>
              <a:rPr lang="en-US" altLang="zh-CN" dirty="0"/>
              <a:t>Ch04</a:t>
            </a:r>
            <a:endParaRPr lang="en-US" dirty="0"/>
          </a:p>
        </p:txBody>
      </p:sp>
      <p:pic>
        <p:nvPicPr>
          <p:cNvPr id="53" name="图片 4"/>
          <p:cNvPicPr>
            <a:picLocks noChangeAspect="1"/>
          </p:cNvPicPr>
          <p:nvPr/>
        </p:nvPicPr>
        <p:blipFill>
          <a:blip r:embed="rId8"/>
          <a:stretch>
            <a:fillRect/>
          </a:stretch>
        </p:blipFill>
        <p:spPr>
          <a:xfrm>
            <a:off x="2623064" y="5354754"/>
            <a:ext cx="848180" cy="755539"/>
          </a:xfrm>
          <a:prstGeom prst="rect">
            <a:avLst/>
          </a:prstGeom>
        </p:spPr>
      </p:pic>
      <p:sp>
        <p:nvSpPr>
          <p:cNvPr id="37" name="TextBox 36"/>
          <p:cNvSpPr txBox="1"/>
          <p:nvPr/>
        </p:nvSpPr>
        <p:spPr>
          <a:xfrm>
            <a:off x="6047717" y="6180763"/>
            <a:ext cx="663964" cy="369332"/>
          </a:xfrm>
          <a:prstGeom prst="rect">
            <a:avLst/>
          </a:prstGeom>
          <a:noFill/>
        </p:spPr>
        <p:txBody>
          <a:bodyPr wrap="none" rtlCol="0">
            <a:spAutoFit/>
          </a:bodyPr>
          <a:lstStyle/>
          <a:p>
            <a:r>
              <a:rPr lang="en-US" altLang="zh-CN"/>
              <a:t>Ch05</a:t>
            </a:r>
            <a:endParaRPr lang="en-US" dirty="0"/>
          </a:p>
        </p:txBody>
      </p:sp>
      <p:pic>
        <p:nvPicPr>
          <p:cNvPr id="39" name="Picture 38"/>
          <p:cNvPicPr/>
          <p:nvPr/>
        </p:nvPicPr>
        <p:blipFill>
          <a:blip r:embed="rId9"/>
          <a:stretch>
            <a:fillRect/>
          </a:stretch>
        </p:blipFill>
        <p:spPr>
          <a:xfrm>
            <a:off x="5964822" y="5326651"/>
            <a:ext cx="825332" cy="872883"/>
          </a:xfrm>
          <a:prstGeom prst="rect">
            <a:avLst/>
          </a:prstGeom>
        </p:spPr>
      </p:pic>
      <p:pic>
        <p:nvPicPr>
          <p:cNvPr id="25" name="图片 3"/>
          <p:cNvPicPr>
            <a:picLocks noChangeAspect="1"/>
          </p:cNvPicPr>
          <p:nvPr/>
        </p:nvPicPr>
        <p:blipFill rotWithShape="1">
          <a:blip r:embed="rId10"/>
          <a:srcRect r="69644" b="27271"/>
          <a:stretch>
            <a:fillRect/>
          </a:stretch>
        </p:blipFill>
        <p:spPr>
          <a:xfrm>
            <a:off x="2036537" y="2200839"/>
            <a:ext cx="1089361" cy="1205426"/>
          </a:xfrm>
          <a:prstGeom prst="rect">
            <a:avLst/>
          </a:prstGeom>
        </p:spPr>
      </p:pic>
      <p:sp>
        <p:nvSpPr>
          <p:cNvPr id="26" name="TextBox 25"/>
          <p:cNvSpPr txBox="1"/>
          <p:nvPr/>
        </p:nvSpPr>
        <p:spPr>
          <a:xfrm>
            <a:off x="2579207" y="3133114"/>
            <a:ext cx="663964" cy="369332"/>
          </a:xfrm>
          <a:prstGeom prst="rect">
            <a:avLst/>
          </a:prstGeom>
          <a:noFill/>
        </p:spPr>
        <p:txBody>
          <a:bodyPr wrap="none" rtlCol="0">
            <a:spAutoFit/>
          </a:bodyPr>
          <a:lstStyle/>
          <a:p>
            <a:r>
              <a:rPr lang="en-US" altLang="zh-CN" dirty="0"/>
              <a:t>Ch08</a:t>
            </a:r>
            <a:endParaRPr lang="en-US" dirty="0"/>
          </a:p>
        </p:txBody>
      </p:sp>
      <p:cxnSp>
        <p:nvCxnSpPr>
          <p:cNvPr id="33" name="Straight Arrow Connector 32"/>
          <p:cNvCxnSpPr/>
          <p:nvPr/>
        </p:nvCxnSpPr>
        <p:spPr>
          <a:xfrm rot="16200000" flipV="1">
            <a:off x="2081649" y="2480166"/>
            <a:ext cx="0" cy="411481"/>
          </a:xfrm>
          <a:prstGeom prst="straightConnector1">
            <a:avLst/>
          </a:prstGeom>
          <a:ln>
            <a:headEnd type="triangle"/>
            <a:tailEnd type="none"/>
          </a:ln>
        </p:spPr>
        <p:style>
          <a:lnRef idx="1">
            <a:schemeClr val="accent6"/>
          </a:lnRef>
          <a:fillRef idx="0">
            <a:schemeClr val="accent6"/>
          </a:fillRef>
          <a:effectRef idx="0">
            <a:schemeClr val="accent6"/>
          </a:effectRef>
          <a:fontRef idx="minor">
            <a:schemeClr val="tx1"/>
          </a:fontRef>
        </p:style>
      </p:cxnSp>
      <p:sp>
        <p:nvSpPr>
          <p:cNvPr id="59" name="TextBox 58"/>
          <p:cNvSpPr txBox="1"/>
          <p:nvPr/>
        </p:nvSpPr>
        <p:spPr>
          <a:xfrm>
            <a:off x="2118346" y="1871829"/>
            <a:ext cx="1107996" cy="369332"/>
          </a:xfrm>
          <a:prstGeom prst="rect">
            <a:avLst/>
          </a:prstGeom>
          <a:noFill/>
        </p:spPr>
        <p:txBody>
          <a:bodyPr wrap="none" rtlCol="0">
            <a:spAutoFit/>
          </a:bodyPr>
          <a:lstStyle/>
          <a:p>
            <a:r>
              <a:rPr lang="zh-CN" altLang="en-US" dirty="0"/>
              <a:t>层级建模</a:t>
            </a:r>
            <a:endParaRPr lang="en-US" dirty="0"/>
          </a:p>
        </p:txBody>
      </p:sp>
      <p:sp>
        <p:nvSpPr>
          <p:cNvPr id="41" name="TextBox 40"/>
          <p:cNvSpPr txBox="1"/>
          <p:nvPr/>
        </p:nvSpPr>
        <p:spPr>
          <a:xfrm>
            <a:off x="7700333" y="3132769"/>
            <a:ext cx="663964" cy="369332"/>
          </a:xfrm>
          <a:prstGeom prst="rect">
            <a:avLst/>
          </a:prstGeom>
          <a:noFill/>
        </p:spPr>
        <p:txBody>
          <a:bodyPr wrap="none" rtlCol="0">
            <a:spAutoFit/>
          </a:bodyPr>
          <a:lstStyle/>
          <a:p>
            <a:r>
              <a:rPr lang="en-US" altLang="zh-CN" dirty="0"/>
              <a:t>Ch07</a:t>
            </a:r>
            <a:endParaRPr lang="en-US" dirty="0"/>
          </a:p>
        </p:txBody>
      </p:sp>
      <p:pic>
        <p:nvPicPr>
          <p:cNvPr id="42" name="图片 3"/>
          <p:cNvPicPr>
            <a:picLocks noChangeAspect="1"/>
          </p:cNvPicPr>
          <p:nvPr/>
        </p:nvPicPr>
        <p:blipFill rotWithShape="1">
          <a:blip r:embed="rId11"/>
          <a:srcRect l="49770" r="2105" b="12188"/>
          <a:stretch>
            <a:fillRect/>
          </a:stretch>
        </p:blipFill>
        <p:spPr>
          <a:xfrm>
            <a:off x="7545021" y="2263001"/>
            <a:ext cx="959732" cy="887091"/>
          </a:xfrm>
          <a:prstGeom prst="rect">
            <a:avLst/>
          </a:prstGeom>
        </p:spPr>
      </p:pic>
      <p:sp>
        <p:nvSpPr>
          <p:cNvPr id="62" name="TextBox 61"/>
          <p:cNvSpPr txBox="1"/>
          <p:nvPr/>
        </p:nvSpPr>
        <p:spPr>
          <a:xfrm>
            <a:off x="7457576" y="1871829"/>
            <a:ext cx="1107996" cy="369332"/>
          </a:xfrm>
          <a:prstGeom prst="rect">
            <a:avLst/>
          </a:prstGeom>
          <a:noFill/>
        </p:spPr>
        <p:txBody>
          <a:bodyPr wrap="none" rtlCol="0">
            <a:spAutoFit/>
          </a:bodyPr>
          <a:lstStyle/>
          <a:p>
            <a:r>
              <a:rPr lang="zh-CN" altLang="en-US" dirty="0"/>
              <a:t>纹理映射</a:t>
            </a:r>
            <a:endParaRPr lang="en-US" dirty="0"/>
          </a:p>
        </p:txBody>
      </p:sp>
      <p:sp>
        <p:nvSpPr>
          <p:cNvPr id="35" name="TextBox 34"/>
          <p:cNvSpPr txBox="1"/>
          <p:nvPr/>
        </p:nvSpPr>
        <p:spPr>
          <a:xfrm>
            <a:off x="922757" y="4959611"/>
            <a:ext cx="1178528" cy="369332"/>
          </a:xfrm>
          <a:prstGeom prst="rect">
            <a:avLst/>
          </a:prstGeom>
          <a:noFill/>
        </p:spPr>
        <p:txBody>
          <a:bodyPr wrap="none" rtlCol="0">
            <a:spAutoFit/>
          </a:bodyPr>
          <a:lstStyle/>
          <a:p>
            <a:r>
              <a:rPr lang="zh-CN" altLang="en-US"/>
              <a:t>模</a:t>
            </a:r>
            <a:r>
              <a:rPr lang="en-US" altLang="zh-CN" dirty="0"/>
              <a:t>-</a:t>
            </a:r>
            <a:r>
              <a:rPr lang="zh-CN" altLang="en-US" dirty="0"/>
              <a:t>视变换</a:t>
            </a:r>
            <a:endParaRPr lang="en-US" dirty="0"/>
          </a:p>
        </p:txBody>
      </p:sp>
      <p:sp>
        <p:nvSpPr>
          <p:cNvPr id="48" name="TextBox 47"/>
          <p:cNvSpPr txBox="1"/>
          <p:nvPr/>
        </p:nvSpPr>
        <p:spPr>
          <a:xfrm>
            <a:off x="1125615" y="6175912"/>
            <a:ext cx="663964" cy="369332"/>
          </a:xfrm>
          <a:prstGeom prst="rect">
            <a:avLst/>
          </a:prstGeom>
          <a:noFill/>
        </p:spPr>
        <p:txBody>
          <a:bodyPr wrap="none" rtlCol="0">
            <a:spAutoFit/>
          </a:bodyPr>
          <a:lstStyle/>
          <a:p>
            <a:r>
              <a:rPr lang="en-US" altLang="zh-CN" dirty="0"/>
              <a:t>Ch03</a:t>
            </a:r>
            <a:endParaRPr lang="en-US" dirty="0"/>
          </a:p>
        </p:txBody>
      </p:sp>
      <p:pic>
        <p:nvPicPr>
          <p:cNvPr id="52" name="Picture 2" descr="E:\CG\交互式计算机图形学—基于OpenGL着色器的自顶向下方法（第六版）\Figures\CHAPTER03 JPEG\an03f36.jpg"/>
          <p:cNvPicPr>
            <a:picLocks noChangeAspect="1" noChangeArrowheads="1"/>
          </p:cNvPicPr>
          <p:nvPr/>
        </p:nvPicPr>
        <p:blipFill>
          <a:blip r:embed="rId12" cstate="print"/>
          <a:srcRect/>
          <a:stretch>
            <a:fillRect/>
          </a:stretch>
        </p:blipFill>
        <p:spPr bwMode="auto">
          <a:xfrm>
            <a:off x="1017356" y="5368750"/>
            <a:ext cx="947662" cy="813837"/>
          </a:xfrm>
          <a:prstGeom prst="rect">
            <a:avLst/>
          </a:prstGeom>
          <a:noFill/>
        </p:spPr>
      </p:pic>
      <p:sp>
        <p:nvSpPr>
          <p:cNvPr id="66" name="TextBox 65"/>
          <p:cNvSpPr txBox="1"/>
          <p:nvPr/>
        </p:nvSpPr>
        <p:spPr>
          <a:xfrm>
            <a:off x="5825176" y="4956898"/>
            <a:ext cx="1107996" cy="369332"/>
          </a:xfrm>
          <a:prstGeom prst="rect">
            <a:avLst/>
          </a:prstGeom>
          <a:noFill/>
        </p:spPr>
        <p:txBody>
          <a:bodyPr wrap="none" rtlCol="0">
            <a:spAutoFit/>
          </a:bodyPr>
          <a:lstStyle/>
          <a:p>
            <a:r>
              <a:rPr lang="zh-CN" altLang="en-US"/>
              <a:t>明暗绘制</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3200401" y="2094748"/>
            <a:ext cx="3032598" cy="796287"/>
          </a:xfrm>
          <a:prstGeom prst="roundRect">
            <a:avLst>
              <a:gd name="adj" fmla="val 50000"/>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角矩形 2"/>
          <p:cNvSpPr/>
          <p:nvPr/>
        </p:nvSpPr>
        <p:spPr>
          <a:xfrm>
            <a:off x="5418743" y="2115257"/>
            <a:ext cx="788833" cy="749851"/>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大纲</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10</a:t>
            </a:fld>
            <a:endParaRPr lang="zh-CN" altLang="en-US"/>
          </a:p>
        </p:txBody>
      </p:sp>
      <p:sp>
        <p:nvSpPr>
          <p:cNvPr id="8" name="文本框 7"/>
          <p:cNvSpPr txBox="1"/>
          <p:nvPr/>
        </p:nvSpPr>
        <p:spPr>
          <a:xfrm>
            <a:off x="3577008" y="3364107"/>
            <a:ext cx="2233304" cy="646331"/>
          </a:xfrm>
          <a:prstGeom prst="rect">
            <a:avLst/>
          </a:prstGeom>
          <a:noFill/>
        </p:spPr>
        <p:txBody>
          <a:bodyPr wrap="none" rtlCol="0">
            <a:spAutoFit/>
          </a:bodyPr>
          <a:lstStyle/>
          <a:p>
            <a:pPr algn="ctr"/>
            <a:r>
              <a:rPr lang="zh-CN" altLang="en-US" sz="3600" b="1" dirty="0">
                <a:latin typeface="微软雅黑" panose="020B0503020204020204" pitchFamily="34" charset="-122"/>
                <a:ea typeface="微软雅黑" panose="020B0503020204020204" pitchFamily="34" charset="-122"/>
              </a:rPr>
              <a:t>模</a:t>
            </a:r>
            <a:r>
              <a:rPr lang="en-US" altLang="zh-CN" sz="3600" b="1" dirty="0">
                <a:latin typeface="微软雅黑" panose="020B0503020204020204" pitchFamily="34" charset="-122"/>
                <a:ea typeface="微软雅黑" panose="020B0503020204020204" pitchFamily="34" charset="-122"/>
              </a:rPr>
              <a:t>-</a:t>
            </a:r>
            <a:r>
              <a:rPr lang="zh-CN" altLang="en-US" sz="3600" b="1" dirty="0">
                <a:latin typeface="微软雅黑" panose="020B0503020204020204" pitchFamily="34" charset="-122"/>
                <a:ea typeface="微软雅黑" panose="020B0503020204020204" pitchFamily="34" charset="-122"/>
              </a:rPr>
              <a:t>视变换</a:t>
            </a:r>
          </a:p>
        </p:txBody>
      </p:sp>
      <p:sp>
        <p:nvSpPr>
          <p:cNvPr id="11" name="文本框 10"/>
          <p:cNvSpPr txBox="1"/>
          <p:nvPr/>
        </p:nvSpPr>
        <p:spPr>
          <a:xfrm>
            <a:off x="3376147" y="2138948"/>
            <a:ext cx="1755609" cy="707886"/>
          </a:xfrm>
          <a:prstGeom prst="rect">
            <a:avLst/>
          </a:prstGeom>
          <a:noFill/>
        </p:spPr>
        <p:txBody>
          <a:bodyPr wrap="none" rtlCol="0">
            <a:spAutoFit/>
          </a:bodyPr>
          <a:lstStyle/>
          <a:p>
            <a:pPr algn="ctr"/>
            <a:r>
              <a:rPr lang="en-US" altLang="zh-CN" sz="4000" b="1" dirty="0">
                <a:solidFill>
                  <a:schemeClr val="bg1"/>
                </a:solidFill>
              </a:rPr>
              <a:t>Section</a:t>
            </a:r>
            <a:endParaRPr lang="zh-CN" altLang="en-US" sz="4000" b="1" dirty="0">
              <a:solidFill>
                <a:schemeClr val="bg1"/>
              </a:solidFill>
            </a:endParaRPr>
          </a:p>
        </p:txBody>
      </p:sp>
      <p:sp>
        <p:nvSpPr>
          <p:cNvPr id="12" name="文本框 11"/>
          <p:cNvSpPr txBox="1"/>
          <p:nvPr/>
        </p:nvSpPr>
        <p:spPr>
          <a:xfrm>
            <a:off x="5523180" y="1913900"/>
            <a:ext cx="614271" cy="1107996"/>
          </a:xfrm>
          <a:prstGeom prst="rect">
            <a:avLst/>
          </a:prstGeom>
          <a:noFill/>
        </p:spPr>
        <p:txBody>
          <a:bodyPr wrap="none" rtlCol="0">
            <a:spAutoFit/>
          </a:bodyPr>
          <a:lstStyle/>
          <a:p>
            <a:pPr algn="ctr"/>
            <a:r>
              <a:rPr lang="en-US" altLang="zh-CN" sz="6600" b="1" i="1" dirty="0">
                <a:solidFill>
                  <a:srgbClr val="94003F"/>
                </a:solidFill>
              </a:rPr>
              <a:t>1</a:t>
            </a:r>
            <a:endParaRPr lang="zh-CN" altLang="en-US" sz="6600" b="1" i="1" dirty="0">
              <a:solidFill>
                <a:srgbClr val="94003F"/>
              </a:solidFill>
            </a:endParaRPr>
          </a:p>
        </p:txBody>
      </p:sp>
      <p:sp>
        <p:nvSpPr>
          <p:cNvPr id="6" name="等腰三角形 5"/>
          <p:cNvSpPr/>
          <p:nvPr/>
        </p:nvSpPr>
        <p:spPr>
          <a:xfrm rot="10800000">
            <a:off x="4447572" y="2804325"/>
            <a:ext cx="492176" cy="321924"/>
          </a:xfrm>
          <a:prstGeom prst="triangl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模</a:t>
            </a:r>
            <a:r>
              <a:rPr lang="en-US" altLang="zh-CN" dirty="0"/>
              <a:t>-</a:t>
            </a:r>
            <a:r>
              <a:rPr lang="zh-CN" altLang="en-US" dirty="0"/>
              <a:t>视变换</a:t>
            </a:r>
          </a:p>
        </p:txBody>
      </p:sp>
      <p:sp>
        <p:nvSpPr>
          <p:cNvPr id="3" name="Content Placeholder 2"/>
          <p:cNvSpPr>
            <a:spLocks noGrp="1"/>
          </p:cNvSpPr>
          <p:nvPr>
            <p:ph idx="1"/>
          </p:nvPr>
        </p:nvSpPr>
        <p:spPr/>
        <p:txBody>
          <a:bodyPr>
            <a:normAutofit/>
          </a:bodyPr>
          <a:lstStyle/>
          <a:p>
            <a:r>
              <a:rPr lang="zh-CN" altLang="en-US" sz="2400" dirty="0"/>
              <a:t>目标：</a:t>
            </a:r>
            <a:endParaRPr lang="en-US" altLang="zh-CN" sz="2400" dirty="0"/>
          </a:p>
          <a:p>
            <a:pPr lvl="1"/>
            <a:r>
              <a:rPr lang="zh-CN" altLang="en-US" sz="1800" dirty="0">
                <a:solidFill>
                  <a:srgbClr val="0000FF"/>
                </a:solidFill>
              </a:rPr>
              <a:t>确定几何对象和相机的相对位置关系</a:t>
            </a:r>
            <a:endParaRPr lang="en-US" altLang="zh-CN" sz="1800" dirty="0">
              <a:solidFill>
                <a:srgbClr val="0000FF"/>
              </a:solidFill>
            </a:endParaRPr>
          </a:p>
          <a:p>
            <a:endParaRPr lang="en-US" altLang="zh-CN" sz="2400" dirty="0"/>
          </a:p>
          <a:p>
            <a:r>
              <a:rPr lang="zh-CN" altLang="en-US" sz="2400" dirty="0"/>
              <a:t>方式：</a:t>
            </a:r>
            <a:endParaRPr lang="en-US" altLang="zh-CN" sz="2400" dirty="0"/>
          </a:p>
          <a:p>
            <a:pPr lvl="1"/>
            <a:r>
              <a:rPr lang="zh-CN" altLang="en-US" sz="1800" dirty="0">
                <a:solidFill>
                  <a:srgbClr val="0000FF"/>
                </a:solidFill>
              </a:rPr>
              <a:t>通过标架之间的变换实现</a:t>
            </a:r>
            <a:endParaRPr lang="en-US" sz="1800" dirty="0">
              <a:solidFill>
                <a:srgbClr val="0000FF"/>
              </a:solidFill>
            </a:endParaRPr>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t>11</a:t>
            </a:fld>
            <a:endParaRPr lang="zh-CN" altLang="en-US" dirty="0"/>
          </a:p>
        </p:txBody>
      </p:sp>
      <p:pic>
        <p:nvPicPr>
          <p:cNvPr id="5" name="图片 5"/>
          <p:cNvPicPr>
            <a:picLocks noChangeAspect="1"/>
          </p:cNvPicPr>
          <p:nvPr/>
        </p:nvPicPr>
        <p:blipFill>
          <a:blip r:embed="rId2"/>
          <a:stretch>
            <a:fillRect/>
          </a:stretch>
        </p:blipFill>
        <p:spPr>
          <a:xfrm>
            <a:off x="1382312" y="4031912"/>
            <a:ext cx="2045672" cy="1827208"/>
          </a:xfrm>
          <a:prstGeom prst="rect">
            <a:avLst/>
          </a:prstGeom>
        </p:spPr>
      </p:pic>
      <p:pic>
        <p:nvPicPr>
          <p:cNvPr id="6" name="图片 6"/>
          <p:cNvPicPr>
            <a:picLocks noChangeAspect="1"/>
          </p:cNvPicPr>
          <p:nvPr/>
        </p:nvPicPr>
        <p:blipFill rotWithShape="1">
          <a:blip r:embed="rId3"/>
          <a:srcRect b="5069"/>
          <a:stretch>
            <a:fillRect/>
          </a:stretch>
        </p:blipFill>
        <p:spPr>
          <a:xfrm>
            <a:off x="5177994" y="2959301"/>
            <a:ext cx="2533014" cy="2899819"/>
          </a:xfrm>
          <a:prstGeom prst="rect">
            <a:avLst/>
          </a:prstGeom>
        </p:spPr>
      </p:pic>
      <p:sp>
        <p:nvSpPr>
          <p:cNvPr id="7" name="文本框 7"/>
          <p:cNvSpPr txBox="1"/>
          <p:nvPr/>
        </p:nvSpPr>
        <p:spPr>
          <a:xfrm>
            <a:off x="1953742" y="6035212"/>
            <a:ext cx="902811" cy="307777"/>
          </a:xfrm>
          <a:prstGeom prst="rect">
            <a:avLst/>
          </a:prstGeom>
          <a:noFill/>
        </p:spPr>
        <p:txBody>
          <a:bodyPr wrap="none" rtlCol="0">
            <a:spAutoFit/>
          </a:bodyPr>
          <a:lstStyle/>
          <a:p>
            <a:pPr algn="ctr"/>
            <a:r>
              <a:rPr lang="zh-CN" altLang="en-US" sz="1400" b="1" dirty="0">
                <a:latin typeface="微软雅黑" panose="020B0503020204020204" pitchFamily="34" charset="-122"/>
                <a:ea typeface="微软雅黑" panose="020B0503020204020204" pitchFamily="34" charset="-122"/>
              </a:rPr>
              <a:t>初始标架</a:t>
            </a:r>
          </a:p>
        </p:txBody>
      </p:sp>
      <p:sp>
        <p:nvSpPr>
          <p:cNvPr id="8" name="文本框 8"/>
          <p:cNvSpPr txBox="1"/>
          <p:nvPr/>
        </p:nvSpPr>
        <p:spPr>
          <a:xfrm>
            <a:off x="5903327" y="6035212"/>
            <a:ext cx="1082348" cy="307777"/>
          </a:xfrm>
          <a:prstGeom prst="rect">
            <a:avLst/>
          </a:prstGeom>
          <a:noFill/>
        </p:spPr>
        <p:txBody>
          <a:bodyPr wrap="none" rtlCol="0">
            <a:spAutoFit/>
          </a:bodyPr>
          <a:lstStyle/>
          <a:p>
            <a:pPr algn="ctr"/>
            <a:r>
              <a:rPr lang="zh-CN" altLang="en-US" sz="1400" b="1" dirty="0">
                <a:latin typeface="微软雅黑" panose="020B0503020204020204" pitchFamily="34" charset="-122"/>
                <a:ea typeface="微软雅黑" panose="020B0503020204020204" pitchFamily="34" charset="-122"/>
              </a:rPr>
              <a:t>变换后标架</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0" presetClass="entr" presetSubtype="0" fill="hold" nodeType="with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500"/>
                                        <p:tgtEl>
                                          <p:spTgt spid="5"/>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500"/>
                                        <p:tgtEl>
                                          <p:spTgt spid="7"/>
                                        </p:tgtEl>
                                      </p:cBhvr>
                                    </p:animEffect>
                                  </p:childTnLst>
                                </p:cTn>
                              </p:par>
                              <p:par>
                                <p:cTn id="29" presetID="10" presetClass="entr" presetSubtype="0" fill="hold" nodeType="with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fade">
                                      <p:cBhvr>
                                        <p:cTn id="31" dur="500"/>
                                        <p:tgtEl>
                                          <p:spTgt spid="6"/>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2"/>
          <a:stretch>
            <a:fillRect/>
          </a:stretch>
        </p:blipFill>
        <p:spPr>
          <a:xfrm>
            <a:off x="3431266" y="1842882"/>
            <a:ext cx="5187801" cy="2208797"/>
          </a:xfrm>
          <a:prstGeom prst="rect">
            <a:avLst/>
          </a:prstGeom>
        </p:spPr>
      </p:pic>
      <p:sp>
        <p:nvSpPr>
          <p:cNvPr id="2" name="标题 1"/>
          <p:cNvSpPr>
            <a:spLocks noGrp="1"/>
          </p:cNvSpPr>
          <p:nvPr>
            <p:ph type="title"/>
          </p:nvPr>
        </p:nvSpPr>
        <p:spPr/>
        <p:txBody>
          <a:bodyPr/>
          <a:lstStyle/>
          <a:p>
            <a:r>
              <a:rPr lang="en-US" altLang="zh-CN" dirty="0"/>
              <a:t>OpenGL</a:t>
            </a:r>
            <a:r>
              <a:rPr lang="zh-CN" altLang="en-US" dirty="0"/>
              <a:t>中的标架</a:t>
            </a:r>
          </a:p>
        </p:txBody>
      </p:sp>
      <p:sp>
        <p:nvSpPr>
          <p:cNvPr id="3" name="内容占位符 2"/>
          <p:cNvSpPr>
            <a:spLocks noGrp="1"/>
          </p:cNvSpPr>
          <p:nvPr>
            <p:ph idx="1"/>
          </p:nvPr>
        </p:nvSpPr>
        <p:spPr>
          <a:xfrm>
            <a:off x="628650" y="1316830"/>
            <a:ext cx="7886700" cy="5067037"/>
          </a:xfrm>
        </p:spPr>
        <p:txBody>
          <a:bodyPr>
            <a:normAutofit/>
          </a:bodyPr>
          <a:lstStyle/>
          <a:p>
            <a:r>
              <a:rPr lang="en-US" altLang="zh-CN" sz="2400" dirty="0"/>
              <a:t>OpenGL</a:t>
            </a:r>
            <a:r>
              <a:rPr lang="zh-CN" altLang="en-US" sz="2400" dirty="0"/>
              <a:t>固定管线中的</a:t>
            </a:r>
            <a:r>
              <a:rPr lang="en-US" altLang="zh-CN" sz="2400" dirty="0"/>
              <a:t>6</a:t>
            </a:r>
            <a:r>
              <a:rPr lang="zh-CN" altLang="en-US" sz="2400" dirty="0"/>
              <a:t>个标架</a:t>
            </a:r>
            <a:r>
              <a:rPr lang="en-US" altLang="zh-CN" sz="2400" dirty="0"/>
              <a:t>:</a:t>
            </a:r>
            <a:endParaRPr lang="en-US" altLang="zh-CN" sz="1800" dirty="0"/>
          </a:p>
          <a:p>
            <a:pPr lvl="1">
              <a:buClr>
                <a:schemeClr val="tx1"/>
              </a:buClr>
            </a:pPr>
            <a:r>
              <a:rPr lang="zh-CN" altLang="en-US" sz="1800" dirty="0">
                <a:solidFill>
                  <a:srgbClr val="00B0F0"/>
                </a:solidFill>
              </a:rPr>
              <a:t>模型坐标系</a:t>
            </a:r>
          </a:p>
          <a:p>
            <a:pPr lvl="1">
              <a:buClr>
                <a:schemeClr val="tx1"/>
              </a:buClr>
            </a:pPr>
            <a:r>
              <a:rPr lang="zh-CN" altLang="en-US" sz="1800" dirty="0">
                <a:solidFill>
                  <a:srgbClr val="FF91C8"/>
                </a:solidFill>
              </a:rPr>
              <a:t>世界坐标系</a:t>
            </a:r>
          </a:p>
          <a:p>
            <a:pPr lvl="1">
              <a:buClr>
                <a:schemeClr val="tx1"/>
              </a:buClr>
            </a:pPr>
            <a:r>
              <a:rPr lang="zh-CN" altLang="en-US" sz="1800" dirty="0">
                <a:solidFill>
                  <a:srgbClr val="00B050"/>
                </a:solidFill>
              </a:rPr>
              <a:t>相机坐标系</a:t>
            </a:r>
          </a:p>
          <a:p>
            <a:pPr lvl="1">
              <a:buClr>
                <a:schemeClr val="tx1"/>
              </a:buClr>
            </a:pPr>
            <a:r>
              <a:rPr lang="zh-CN" altLang="en-US" sz="1800" dirty="0"/>
              <a:t>裁剪坐标系</a:t>
            </a:r>
            <a:endParaRPr lang="en-US" altLang="zh-CN" sz="1800" dirty="0"/>
          </a:p>
          <a:p>
            <a:pPr lvl="1">
              <a:buClr>
                <a:schemeClr val="tx1"/>
              </a:buClr>
            </a:pPr>
            <a:r>
              <a:rPr lang="zh-CN" altLang="en-US" sz="1800" dirty="0"/>
              <a:t>规范化的设备坐标系</a:t>
            </a:r>
            <a:endParaRPr lang="en-US" altLang="zh-CN" sz="1800" dirty="0"/>
          </a:p>
          <a:p>
            <a:pPr lvl="1">
              <a:buClr>
                <a:schemeClr val="tx1"/>
              </a:buClr>
            </a:pPr>
            <a:r>
              <a:rPr lang="zh-CN" altLang="en-US" sz="1800" dirty="0"/>
              <a:t>屏幕坐标系</a:t>
            </a:r>
            <a:endParaRPr lang="en-US" altLang="zh-CN" sz="1800" dirty="0"/>
          </a:p>
          <a:p>
            <a:pPr lvl="1">
              <a:buClr>
                <a:schemeClr val="tx1"/>
              </a:buClr>
            </a:pPr>
            <a:endParaRPr lang="en-US" altLang="zh-CN" sz="1800" dirty="0"/>
          </a:p>
          <a:p>
            <a:endParaRPr lang="en-US" altLang="zh-CN" sz="2400" dirty="0"/>
          </a:p>
          <a:p>
            <a:r>
              <a:rPr lang="zh-CN" altLang="en-US" sz="2400" dirty="0"/>
              <a:t>标架中的坐标采用</a:t>
            </a:r>
            <a:r>
              <a:rPr lang="zh-CN" altLang="en-US" sz="2400" dirty="0">
                <a:solidFill>
                  <a:srgbClr val="0000FF"/>
                </a:solidFill>
              </a:rPr>
              <a:t>齐次坐标</a:t>
            </a:r>
            <a:r>
              <a:rPr lang="zh-CN" altLang="en-US" sz="2400" dirty="0"/>
              <a:t>表示</a:t>
            </a:r>
            <a:endParaRPr lang="en-US" altLang="zh-CN" sz="2400" dirty="0"/>
          </a:p>
          <a:p>
            <a:r>
              <a:rPr lang="zh-CN" altLang="en-US" sz="2400" dirty="0"/>
              <a:t>标架之间的变换用</a:t>
            </a:r>
            <a:r>
              <a:rPr lang="zh-CN" altLang="en-US" sz="2400" dirty="0">
                <a:solidFill>
                  <a:srgbClr val="0000FF"/>
                </a:solidFill>
              </a:rPr>
              <a:t>仿射变换</a:t>
            </a:r>
            <a:r>
              <a:rPr lang="zh-CN" altLang="en-US" sz="2400" dirty="0"/>
              <a:t>矩阵实现</a:t>
            </a:r>
            <a:endParaRPr lang="en-US" altLang="zh-CN" sz="2400" dirty="0"/>
          </a:p>
          <a:p>
            <a:endParaRPr lang="en-US" altLang="zh-CN" sz="2400" dirty="0"/>
          </a:p>
          <a:p>
            <a:pPr lvl="1">
              <a:buClr>
                <a:schemeClr val="tx1"/>
              </a:buClr>
            </a:pPr>
            <a:endParaRPr lang="en-US" altLang="zh-CN" sz="1800" dirty="0"/>
          </a:p>
          <a:p>
            <a:pPr lvl="1">
              <a:buClr>
                <a:schemeClr val="tx1"/>
              </a:buClr>
            </a:pPr>
            <a:endParaRPr lang="en-US" altLang="zh-CN" sz="1800" dirty="0"/>
          </a:p>
          <a:p>
            <a:pPr marL="0" indent="0">
              <a:buNone/>
            </a:pPr>
            <a:endParaRPr lang="en-US" altLang="zh-CN" dirty="0"/>
          </a:p>
          <a:p>
            <a:endParaRPr lang="en-US" altLang="zh-CN" dirty="0"/>
          </a:p>
          <a:p>
            <a:pPr marL="0" indent="0">
              <a:buNone/>
            </a:pPr>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12</a:t>
            </a:fld>
            <a:endParaRPr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点与向量的混淆</a:t>
            </a:r>
            <a:br>
              <a:rPr lang="zh-CN" altLang="en-US" dirty="0"/>
            </a:b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628650" y="1316830"/>
                <a:ext cx="7886700" cy="4442947"/>
              </a:xfrm>
            </p:spPr>
            <p:txBody>
              <a:bodyPr>
                <a:normAutofit/>
              </a:bodyPr>
              <a:lstStyle/>
              <a:p>
                <a:r>
                  <a:rPr lang="zh-CN" altLang="en-US" dirty="0"/>
                  <a:t>考虑点与向量</a:t>
                </a:r>
              </a:p>
              <a:p>
                <a:pPr lvl="1">
                  <a:buClr>
                    <a:schemeClr val="tx1"/>
                  </a:buClr>
                </a:pPr>
                <a14:m>
                  <m:oMath xmlns:m="http://schemas.openxmlformats.org/officeDocument/2006/math">
                    <m:r>
                      <a:rPr lang="en-US" altLang="zh-CN" i="1" dirty="0" smtClean="0">
                        <a:latin typeface="Cambria Math" panose="02040503050406030204" charset="0"/>
                      </a:rPr>
                      <m:t>𝑣</m:t>
                    </m:r>
                    <m:r>
                      <a:rPr lang="en-US" altLang="zh-CN" i="1" dirty="0" smtClean="0">
                        <a:latin typeface="Cambria Math" panose="02040503050406030204" charset="0"/>
                      </a:rPr>
                      <m:t> = </m:t>
                    </m:r>
                    <m:r>
                      <a:rPr lang="el-GR" altLang="zh-CN" i="1" dirty="0">
                        <a:latin typeface="Cambria Math" panose="02040503050406030204" charset="0"/>
                      </a:rPr>
                      <m:t>𝛼</m:t>
                    </m:r>
                    <m:r>
                      <a:rPr lang="el-GR" altLang="zh-CN" i="1" baseline="-25000" dirty="0">
                        <a:latin typeface="Cambria Math" panose="02040503050406030204" charset="0"/>
                      </a:rPr>
                      <m:t>1</m:t>
                    </m:r>
                    <m:r>
                      <a:rPr lang="en-US" altLang="zh-CN" i="1" dirty="0">
                        <a:latin typeface="Cambria Math" panose="02040503050406030204" charset="0"/>
                      </a:rPr>
                      <m:t>𝑣</m:t>
                    </m:r>
                    <m:r>
                      <a:rPr lang="en-US" altLang="zh-CN" i="1" baseline="-25000" dirty="0">
                        <a:latin typeface="Cambria Math" panose="02040503050406030204" charset="0"/>
                      </a:rPr>
                      <m:t>1</m:t>
                    </m:r>
                    <m:r>
                      <a:rPr lang="en-US" altLang="zh-CN" i="1" dirty="0">
                        <a:latin typeface="Cambria Math" panose="02040503050406030204" charset="0"/>
                      </a:rPr>
                      <m:t>+ </m:t>
                    </m:r>
                    <m:r>
                      <a:rPr lang="el-GR" altLang="zh-CN" i="1" dirty="0">
                        <a:latin typeface="Cambria Math" panose="02040503050406030204" charset="0"/>
                      </a:rPr>
                      <m:t>𝛼</m:t>
                    </m:r>
                    <m:r>
                      <a:rPr lang="el-GR" altLang="zh-CN" i="1" baseline="-25000" dirty="0">
                        <a:latin typeface="Cambria Math" panose="02040503050406030204" charset="0"/>
                      </a:rPr>
                      <m:t>2</m:t>
                    </m:r>
                    <m:r>
                      <a:rPr lang="en-US" altLang="zh-CN" i="1" dirty="0">
                        <a:latin typeface="Cambria Math" panose="02040503050406030204" charset="0"/>
                      </a:rPr>
                      <m:t>𝑣</m:t>
                    </m:r>
                    <m:r>
                      <a:rPr lang="en-US" altLang="zh-CN" i="1" baseline="-25000" dirty="0">
                        <a:latin typeface="Cambria Math" panose="02040503050406030204" charset="0"/>
                      </a:rPr>
                      <m:t>2</m:t>
                    </m:r>
                    <m:r>
                      <a:rPr lang="en-US" altLang="zh-CN" i="1" dirty="0">
                        <a:latin typeface="Cambria Math" panose="02040503050406030204" charset="0"/>
                      </a:rPr>
                      <m:t> +…+ </m:t>
                    </m:r>
                    <m:r>
                      <a:rPr lang="el-GR" altLang="zh-CN" i="1" dirty="0">
                        <a:latin typeface="Cambria Math" panose="02040503050406030204" charset="0"/>
                      </a:rPr>
                      <m:t>𝛼</m:t>
                    </m:r>
                    <m:r>
                      <a:rPr lang="en-US" altLang="zh-CN" i="1" baseline="-25000" dirty="0" err="1">
                        <a:latin typeface="Cambria Math" panose="02040503050406030204" charset="0"/>
                      </a:rPr>
                      <m:t>𝑛</m:t>
                    </m:r>
                    <m:r>
                      <a:rPr lang="en-US" altLang="zh-CN" i="1" dirty="0" err="1">
                        <a:latin typeface="Cambria Math" panose="02040503050406030204" charset="0"/>
                      </a:rPr>
                      <m:t>𝑣</m:t>
                    </m:r>
                    <m:r>
                      <a:rPr lang="en-US" altLang="zh-CN" i="1" baseline="-25000" dirty="0" err="1">
                        <a:latin typeface="Cambria Math" panose="02040503050406030204" charset="0"/>
                      </a:rPr>
                      <m:t>𝑛</m:t>
                    </m:r>
                  </m:oMath>
                </a14:m>
                <a:endParaRPr lang="en-US" altLang="zh-CN" baseline="-25000" dirty="0"/>
              </a:p>
              <a:p>
                <a:pPr lvl="1">
                  <a:buClr>
                    <a:schemeClr val="tx1"/>
                  </a:buClr>
                </a:pPr>
                <a14:m>
                  <m:oMath xmlns:m="http://schemas.openxmlformats.org/officeDocument/2006/math">
                    <m:r>
                      <a:rPr lang="pt-BR" altLang="zh-CN" i="1" dirty="0" smtClean="0">
                        <a:latin typeface="Cambria Math" panose="02040503050406030204" charset="0"/>
                      </a:rPr>
                      <m:t>𝑃</m:t>
                    </m:r>
                    <m:r>
                      <a:rPr lang="pt-BR" altLang="zh-CN" i="1" dirty="0" smtClean="0">
                        <a:latin typeface="Cambria Math" panose="02040503050406030204" charset="0"/>
                      </a:rPr>
                      <m:t> =</m:t>
                    </m:r>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charset="0"/>
                          </a:rPr>
                          <m:t>𝑃</m:t>
                        </m:r>
                      </m:e>
                      <m:sub>
                        <m:r>
                          <a:rPr lang="en-US" altLang="zh-CN" b="0" i="1" dirty="0" smtClean="0">
                            <a:latin typeface="Cambria Math" panose="02040503050406030204" charset="0"/>
                          </a:rPr>
                          <m:t>0</m:t>
                        </m:r>
                      </m:sub>
                    </m:sSub>
                    <m:r>
                      <a:rPr lang="pt-BR" altLang="zh-CN" i="1" dirty="0" smtClean="0">
                        <a:latin typeface="Cambria Math" panose="02040503050406030204" charset="0"/>
                      </a:rPr>
                      <m:t>+ </m:t>
                    </m:r>
                    <m:r>
                      <a:rPr lang="pt-BR" altLang="zh-CN" i="1" dirty="0" smtClean="0">
                        <a:latin typeface="Cambria Math" panose="02040503050406030204" charset="0"/>
                      </a:rPr>
                      <m:t>𝛽</m:t>
                    </m:r>
                    <m:r>
                      <a:rPr lang="pt-BR" altLang="zh-CN" i="1" baseline="-25000" dirty="0">
                        <a:latin typeface="Cambria Math" panose="02040503050406030204" charset="0"/>
                      </a:rPr>
                      <m:t>1</m:t>
                    </m:r>
                    <m:r>
                      <a:rPr lang="pt-BR" altLang="zh-CN" i="1" dirty="0">
                        <a:latin typeface="Cambria Math" panose="02040503050406030204" charset="0"/>
                      </a:rPr>
                      <m:t>𝑣</m:t>
                    </m:r>
                    <m:r>
                      <a:rPr lang="pt-BR" altLang="zh-CN" i="1" baseline="-25000" dirty="0">
                        <a:latin typeface="Cambria Math" panose="02040503050406030204" charset="0"/>
                      </a:rPr>
                      <m:t>1</m:t>
                    </m:r>
                    <m:r>
                      <a:rPr lang="pt-BR" altLang="zh-CN" i="1" dirty="0">
                        <a:latin typeface="Cambria Math" panose="02040503050406030204" charset="0"/>
                      </a:rPr>
                      <m:t>+ </m:t>
                    </m:r>
                    <m:r>
                      <a:rPr lang="pt-BR" altLang="zh-CN" i="1" dirty="0">
                        <a:latin typeface="Cambria Math" panose="02040503050406030204" charset="0"/>
                      </a:rPr>
                      <m:t>𝛽</m:t>
                    </m:r>
                    <m:r>
                      <a:rPr lang="pt-BR" altLang="zh-CN" i="1" baseline="-25000" dirty="0">
                        <a:latin typeface="Cambria Math" panose="02040503050406030204" charset="0"/>
                      </a:rPr>
                      <m:t>2</m:t>
                    </m:r>
                    <m:r>
                      <a:rPr lang="pt-BR" altLang="zh-CN" i="1" dirty="0">
                        <a:latin typeface="Cambria Math" panose="02040503050406030204" charset="0"/>
                      </a:rPr>
                      <m:t>𝑣</m:t>
                    </m:r>
                    <m:r>
                      <a:rPr lang="pt-BR" altLang="zh-CN" i="1" baseline="-25000" dirty="0">
                        <a:latin typeface="Cambria Math" panose="02040503050406030204" charset="0"/>
                      </a:rPr>
                      <m:t>2</m:t>
                    </m:r>
                    <m:r>
                      <a:rPr lang="pt-BR" altLang="zh-CN" i="1" dirty="0">
                        <a:latin typeface="Cambria Math" panose="02040503050406030204" charset="0"/>
                      </a:rPr>
                      <m:t> +…+ </m:t>
                    </m:r>
                    <m:r>
                      <a:rPr lang="pt-BR" altLang="zh-CN" i="1" dirty="0">
                        <a:latin typeface="Cambria Math" panose="02040503050406030204" charset="0"/>
                      </a:rPr>
                      <m:t>𝛽</m:t>
                    </m:r>
                    <m:r>
                      <a:rPr lang="pt-BR" altLang="zh-CN" i="1" baseline="-25000" dirty="0">
                        <a:latin typeface="Cambria Math" panose="02040503050406030204" charset="0"/>
                      </a:rPr>
                      <m:t>𝑛</m:t>
                    </m:r>
                    <m:r>
                      <a:rPr lang="pt-BR" altLang="zh-CN" i="1" dirty="0">
                        <a:latin typeface="Cambria Math" panose="02040503050406030204" charset="0"/>
                      </a:rPr>
                      <m:t>𝑣</m:t>
                    </m:r>
                    <m:r>
                      <a:rPr lang="pt-BR" altLang="zh-CN" i="1" baseline="-25000" dirty="0">
                        <a:latin typeface="Cambria Math" panose="02040503050406030204" charset="0"/>
                      </a:rPr>
                      <m:t>𝑛</m:t>
                    </m:r>
                  </m:oMath>
                </a14:m>
                <a:endParaRPr lang="pt-BR" altLang="zh-CN" baseline="-25000" dirty="0"/>
              </a:p>
              <a:p>
                <a:pPr lvl="1">
                  <a:buClr>
                    <a:schemeClr val="tx1"/>
                  </a:buClr>
                </a:pPr>
                <a:endParaRPr lang="pt-BR" altLang="zh-CN" baseline="-25000" dirty="0"/>
              </a:p>
              <a:p>
                <a:r>
                  <a:rPr lang="zh-CN" altLang="en-US" dirty="0"/>
                  <a:t>它们看起来具有相似的表示：</a:t>
                </a:r>
                <a:endParaRPr lang="en-US" altLang="zh-CN" sz="2000" baseline="-25000" dirty="0"/>
              </a:p>
              <a:p>
                <a:pPr lvl="1">
                  <a:buClr>
                    <a:schemeClr val="tx1"/>
                  </a:buClr>
                </a:pPr>
                <a14:m>
                  <m:oMath xmlns:m="http://schemas.openxmlformats.org/officeDocument/2006/math">
                    <m:r>
                      <a:rPr lang="pt-BR" altLang="zh-CN" i="1" dirty="0" smtClean="0">
                        <a:latin typeface="Cambria Math" panose="02040503050406030204" charset="0"/>
                      </a:rPr>
                      <m:t>𝑣</m:t>
                    </m:r>
                    <m:r>
                      <a:rPr lang="pt-BR" altLang="zh-CN" i="1" dirty="0" smtClean="0">
                        <a:latin typeface="Cambria Math" panose="02040503050406030204" charset="0"/>
                      </a:rPr>
                      <m:t> = [</m:t>
                    </m:r>
                    <m:r>
                      <a:rPr lang="el-GR" altLang="zh-CN" i="1" dirty="0">
                        <a:latin typeface="Cambria Math" panose="02040503050406030204" charset="0"/>
                      </a:rPr>
                      <m:t>𝛼</m:t>
                    </m:r>
                    <m:r>
                      <a:rPr lang="el-GR" altLang="zh-CN" i="1" baseline="-25000" dirty="0">
                        <a:latin typeface="Cambria Math" panose="02040503050406030204" charset="0"/>
                      </a:rPr>
                      <m:t>1</m:t>
                    </m:r>
                    <m:r>
                      <a:rPr lang="el-GR" altLang="zh-CN" i="1" dirty="0">
                        <a:latin typeface="Cambria Math" panose="02040503050406030204" charset="0"/>
                      </a:rPr>
                      <m:t>, </m:t>
                    </m:r>
                    <m:r>
                      <a:rPr lang="el-GR" altLang="zh-CN" i="1" dirty="0">
                        <a:latin typeface="Cambria Math" panose="02040503050406030204" charset="0"/>
                      </a:rPr>
                      <m:t>𝛼</m:t>
                    </m:r>
                    <m:r>
                      <a:rPr lang="el-GR" altLang="zh-CN" i="1" baseline="-25000" dirty="0">
                        <a:latin typeface="Cambria Math" panose="02040503050406030204" charset="0"/>
                      </a:rPr>
                      <m:t>2</m:t>
                    </m:r>
                    <m:r>
                      <a:rPr lang="el-GR" altLang="zh-CN" i="1" dirty="0">
                        <a:latin typeface="Cambria Math" panose="02040503050406030204" charset="0"/>
                      </a:rPr>
                      <m:t> ,…,</m:t>
                    </m:r>
                    <m:r>
                      <a:rPr lang="el-GR" altLang="zh-CN" i="1" dirty="0">
                        <a:latin typeface="Cambria Math" panose="02040503050406030204" charset="0"/>
                      </a:rPr>
                      <m:t>𝛼</m:t>
                    </m:r>
                    <m:r>
                      <a:rPr lang="pt-BR" altLang="zh-CN" i="1" baseline="-25000" dirty="0">
                        <a:latin typeface="Cambria Math" panose="02040503050406030204" charset="0"/>
                      </a:rPr>
                      <m:t>𝑛</m:t>
                    </m:r>
                    <m:r>
                      <a:rPr lang="pt-BR" altLang="zh-CN" i="1" dirty="0">
                        <a:latin typeface="Cambria Math" panose="02040503050406030204" charset="0"/>
                      </a:rPr>
                      <m:t>]</m:t>
                    </m:r>
                    <m:r>
                      <a:rPr lang="pt-BR" altLang="zh-CN" i="1" baseline="30000" dirty="0">
                        <a:latin typeface="Cambria Math" panose="02040503050406030204" charset="0"/>
                      </a:rPr>
                      <m:t>𝑇</m:t>
                    </m:r>
                  </m:oMath>
                </a14:m>
                <a:endParaRPr lang="pt-BR" altLang="zh-CN" baseline="30000" dirty="0"/>
              </a:p>
              <a:p>
                <a:pPr lvl="1">
                  <a:buClr>
                    <a:schemeClr val="tx1"/>
                  </a:buClr>
                </a:pPr>
                <a14:m>
                  <m:oMath xmlns:m="http://schemas.openxmlformats.org/officeDocument/2006/math">
                    <m:r>
                      <a:rPr lang="pt-BR" altLang="zh-CN" i="1" dirty="0" smtClean="0">
                        <a:latin typeface="Cambria Math" panose="02040503050406030204" charset="0"/>
                      </a:rPr>
                      <m:t>𝑃</m:t>
                    </m:r>
                    <m:r>
                      <a:rPr lang="pt-BR" altLang="zh-CN" i="1" dirty="0" smtClean="0">
                        <a:latin typeface="Cambria Math" panose="02040503050406030204" charset="0"/>
                      </a:rPr>
                      <m:t> = [</m:t>
                    </m:r>
                    <m:r>
                      <a:rPr lang="el-GR" altLang="zh-CN" i="1" dirty="0">
                        <a:latin typeface="Cambria Math" panose="02040503050406030204" charset="0"/>
                      </a:rPr>
                      <m:t>𝛽</m:t>
                    </m:r>
                    <m:r>
                      <a:rPr lang="el-GR" altLang="zh-CN" i="1" baseline="-25000" dirty="0">
                        <a:latin typeface="Cambria Math" panose="02040503050406030204" charset="0"/>
                      </a:rPr>
                      <m:t>1</m:t>
                    </m:r>
                    <m:r>
                      <a:rPr lang="el-GR" altLang="zh-CN" i="1" dirty="0">
                        <a:latin typeface="Cambria Math" panose="02040503050406030204" charset="0"/>
                      </a:rPr>
                      <m:t>, </m:t>
                    </m:r>
                    <m:r>
                      <a:rPr lang="el-GR" altLang="zh-CN" i="1" dirty="0">
                        <a:latin typeface="Cambria Math" panose="02040503050406030204" charset="0"/>
                      </a:rPr>
                      <m:t>𝛽</m:t>
                    </m:r>
                    <m:r>
                      <a:rPr lang="el-GR" altLang="zh-CN" i="1" baseline="-25000" dirty="0">
                        <a:latin typeface="Cambria Math" panose="02040503050406030204" charset="0"/>
                      </a:rPr>
                      <m:t>2</m:t>
                    </m:r>
                    <m:r>
                      <a:rPr lang="el-GR" altLang="zh-CN" i="1" dirty="0">
                        <a:latin typeface="Cambria Math" panose="02040503050406030204" charset="0"/>
                      </a:rPr>
                      <m:t> ,…, </m:t>
                    </m:r>
                    <m:r>
                      <a:rPr lang="el-GR" altLang="zh-CN" i="1" dirty="0">
                        <a:latin typeface="Cambria Math" panose="02040503050406030204" charset="0"/>
                      </a:rPr>
                      <m:t>𝛽</m:t>
                    </m:r>
                    <m:r>
                      <a:rPr lang="pt-BR" altLang="zh-CN" i="1" baseline="-25000" dirty="0">
                        <a:latin typeface="Cambria Math" panose="02040503050406030204" charset="0"/>
                      </a:rPr>
                      <m:t>𝑛</m:t>
                    </m:r>
                    <m:r>
                      <a:rPr lang="pt-BR" altLang="zh-CN" i="1" dirty="0">
                        <a:latin typeface="Cambria Math" panose="02040503050406030204" charset="0"/>
                      </a:rPr>
                      <m:t>]</m:t>
                    </m:r>
                    <m:r>
                      <a:rPr lang="pt-BR" altLang="zh-CN" i="1" baseline="30000" dirty="0">
                        <a:latin typeface="Cambria Math" panose="02040503050406030204" charset="0"/>
                      </a:rPr>
                      <m:t>𝑇</m:t>
                    </m:r>
                  </m:oMath>
                </a14:m>
                <a:endParaRPr lang="pt-BR" altLang="zh-CN" dirty="0"/>
              </a:p>
              <a:p>
                <a:pPr lvl="1">
                  <a:buClr>
                    <a:schemeClr val="tx1"/>
                  </a:buClr>
                </a:pPr>
                <a:endParaRPr lang="pt-BR" altLang="zh-CN" dirty="0"/>
              </a:p>
              <a:p>
                <a:r>
                  <a:rPr lang="zh-CN" altLang="en-US" dirty="0"/>
                  <a:t>这导致点与向量很容易混淆</a:t>
                </a:r>
                <a:endParaRPr lang="en-US" altLang="zh-CN" sz="2000" baseline="-25000" dirty="0"/>
              </a:p>
              <a:p>
                <a:pPr lvl="1">
                  <a:buClr>
                    <a:schemeClr val="tx1"/>
                  </a:buClr>
                </a:pPr>
                <a:r>
                  <a:rPr lang="zh-CN" altLang="en-US" dirty="0"/>
                  <a:t>解决方案：</a:t>
                </a:r>
                <a:r>
                  <a:rPr lang="zh-CN" altLang="en-US" b="1" dirty="0">
                    <a:solidFill>
                      <a:srgbClr val="00B0F0"/>
                    </a:solidFill>
                  </a:rPr>
                  <a:t>齐次坐标</a:t>
                </a:r>
                <a:endParaRPr lang="pt-BR" altLang="zh-CN" b="1" baseline="30000" dirty="0">
                  <a:solidFill>
                    <a:srgbClr val="00B0F0"/>
                  </a:solidFill>
                </a:endParaRPr>
              </a:p>
              <a:p>
                <a:pPr lvl="1">
                  <a:buClr>
                    <a:schemeClr val="tx1"/>
                  </a:buClr>
                </a:pPr>
                <a14:m>
                  <m:oMath xmlns:m="http://schemas.openxmlformats.org/officeDocument/2006/math">
                    <m:r>
                      <a:rPr lang="pt-BR" altLang="zh-CN" i="1" dirty="0">
                        <a:latin typeface="Cambria Math" panose="02040503050406030204" charset="0"/>
                      </a:rPr>
                      <m:t>𝑣</m:t>
                    </m:r>
                    <m:r>
                      <a:rPr lang="pt-BR" altLang="zh-CN" i="1" dirty="0">
                        <a:latin typeface="Cambria Math" panose="02040503050406030204" charset="0"/>
                      </a:rPr>
                      <m:t> = [</m:t>
                    </m:r>
                    <m:r>
                      <a:rPr lang="el-GR" altLang="zh-CN" i="1" dirty="0">
                        <a:latin typeface="Cambria Math" panose="02040503050406030204" charset="0"/>
                      </a:rPr>
                      <m:t>𝛼</m:t>
                    </m:r>
                    <m:r>
                      <a:rPr lang="el-GR" altLang="zh-CN" i="1" baseline="-25000" dirty="0">
                        <a:latin typeface="Cambria Math" panose="02040503050406030204" charset="0"/>
                      </a:rPr>
                      <m:t>1</m:t>
                    </m:r>
                    <m:r>
                      <a:rPr lang="el-GR" altLang="zh-CN" i="1" dirty="0">
                        <a:latin typeface="Cambria Math" panose="02040503050406030204" charset="0"/>
                      </a:rPr>
                      <m:t>, </m:t>
                    </m:r>
                    <m:r>
                      <a:rPr lang="el-GR" altLang="zh-CN" i="1" dirty="0">
                        <a:latin typeface="Cambria Math" panose="02040503050406030204" charset="0"/>
                      </a:rPr>
                      <m:t>𝛼</m:t>
                    </m:r>
                    <m:r>
                      <a:rPr lang="el-GR" altLang="zh-CN" i="1" baseline="-25000" dirty="0">
                        <a:latin typeface="Cambria Math" panose="02040503050406030204" charset="0"/>
                      </a:rPr>
                      <m:t>2</m:t>
                    </m:r>
                    <m:r>
                      <a:rPr lang="el-GR" altLang="zh-CN" i="1" dirty="0">
                        <a:latin typeface="Cambria Math" panose="02040503050406030204" charset="0"/>
                      </a:rPr>
                      <m:t> ,…,</m:t>
                    </m:r>
                    <m:r>
                      <a:rPr lang="el-GR" altLang="zh-CN" i="1" dirty="0">
                        <a:latin typeface="Cambria Math" panose="02040503050406030204" charset="0"/>
                      </a:rPr>
                      <m:t>𝛼</m:t>
                    </m:r>
                    <m:r>
                      <a:rPr lang="pt-BR" altLang="zh-CN" i="1" baseline="-25000" dirty="0">
                        <a:latin typeface="Cambria Math" panose="02040503050406030204" charset="0"/>
                      </a:rPr>
                      <m:t>𝑛</m:t>
                    </m:r>
                    <m:r>
                      <a:rPr lang="en-US" altLang="zh-CN" b="0" i="1" dirty="0" smtClean="0">
                        <a:latin typeface="Cambria Math" panose="02040503050406030204" charset="0"/>
                      </a:rPr>
                      <m:t>,0</m:t>
                    </m:r>
                    <m:r>
                      <a:rPr lang="pt-BR" altLang="zh-CN" i="1" dirty="0">
                        <a:latin typeface="Cambria Math" panose="02040503050406030204" charset="0"/>
                      </a:rPr>
                      <m:t>]</m:t>
                    </m:r>
                    <m:r>
                      <a:rPr lang="pt-BR" altLang="zh-CN" i="1" baseline="30000" dirty="0">
                        <a:latin typeface="Cambria Math" panose="02040503050406030204" charset="0"/>
                      </a:rPr>
                      <m:t>𝑇</m:t>
                    </m:r>
                  </m:oMath>
                </a14:m>
                <a:endParaRPr lang="en-US" altLang="zh-CN" i="1" dirty="0">
                  <a:latin typeface="Cambria Math" panose="02040503050406030204" charset="0"/>
                </a:endParaRPr>
              </a:p>
              <a:p>
                <a:pPr lvl="1">
                  <a:buClr>
                    <a:schemeClr val="tx1"/>
                  </a:buClr>
                </a:pPr>
                <a14:m>
                  <m:oMath xmlns:m="http://schemas.openxmlformats.org/officeDocument/2006/math">
                    <m:r>
                      <a:rPr lang="pt-BR" altLang="zh-CN" i="1" dirty="0" smtClean="0">
                        <a:latin typeface="Cambria Math" panose="02040503050406030204" charset="0"/>
                      </a:rPr>
                      <m:t>𝑃</m:t>
                    </m:r>
                    <m:r>
                      <a:rPr lang="pt-BR" altLang="zh-CN" i="1" dirty="0" smtClean="0">
                        <a:latin typeface="Cambria Math" panose="02040503050406030204" charset="0"/>
                      </a:rPr>
                      <m:t> = [</m:t>
                    </m:r>
                    <m:r>
                      <a:rPr lang="el-GR" altLang="zh-CN" i="1" dirty="0">
                        <a:latin typeface="Cambria Math" panose="02040503050406030204" charset="0"/>
                      </a:rPr>
                      <m:t>𝛽</m:t>
                    </m:r>
                    <m:r>
                      <a:rPr lang="el-GR" altLang="zh-CN" i="1" baseline="-25000" dirty="0">
                        <a:latin typeface="Cambria Math" panose="02040503050406030204" charset="0"/>
                      </a:rPr>
                      <m:t>1</m:t>
                    </m:r>
                    <m:r>
                      <a:rPr lang="el-GR" altLang="zh-CN" i="1" dirty="0">
                        <a:latin typeface="Cambria Math" panose="02040503050406030204" charset="0"/>
                      </a:rPr>
                      <m:t>, </m:t>
                    </m:r>
                    <m:r>
                      <a:rPr lang="el-GR" altLang="zh-CN" i="1" dirty="0">
                        <a:latin typeface="Cambria Math" panose="02040503050406030204" charset="0"/>
                      </a:rPr>
                      <m:t>𝛽</m:t>
                    </m:r>
                    <m:r>
                      <a:rPr lang="el-GR" altLang="zh-CN" i="1" baseline="-25000" dirty="0">
                        <a:latin typeface="Cambria Math" panose="02040503050406030204" charset="0"/>
                      </a:rPr>
                      <m:t>2</m:t>
                    </m:r>
                    <m:r>
                      <a:rPr lang="el-GR" altLang="zh-CN" i="1" dirty="0">
                        <a:latin typeface="Cambria Math" panose="02040503050406030204" charset="0"/>
                      </a:rPr>
                      <m:t> ,…,</m:t>
                    </m:r>
                    <m:sSub>
                      <m:sSubPr>
                        <m:ctrlPr>
                          <a:rPr lang="en-US" altLang="zh-CN" b="0" i="1" dirty="0" smtClean="0">
                            <a:latin typeface="Cambria Math" panose="02040503050406030204" pitchFamily="18" charset="0"/>
                          </a:rPr>
                        </m:ctrlPr>
                      </m:sSubPr>
                      <m:e>
                        <m:r>
                          <a:rPr lang="el-GR" altLang="zh-CN" i="1" dirty="0">
                            <a:latin typeface="Cambria Math" panose="02040503050406030204" charset="0"/>
                          </a:rPr>
                          <m:t>𝛽</m:t>
                        </m:r>
                      </m:e>
                      <m:sub>
                        <m:r>
                          <a:rPr lang="en-US" altLang="zh-CN" b="0" i="1" dirty="0" smtClean="0">
                            <a:latin typeface="Cambria Math" panose="02040503050406030204" charset="0"/>
                          </a:rPr>
                          <m:t>𝑛</m:t>
                        </m:r>
                      </m:sub>
                    </m:sSub>
                    <m:r>
                      <a:rPr lang="en-US" altLang="zh-CN" b="0" i="1" dirty="0" smtClean="0">
                        <a:latin typeface="Cambria Math" panose="02040503050406030204" charset="0"/>
                      </a:rPr>
                      <m:t>,1</m:t>
                    </m:r>
                    <m:r>
                      <a:rPr lang="pt-BR" altLang="zh-CN" i="1" dirty="0">
                        <a:latin typeface="Cambria Math" panose="02040503050406030204" charset="0"/>
                      </a:rPr>
                      <m:t>]</m:t>
                    </m:r>
                    <m:r>
                      <a:rPr lang="pt-BR" altLang="zh-CN" i="1" baseline="30000" dirty="0">
                        <a:latin typeface="Cambria Math" panose="02040503050406030204" charset="0"/>
                      </a:rPr>
                      <m:t>𝑇</m:t>
                    </m:r>
                  </m:oMath>
                </a14:m>
                <a:endParaRPr lang="pt-BR" altLang="zh-CN" dirty="0"/>
              </a:p>
              <a:p>
                <a:pPr lvl="1">
                  <a:buClr>
                    <a:schemeClr val="tx1"/>
                  </a:buClr>
                </a:pPr>
                <a:endParaRPr lang="en-US" altLang="zh-CN" baseline="-25000" dirty="0"/>
              </a:p>
              <a:p>
                <a:pPr lvl="1">
                  <a:buClr>
                    <a:schemeClr val="tx1"/>
                  </a:buClr>
                </a:pPr>
                <a:endParaRPr lang="en-US" altLang="zh-CN" baseline="-25000" dirty="0"/>
              </a:p>
              <a:p>
                <a:pPr lvl="1">
                  <a:buClr>
                    <a:schemeClr val="tx1"/>
                  </a:buClr>
                </a:pPr>
                <a:endParaRPr lang="zh-CN" altLang="en-US" dirty="0"/>
              </a:p>
              <a:p>
                <a:endParaRPr lang="zh-CN" altLang="en-US" sz="3200" dirty="0"/>
              </a:p>
            </p:txBody>
          </p:sp>
        </mc:Choice>
        <mc:Fallback xmlns="">
          <p:sp>
            <p:nvSpPr>
              <p:cNvPr id="3" name="内容占位符 2"/>
              <p:cNvSpPr>
                <a:spLocks noRot="1" noChangeAspect="1" noMove="1" noResize="1" noEditPoints="1" noAdjustHandles="1" noChangeArrowheads="1" noChangeShapeType="1" noTextEdit="1"/>
              </p:cNvSpPr>
              <p:nvPr>
                <p:ph idx="1"/>
              </p:nvPr>
            </p:nvSpPr>
            <p:spPr>
              <a:xfrm>
                <a:off x="628650" y="1316830"/>
                <a:ext cx="7886700" cy="4442947"/>
              </a:xfrm>
              <a:blipFill rotWithShape="1">
                <a:blip r:embed="rId2"/>
                <a:stretch>
                  <a:fillRect t="-468" b="-30092"/>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13</a:t>
            </a:fld>
            <a:endParaRPr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齐次坐标</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zh-CN" altLang="en-US" dirty="0"/>
                  <a:t>三维空间的四维齐次坐标的一般形式为</a:t>
                </a:r>
                <a:endParaRPr lang="en-US" altLang="zh-CN" dirty="0"/>
              </a:p>
              <a:p>
                <a:pPr lvl="1"/>
                <a14:m>
                  <m:oMath xmlns:m="http://schemas.openxmlformats.org/officeDocument/2006/math">
                    <m:r>
                      <a:rPr lang="pl-PL" altLang="zh-CN" i="1" dirty="0">
                        <a:latin typeface="Cambria Math" panose="02040503050406030204" charset="0"/>
                      </a:rPr>
                      <m:t>𝑃</m:t>
                    </m:r>
                    <m:r>
                      <a:rPr lang="pl-PL" altLang="zh-CN" i="1" dirty="0">
                        <a:latin typeface="Cambria Math" panose="02040503050406030204" charset="0"/>
                      </a:rPr>
                      <m:t> = [</m:t>
                    </m:r>
                    <m:r>
                      <a:rPr lang="pl-PL" altLang="zh-CN" i="1" dirty="0">
                        <a:latin typeface="Cambria Math" panose="02040503050406030204" charset="0"/>
                      </a:rPr>
                      <m:t>𝑥</m:t>
                    </m:r>
                    <m:r>
                      <a:rPr lang="pl-PL" altLang="zh-CN" i="1" dirty="0">
                        <a:latin typeface="Cambria Math" panose="02040503050406030204" charset="0"/>
                      </a:rPr>
                      <m:t>, </m:t>
                    </m:r>
                    <m:r>
                      <a:rPr lang="pl-PL" altLang="zh-CN" i="1" dirty="0">
                        <a:latin typeface="Cambria Math" panose="02040503050406030204" charset="0"/>
                      </a:rPr>
                      <m:t>𝑦</m:t>
                    </m:r>
                    <m:r>
                      <a:rPr lang="pl-PL" altLang="zh-CN" i="1" dirty="0">
                        <a:latin typeface="Cambria Math" panose="02040503050406030204" charset="0"/>
                      </a:rPr>
                      <m:t>, </m:t>
                    </m:r>
                    <m:r>
                      <a:rPr lang="pl-PL" altLang="zh-CN" i="1" dirty="0">
                        <a:latin typeface="Cambria Math" panose="02040503050406030204" charset="0"/>
                      </a:rPr>
                      <m:t>𝑧</m:t>
                    </m:r>
                    <m:r>
                      <a:rPr lang="pl-PL" altLang="zh-CN" i="1" dirty="0">
                        <a:latin typeface="Cambria Math" panose="02040503050406030204" charset="0"/>
                      </a:rPr>
                      <m:t>, </m:t>
                    </m:r>
                    <m:r>
                      <a:rPr lang="pl-PL" altLang="zh-CN" i="1" dirty="0">
                        <a:latin typeface="Cambria Math" panose="02040503050406030204" charset="0"/>
                      </a:rPr>
                      <m:t>𝑤</m:t>
                    </m:r>
                    <m:r>
                      <a:rPr lang="pl-PL" altLang="zh-CN" i="1" dirty="0">
                        <a:latin typeface="Cambria Math" panose="02040503050406030204" charset="0"/>
                      </a:rPr>
                      <m:t>]</m:t>
                    </m:r>
                    <m:r>
                      <a:rPr lang="pl-PL" altLang="zh-CN" i="1" baseline="30000" dirty="0">
                        <a:latin typeface="Cambria Math" panose="02040503050406030204" charset="0"/>
                      </a:rPr>
                      <m:t>𝑇</m:t>
                    </m:r>
                  </m:oMath>
                </a14:m>
                <a:endParaRPr lang="en-US" altLang="zh-CN" i="1" dirty="0">
                  <a:latin typeface="Cambria Math" panose="02040503050406030204" charset="0"/>
                </a:endParaRPr>
              </a:p>
              <a:p>
                <a:pPr lvl="1"/>
                <a14:m>
                  <m:oMath xmlns:m="http://schemas.openxmlformats.org/officeDocument/2006/math">
                    <m:r>
                      <a:rPr lang="en-US" altLang="zh-CN" i="1" dirty="0">
                        <a:latin typeface="Cambria Math" panose="02040503050406030204" charset="0"/>
                      </a:rPr>
                      <m:t>𝑤</m:t>
                    </m:r>
                    <m:r>
                      <a:rPr lang="en-US" altLang="zh-CN" i="1" dirty="0">
                        <a:latin typeface="Cambria Math" panose="02040503050406030204" charset="0"/>
                      </a:rPr>
                      <m:t>=0</m:t>
                    </m:r>
                  </m:oMath>
                </a14:m>
                <a:r>
                  <a:rPr lang="en-US" altLang="zh-CN" dirty="0"/>
                  <a:t>:</a:t>
                </a:r>
                <a:r>
                  <a:rPr lang="zh-CN" altLang="en-US" dirty="0"/>
                  <a:t> 向量</a:t>
                </a:r>
                <a:endParaRPr lang="en-US" altLang="zh-CN" i="1" dirty="0">
                  <a:latin typeface="Cambria Math" panose="02040503050406030204" charset="0"/>
                </a:endParaRPr>
              </a:p>
              <a:p>
                <a:pPr lvl="1"/>
                <a14:m>
                  <m:oMath xmlns:m="http://schemas.openxmlformats.org/officeDocument/2006/math">
                    <m:r>
                      <a:rPr lang="en-US" altLang="zh-CN" i="1" dirty="0">
                        <a:latin typeface="Cambria Math" panose="02040503050406030204" charset="0"/>
                      </a:rPr>
                      <m:t>𝑤</m:t>
                    </m:r>
                    <m:r>
                      <a:rPr lang="en-US" altLang="zh-CN" i="1" dirty="0">
                        <a:latin typeface="Cambria Math" panose="02040503050406030204" charset="0"/>
                      </a:rPr>
                      <m:t>=1</m:t>
                    </m:r>
                  </m:oMath>
                </a14:m>
                <a:r>
                  <a:rPr lang="en-US" altLang="zh-CN" dirty="0"/>
                  <a:t>:</a:t>
                </a:r>
                <a:r>
                  <a:rPr lang="zh-CN" altLang="en-US" dirty="0"/>
                  <a:t> 点</a:t>
                </a:r>
                <a:endParaRPr lang="en-US" altLang="zh-CN" dirty="0"/>
              </a:p>
              <a:p>
                <a:pPr lvl="1"/>
                <a:endParaRPr lang="zh-CN" altLang="en-US" dirty="0"/>
              </a:p>
              <a:p>
                <a:r>
                  <a:rPr lang="zh-CN" altLang="en-US" dirty="0"/>
                  <a:t>齐次坐标是所有计算机图形系统的关键</a:t>
                </a:r>
              </a:p>
              <a:p>
                <a:pPr lvl="1"/>
                <a:r>
                  <a:rPr lang="zh-CN" altLang="en-US" dirty="0"/>
                  <a:t>所有标准变换（旋转、平移、放缩）都可以应用</a:t>
                </a:r>
                <a:r>
                  <a:rPr lang="en-US" altLang="zh-CN" dirty="0"/>
                  <a:t>4×4</a:t>
                </a:r>
                <a:r>
                  <a:rPr lang="zh-CN" altLang="en-US" dirty="0"/>
                  <a:t>阶矩阵的乘法实现</a:t>
                </a:r>
              </a:p>
              <a:p>
                <a:pPr lvl="1"/>
                <a:r>
                  <a:rPr lang="zh-CN" altLang="en-US" dirty="0"/>
                  <a:t>硬件流水线体系可以应用四维表示</a:t>
                </a:r>
              </a:p>
              <a:p>
                <a:pPr lvl="1"/>
                <a:r>
                  <a:rPr lang="zh-CN" altLang="en-US" dirty="0"/>
                  <a:t>对于正交投影，可以通过</a:t>
                </a:r>
                <a:r>
                  <a:rPr lang="en-US" altLang="zh-CN" dirty="0"/>
                  <a:t>w = 0</a:t>
                </a:r>
                <a:r>
                  <a:rPr lang="zh-CN" altLang="en-US" dirty="0"/>
                  <a:t>保证向量，</a:t>
                </a:r>
                <a:r>
                  <a:rPr lang="en-US" altLang="zh-CN" dirty="0"/>
                  <a:t>w = 1</a:t>
                </a:r>
                <a:r>
                  <a:rPr lang="zh-CN" altLang="en-US" dirty="0"/>
                  <a:t>保证点</a:t>
                </a:r>
              </a:p>
              <a:p>
                <a:pPr lvl="1"/>
                <a:r>
                  <a:rPr lang="zh-CN" altLang="en-US" dirty="0"/>
                  <a:t>对于透视投影，需要进行特别的处理：</a:t>
                </a:r>
                <a:r>
                  <a:rPr lang="zh-CN" altLang="en-US" dirty="0">
                    <a:solidFill>
                      <a:srgbClr val="0000FF"/>
                    </a:solidFill>
                  </a:rPr>
                  <a:t>透视除法</a:t>
                </a:r>
              </a:p>
              <a:p>
                <a:endParaRPr lang="zh-CN" altLang="en-US" dirty="0"/>
              </a:p>
              <a:p>
                <a:endParaRPr lang="en-US" dirty="0"/>
              </a:p>
            </p:txBody>
          </p:sp>
        </mc:Choice>
        <mc:Fallback xmlns="">
          <p:sp>
            <p:nvSpPr>
              <p:cNvPr id="3" name="Content Placeholder 2"/>
              <p:cNvSpPr>
                <a:spLocks noRot="1" noChangeAspect="1" noMove="1" noResize="1" noEditPoints="1" noAdjustHandles="1" noChangeArrowheads="1" noChangeShapeType="1" noTextEdit="1"/>
              </p:cNvSpPr>
              <p:nvPr>
                <p:ph idx="1"/>
              </p:nvPr>
            </p:nvSpPr>
            <p:spPr>
              <a:blipFill rotWithShape="1">
                <a:blip r:embed="rId2"/>
                <a:stretch>
                  <a:fillRect t="-478" b="-13466"/>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EB792F4E-54C0-4D36-B331-9C6FCFE9A340}" type="slidenum">
              <a:rPr lang="zh-CN" altLang="en-US" smtClean="0"/>
              <a:t>14</a:t>
            </a:fld>
            <a:endParaRPr lang="zh-CN" alt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仿射变换</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628650" y="1316831"/>
                <a:ext cx="7886700" cy="5024702"/>
              </a:xfrm>
            </p:spPr>
            <p:txBody>
              <a:bodyPr>
                <a:normAutofit/>
              </a:bodyPr>
              <a:lstStyle/>
              <a:p>
                <a:pPr>
                  <a:buClr>
                    <a:srgbClr val="94003F"/>
                  </a:buClr>
                </a:pPr>
                <a:r>
                  <a:rPr lang="zh-CN" altLang="en-US" sz="2400" dirty="0"/>
                  <a:t>线性变换</a:t>
                </a:r>
              </a:p>
              <a:p>
                <a:pPr lvl="1">
                  <a:buClr>
                    <a:schemeClr val="tx1"/>
                  </a:buClr>
                </a:pPr>
                <a:r>
                  <a:rPr lang="zh-CN" altLang="en-US" sz="1800" dirty="0"/>
                  <a:t>线性变换：</a:t>
                </a:r>
                <a14:m>
                  <m:oMath xmlns:m="http://schemas.openxmlformats.org/officeDocument/2006/math">
                    <m:r>
                      <a:rPr lang="en-US" altLang="zh-CN" sz="1800" b="1" i="1" dirty="0" smtClean="0">
                        <a:latin typeface="Cambria Math" panose="02040503050406030204" charset="0"/>
                      </a:rPr>
                      <m:t>𝒇</m:t>
                    </m:r>
                    <m:r>
                      <a:rPr lang="en-US" altLang="zh-CN" sz="1800" i="1" dirty="0">
                        <a:latin typeface="Cambria Math" panose="02040503050406030204" charset="0"/>
                      </a:rPr>
                      <m:t> (</m:t>
                    </m:r>
                    <m:r>
                      <a:rPr lang="el-GR" altLang="zh-CN" sz="1800" i="1" dirty="0">
                        <a:latin typeface="Cambria Math" panose="02040503050406030204" charset="0"/>
                      </a:rPr>
                      <m:t>𝛼</m:t>
                    </m:r>
                    <m:r>
                      <a:rPr lang="en-US" altLang="zh-CN" sz="1800" i="1" dirty="0">
                        <a:latin typeface="Cambria Math" panose="02040503050406030204" charset="0"/>
                      </a:rPr>
                      <m:t>𝑝</m:t>
                    </m:r>
                    <m:r>
                      <a:rPr lang="en-US" altLang="zh-CN" sz="1800" i="1" dirty="0">
                        <a:latin typeface="Cambria Math" panose="02040503050406030204" charset="0"/>
                      </a:rPr>
                      <m:t> + </m:t>
                    </m:r>
                    <m:r>
                      <a:rPr lang="el-GR" altLang="zh-CN" sz="1800" i="1" dirty="0">
                        <a:latin typeface="Cambria Math" panose="02040503050406030204" charset="0"/>
                      </a:rPr>
                      <m:t>𝛽</m:t>
                    </m:r>
                    <m:r>
                      <a:rPr lang="en-US" altLang="zh-CN" sz="1800" i="1" dirty="0">
                        <a:latin typeface="Cambria Math" panose="02040503050406030204" charset="0"/>
                      </a:rPr>
                      <m:t>𝑞</m:t>
                    </m:r>
                    <m:r>
                      <a:rPr lang="en-US" altLang="zh-CN" sz="1800" i="1" dirty="0">
                        <a:latin typeface="Cambria Math" panose="02040503050406030204" charset="0"/>
                      </a:rPr>
                      <m:t>) = </m:t>
                    </m:r>
                    <m:r>
                      <a:rPr lang="el-GR" altLang="zh-CN" sz="1800" i="1" dirty="0">
                        <a:latin typeface="Cambria Math" panose="02040503050406030204" charset="0"/>
                      </a:rPr>
                      <m:t>𝛼</m:t>
                    </m:r>
                    <m:r>
                      <a:rPr lang="en-US" altLang="zh-CN" sz="1800" b="1" i="1" dirty="0">
                        <a:latin typeface="Cambria Math" panose="02040503050406030204" charset="0"/>
                      </a:rPr>
                      <m:t>𝒇</m:t>
                    </m:r>
                    <m:r>
                      <a:rPr lang="en-US" altLang="zh-CN" sz="1800" i="1" dirty="0">
                        <a:latin typeface="Cambria Math" panose="02040503050406030204" charset="0"/>
                      </a:rPr>
                      <m:t> (</m:t>
                    </m:r>
                    <m:r>
                      <a:rPr lang="en-US" altLang="zh-CN" sz="1800" i="1" dirty="0">
                        <a:latin typeface="Cambria Math" panose="02040503050406030204" charset="0"/>
                      </a:rPr>
                      <m:t>𝑝</m:t>
                    </m:r>
                    <m:r>
                      <a:rPr lang="en-US" altLang="zh-CN" sz="1800" i="1" dirty="0">
                        <a:latin typeface="Cambria Math" panose="02040503050406030204" charset="0"/>
                      </a:rPr>
                      <m:t>) + </m:t>
                    </m:r>
                    <m:r>
                      <a:rPr lang="el-GR" altLang="zh-CN" sz="1800" i="1" dirty="0">
                        <a:latin typeface="Cambria Math" panose="02040503050406030204" charset="0"/>
                      </a:rPr>
                      <m:t>𝛽</m:t>
                    </m:r>
                    <m:r>
                      <a:rPr lang="en-US" altLang="zh-CN" sz="1800" b="1" i="1" dirty="0">
                        <a:latin typeface="Cambria Math" panose="02040503050406030204" charset="0"/>
                      </a:rPr>
                      <m:t>𝒇</m:t>
                    </m:r>
                    <m:r>
                      <a:rPr lang="en-US" altLang="zh-CN" sz="1800" i="1" dirty="0">
                        <a:latin typeface="Cambria Math" panose="02040503050406030204" charset="0"/>
                      </a:rPr>
                      <m:t> (</m:t>
                    </m:r>
                    <m:r>
                      <a:rPr lang="en-US" altLang="zh-CN" sz="1800" i="1" dirty="0">
                        <a:latin typeface="Cambria Math" panose="02040503050406030204" charset="0"/>
                      </a:rPr>
                      <m:t>𝑞</m:t>
                    </m:r>
                    <m:r>
                      <a:rPr lang="en-US" altLang="zh-CN" sz="1800" i="1" dirty="0">
                        <a:latin typeface="Cambria Math" panose="02040503050406030204" charset="0"/>
                      </a:rPr>
                      <m:t>)</m:t>
                    </m:r>
                  </m:oMath>
                </a14:m>
                <a:endParaRPr lang="en-US" altLang="zh-CN" sz="1800" dirty="0"/>
              </a:p>
              <a:p>
                <a:pPr lvl="1">
                  <a:buClr>
                    <a:schemeClr val="tx1"/>
                  </a:buClr>
                </a:pPr>
                <a:r>
                  <a:rPr lang="zh-CN" altLang="en-US" sz="1800" dirty="0"/>
                  <a:t>可理解为对物体的变换或者对空间的变换</a:t>
                </a:r>
                <a:endParaRPr lang="en-US" altLang="zh-CN" sz="1800" dirty="0"/>
              </a:p>
              <a:p>
                <a:pPr lvl="1">
                  <a:buClr>
                    <a:schemeClr val="tx1"/>
                  </a:buClr>
                </a:pPr>
                <a:r>
                  <a:rPr lang="zh-CN" altLang="en-US" sz="1800" dirty="0"/>
                  <a:t>可表示为：</a:t>
                </a:r>
                <a14:m>
                  <m:oMath xmlns:m="http://schemas.openxmlformats.org/officeDocument/2006/math">
                    <m:r>
                      <a:rPr lang="en-US" altLang="zh-CN" sz="1800" b="1" i="1" dirty="0" smtClean="0">
                        <a:latin typeface="Cambria Math" panose="02040503050406030204" charset="0"/>
                      </a:rPr>
                      <m:t>𝒗</m:t>
                    </m:r>
                    <m:r>
                      <a:rPr lang="en-US" altLang="zh-CN" sz="1800" i="1" dirty="0">
                        <a:latin typeface="Cambria Math" panose="02040503050406030204" charset="0"/>
                      </a:rPr>
                      <m:t> = </m:t>
                    </m:r>
                    <m:r>
                      <a:rPr lang="en-US" altLang="zh-CN" sz="1800" b="1" i="1" dirty="0">
                        <a:latin typeface="Cambria Math" panose="02040503050406030204" charset="0"/>
                      </a:rPr>
                      <m:t>𝑪𝒖</m:t>
                    </m:r>
                  </m:oMath>
                </a14:m>
                <a:r>
                  <a:rPr lang="zh-CN" altLang="en-US" sz="1800" dirty="0"/>
                  <a:t>，其中</a:t>
                </a:r>
                <a14:m>
                  <m:oMath xmlns:m="http://schemas.openxmlformats.org/officeDocument/2006/math">
                    <m:r>
                      <a:rPr lang="en-US" altLang="zh-CN" sz="1800" b="1" i="1" dirty="0" smtClean="0">
                        <a:latin typeface="Cambria Math" panose="02040503050406030204" charset="0"/>
                      </a:rPr>
                      <m:t>𝑪</m:t>
                    </m:r>
                  </m:oMath>
                </a14:m>
                <a:r>
                  <a:rPr lang="zh-CN" altLang="en-US" sz="1800" dirty="0"/>
                  <a:t>是</a:t>
                </a:r>
                <a:r>
                  <a:rPr lang="en-US" altLang="zh-CN" sz="1800" dirty="0"/>
                  <a:t>4x4</a:t>
                </a:r>
                <a:r>
                  <a:rPr lang="zh-CN" altLang="en-US" sz="1800" dirty="0"/>
                  <a:t>的矩阵</a:t>
                </a:r>
                <a:endParaRPr lang="en-US" altLang="zh-CN" sz="1800" dirty="0"/>
              </a:p>
              <a:p>
                <a:pPr lvl="1">
                  <a:buClr>
                    <a:schemeClr val="tx1"/>
                  </a:buClr>
                </a:pPr>
                <a:endParaRPr lang="en-US" altLang="zh-CN" sz="1800" dirty="0"/>
              </a:p>
              <a:p>
                <a:r>
                  <a:rPr lang="zh-CN" altLang="en-US" sz="2400" dirty="0"/>
                  <a:t>仿射变换</a:t>
                </a:r>
              </a:p>
              <a:p>
                <a:pPr lvl="1">
                  <a:buClr>
                    <a:schemeClr val="tx1"/>
                  </a:buClr>
                </a:pPr>
                <a:r>
                  <a:rPr lang="zh-CN" altLang="en-US" sz="1800" dirty="0"/>
                  <a:t>定义为只有</a:t>
                </a:r>
                <a:r>
                  <a:rPr lang="en-US" altLang="zh-CN" sz="1800" dirty="0"/>
                  <a:t>12</a:t>
                </a:r>
                <a:r>
                  <a:rPr lang="zh-CN" altLang="en-US" sz="1800" dirty="0"/>
                  <a:t>个自由度的线性变换：</a:t>
                </a: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r>
                  <a:rPr lang="zh-CN" altLang="en-US" sz="1800" dirty="0"/>
                  <a:t>仿射变换的直观特性：保持线性，将直线映射为直线</a:t>
                </a:r>
                <a:endParaRPr lang="en-US" altLang="zh-CN" sz="1800" dirty="0"/>
              </a:p>
            </p:txBody>
          </p:sp>
        </mc:Choice>
        <mc:Fallback xmlns="">
          <p:sp>
            <p:nvSpPr>
              <p:cNvPr id="3" name="内容占位符 2"/>
              <p:cNvSpPr>
                <a:spLocks noRot="1" noChangeAspect="1" noMove="1" noResize="1" noEditPoints="1" noAdjustHandles="1" noChangeArrowheads="1" noChangeShapeType="1" noTextEdit="1"/>
              </p:cNvSpPr>
              <p:nvPr>
                <p:ph idx="1"/>
              </p:nvPr>
            </p:nvSpPr>
            <p:spPr>
              <a:xfrm>
                <a:off x="628650" y="1316831"/>
                <a:ext cx="7886700" cy="5024702"/>
              </a:xfrm>
              <a:blipFill rotWithShape="1">
                <a:blip r:embed="rId2"/>
                <a:stretch>
                  <a:fillRect t="-224" b="8"/>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15</a:t>
            </a:fld>
            <a:endParaRPr lang="zh-CN" altLang="en-US"/>
          </a:p>
        </p:txBody>
      </p:sp>
      <p:pic>
        <p:nvPicPr>
          <p:cNvPr id="5" name="图片 4"/>
          <p:cNvPicPr>
            <a:picLocks noChangeAspect="1"/>
          </p:cNvPicPr>
          <p:nvPr/>
        </p:nvPicPr>
        <p:blipFill>
          <a:blip r:embed="rId3"/>
          <a:stretch>
            <a:fillRect/>
          </a:stretch>
        </p:blipFill>
        <p:spPr>
          <a:xfrm>
            <a:off x="2615251" y="3813370"/>
            <a:ext cx="3913498" cy="1898642"/>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2"/>
          <a:stretch>
            <a:fillRect/>
          </a:stretch>
        </p:blipFill>
        <p:spPr>
          <a:xfrm>
            <a:off x="4482217" y="3323303"/>
            <a:ext cx="3249733" cy="3286019"/>
          </a:xfrm>
          <a:prstGeom prst="rect">
            <a:avLst/>
          </a:prstGeom>
        </p:spPr>
      </p:pic>
      <p:sp>
        <p:nvSpPr>
          <p:cNvPr id="2" name="标题 1"/>
          <p:cNvSpPr>
            <a:spLocks noGrp="1"/>
          </p:cNvSpPr>
          <p:nvPr>
            <p:ph type="title"/>
          </p:nvPr>
        </p:nvSpPr>
        <p:spPr/>
        <p:txBody>
          <a:bodyPr/>
          <a:lstStyle/>
          <a:p>
            <a:r>
              <a:rPr lang="zh-CN" altLang="en-US" dirty="0"/>
              <a:t>相机坐标系</a:t>
            </a:r>
          </a:p>
        </p:txBody>
      </p:sp>
      <p:sp>
        <p:nvSpPr>
          <p:cNvPr id="3" name="内容占位符 2"/>
          <p:cNvSpPr>
            <a:spLocks noGrp="1"/>
          </p:cNvSpPr>
          <p:nvPr>
            <p:ph idx="1"/>
          </p:nvPr>
        </p:nvSpPr>
        <p:spPr/>
        <p:txBody>
          <a:bodyPr>
            <a:normAutofit/>
          </a:bodyPr>
          <a:lstStyle/>
          <a:p>
            <a:pPr>
              <a:buClr>
                <a:srgbClr val="94003F"/>
              </a:buClr>
            </a:pPr>
            <a:r>
              <a:rPr lang="zh-CN" altLang="en-US" sz="2400" dirty="0"/>
              <a:t>在</a:t>
            </a:r>
            <a:r>
              <a:rPr lang="en-US" altLang="zh-CN" sz="2400" dirty="0"/>
              <a:t>OpenGL</a:t>
            </a:r>
            <a:r>
              <a:rPr lang="zh-CN" altLang="en-US" sz="2400" dirty="0"/>
              <a:t>图形管线中顶点通常在三个坐标系间转换：</a:t>
            </a:r>
          </a:p>
          <a:p>
            <a:pPr lvl="1">
              <a:buClr>
                <a:schemeClr val="tx1"/>
              </a:buClr>
            </a:pPr>
            <a:r>
              <a:rPr lang="zh-CN" altLang="en-US" sz="1800" dirty="0">
                <a:solidFill>
                  <a:srgbClr val="00B0F0"/>
                </a:solidFill>
              </a:rPr>
              <a:t>模型坐标系</a:t>
            </a:r>
            <a:r>
              <a:rPr lang="zh-CN" altLang="en-US" sz="1800" dirty="0"/>
              <a:t>：以物体为中心的局部坐标系</a:t>
            </a:r>
            <a:endParaRPr lang="en-US" altLang="zh-CN" sz="1800" dirty="0"/>
          </a:p>
          <a:p>
            <a:pPr lvl="1">
              <a:buClr>
                <a:schemeClr val="tx1"/>
              </a:buClr>
            </a:pPr>
            <a:r>
              <a:rPr lang="zh-CN" altLang="en-US" sz="1800" dirty="0">
                <a:solidFill>
                  <a:srgbClr val="FF91C8"/>
                </a:solidFill>
              </a:rPr>
              <a:t>世界坐标系</a:t>
            </a:r>
            <a:r>
              <a:rPr lang="zh-CN" altLang="en-US" sz="1800" dirty="0"/>
              <a:t>：在该坐标系中构建多个物体之间的三维空间关系</a:t>
            </a:r>
            <a:endParaRPr lang="en-US" altLang="zh-CN" sz="1800" dirty="0"/>
          </a:p>
          <a:p>
            <a:pPr lvl="1">
              <a:buClr>
                <a:schemeClr val="tx1"/>
              </a:buClr>
            </a:pPr>
            <a:r>
              <a:rPr lang="zh-CN" altLang="en-US" sz="1800" dirty="0">
                <a:solidFill>
                  <a:srgbClr val="00B050"/>
                </a:solidFill>
              </a:rPr>
              <a:t>相机坐标系</a:t>
            </a:r>
            <a:r>
              <a:rPr lang="zh-CN" altLang="en-US" sz="1800" dirty="0"/>
              <a:t>：相机成像坐标系</a:t>
            </a:r>
            <a:endParaRPr lang="en-US" altLang="zh-CN" sz="1800" dirty="0"/>
          </a:p>
          <a:p>
            <a:pPr lvl="1">
              <a:buClr>
                <a:schemeClr val="tx1"/>
              </a:buClr>
            </a:pPr>
            <a:endParaRPr lang="en-US" altLang="zh-CN" sz="1800" dirty="0"/>
          </a:p>
          <a:p>
            <a:r>
              <a:rPr lang="en-US" altLang="zh-CN" sz="2400" dirty="0"/>
              <a:t>OpenGL</a:t>
            </a:r>
            <a:r>
              <a:rPr lang="zh-CN" altLang="en-US" sz="2400" dirty="0"/>
              <a:t>中的默认相机：</a:t>
            </a:r>
          </a:p>
          <a:p>
            <a:pPr lvl="1">
              <a:buClr>
                <a:schemeClr val="tx1"/>
              </a:buClr>
            </a:pPr>
            <a:r>
              <a:rPr lang="zh-CN" altLang="en-US" sz="1800" dirty="0"/>
              <a:t>朝向</a:t>
            </a:r>
            <a:r>
              <a:rPr lang="en-US" altLang="zh-CN" sz="1800" dirty="0"/>
              <a:t>-z</a:t>
            </a:r>
            <a:r>
              <a:rPr lang="zh-CN" altLang="en-US" sz="1800" dirty="0"/>
              <a:t>方向</a:t>
            </a:r>
            <a:endParaRPr lang="en-US" altLang="zh-CN" sz="1800" dirty="0"/>
          </a:p>
          <a:p>
            <a:pPr lvl="1">
              <a:buClr>
                <a:schemeClr val="tx1"/>
              </a:buClr>
            </a:pPr>
            <a:r>
              <a:rPr lang="zh-CN" altLang="en-US" sz="1800" dirty="0"/>
              <a:t>默认</a:t>
            </a:r>
            <a:r>
              <a:rPr lang="zh-CN" altLang="en-US" sz="1800" dirty="0">
                <a:solidFill>
                  <a:srgbClr val="FF91C8"/>
                </a:solidFill>
              </a:rPr>
              <a:t>世界坐标系</a:t>
            </a:r>
            <a:r>
              <a:rPr lang="zh-CN" altLang="en-US" sz="1800" dirty="0"/>
              <a:t>与</a:t>
            </a:r>
            <a:r>
              <a:rPr lang="zh-CN" altLang="en-US" sz="1800" dirty="0">
                <a:solidFill>
                  <a:srgbClr val="00B050"/>
                </a:solidFill>
              </a:rPr>
              <a:t>相机坐标系</a:t>
            </a:r>
            <a:r>
              <a:rPr lang="zh-CN" altLang="en-US" sz="1800" dirty="0"/>
              <a:t>重合</a:t>
            </a:r>
            <a:endParaRPr lang="en-US" altLang="zh-CN" sz="1800" dirty="0"/>
          </a:p>
          <a:p>
            <a:pPr>
              <a:buClr>
                <a:srgbClr val="94003F"/>
              </a:buClr>
            </a:pPr>
            <a:endParaRPr lang="en-US" altLang="zh-CN" sz="2400" dirty="0"/>
          </a:p>
          <a:p>
            <a:pPr>
              <a:buClr>
                <a:srgbClr val="94003F"/>
              </a:buClr>
            </a:pPr>
            <a:endParaRPr lang="en-US" altLang="zh-CN" sz="2400" dirty="0"/>
          </a:p>
          <a:p>
            <a:pPr lvl="2"/>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16</a:t>
            </a:fld>
            <a:endParaRPr lang="zh-CN" altLang="en-US"/>
          </a:p>
        </p:txBody>
      </p:sp>
      <p:pic>
        <p:nvPicPr>
          <p:cNvPr id="5" name="图片 4"/>
          <p:cNvPicPr>
            <a:picLocks noChangeAspect="1"/>
          </p:cNvPicPr>
          <p:nvPr/>
        </p:nvPicPr>
        <p:blipFill>
          <a:blip r:embed="rId3"/>
          <a:stretch>
            <a:fillRect/>
          </a:stretch>
        </p:blipFill>
        <p:spPr>
          <a:xfrm>
            <a:off x="1630903" y="4384253"/>
            <a:ext cx="1775055" cy="2138392"/>
          </a:xfrm>
          <a:prstGeom prst="rect">
            <a:avLst/>
          </a:prstGeom>
        </p:spPr>
      </p:pic>
      <p:sp>
        <p:nvSpPr>
          <p:cNvPr id="12" name="文本框 11"/>
          <p:cNvSpPr txBox="1"/>
          <p:nvPr/>
        </p:nvSpPr>
        <p:spPr>
          <a:xfrm>
            <a:off x="394540" y="4647163"/>
            <a:ext cx="1569660" cy="369332"/>
          </a:xfrm>
          <a:prstGeom prst="rect">
            <a:avLst/>
          </a:prstGeom>
          <a:noFill/>
        </p:spPr>
        <p:txBody>
          <a:bodyPr wrap="none" rtlCol="0">
            <a:spAutoFit/>
          </a:bodyPr>
          <a:lstStyle/>
          <a:p>
            <a:pPr algn="ctr"/>
            <a:r>
              <a:rPr lang="zh-CN" altLang="en-US" b="1" dirty="0">
                <a:latin typeface="微软雅黑" panose="020B0503020204020204" pitchFamily="34" charset="-122"/>
                <a:ea typeface="微软雅黑" panose="020B0503020204020204" pitchFamily="34" charset="-122"/>
              </a:rPr>
              <a:t>初始相机位置</a:t>
            </a:r>
          </a:p>
        </p:txBody>
      </p:sp>
      <p:sp>
        <p:nvSpPr>
          <p:cNvPr id="13" name="文本框 12"/>
          <p:cNvSpPr txBox="1"/>
          <p:nvPr/>
        </p:nvSpPr>
        <p:spPr>
          <a:xfrm>
            <a:off x="6359278" y="5722845"/>
            <a:ext cx="1800493" cy="369332"/>
          </a:xfrm>
          <a:prstGeom prst="rect">
            <a:avLst/>
          </a:prstGeom>
          <a:noFill/>
        </p:spPr>
        <p:txBody>
          <a:bodyPr wrap="none" rtlCol="0">
            <a:spAutoFit/>
          </a:bodyPr>
          <a:lstStyle/>
          <a:p>
            <a:pPr algn="ctr"/>
            <a:r>
              <a:rPr lang="zh-CN" altLang="en-US" b="1" dirty="0">
                <a:latin typeface="微软雅黑" panose="020B0503020204020204" pitchFamily="34" charset="-122"/>
                <a:ea typeface="微软雅黑" panose="020B0503020204020204" pitchFamily="34" charset="-122"/>
              </a:rPr>
              <a:t>移动相机坐标系</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LookAt</a:t>
            </a:r>
            <a:r>
              <a:rPr lang="zh-CN" altLang="en-US" dirty="0"/>
              <a:t>函数</a:t>
            </a:r>
          </a:p>
        </p:txBody>
      </p:sp>
      <p:sp>
        <p:nvSpPr>
          <p:cNvPr id="3" name="内容占位符 2"/>
          <p:cNvSpPr>
            <a:spLocks noGrp="1"/>
          </p:cNvSpPr>
          <p:nvPr>
            <p:ph idx="1"/>
          </p:nvPr>
        </p:nvSpPr>
        <p:spPr/>
        <p:txBody>
          <a:bodyPr>
            <a:normAutofit/>
          </a:bodyPr>
          <a:lstStyle/>
          <a:p>
            <a:r>
              <a:rPr lang="en-US" altLang="zh-CN" sz="2400" dirty="0" err="1"/>
              <a:t>LookAt</a:t>
            </a:r>
            <a:r>
              <a:rPr lang="zh-CN" altLang="en-US" sz="2400" dirty="0"/>
              <a:t>函数：</a:t>
            </a:r>
          </a:p>
          <a:p>
            <a:endParaRPr lang="en-US" altLang="zh-CN" sz="2400" dirty="0"/>
          </a:p>
          <a:p>
            <a:endParaRPr lang="en-US" altLang="zh-CN" sz="2400" dirty="0"/>
          </a:p>
          <a:p>
            <a:pPr marL="0" indent="0">
              <a:buNone/>
            </a:pPr>
            <a:endParaRPr lang="en-US" altLang="zh-CN" sz="2400" dirty="0"/>
          </a:p>
          <a:p>
            <a:endParaRPr lang="en-US" altLang="zh-CN" sz="2400" dirty="0"/>
          </a:p>
          <a:p>
            <a:r>
              <a:rPr lang="zh-CN" altLang="en-US" sz="2400" dirty="0"/>
              <a:t>函数解读：</a:t>
            </a:r>
            <a:endParaRPr lang="zh-CN" altLang="en-US" sz="1800" dirty="0"/>
          </a:p>
          <a:p>
            <a:pPr lvl="1">
              <a:buClr>
                <a:schemeClr val="tx1"/>
              </a:buClr>
            </a:pPr>
            <a:r>
              <a:rPr lang="en-US" altLang="zh-CN" sz="1800" b="1" dirty="0"/>
              <a:t>eye</a:t>
            </a:r>
            <a:r>
              <a:rPr lang="en-US" altLang="zh-CN" sz="1800" dirty="0"/>
              <a:t> point</a:t>
            </a:r>
            <a:r>
              <a:rPr lang="zh-CN" altLang="en-US" sz="1800" dirty="0"/>
              <a:t>：视点</a:t>
            </a:r>
            <a:endParaRPr lang="en-US" altLang="zh-CN" sz="1800" dirty="0"/>
          </a:p>
          <a:p>
            <a:pPr lvl="1">
              <a:buClr>
                <a:schemeClr val="tx1"/>
              </a:buClr>
            </a:pPr>
            <a:r>
              <a:rPr lang="en-US" altLang="zh-CN" sz="1800" b="1" dirty="0"/>
              <a:t>at</a:t>
            </a:r>
            <a:r>
              <a:rPr lang="en-US" altLang="zh-CN" sz="1800" dirty="0"/>
              <a:t> point</a:t>
            </a:r>
            <a:r>
              <a:rPr lang="zh-CN" altLang="en-US" sz="1800" dirty="0"/>
              <a:t>：参考点</a:t>
            </a:r>
            <a:endParaRPr lang="en-US" altLang="zh-CN" sz="1800" dirty="0"/>
          </a:p>
          <a:p>
            <a:pPr lvl="1">
              <a:buClr>
                <a:schemeClr val="tx1"/>
              </a:buClr>
            </a:pPr>
            <a:r>
              <a:rPr lang="en-US" altLang="zh-CN" sz="1800" b="1" dirty="0" err="1">
                <a:solidFill>
                  <a:srgbClr val="FF0000"/>
                </a:solidFill>
              </a:rPr>
              <a:t>vpn</a:t>
            </a:r>
            <a:r>
              <a:rPr lang="en-US" altLang="zh-CN" sz="1800" dirty="0">
                <a:solidFill>
                  <a:srgbClr val="FF0000"/>
                </a:solidFill>
              </a:rPr>
              <a:t> = </a:t>
            </a:r>
            <a:r>
              <a:rPr lang="en-US" altLang="zh-CN" sz="1800" b="1" dirty="0">
                <a:solidFill>
                  <a:srgbClr val="FF0000"/>
                </a:solidFill>
              </a:rPr>
              <a:t>eye</a:t>
            </a:r>
            <a:r>
              <a:rPr lang="zh-CN" altLang="en-US" sz="1800" b="1" dirty="0">
                <a:solidFill>
                  <a:srgbClr val="FF0000"/>
                </a:solidFill>
              </a:rPr>
              <a:t> </a:t>
            </a:r>
            <a:r>
              <a:rPr lang="en-US" altLang="zh-CN" sz="1800" b="1" dirty="0">
                <a:solidFill>
                  <a:srgbClr val="FF0000"/>
                </a:solidFill>
              </a:rPr>
              <a:t>–</a:t>
            </a:r>
            <a:r>
              <a:rPr lang="zh-CN" altLang="en-US" sz="1800" b="1" dirty="0">
                <a:solidFill>
                  <a:srgbClr val="FF0000"/>
                </a:solidFill>
              </a:rPr>
              <a:t> </a:t>
            </a:r>
            <a:r>
              <a:rPr lang="en-US" altLang="zh-CN" sz="1800" b="1" dirty="0">
                <a:solidFill>
                  <a:srgbClr val="FF0000"/>
                </a:solidFill>
              </a:rPr>
              <a:t>at</a:t>
            </a:r>
            <a:endParaRPr lang="en-US" altLang="zh-CN" sz="2400" b="1" dirty="0">
              <a:solidFill>
                <a:srgbClr val="FF0000"/>
              </a:solidFill>
            </a:endParaRPr>
          </a:p>
          <a:p>
            <a:endParaRPr lang="en-US" altLang="zh-CN" sz="2400" dirty="0"/>
          </a:p>
          <a:p>
            <a:endParaRPr lang="en-US" altLang="zh-CN" sz="2400" dirty="0"/>
          </a:p>
          <a:p>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17</a:t>
            </a:fld>
            <a:endParaRPr lang="zh-CN" altLang="en-US"/>
          </a:p>
        </p:txBody>
      </p:sp>
      <p:pic>
        <p:nvPicPr>
          <p:cNvPr id="5" name="图片 4"/>
          <p:cNvPicPr>
            <a:picLocks noChangeAspect="1"/>
          </p:cNvPicPr>
          <p:nvPr/>
        </p:nvPicPr>
        <p:blipFill>
          <a:blip r:embed="rId2"/>
          <a:stretch>
            <a:fillRect/>
          </a:stretch>
        </p:blipFill>
        <p:spPr>
          <a:xfrm>
            <a:off x="4332589" y="3860073"/>
            <a:ext cx="4105729" cy="2738015"/>
          </a:xfrm>
          <a:prstGeom prst="rect">
            <a:avLst/>
          </a:prstGeom>
        </p:spPr>
      </p:pic>
      <p:sp>
        <p:nvSpPr>
          <p:cNvPr id="10" name="矩形 9"/>
          <p:cNvSpPr/>
          <p:nvPr/>
        </p:nvSpPr>
        <p:spPr>
          <a:xfrm>
            <a:off x="1076756" y="1849788"/>
            <a:ext cx="6344879" cy="1477328"/>
          </a:xfrm>
          <a:prstGeom prst="rect">
            <a:avLst/>
          </a:prstGeom>
          <a:solidFill>
            <a:srgbClr val="BDD7EE">
              <a:alpha val="52941"/>
            </a:srgbClr>
          </a:solidFill>
        </p:spPr>
        <p:txBody>
          <a:bodyPr wrap="square">
            <a:spAutoFit/>
          </a:bodyPr>
          <a:lstStyle/>
          <a:p>
            <a:r>
              <a:rPr lang="en-US" altLang="zh-CN" b="1" dirty="0">
                <a:solidFill>
                  <a:srgbClr val="0000FF"/>
                </a:solidFill>
                <a:latin typeface="ZztexMono-Regular"/>
              </a:rPr>
              <a:t>mat4 </a:t>
            </a:r>
            <a:r>
              <a:rPr lang="en-US" altLang="zh-CN" b="1" dirty="0" err="1">
                <a:latin typeface="ZztexMono-Regular"/>
              </a:rPr>
              <a:t>LookAt</a:t>
            </a:r>
            <a:r>
              <a:rPr lang="en-US" altLang="zh-CN" b="1" dirty="0">
                <a:latin typeface="ZztexMono-Regular"/>
              </a:rPr>
              <a:t>(</a:t>
            </a:r>
            <a:r>
              <a:rPr lang="en-US" altLang="zh-CN" b="1" dirty="0">
                <a:solidFill>
                  <a:srgbClr val="0000FF"/>
                </a:solidFill>
                <a:latin typeface="ZztexMono-Regular"/>
              </a:rPr>
              <a:t>point4 </a:t>
            </a:r>
            <a:r>
              <a:rPr lang="en-US" altLang="zh-CN" b="1" dirty="0">
                <a:latin typeface="ZztexMono-Regular"/>
              </a:rPr>
              <a:t>eye,</a:t>
            </a:r>
            <a:r>
              <a:rPr lang="en-US" altLang="zh-CN" b="1" dirty="0">
                <a:solidFill>
                  <a:srgbClr val="0000FF"/>
                </a:solidFill>
                <a:latin typeface="ZztexMono-Regular"/>
              </a:rPr>
              <a:t> point4 </a:t>
            </a:r>
            <a:r>
              <a:rPr lang="en-US" altLang="zh-CN" b="1" dirty="0">
                <a:latin typeface="ZztexMono-Regular"/>
              </a:rPr>
              <a:t>at,</a:t>
            </a:r>
            <a:r>
              <a:rPr lang="en-US" altLang="zh-CN" b="1" dirty="0">
                <a:solidFill>
                  <a:srgbClr val="0000FF"/>
                </a:solidFill>
                <a:latin typeface="ZztexMono-Regular"/>
              </a:rPr>
              <a:t> vec4 </a:t>
            </a:r>
            <a:r>
              <a:rPr lang="en-US" altLang="zh-CN" b="1" dirty="0" err="1">
                <a:latin typeface="ZztexMono-Regular"/>
              </a:rPr>
              <a:t>v</a:t>
            </a:r>
            <a:r>
              <a:rPr lang="en-US" altLang="zh-CN" b="1" baseline="-25000" dirty="0" err="1">
                <a:latin typeface="ZztexMono-Regular"/>
              </a:rPr>
              <a:t>up</a:t>
            </a:r>
            <a:r>
              <a:rPr lang="en-US" altLang="zh-CN" b="1" dirty="0">
                <a:latin typeface="ZztexMono-Regular"/>
              </a:rPr>
              <a:t>)</a:t>
            </a:r>
          </a:p>
          <a:p>
            <a:endParaRPr lang="en-US" altLang="zh-CN" b="1" dirty="0">
              <a:latin typeface="ZztexMono-Regular"/>
            </a:endParaRPr>
          </a:p>
          <a:p>
            <a:r>
              <a:rPr lang="en-US" altLang="zh-CN" b="1" dirty="0">
                <a:solidFill>
                  <a:srgbClr val="0000FF"/>
                </a:solidFill>
                <a:latin typeface="ZztexMono-Regular"/>
              </a:rPr>
              <a:t>mat4</a:t>
            </a:r>
            <a:r>
              <a:rPr lang="en-US" altLang="zh-CN" b="1" dirty="0">
                <a:latin typeface="ZztexMono-Regular"/>
              </a:rPr>
              <a:t> </a:t>
            </a:r>
            <a:r>
              <a:rPr lang="en-US" altLang="zh-CN" b="1" dirty="0" err="1">
                <a:latin typeface="ZztexMono-Regular"/>
              </a:rPr>
              <a:t>LookAt</a:t>
            </a:r>
            <a:r>
              <a:rPr lang="en-US" altLang="zh-CN" b="1" dirty="0">
                <a:latin typeface="ZztexMono-Regular"/>
              </a:rPr>
              <a:t>(</a:t>
            </a:r>
            <a:r>
              <a:rPr lang="en-US" altLang="zh-CN" b="1" dirty="0" err="1">
                <a:solidFill>
                  <a:srgbClr val="0000FF"/>
                </a:solidFill>
                <a:latin typeface="ZztexMono-Regular"/>
              </a:rPr>
              <a:t>GLfloat</a:t>
            </a:r>
            <a:r>
              <a:rPr lang="en-US" altLang="zh-CN" b="1" dirty="0">
                <a:latin typeface="ZztexMono-Regular"/>
              </a:rPr>
              <a:t> </a:t>
            </a:r>
            <a:r>
              <a:rPr lang="en-US" altLang="zh-CN" b="1" dirty="0" err="1">
                <a:latin typeface="ZztexMono-Regular"/>
              </a:rPr>
              <a:t>eyex</a:t>
            </a:r>
            <a:r>
              <a:rPr lang="en-US" altLang="zh-CN" b="1" dirty="0">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err="1">
                <a:latin typeface="ZztexMono-Regular"/>
              </a:rPr>
              <a:t>eyey</a:t>
            </a:r>
            <a:r>
              <a:rPr lang="en-US" altLang="zh-CN" b="1" dirty="0">
                <a:latin typeface="ZztexMono-Regular"/>
              </a:rPr>
              <a:t>, </a:t>
            </a:r>
            <a:r>
              <a:rPr lang="en-US" altLang="zh-CN" b="1" dirty="0" err="1">
                <a:solidFill>
                  <a:srgbClr val="0000FF"/>
                </a:solidFill>
                <a:latin typeface="ZztexMono-Regular"/>
              </a:rPr>
              <a:t>GLfloat</a:t>
            </a:r>
            <a:r>
              <a:rPr lang="en-US" altLang="zh-CN" b="1" dirty="0">
                <a:latin typeface="ZztexMono-Regular"/>
              </a:rPr>
              <a:t> </a:t>
            </a:r>
            <a:r>
              <a:rPr lang="en-US" altLang="zh-CN" b="1" dirty="0" err="1">
                <a:latin typeface="ZztexMono-Regular"/>
              </a:rPr>
              <a:t>eyez</a:t>
            </a:r>
            <a:r>
              <a:rPr lang="en-US" altLang="zh-CN" b="1" dirty="0">
                <a:latin typeface="ZztexMono-Regular"/>
              </a:rPr>
              <a:t>,</a:t>
            </a:r>
          </a:p>
          <a:p>
            <a:pPr lvl="3"/>
            <a:r>
              <a:rPr lang="en-US" altLang="zh-CN" b="1" dirty="0" err="1">
                <a:solidFill>
                  <a:srgbClr val="0000FF"/>
                </a:solidFill>
                <a:latin typeface="ZztexMono-Regular"/>
              </a:rPr>
              <a:t>GLfloat</a:t>
            </a:r>
            <a:r>
              <a:rPr lang="en-US" altLang="zh-CN" b="1" dirty="0">
                <a:latin typeface="ZztexMono-Regular"/>
              </a:rPr>
              <a:t> </a:t>
            </a:r>
            <a:r>
              <a:rPr lang="en-US" altLang="zh-CN" b="1" dirty="0" err="1">
                <a:latin typeface="ZztexMono-Regular"/>
              </a:rPr>
              <a:t>atx</a:t>
            </a:r>
            <a:r>
              <a:rPr lang="en-US" altLang="zh-CN" b="1" dirty="0">
                <a:latin typeface="ZztexMono-Regular"/>
              </a:rPr>
              <a:t>, </a:t>
            </a:r>
            <a:r>
              <a:rPr lang="en-US" altLang="zh-CN" b="1" dirty="0" err="1">
                <a:solidFill>
                  <a:srgbClr val="0000FF"/>
                </a:solidFill>
                <a:latin typeface="ZztexMono-Regular"/>
              </a:rPr>
              <a:t>GLfloat</a:t>
            </a:r>
            <a:r>
              <a:rPr lang="en-US" altLang="zh-CN" b="1" dirty="0">
                <a:latin typeface="ZztexMono-Regular"/>
              </a:rPr>
              <a:t> </a:t>
            </a:r>
            <a:r>
              <a:rPr lang="en-US" altLang="zh-CN" b="1" dirty="0" err="1">
                <a:latin typeface="ZztexMono-Regular"/>
              </a:rPr>
              <a:t>aty</a:t>
            </a:r>
            <a:r>
              <a:rPr lang="en-US" altLang="zh-CN" b="1" dirty="0">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err="1">
                <a:latin typeface="ZztexMono-Regular"/>
              </a:rPr>
              <a:t>atz</a:t>
            </a:r>
            <a:r>
              <a:rPr lang="en-US" altLang="zh-CN" b="1" dirty="0">
                <a:latin typeface="ZztexMono-Regular"/>
              </a:rPr>
              <a:t>,</a:t>
            </a:r>
          </a:p>
          <a:p>
            <a:pPr lvl="3"/>
            <a:r>
              <a:rPr lang="en-US" altLang="zh-CN" b="1" dirty="0" err="1">
                <a:solidFill>
                  <a:srgbClr val="0000FF"/>
                </a:solidFill>
                <a:latin typeface="ZztexMono-Regular"/>
              </a:rPr>
              <a:t>GLfloat</a:t>
            </a:r>
            <a:r>
              <a:rPr lang="en-US" altLang="zh-CN" b="1" dirty="0">
                <a:latin typeface="ZztexMono-Regular"/>
              </a:rPr>
              <a:t> </a:t>
            </a:r>
            <a:r>
              <a:rPr lang="en-US" altLang="zh-CN" b="1" dirty="0" err="1">
                <a:latin typeface="ZztexMono-Regular"/>
              </a:rPr>
              <a:t>upx</a:t>
            </a:r>
            <a:r>
              <a:rPr lang="en-US" altLang="zh-CN" b="1" dirty="0">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err="1">
                <a:latin typeface="ZztexMono-Regular"/>
              </a:rPr>
              <a:t>upy</a:t>
            </a:r>
            <a:r>
              <a:rPr lang="en-US" altLang="zh-CN" b="1" dirty="0">
                <a:latin typeface="ZztexMono-Regular"/>
              </a:rPr>
              <a:t>, </a:t>
            </a:r>
            <a:r>
              <a:rPr lang="en-US" altLang="zh-CN" b="1" dirty="0" err="1">
                <a:solidFill>
                  <a:srgbClr val="0000FF"/>
                </a:solidFill>
                <a:latin typeface="ZztexMono-Regular"/>
              </a:rPr>
              <a:t>GLfloat</a:t>
            </a:r>
            <a:r>
              <a:rPr lang="en-US" altLang="zh-CN" b="1" dirty="0">
                <a:latin typeface="ZztexMono-Regular"/>
              </a:rPr>
              <a:t> </a:t>
            </a:r>
            <a:r>
              <a:rPr lang="en-US" altLang="zh-CN" b="1" dirty="0" err="1">
                <a:latin typeface="ZztexMono-Regular"/>
              </a:rPr>
              <a:t>upz</a:t>
            </a:r>
            <a:r>
              <a:rPr lang="en-US" altLang="zh-CN" b="1" dirty="0">
                <a:latin typeface="ZztexMono-Regular"/>
              </a:rPr>
              <a:t>)</a:t>
            </a:r>
            <a:endParaRPr lang="zh-CN" altLang="en-US" dirty="0"/>
          </a:p>
        </p:txBody>
      </p:sp>
      <p:pic>
        <p:nvPicPr>
          <p:cNvPr id="13" name="图片 12"/>
          <p:cNvPicPr>
            <a:picLocks noChangeAspect="1"/>
          </p:cNvPicPr>
          <p:nvPr/>
        </p:nvPicPr>
        <p:blipFill>
          <a:blip r:embed="rId3"/>
          <a:stretch>
            <a:fillRect/>
          </a:stretch>
        </p:blipFill>
        <p:spPr>
          <a:xfrm>
            <a:off x="1271324" y="5135769"/>
            <a:ext cx="1109759" cy="555920"/>
          </a:xfrm>
          <a:prstGeom prst="rect">
            <a:avLst/>
          </a:prstGeom>
        </p:spPr>
      </p:pic>
      <p:pic>
        <p:nvPicPr>
          <p:cNvPr id="15" name="图片 14"/>
          <p:cNvPicPr>
            <a:picLocks noChangeAspect="1"/>
          </p:cNvPicPr>
          <p:nvPr/>
        </p:nvPicPr>
        <p:blipFill>
          <a:blip r:embed="rId4"/>
          <a:stretch>
            <a:fillRect/>
          </a:stretch>
        </p:blipFill>
        <p:spPr>
          <a:xfrm>
            <a:off x="2506390" y="5083633"/>
            <a:ext cx="1272542" cy="605399"/>
          </a:xfrm>
          <a:prstGeom prst="rect">
            <a:avLst/>
          </a:prstGeom>
        </p:spPr>
      </p:pic>
      <mc:AlternateContent xmlns:mc="http://schemas.openxmlformats.org/markup-compatibility/2006" xmlns:a14="http://schemas.microsoft.com/office/drawing/2010/main">
        <mc:Choice Requires="a14">
          <p:sp>
            <p:nvSpPr>
              <p:cNvPr id="6" name="TextBox 5"/>
              <p:cNvSpPr txBox="1"/>
              <p:nvPr/>
            </p:nvSpPr>
            <p:spPr>
              <a:xfrm>
                <a:off x="1146018" y="5924462"/>
                <a:ext cx="1360372" cy="6219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1" i="0" dirty="0" smtClean="0">
                          <a:latin typeface="Cambria Math" panose="02040503050406030204" charset="0"/>
                        </a:rPr>
                        <m:t>𝐯</m:t>
                      </m:r>
                      <m:r>
                        <a:rPr lang="zh-CN" altLang="en-US" b="1" i="0" dirty="0" smtClean="0">
                          <a:latin typeface="Cambria Math" panose="02040503050406030204" charset="0"/>
                        </a:rPr>
                        <m:t> </m:t>
                      </m:r>
                      <m:r>
                        <a:rPr lang="en-US" altLang="zh-CN" b="1" i="0" dirty="0" smtClean="0">
                          <a:latin typeface="Cambria Math" panose="02040503050406030204" charset="0"/>
                        </a:rPr>
                        <m:t>=</m:t>
                      </m:r>
                      <m:r>
                        <a:rPr lang="zh-CN" altLang="en-US" b="1" i="0" dirty="0" smtClean="0">
                          <a:latin typeface="Cambria Math" panose="02040503050406030204" charset="0"/>
                        </a:rPr>
                        <m:t> </m:t>
                      </m:r>
                      <m:f>
                        <m:fPr>
                          <m:ctrlPr>
                            <a:rPr lang="en-US" altLang="zh-CN" b="1" i="1" dirty="0" smtClean="0">
                              <a:latin typeface="Cambria Math" panose="02040503050406030204" pitchFamily="18" charset="0"/>
                            </a:rPr>
                          </m:ctrlPr>
                        </m:fPr>
                        <m:num>
                          <m:r>
                            <a:rPr lang="en-US" altLang="zh-CN" b="1" i="0" dirty="0" smtClean="0">
                              <a:latin typeface="Cambria Math" panose="02040503050406030204" charset="0"/>
                            </a:rPr>
                            <m:t>𝐧</m:t>
                          </m:r>
                          <m:r>
                            <a:rPr lang="en-US" altLang="zh-CN" b="1" i="0" dirty="0" smtClean="0">
                              <a:latin typeface="Cambria Math" panose="02040503050406030204" charset="0"/>
                              <a:ea typeface="Cambria Math" panose="02040503050406030204" charset="0"/>
                              <a:cs typeface="Cambria Math" panose="02040503050406030204" charset="0"/>
                            </a:rPr>
                            <m:t>×</m:t>
                          </m:r>
                          <m:r>
                            <a:rPr lang="en-US" altLang="zh-CN" b="1" i="0" dirty="0" smtClean="0">
                              <a:latin typeface="Cambria Math" panose="02040503050406030204" charset="0"/>
                              <a:ea typeface="Cambria Math" panose="02040503050406030204" charset="0"/>
                              <a:cs typeface="Cambria Math" panose="02040503050406030204" charset="0"/>
                            </a:rPr>
                            <m:t>𝐮</m:t>
                          </m:r>
                        </m:num>
                        <m:den>
                          <m:d>
                            <m:dPr>
                              <m:begChr m:val="|"/>
                              <m:endChr m:val="|"/>
                              <m:ctrlPr>
                                <a:rPr lang="hr-HR" altLang="zh-CN" b="1" i="1" dirty="0" smtClean="0">
                                  <a:latin typeface="Cambria Math" panose="02040503050406030204" pitchFamily="18" charset="0"/>
                                </a:rPr>
                              </m:ctrlPr>
                            </m:dPr>
                            <m:e>
                              <m:r>
                                <a:rPr lang="en-US" altLang="zh-CN" b="1" i="0" dirty="0">
                                  <a:latin typeface="Cambria Math" panose="02040503050406030204" charset="0"/>
                                </a:rPr>
                                <m:t>𝐧</m:t>
                              </m:r>
                              <m:r>
                                <a:rPr lang="en-US" altLang="zh-CN" b="1" i="0" dirty="0">
                                  <a:latin typeface="Cambria Math" panose="02040503050406030204" charset="0"/>
                                  <a:ea typeface="Cambria Math" panose="02040503050406030204" charset="0"/>
                                  <a:cs typeface="Cambria Math" panose="02040503050406030204" charset="0"/>
                                </a:rPr>
                                <m:t>×</m:t>
                              </m:r>
                              <m:r>
                                <a:rPr lang="en-US" altLang="zh-CN" b="1" i="0" dirty="0">
                                  <a:latin typeface="Cambria Math" panose="02040503050406030204" charset="0"/>
                                  <a:ea typeface="Cambria Math" panose="02040503050406030204" charset="0"/>
                                  <a:cs typeface="Cambria Math" panose="02040503050406030204" charset="0"/>
                                </a:rPr>
                                <m:t>𝐮</m:t>
                              </m:r>
                            </m:e>
                          </m:d>
                        </m:den>
                      </m:f>
                    </m:oMath>
                  </m:oMathPara>
                </a14:m>
                <a:endParaRPr lang="en-US" b="1" dirty="0"/>
              </a:p>
            </p:txBody>
          </p:sp>
        </mc:Choice>
        <mc:Fallback xmlns="">
          <p:sp>
            <p:nvSpPr>
              <p:cNvPr id="6" name="TextBox 5"/>
              <p:cNvSpPr txBox="1">
                <a:spLocks noRot="1" noChangeAspect="1" noMove="1" noResize="1" noEditPoints="1" noAdjustHandles="1" noChangeArrowheads="1" noChangeShapeType="1" noTextEdit="1"/>
              </p:cNvSpPr>
              <p:nvPr/>
            </p:nvSpPr>
            <p:spPr>
              <a:xfrm>
                <a:off x="1146018" y="5924462"/>
                <a:ext cx="1360372" cy="621965"/>
              </a:xfrm>
              <a:prstGeom prst="rect">
                <a:avLst/>
              </a:prstGeom>
              <a:blipFill rotWithShape="1">
                <a:blip r:embed="rId5"/>
                <a:stretch>
                  <a:fillRect l="-35" t="-88" r="-2844" b="34"/>
                </a:stretch>
              </a:blipFill>
            </p:spPr>
            <p:txBody>
              <a:bodyPr/>
              <a:lstStyle/>
              <a:p>
                <a:r>
                  <a:rPr lang="zh-CN" altLang="en-US">
                    <a:noFill/>
                  </a:rPr>
                  <a:t> </a:t>
                </a:r>
              </a:p>
            </p:txBody>
          </p:sp>
        </mc:Fallback>
      </mc:AlternateContent>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坐标系变换</a:t>
            </a:r>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t>18</a:t>
            </a:fld>
            <a:endParaRPr lang="zh-CN" altLang="en-US" dirty="0"/>
          </a:p>
        </p:txBody>
      </p:sp>
      <p:sp>
        <p:nvSpPr>
          <p:cNvPr id="7" name="Content Placeholder 2"/>
          <p:cNvSpPr>
            <a:spLocks noGrp="1"/>
          </p:cNvSpPr>
          <p:nvPr>
            <p:ph idx="1"/>
          </p:nvPr>
        </p:nvSpPr>
        <p:spPr>
          <a:xfrm>
            <a:off x="628650" y="1316831"/>
            <a:ext cx="7886700" cy="4351338"/>
          </a:xfrm>
        </p:spPr>
        <p:txBody>
          <a:bodyPr/>
          <a:lstStyle/>
          <a:p>
            <a:r>
              <a:rPr lang="zh-CN" altLang="en-US" dirty="0">
                <a:latin typeface="微软雅黑" panose="020B0503020204020204" pitchFamily="34" charset="-122"/>
                <a:ea typeface="微软雅黑" panose="020B0503020204020204" pitchFamily="34" charset="-122"/>
                <a:cs typeface="微软雅黑" panose="020B0503020204020204" pitchFamily="34" charset="-122"/>
              </a:rPr>
              <a:t>考虑同一个向量相对于两组不同基的表示</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cs typeface="微软雅黑" panose="020B0503020204020204" pitchFamily="34" charset="-122"/>
              </a:rPr>
              <a:t>假设表示分别是</a:t>
            </a:r>
          </a:p>
          <a:p>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a:buNone/>
            </a:pP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p:txBody>
      </p:sp>
      <mc:AlternateContent xmlns:mc="http://schemas.openxmlformats.org/markup-compatibility/2006" xmlns:a14="http://schemas.microsoft.com/office/drawing/2010/main">
        <mc:Choice Requires="a14">
          <p:sp>
            <p:nvSpPr>
              <p:cNvPr id="8" name="Text Box 6"/>
              <p:cNvSpPr txBox="1">
                <a:spLocks noChangeArrowheads="1"/>
              </p:cNvSpPr>
              <p:nvPr/>
            </p:nvSpPr>
            <p:spPr bwMode="auto">
              <a:xfrm>
                <a:off x="906451" y="2470532"/>
                <a:ext cx="2616422" cy="507831"/>
              </a:xfrm>
              <a:prstGeom prst="rect">
                <a:avLst/>
              </a:prstGeom>
              <a:noFill/>
              <a:ln w="12700">
                <a:noFill/>
                <a:miter lim="800000"/>
                <a:headEnd type="none" w="sm" len="sm"/>
                <a:tailEnd type="none" w="sm" len="sm"/>
              </a:ln>
            </p:spPr>
            <p:txBody>
              <a:bodyPr wrap="none" anchorCtr="1">
                <a:spAutoFit/>
              </a:bodyPr>
              <a:lstStyle/>
              <a:p>
                <a:pPr/>
                <a14:m>
                  <m:oMathPara xmlns:m="http://schemas.openxmlformats.org/officeDocument/2006/math">
                    <m:oMathParaPr>
                      <m:jc m:val="centerGroup"/>
                    </m:oMathParaPr>
                    <m:oMath xmlns:m="http://schemas.openxmlformats.org/officeDocument/2006/math">
                      <m:r>
                        <a:rPr lang="en-US" altLang="zh-CN" sz="2700" b="1" i="1" dirty="0" smtClean="0">
                          <a:latin typeface="Cambria Math" panose="02040503050406030204" charset="0"/>
                          <a:ea typeface="微软雅黑" panose="020B0503020204020204" pitchFamily="34" charset="-122"/>
                          <a:cs typeface="微软雅黑" panose="020B0503020204020204" pitchFamily="34" charset="-122"/>
                        </a:rPr>
                        <m:t>𝒂</m:t>
                      </m:r>
                      <m:r>
                        <a:rPr lang="en-US" altLang="zh-CN" sz="2700" i="1" dirty="0">
                          <a:latin typeface="Cambria Math" panose="02040503050406030204" charset="0"/>
                          <a:ea typeface="微软雅黑" panose="020B0503020204020204" pitchFamily="34" charset="-122"/>
                          <a:cs typeface="微软雅黑" panose="020B0503020204020204" pitchFamily="34" charset="-122"/>
                        </a:rPr>
                        <m:t>=</m:t>
                      </m:r>
                      <m:sSup>
                        <m:sSupPr>
                          <m:ctrlPr>
                            <a:rPr lang="en-US" altLang="zh-CN" sz="2700" b="0" i="1" dirty="0" smtClean="0">
                              <a:latin typeface="Cambria Math" panose="02040503050406030204" pitchFamily="18" charset="0"/>
                              <a:ea typeface="微软雅黑" panose="020B0503020204020204" pitchFamily="34" charset="-122"/>
                              <a:cs typeface="微软雅黑" panose="020B0503020204020204" pitchFamily="34" charset="-122"/>
                            </a:rPr>
                          </m:ctrlPr>
                        </m:sSupPr>
                        <m:e>
                          <m:d>
                            <m:dPr>
                              <m:begChr m:val="["/>
                              <m:endChr m:val="]"/>
                              <m:ctrlPr>
                                <a:rPr lang="en-US" altLang="zh-CN" sz="2700" i="1" dirty="0">
                                  <a:latin typeface="Cambria Math" panose="02040503050406030204" pitchFamily="18" charset="0"/>
                                  <a:ea typeface="微软雅黑" panose="020B0503020204020204" pitchFamily="34" charset="-122"/>
                                  <a:cs typeface="微软雅黑" panose="020B0503020204020204" pitchFamily="34" charset="-122"/>
                                </a:rPr>
                              </m:ctrlPr>
                            </m:dPr>
                            <m:e>
                              <m:r>
                                <a:rPr lang="en-US" altLang="zh-CN" sz="2700" i="1" dirty="0">
                                  <a:latin typeface="Cambria Math" panose="02040503050406030204" charset="0"/>
                                  <a:ea typeface="微软雅黑" panose="020B0503020204020204" pitchFamily="34" charset="-122"/>
                                  <a:cs typeface="微软雅黑" panose="020B0503020204020204" pitchFamily="34" charset="-122"/>
                                </a:rPr>
                                <m:t>𝑎</m:t>
                              </m:r>
                              <m:r>
                                <a:rPr lang="en-US" altLang="zh-CN" sz="2700" i="1" baseline="-25000" dirty="0">
                                  <a:latin typeface="Cambria Math" panose="02040503050406030204" charset="0"/>
                                  <a:ea typeface="微软雅黑" panose="020B0503020204020204" pitchFamily="34" charset="-122"/>
                                  <a:cs typeface="微软雅黑" panose="020B0503020204020204" pitchFamily="34" charset="-122"/>
                                </a:rPr>
                                <m:t>1</m:t>
                              </m:r>
                              <m:r>
                                <a:rPr lang="en-US" altLang="zh-CN" sz="2700" i="1" dirty="0">
                                  <a:latin typeface="Cambria Math" panose="02040503050406030204" charset="0"/>
                                  <a:ea typeface="微软雅黑" panose="020B0503020204020204" pitchFamily="34" charset="-122"/>
                                  <a:cs typeface="微软雅黑" panose="020B0503020204020204" pitchFamily="34" charset="-122"/>
                                </a:rPr>
                                <m:t> </m:t>
                              </m:r>
                              <m:r>
                                <a:rPr lang="en-US" altLang="zh-CN" sz="2700" i="1" dirty="0">
                                  <a:latin typeface="Cambria Math" panose="02040503050406030204" charset="0"/>
                                  <a:ea typeface="微软雅黑" panose="020B0503020204020204" pitchFamily="34" charset="-122"/>
                                  <a:cs typeface="微软雅黑" panose="020B0503020204020204" pitchFamily="34" charset="-122"/>
                                </a:rPr>
                                <m:t>𝑎</m:t>
                              </m:r>
                              <m:r>
                                <a:rPr lang="en-US" altLang="zh-CN" sz="2700" i="1" baseline="-25000" dirty="0">
                                  <a:latin typeface="Cambria Math" panose="02040503050406030204" charset="0"/>
                                  <a:ea typeface="微软雅黑" panose="020B0503020204020204" pitchFamily="34" charset="-122"/>
                                  <a:cs typeface="微软雅黑" panose="020B0503020204020204" pitchFamily="34" charset="-122"/>
                                </a:rPr>
                                <m:t>2</m:t>
                              </m:r>
                              <m:r>
                                <a:rPr lang="en-US" altLang="zh-CN" sz="2700" i="1" dirty="0">
                                  <a:latin typeface="Cambria Math" panose="02040503050406030204" charset="0"/>
                                  <a:ea typeface="微软雅黑" panose="020B0503020204020204" pitchFamily="34" charset="-122"/>
                                  <a:cs typeface="微软雅黑" panose="020B0503020204020204" pitchFamily="34" charset="-122"/>
                                </a:rPr>
                                <m:t>  </m:t>
                              </m:r>
                              <m:r>
                                <a:rPr lang="en-US" altLang="zh-CN" sz="2700" i="1" dirty="0">
                                  <a:latin typeface="Cambria Math" panose="02040503050406030204" charset="0"/>
                                  <a:ea typeface="微软雅黑" panose="020B0503020204020204" pitchFamily="34" charset="-122"/>
                                  <a:cs typeface="微软雅黑" panose="020B0503020204020204" pitchFamily="34" charset="-122"/>
                                </a:rPr>
                                <m:t>𝑎</m:t>
                              </m:r>
                              <m:r>
                                <a:rPr lang="en-US" altLang="zh-CN" sz="2700" i="1" baseline="-25000" dirty="0">
                                  <a:latin typeface="Cambria Math" panose="02040503050406030204" charset="0"/>
                                  <a:ea typeface="微软雅黑" panose="020B0503020204020204" pitchFamily="34" charset="-122"/>
                                  <a:cs typeface="微软雅黑" panose="020B0503020204020204" pitchFamily="34" charset="-122"/>
                                </a:rPr>
                                <m:t>3 </m:t>
                              </m:r>
                            </m:e>
                          </m:d>
                        </m:e>
                        <m:sup>
                          <m:r>
                            <a:rPr lang="en-US" altLang="zh-CN" sz="2700" b="0" i="1" dirty="0" smtClean="0">
                              <a:latin typeface="Cambria Math" panose="02040503050406030204" charset="0"/>
                              <a:ea typeface="微软雅黑" panose="020B0503020204020204" pitchFamily="34" charset="-122"/>
                              <a:cs typeface="微软雅黑" panose="020B0503020204020204" pitchFamily="34" charset="-122"/>
                            </a:rPr>
                            <m:t>𝑇</m:t>
                          </m:r>
                        </m:sup>
                      </m:sSup>
                    </m:oMath>
                  </m:oMathPara>
                </a14:m>
                <a:endParaRPr lang="en-US" altLang="zh-CN" sz="2700" dirty="0">
                  <a:latin typeface="微软雅黑" panose="020B0503020204020204" pitchFamily="34" charset="-122"/>
                  <a:ea typeface="微软雅黑" panose="020B0503020204020204" pitchFamily="34" charset="-122"/>
                  <a:cs typeface="微软雅黑" panose="020B0503020204020204" pitchFamily="34" charset="-122"/>
                </a:endParaRPr>
              </a:p>
            </p:txBody>
          </p:sp>
        </mc:Choice>
        <mc:Fallback xmlns="">
          <p:sp>
            <p:nvSpPr>
              <p:cNvPr id="8" name="Text Box 6"/>
              <p:cNvSpPr txBox="1">
                <a:spLocks noRot="1" noChangeAspect="1" noMove="1" noResize="1" noEditPoints="1" noAdjustHandles="1" noChangeArrowheads="1" noChangeShapeType="1" noTextEdit="1"/>
              </p:cNvSpPr>
              <p:nvPr/>
            </p:nvSpPr>
            <p:spPr bwMode="auto">
              <a:xfrm>
                <a:off x="906451" y="2470532"/>
                <a:ext cx="2616422" cy="507831"/>
              </a:xfrm>
              <a:prstGeom prst="rect">
                <a:avLst/>
              </a:prstGeom>
              <a:blipFill rotWithShape="1">
                <a:blip r:embed="rId2"/>
                <a:stretch>
                  <a:fillRect l="-12" t="-75" r="20" b="-6835"/>
                </a:stretch>
              </a:blipFill>
              <a:ln w="12700">
                <a:noFill/>
                <a:miter lim="800000"/>
                <a:headEnd type="none" w="sm" len="sm"/>
                <a:tailEnd type="none" w="sm" len="sm"/>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Text Box 7"/>
              <p:cNvSpPr txBox="1">
                <a:spLocks noChangeArrowheads="1"/>
              </p:cNvSpPr>
              <p:nvPr/>
            </p:nvSpPr>
            <p:spPr bwMode="auto">
              <a:xfrm>
                <a:off x="906801" y="2978363"/>
                <a:ext cx="2552571" cy="506870"/>
              </a:xfrm>
              <a:prstGeom prst="rect">
                <a:avLst/>
              </a:prstGeom>
              <a:noFill/>
              <a:ln w="12700">
                <a:noFill/>
                <a:miter lim="800000"/>
                <a:headEnd type="none" w="sm" len="sm"/>
                <a:tailEnd type="none" w="sm" len="sm"/>
              </a:ln>
            </p:spPr>
            <p:txBody>
              <a:bodyPr wrap="square" anchorCtr="1">
                <a:spAutoFit/>
              </a:bodyPr>
              <a:lstStyle/>
              <a:p>
                <a:pPr/>
                <a14:m>
                  <m:oMathPara xmlns:m="http://schemas.openxmlformats.org/officeDocument/2006/math">
                    <m:oMathParaPr>
                      <m:jc m:val="centerGroup"/>
                    </m:oMathParaPr>
                    <m:oMath xmlns:m="http://schemas.openxmlformats.org/officeDocument/2006/math">
                      <m:r>
                        <a:rPr lang="en-US" altLang="zh-CN" sz="2700" b="1" i="1" dirty="0" smtClean="0">
                          <a:latin typeface="Cambria Math" panose="02040503050406030204" charset="0"/>
                          <a:ea typeface="微软雅黑" panose="020B0503020204020204" pitchFamily="34" charset="-122"/>
                          <a:cs typeface="微软雅黑" panose="020B0503020204020204" pitchFamily="34" charset="-122"/>
                        </a:rPr>
                        <m:t>𝒃</m:t>
                      </m:r>
                      <m:r>
                        <a:rPr lang="en-US" altLang="zh-CN" sz="2700" i="1" dirty="0">
                          <a:latin typeface="Cambria Math" panose="02040503050406030204" charset="0"/>
                          <a:ea typeface="微软雅黑" panose="020B0503020204020204" pitchFamily="34" charset="-122"/>
                          <a:cs typeface="微软雅黑" panose="020B0503020204020204" pitchFamily="34" charset="-122"/>
                        </a:rPr>
                        <m:t>=</m:t>
                      </m:r>
                      <m:sSup>
                        <m:sSupPr>
                          <m:ctrlPr>
                            <a:rPr lang="en-US" altLang="zh-CN" sz="2700" b="0" i="1" dirty="0" smtClean="0">
                              <a:latin typeface="Cambria Math" panose="02040503050406030204" pitchFamily="18" charset="0"/>
                              <a:ea typeface="微软雅黑" panose="020B0503020204020204" pitchFamily="34" charset="-122"/>
                              <a:cs typeface="微软雅黑" panose="020B0503020204020204" pitchFamily="34" charset="-122"/>
                            </a:rPr>
                          </m:ctrlPr>
                        </m:sSupPr>
                        <m:e>
                          <m:d>
                            <m:dPr>
                              <m:begChr m:val="["/>
                              <m:endChr m:val="]"/>
                              <m:ctrlPr>
                                <a:rPr lang="en-US" altLang="zh-CN" sz="2700" i="1" dirty="0">
                                  <a:latin typeface="Cambria Math" panose="02040503050406030204" pitchFamily="18" charset="0"/>
                                  <a:ea typeface="微软雅黑" panose="020B0503020204020204" pitchFamily="34" charset="-122"/>
                                  <a:cs typeface="微软雅黑" panose="020B0503020204020204" pitchFamily="34" charset="-122"/>
                                </a:rPr>
                              </m:ctrlPr>
                            </m:dPr>
                            <m:e>
                              <m:r>
                                <a:rPr lang="en-US" altLang="zh-CN" sz="2700" i="1" dirty="0">
                                  <a:latin typeface="Cambria Math" panose="02040503050406030204" charset="0"/>
                                  <a:ea typeface="微软雅黑" panose="020B0503020204020204" pitchFamily="34" charset="-122"/>
                                  <a:cs typeface="微软雅黑" panose="020B0503020204020204" pitchFamily="34" charset="-122"/>
                                </a:rPr>
                                <m:t>𝑏</m:t>
                              </m:r>
                              <m:r>
                                <a:rPr lang="en-US" altLang="zh-CN" sz="2700" i="1" baseline="-25000" dirty="0">
                                  <a:latin typeface="Cambria Math" panose="02040503050406030204" charset="0"/>
                                  <a:ea typeface="微软雅黑" panose="020B0503020204020204" pitchFamily="34" charset="-122"/>
                                  <a:cs typeface="微软雅黑" panose="020B0503020204020204" pitchFamily="34" charset="-122"/>
                                </a:rPr>
                                <m:t>1 </m:t>
                              </m:r>
                              <m:r>
                                <a:rPr lang="en-US" altLang="zh-CN" sz="2700" i="1" dirty="0">
                                  <a:latin typeface="Cambria Math" panose="02040503050406030204" charset="0"/>
                                  <a:ea typeface="微软雅黑" panose="020B0503020204020204" pitchFamily="34" charset="-122"/>
                                  <a:cs typeface="微软雅黑" panose="020B0503020204020204" pitchFamily="34" charset="-122"/>
                                </a:rPr>
                                <m:t> </m:t>
                              </m:r>
                              <m:r>
                                <a:rPr lang="en-US" altLang="zh-CN" sz="2700" i="1" dirty="0">
                                  <a:latin typeface="Cambria Math" panose="02040503050406030204" charset="0"/>
                                  <a:ea typeface="微软雅黑" panose="020B0503020204020204" pitchFamily="34" charset="-122"/>
                                  <a:cs typeface="微软雅黑" panose="020B0503020204020204" pitchFamily="34" charset="-122"/>
                                </a:rPr>
                                <m:t>𝑏</m:t>
                              </m:r>
                              <m:r>
                                <a:rPr lang="en-US" altLang="zh-CN" sz="2700" i="1" baseline="-25000" dirty="0">
                                  <a:latin typeface="Cambria Math" panose="02040503050406030204" charset="0"/>
                                  <a:ea typeface="微软雅黑" panose="020B0503020204020204" pitchFamily="34" charset="-122"/>
                                  <a:cs typeface="微软雅黑" panose="020B0503020204020204" pitchFamily="34" charset="-122"/>
                                </a:rPr>
                                <m:t>2</m:t>
                              </m:r>
                              <m:r>
                                <a:rPr lang="en-US" altLang="zh-CN" sz="2700" i="1" dirty="0">
                                  <a:latin typeface="Cambria Math" panose="02040503050406030204" charset="0"/>
                                  <a:ea typeface="微软雅黑" panose="020B0503020204020204" pitchFamily="34" charset="-122"/>
                                  <a:cs typeface="微软雅黑" panose="020B0503020204020204" pitchFamily="34" charset="-122"/>
                                </a:rPr>
                                <m:t>  </m:t>
                              </m:r>
                              <m:r>
                                <a:rPr lang="en-US" altLang="zh-CN" sz="2700" i="1" dirty="0">
                                  <a:latin typeface="Cambria Math" panose="02040503050406030204" charset="0"/>
                                  <a:ea typeface="微软雅黑" panose="020B0503020204020204" pitchFamily="34" charset="-122"/>
                                  <a:cs typeface="微软雅黑" panose="020B0503020204020204" pitchFamily="34" charset="-122"/>
                                </a:rPr>
                                <m:t>𝑏</m:t>
                              </m:r>
                              <m:r>
                                <a:rPr lang="en-US" altLang="zh-CN" sz="2700" i="1" baseline="-25000" dirty="0">
                                  <a:latin typeface="Cambria Math" panose="02040503050406030204" charset="0"/>
                                  <a:ea typeface="微软雅黑" panose="020B0503020204020204" pitchFamily="34" charset="-122"/>
                                  <a:cs typeface="微软雅黑" panose="020B0503020204020204" pitchFamily="34" charset="-122"/>
                                </a:rPr>
                                <m:t>3</m:t>
                              </m:r>
                            </m:e>
                          </m:d>
                        </m:e>
                        <m:sup>
                          <m:r>
                            <a:rPr lang="en-US" altLang="zh-CN" sz="2700" b="0" i="1" dirty="0" smtClean="0">
                              <a:latin typeface="Cambria Math" panose="02040503050406030204" charset="0"/>
                              <a:ea typeface="微软雅黑" panose="020B0503020204020204" pitchFamily="34" charset="-122"/>
                              <a:cs typeface="微软雅黑" panose="020B0503020204020204" pitchFamily="34" charset="-122"/>
                            </a:rPr>
                            <m:t>𝑇</m:t>
                          </m:r>
                        </m:sup>
                      </m:sSup>
                    </m:oMath>
                  </m:oMathPara>
                </a14:m>
                <a:endParaRPr lang="en-US" altLang="zh-CN" sz="2700" baseline="-25000" dirty="0">
                  <a:latin typeface="微软雅黑" panose="020B0503020204020204" pitchFamily="34" charset="-122"/>
                  <a:ea typeface="微软雅黑" panose="020B0503020204020204" pitchFamily="34" charset="-122"/>
                  <a:cs typeface="微软雅黑" panose="020B0503020204020204" pitchFamily="34" charset="-122"/>
                </a:endParaRPr>
              </a:p>
            </p:txBody>
          </p:sp>
        </mc:Choice>
        <mc:Fallback xmlns="">
          <p:sp>
            <p:nvSpPr>
              <p:cNvPr id="9" name="Text Box 7"/>
              <p:cNvSpPr txBox="1">
                <a:spLocks noRot="1" noChangeAspect="1" noMove="1" noResize="1" noEditPoints="1" noAdjustHandles="1" noChangeArrowheads="1" noChangeShapeType="1" noTextEdit="1"/>
              </p:cNvSpPr>
              <p:nvPr/>
            </p:nvSpPr>
            <p:spPr bwMode="auto">
              <a:xfrm>
                <a:off x="906801" y="2978363"/>
                <a:ext cx="2552571" cy="506870"/>
              </a:xfrm>
              <a:prstGeom prst="rect">
                <a:avLst/>
              </a:prstGeom>
              <a:blipFill rotWithShape="1">
                <a:blip r:embed="rId3"/>
                <a:stretch>
                  <a:fillRect l="-1" t="-42" r="21" b="-7071"/>
                </a:stretch>
              </a:blipFill>
              <a:ln w="12700">
                <a:noFill/>
                <a:miter lim="800000"/>
                <a:headEnd type="none" w="sm" len="sm"/>
                <a:tailEnd type="none" w="sm" len="sm"/>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Text Box 4"/>
              <p:cNvSpPr txBox="1">
                <a:spLocks noChangeArrowheads="1"/>
              </p:cNvSpPr>
              <p:nvPr/>
            </p:nvSpPr>
            <p:spPr bwMode="auto">
              <a:xfrm>
                <a:off x="1247158" y="4188078"/>
                <a:ext cx="2728623" cy="522194"/>
              </a:xfrm>
              <a:prstGeom prst="rect">
                <a:avLst/>
              </a:prstGeom>
              <a:noFill/>
              <a:ln w="12700">
                <a:noFill/>
                <a:miter lim="800000"/>
                <a:headEnd type="none" w="sm" len="sm"/>
                <a:tailEnd type="none" w="sm" len="sm"/>
              </a:ln>
            </p:spPr>
            <p:txBody>
              <a:bodyPr wrap="square" anchorCtr="1">
                <a:spAutoFit/>
              </a:bodyPr>
              <a:lstStyle/>
              <a:p>
                <a:pPr/>
                <a14:m>
                  <m:oMathPara xmlns:m="http://schemas.openxmlformats.org/officeDocument/2006/math">
                    <m:oMathParaPr>
                      <m:jc m:val="centerGroup"/>
                    </m:oMathParaPr>
                    <m:oMath xmlns:m="http://schemas.openxmlformats.org/officeDocument/2006/math">
                      <m:r>
                        <a:rPr lang="en-US" altLang="zh-CN" sz="2800" b="1" i="1" dirty="0" smtClean="0">
                          <a:latin typeface="Cambria Math" panose="02040503050406030204" charset="0"/>
                          <a:ea typeface="微软雅黑" panose="020B0503020204020204" pitchFamily="34" charset="-122"/>
                          <a:cs typeface="微软雅黑" panose="020B0503020204020204" pitchFamily="34" charset="-122"/>
                        </a:rPr>
                        <m:t>𝒂</m:t>
                      </m:r>
                      <m:r>
                        <a:rPr lang="en-US" altLang="zh-CN" sz="2800" b="0" i="1" dirty="0" smtClean="0">
                          <a:latin typeface="Cambria Math" panose="02040503050406030204" charset="0"/>
                          <a:ea typeface="微软雅黑" panose="020B0503020204020204" pitchFamily="34" charset="-122"/>
                          <a:cs typeface="微软雅黑" panose="020B0503020204020204" pitchFamily="34" charset="-122"/>
                        </a:rPr>
                        <m:t>=</m:t>
                      </m:r>
                      <m:sSup>
                        <m:sSupPr>
                          <m:ctrlPr>
                            <a:rPr lang="en-US" altLang="zh-CN" sz="2800" b="0" i="1" dirty="0" smtClean="0">
                              <a:latin typeface="Cambria Math" panose="02040503050406030204" pitchFamily="18" charset="0"/>
                              <a:ea typeface="微软雅黑" panose="020B0503020204020204" pitchFamily="34" charset="-122"/>
                              <a:cs typeface="微软雅黑" panose="020B0503020204020204" pitchFamily="34" charset="-122"/>
                            </a:rPr>
                          </m:ctrlPr>
                        </m:sSupPr>
                        <m:e>
                          <m:r>
                            <a:rPr lang="en-US" altLang="zh-CN" sz="2800" b="0" i="1" dirty="0" smtClean="0">
                              <a:latin typeface="Cambria Math" panose="02040503050406030204" charset="0"/>
                              <a:ea typeface="微软雅黑" panose="020B0503020204020204" pitchFamily="34" charset="-122"/>
                              <a:cs typeface="微软雅黑" panose="020B0503020204020204" pitchFamily="34" charset="-122"/>
                            </a:rPr>
                            <m:t>𝑀</m:t>
                          </m:r>
                        </m:e>
                        <m:sup>
                          <m:r>
                            <a:rPr lang="en-US" altLang="zh-CN" sz="2800" b="0" i="1" dirty="0" smtClean="0">
                              <a:latin typeface="Cambria Math" panose="02040503050406030204" charset="0"/>
                              <a:ea typeface="微软雅黑" panose="020B0503020204020204" pitchFamily="34" charset="-122"/>
                              <a:cs typeface="微软雅黑" panose="020B0503020204020204" pitchFamily="34" charset="-122"/>
                            </a:rPr>
                            <m:t>𝑇</m:t>
                          </m:r>
                        </m:sup>
                      </m:sSup>
                      <m:r>
                        <a:rPr lang="en-US" altLang="zh-CN" sz="2800" b="1" i="1" dirty="0" smtClean="0">
                          <a:latin typeface="Cambria Math" panose="02040503050406030204" charset="0"/>
                          <a:ea typeface="微软雅黑" panose="020B0503020204020204" pitchFamily="34" charset="-122"/>
                          <a:cs typeface="微软雅黑" panose="020B0503020204020204" pitchFamily="34" charset="-122"/>
                        </a:rPr>
                        <m:t>𝒃</m:t>
                      </m:r>
                    </m:oMath>
                  </m:oMathPara>
                </a14:m>
                <a:endParaRPr lang="en-US" altLang="zh-CN" sz="2800" b="1" baseline="-25000" dirty="0">
                  <a:latin typeface="微软雅黑" panose="020B0503020204020204" pitchFamily="34" charset="-122"/>
                  <a:ea typeface="微软雅黑" panose="020B0503020204020204" pitchFamily="34" charset="-122"/>
                  <a:cs typeface="微软雅黑" panose="020B0503020204020204" pitchFamily="34" charset="-122"/>
                </a:endParaRPr>
              </a:p>
            </p:txBody>
          </p:sp>
        </mc:Choice>
        <mc:Fallback xmlns="">
          <p:sp>
            <p:nvSpPr>
              <p:cNvPr id="10" name="Text Box 4"/>
              <p:cNvSpPr txBox="1">
                <a:spLocks noRot="1" noChangeAspect="1" noMove="1" noResize="1" noEditPoints="1" noAdjustHandles="1" noChangeArrowheads="1" noChangeShapeType="1" noTextEdit="1"/>
              </p:cNvSpPr>
              <p:nvPr/>
            </p:nvSpPr>
            <p:spPr bwMode="auto">
              <a:xfrm>
                <a:off x="1247158" y="4188078"/>
                <a:ext cx="2728623" cy="522194"/>
              </a:xfrm>
              <a:prstGeom prst="rect">
                <a:avLst/>
              </a:prstGeom>
              <a:blipFill rotWithShape="1">
                <a:blip r:embed="rId4"/>
                <a:stretch>
                  <a:fillRect l="-1" t="-48" r="2" b="-7083"/>
                </a:stretch>
              </a:blipFill>
              <a:ln w="12700">
                <a:noFill/>
                <a:miter lim="800000"/>
                <a:headEnd type="none" w="sm" len="sm"/>
                <a:tailEnd type="none" w="sm" len="sm"/>
              </a:ln>
            </p:spPr>
            <p:txBody>
              <a:bodyPr/>
              <a:lstStyle/>
              <a:p>
                <a:r>
                  <a:rPr lang="zh-CN" altLang="en-US">
                    <a:noFill/>
                  </a:rPr>
                  <a:t> </a:t>
                </a:r>
              </a:p>
            </p:txBody>
          </p:sp>
        </mc:Fallback>
      </mc:AlternateContent>
      <p:sp>
        <p:nvSpPr>
          <p:cNvPr id="11" name="Right Arrow 10"/>
          <p:cNvSpPr/>
          <p:nvPr/>
        </p:nvSpPr>
        <p:spPr>
          <a:xfrm>
            <a:off x="903063" y="4574234"/>
            <a:ext cx="376870" cy="35008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2" name="Rectangle 11"/>
              <p:cNvSpPr/>
              <p:nvPr/>
            </p:nvSpPr>
            <p:spPr>
              <a:xfrm>
                <a:off x="1616070" y="5245291"/>
                <a:ext cx="1990801" cy="523220"/>
              </a:xfrm>
              <a:prstGeom prst="rect">
                <a:avLst/>
              </a:prstGeom>
            </p:spPr>
            <p:txBody>
              <a:bodyPr wrap="none">
                <a:spAutoFit/>
              </a:bodyPr>
              <a:lstStyle/>
              <a:p>
                <a:r>
                  <a:rPr lang="en-US" altLang="zh-CN" sz="2800" dirty="0">
                    <a:ea typeface="微软雅黑" panose="020B0503020204020204" pitchFamily="34" charset="-122"/>
                    <a:cs typeface="微软雅黑" panose="020B0503020204020204" pitchFamily="34" charset="-122"/>
                  </a:rPr>
                  <a:t>with</a:t>
                </a:r>
                <a:r>
                  <a:rPr lang="zh-CN" altLang="en-US" sz="2800" dirty="0">
                    <a:ea typeface="微软雅黑" panose="020B0503020204020204" pitchFamily="34" charset="-122"/>
                    <a:cs typeface="微软雅黑" panose="020B0503020204020204" pitchFamily="34" charset="-122"/>
                  </a:rPr>
                  <a:t>  </a:t>
                </a:r>
                <a14:m>
                  <m:oMath xmlns:m="http://schemas.openxmlformats.org/officeDocument/2006/math">
                    <m:r>
                      <a:rPr lang="en-US" altLang="zh-CN" sz="2800" i="1" dirty="0" smtClean="0">
                        <a:latin typeface="Cambria Math" panose="02040503050406030204" charset="0"/>
                        <a:ea typeface="微软雅黑" panose="020B0503020204020204" pitchFamily="34" charset="-122"/>
                        <a:cs typeface="微软雅黑" panose="020B0503020204020204" pitchFamily="34" charset="-122"/>
                      </a:rPr>
                      <m:t>𝑀</m:t>
                    </m:r>
                    <m:r>
                      <a:rPr lang="en-US" altLang="zh-CN" sz="2800" b="0" i="1" dirty="0" smtClean="0">
                        <a:latin typeface="Cambria Math" panose="02040503050406030204" charset="0"/>
                        <a:ea typeface="微软雅黑" panose="020B0503020204020204" pitchFamily="34" charset="-122"/>
                        <a:cs typeface="微软雅黑" panose="020B0503020204020204" pitchFamily="34" charset="-122"/>
                      </a:rPr>
                      <m:t>=</m:t>
                    </m:r>
                    <m:r>
                      <a:rPr lang="zh-CN" altLang="en-US" sz="2800" b="0" i="1" dirty="0" smtClean="0">
                        <a:latin typeface="Cambria Math" panose="02040503050406030204" charset="0"/>
                        <a:ea typeface="微软雅黑" panose="020B0503020204020204" pitchFamily="34" charset="-122"/>
                        <a:cs typeface="微软雅黑" panose="020B0503020204020204" pitchFamily="34" charset="-122"/>
                      </a:rPr>
                      <m:t> </m:t>
                    </m:r>
                    <m:r>
                      <a:rPr lang="en-US" altLang="zh-CN" sz="2800" b="0" i="1" dirty="0" smtClean="0">
                        <a:latin typeface="Cambria Math" panose="02040503050406030204" charset="0"/>
                        <a:ea typeface="微软雅黑" panose="020B0503020204020204" pitchFamily="34" charset="-122"/>
                        <a:cs typeface="微软雅黑" panose="020B0503020204020204" pitchFamily="34" charset="-122"/>
                      </a:rPr>
                      <m:t>?</m:t>
                    </m:r>
                  </m:oMath>
                </a14:m>
                <a:r>
                  <a:rPr lang="zh-CN" altLang="en-US" sz="2800" i="1" dirty="0"/>
                  <a:t> </a:t>
                </a:r>
                <a:endParaRPr lang="en-US" sz="2800" i="1" dirty="0"/>
              </a:p>
            </p:txBody>
          </p:sp>
        </mc:Choice>
        <mc:Fallback xmlns="">
          <p:sp>
            <p:nvSpPr>
              <p:cNvPr id="12" name="Rectangle 11"/>
              <p:cNvSpPr>
                <a:spLocks noRot="1" noChangeAspect="1" noMove="1" noResize="1" noEditPoints="1" noAdjustHandles="1" noChangeArrowheads="1" noChangeShapeType="1" noTextEdit="1"/>
              </p:cNvSpPr>
              <p:nvPr/>
            </p:nvSpPr>
            <p:spPr>
              <a:xfrm>
                <a:off x="1616070" y="5245291"/>
                <a:ext cx="1990801" cy="523220"/>
              </a:xfrm>
              <a:prstGeom prst="rect">
                <a:avLst/>
              </a:prstGeom>
              <a:blipFill rotWithShape="1">
                <a:blip r:embed="rId5"/>
                <a:stretch>
                  <a:fillRect l="-32" t="-37" r="-7109" b="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Text Box 4"/>
              <p:cNvSpPr txBox="1">
                <a:spLocks noChangeArrowheads="1"/>
              </p:cNvSpPr>
              <p:nvPr/>
            </p:nvSpPr>
            <p:spPr bwMode="auto">
              <a:xfrm>
                <a:off x="4133873" y="3617441"/>
                <a:ext cx="4655890" cy="1384995"/>
              </a:xfrm>
              <a:prstGeom prst="rect">
                <a:avLst/>
              </a:prstGeom>
              <a:noFill/>
              <a:ln w="12700">
                <a:noFill/>
                <a:miter lim="800000"/>
                <a:headEnd type="none" w="sm" len="sm"/>
                <a:tailEnd type="none" w="sm" len="sm"/>
              </a:ln>
            </p:spPr>
            <p:txBody>
              <a:bodyPr wrap="square" anchorCtr="1">
                <a:spAutoFit/>
              </a:bodyPr>
              <a:lstStyle/>
              <a:p>
                <a:pPr/>
                <a14:m>
                  <m:oMathPara xmlns:m="http://schemas.openxmlformats.org/officeDocument/2006/math">
                    <m:oMathParaPr>
                      <m:jc m:val="centerGroup"/>
                    </m:oMathParaPr>
                    <m:oMath xmlns:m="http://schemas.openxmlformats.org/officeDocument/2006/math">
                      <m:r>
                        <a:rPr lang="en-US" altLang="zh-CN" sz="2800" i="1" dirty="0" smtClean="0">
                          <a:latin typeface="Cambria Math" panose="02040503050406030204" charset="0"/>
                          <a:ea typeface="微软雅黑" panose="020B0503020204020204" pitchFamily="34" charset="-122"/>
                          <a:cs typeface="微软雅黑" panose="020B0503020204020204" pitchFamily="34" charset="-122"/>
                        </a:rPr>
                        <m:t>𝑢</m:t>
                      </m:r>
                      <m:r>
                        <a:rPr lang="en-US" altLang="zh-CN" sz="2800" i="1" baseline="-25000" dirty="0">
                          <a:latin typeface="Cambria Math" panose="02040503050406030204" charset="0"/>
                          <a:ea typeface="微软雅黑" panose="020B0503020204020204" pitchFamily="34" charset="-122"/>
                          <a:cs typeface="微软雅黑" panose="020B0503020204020204" pitchFamily="34" charset="-122"/>
                        </a:rPr>
                        <m:t>1 </m:t>
                      </m:r>
                      <m:r>
                        <a:rPr lang="en-US" altLang="zh-CN" sz="2800" i="1" dirty="0">
                          <a:latin typeface="Cambria Math" panose="02040503050406030204" charset="0"/>
                          <a:ea typeface="微软雅黑" panose="020B0503020204020204" pitchFamily="34" charset="-122"/>
                          <a:cs typeface="微软雅黑" panose="020B0503020204020204" pitchFamily="34" charset="-122"/>
                        </a:rPr>
                        <m:t>=</m:t>
                      </m:r>
                      <m:r>
                        <a:rPr lang="en-US" altLang="zh-CN" sz="2800" i="1" dirty="0" smtClean="0">
                          <a:latin typeface="Cambria Math" panose="02040503050406030204" charset="0"/>
                          <a:ea typeface="Cambria Math" panose="02040503050406030204" charset="0"/>
                          <a:cs typeface="Cambria Math" panose="02040503050406030204" charset="0"/>
                        </a:rPr>
                        <m:t>𝛾</m:t>
                      </m:r>
                      <m:r>
                        <a:rPr lang="en-US" altLang="zh-CN" sz="2800" i="1" baseline="-25000" dirty="0">
                          <a:latin typeface="Cambria Math" panose="02040503050406030204" charset="0"/>
                          <a:ea typeface="微软雅黑" panose="020B0503020204020204" pitchFamily="34" charset="-122"/>
                          <a:cs typeface="微软雅黑" panose="020B0503020204020204" pitchFamily="34" charset="-122"/>
                        </a:rPr>
                        <m:t>11</m:t>
                      </m:r>
                      <m:r>
                        <a:rPr lang="en-US" altLang="zh-CN" sz="2800" i="1" dirty="0">
                          <a:latin typeface="Cambria Math" panose="02040503050406030204" charset="0"/>
                          <a:ea typeface="微软雅黑" panose="020B0503020204020204" pitchFamily="34" charset="-122"/>
                          <a:cs typeface="微软雅黑" panose="020B0503020204020204" pitchFamily="34" charset="-122"/>
                        </a:rPr>
                        <m:t>𝑣</m:t>
                      </m:r>
                      <m:r>
                        <a:rPr lang="en-US" altLang="zh-CN" sz="2800" i="1" baseline="-25000" dirty="0">
                          <a:latin typeface="Cambria Math" panose="02040503050406030204" charset="0"/>
                          <a:ea typeface="微软雅黑" panose="020B0503020204020204" pitchFamily="34" charset="-122"/>
                          <a:cs typeface="微软雅黑" panose="020B0503020204020204" pitchFamily="34" charset="-122"/>
                        </a:rPr>
                        <m:t>1</m:t>
                      </m:r>
                      <m:r>
                        <a:rPr lang="en-US" altLang="zh-CN" sz="2800" i="1" dirty="0">
                          <a:latin typeface="Cambria Math" panose="02040503050406030204" charset="0"/>
                          <a:ea typeface="微软雅黑" panose="020B0503020204020204" pitchFamily="34" charset="-122"/>
                          <a:cs typeface="微软雅黑" panose="020B0503020204020204" pitchFamily="34" charset="-122"/>
                        </a:rPr>
                        <m:t>+</m:t>
                      </m:r>
                      <m:r>
                        <a:rPr lang="en-US" altLang="zh-CN" sz="2800" i="1" dirty="0">
                          <a:latin typeface="Cambria Math" panose="02040503050406030204" charset="0"/>
                          <a:ea typeface="Cambria Math" panose="02040503050406030204" charset="0"/>
                          <a:cs typeface="Cambria Math" panose="02040503050406030204" charset="0"/>
                        </a:rPr>
                        <m:t>𝛾</m:t>
                      </m:r>
                      <m:r>
                        <a:rPr lang="en-US" altLang="zh-CN" sz="2800" i="1" baseline="-25000" dirty="0">
                          <a:latin typeface="Cambria Math" panose="02040503050406030204" charset="0"/>
                          <a:ea typeface="微软雅黑" panose="020B0503020204020204" pitchFamily="34" charset="-122"/>
                          <a:cs typeface="微软雅黑" panose="020B0503020204020204" pitchFamily="34" charset="-122"/>
                        </a:rPr>
                        <m:t>12</m:t>
                      </m:r>
                      <m:r>
                        <a:rPr lang="en-US" altLang="zh-CN" sz="2800" i="1" dirty="0">
                          <a:latin typeface="Cambria Math" panose="02040503050406030204" charset="0"/>
                          <a:ea typeface="微软雅黑" panose="020B0503020204020204" pitchFamily="34" charset="-122"/>
                          <a:cs typeface="微软雅黑" panose="020B0503020204020204" pitchFamily="34" charset="-122"/>
                        </a:rPr>
                        <m:t>𝑣</m:t>
                      </m:r>
                      <m:r>
                        <a:rPr lang="en-US" altLang="zh-CN" sz="2800" i="1" baseline="-25000" dirty="0">
                          <a:latin typeface="Cambria Math" panose="02040503050406030204" charset="0"/>
                          <a:ea typeface="微软雅黑" panose="020B0503020204020204" pitchFamily="34" charset="-122"/>
                          <a:cs typeface="微软雅黑" panose="020B0503020204020204" pitchFamily="34" charset="-122"/>
                        </a:rPr>
                        <m:t>2</m:t>
                      </m:r>
                      <m:r>
                        <a:rPr lang="en-US" altLang="zh-CN" sz="2800" i="1" dirty="0">
                          <a:latin typeface="Cambria Math" panose="02040503050406030204" charset="0"/>
                          <a:ea typeface="微软雅黑" panose="020B0503020204020204" pitchFamily="34" charset="-122"/>
                          <a:cs typeface="微软雅黑" panose="020B0503020204020204" pitchFamily="34" charset="-122"/>
                        </a:rPr>
                        <m:t>+</m:t>
                      </m:r>
                      <m:r>
                        <a:rPr lang="en-US" altLang="zh-CN" sz="2800" i="1" dirty="0">
                          <a:latin typeface="Cambria Math" panose="02040503050406030204" charset="0"/>
                          <a:ea typeface="Cambria Math" panose="02040503050406030204" charset="0"/>
                          <a:cs typeface="Cambria Math" panose="02040503050406030204" charset="0"/>
                        </a:rPr>
                        <m:t>𝛾</m:t>
                      </m:r>
                      <m:r>
                        <a:rPr lang="en-US" altLang="zh-CN" sz="2800" i="1" baseline="-25000" dirty="0">
                          <a:latin typeface="Cambria Math" panose="02040503050406030204" charset="0"/>
                          <a:ea typeface="微软雅黑" panose="020B0503020204020204" pitchFamily="34" charset="-122"/>
                          <a:cs typeface="微软雅黑" panose="020B0503020204020204" pitchFamily="34" charset="-122"/>
                        </a:rPr>
                        <m:t>13</m:t>
                      </m:r>
                      <m:r>
                        <a:rPr lang="en-US" altLang="zh-CN" sz="2800" i="1" dirty="0">
                          <a:latin typeface="Cambria Math" panose="02040503050406030204" charset="0"/>
                          <a:ea typeface="微软雅黑" panose="020B0503020204020204" pitchFamily="34" charset="-122"/>
                          <a:cs typeface="微软雅黑" panose="020B0503020204020204" pitchFamily="34" charset="-122"/>
                        </a:rPr>
                        <m:t>𝑣</m:t>
                      </m:r>
                      <m:r>
                        <a:rPr lang="en-US" altLang="zh-CN" sz="2800" i="1" baseline="-25000" dirty="0">
                          <a:latin typeface="Cambria Math" panose="02040503050406030204" charset="0"/>
                          <a:ea typeface="微软雅黑" panose="020B0503020204020204" pitchFamily="34" charset="-122"/>
                          <a:cs typeface="微软雅黑" panose="020B0503020204020204" pitchFamily="34" charset="-122"/>
                        </a:rPr>
                        <m:t>3</m:t>
                      </m:r>
                    </m:oMath>
                  </m:oMathPara>
                </a14:m>
                <a:endParaRPr lang="en-US" altLang="zh-CN" sz="2800" baseline="-25000" dirty="0">
                  <a:latin typeface="微软雅黑" panose="020B0503020204020204" pitchFamily="34" charset="-122"/>
                  <a:ea typeface="微软雅黑" panose="020B0503020204020204" pitchFamily="34" charset="-122"/>
                  <a:cs typeface="微软雅黑" panose="020B0503020204020204" pitchFamily="34" charset="-122"/>
                </a:endParaRPr>
              </a:p>
              <a:p>
                <a:pPr/>
                <a14:m>
                  <m:oMathPara xmlns:m="http://schemas.openxmlformats.org/officeDocument/2006/math">
                    <m:oMathParaPr>
                      <m:jc m:val="centerGroup"/>
                    </m:oMathParaPr>
                    <m:oMath xmlns:m="http://schemas.openxmlformats.org/officeDocument/2006/math">
                      <m:r>
                        <a:rPr lang="en-US" altLang="zh-CN" sz="2800" i="1" dirty="0" smtClean="0">
                          <a:latin typeface="Cambria Math" panose="02040503050406030204" charset="0"/>
                          <a:ea typeface="微软雅黑" panose="020B0503020204020204" pitchFamily="34" charset="-122"/>
                          <a:cs typeface="微软雅黑" panose="020B0503020204020204" pitchFamily="34" charset="-122"/>
                        </a:rPr>
                        <m:t>𝑢</m:t>
                      </m:r>
                      <m:r>
                        <a:rPr lang="en-US" altLang="zh-CN" sz="2800" i="1" baseline="-25000" dirty="0">
                          <a:latin typeface="Cambria Math" panose="02040503050406030204" charset="0"/>
                          <a:ea typeface="微软雅黑" panose="020B0503020204020204" pitchFamily="34" charset="-122"/>
                          <a:cs typeface="微软雅黑" panose="020B0503020204020204" pitchFamily="34" charset="-122"/>
                        </a:rPr>
                        <m:t>2 </m:t>
                      </m:r>
                      <m:r>
                        <a:rPr lang="en-US" altLang="zh-CN" sz="2800" i="1" dirty="0">
                          <a:latin typeface="Cambria Math" panose="02040503050406030204" charset="0"/>
                          <a:ea typeface="微软雅黑" panose="020B0503020204020204" pitchFamily="34" charset="-122"/>
                          <a:cs typeface="微软雅黑" panose="020B0503020204020204" pitchFamily="34" charset="-122"/>
                        </a:rPr>
                        <m:t>=</m:t>
                      </m:r>
                      <m:r>
                        <a:rPr lang="en-US" altLang="zh-CN" sz="2800" i="1" dirty="0">
                          <a:latin typeface="Cambria Math" panose="02040503050406030204" charset="0"/>
                          <a:ea typeface="Cambria Math" panose="02040503050406030204" charset="0"/>
                          <a:cs typeface="Cambria Math" panose="02040503050406030204" charset="0"/>
                        </a:rPr>
                        <m:t>𝛾</m:t>
                      </m:r>
                      <m:r>
                        <a:rPr lang="en-US" altLang="zh-CN" sz="2800" i="1" baseline="-25000" dirty="0">
                          <a:latin typeface="Cambria Math" panose="02040503050406030204" charset="0"/>
                          <a:ea typeface="微软雅黑" panose="020B0503020204020204" pitchFamily="34" charset="-122"/>
                          <a:cs typeface="微软雅黑" panose="020B0503020204020204" pitchFamily="34" charset="-122"/>
                        </a:rPr>
                        <m:t>21</m:t>
                      </m:r>
                      <m:r>
                        <a:rPr lang="en-US" altLang="zh-CN" sz="2800" i="1" dirty="0">
                          <a:latin typeface="Cambria Math" panose="02040503050406030204" charset="0"/>
                          <a:ea typeface="微软雅黑" panose="020B0503020204020204" pitchFamily="34" charset="-122"/>
                          <a:cs typeface="微软雅黑" panose="020B0503020204020204" pitchFamily="34" charset="-122"/>
                        </a:rPr>
                        <m:t>𝑣</m:t>
                      </m:r>
                      <m:r>
                        <a:rPr lang="en-US" altLang="zh-CN" sz="2800" i="1" baseline="-25000" dirty="0">
                          <a:latin typeface="Cambria Math" panose="02040503050406030204" charset="0"/>
                          <a:ea typeface="微软雅黑" panose="020B0503020204020204" pitchFamily="34" charset="-122"/>
                          <a:cs typeface="微软雅黑" panose="020B0503020204020204" pitchFamily="34" charset="-122"/>
                        </a:rPr>
                        <m:t>1</m:t>
                      </m:r>
                      <m:r>
                        <a:rPr lang="en-US" altLang="zh-CN" sz="2800" i="1" dirty="0">
                          <a:latin typeface="Cambria Math" panose="02040503050406030204" charset="0"/>
                          <a:ea typeface="微软雅黑" panose="020B0503020204020204" pitchFamily="34" charset="-122"/>
                          <a:cs typeface="微软雅黑" panose="020B0503020204020204" pitchFamily="34" charset="-122"/>
                        </a:rPr>
                        <m:t>+</m:t>
                      </m:r>
                      <m:r>
                        <a:rPr lang="en-US" altLang="zh-CN" sz="2800" i="1" dirty="0">
                          <a:latin typeface="Cambria Math" panose="02040503050406030204" charset="0"/>
                          <a:ea typeface="Cambria Math" panose="02040503050406030204" charset="0"/>
                          <a:cs typeface="Cambria Math" panose="02040503050406030204" charset="0"/>
                        </a:rPr>
                        <m:t>𝛾</m:t>
                      </m:r>
                      <m:r>
                        <a:rPr lang="en-US" altLang="zh-CN" sz="2800" i="1" baseline="-25000" dirty="0">
                          <a:latin typeface="Cambria Math" panose="02040503050406030204" charset="0"/>
                          <a:ea typeface="微软雅黑" panose="020B0503020204020204" pitchFamily="34" charset="-122"/>
                          <a:cs typeface="微软雅黑" panose="020B0503020204020204" pitchFamily="34" charset="-122"/>
                        </a:rPr>
                        <m:t>22</m:t>
                      </m:r>
                      <m:r>
                        <a:rPr lang="en-US" altLang="zh-CN" sz="2800" i="1" dirty="0">
                          <a:latin typeface="Cambria Math" panose="02040503050406030204" charset="0"/>
                          <a:ea typeface="微软雅黑" panose="020B0503020204020204" pitchFamily="34" charset="-122"/>
                          <a:cs typeface="微软雅黑" panose="020B0503020204020204" pitchFamily="34" charset="-122"/>
                        </a:rPr>
                        <m:t>𝑣</m:t>
                      </m:r>
                      <m:r>
                        <a:rPr lang="en-US" altLang="zh-CN" sz="2800" i="1" baseline="-25000" dirty="0">
                          <a:latin typeface="Cambria Math" panose="02040503050406030204" charset="0"/>
                          <a:ea typeface="微软雅黑" panose="020B0503020204020204" pitchFamily="34" charset="-122"/>
                          <a:cs typeface="微软雅黑" panose="020B0503020204020204" pitchFamily="34" charset="-122"/>
                        </a:rPr>
                        <m:t>2</m:t>
                      </m:r>
                      <m:r>
                        <a:rPr lang="en-US" altLang="zh-CN" sz="2800" i="1" dirty="0">
                          <a:latin typeface="Cambria Math" panose="02040503050406030204" charset="0"/>
                          <a:ea typeface="微软雅黑" panose="020B0503020204020204" pitchFamily="34" charset="-122"/>
                          <a:cs typeface="微软雅黑" panose="020B0503020204020204" pitchFamily="34" charset="-122"/>
                        </a:rPr>
                        <m:t>+</m:t>
                      </m:r>
                      <m:r>
                        <a:rPr lang="en-US" altLang="zh-CN" sz="2800" i="1" dirty="0">
                          <a:latin typeface="Cambria Math" panose="02040503050406030204" charset="0"/>
                          <a:ea typeface="Cambria Math" panose="02040503050406030204" charset="0"/>
                          <a:cs typeface="Cambria Math" panose="02040503050406030204" charset="0"/>
                        </a:rPr>
                        <m:t>𝛾</m:t>
                      </m:r>
                      <m:r>
                        <a:rPr lang="en-US" altLang="zh-CN" sz="2800" i="1" baseline="-25000" dirty="0">
                          <a:latin typeface="Cambria Math" panose="02040503050406030204" charset="0"/>
                          <a:ea typeface="微软雅黑" panose="020B0503020204020204" pitchFamily="34" charset="-122"/>
                          <a:cs typeface="微软雅黑" panose="020B0503020204020204" pitchFamily="34" charset="-122"/>
                        </a:rPr>
                        <m:t>23</m:t>
                      </m:r>
                      <m:r>
                        <a:rPr lang="en-US" altLang="zh-CN" sz="2800" i="1" dirty="0">
                          <a:latin typeface="Cambria Math" panose="02040503050406030204" charset="0"/>
                          <a:ea typeface="微软雅黑" panose="020B0503020204020204" pitchFamily="34" charset="-122"/>
                          <a:cs typeface="微软雅黑" panose="020B0503020204020204" pitchFamily="34" charset="-122"/>
                        </a:rPr>
                        <m:t>𝑣</m:t>
                      </m:r>
                      <m:r>
                        <a:rPr lang="en-US" altLang="zh-CN" sz="2800" i="1" baseline="-25000" dirty="0">
                          <a:latin typeface="Cambria Math" panose="02040503050406030204" charset="0"/>
                          <a:ea typeface="微软雅黑" panose="020B0503020204020204" pitchFamily="34" charset="-122"/>
                          <a:cs typeface="微软雅黑" panose="020B0503020204020204" pitchFamily="34" charset="-122"/>
                        </a:rPr>
                        <m:t>3</m:t>
                      </m:r>
                    </m:oMath>
                  </m:oMathPara>
                </a14:m>
                <a:endParaRPr lang="en-US" altLang="zh-CN" sz="2800" dirty="0">
                  <a:latin typeface="微软雅黑" panose="020B0503020204020204" pitchFamily="34" charset="-122"/>
                  <a:ea typeface="微软雅黑" panose="020B0503020204020204" pitchFamily="34" charset="-122"/>
                  <a:cs typeface="微软雅黑" panose="020B0503020204020204" pitchFamily="34" charset="-122"/>
                </a:endParaRPr>
              </a:p>
              <a:p>
                <a:pPr/>
                <a14:m>
                  <m:oMathPara xmlns:m="http://schemas.openxmlformats.org/officeDocument/2006/math">
                    <m:oMathParaPr>
                      <m:jc m:val="centerGroup"/>
                    </m:oMathParaPr>
                    <m:oMath xmlns:m="http://schemas.openxmlformats.org/officeDocument/2006/math">
                      <m:r>
                        <a:rPr lang="en-US" altLang="zh-CN" sz="2800" i="1" dirty="0" smtClean="0">
                          <a:latin typeface="Cambria Math" panose="02040503050406030204" charset="0"/>
                          <a:ea typeface="微软雅黑" panose="020B0503020204020204" pitchFamily="34" charset="-122"/>
                          <a:cs typeface="微软雅黑" panose="020B0503020204020204" pitchFamily="34" charset="-122"/>
                        </a:rPr>
                        <m:t>𝑢</m:t>
                      </m:r>
                      <m:r>
                        <a:rPr lang="en-US" altLang="zh-CN" sz="2800" i="1" baseline="-25000" dirty="0">
                          <a:latin typeface="Cambria Math" panose="02040503050406030204" charset="0"/>
                          <a:ea typeface="微软雅黑" panose="020B0503020204020204" pitchFamily="34" charset="-122"/>
                          <a:cs typeface="微软雅黑" panose="020B0503020204020204" pitchFamily="34" charset="-122"/>
                        </a:rPr>
                        <m:t>3 </m:t>
                      </m:r>
                      <m:r>
                        <a:rPr lang="en-US" altLang="zh-CN" sz="2800" i="1" dirty="0">
                          <a:latin typeface="Cambria Math" panose="02040503050406030204" charset="0"/>
                          <a:ea typeface="微软雅黑" panose="020B0503020204020204" pitchFamily="34" charset="-122"/>
                          <a:cs typeface="微软雅黑" panose="020B0503020204020204" pitchFamily="34" charset="-122"/>
                        </a:rPr>
                        <m:t>=</m:t>
                      </m:r>
                      <m:r>
                        <a:rPr lang="en-US" altLang="zh-CN" sz="2800" i="1" dirty="0">
                          <a:latin typeface="Cambria Math" panose="02040503050406030204" charset="0"/>
                          <a:ea typeface="Cambria Math" panose="02040503050406030204" charset="0"/>
                          <a:cs typeface="Cambria Math" panose="02040503050406030204" charset="0"/>
                        </a:rPr>
                        <m:t>𝛾</m:t>
                      </m:r>
                      <m:r>
                        <a:rPr lang="en-US" altLang="zh-CN" sz="2800" i="1" baseline="-25000" dirty="0">
                          <a:latin typeface="Cambria Math" panose="02040503050406030204" charset="0"/>
                          <a:ea typeface="微软雅黑" panose="020B0503020204020204" pitchFamily="34" charset="-122"/>
                          <a:cs typeface="微软雅黑" panose="020B0503020204020204" pitchFamily="34" charset="-122"/>
                        </a:rPr>
                        <m:t>31</m:t>
                      </m:r>
                      <m:r>
                        <a:rPr lang="en-US" altLang="zh-CN" sz="2800" i="1" dirty="0">
                          <a:latin typeface="Cambria Math" panose="02040503050406030204" charset="0"/>
                          <a:ea typeface="微软雅黑" panose="020B0503020204020204" pitchFamily="34" charset="-122"/>
                          <a:cs typeface="微软雅黑" panose="020B0503020204020204" pitchFamily="34" charset="-122"/>
                        </a:rPr>
                        <m:t>𝑣</m:t>
                      </m:r>
                      <m:r>
                        <a:rPr lang="en-US" altLang="zh-CN" sz="2800" i="1" baseline="-25000" dirty="0">
                          <a:latin typeface="Cambria Math" panose="02040503050406030204" charset="0"/>
                          <a:ea typeface="微软雅黑" panose="020B0503020204020204" pitchFamily="34" charset="-122"/>
                          <a:cs typeface="微软雅黑" panose="020B0503020204020204" pitchFamily="34" charset="-122"/>
                        </a:rPr>
                        <m:t>1</m:t>
                      </m:r>
                      <m:r>
                        <a:rPr lang="en-US" altLang="zh-CN" sz="2800" i="1" dirty="0">
                          <a:latin typeface="Cambria Math" panose="02040503050406030204" charset="0"/>
                          <a:ea typeface="微软雅黑" panose="020B0503020204020204" pitchFamily="34" charset="-122"/>
                          <a:cs typeface="微软雅黑" panose="020B0503020204020204" pitchFamily="34" charset="-122"/>
                        </a:rPr>
                        <m:t>+</m:t>
                      </m:r>
                      <m:r>
                        <a:rPr lang="en-US" altLang="zh-CN" sz="2800" i="1" dirty="0">
                          <a:latin typeface="Cambria Math" panose="02040503050406030204" charset="0"/>
                          <a:ea typeface="Cambria Math" panose="02040503050406030204" charset="0"/>
                          <a:cs typeface="Cambria Math" panose="02040503050406030204" charset="0"/>
                        </a:rPr>
                        <m:t>𝛾</m:t>
                      </m:r>
                      <m:r>
                        <a:rPr lang="en-US" altLang="zh-CN" sz="2800" i="1" baseline="-25000" dirty="0">
                          <a:latin typeface="Cambria Math" panose="02040503050406030204" charset="0"/>
                          <a:ea typeface="微软雅黑" panose="020B0503020204020204" pitchFamily="34" charset="-122"/>
                          <a:cs typeface="微软雅黑" panose="020B0503020204020204" pitchFamily="34" charset="-122"/>
                        </a:rPr>
                        <m:t>32</m:t>
                      </m:r>
                      <m:r>
                        <a:rPr lang="en-US" altLang="zh-CN" sz="2800" i="1" dirty="0">
                          <a:latin typeface="Cambria Math" panose="02040503050406030204" charset="0"/>
                          <a:ea typeface="微软雅黑" panose="020B0503020204020204" pitchFamily="34" charset="-122"/>
                          <a:cs typeface="微软雅黑" panose="020B0503020204020204" pitchFamily="34" charset="-122"/>
                        </a:rPr>
                        <m:t>𝑣</m:t>
                      </m:r>
                      <m:r>
                        <a:rPr lang="en-US" altLang="zh-CN" sz="2800" i="1" baseline="-25000" dirty="0">
                          <a:latin typeface="Cambria Math" panose="02040503050406030204" charset="0"/>
                          <a:ea typeface="微软雅黑" panose="020B0503020204020204" pitchFamily="34" charset="-122"/>
                          <a:cs typeface="微软雅黑" panose="020B0503020204020204" pitchFamily="34" charset="-122"/>
                        </a:rPr>
                        <m:t>2</m:t>
                      </m:r>
                      <m:r>
                        <a:rPr lang="en-US" altLang="zh-CN" sz="2800" i="1" dirty="0">
                          <a:latin typeface="Cambria Math" panose="02040503050406030204" charset="0"/>
                          <a:ea typeface="微软雅黑" panose="020B0503020204020204" pitchFamily="34" charset="-122"/>
                          <a:cs typeface="微软雅黑" panose="020B0503020204020204" pitchFamily="34" charset="-122"/>
                        </a:rPr>
                        <m:t>+</m:t>
                      </m:r>
                      <m:r>
                        <a:rPr lang="en-US" altLang="zh-CN" sz="2800" i="1" dirty="0">
                          <a:latin typeface="Cambria Math" panose="02040503050406030204" charset="0"/>
                          <a:ea typeface="Cambria Math" panose="02040503050406030204" charset="0"/>
                          <a:cs typeface="Cambria Math" panose="02040503050406030204" charset="0"/>
                        </a:rPr>
                        <m:t>𝛾</m:t>
                      </m:r>
                      <m:r>
                        <a:rPr lang="en-US" altLang="zh-CN" sz="2800" i="1" baseline="-25000" dirty="0">
                          <a:latin typeface="Cambria Math" panose="02040503050406030204" charset="0"/>
                          <a:ea typeface="微软雅黑" panose="020B0503020204020204" pitchFamily="34" charset="-122"/>
                          <a:cs typeface="微软雅黑" panose="020B0503020204020204" pitchFamily="34" charset="-122"/>
                        </a:rPr>
                        <m:t>33</m:t>
                      </m:r>
                      <m:r>
                        <a:rPr lang="en-US" altLang="zh-CN" sz="2800" i="1" dirty="0">
                          <a:latin typeface="Cambria Math" panose="02040503050406030204" charset="0"/>
                          <a:ea typeface="微软雅黑" panose="020B0503020204020204" pitchFamily="34" charset="-122"/>
                          <a:cs typeface="微软雅黑" panose="020B0503020204020204" pitchFamily="34" charset="-122"/>
                        </a:rPr>
                        <m:t>𝑣</m:t>
                      </m:r>
                      <m:r>
                        <a:rPr lang="en-US" altLang="zh-CN" sz="2800" i="1" baseline="-25000" dirty="0">
                          <a:latin typeface="Cambria Math" panose="02040503050406030204" charset="0"/>
                          <a:ea typeface="微软雅黑" panose="020B0503020204020204" pitchFamily="34" charset="-122"/>
                          <a:cs typeface="微软雅黑" panose="020B0503020204020204" pitchFamily="34" charset="-122"/>
                        </a:rPr>
                        <m:t>3</m:t>
                      </m:r>
                    </m:oMath>
                  </m:oMathPara>
                </a14:m>
                <a:endParaRPr lang="en-US" altLang="zh-CN" sz="2800" baseline="-25000" dirty="0">
                  <a:latin typeface="微软雅黑" panose="020B0503020204020204" pitchFamily="34" charset="-122"/>
                  <a:ea typeface="微软雅黑" panose="020B0503020204020204" pitchFamily="34" charset="-122"/>
                  <a:cs typeface="微软雅黑" panose="020B0503020204020204" pitchFamily="34" charset="-122"/>
                </a:endParaRPr>
              </a:p>
            </p:txBody>
          </p:sp>
        </mc:Choice>
        <mc:Fallback xmlns="">
          <p:sp>
            <p:nvSpPr>
              <p:cNvPr id="13" name="Text Box 4"/>
              <p:cNvSpPr txBox="1">
                <a:spLocks noRot="1" noChangeAspect="1" noMove="1" noResize="1" noEditPoints="1" noAdjustHandles="1" noChangeArrowheads="1" noChangeShapeType="1" noTextEdit="1"/>
              </p:cNvSpPr>
              <p:nvPr/>
            </p:nvSpPr>
            <p:spPr bwMode="auto">
              <a:xfrm>
                <a:off x="4133873" y="3617441"/>
                <a:ext cx="4655890" cy="1384995"/>
              </a:xfrm>
              <a:prstGeom prst="rect">
                <a:avLst/>
              </a:prstGeom>
              <a:blipFill rotWithShape="1">
                <a:blip r:embed="rId6"/>
                <a:stretch>
                  <a:fillRect t="-35" r="2" b="-832"/>
                </a:stretch>
              </a:blipFill>
              <a:ln w="12700">
                <a:noFill/>
                <a:miter lim="800000"/>
                <a:headEnd type="none" w="sm" len="sm"/>
                <a:tailEnd type="none" w="sm" len="sm"/>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Text Box 4"/>
              <p:cNvSpPr txBox="1">
                <a:spLocks noChangeArrowheads="1"/>
              </p:cNvSpPr>
              <p:nvPr/>
            </p:nvSpPr>
            <p:spPr bwMode="auto">
              <a:xfrm>
                <a:off x="3935323" y="5219978"/>
                <a:ext cx="4655890" cy="1227516"/>
              </a:xfrm>
              <a:prstGeom prst="rect">
                <a:avLst/>
              </a:prstGeom>
              <a:noFill/>
              <a:ln w="12700">
                <a:noFill/>
                <a:miter lim="800000"/>
                <a:headEnd type="none" w="sm" len="sm"/>
                <a:tailEnd type="none" w="sm" len="sm"/>
              </a:ln>
            </p:spPr>
            <p:txBody>
              <a:bodyPr wrap="square" anchorCtr="1">
                <a:spAutoFit/>
              </a:bodyPr>
              <a:lstStyle/>
              <a:p>
                <a:pPr/>
                <a14:m>
                  <m:oMathPara xmlns:m="http://schemas.openxmlformats.org/officeDocument/2006/math">
                    <m:oMathParaPr>
                      <m:jc m:val="centerGroup"/>
                    </m:oMathParaPr>
                    <m:oMath xmlns:m="http://schemas.openxmlformats.org/officeDocument/2006/math">
                      <m:r>
                        <a:rPr lang="en-US" altLang="zh-CN" sz="2800" b="0" i="1" dirty="0" smtClean="0">
                          <a:latin typeface="Cambria Math" panose="02040503050406030204" charset="0"/>
                          <a:ea typeface="微软雅黑" panose="020B0503020204020204" pitchFamily="34" charset="-122"/>
                          <a:cs typeface="微软雅黑" panose="020B0503020204020204" pitchFamily="34" charset="-122"/>
                        </a:rPr>
                        <m:t>𝑀</m:t>
                      </m:r>
                      <m:r>
                        <a:rPr lang="en-US" altLang="zh-CN" sz="2800" b="0" i="1" dirty="0" smtClean="0">
                          <a:latin typeface="Cambria Math" panose="02040503050406030204" charset="0"/>
                          <a:ea typeface="微软雅黑" panose="020B0503020204020204" pitchFamily="34" charset="-122"/>
                          <a:cs typeface="微软雅黑" panose="020B0503020204020204" pitchFamily="34" charset="-122"/>
                        </a:rPr>
                        <m:t>=</m:t>
                      </m:r>
                      <m:d>
                        <m:dPr>
                          <m:begChr m:val="["/>
                          <m:endChr m:val="]"/>
                          <m:ctrlPr>
                            <a:rPr lang="pt-BR" altLang="zh-CN" sz="2800" b="0" i="1" dirty="0" smtClean="0">
                              <a:latin typeface="Cambria Math" panose="02040503050406030204" pitchFamily="18" charset="0"/>
                              <a:ea typeface="微软雅黑" panose="020B0503020204020204" pitchFamily="34" charset="-122"/>
                              <a:cs typeface="微软雅黑" panose="020B0503020204020204" pitchFamily="34" charset="-122"/>
                            </a:rPr>
                          </m:ctrlPr>
                        </m:dPr>
                        <m:e>
                          <m:m>
                            <m:mPr>
                              <m:mcs>
                                <m:mc>
                                  <m:mcPr>
                                    <m:count m:val="3"/>
                                    <m:mcJc m:val="center"/>
                                  </m:mcPr>
                                </m:mc>
                              </m:mcs>
                              <m:ctrlPr>
                                <a:rPr lang="uk-UA" altLang="zh-CN" sz="2800" i="1" dirty="0">
                                  <a:latin typeface="Cambria Math" panose="02040503050406030204" pitchFamily="18" charset="0"/>
                                  <a:ea typeface="微软雅黑" panose="020B0503020204020204" pitchFamily="34" charset="-122"/>
                                  <a:cs typeface="微软雅黑" panose="020B0503020204020204" pitchFamily="34" charset="-122"/>
                                </a:rPr>
                              </m:ctrlPr>
                            </m:mPr>
                            <m:mr>
                              <m:e>
                                <m:r>
                                  <a:rPr lang="en-US" altLang="zh-CN" sz="2800" i="1" dirty="0">
                                    <a:latin typeface="Cambria Math" panose="02040503050406030204" charset="0"/>
                                    <a:ea typeface="Cambria Math" panose="02040503050406030204" charset="0"/>
                                    <a:cs typeface="Cambria Math" panose="02040503050406030204" charset="0"/>
                                  </a:rPr>
                                  <m:t>𝛾</m:t>
                                </m:r>
                                <m:r>
                                  <a:rPr lang="en-US" altLang="zh-CN" sz="2800" i="1" baseline="-25000" dirty="0">
                                    <a:latin typeface="Cambria Math" panose="02040503050406030204" charset="0"/>
                                    <a:ea typeface="微软雅黑" panose="020B0503020204020204" pitchFamily="34" charset="-122"/>
                                    <a:cs typeface="微软雅黑" panose="020B0503020204020204" pitchFamily="34" charset="-122"/>
                                  </a:rPr>
                                  <m:t>11</m:t>
                                </m:r>
                              </m:e>
                              <m:e>
                                <m:r>
                                  <a:rPr lang="en-US" altLang="zh-CN" sz="2800" i="1" dirty="0">
                                    <a:latin typeface="Cambria Math" panose="02040503050406030204" charset="0"/>
                                    <a:ea typeface="Cambria Math" panose="02040503050406030204" charset="0"/>
                                    <a:cs typeface="Cambria Math" panose="02040503050406030204" charset="0"/>
                                  </a:rPr>
                                  <m:t>𝛾</m:t>
                                </m:r>
                                <m:r>
                                  <a:rPr lang="en-US" altLang="zh-CN" sz="2800" i="1" baseline="-25000" dirty="0">
                                    <a:latin typeface="Cambria Math" panose="02040503050406030204" charset="0"/>
                                    <a:ea typeface="微软雅黑" panose="020B0503020204020204" pitchFamily="34" charset="-122"/>
                                    <a:cs typeface="微软雅黑" panose="020B0503020204020204" pitchFamily="34" charset="-122"/>
                                  </a:rPr>
                                  <m:t>12</m:t>
                                </m:r>
                              </m:e>
                              <m:e>
                                <m:r>
                                  <a:rPr lang="en-US" altLang="zh-CN" sz="2800" i="1" dirty="0">
                                    <a:latin typeface="Cambria Math" panose="02040503050406030204" charset="0"/>
                                    <a:ea typeface="Cambria Math" panose="02040503050406030204" charset="0"/>
                                    <a:cs typeface="Cambria Math" panose="02040503050406030204" charset="0"/>
                                  </a:rPr>
                                  <m:t>𝛾</m:t>
                                </m:r>
                                <m:r>
                                  <a:rPr lang="en-US" altLang="zh-CN" sz="2800" i="1" baseline="-25000" dirty="0">
                                    <a:latin typeface="Cambria Math" panose="02040503050406030204" charset="0"/>
                                    <a:ea typeface="微软雅黑" panose="020B0503020204020204" pitchFamily="34" charset="-122"/>
                                    <a:cs typeface="微软雅黑" panose="020B0503020204020204" pitchFamily="34" charset="-122"/>
                                  </a:rPr>
                                  <m:t>13</m:t>
                                </m:r>
                              </m:e>
                            </m:mr>
                            <m:mr>
                              <m:e>
                                <m:r>
                                  <a:rPr lang="en-US" altLang="zh-CN" sz="2800" i="1" dirty="0">
                                    <a:latin typeface="Cambria Math" panose="02040503050406030204" charset="0"/>
                                    <a:ea typeface="Cambria Math" panose="02040503050406030204" charset="0"/>
                                    <a:cs typeface="Cambria Math" panose="02040503050406030204" charset="0"/>
                                  </a:rPr>
                                  <m:t>𝛾</m:t>
                                </m:r>
                                <m:r>
                                  <a:rPr lang="en-US" altLang="zh-CN" sz="2800" i="1" baseline="-25000" dirty="0">
                                    <a:latin typeface="Cambria Math" panose="02040503050406030204" charset="0"/>
                                    <a:ea typeface="微软雅黑" panose="020B0503020204020204" pitchFamily="34" charset="-122"/>
                                    <a:cs typeface="微软雅黑" panose="020B0503020204020204" pitchFamily="34" charset="-122"/>
                                  </a:rPr>
                                  <m:t>21</m:t>
                                </m:r>
                              </m:e>
                              <m:e>
                                <m:sSub>
                                  <m:sSubPr>
                                    <m:ctrlPr>
                                      <a:rPr lang="en-US" altLang="zh-CN" sz="2800" i="1" dirty="0">
                                        <a:latin typeface="Cambria Math" panose="02040503050406030204" pitchFamily="18" charset="0"/>
                                        <a:ea typeface="Cambria Math" panose="02040503050406030204" charset="0"/>
                                        <a:cs typeface="Cambria Math" panose="02040503050406030204" charset="0"/>
                                      </a:rPr>
                                    </m:ctrlPr>
                                  </m:sSubPr>
                                  <m:e>
                                    <m:r>
                                      <a:rPr lang="en-US" altLang="zh-CN" sz="2800" i="1" dirty="0">
                                        <a:latin typeface="Cambria Math" panose="02040503050406030204" charset="0"/>
                                        <a:ea typeface="Cambria Math" panose="02040503050406030204" charset="0"/>
                                        <a:cs typeface="Cambria Math" panose="02040503050406030204" charset="0"/>
                                      </a:rPr>
                                      <m:t>𝛾</m:t>
                                    </m:r>
                                  </m:e>
                                  <m:sub>
                                    <m:r>
                                      <a:rPr lang="en-US" altLang="zh-CN" sz="2800" i="1" dirty="0">
                                        <a:latin typeface="Cambria Math" panose="02040503050406030204" charset="0"/>
                                        <a:ea typeface="Cambria Math" panose="02040503050406030204" charset="0"/>
                                        <a:cs typeface="Cambria Math" panose="02040503050406030204" charset="0"/>
                                      </a:rPr>
                                      <m:t>22</m:t>
                                    </m:r>
                                  </m:sub>
                                </m:sSub>
                              </m:e>
                              <m:e>
                                <m:r>
                                  <a:rPr lang="en-US" altLang="zh-CN" sz="2800" i="1" dirty="0">
                                    <a:latin typeface="Cambria Math" panose="02040503050406030204" charset="0"/>
                                    <a:ea typeface="Cambria Math" panose="02040503050406030204" charset="0"/>
                                    <a:cs typeface="Cambria Math" panose="02040503050406030204" charset="0"/>
                                  </a:rPr>
                                  <m:t>𝛾</m:t>
                                </m:r>
                                <m:r>
                                  <a:rPr lang="en-US" altLang="zh-CN" sz="2800" i="1" baseline="-25000" dirty="0">
                                    <a:latin typeface="Cambria Math" panose="02040503050406030204" charset="0"/>
                                    <a:ea typeface="微软雅黑" panose="020B0503020204020204" pitchFamily="34" charset="-122"/>
                                    <a:cs typeface="微软雅黑" panose="020B0503020204020204" pitchFamily="34" charset="-122"/>
                                  </a:rPr>
                                  <m:t>23</m:t>
                                </m:r>
                              </m:e>
                            </m:mr>
                            <m:mr>
                              <m:e>
                                <m:r>
                                  <a:rPr lang="en-US" altLang="zh-CN" sz="2800" i="1" dirty="0">
                                    <a:latin typeface="Cambria Math" panose="02040503050406030204" charset="0"/>
                                    <a:ea typeface="Cambria Math" panose="02040503050406030204" charset="0"/>
                                    <a:cs typeface="Cambria Math" panose="02040503050406030204" charset="0"/>
                                  </a:rPr>
                                  <m:t>𝛾</m:t>
                                </m:r>
                                <m:r>
                                  <a:rPr lang="en-US" altLang="zh-CN" sz="2800" i="1" baseline="-25000" dirty="0">
                                    <a:latin typeface="Cambria Math" panose="02040503050406030204" charset="0"/>
                                    <a:ea typeface="微软雅黑" panose="020B0503020204020204" pitchFamily="34" charset="-122"/>
                                    <a:cs typeface="微软雅黑" panose="020B0503020204020204" pitchFamily="34" charset="-122"/>
                                  </a:rPr>
                                  <m:t>31</m:t>
                                </m:r>
                              </m:e>
                              <m:e>
                                <m:r>
                                  <a:rPr lang="en-US" altLang="zh-CN" sz="2800" i="1" dirty="0">
                                    <a:latin typeface="Cambria Math" panose="02040503050406030204" charset="0"/>
                                    <a:ea typeface="Cambria Math" panose="02040503050406030204" charset="0"/>
                                    <a:cs typeface="Cambria Math" panose="02040503050406030204" charset="0"/>
                                  </a:rPr>
                                  <m:t>𝛾</m:t>
                                </m:r>
                                <m:r>
                                  <a:rPr lang="en-US" altLang="zh-CN" sz="2800" i="1" baseline="-25000" dirty="0">
                                    <a:latin typeface="Cambria Math" panose="02040503050406030204" charset="0"/>
                                    <a:ea typeface="微软雅黑" panose="020B0503020204020204" pitchFamily="34" charset="-122"/>
                                    <a:cs typeface="微软雅黑" panose="020B0503020204020204" pitchFamily="34" charset="-122"/>
                                  </a:rPr>
                                  <m:t>32</m:t>
                                </m:r>
                              </m:e>
                              <m:e>
                                <m:r>
                                  <a:rPr lang="en-US" altLang="zh-CN" sz="2800" i="1" dirty="0">
                                    <a:latin typeface="Cambria Math" panose="02040503050406030204" charset="0"/>
                                    <a:ea typeface="Cambria Math" panose="02040503050406030204" charset="0"/>
                                    <a:cs typeface="Cambria Math" panose="02040503050406030204" charset="0"/>
                                  </a:rPr>
                                  <m:t>𝛾</m:t>
                                </m:r>
                                <m:r>
                                  <a:rPr lang="en-US" altLang="zh-CN" sz="2800" i="1" baseline="-25000" dirty="0">
                                    <a:latin typeface="Cambria Math" panose="02040503050406030204" charset="0"/>
                                    <a:ea typeface="微软雅黑" panose="020B0503020204020204" pitchFamily="34" charset="-122"/>
                                    <a:cs typeface="微软雅黑" panose="020B0503020204020204" pitchFamily="34" charset="-122"/>
                                  </a:rPr>
                                  <m:t>33</m:t>
                                </m:r>
                              </m:e>
                            </m:mr>
                          </m:m>
                        </m:e>
                      </m:d>
                    </m:oMath>
                  </m:oMathPara>
                </a14:m>
                <a:endParaRPr lang="en-US" altLang="zh-CN" sz="2800" baseline="-25000" dirty="0">
                  <a:latin typeface="微软雅黑" panose="020B0503020204020204" pitchFamily="34" charset="-122"/>
                  <a:ea typeface="微软雅黑" panose="020B0503020204020204" pitchFamily="34" charset="-122"/>
                  <a:cs typeface="微软雅黑" panose="020B0503020204020204" pitchFamily="34" charset="-122"/>
                </a:endParaRPr>
              </a:p>
            </p:txBody>
          </p:sp>
        </mc:Choice>
        <mc:Fallback xmlns="">
          <p:sp>
            <p:nvSpPr>
              <p:cNvPr id="14" name="Text Box 4"/>
              <p:cNvSpPr txBox="1">
                <a:spLocks noRot="1" noChangeAspect="1" noMove="1" noResize="1" noEditPoints="1" noAdjustHandles="1" noChangeArrowheads="1" noChangeShapeType="1" noTextEdit="1"/>
              </p:cNvSpPr>
              <p:nvPr/>
            </p:nvSpPr>
            <p:spPr bwMode="auto">
              <a:xfrm>
                <a:off x="3935323" y="5219978"/>
                <a:ext cx="4655890" cy="1227516"/>
              </a:xfrm>
              <a:prstGeom prst="rect">
                <a:avLst/>
              </a:prstGeom>
              <a:blipFill rotWithShape="1">
                <a:blip r:embed="rId7"/>
                <a:stretch>
                  <a:fillRect l="-5" t="-23" r="6" b="-541"/>
                </a:stretch>
              </a:blipFill>
              <a:ln w="12700">
                <a:noFill/>
                <a:miter lim="800000"/>
                <a:headEnd type="none" w="sm" len="sm"/>
                <a:tailEnd type="none" w="sm" len="sm"/>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Text Box 4"/>
              <p:cNvSpPr txBox="1">
                <a:spLocks noChangeArrowheads="1"/>
              </p:cNvSpPr>
              <p:nvPr/>
            </p:nvSpPr>
            <p:spPr bwMode="auto">
              <a:xfrm>
                <a:off x="3225652" y="2560468"/>
                <a:ext cx="5987921" cy="1060803"/>
              </a:xfrm>
              <a:prstGeom prst="rect">
                <a:avLst/>
              </a:prstGeom>
              <a:noFill/>
              <a:ln w="12700">
                <a:noFill/>
                <a:miter lim="800000"/>
                <a:headEnd type="none" w="sm" len="sm"/>
                <a:tailEnd type="none" w="sm" len="sm"/>
              </a:ln>
            </p:spPr>
            <p:txBody>
              <a:bodyPr wrap="none" anchorCtr="1">
                <a:spAutoFit/>
              </a:bodyPr>
              <a:lstStyle/>
              <a:p>
                <a:pPr>
                  <a:spcBef>
                    <a:spcPct val="20000"/>
                  </a:spcBef>
                </a:pPr>
                <a14:m>
                  <m:oMathPara xmlns:m="http://schemas.openxmlformats.org/officeDocument/2006/math">
                    <m:oMathParaPr>
                      <m:jc m:val="centerGroup"/>
                    </m:oMathParaPr>
                    <m:oMath xmlns:m="http://schemas.openxmlformats.org/officeDocument/2006/math">
                      <m:r>
                        <a:rPr lang="en-US" altLang="zh-CN" sz="2000" b="1" i="1" dirty="0" smtClean="0">
                          <a:latin typeface="Cambria Math" panose="02040503050406030204" charset="0"/>
                          <a:ea typeface="微软雅黑" panose="020B0503020204020204" pitchFamily="34" charset="-122"/>
                          <a:cs typeface="微软雅黑" panose="020B0503020204020204" pitchFamily="34" charset="-122"/>
                        </a:rPr>
                        <m:t>𝒗</m:t>
                      </m:r>
                      <m:r>
                        <a:rPr lang="en-US" altLang="zh-CN" sz="2000" i="1" dirty="0" smtClean="0">
                          <a:latin typeface="Cambria Math" panose="02040503050406030204" charset="0"/>
                          <a:ea typeface="微软雅黑" panose="020B0503020204020204" pitchFamily="34" charset="-122"/>
                          <a:cs typeface="微软雅黑" panose="020B0503020204020204" pitchFamily="34" charset="-122"/>
                        </a:rPr>
                        <m:t>=</m:t>
                      </m:r>
                      <m:r>
                        <a:rPr lang="en-US" altLang="zh-CN" sz="2000" i="1" dirty="0" smtClean="0">
                          <a:latin typeface="Cambria Math" panose="02040503050406030204" charset="0"/>
                          <a:ea typeface="微软雅黑" panose="020B0503020204020204" pitchFamily="34" charset="-122"/>
                          <a:cs typeface="微软雅黑" panose="020B0503020204020204" pitchFamily="34" charset="-122"/>
                        </a:rPr>
                        <m:t>𝑎</m:t>
                      </m:r>
                      <m:r>
                        <a:rPr lang="en-US" altLang="zh-CN" sz="2000" i="1" baseline="-25000" dirty="0">
                          <a:latin typeface="Cambria Math" panose="02040503050406030204" charset="0"/>
                          <a:ea typeface="微软雅黑" panose="020B0503020204020204" pitchFamily="34" charset="-122"/>
                          <a:cs typeface="微软雅黑" panose="020B0503020204020204" pitchFamily="34" charset="-122"/>
                        </a:rPr>
                        <m:t>1</m:t>
                      </m:r>
                      <m:r>
                        <a:rPr lang="en-US" altLang="zh-CN" sz="2000" i="1" dirty="0">
                          <a:latin typeface="Cambria Math" panose="02040503050406030204" charset="0"/>
                          <a:ea typeface="微软雅黑" panose="020B0503020204020204" pitchFamily="34" charset="-122"/>
                          <a:cs typeface="微软雅黑" panose="020B0503020204020204" pitchFamily="34" charset="-122"/>
                        </a:rPr>
                        <m:t>𝑣</m:t>
                      </m:r>
                      <m:r>
                        <a:rPr lang="en-US" altLang="zh-CN" sz="2000" i="1" baseline="-25000" dirty="0">
                          <a:latin typeface="Cambria Math" panose="02040503050406030204" charset="0"/>
                          <a:ea typeface="微软雅黑" panose="020B0503020204020204" pitchFamily="34" charset="-122"/>
                          <a:cs typeface="微软雅黑" panose="020B0503020204020204" pitchFamily="34" charset="-122"/>
                        </a:rPr>
                        <m:t>1</m:t>
                      </m:r>
                      <m:r>
                        <a:rPr lang="en-US" altLang="zh-CN" sz="2000" i="1" dirty="0">
                          <a:latin typeface="Cambria Math" panose="02040503050406030204" charset="0"/>
                          <a:ea typeface="微软雅黑" panose="020B0503020204020204" pitchFamily="34" charset="-122"/>
                          <a:cs typeface="微软雅黑" panose="020B0503020204020204" pitchFamily="34" charset="-122"/>
                        </a:rPr>
                        <m:t>+ </m:t>
                      </m:r>
                      <m:r>
                        <a:rPr lang="en-US" altLang="zh-CN" sz="2000" i="1" dirty="0">
                          <a:latin typeface="Cambria Math" panose="02040503050406030204" charset="0"/>
                          <a:ea typeface="微软雅黑" panose="020B0503020204020204" pitchFamily="34" charset="-122"/>
                          <a:cs typeface="微软雅黑" panose="020B0503020204020204" pitchFamily="34" charset="-122"/>
                        </a:rPr>
                        <m:t>𝑎</m:t>
                      </m:r>
                      <m:r>
                        <a:rPr lang="en-US" altLang="zh-CN" sz="2000" i="1" baseline="-25000" dirty="0">
                          <a:latin typeface="Cambria Math" panose="02040503050406030204" charset="0"/>
                          <a:ea typeface="微软雅黑" panose="020B0503020204020204" pitchFamily="34" charset="-122"/>
                          <a:cs typeface="微软雅黑" panose="020B0503020204020204" pitchFamily="34" charset="-122"/>
                        </a:rPr>
                        <m:t>2</m:t>
                      </m:r>
                      <m:r>
                        <a:rPr lang="en-US" altLang="zh-CN" sz="2000" i="1" dirty="0">
                          <a:latin typeface="Cambria Math" panose="02040503050406030204" charset="0"/>
                          <a:ea typeface="微软雅黑" panose="020B0503020204020204" pitchFamily="34" charset="-122"/>
                          <a:cs typeface="微软雅黑" panose="020B0503020204020204" pitchFamily="34" charset="-122"/>
                        </a:rPr>
                        <m:t>𝑣</m:t>
                      </m:r>
                      <m:r>
                        <a:rPr lang="en-US" altLang="zh-CN" sz="2000" i="1" baseline="-25000" dirty="0">
                          <a:latin typeface="Cambria Math" panose="02040503050406030204" charset="0"/>
                          <a:ea typeface="微软雅黑" panose="020B0503020204020204" pitchFamily="34" charset="-122"/>
                          <a:cs typeface="微软雅黑" panose="020B0503020204020204" pitchFamily="34" charset="-122"/>
                        </a:rPr>
                        <m:t>2</m:t>
                      </m:r>
                      <m:r>
                        <a:rPr lang="en-US" altLang="zh-CN" sz="2000" i="1" dirty="0">
                          <a:latin typeface="Cambria Math" panose="02040503050406030204" charset="0"/>
                          <a:ea typeface="微软雅黑" panose="020B0503020204020204" pitchFamily="34" charset="-122"/>
                          <a:cs typeface="微软雅黑" panose="020B0503020204020204" pitchFamily="34" charset="-122"/>
                        </a:rPr>
                        <m:t> +</m:t>
                      </m:r>
                      <m:r>
                        <a:rPr lang="en-US" altLang="zh-CN" sz="2000" i="1" dirty="0">
                          <a:latin typeface="Cambria Math" panose="02040503050406030204" charset="0"/>
                          <a:ea typeface="微软雅黑" panose="020B0503020204020204" pitchFamily="34" charset="-122"/>
                          <a:cs typeface="微软雅黑" panose="020B0503020204020204" pitchFamily="34" charset="-122"/>
                        </a:rPr>
                        <m:t>𝑎</m:t>
                      </m:r>
                      <m:r>
                        <a:rPr lang="en-US" altLang="zh-CN" sz="2000" i="1" baseline="-25000" dirty="0">
                          <a:latin typeface="Cambria Math" panose="02040503050406030204" charset="0"/>
                          <a:ea typeface="微软雅黑" panose="020B0503020204020204" pitchFamily="34" charset="-122"/>
                          <a:cs typeface="微软雅黑" panose="020B0503020204020204" pitchFamily="34" charset="-122"/>
                        </a:rPr>
                        <m:t>3</m:t>
                      </m:r>
                      <m:r>
                        <a:rPr lang="en-US" altLang="zh-CN" sz="2000" i="1" dirty="0">
                          <a:latin typeface="Cambria Math" panose="02040503050406030204" charset="0"/>
                          <a:ea typeface="微软雅黑" panose="020B0503020204020204" pitchFamily="34" charset="-122"/>
                          <a:cs typeface="微软雅黑" panose="020B0503020204020204" pitchFamily="34" charset="-122"/>
                        </a:rPr>
                        <m:t>𝑣</m:t>
                      </m:r>
                      <m:r>
                        <a:rPr lang="en-US" altLang="zh-CN" sz="2000" i="1" baseline="-25000" dirty="0">
                          <a:latin typeface="Cambria Math" panose="02040503050406030204" charset="0"/>
                          <a:ea typeface="微软雅黑" panose="020B0503020204020204" pitchFamily="34" charset="-122"/>
                          <a:cs typeface="微软雅黑" panose="020B0503020204020204" pitchFamily="34" charset="-122"/>
                        </a:rPr>
                        <m:t>3 </m:t>
                      </m:r>
                      <m:r>
                        <a:rPr lang="en-US" altLang="zh-CN" sz="2000" i="1" dirty="0">
                          <a:latin typeface="Cambria Math" panose="02040503050406030204" charset="0"/>
                          <a:ea typeface="微软雅黑" panose="020B0503020204020204" pitchFamily="34" charset="-122"/>
                          <a:cs typeface="微软雅黑" panose="020B0503020204020204" pitchFamily="34" charset="-122"/>
                        </a:rPr>
                        <m:t>= [</m:t>
                      </m:r>
                      <m:r>
                        <a:rPr lang="en-US" altLang="zh-CN" sz="2000" i="1" dirty="0">
                          <a:latin typeface="Cambria Math" panose="02040503050406030204" charset="0"/>
                          <a:ea typeface="微软雅黑" panose="020B0503020204020204" pitchFamily="34" charset="-122"/>
                          <a:cs typeface="微软雅黑" panose="020B0503020204020204" pitchFamily="34" charset="-122"/>
                        </a:rPr>
                        <m:t>𝑎</m:t>
                      </m:r>
                      <m:r>
                        <a:rPr lang="en-US" altLang="zh-CN" sz="2000" i="1" baseline="-25000" dirty="0">
                          <a:latin typeface="Cambria Math" panose="02040503050406030204" charset="0"/>
                          <a:ea typeface="微软雅黑" panose="020B0503020204020204" pitchFamily="34" charset="-122"/>
                          <a:cs typeface="微软雅黑" panose="020B0503020204020204" pitchFamily="34" charset="-122"/>
                        </a:rPr>
                        <m:t>1 </m:t>
                      </m:r>
                      <m:r>
                        <a:rPr lang="en-US" altLang="zh-CN" sz="2000" i="1" dirty="0">
                          <a:latin typeface="Cambria Math" panose="02040503050406030204" charset="0"/>
                          <a:ea typeface="微软雅黑" panose="020B0503020204020204" pitchFamily="34" charset="-122"/>
                          <a:cs typeface="微软雅黑" panose="020B0503020204020204" pitchFamily="34" charset="-122"/>
                        </a:rPr>
                        <m:t>𝑎</m:t>
                      </m:r>
                      <m:r>
                        <a:rPr lang="en-US" altLang="zh-CN" sz="2000" i="1" baseline="-25000" dirty="0">
                          <a:latin typeface="Cambria Math" panose="02040503050406030204" charset="0"/>
                          <a:ea typeface="微软雅黑" panose="020B0503020204020204" pitchFamily="34" charset="-122"/>
                          <a:cs typeface="微软雅黑" panose="020B0503020204020204" pitchFamily="34" charset="-122"/>
                        </a:rPr>
                        <m:t>2</m:t>
                      </m:r>
                      <m:r>
                        <a:rPr lang="en-US" altLang="zh-CN" sz="2000" i="1" dirty="0">
                          <a:latin typeface="Cambria Math" panose="02040503050406030204" charset="0"/>
                          <a:ea typeface="微软雅黑" panose="020B0503020204020204" pitchFamily="34" charset="-122"/>
                          <a:cs typeface="微软雅黑" panose="020B0503020204020204" pitchFamily="34" charset="-122"/>
                        </a:rPr>
                        <m:t> </m:t>
                      </m:r>
                      <m:r>
                        <a:rPr lang="en-US" altLang="zh-CN" sz="2000" i="1" dirty="0">
                          <a:latin typeface="Cambria Math" panose="02040503050406030204" charset="0"/>
                          <a:ea typeface="微软雅黑" panose="020B0503020204020204" pitchFamily="34" charset="-122"/>
                          <a:cs typeface="微软雅黑" panose="020B0503020204020204" pitchFamily="34" charset="-122"/>
                        </a:rPr>
                        <m:t>𝑎</m:t>
                      </m:r>
                      <m:r>
                        <a:rPr lang="en-US" altLang="zh-CN" sz="2000" i="1" baseline="-25000" dirty="0">
                          <a:latin typeface="Cambria Math" panose="02040503050406030204" charset="0"/>
                          <a:ea typeface="微软雅黑" panose="020B0503020204020204" pitchFamily="34" charset="-122"/>
                          <a:cs typeface="微软雅黑" panose="020B0503020204020204" pitchFamily="34" charset="-122"/>
                        </a:rPr>
                        <m:t>3</m:t>
                      </m:r>
                      <m:r>
                        <a:rPr lang="en-US" altLang="zh-CN" sz="2000" i="1" dirty="0">
                          <a:latin typeface="Cambria Math" panose="02040503050406030204" charset="0"/>
                          <a:ea typeface="微软雅黑" panose="020B0503020204020204" pitchFamily="34" charset="-122"/>
                          <a:cs typeface="微软雅黑" panose="020B0503020204020204" pitchFamily="34" charset="-122"/>
                        </a:rPr>
                        <m:t>]</m:t>
                      </m:r>
                      <m:r>
                        <a:rPr lang="en-US" altLang="zh-CN" sz="3200" i="1" baseline="30000" dirty="0">
                          <a:latin typeface="Cambria Math" panose="02040503050406030204" charset="0"/>
                          <a:ea typeface="微软雅黑" panose="020B0503020204020204" pitchFamily="34" charset="-122"/>
                          <a:cs typeface="微软雅黑" panose="020B0503020204020204" pitchFamily="34" charset="-122"/>
                        </a:rPr>
                        <m:t> </m:t>
                      </m:r>
                      <m:r>
                        <a:rPr lang="en-US" altLang="zh-CN" sz="2000" i="1" dirty="0">
                          <a:latin typeface="Cambria Math" panose="02040503050406030204" charset="0"/>
                          <a:ea typeface="微软雅黑" panose="020B0503020204020204" pitchFamily="34" charset="-122"/>
                          <a:cs typeface="微软雅黑" panose="020B0503020204020204" pitchFamily="34" charset="-122"/>
                        </a:rPr>
                        <m:t>[</m:t>
                      </m:r>
                      <m:r>
                        <a:rPr lang="en-US" altLang="zh-CN" sz="2000" i="1" dirty="0">
                          <a:latin typeface="Cambria Math" panose="02040503050406030204" charset="0"/>
                          <a:ea typeface="微软雅黑" panose="020B0503020204020204" pitchFamily="34" charset="-122"/>
                          <a:cs typeface="微软雅黑" panose="020B0503020204020204" pitchFamily="34" charset="-122"/>
                        </a:rPr>
                        <m:t>𝑣</m:t>
                      </m:r>
                      <m:r>
                        <a:rPr lang="en-US" altLang="zh-CN" sz="2000" i="1" baseline="-25000" dirty="0">
                          <a:latin typeface="Cambria Math" panose="02040503050406030204" charset="0"/>
                          <a:ea typeface="微软雅黑" panose="020B0503020204020204" pitchFamily="34" charset="-122"/>
                          <a:cs typeface="微软雅黑" panose="020B0503020204020204" pitchFamily="34" charset="-122"/>
                        </a:rPr>
                        <m:t>1</m:t>
                      </m:r>
                      <m:r>
                        <a:rPr lang="en-US" altLang="zh-CN" sz="2000" i="1" dirty="0">
                          <a:latin typeface="Cambria Math" panose="02040503050406030204" charset="0"/>
                          <a:ea typeface="微软雅黑" panose="020B0503020204020204" pitchFamily="34" charset="-122"/>
                          <a:cs typeface="微软雅黑" panose="020B0503020204020204" pitchFamily="34" charset="-122"/>
                        </a:rPr>
                        <m:t> </m:t>
                      </m:r>
                      <m:r>
                        <a:rPr lang="en-US" altLang="zh-CN" sz="2000" i="1" dirty="0">
                          <a:latin typeface="Cambria Math" panose="02040503050406030204" charset="0"/>
                          <a:ea typeface="微软雅黑" panose="020B0503020204020204" pitchFamily="34" charset="-122"/>
                          <a:cs typeface="微软雅黑" panose="020B0503020204020204" pitchFamily="34" charset="-122"/>
                        </a:rPr>
                        <m:t>𝑣</m:t>
                      </m:r>
                      <m:r>
                        <a:rPr lang="en-US" altLang="zh-CN" sz="2000" i="1" baseline="-25000" dirty="0">
                          <a:latin typeface="Cambria Math" panose="02040503050406030204" charset="0"/>
                          <a:ea typeface="微软雅黑" panose="020B0503020204020204" pitchFamily="34" charset="-122"/>
                          <a:cs typeface="微软雅黑" panose="020B0503020204020204" pitchFamily="34" charset="-122"/>
                        </a:rPr>
                        <m:t>2</m:t>
                      </m:r>
                      <m:r>
                        <a:rPr lang="en-US" altLang="zh-CN" sz="2000" i="1" dirty="0">
                          <a:latin typeface="Cambria Math" panose="02040503050406030204" charset="0"/>
                          <a:ea typeface="微软雅黑" panose="020B0503020204020204" pitchFamily="34" charset="-122"/>
                          <a:cs typeface="微软雅黑" panose="020B0503020204020204" pitchFamily="34" charset="-122"/>
                        </a:rPr>
                        <m:t> </m:t>
                      </m:r>
                      <m:r>
                        <a:rPr lang="en-US" altLang="zh-CN" sz="2000" i="1" dirty="0">
                          <a:latin typeface="Cambria Math" panose="02040503050406030204" charset="0"/>
                          <a:ea typeface="微软雅黑" panose="020B0503020204020204" pitchFamily="34" charset="-122"/>
                          <a:cs typeface="微软雅黑" panose="020B0503020204020204" pitchFamily="34" charset="-122"/>
                        </a:rPr>
                        <m:t>𝑣</m:t>
                      </m:r>
                      <m:r>
                        <a:rPr lang="en-US" altLang="zh-CN" sz="2000" i="1" baseline="-25000" dirty="0">
                          <a:latin typeface="Cambria Math" panose="02040503050406030204" charset="0"/>
                          <a:ea typeface="微软雅黑" panose="020B0503020204020204" pitchFamily="34" charset="-122"/>
                          <a:cs typeface="微软雅黑" panose="020B0503020204020204" pitchFamily="34" charset="-122"/>
                        </a:rPr>
                        <m:t>3</m:t>
                      </m:r>
                      <m:r>
                        <a:rPr lang="en-US" altLang="zh-CN" sz="2400" i="1" dirty="0">
                          <a:latin typeface="Cambria Math" panose="02040503050406030204" charset="0"/>
                          <a:ea typeface="微软雅黑" panose="020B0503020204020204" pitchFamily="34" charset="-122"/>
                          <a:cs typeface="微软雅黑" panose="020B0503020204020204" pitchFamily="34" charset="-122"/>
                        </a:rPr>
                        <m:t>] </m:t>
                      </m:r>
                      <m:r>
                        <a:rPr lang="en-US" altLang="zh-CN" sz="3200" i="1" baseline="30000" dirty="0">
                          <a:latin typeface="Cambria Math" panose="02040503050406030204" charset="0"/>
                          <a:ea typeface="微软雅黑" panose="020B0503020204020204" pitchFamily="34" charset="-122"/>
                          <a:cs typeface="微软雅黑" panose="020B0503020204020204" pitchFamily="34" charset="-122"/>
                        </a:rPr>
                        <m:t>𝑇</m:t>
                      </m:r>
                    </m:oMath>
                  </m:oMathPara>
                </a14:m>
                <a:endParaRPr lang="en-US" altLang="zh-CN" sz="3200" baseline="30000" dirty="0">
                  <a:latin typeface="微软雅黑" panose="020B0503020204020204" pitchFamily="34" charset="-122"/>
                  <a:ea typeface="微软雅黑" panose="020B0503020204020204" pitchFamily="34" charset="-122"/>
                  <a:cs typeface="微软雅黑" panose="020B0503020204020204" pitchFamily="34" charset="-122"/>
                </a:endParaRPr>
              </a:p>
              <a:p>
                <a:pPr>
                  <a:spcBef>
                    <a:spcPct val="20000"/>
                  </a:spcBef>
                </a:pPr>
                <a:r>
                  <a:rPr lang="zh-CN" altLang="en-US" sz="2000" dirty="0">
                    <a:ea typeface="微软雅黑" panose="020B0503020204020204" pitchFamily="34" charset="-122"/>
                    <a:cs typeface="微软雅黑" panose="020B0503020204020204" pitchFamily="34" charset="-122"/>
                  </a:rPr>
                  <a:t>     </a:t>
                </a:r>
                <a14:m>
                  <m:oMath xmlns:m="http://schemas.openxmlformats.org/officeDocument/2006/math">
                    <m:r>
                      <a:rPr lang="en-US" altLang="zh-CN" sz="2000" i="1" dirty="0" smtClean="0">
                        <a:latin typeface="Cambria Math" panose="02040503050406030204" charset="0"/>
                        <a:ea typeface="微软雅黑" panose="020B0503020204020204" pitchFamily="34" charset="-122"/>
                        <a:cs typeface="微软雅黑" panose="020B0503020204020204" pitchFamily="34" charset="-122"/>
                      </a:rPr>
                      <m:t>=</m:t>
                    </m:r>
                    <m:r>
                      <a:rPr lang="en-US" altLang="zh-CN" sz="2000" i="1" dirty="0" smtClean="0">
                        <a:latin typeface="Cambria Math" panose="02040503050406030204" charset="0"/>
                        <a:ea typeface="微软雅黑" panose="020B0503020204020204" pitchFamily="34" charset="-122"/>
                        <a:cs typeface="微软雅黑" panose="020B0503020204020204" pitchFamily="34" charset="-122"/>
                      </a:rPr>
                      <m:t>𝑏</m:t>
                    </m:r>
                    <m:r>
                      <a:rPr lang="en-US" altLang="zh-CN" sz="2000" i="1" baseline="-25000" dirty="0">
                        <a:latin typeface="Cambria Math" panose="02040503050406030204" charset="0"/>
                        <a:ea typeface="微软雅黑" panose="020B0503020204020204" pitchFamily="34" charset="-122"/>
                        <a:cs typeface="微软雅黑" panose="020B0503020204020204" pitchFamily="34" charset="-122"/>
                      </a:rPr>
                      <m:t>1</m:t>
                    </m:r>
                    <m:r>
                      <a:rPr lang="en-US" altLang="zh-CN" sz="2000" i="1" dirty="0">
                        <a:latin typeface="Cambria Math" panose="02040503050406030204" charset="0"/>
                        <a:ea typeface="微软雅黑" panose="020B0503020204020204" pitchFamily="34" charset="-122"/>
                        <a:cs typeface="微软雅黑" panose="020B0503020204020204" pitchFamily="34" charset="-122"/>
                      </a:rPr>
                      <m:t>𝑢</m:t>
                    </m:r>
                    <m:r>
                      <a:rPr lang="en-US" altLang="zh-CN" sz="2000" i="1" baseline="-25000" dirty="0">
                        <a:latin typeface="Cambria Math" panose="02040503050406030204" charset="0"/>
                        <a:ea typeface="微软雅黑" panose="020B0503020204020204" pitchFamily="34" charset="-122"/>
                        <a:cs typeface="微软雅黑" panose="020B0503020204020204" pitchFamily="34" charset="-122"/>
                      </a:rPr>
                      <m:t>1</m:t>
                    </m:r>
                    <m:r>
                      <a:rPr lang="en-US" altLang="zh-CN" sz="2000" i="1" dirty="0">
                        <a:latin typeface="Cambria Math" panose="02040503050406030204" charset="0"/>
                        <a:ea typeface="微软雅黑" panose="020B0503020204020204" pitchFamily="34" charset="-122"/>
                        <a:cs typeface="微软雅黑" panose="020B0503020204020204" pitchFamily="34" charset="-122"/>
                      </a:rPr>
                      <m:t>+ </m:t>
                    </m:r>
                    <m:r>
                      <a:rPr lang="en-US" altLang="zh-CN" sz="2000" i="1" dirty="0">
                        <a:latin typeface="Cambria Math" panose="02040503050406030204" charset="0"/>
                        <a:ea typeface="微软雅黑" panose="020B0503020204020204" pitchFamily="34" charset="-122"/>
                        <a:cs typeface="微软雅黑" panose="020B0503020204020204" pitchFamily="34" charset="-122"/>
                      </a:rPr>
                      <m:t>𝑏</m:t>
                    </m:r>
                    <m:r>
                      <a:rPr lang="en-US" altLang="zh-CN" sz="2000" i="1" baseline="-25000" dirty="0">
                        <a:latin typeface="Cambria Math" panose="02040503050406030204" charset="0"/>
                        <a:ea typeface="微软雅黑" panose="020B0503020204020204" pitchFamily="34" charset="-122"/>
                        <a:cs typeface="微软雅黑" panose="020B0503020204020204" pitchFamily="34" charset="-122"/>
                      </a:rPr>
                      <m:t>2</m:t>
                    </m:r>
                    <m:r>
                      <a:rPr lang="en-US" altLang="zh-CN" sz="2000" i="1" dirty="0">
                        <a:latin typeface="Cambria Math" panose="02040503050406030204" charset="0"/>
                        <a:ea typeface="微软雅黑" panose="020B0503020204020204" pitchFamily="34" charset="-122"/>
                        <a:cs typeface="微软雅黑" panose="020B0503020204020204" pitchFamily="34" charset="-122"/>
                      </a:rPr>
                      <m:t>𝑢</m:t>
                    </m:r>
                    <m:r>
                      <a:rPr lang="en-US" altLang="zh-CN" sz="2000" i="1" baseline="-25000" dirty="0">
                        <a:latin typeface="Cambria Math" panose="02040503050406030204" charset="0"/>
                        <a:ea typeface="微软雅黑" panose="020B0503020204020204" pitchFamily="34" charset="-122"/>
                        <a:cs typeface="微软雅黑" panose="020B0503020204020204" pitchFamily="34" charset="-122"/>
                      </a:rPr>
                      <m:t>2</m:t>
                    </m:r>
                    <m:r>
                      <a:rPr lang="en-US" altLang="zh-CN" sz="2000" i="1" dirty="0">
                        <a:latin typeface="Cambria Math" panose="02040503050406030204" charset="0"/>
                        <a:ea typeface="微软雅黑" panose="020B0503020204020204" pitchFamily="34" charset="-122"/>
                        <a:cs typeface="微软雅黑" panose="020B0503020204020204" pitchFamily="34" charset="-122"/>
                      </a:rPr>
                      <m:t> +</m:t>
                    </m:r>
                    <m:r>
                      <a:rPr lang="en-US" altLang="zh-CN" sz="2000" i="1" dirty="0">
                        <a:latin typeface="Cambria Math" panose="02040503050406030204" charset="0"/>
                        <a:ea typeface="微软雅黑" panose="020B0503020204020204" pitchFamily="34" charset="-122"/>
                        <a:cs typeface="微软雅黑" panose="020B0503020204020204" pitchFamily="34" charset="-122"/>
                      </a:rPr>
                      <m:t>𝑏</m:t>
                    </m:r>
                    <m:r>
                      <a:rPr lang="en-US" altLang="zh-CN" sz="2000" i="1" baseline="-25000" dirty="0">
                        <a:latin typeface="Cambria Math" panose="02040503050406030204" charset="0"/>
                        <a:ea typeface="微软雅黑" panose="020B0503020204020204" pitchFamily="34" charset="-122"/>
                        <a:cs typeface="微软雅黑" panose="020B0503020204020204" pitchFamily="34" charset="-122"/>
                      </a:rPr>
                      <m:t>3</m:t>
                    </m:r>
                    <m:r>
                      <a:rPr lang="en-US" altLang="zh-CN" sz="2000" i="1" dirty="0">
                        <a:latin typeface="Cambria Math" panose="02040503050406030204" charset="0"/>
                        <a:ea typeface="微软雅黑" panose="020B0503020204020204" pitchFamily="34" charset="-122"/>
                        <a:cs typeface="微软雅黑" panose="020B0503020204020204" pitchFamily="34" charset="-122"/>
                      </a:rPr>
                      <m:t>𝑢</m:t>
                    </m:r>
                    <m:r>
                      <a:rPr lang="en-US" altLang="zh-CN" sz="2000" i="1" baseline="-25000" dirty="0">
                        <a:latin typeface="Cambria Math" panose="02040503050406030204" charset="0"/>
                        <a:ea typeface="微软雅黑" panose="020B0503020204020204" pitchFamily="34" charset="-122"/>
                        <a:cs typeface="微软雅黑" panose="020B0503020204020204" pitchFamily="34" charset="-122"/>
                      </a:rPr>
                      <m:t>3 </m:t>
                    </m:r>
                    <m:r>
                      <a:rPr lang="en-US" altLang="zh-CN" sz="2000" i="1" dirty="0">
                        <a:latin typeface="Cambria Math" panose="02040503050406030204" charset="0"/>
                        <a:ea typeface="微软雅黑" panose="020B0503020204020204" pitchFamily="34" charset="-122"/>
                        <a:cs typeface="微软雅黑" panose="020B0503020204020204" pitchFamily="34" charset="-122"/>
                      </a:rPr>
                      <m:t>= [</m:t>
                    </m:r>
                    <m:r>
                      <a:rPr lang="en-US" altLang="zh-CN" sz="2000" i="1" dirty="0">
                        <a:latin typeface="Cambria Math" panose="02040503050406030204" charset="0"/>
                        <a:ea typeface="微软雅黑" panose="020B0503020204020204" pitchFamily="34" charset="-122"/>
                        <a:cs typeface="微软雅黑" panose="020B0503020204020204" pitchFamily="34" charset="-122"/>
                      </a:rPr>
                      <m:t>𝑏</m:t>
                    </m:r>
                    <m:r>
                      <a:rPr lang="en-US" altLang="zh-CN" sz="2000" i="1" baseline="-25000" dirty="0">
                        <a:latin typeface="Cambria Math" panose="02040503050406030204" charset="0"/>
                        <a:ea typeface="微软雅黑" panose="020B0503020204020204" pitchFamily="34" charset="-122"/>
                        <a:cs typeface="微软雅黑" panose="020B0503020204020204" pitchFamily="34" charset="-122"/>
                      </a:rPr>
                      <m:t>1 </m:t>
                    </m:r>
                    <m:r>
                      <a:rPr lang="en-US" altLang="zh-CN" sz="2000" i="1" dirty="0">
                        <a:latin typeface="Cambria Math" panose="02040503050406030204" charset="0"/>
                        <a:ea typeface="微软雅黑" panose="020B0503020204020204" pitchFamily="34" charset="-122"/>
                        <a:cs typeface="微软雅黑" panose="020B0503020204020204" pitchFamily="34" charset="-122"/>
                      </a:rPr>
                      <m:t>𝑏</m:t>
                    </m:r>
                    <m:r>
                      <a:rPr lang="en-US" altLang="zh-CN" sz="2000" i="1" baseline="-25000" dirty="0">
                        <a:latin typeface="Cambria Math" panose="02040503050406030204" charset="0"/>
                        <a:ea typeface="微软雅黑" panose="020B0503020204020204" pitchFamily="34" charset="-122"/>
                        <a:cs typeface="微软雅黑" panose="020B0503020204020204" pitchFamily="34" charset="-122"/>
                      </a:rPr>
                      <m:t>2</m:t>
                    </m:r>
                    <m:r>
                      <a:rPr lang="en-US" altLang="zh-CN" sz="2000" i="1" dirty="0">
                        <a:latin typeface="Cambria Math" panose="02040503050406030204" charset="0"/>
                        <a:ea typeface="微软雅黑" panose="020B0503020204020204" pitchFamily="34" charset="-122"/>
                        <a:cs typeface="微软雅黑" panose="020B0503020204020204" pitchFamily="34" charset="-122"/>
                      </a:rPr>
                      <m:t> </m:t>
                    </m:r>
                    <m:r>
                      <a:rPr lang="en-US" altLang="zh-CN" sz="2000" i="1" dirty="0">
                        <a:latin typeface="Cambria Math" panose="02040503050406030204" charset="0"/>
                        <a:ea typeface="微软雅黑" panose="020B0503020204020204" pitchFamily="34" charset="-122"/>
                        <a:cs typeface="微软雅黑" panose="020B0503020204020204" pitchFamily="34" charset="-122"/>
                      </a:rPr>
                      <m:t>𝑏</m:t>
                    </m:r>
                    <m:r>
                      <a:rPr lang="en-US" altLang="zh-CN" sz="2000" i="1" baseline="-25000" dirty="0">
                        <a:latin typeface="Cambria Math" panose="02040503050406030204" charset="0"/>
                        <a:ea typeface="微软雅黑" panose="020B0503020204020204" pitchFamily="34" charset="-122"/>
                        <a:cs typeface="微软雅黑" panose="020B0503020204020204" pitchFamily="34" charset="-122"/>
                      </a:rPr>
                      <m:t>3</m:t>
                    </m:r>
                    <m:r>
                      <a:rPr lang="en-US" altLang="zh-CN" sz="2000" i="1" dirty="0">
                        <a:latin typeface="Cambria Math" panose="02040503050406030204" charset="0"/>
                        <a:ea typeface="微软雅黑" panose="020B0503020204020204" pitchFamily="34" charset="-122"/>
                        <a:cs typeface="微软雅黑" panose="020B0503020204020204" pitchFamily="34" charset="-122"/>
                      </a:rPr>
                      <m:t>]</m:t>
                    </m:r>
                    <m:r>
                      <a:rPr lang="en-US" altLang="zh-CN" sz="3200" i="1" baseline="30000" dirty="0">
                        <a:latin typeface="Cambria Math" panose="02040503050406030204" charset="0"/>
                        <a:ea typeface="微软雅黑" panose="020B0503020204020204" pitchFamily="34" charset="-122"/>
                        <a:cs typeface="微软雅黑" panose="020B0503020204020204" pitchFamily="34" charset="-122"/>
                      </a:rPr>
                      <m:t> </m:t>
                    </m:r>
                    <m:r>
                      <a:rPr lang="en-US" altLang="zh-CN" sz="2000" i="1" dirty="0">
                        <a:latin typeface="Cambria Math" panose="02040503050406030204" charset="0"/>
                        <a:ea typeface="微软雅黑" panose="020B0503020204020204" pitchFamily="34" charset="-122"/>
                        <a:cs typeface="微软雅黑" panose="020B0503020204020204" pitchFamily="34" charset="-122"/>
                      </a:rPr>
                      <m:t>[</m:t>
                    </m:r>
                    <m:r>
                      <a:rPr lang="en-US" altLang="zh-CN" sz="2000" i="1" dirty="0">
                        <a:latin typeface="Cambria Math" panose="02040503050406030204" charset="0"/>
                        <a:ea typeface="微软雅黑" panose="020B0503020204020204" pitchFamily="34" charset="-122"/>
                        <a:cs typeface="微软雅黑" panose="020B0503020204020204" pitchFamily="34" charset="-122"/>
                      </a:rPr>
                      <m:t>𝑢</m:t>
                    </m:r>
                    <m:r>
                      <a:rPr lang="en-US" altLang="zh-CN" sz="2000" i="1" baseline="-25000" dirty="0">
                        <a:latin typeface="Cambria Math" panose="02040503050406030204" charset="0"/>
                        <a:ea typeface="微软雅黑" panose="020B0503020204020204" pitchFamily="34" charset="-122"/>
                        <a:cs typeface="微软雅黑" panose="020B0503020204020204" pitchFamily="34" charset="-122"/>
                      </a:rPr>
                      <m:t>1</m:t>
                    </m:r>
                    <m:r>
                      <a:rPr lang="en-US" altLang="zh-CN" sz="2000" i="1" dirty="0">
                        <a:latin typeface="Cambria Math" panose="02040503050406030204" charset="0"/>
                        <a:ea typeface="微软雅黑" panose="020B0503020204020204" pitchFamily="34" charset="-122"/>
                        <a:cs typeface="微软雅黑" panose="020B0503020204020204" pitchFamily="34" charset="-122"/>
                      </a:rPr>
                      <m:t> </m:t>
                    </m:r>
                    <m:r>
                      <a:rPr lang="en-US" altLang="zh-CN" sz="2000" i="1" dirty="0">
                        <a:latin typeface="Cambria Math" panose="02040503050406030204" charset="0"/>
                        <a:ea typeface="微软雅黑" panose="020B0503020204020204" pitchFamily="34" charset="-122"/>
                        <a:cs typeface="微软雅黑" panose="020B0503020204020204" pitchFamily="34" charset="-122"/>
                      </a:rPr>
                      <m:t>𝑢</m:t>
                    </m:r>
                    <m:r>
                      <a:rPr lang="en-US" altLang="zh-CN" sz="2000" i="1" baseline="-25000" dirty="0">
                        <a:latin typeface="Cambria Math" panose="02040503050406030204" charset="0"/>
                        <a:ea typeface="微软雅黑" panose="020B0503020204020204" pitchFamily="34" charset="-122"/>
                        <a:cs typeface="微软雅黑" panose="020B0503020204020204" pitchFamily="34" charset="-122"/>
                      </a:rPr>
                      <m:t>2</m:t>
                    </m:r>
                    <m:r>
                      <a:rPr lang="en-US" altLang="zh-CN" sz="2000" i="1" dirty="0">
                        <a:latin typeface="Cambria Math" panose="02040503050406030204" charset="0"/>
                        <a:ea typeface="微软雅黑" panose="020B0503020204020204" pitchFamily="34" charset="-122"/>
                        <a:cs typeface="微软雅黑" panose="020B0503020204020204" pitchFamily="34" charset="-122"/>
                      </a:rPr>
                      <m:t> </m:t>
                    </m:r>
                    <m:r>
                      <a:rPr lang="en-US" altLang="zh-CN" sz="2000" i="1" dirty="0">
                        <a:latin typeface="Cambria Math" panose="02040503050406030204" charset="0"/>
                        <a:ea typeface="微软雅黑" panose="020B0503020204020204" pitchFamily="34" charset="-122"/>
                        <a:cs typeface="微软雅黑" panose="020B0503020204020204" pitchFamily="34" charset="-122"/>
                      </a:rPr>
                      <m:t>𝑢</m:t>
                    </m:r>
                    <m:r>
                      <a:rPr lang="en-US" altLang="zh-CN" sz="2000" i="1" baseline="-25000" dirty="0">
                        <a:latin typeface="Cambria Math" panose="02040503050406030204" charset="0"/>
                        <a:ea typeface="微软雅黑" panose="020B0503020204020204" pitchFamily="34" charset="-122"/>
                        <a:cs typeface="微软雅黑" panose="020B0503020204020204" pitchFamily="34" charset="-122"/>
                      </a:rPr>
                      <m:t>3</m:t>
                    </m:r>
                    <m:r>
                      <a:rPr lang="en-US" altLang="zh-CN" sz="2400" i="1" dirty="0">
                        <a:latin typeface="Cambria Math" panose="02040503050406030204" charset="0"/>
                        <a:ea typeface="微软雅黑" panose="020B0503020204020204" pitchFamily="34" charset="-122"/>
                        <a:cs typeface="微软雅黑" panose="020B0503020204020204" pitchFamily="34" charset="-122"/>
                      </a:rPr>
                      <m:t>] </m:t>
                    </m:r>
                    <m:r>
                      <a:rPr lang="en-US" altLang="zh-CN" sz="3200" i="1" baseline="30000" dirty="0">
                        <a:latin typeface="Cambria Math" panose="02040503050406030204" charset="0"/>
                        <a:ea typeface="微软雅黑" panose="020B0503020204020204" pitchFamily="34" charset="-122"/>
                        <a:cs typeface="微软雅黑" panose="020B0503020204020204" pitchFamily="34" charset="-122"/>
                      </a:rPr>
                      <m:t>𝑇</m:t>
                    </m:r>
                  </m:oMath>
                </a14:m>
                <a:endParaRPr lang="en-US" altLang="zh-CN" sz="3200" baseline="30000" dirty="0">
                  <a:latin typeface="微软雅黑" panose="020B0503020204020204" pitchFamily="34" charset="-122"/>
                  <a:ea typeface="微软雅黑" panose="020B0503020204020204" pitchFamily="34" charset="-122"/>
                  <a:cs typeface="微软雅黑" panose="020B0503020204020204" pitchFamily="34" charset="-122"/>
                </a:endParaRPr>
              </a:p>
              <a:p>
                <a:endParaRPr lang="en-US" altLang="zh-CN" sz="1400" dirty="0">
                  <a:latin typeface="微软雅黑" panose="020B0503020204020204" pitchFamily="34" charset="-122"/>
                  <a:ea typeface="微软雅黑" panose="020B0503020204020204" pitchFamily="34" charset="-122"/>
                  <a:cs typeface="微软雅黑" panose="020B0503020204020204" pitchFamily="34" charset="-122"/>
                </a:endParaRPr>
              </a:p>
            </p:txBody>
          </p:sp>
        </mc:Choice>
        <mc:Fallback xmlns="">
          <p:sp>
            <p:nvSpPr>
              <p:cNvPr id="15" name="Text Box 4"/>
              <p:cNvSpPr txBox="1">
                <a:spLocks noRot="1" noChangeAspect="1" noMove="1" noResize="1" noEditPoints="1" noAdjustHandles="1" noChangeArrowheads="1" noChangeShapeType="1" noTextEdit="1"/>
              </p:cNvSpPr>
              <p:nvPr/>
            </p:nvSpPr>
            <p:spPr bwMode="auto">
              <a:xfrm>
                <a:off x="3225652" y="2560468"/>
                <a:ext cx="5987921" cy="1060803"/>
              </a:xfrm>
              <a:prstGeom prst="rect">
                <a:avLst/>
              </a:prstGeom>
              <a:blipFill rotWithShape="1">
                <a:blip r:embed="rId8"/>
                <a:stretch>
                  <a:fillRect l="-8" t="-5282" r="6" b="47"/>
                </a:stretch>
              </a:blipFill>
              <a:ln w="12700">
                <a:noFill/>
                <a:miter lim="800000"/>
                <a:headEnd type="none" w="sm" len="sm"/>
                <a:tailEnd type="none" w="sm" len="sm"/>
              </a:ln>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坐标系变换</a:t>
            </a:r>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t>19</a:t>
            </a:fld>
            <a:endParaRPr lang="zh-CN" altLang="en-US" dirty="0"/>
          </a:p>
        </p:txBody>
      </p:sp>
      <p:sp>
        <p:nvSpPr>
          <p:cNvPr id="7" name="Content Placeholder 2"/>
          <p:cNvSpPr>
            <a:spLocks noGrp="1"/>
          </p:cNvSpPr>
          <p:nvPr>
            <p:ph idx="1"/>
          </p:nvPr>
        </p:nvSpPr>
        <p:spPr>
          <a:xfrm>
            <a:off x="628650" y="1316831"/>
            <a:ext cx="7886700" cy="4351338"/>
          </a:xfrm>
        </p:spPr>
        <p:txBody>
          <a:bodyPr/>
          <a:lstStyle/>
          <a:p>
            <a:r>
              <a:rPr lang="zh-CN" altLang="en-US" dirty="0">
                <a:latin typeface="微软雅黑" panose="020B0503020204020204" pitchFamily="34" charset="-122"/>
                <a:ea typeface="微软雅黑" panose="020B0503020204020204" pitchFamily="34" charset="-122"/>
                <a:cs typeface="微软雅黑" panose="020B0503020204020204" pitchFamily="34" charset="-122"/>
              </a:rPr>
              <a:t>考虑同一个向量相对于两组不同基的表示</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cs typeface="微软雅黑" panose="020B0503020204020204" pitchFamily="34" charset="-122"/>
              </a:rPr>
              <a:t>假设表示分别是</a:t>
            </a:r>
          </a:p>
          <a:p>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a:buNone/>
            </a:pP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p:txBody>
      </p:sp>
      <mc:AlternateContent xmlns:mc="http://schemas.openxmlformats.org/markup-compatibility/2006" xmlns:a14="http://schemas.microsoft.com/office/drawing/2010/main">
        <mc:Choice Requires="a14">
          <p:sp>
            <p:nvSpPr>
              <p:cNvPr id="8" name="Text Box 6"/>
              <p:cNvSpPr txBox="1">
                <a:spLocks noChangeArrowheads="1"/>
              </p:cNvSpPr>
              <p:nvPr/>
            </p:nvSpPr>
            <p:spPr bwMode="auto">
              <a:xfrm>
                <a:off x="906451" y="2470532"/>
                <a:ext cx="2616422" cy="507831"/>
              </a:xfrm>
              <a:prstGeom prst="rect">
                <a:avLst/>
              </a:prstGeom>
              <a:noFill/>
              <a:ln w="12700">
                <a:noFill/>
                <a:miter lim="800000"/>
                <a:headEnd type="none" w="sm" len="sm"/>
                <a:tailEnd type="none" w="sm" len="sm"/>
              </a:ln>
            </p:spPr>
            <p:txBody>
              <a:bodyPr wrap="none" anchorCtr="1">
                <a:spAutoFit/>
              </a:bodyPr>
              <a:lstStyle/>
              <a:p>
                <a:pPr/>
                <a14:m>
                  <m:oMathPara xmlns:m="http://schemas.openxmlformats.org/officeDocument/2006/math">
                    <m:oMathParaPr>
                      <m:jc m:val="centerGroup"/>
                    </m:oMathParaPr>
                    <m:oMath xmlns:m="http://schemas.openxmlformats.org/officeDocument/2006/math">
                      <m:r>
                        <a:rPr lang="en-US" altLang="zh-CN" sz="2700" b="1" i="1" dirty="0" smtClean="0">
                          <a:latin typeface="Cambria Math" panose="02040503050406030204" charset="0"/>
                          <a:ea typeface="微软雅黑" panose="020B0503020204020204" pitchFamily="34" charset="-122"/>
                          <a:cs typeface="微软雅黑" panose="020B0503020204020204" pitchFamily="34" charset="-122"/>
                        </a:rPr>
                        <m:t>𝒂</m:t>
                      </m:r>
                      <m:r>
                        <a:rPr lang="en-US" altLang="zh-CN" sz="2700" i="1" dirty="0">
                          <a:latin typeface="Cambria Math" panose="02040503050406030204" charset="0"/>
                          <a:ea typeface="微软雅黑" panose="020B0503020204020204" pitchFamily="34" charset="-122"/>
                          <a:cs typeface="微软雅黑" panose="020B0503020204020204" pitchFamily="34" charset="-122"/>
                        </a:rPr>
                        <m:t>=</m:t>
                      </m:r>
                      <m:sSup>
                        <m:sSupPr>
                          <m:ctrlPr>
                            <a:rPr lang="en-US" altLang="zh-CN" sz="2700" b="0" i="1" dirty="0" smtClean="0">
                              <a:latin typeface="Cambria Math" panose="02040503050406030204" pitchFamily="18" charset="0"/>
                              <a:ea typeface="微软雅黑" panose="020B0503020204020204" pitchFamily="34" charset="-122"/>
                              <a:cs typeface="微软雅黑" panose="020B0503020204020204" pitchFamily="34" charset="-122"/>
                            </a:rPr>
                          </m:ctrlPr>
                        </m:sSupPr>
                        <m:e>
                          <m:d>
                            <m:dPr>
                              <m:begChr m:val="["/>
                              <m:endChr m:val="]"/>
                              <m:ctrlPr>
                                <a:rPr lang="en-US" altLang="zh-CN" sz="2700" i="1" dirty="0">
                                  <a:latin typeface="Cambria Math" panose="02040503050406030204" pitchFamily="18" charset="0"/>
                                  <a:ea typeface="微软雅黑" panose="020B0503020204020204" pitchFamily="34" charset="-122"/>
                                  <a:cs typeface="微软雅黑" panose="020B0503020204020204" pitchFamily="34" charset="-122"/>
                                </a:rPr>
                              </m:ctrlPr>
                            </m:dPr>
                            <m:e>
                              <m:r>
                                <a:rPr lang="en-US" altLang="zh-CN" sz="2700" i="1" dirty="0">
                                  <a:latin typeface="Cambria Math" panose="02040503050406030204" charset="0"/>
                                  <a:ea typeface="微软雅黑" panose="020B0503020204020204" pitchFamily="34" charset="-122"/>
                                  <a:cs typeface="微软雅黑" panose="020B0503020204020204" pitchFamily="34" charset="-122"/>
                                </a:rPr>
                                <m:t>𝑎</m:t>
                              </m:r>
                              <m:r>
                                <a:rPr lang="en-US" altLang="zh-CN" sz="2700" i="1" baseline="-25000" dirty="0">
                                  <a:latin typeface="Cambria Math" panose="02040503050406030204" charset="0"/>
                                  <a:ea typeface="微软雅黑" panose="020B0503020204020204" pitchFamily="34" charset="-122"/>
                                  <a:cs typeface="微软雅黑" panose="020B0503020204020204" pitchFamily="34" charset="-122"/>
                                </a:rPr>
                                <m:t>1</m:t>
                              </m:r>
                              <m:r>
                                <a:rPr lang="en-US" altLang="zh-CN" sz="2700" i="1" dirty="0">
                                  <a:latin typeface="Cambria Math" panose="02040503050406030204" charset="0"/>
                                  <a:ea typeface="微软雅黑" panose="020B0503020204020204" pitchFamily="34" charset="-122"/>
                                  <a:cs typeface="微软雅黑" panose="020B0503020204020204" pitchFamily="34" charset="-122"/>
                                </a:rPr>
                                <m:t> </m:t>
                              </m:r>
                              <m:r>
                                <a:rPr lang="en-US" altLang="zh-CN" sz="2700" i="1" dirty="0">
                                  <a:latin typeface="Cambria Math" panose="02040503050406030204" charset="0"/>
                                  <a:ea typeface="微软雅黑" panose="020B0503020204020204" pitchFamily="34" charset="-122"/>
                                  <a:cs typeface="微软雅黑" panose="020B0503020204020204" pitchFamily="34" charset="-122"/>
                                </a:rPr>
                                <m:t>𝑎</m:t>
                              </m:r>
                              <m:r>
                                <a:rPr lang="en-US" altLang="zh-CN" sz="2700" i="1" baseline="-25000" dirty="0">
                                  <a:latin typeface="Cambria Math" panose="02040503050406030204" charset="0"/>
                                  <a:ea typeface="微软雅黑" panose="020B0503020204020204" pitchFamily="34" charset="-122"/>
                                  <a:cs typeface="微软雅黑" panose="020B0503020204020204" pitchFamily="34" charset="-122"/>
                                </a:rPr>
                                <m:t>2</m:t>
                              </m:r>
                              <m:r>
                                <a:rPr lang="en-US" altLang="zh-CN" sz="2700" i="1" dirty="0">
                                  <a:latin typeface="Cambria Math" panose="02040503050406030204" charset="0"/>
                                  <a:ea typeface="微软雅黑" panose="020B0503020204020204" pitchFamily="34" charset="-122"/>
                                  <a:cs typeface="微软雅黑" panose="020B0503020204020204" pitchFamily="34" charset="-122"/>
                                </a:rPr>
                                <m:t>  </m:t>
                              </m:r>
                              <m:r>
                                <a:rPr lang="en-US" altLang="zh-CN" sz="2700" i="1" dirty="0">
                                  <a:latin typeface="Cambria Math" panose="02040503050406030204" charset="0"/>
                                  <a:ea typeface="微软雅黑" panose="020B0503020204020204" pitchFamily="34" charset="-122"/>
                                  <a:cs typeface="微软雅黑" panose="020B0503020204020204" pitchFamily="34" charset="-122"/>
                                </a:rPr>
                                <m:t>𝑎</m:t>
                              </m:r>
                              <m:r>
                                <a:rPr lang="en-US" altLang="zh-CN" sz="2700" i="1" baseline="-25000" dirty="0">
                                  <a:latin typeface="Cambria Math" panose="02040503050406030204" charset="0"/>
                                  <a:ea typeface="微软雅黑" panose="020B0503020204020204" pitchFamily="34" charset="-122"/>
                                  <a:cs typeface="微软雅黑" panose="020B0503020204020204" pitchFamily="34" charset="-122"/>
                                </a:rPr>
                                <m:t>3 </m:t>
                              </m:r>
                            </m:e>
                          </m:d>
                        </m:e>
                        <m:sup>
                          <m:r>
                            <a:rPr lang="en-US" altLang="zh-CN" sz="2700" b="0" i="1" dirty="0" smtClean="0">
                              <a:latin typeface="Cambria Math" panose="02040503050406030204" charset="0"/>
                              <a:ea typeface="微软雅黑" panose="020B0503020204020204" pitchFamily="34" charset="-122"/>
                              <a:cs typeface="微软雅黑" panose="020B0503020204020204" pitchFamily="34" charset="-122"/>
                            </a:rPr>
                            <m:t>𝑇</m:t>
                          </m:r>
                        </m:sup>
                      </m:sSup>
                    </m:oMath>
                  </m:oMathPara>
                </a14:m>
                <a:endParaRPr lang="en-US" altLang="zh-CN" sz="2700" dirty="0">
                  <a:latin typeface="微软雅黑" panose="020B0503020204020204" pitchFamily="34" charset="-122"/>
                  <a:ea typeface="微软雅黑" panose="020B0503020204020204" pitchFamily="34" charset="-122"/>
                  <a:cs typeface="微软雅黑" panose="020B0503020204020204" pitchFamily="34" charset="-122"/>
                </a:endParaRPr>
              </a:p>
            </p:txBody>
          </p:sp>
        </mc:Choice>
        <mc:Fallback xmlns="">
          <p:sp>
            <p:nvSpPr>
              <p:cNvPr id="8" name="Text Box 6"/>
              <p:cNvSpPr txBox="1">
                <a:spLocks noRot="1" noChangeAspect="1" noMove="1" noResize="1" noEditPoints="1" noAdjustHandles="1" noChangeArrowheads="1" noChangeShapeType="1" noTextEdit="1"/>
              </p:cNvSpPr>
              <p:nvPr/>
            </p:nvSpPr>
            <p:spPr bwMode="auto">
              <a:xfrm>
                <a:off x="906451" y="2470532"/>
                <a:ext cx="2616422" cy="507831"/>
              </a:xfrm>
              <a:prstGeom prst="rect">
                <a:avLst/>
              </a:prstGeom>
              <a:blipFill rotWithShape="1">
                <a:blip r:embed="rId2"/>
                <a:stretch>
                  <a:fillRect l="-12" t="-75" r="20" b="-6835"/>
                </a:stretch>
              </a:blipFill>
              <a:ln w="12700">
                <a:noFill/>
                <a:miter lim="800000"/>
                <a:headEnd type="none" w="sm" len="sm"/>
                <a:tailEnd type="none" w="sm" len="sm"/>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Text Box 7"/>
              <p:cNvSpPr txBox="1">
                <a:spLocks noChangeArrowheads="1"/>
              </p:cNvSpPr>
              <p:nvPr/>
            </p:nvSpPr>
            <p:spPr bwMode="auto">
              <a:xfrm>
                <a:off x="906801" y="2978363"/>
                <a:ext cx="2552571" cy="506870"/>
              </a:xfrm>
              <a:prstGeom prst="rect">
                <a:avLst/>
              </a:prstGeom>
              <a:noFill/>
              <a:ln w="12700">
                <a:noFill/>
                <a:miter lim="800000"/>
                <a:headEnd type="none" w="sm" len="sm"/>
                <a:tailEnd type="none" w="sm" len="sm"/>
              </a:ln>
            </p:spPr>
            <p:txBody>
              <a:bodyPr wrap="square" anchorCtr="1">
                <a:spAutoFit/>
              </a:bodyPr>
              <a:lstStyle/>
              <a:p>
                <a:pPr/>
                <a14:m>
                  <m:oMathPara xmlns:m="http://schemas.openxmlformats.org/officeDocument/2006/math">
                    <m:oMathParaPr>
                      <m:jc m:val="centerGroup"/>
                    </m:oMathParaPr>
                    <m:oMath xmlns:m="http://schemas.openxmlformats.org/officeDocument/2006/math">
                      <m:r>
                        <a:rPr lang="en-US" altLang="zh-CN" sz="2700" b="1" i="1" dirty="0" smtClean="0">
                          <a:latin typeface="Cambria Math" panose="02040503050406030204" charset="0"/>
                          <a:ea typeface="微软雅黑" panose="020B0503020204020204" pitchFamily="34" charset="-122"/>
                          <a:cs typeface="微软雅黑" panose="020B0503020204020204" pitchFamily="34" charset="-122"/>
                        </a:rPr>
                        <m:t>𝒃</m:t>
                      </m:r>
                      <m:r>
                        <a:rPr lang="en-US" altLang="zh-CN" sz="2700" i="1" dirty="0">
                          <a:latin typeface="Cambria Math" panose="02040503050406030204" charset="0"/>
                          <a:ea typeface="微软雅黑" panose="020B0503020204020204" pitchFamily="34" charset="-122"/>
                          <a:cs typeface="微软雅黑" panose="020B0503020204020204" pitchFamily="34" charset="-122"/>
                        </a:rPr>
                        <m:t>=</m:t>
                      </m:r>
                      <m:sSup>
                        <m:sSupPr>
                          <m:ctrlPr>
                            <a:rPr lang="en-US" altLang="zh-CN" sz="2700" b="0" i="1" dirty="0" smtClean="0">
                              <a:latin typeface="Cambria Math" panose="02040503050406030204" pitchFamily="18" charset="0"/>
                              <a:ea typeface="微软雅黑" panose="020B0503020204020204" pitchFamily="34" charset="-122"/>
                              <a:cs typeface="微软雅黑" panose="020B0503020204020204" pitchFamily="34" charset="-122"/>
                            </a:rPr>
                          </m:ctrlPr>
                        </m:sSupPr>
                        <m:e>
                          <m:d>
                            <m:dPr>
                              <m:begChr m:val="["/>
                              <m:endChr m:val="]"/>
                              <m:ctrlPr>
                                <a:rPr lang="en-US" altLang="zh-CN" sz="2700" i="1" dirty="0">
                                  <a:latin typeface="Cambria Math" panose="02040503050406030204" pitchFamily="18" charset="0"/>
                                  <a:ea typeface="微软雅黑" panose="020B0503020204020204" pitchFamily="34" charset="-122"/>
                                  <a:cs typeface="微软雅黑" panose="020B0503020204020204" pitchFamily="34" charset="-122"/>
                                </a:rPr>
                              </m:ctrlPr>
                            </m:dPr>
                            <m:e>
                              <m:r>
                                <a:rPr lang="en-US" altLang="zh-CN" sz="2700" i="1" dirty="0">
                                  <a:latin typeface="Cambria Math" panose="02040503050406030204" charset="0"/>
                                  <a:ea typeface="微软雅黑" panose="020B0503020204020204" pitchFamily="34" charset="-122"/>
                                  <a:cs typeface="微软雅黑" panose="020B0503020204020204" pitchFamily="34" charset="-122"/>
                                </a:rPr>
                                <m:t>𝑏</m:t>
                              </m:r>
                              <m:r>
                                <a:rPr lang="en-US" altLang="zh-CN" sz="2700" i="1" baseline="-25000" dirty="0">
                                  <a:latin typeface="Cambria Math" panose="02040503050406030204" charset="0"/>
                                  <a:ea typeface="微软雅黑" panose="020B0503020204020204" pitchFamily="34" charset="-122"/>
                                  <a:cs typeface="微软雅黑" panose="020B0503020204020204" pitchFamily="34" charset="-122"/>
                                </a:rPr>
                                <m:t>1 </m:t>
                              </m:r>
                              <m:r>
                                <a:rPr lang="en-US" altLang="zh-CN" sz="2700" i="1" dirty="0">
                                  <a:latin typeface="Cambria Math" panose="02040503050406030204" charset="0"/>
                                  <a:ea typeface="微软雅黑" panose="020B0503020204020204" pitchFamily="34" charset="-122"/>
                                  <a:cs typeface="微软雅黑" panose="020B0503020204020204" pitchFamily="34" charset="-122"/>
                                </a:rPr>
                                <m:t> </m:t>
                              </m:r>
                              <m:r>
                                <a:rPr lang="en-US" altLang="zh-CN" sz="2700" i="1" dirty="0">
                                  <a:latin typeface="Cambria Math" panose="02040503050406030204" charset="0"/>
                                  <a:ea typeface="微软雅黑" panose="020B0503020204020204" pitchFamily="34" charset="-122"/>
                                  <a:cs typeface="微软雅黑" panose="020B0503020204020204" pitchFamily="34" charset="-122"/>
                                </a:rPr>
                                <m:t>𝑏</m:t>
                              </m:r>
                              <m:r>
                                <a:rPr lang="en-US" altLang="zh-CN" sz="2700" i="1" baseline="-25000" dirty="0">
                                  <a:latin typeface="Cambria Math" panose="02040503050406030204" charset="0"/>
                                  <a:ea typeface="微软雅黑" panose="020B0503020204020204" pitchFamily="34" charset="-122"/>
                                  <a:cs typeface="微软雅黑" panose="020B0503020204020204" pitchFamily="34" charset="-122"/>
                                </a:rPr>
                                <m:t>2</m:t>
                              </m:r>
                              <m:r>
                                <a:rPr lang="en-US" altLang="zh-CN" sz="2700" i="1" dirty="0">
                                  <a:latin typeface="Cambria Math" panose="02040503050406030204" charset="0"/>
                                  <a:ea typeface="微软雅黑" panose="020B0503020204020204" pitchFamily="34" charset="-122"/>
                                  <a:cs typeface="微软雅黑" panose="020B0503020204020204" pitchFamily="34" charset="-122"/>
                                </a:rPr>
                                <m:t>  </m:t>
                              </m:r>
                              <m:r>
                                <a:rPr lang="en-US" altLang="zh-CN" sz="2700" i="1" dirty="0">
                                  <a:latin typeface="Cambria Math" panose="02040503050406030204" charset="0"/>
                                  <a:ea typeface="微软雅黑" panose="020B0503020204020204" pitchFamily="34" charset="-122"/>
                                  <a:cs typeface="微软雅黑" panose="020B0503020204020204" pitchFamily="34" charset="-122"/>
                                </a:rPr>
                                <m:t>𝑏</m:t>
                              </m:r>
                              <m:r>
                                <a:rPr lang="en-US" altLang="zh-CN" sz="2700" i="1" baseline="-25000" dirty="0">
                                  <a:latin typeface="Cambria Math" panose="02040503050406030204" charset="0"/>
                                  <a:ea typeface="微软雅黑" panose="020B0503020204020204" pitchFamily="34" charset="-122"/>
                                  <a:cs typeface="微软雅黑" panose="020B0503020204020204" pitchFamily="34" charset="-122"/>
                                </a:rPr>
                                <m:t>3</m:t>
                              </m:r>
                            </m:e>
                          </m:d>
                        </m:e>
                        <m:sup>
                          <m:r>
                            <a:rPr lang="en-US" altLang="zh-CN" sz="2700" b="0" i="1" dirty="0" smtClean="0">
                              <a:latin typeface="Cambria Math" panose="02040503050406030204" charset="0"/>
                              <a:ea typeface="微软雅黑" panose="020B0503020204020204" pitchFamily="34" charset="-122"/>
                              <a:cs typeface="微软雅黑" panose="020B0503020204020204" pitchFamily="34" charset="-122"/>
                            </a:rPr>
                            <m:t>𝑇</m:t>
                          </m:r>
                        </m:sup>
                      </m:sSup>
                    </m:oMath>
                  </m:oMathPara>
                </a14:m>
                <a:endParaRPr lang="en-US" altLang="zh-CN" sz="2700" baseline="-25000" dirty="0">
                  <a:latin typeface="微软雅黑" panose="020B0503020204020204" pitchFamily="34" charset="-122"/>
                  <a:ea typeface="微软雅黑" panose="020B0503020204020204" pitchFamily="34" charset="-122"/>
                  <a:cs typeface="微软雅黑" panose="020B0503020204020204" pitchFamily="34" charset="-122"/>
                </a:endParaRPr>
              </a:p>
            </p:txBody>
          </p:sp>
        </mc:Choice>
        <mc:Fallback xmlns="">
          <p:sp>
            <p:nvSpPr>
              <p:cNvPr id="9" name="Text Box 7"/>
              <p:cNvSpPr txBox="1">
                <a:spLocks noRot="1" noChangeAspect="1" noMove="1" noResize="1" noEditPoints="1" noAdjustHandles="1" noChangeArrowheads="1" noChangeShapeType="1" noTextEdit="1"/>
              </p:cNvSpPr>
              <p:nvPr/>
            </p:nvSpPr>
            <p:spPr bwMode="auto">
              <a:xfrm>
                <a:off x="906801" y="2978363"/>
                <a:ext cx="2552571" cy="506870"/>
              </a:xfrm>
              <a:prstGeom prst="rect">
                <a:avLst/>
              </a:prstGeom>
              <a:blipFill rotWithShape="1">
                <a:blip r:embed="rId3"/>
                <a:stretch>
                  <a:fillRect l="-1" t="-42" r="21" b="-7071"/>
                </a:stretch>
              </a:blipFill>
              <a:ln w="12700">
                <a:noFill/>
                <a:miter lim="800000"/>
                <a:headEnd type="none" w="sm" len="sm"/>
                <a:tailEnd type="none" w="sm" len="sm"/>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Text Box 4"/>
              <p:cNvSpPr txBox="1">
                <a:spLocks noChangeArrowheads="1"/>
              </p:cNvSpPr>
              <p:nvPr/>
            </p:nvSpPr>
            <p:spPr bwMode="auto">
              <a:xfrm>
                <a:off x="1247160" y="4172184"/>
                <a:ext cx="2728623" cy="522194"/>
              </a:xfrm>
              <a:prstGeom prst="rect">
                <a:avLst/>
              </a:prstGeom>
              <a:noFill/>
              <a:ln w="12700">
                <a:noFill/>
                <a:miter lim="800000"/>
                <a:headEnd type="none" w="sm" len="sm"/>
                <a:tailEnd type="none" w="sm" len="sm"/>
              </a:ln>
            </p:spPr>
            <p:txBody>
              <a:bodyPr wrap="square" anchorCtr="1">
                <a:spAutoFit/>
              </a:bodyPr>
              <a:lstStyle/>
              <a:p>
                <a:pPr/>
                <a14:m>
                  <m:oMathPara xmlns:m="http://schemas.openxmlformats.org/officeDocument/2006/math">
                    <m:oMathParaPr>
                      <m:jc m:val="centerGroup"/>
                    </m:oMathParaPr>
                    <m:oMath xmlns:m="http://schemas.openxmlformats.org/officeDocument/2006/math">
                      <m:r>
                        <a:rPr lang="en-US" altLang="zh-CN" sz="2800" b="1" i="1" dirty="0" smtClean="0">
                          <a:latin typeface="Cambria Math" panose="02040503050406030204" charset="0"/>
                          <a:ea typeface="微软雅黑" panose="020B0503020204020204" pitchFamily="34" charset="-122"/>
                          <a:cs typeface="微软雅黑" panose="020B0503020204020204" pitchFamily="34" charset="-122"/>
                        </a:rPr>
                        <m:t>𝒂</m:t>
                      </m:r>
                      <m:r>
                        <a:rPr lang="en-US" altLang="zh-CN" sz="2800" b="0" i="1" dirty="0" smtClean="0">
                          <a:latin typeface="Cambria Math" panose="02040503050406030204" charset="0"/>
                          <a:ea typeface="微软雅黑" panose="020B0503020204020204" pitchFamily="34" charset="-122"/>
                          <a:cs typeface="微软雅黑" panose="020B0503020204020204" pitchFamily="34" charset="-122"/>
                        </a:rPr>
                        <m:t>=</m:t>
                      </m:r>
                      <m:sSup>
                        <m:sSupPr>
                          <m:ctrlPr>
                            <a:rPr lang="en-US" altLang="zh-CN" sz="2800" b="0" i="1" dirty="0" smtClean="0">
                              <a:latin typeface="Cambria Math" panose="02040503050406030204" pitchFamily="18" charset="0"/>
                              <a:ea typeface="微软雅黑" panose="020B0503020204020204" pitchFamily="34" charset="-122"/>
                              <a:cs typeface="微软雅黑" panose="020B0503020204020204" pitchFamily="34" charset="-122"/>
                            </a:rPr>
                          </m:ctrlPr>
                        </m:sSupPr>
                        <m:e>
                          <m:r>
                            <a:rPr lang="en-US" altLang="zh-CN" sz="2800" b="0" i="1" dirty="0" smtClean="0">
                              <a:latin typeface="Cambria Math" panose="02040503050406030204" charset="0"/>
                              <a:ea typeface="微软雅黑" panose="020B0503020204020204" pitchFamily="34" charset="-122"/>
                              <a:cs typeface="微软雅黑" panose="020B0503020204020204" pitchFamily="34" charset="-122"/>
                            </a:rPr>
                            <m:t>𝑀</m:t>
                          </m:r>
                        </m:e>
                        <m:sup>
                          <m:r>
                            <a:rPr lang="en-US" altLang="zh-CN" sz="2800" b="0" i="1" dirty="0" smtClean="0">
                              <a:latin typeface="Cambria Math" panose="02040503050406030204" charset="0"/>
                              <a:ea typeface="微软雅黑" panose="020B0503020204020204" pitchFamily="34" charset="-122"/>
                              <a:cs typeface="微软雅黑" panose="020B0503020204020204" pitchFamily="34" charset="-122"/>
                            </a:rPr>
                            <m:t>𝑇</m:t>
                          </m:r>
                        </m:sup>
                      </m:sSup>
                      <m:r>
                        <a:rPr lang="en-US" altLang="zh-CN" sz="2800" b="1" i="1" dirty="0" smtClean="0">
                          <a:latin typeface="Cambria Math" panose="02040503050406030204" charset="0"/>
                          <a:ea typeface="微软雅黑" panose="020B0503020204020204" pitchFamily="34" charset="-122"/>
                          <a:cs typeface="微软雅黑" panose="020B0503020204020204" pitchFamily="34" charset="-122"/>
                        </a:rPr>
                        <m:t>𝒃</m:t>
                      </m:r>
                    </m:oMath>
                  </m:oMathPara>
                </a14:m>
                <a:endParaRPr lang="en-US" altLang="zh-CN" sz="2800" b="1" baseline="-25000" dirty="0">
                  <a:latin typeface="微软雅黑" panose="020B0503020204020204" pitchFamily="34" charset="-122"/>
                  <a:ea typeface="微软雅黑" panose="020B0503020204020204" pitchFamily="34" charset="-122"/>
                  <a:cs typeface="微软雅黑" panose="020B0503020204020204" pitchFamily="34" charset="-122"/>
                </a:endParaRPr>
              </a:p>
            </p:txBody>
          </p:sp>
        </mc:Choice>
        <mc:Fallback xmlns="">
          <p:sp>
            <p:nvSpPr>
              <p:cNvPr id="10" name="Text Box 4"/>
              <p:cNvSpPr txBox="1">
                <a:spLocks noRot="1" noChangeAspect="1" noMove="1" noResize="1" noEditPoints="1" noAdjustHandles="1" noChangeArrowheads="1" noChangeShapeType="1" noTextEdit="1"/>
              </p:cNvSpPr>
              <p:nvPr/>
            </p:nvSpPr>
            <p:spPr bwMode="auto">
              <a:xfrm>
                <a:off x="1247160" y="4172184"/>
                <a:ext cx="2728623" cy="522194"/>
              </a:xfrm>
              <a:prstGeom prst="rect">
                <a:avLst/>
              </a:prstGeom>
              <a:blipFill rotWithShape="1">
                <a:blip r:embed="rId4"/>
                <a:stretch>
                  <a:fillRect l="-1" t="-45" r="2" b="-7087"/>
                </a:stretch>
              </a:blipFill>
              <a:ln w="12700">
                <a:noFill/>
                <a:miter lim="800000"/>
                <a:headEnd type="none" w="sm" len="sm"/>
                <a:tailEnd type="none" w="sm" len="sm"/>
              </a:ln>
            </p:spPr>
            <p:txBody>
              <a:bodyPr/>
              <a:lstStyle/>
              <a:p>
                <a:r>
                  <a:rPr lang="zh-CN" altLang="en-US">
                    <a:noFill/>
                  </a:rPr>
                  <a:t> </a:t>
                </a:r>
              </a:p>
            </p:txBody>
          </p:sp>
        </mc:Fallback>
      </mc:AlternateContent>
      <p:sp>
        <p:nvSpPr>
          <p:cNvPr id="11" name="Right Arrow 10"/>
          <p:cNvSpPr/>
          <p:nvPr/>
        </p:nvSpPr>
        <p:spPr>
          <a:xfrm>
            <a:off x="903063" y="4574234"/>
            <a:ext cx="376870" cy="35008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2" name="Rectangle 11"/>
              <p:cNvSpPr/>
              <p:nvPr/>
            </p:nvSpPr>
            <p:spPr>
              <a:xfrm>
                <a:off x="762174" y="5295692"/>
                <a:ext cx="3731278" cy="523220"/>
              </a:xfrm>
              <a:prstGeom prst="rect">
                <a:avLst/>
              </a:prstGeom>
            </p:spPr>
            <p:txBody>
              <a:bodyPr wrap="none">
                <a:spAutoFit/>
              </a:bodyPr>
              <a:lstStyle/>
              <a:p>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齐次坐标表示下的</a:t>
                </a:r>
                <a14:m>
                  <m:oMath xmlns:m="http://schemas.openxmlformats.org/officeDocument/2006/math">
                    <m:r>
                      <a:rPr lang="en-US" altLang="zh-CN" sz="2800" i="1" dirty="0">
                        <a:latin typeface="Cambria Math" panose="02040503050406030204" charset="0"/>
                        <a:ea typeface="微软雅黑" panose="020B0503020204020204" pitchFamily="34" charset="-122"/>
                        <a:cs typeface="微软雅黑" panose="020B0503020204020204" pitchFamily="34" charset="-122"/>
                      </a:rPr>
                      <m:t>𝑀</m:t>
                    </m:r>
                  </m:oMath>
                </a14:m>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a:t>
                </a:r>
              </a:p>
            </p:txBody>
          </p:sp>
        </mc:Choice>
        <mc:Fallback xmlns="">
          <p:sp>
            <p:nvSpPr>
              <p:cNvPr id="12" name="Rectangle 11"/>
              <p:cNvSpPr>
                <a:spLocks noRot="1" noChangeAspect="1" noMove="1" noResize="1" noEditPoints="1" noAdjustHandles="1" noChangeArrowheads="1" noChangeShapeType="1" noTextEdit="1"/>
              </p:cNvSpPr>
              <p:nvPr/>
            </p:nvSpPr>
            <p:spPr>
              <a:xfrm>
                <a:off x="762174" y="5295692"/>
                <a:ext cx="3731278" cy="523220"/>
              </a:xfrm>
              <a:prstGeom prst="rect">
                <a:avLst/>
              </a:prstGeom>
              <a:blipFill rotWithShape="1">
                <a:blip r:embed="rId5"/>
                <a:stretch>
                  <a:fillRect l="-5" t="-82" r="-1169" b="7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Text Box 4"/>
              <p:cNvSpPr txBox="1">
                <a:spLocks noChangeArrowheads="1"/>
              </p:cNvSpPr>
              <p:nvPr/>
            </p:nvSpPr>
            <p:spPr bwMode="auto">
              <a:xfrm>
                <a:off x="3225652" y="2560468"/>
                <a:ext cx="5987921" cy="1060803"/>
              </a:xfrm>
              <a:prstGeom prst="rect">
                <a:avLst/>
              </a:prstGeom>
              <a:noFill/>
              <a:ln w="12700">
                <a:noFill/>
                <a:miter lim="800000"/>
                <a:headEnd type="none" w="sm" len="sm"/>
                <a:tailEnd type="none" w="sm" len="sm"/>
              </a:ln>
            </p:spPr>
            <p:txBody>
              <a:bodyPr wrap="none" anchorCtr="1">
                <a:spAutoFit/>
              </a:bodyPr>
              <a:lstStyle/>
              <a:p>
                <a:pPr>
                  <a:spcBef>
                    <a:spcPct val="20000"/>
                  </a:spcBef>
                </a:pPr>
                <a14:m>
                  <m:oMathPara xmlns:m="http://schemas.openxmlformats.org/officeDocument/2006/math">
                    <m:oMathParaPr>
                      <m:jc m:val="centerGroup"/>
                    </m:oMathParaPr>
                    <m:oMath xmlns:m="http://schemas.openxmlformats.org/officeDocument/2006/math">
                      <m:r>
                        <a:rPr lang="en-US" altLang="zh-CN" sz="2000" b="1" i="1" dirty="0" smtClean="0">
                          <a:latin typeface="Cambria Math" panose="02040503050406030204" charset="0"/>
                          <a:ea typeface="微软雅黑" panose="020B0503020204020204" pitchFamily="34" charset="-122"/>
                          <a:cs typeface="微软雅黑" panose="020B0503020204020204" pitchFamily="34" charset="-122"/>
                        </a:rPr>
                        <m:t>𝒗</m:t>
                      </m:r>
                      <m:r>
                        <a:rPr lang="en-US" altLang="zh-CN" sz="2000" i="1" dirty="0" smtClean="0">
                          <a:latin typeface="Cambria Math" panose="02040503050406030204" charset="0"/>
                          <a:ea typeface="微软雅黑" panose="020B0503020204020204" pitchFamily="34" charset="-122"/>
                          <a:cs typeface="微软雅黑" panose="020B0503020204020204" pitchFamily="34" charset="-122"/>
                        </a:rPr>
                        <m:t>=</m:t>
                      </m:r>
                      <m:r>
                        <a:rPr lang="en-US" altLang="zh-CN" sz="2000" i="1" dirty="0" smtClean="0">
                          <a:latin typeface="Cambria Math" panose="02040503050406030204" charset="0"/>
                          <a:ea typeface="微软雅黑" panose="020B0503020204020204" pitchFamily="34" charset="-122"/>
                          <a:cs typeface="微软雅黑" panose="020B0503020204020204" pitchFamily="34" charset="-122"/>
                        </a:rPr>
                        <m:t>𝑎</m:t>
                      </m:r>
                      <m:r>
                        <a:rPr lang="en-US" altLang="zh-CN" sz="2000" i="1" baseline="-25000" dirty="0">
                          <a:latin typeface="Cambria Math" panose="02040503050406030204" charset="0"/>
                          <a:ea typeface="微软雅黑" panose="020B0503020204020204" pitchFamily="34" charset="-122"/>
                          <a:cs typeface="微软雅黑" panose="020B0503020204020204" pitchFamily="34" charset="-122"/>
                        </a:rPr>
                        <m:t>1</m:t>
                      </m:r>
                      <m:r>
                        <a:rPr lang="en-US" altLang="zh-CN" sz="2000" i="1" dirty="0">
                          <a:latin typeface="Cambria Math" panose="02040503050406030204" charset="0"/>
                          <a:ea typeface="微软雅黑" panose="020B0503020204020204" pitchFamily="34" charset="-122"/>
                          <a:cs typeface="微软雅黑" panose="020B0503020204020204" pitchFamily="34" charset="-122"/>
                        </a:rPr>
                        <m:t>𝑣</m:t>
                      </m:r>
                      <m:r>
                        <a:rPr lang="en-US" altLang="zh-CN" sz="2000" i="1" baseline="-25000" dirty="0">
                          <a:latin typeface="Cambria Math" panose="02040503050406030204" charset="0"/>
                          <a:ea typeface="微软雅黑" panose="020B0503020204020204" pitchFamily="34" charset="-122"/>
                          <a:cs typeface="微软雅黑" panose="020B0503020204020204" pitchFamily="34" charset="-122"/>
                        </a:rPr>
                        <m:t>1</m:t>
                      </m:r>
                      <m:r>
                        <a:rPr lang="en-US" altLang="zh-CN" sz="2000" i="1" dirty="0">
                          <a:latin typeface="Cambria Math" panose="02040503050406030204" charset="0"/>
                          <a:ea typeface="微软雅黑" panose="020B0503020204020204" pitchFamily="34" charset="-122"/>
                          <a:cs typeface="微软雅黑" panose="020B0503020204020204" pitchFamily="34" charset="-122"/>
                        </a:rPr>
                        <m:t>+ </m:t>
                      </m:r>
                      <m:r>
                        <a:rPr lang="en-US" altLang="zh-CN" sz="2000" i="1" dirty="0">
                          <a:latin typeface="Cambria Math" panose="02040503050406030204" charset="0"/>
                          <a:ea typeface="微软雅黑" panose="020B0503020204020204" pitchFamily="34" charset="-122"/>
                          <a:cs typeface="微软雅黑" panose="020B0503020204020204" pitchFamily="34" charset="-122"/>
                        </a:rPr>
                        <m:t>𝑎</m:t>
                      </m:r>
                      <m:r>
                        <a:rPr lang="en-US" altLang="zh-CN" sz="2000" i="1" baseline="-25000" dirty="0">
                          <a:latin typeface="Cambria Math" panose="02040503050406030204" charset="0"/>
                          <a:ea typeface="微软雅黑" panose="020B0503020204020204" pitchFamily="34" charset="-122"/>
                          <a:cs typeface="微软雅黑" panose="020B0503020204020204" pitchFamily="34" charset="-122"/>
                        </a:rPr>
                        <m:t>2</m:t>
                      </m:r>
                      <m:r>
                        <a:rPr lang="en-US" altLang="zh-CN" sz="2000" i="1" dirty="0">
                          <a:latin typeface="Cambria Math" panose="02040503050406030204" charset="0"/>
                          <a:ea typeface="微软雅黑" panose="020B0503020204020204" pitchFamily="34" charset="-122"/>
                          <a:cs typeface="微软雅黑" panose="020B0503020204020204" pitchFamily="34" charset="-122"/>
                        </a:rPr>
                        <m:t>𝑣</m:t>
                      </m:r>
                      <m:r>
                        <a:rPr lang="en-US" altLang="zh-CN" sz="2000" i="1" baseline="-25000" dirty="0">
                          <a:latin typeface="Cambria Math" panose="02040503050406030204" charset="0"/>
                          <a:ea typeface="微软雅黑" panose="020B0503020204020204" pitchFamily="34" charset="-122"/>
                          <a:cs typeface="微软雅黑" panose="020B0503020204020204" pitchFamily="34" charset="-122"/>
                        </a:rPr>
                        <m:t>2</m:t>
                      </m:r>
                      <m:r>
                        <a:rPr lang="en-US" altLang="zh-CN" sz="2000" i="1" dirty="0">
                          <a:latin typeface="Cambria Math" panose="02040503050406030204" charset="0"/>
                          <a:ea typeface="微软雅黑" panose="020B0503020204020204" pitchFamily="34" charset="-122"/>
                          <a:cs typeface="微软雅黑" panose="020B0503020204020204" pitchFamily="34" charset="-122"/>
                        </a:rPr>
                        <m:t> +</m:t>
                      </m:r>
                      <m:r>
                        <a:rPr lang="en-US" altLang="zh-CN" sz="2000" i="1" dirty="0">
                          <a:latin typeface="Cambria Math" panose="02040503050406030204" charset="0"/>
                          <a:ea typeface="微软雅黑" panose="020B0503020204020204" pitchFamily="34" charset="-122"/>
                          <a:cs typeface="微软雅黑" panose="020B0503020204020204" pitchFamily="34" charset="-122"/>
                        </a:rPr>
                        <m:t>𝑎</m:t>
                      </m:r>
                      <m:r>
                        <a:rPr lang="en-US" altLang="zh-CN" sz="2000" i="1" baseline="-25000" dirty="0">
                          <a:latin typeface="Cambria Math" panose="02040503050406030204" charset="0"/>
                          <a:ea typeface="微软雅黑" panose="020B0503020204020204" pitchFamily="34" charset="-122"/>
                          <a:cs typeface="微软雅黑" panose="020B0503020204020204" pitchFamily="34" charset="-122"/>
                        </a:rPr>
                        <m:t>3</m:t>
                      </m:r>
                      <m:r>
                        <a:rPr lang="en-US" altLang="zh-CN" sz="2000" i="1" dirty="0">
                          <a:latin typeface="Cambria Math" panose="02040503050406030204" charset="0"/>
                          <a:ea typeface="微软雅黑" panose="020B0503020204020204" pitchFamily="34" charset="-122"/>
                          <a:cs typeface="微软雅黑" panose="020B0503020204020204" pitchFamily="34" charset="-122"/>
                        </a:rPr>
                        <m:t>𝑣</m:t>
                      </m:r>
                      <m:r>
                        <a:rPr lang="en-US" altLang="zh-CN" sz="2000" i="1" baseline="-25000" dirty="0">
                          <a:latin typeface="Cambria Math" panose="02040503050406030204" charset="0"/>
                          <a:ea typeface="微软雅黑" panose="020B0503020204020204" pitchFamily="34" charset="-122"/>
                          <a:cs typeface="微软雅黑" panose="020B0503020204020204" pitchFamily="34" charset="-122"/>
                        </a:rPr>
                        <m:t>3 </m:t>
                      </m:r>
                      <m:r>
                        <a:rPr lang="en-US" altLang="zh-CN" sz="2000" i="1" dirty="0">
                          <a:latin typeface="Cambria Math" panose="02040503050406030204" charset="0"/>
                          <a:ea typeface="微软雅黑" panose="020B0503020204020204" pitchFamily="34" charset="-122"/>
                          <a:cs typeface="微软雅黑" panose="020B0503020204020204" pitchFamily="34" charset="-122"/>
                        </a:rPr>
                        <m:t>= [</m:t>
                      </m:r>
                      <m:r>
                        <a:rPr lang="en-US" altLang="zh-CN" sz="2000" i="1" dirty="0">
                          <a:latin typeface="Cambria Math" panose="02040503050406030204" charset="0"/>
                          <a:ea typeface="微软雅黑" panose="020B0503020204020204" pitchFamily="34" charset="-122"/>
                          <a:cs typeface="微软雅黑" panose="020B0503020204020204" pitchFamily="34" charset="-122"/>
                        </a:rPr>
                        <m:t>𝑎</m:t>
                      </m:r>
                      <m:r>
                        <a:rPr lang="en-US" altLang="zh-CN" sz="2000" i="1" baseline="-25000" dirty="0">
                          <a:latin typeface="Cambria Math" panose="02040503050406030204" charset="0"/>
                          <a:ea typeface="微软雅黑" panose="020B0503020204020204" pitchFamily="34" charset="-122"/>
                          <a:cs typeface="微软雅黑" panose="020B0503020204020204" pitchFamily="34" charset="-122"/>
                        </a:rPr>
                        <m:t>1 </m:t>
                      </m:r>
                      <m:r>
                        <a:rPr lang="en-US" altLang="zh-CN" sz="2000" i="1" dirty="0">
                          <a:latin typeface="Cambria Math" panose="02040503050406030204" charset="0"/>
                          <a:ea typeface="微软雅黑" panose="020B0503020204020204" pitchFamily="34" charset="-122"/>
                          <a:cs typeface="微软雅黑" panose="020B0503020204020204" pitchFamily="34" charset="-122"/>
                        </a:rPr>
                        <m:t>𝑎</m:t>
                      </m:r>
                      <m:r>
                        <a:rPr lang="en-US" altLang="zh-CN" sz="2000" i="1" baseline="-25000" dirty="0">
                          <a:latin typeface="Cambria Math" panose="02040503050406030204" charset="0"/>
                          <a:ea typeface="微软雅黑" panose="020B0503020204020204" pitchFamily="34" charset="-122"/>
                          <a:cs typeface="微软雅黑" panose="020B0503020204020204" pitchFamily="34" charset="-122"/>
                        </a:rPr>
                        <m:t>2</m:t>
                      </m:r>
                      <m:r>
                        <a:rPr lang="en-US" altLang="zh-CN" sz="2000" i="1" dirty="0">
                          <a:latin typeface="Cambria Math" panose="02040503050406030204" charset="0"/>
                          <a:ea typeface="微软雅黑" panose="020B0503020204020204" pitchFamily="34" charset="-122"/>
                          <a:cs typeface="微软雅黑" panose="020B0503020204020204" pitchFamily="34" charset="-122"/>
                        </a:rPr>
                        <m:t> </m:t>
                      </m:r>
                      <m:r>
                        <a:rPr lang="en-US" altLang="zh-CN" sz="2000" i="1" dirty="0">
                          <a:latin typeface="Cambria Math" panose="02040503050406030204" charset="0"/>
                          <a:ea typeface="微软雅黑" panose="020B0503020204020204" pitchFamily="34" charset="-122"/>
                          <a:cs typeface="微软雅黑" panose="020B0503020204020204" pitchFamily="34" charset="-122"/>
                        </a:rPr>
                        <m:t>𝑎</m:t>
                      </m:r>
                      <m:r>
                        <a:rPr lang="en-US" altLang="zh-CN" sz="2000" i="1" baseline="-25000" dirty="0">
                          <a:latin typeface="Cambria Math" panose="02040503050406030204" charset="0"/>
                          <a:ea typeface="微软雅黑" panose="020B0503020204020204" pitchFamily="34" charset="-122"/>
                          <a:cs typeface="微软雅黑" panose="020B0503020204020204" pitchFamily="34" charset="-122"/>
                        </a:rPr>
                        <m:t>3</m:t>
                      </m:r>
                      <m:r>
                        <a:rPr lang="en-US" altLang="zh-CN" sz="2000" i="1" dirty="0">
                          <a:latin typeface="Cambria Math" panose="02040503050406030204" charset="0"/>
                          <a:ea typeface="微软雅黑" panose="020B0503020204020204" pitchFamily="34" charset="-122"/>
                          <a:cs typeface="微软雅黑" panose="020B0503020204020204" pitchFamily="34" charset="-122"/>
                        </a:rPr>
                        <m:t>]</m:t>
                      </m:r>
                      <m:r>
                        <a:rPr lang="en-US" altLang="zh-CN" sz="3200" i="1" baseline="30000" dirty="0">
                          <a:latin typeface="Cambria Math" panose="02040503050406030204" charset="0"/>
                          <a:ea typeface="微软雅黑" panose="020B0503020204020204" pitchFamily="34" charset="-122"/>
                          <a:cs typeface="微软雅黑" panose="020B0503020204020204" pitchFamily="34" charset="-122"/>
                        </a:rPr>
                        <m:t> </m:t>
                      </m:r>
                      <m:r>
                        <a:rPr lang="en-US" altLang="zh-CN" sz="2000" i="1" dirty="0">
                          <a:latin typeface="Cambria Math" panose="02040503050406030204" charset="0"/>
                          <a:ea typeface="微软雅黑" panose="020B0503020204020204" pitchFamily="34" charset="-122"/>
                          <a:cs typeface="微软雅黑" panose="020B0503020204020204" pitchFamily="34" charset="-122"/>
                        </a:rPr>
                        <m:t>[</m:t>
                      </m:r>
                      <m:r>
                        <a:rPr lang="en-US" altLang="zh-CN" sz="2000" i="1" dirty="0">
                          <a:latin typeface="Cambria Math" panose="02040503050406030204" charset="0"/>
                          <a:ea typeface="微软雅黑" panose="020B0503020204020204" pitchFamily="34" charset="-122"/>
                          <a:cs typeface="微软雅黑" panose="020B0503020204020204" pitchFamily="34" charset="-122"/>
                        </a:rPr>
                        <m:t>𝑣</m:t>
                      </m:r>
                      <m:r>
                        <a:rPr lang="en-US" altLang="zh-CN" sz="2000" i="1" baseline="-25000" dirty="0">
                          <a:latin typeface="Cambria Math" panose="02040503050406030204" charset="0"/>
                          <a:ea typeface="微软雅黑" panose="020B0503020204020204" pitchFamily="34" charset="-122"/>
                          <a:cs typeface="微软雅黑" panose="020B0503020204020204" pitchFamily="34" charset="-122"/>
                        </a:rPr>
                        <m:t>1</m:t>
                      </m:r>
                      <m:r>
                        <a:rPr lang="en-US" altLang="zh-CN" sz="2000" i="1" dirty="0">
                          <a:latin typeface="Cambria Math" panose="02040503050406030204" charset="0"/>
                          <a:ea typeface="微软雅黑" panose="020B0503020204020204" pitchFamily="34" charset="-122"/>
                          <a:cs typeface="微软雅黑" panose="020B0503020204020204" pitchFamily="34" charset="-122"/>
                        </a:rPr>
                        <m:t> </m:t>
                      </m:r>
                      <m:r>
                        <a:rPr lang="en-US" altLang="zh-CN" sz="2000" i="1" dirty="0">
                          <a:latin typeface="Cambria Math" panose="02040503050406030204" charset="0"/>
                          <a:ea typeface="微软雅黑" panose="020B0503020204020204" pitchFamily="34" charset="-122"/>
                          <a:cs typeface="微软雅黑" panose="020B0503020204020204" pitchFamily="34" charset="-122"/>
                        </a:rPr>
                        <m:t>𝑣</m:t>
                      </m:r>
                      <m:r>
                        <a:rPr lang="en-US" altLang="zh-CN" sz="2000" i="1" baseline="-25000" dirty="0">
                          <a:latin typeface="Cambria Math" panose="02040503050406030204" charset="0"/>
                          <a:ea typeface="微软雅黑" panose="020B0503020204020204" pitchFamily="34" charset="-122"/>
                          <a:cs typeface="微软雅黑" panose="020B0503020204020204" pitchFamily="34" charset="-122"/>
                        </a:rPr>
                        <m:t>2</m:t>
                      </m:r>
                      <m:r>
                        <a:rPr lang="en-US" altLang="zh-CN" sz="2000" i="1" dirty="0">
                          <a:latin typeface="Cambria Math" panose="02040503050406030204" charset="0"/>
                          <a:ea typeface="微软雅黑" panose="020B0503020204020204" pitchFamily="34" charset="-122"/>
                          <a:cs typeface="微软雅黑" panose="020B0503020204020204" pitchFamily="34" charset="-122"/>
                        </a:rPr>
                        <m:t> </m:t>
                      </m:r>
                      <m:r>
                        <a:rPr lang="en-US" altLang="zh-CN" sz="2000" i="1" dirty="0">
                          <a:latin typeface="Cambria Math" panose="02040503050406030204" charset="0"/>
                          <a:ea typeface="微软雅黑" panose="020B0503020204020204" pitchFamily="34" charset="-122"/>
                          <a:cs typeface="微软雅黑" panose="020B0503020204020204" pitchFamily="34" charset="-122"/>
                        </a:rPr>
                        <m:t>𝑣</m:t>
                      </m:r>
                      <m:r>
                        <a:rPr lang="en-US" altLang="zh-CN" sz="2000" i="1" baseline="-25000" dirty="0">
                          <a:latin typeface="Cambria Math" panose="02040503050406030204" charset="0"/>
                          <a:ea typeface="微软雅黑" panose="020B0503020204020204" pitchFamily="34" charset="-122"/>
                          <a:cs typeface="微软雅黑" panose="020B0503020204020204" pitchFamily="34" charset="-122"/>
                        </a:rPr>
                        <m:t>3</m:t>
                      </m:r>
                      <m:r>
                        <a:rPr lang="en-US" altLang="zh-CN" sz="2400" i="1" dirty="0">
                          <a:latin typeface="Cambria Math" panose="02040503050406030204" charset="0"/>
                          <a:ea typeface="微软雅黑" panose="020B0503020204020204" pitchFamily="34" charset="-122"/>
                          <a:cs typeface="微软雅黑" panose="020B0503020204020204" pitchFamily="34" charset="-122"/>
                        </a:rPr>
                        <m:t>] </m:t>
                      </m:r>
                      <m:r>
                        <a:rPr lang="en-US" altLang="zh-CN" sz="3200" i="1" baseline="30000" dirty="0">
                          <a:latin typeface="Cambria Math" panose="02040503050406030204" charset="0"/>
                          <a:ea typeface="微软雅黑" panose="020B0503020204020204" pitchFamily="34" charset="-122"/>
                          <a:cs typeface="微软雅黑" panose="020B0503020204020204" pitchFamily="34" charset="-122"/>
                        </a:rPr>
                        <m:t>𝑇</m:t>
                      </m:r>
                    </m:oMath>
                  </m:oMathPara>
                </a14:m>
                <a:endParaRPr lang="en-US" altLang="zh-CN" sz="3200" baseline="30000" dirty="0">
                  <a:latin typeface="微软雅黑" panose="020B0503020204020204" pitchFamily="34" charset="-122"/>
                  <a:ea typeface="微软雅黑" panose="020B0503020204020204" pitchFamily="34" charset="-122"/>
                  <a:cs typeface="微软雅黑" panose="020B0503020204020204" pitchFamily="34" charset="-122"/>
                </a:endParaRPr>
              </a:p>
              <a:p>
                <a:pPr>
                  <a:spcBef>
                    <a:spcPct val="20000"/>
                  </a:spcBef>
                </a:pPr>
                <a:r>
                  <a:rPr lang="zh-CN" altLang="en-US" sz="2000" dirty="0">
                    <a:ea typeface="微软雅黑" panose="020B0503020204020204" pitchFamily="34" charset="-122"/>
                    <a:cs typeface="微软雅黑" panose="020B0503020204020204" pitchFamily="34" charset="-122"/>
                  </a:rPr>
                  <a:t>     </a:t>
                </a:r>
                <a14:m>
                  <m:oMath xmlns:m="http://schemas.openxmlformats.org/officeDocument/2006/math">
                    <m:r>
                      <a:rPr lang="en-US" altLang="zh-CN" sz="2000" i="1" dirty="0" smtClean="0">
                        <a:latin typeface="Cambria Math" panose="02040503050406030204" charset="0"/>
                        <a:ea typeface="微软雅黑" panose="020B0503020204020204" pitchFamily="34" charset="-122"/>
                        <a:cs typeface="微软雅黑" panose="020B0503020204020204" pitchFamily="34" charset="-122"/>
                      </a:rPr>
                      <m:t>=</m:t>
                    </m:r>
                    <m:r>
                      <a:rPr lang="en-US" altLang="zh-CN" sz="2000" i="1" dirty="0" smtClean="0">
                        <a:latin typeface="Cambria Math" panose="02040503050406030204" charset="0"/>
                        <a:ea typeface="微软雅黑" panose="020B0503020204020204" pitchFamily="34" charset="-122"/>
                        <a:cs typeface="微软雅黑" panose="020B0503020204020204" pitchFamily="34" charset="-122"/>
                      </a:rPr>
                      <m:t>𝑏</m:t>
                    </m:r>
                    <m:r>
                      <a:rPr lang="en-US" altLang="zh-CN" sz="2000" i="1" baseline="-25000" dirty="0">
                        <a:latin typeface="Cambria Math" panose="02040503050406030204" charset="0"/>
                        <a:ea typeface="微软雅黑" panose="020B0503020204020204" pitchFamily="34" charset="-122"/>
                        <a:cs typeface="微软雅黑" panose="020B0503020204020204" pitchFamily="34" charset="-122"/>
                      </a:rPr>
                      <m:t>1</m:t>
                    </m:r>
                    <m:r>
                      <a:rPr lang="en-US" altLang="zh-CN" sz="2000" i="1" dirty="0">
                        <a:latin typeface="Cambria Math" panose="02040503050406030204" charset="0"/>
                        <a:ea typeface="微软雅黑" panose="020B0503020204020204" pitchFamily="34" charset="-122"/>
                        <a:cs typeface="微软雅黑" panose="020B0503020204020204" pitchFamily="34" charset="-122"/>
                      </a:rPr>
                      <m:t>𝑢</m:t>
                    </m:r>
                    <m:r>
                      <a:rPr lang="en-US" altLang="zh-CN" sz="2000" i="1" baseline="-25000" dirty="0">
                        <a:latin typeface="Cambria Math" panose="02040503050406030204" charset="0"/>
                        <a:ea typeface="微软雅黑" panose="020B0503020204020204" pitchFamily="34" charset="-122"/>
                        <a:cs typeface="微软雅黑" panose="020B0503020204020204" pitchFamily="34" charset="-122"/>
                      </a:rPr>
                      <m:t>1</m:t>
                    </m:r>
                    <m:r>
                      <a:rPr lang="en-US" altLang="zh-CN" sz="2000" i="1" dirty="0">
                        <a:latin typeface="Cambria Math" panose="02040503050406030204" charset="0"/>
                        <a:ea typeface="微软雅黑" panose="020B0503020204020204" pitchFamily="34" charset="-122"/>
                        <a:cs typeface="微软雅黑" panose="020B0503020204020204" pitchFamily="34" charset="-122"/>
                      </a:rPr>
                      <m:t>+ </m:t>
                    </m:r>
                    <m:r>
                      <a:rPr lang="en-US" altLang="zh-CN" sz="2000" i="1" dirty="0">
                        <a:latin typeface="Cambria Math" panose="02040503050406030204" charset="0"/>
                        <a:ea typeface="微软雅黑" panose="020B0503020204020204" pitchFamily="34" charset="-122"/>
                        <a:cs typeface="微软雅黑" panose="020B0503020204020204" pitchFamily="34" charset="-122"/>
                      </a:rPr>
                      <m:t>𝑏</m:t>
                    </m:r>
                    <m:r>
                      <a:rPr lang="en-US" altLang="zh-CN" sz="2000" i="1" baseline="-25000" dirty="0">
                        <a:latin typeface="Cambria Math" panose="02040503050406030204" charset="0"/>
                        <a:ea typeface="微软雅黑" panose="020B0503020204020204" pitchFamily="34" charset="-122"/>
                        <a:cs typeface="微软雅黑" panose="020B0503020204020204" pitchFamily="34" charset="-122"/>
                      </a:rPr>
                      <m:t>2</m:t>
                    </m:r>
                    <m:r>
                      <a:rPr lang="en-US" altLang="zh-CN" sz="2000" i="1" dirty="0">
                        <a:latin typeface="Cambria Math" panose="02040503050406030204" charset="0"/>
                        <a:ea typeface="微软雅黑" panose="020B0503020204020204" pitchFamily="34" charset="-122"/>
                        <a:cs typeface="微软雅黑" panose="020B0503020204020204" pitchFamily="34" charset="-122"/>
                      </a:rPr>
                      <m:t>𝑢</m:t>
                    </m:r>
                    <m:r>
                      <a:rPr lang="en-US" altLang="zh-CN" sz="2000" i="1" baseline="-25000" dirty="0">
                        <a:latin typeface="Cambria Math" panose="02040503050406030204" charset="0"/>
                        <a:ea typeface="微软雅黑" panose="020B0503020204020204" pitchFamily="34" charset="-122"/>
                        <a:cs typeface="微软雅黑" panose="020B0503020204020204" pitchFamily="34" charset="-122"/>
                      </a:rPr>
                      <m:t>2</m:t>
                    </m:r>
                    <m:r>
                      <a:rPr lang="en-US" altLang="zh-CN" sz="2000" i="1" dirty="0">
                        <a:latin typeface="Cambria Math" panose="02040503050406030204" charset="0"/>
                        <a:ea typeface="微软雅黑" panose="020B0503020204020204" pitchFamily="34" charset="-122"/>
                        <a:cs typeface="微软雅黑" panose="020B0503020204020204" pitchFamily="34" charset="-122"/>
                      </a:rPr>
                      <m:t> +</m:t>
                    </m:r>
                    <m:r>
                      <a:rPr lang="en-US" altLang="zh-CN" sz="2000" i="1" dirty="0">
                        <a:latin typeface="Cambria Math" panose="02040503050406030204" charset="0"/>
                        <a:ea typeface="微软雅黑" panose="020B0503020204020204" pitchFamily="34" charset="-122"/>
                        <a:cs typeface="微软雅黑" panose="020B0503020204020204" pitchFamily="34" charset="-122"/>
                      </a:rPr>
                      <m:t>𝑏</m:t>
                    </m:r>
                    <m:r>
                      <a:rPr lang="en-US" altLang="zh-CN" sz="2000" i="1" baseline="-25000" dirty="0">
                        <a:latin typeface="Cambria Math" panose="02040503050406030204" charset="0"/>
                        <a:ea typeface="微软雅黑" panose="020B0503020204020204" pitchFamily="34" charset="-122"/>
                        <a:cs typeface="微软雅黑" panose="020B0503020204020204" pitchFamily="34" charset="-122"/>
                      </a:rPr>
                      <m:t>3</m:t>
                    </m:r>
                    <m:r>
                      <a:rPr lang="en-US" altLang="zh-CN" sz="2000" i="1" dirty="0">
                        <a:latin typeface="Cambria Math" panose="02040503050406030204" charset="0"/>
                        <a:ea typeface="微软雅黑" panose="020B0503020204020204" pitchFamily="34" charset="-122"/>
                        <a:cs typeface="微软雅黑" panose="020B0503020204020204" pitchFamily="34" charset="-122"/>
                      </a:rPr>
                      <m:t>𝑢</m:t>
                    </m:r>
                    <m:r>
                      <a:rPr lang="en-US" altLang="zh-CN" sz="2000" i="1" baseline="-25000" dirty="0">
                        <a:latin typeface="Cambria Math" panose="02040503050406030204" charset="0"/>
                        <a:ea typeface="微软雅黑" panose="020B0503020204020204" pitchFamily="34" charset="-122"/>
                        <a:cs typeface="微软雅黑" panose="020B0503020204020204" pitchFamily="34" charset="-122"/>
                      </a:rPr>
                      <m:t>3 </m:t>
                    </m:r>
                    <m:r>
                      <a:rPr lang="en-US" altLang="zh-CN" sz="2000" i="1" dirty="0">
                        <a:latin typeface="Cambria Math" panose="02040503050406030204" charset="0"/>
                        <a:ea typeface="微软雅黑" panose="020B0503020204020204" pitchFamily="34" charset="-122"/>
                        <a:cs typeface="微软雅黑" panose="020B0503020204020204" pitchFamily="34" charset="-122"/>
                      </a:rPr>
                      <m:t>= [</m:t>
                    </m:r>
                    <m:r>
                      <a:rPr lang="en-US" altLang="zh-CN" sz="2000" i="1" dirty="0">
                        <a:latin typeface="Cambria Math" panose="02040503050406030204" charset="0"/>
                        <a:ea typeface="微软雅黑" panose="020B0503020204020204" pitchFamily="34" charset="-122"/>
                        <a:cs typeface="微软雅黑" panose="020B0503020204020204" pitchFamily="34" charset="-122"/>
                      </a:rPr>
                      <m:t>𝑏</m:t>
                    </m:r>
                    <m:r>
                      <a:rPr lang="en-US" altLang="zh-CN" sz="2000" i="1" baseline="-25000" dirty="0">
                        <a:latin typeface="Cambria Math" panose="02040503050406030204" charset="0"/>
                        <a:ea typeface="微软雅黑" panose="020B0503020204020204" pitchFamily="34" charset="-122"/>
                        <a:cs typeface="微软雅黑" panose="020B0503020204020204" pitchFamily="34" charset="-122"/>
                      </a:rPr>
                      <m:t>1 </m:t>
                    </m:r>
                    <m:r>
                      <a:rPr lang="en-US" altLang="zh-CN" sz="2000" i="1" dirty="0">
                        <a:latin typeface="Cambria Math" panose="02040503050406030204" charset="0"/>
                        <a:ea typeface="微软雅黑" panose="020B0503020204020204" pitchFamily="34" charset="-122"/>
                        <a:cs typeface="微软雅黑" panose="020B0503020204020204" pitchFamily="34" charset="-122"/>
                      </a:rPr>
                      <m:t>𝑏</m:t>
                    </m:r>
                    <m:r>
                      <a:rPr lang="en-US" altLang="zh-CN" sz="2000" i="1" baseline="-25000" dirty="0">
                        <a:latin typeface="Cambria Math" panose="02040503050406030204" charset="0"/>
                        <a:ea typeface="微软雅黑" panose="020B0503020204020204" pitchFamily="34" charset="-122"/>
                        <a:cs typeface="微软雅黑" panose="020B0503020204020204" pitchFamily="34" charset="-122"/>
                      </a:rPr>
                      <m:t>2</m:t>
                    </m:r>
                    <m:r>
                      <a:rPr lang="en-US" altLang="zh-CN" sz="2000" i="1" dirty="0">
                        <a:latin typeface="Cambria Math" panose="02040503050406030204" charset="0"/>
                        <a:ea typeface="微软雅黑" panose="020B0503020204020204" pitchFamily="34" charset="-122"/>
                        <a:cs typeface="微软雅黑" panose="020B0503020204020204" pitchFamily="34" charset="-122"/>
                      </a:rPr>
                      <m:t> </m:t>
                    </m:r>
                    <m:r>
                      <a:rPr lang="en-US" altLang="zh-CN" sz="2000" i="1" dirty="0">
                        <a:latin typeface="Cambria Math" panose="02040503050406030204" charset="0"/>
                        <a:ea typeface="微软雅黑" panose="020B0503020204020204" pitchFamily="34" charset="-122"/>
                        <a:cs typeface="微软雅黑" panose="020B0503020204020204" pitchFamily="34" charset="-122"/>
                      </a:rPr>
                      <m:t>𝑏</m:t>
                    </m:r>
                    <m:r>
                      <a:rPr lang="en-US" altLang="zh-CN" sz="2000" i="1" baseline="-25000" dirty="0">
                        <a:latin typeface="Cambria Math" panose="02040503050406030204" charset="0"/>
                        <a:ea typeface="微软雅黑" panose="020B0503020204020204" pitchFamily="34" charset="-122"/>
                        <a:cs typeface="微软雅黑" panose="020B0503020204020204" pitchFamily="34" charset="-122"/>
                      </a:rPr>
                      <m:t>3</m:t>
                    </m:r>
                    <m:r>
                      <a:rPr lang="en-US" altLang="zh-CN" sz="2000" i="1" dirty="0">
                        <a:latin typeface="Cambria Math" panose="02040503050406030204" charset="0"/>
                        <a:ea typeface="微软雅黑" panose="020B0503020204020204" pitchFamily="34" charset="-122"/>
                        <a:cs typeface="微软雅黑" panose="020B0503020204020204" pitchFamily="34" charset="-122"/>
                      </a:rPr>
                      <m:t>]</m:t>
                    </m:r>
                    <m:r>
                      <a:rPr lang="en-US" altLang="zh-CN" sz="3200" i="1" baseline="30000" dirty="0">
                        <a:latin typeface="Cambria Math" panose="02040503050406030204" charset="0"/>
                        <a:ea typeface="微软雅黑" panose="020B0503020204020204" pitchFamily="34" charset="-122"/>
                        <a:cs typeface="微软雅黑" panose="020B0503020204020204" pitchFamily="34" charset="-122"/>
                      </a:rPr>
                      <m:t> </m:t>
                    </m:r>
                    <m:r>
                      <a:rPr lang="en-US" altLang="zh-CN" sz="2000" i="1" dirty="0">
                        <a:latin typeface="Cambria Math" panose="02040503050406030204" charset="0"/>
                        <a:ea typeface="微软雅黑" panose="020B0503020204020204" pitchFamily="34" charset="-122"/>
                        <a:cs typeface="微软雅黑" panose="020B0503020204020204" pitchFamily="34" charset="-122"/>
                      </a:rPr>
                      <m:t>[</m:t>
                    </m:r>
                    <m:r>
                      <a:rPr lang="en-US" altLang="zh-CN" sz="2000" i="1" dirty="0">
                        <a:latin typeface="Cambria Math" panose="02040503050406030204" charset="0"/>
                        <a:ea typeface="微软雅黑" panose="020B0503020204020204" pitchFamily="34" charset="-122"/>
                        <a:cs typeface="微软雅黑" panose="020B0503020204020204" pitchFamily="34" charset="-122"/>
                      </a:rPr>
                      <m:t>𝑢</m:t>
                    </m:r>
                    <m:r>
                      <a:rPr lang="en-US" altLang="zh-CN" sz="2000" i="1" baseline="-25000" dirty="0">
                        <a:latin typeface="Cambria Math" panose="02040503050406030204" charset="0"/>
                        <a:ea typeface="微软雅黑" panose="020B0503020204020204" pitchFamily="34" charset="-122"/>
                        <a:cs typeface="微软雅黑" panose="020B0503020204020204" pitchFamily="34" charset="-122"/>
                      </a:rPr>
                      <m:t>1</m:t>
                    </m:r>
                    <m:r>
                      <a:rPr lang="en-US" altLang="zh-CN" sz="2000" i="1" dirty="0">
                        <a:latin typeface="Cambria Math" panose="02040503050406030204" charset="0"/>
                        <a:ea typeface="微软雅黑" panose="020B0503020204020204" pitchFamily="34" charset="-122"/>
                        <a:cs typeface="微软雅黑" panose="020B0503020204020204" pitchFamily="34" charset="-122"/>
                      </a:rPr>
                      <m:t> </m:t>
                    </m:r>
                    <m:r>
                      <a:rPr lang="en-US" altLang="zh-CN" sz="2000" i="1" dirty="0">
                        <a:latin typeface="Cambria Math" panose="02040503050406030204" charset="0"/>
                        <a:ea typeface="微软雅黑" panose="020B0503020204020204" pitchFamily="34" charset="-122"/>
                        <a:cs typeface="微软雅黑" panose="020B0503020204020204" pitchFamily="34" charset="-122"/>
                      </a:rPr>
                      <m:t>𝑢</m:t>
                    </m:r>
                    <m:r>
                      <a:rPr lang="en-US" altLang="zh-CN" sz="2000" i="1" baseline="-25000" dirty="0">
                        <a:latin typeface="Cambria Math" panose="02040503050406030204" charset="0"/>
                        <a:ea typeface="微软雅黑" panose="020B0503020204020204" pitchFamily="34" charset="-122"/>
                        <a:cs typeface="微软雅黑" panose="020B0503020204020204" pitchFamily="34" charset="-122"/>
                      </a:rPr>
                      <m:t>2</m:t>
                    </m:r>
                    <m:r>
                      <a:rPr lang="en-US" altLang="zh-CN" sz="2000" i="1" dirty="0">
                        <a:latin typeface="Cambria Math" panose="02040503050406030204" charset="0"/>
                        <a:ea typeface="微软雅黑" panose="020B0503020204020204" pitchFamily="34" charset="-122"/>
                        <a:cs typeface="微软雅黑" panose="020B0503020204020204" pitchFamily="34" charset="-122"/>
                      </a:rPr>
                      <m:t> </m:t>
                    </m:r>
                    <m:r>
                      <a:rPr lang="en-US" altLang="zh-CN" sz="2000" i="1" dirty="0">
                        <a:latin typeface="Cambria Math" panose="02040503050406030204" charset="0"/>
                        <a:ea typeface="微软雅黑" panose="020B0503020204020204" pitchFamily="34" charset="-122"/>
                        <a:cs typeface="微软雅黑" panose="020B0503020204020204" pitchFamily="34" charset="-122"/>
                      </a:rPr>
                      <m:t>𝑢</m:t>
                    </m:r>
                    <m:r>
                      <a:rPr lang="en-US" altLang="zh-CN" sz="2000" i="1" baseline="-25000" dirty="0">
                        <a:latin typeface="Cambria Math" panose="02040503050406030204" charset="0"/>
                        <a:ea typeface="微软雅黑" panose="020B0503020204020204" pitchFamily="34" charset="-122"/>
                        <a:cs typeface="微软雅黑" panose="020B0503020204020204" pitchFamily="34" charset="-122"/>
                      </a:rPr>
                      <m:t>3</m:t>
                    </m:r>
                    <m:r>
                      <a:rPr lang="en-US" altLang="zh-CN" sz="2400" i="1" dirty="0">
                        <a:latin typeface="Cambria Math" panose="02040503050406030204" charset="0"/>
                        <a:ea typeface="微软雅黑" panose="020B0503020204020204" pitchFamily="34" charset="-122"/>
                        <a:cs typeface="微软雅黑" panose="020B0503020204020204" pitchFamily="34" charset="-122"/>
                      </a:rPr>
                      <m:t>] </m:t>
                    </m:r>
                    <m:r>
                      <a:rPr lang="en-US" altLang="zh-CN" sz="3200" i="1" baseline="30000" dirty="0">
                        <a:latin typeface="Cambria Math" panose="02040503050406030204" charset="0"/>
                        <a:ea typeface="微软雅黑" panose="020B0503020204020204" pitchFamily="34" charset="-122"/>
                        <a:cs typeface="微软雅黑" panose="020B0503020204020204" pitchFamily="34" charset="-122"/>
                      </a:rPr>
                      <m:t>𝑇</m:t>
                    </m:r>
                  </m:oMath>
                </a14:m>
                <a:endParaRPr lang="en-US" altLang="zh-CN" sz="3200" baseline="30000" dirty="0">
                  <a:latin typeface="微软雅黑" panose="020B0503020204020204" pitchFamily="34" charset="-122"/>
                  <a:ea typeface="微软雅黑" panose="020B0503020204020204" pitchFamily="34" charset="-122"/>
                  <a:cs typeface="微软雅黑" panose="020B0503020204020204" pitchFamily="34" charset="-122"/>
                </a:endParaRPr>
              </a:p>
              <a:p>
                <a:endParaRPr lang="en-US" altLang="zh-CN" sz="1400" dirty="0">
                  <a:latin typeface="微软雅黑" panose="020B0503020204020204" pitchFamily="34" charset="-122"/>
                  <a:ea typeface="微软雅黑" panose="020B0503020204020204" pitchFamily="34" charset="-122"/>
                  <a:cs typeface="微软雅黑" panose="020B0503020204020204" pitchFamily="34" charset="-122"/>
                </a:endParaRPr>
              </a:p>
            </p:txBody>
          </p:sp>
        </mc:Choice>
        <mc:Fallback xmlns="">
          <p:sp>
            <p:nvSpPr>
              <p:cNvPr id="15" name="Text Box 4"/>
              <p:cNvSpPr txBox="1">
                <a:spLocks noRot="1" noChangeAspect="1" noMove="1" noResize="1" noEditPoints="1" noAdjustHandles="1" noChangeArrowheads="1" noChangeShapeType="1" noTextEdit="1"/>
              </p:cNvSpPr>
              <p:nvPr/>
            </p:nvSpPr>
            <p:spPr bwMode="auto">
              <a:xfrm>
                <a:off x="3225652" y="2560468"/>
                <a:ext cx="5987921" cy="1060803"/>
              </a:xfrm>
              <a:prstGeom prst="rect">
                <a:avLst/>
              </a:prstGeom>
              <a:blipFill rotWithShape="1">
                <a:blip r:embed="rId6"/>
                <a:stretch>
                  <a:fillRect l="-8" t="-5282" r="6" b="47"/>
                </a:stretch>
              </a:blipFill>
              <a:ln w="12700">
                <a:noFill/>
                <a:miter lim="800000"/>
                <a:headEnd type="none" w="sm" len="sm"/>
                <a:tailEnd type="none" w="sm" len="sm"/>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Text Box 1029"/>
              <p:cNvSpPr txBox="1">
                <a:spLocks noChangeArrowheads="1"/>
              </p:cNvSpPr>
              <p:nvPr/>
            </p:nvSpPr>
            <p:spPr>
              <a:xfrm>
                <a:off x="4465336" y="3528011"/>
                <a:ext cx="4399126" cy="1676400"/>
              </a:xfrm>
              <a:prstGeom prst="rect">
                <a:avLst/>
              </a:prstGeom>
              <a:noFill/>
            </p:spPr>
            <p:txBody>
              <a:bodyPr vert="horz" lIns="91440" tIns="45720" rIns="91440" bIns="45720" rtlCol="0">
                <a:normAutofit/>
              </a:bodyPr>
              <a:lstStyle/>
              <a:p>
                <a:pPr>
                  <a:spcBef>
                    <a:spcPts val="600"/>
                  </a:spcBef>
                </a:pPr>
                <a14:m>
                  <m:oMathPara xmlns:m="http://schemas.openxmlformats.org/officeDocument/2006/math">
                    <m:oMathParaPr>
                      <m:jc m:val="left"/>
                    </m:oMathParaPr>
                    <m:oMath xmlns:m="http://schemas.openxmlformats.org/officeDocument/2006/math">
                      <m:r>
                        <a:rPr lang="en-US" altLang="zh-CN" sz="2400" i="1" dirty="0" smtClean="0">
                          <a:latin typeface="Cambria Math" panose="02040503050406030204" charset="0"/>
                          <a:ea typeface="微软雅黑" panose="020B0503020204020204" pitchFamily="34" charset="-122"/>
                          <a:cs typeface="微软雅黑" panose="020B0503020204020204" pitchFamily="34" charset="-122"/>
                        </a:rPr>
                        <m:t>𝑢</m:t>
                      </m:r>
                      <m:r>
                        <a:rPr lang="en-US" altLang="zh-CN" sz="2400" i="1" baseline="-25000" dirty="0">
                          <a:latin typeface="Cambria Math" panose="02040503050406030204" charset="0"/>
                          <a:ea typeface="微软雅黑" panose="020B0503020204020204" pitchFamily="34" charset="-122"/>
                          <a:cs typeface="微软雅黑" panose="020B0503020204020204" pitchFamily="34" charset="-122"/>
                        </a:rPr>
                        <m:t>1 </m:t>
                      </m:r>
                      <m:r>
                        <a:rPr lang="en-US" altLang="zh-CN" sz="2400" i="1" dirty="0">
                          <a:latin typeface="Cambria Math" panose="02040503050406030204" charset="0"/>
                          <a:ea typeface="微软雅黑" panose="020B0503020204020204" pitchFamily="34" charset="-122"/>
                          <a:cs typeface="微软雅黑" panose="020B0503020204020204" pitchFamily="34" charset="-122"/>
                        </a:rPr>
                        <m:t>=</m:t>
                      </m:r>
                      <m:r>
                        <a:rPr lang="en-US" altLang="zh-CN" sz="2400" i="1" dirty="0">
                          <a:latin typeface="Cambria Math" panose="02040503050406030204" charset="0"/>
                          <a:ea typeface="Cambria Math" panose="02040503050406030204" charset="0"/>
                          <a:cs typeface="Cambria Math" panose="02040503050406030204" charset="0"/>
                        </a:rPr>
                        <m:t>𝛾</m:t>
                      </m:r>
                      <m:r>
                        <a:rPr lang="en-US" altLang="zh-CN" sz="2400" i="1" baseline="-25000" dirty="0">
                          <a:latin typeface="Cambria Math" panose="02040503050406030204" charset="0"/>
                          <a:ea typeface="微软雅黑" panose="020B0503020204020204" pitchFamily="34" charset="-122"/>
                          <a:cs typeface="微软雅黑" panose="020B0503020204020204" pitchFamily="34" charset="-122"/>
                        </a:rPr>
                        <m:t>11</m:t>
                      </m:r>
                      <m:r>
                        <a:rPr lang="en-US" altLang="zh-CN" sz="2400" i="1" dirty="0">
                          <a:latin typeface="Cambria Math" panose="02040503050406030204" charset="0"/>
                          <a:ea typeface="微软雅黑" panose="020B0503020204020204" pitchFamily="34" charset="-122"/>
                          <a:cs typeface="微软雅黑" panose="020B0503020204020204" pitchFamily="34" charset="-122"/>
                        </a:rPr>
                        <m:t>𝑣</m:t>
                      </m:r>
                      <m:r>
                        <a:rPr lang="en-US" altLang="zh-CN" sz="2400" i="1" baseline="-25000" dirty="0">
                          <a:latin typeface="Cambria Math" panose="02040503050406030204" charset="0"/>
                          <a:ea typeface="微软雅黑" panose="020B0503020204020204" pitchFamily="34" charset="-122"/>
                          <a:cs typeface="微软雅黑" panose="020B0503020204020204" pitchFamily="34" charset="-122"/>
                        </a:rPr>
                        <m:t>1</m:t>
                      </m:r>
                      <m:r>
                        <a:rPr lang="en-US" altLang="zh-CN" sz="2400" i="1" dirty="0">
                          <a:latin typeface="Cambria Math" panose="02040503050406030204" charset="0"/>
                          <a:ea typeface="微软雅黑" panose="020B0503020204020204" pitchFamily="34" charset="-122"/>
                          <a:cs typeface="微软雅黑" panose="020B0503020204020204" pitchFamily="34" charset="-122"/>
                        </a:rPr>
                        <m:t>+</m:t>
                      </m:r>
                      <m:r>
                        <a:rPr lang="en-US" altLang="zh-CN" sz="2400" i="1" dirty="0">
                          <a:latin typeface="Cambria Math" panose="02040503050406030204" charset="0"/>
                          <a:ea typeface="Cambria Math" panose="02040503050406030204" charset="0"/>
                          <a:cs typeface="Cambria Math" panose="02040503050406030204" charset="0"/>
                        </a:rPr>
                        <m:t>𝛾</m:t>
                      </m:r>
                      <m:r>
                        <a:rPr lang="en-US" altLang="zh-CN" sz="2400" i="1" baseline="-25000" dirty="0">
                          <a:latin typeface="Cambria Math" panose="02040503050406030204" charset="0"/>
                          <a:ea typeface="微软雅黑" panose="020B0503020204020204" pitchFamily="34" charset="-122"/>
                          <a:cs typeface="微软雅黑" panose="020B0503020204020204" pitchFamily="34" charset="-122"/>
                        </a:rPr>
                        <m:t>12</m:t>
                      </m:r>
                      <m:r>
                        <a:rPr lang="en-US" altLang="zh-CN" sz="2400" i="1" dirty="0">
                          <a:latin typeface="Cambria Math" panose="02040503050406030204" charset="0"/>
                          <a:ea typeface="微软雅黑" panose="020B0503020204020204" pitchFamily="34" charset="-122"/>
                          <a:cs typeface="微软雅黑" panose="020B0503020204020204" pitchFamily="34" charset="-122"/>
                        </a:rPr>
                        <m:t>𝑣</m:t>
                      </m:r>
                      <m:r>
                        <a:rPr lang="en-US" altLang="zh-CN" sz="2400" i="1" baseline="-25000" dirty="0">
                          <a:latin typeface="Cambria Math" panose="02040503050406030204" charset="0"/>
                          <a:ea typeface="微软雅黑" panose="020B0503020204020204" pitchFamily="34" charset="-122"/>
                          <a:cs typeface="微软雅黑" panose="020B0503020204020204" pitchFamily="34" charset="-122"/>
                        </a:rPr>
                        <m:t>2</m:t>
                      </m:r>
                      <m:r>
                        <a:rPr lang="en-US" altLang="zh-CN" sz="2400" i="1" dirty="0">
                          <a:latin typeface="Cambria Math" panose="02040503050406030204" charset="0"/>
                          <a:ea typeface="微软雅黑" panose="020B0503020204020204" pitchFamily="34" charset="-122"/>
                          <a:cs typeface="微软雅黑" panose="020B0503020204020204" pitchFamily="34" charset="-122"/>
                        </a:rPr>
                        <m:t>+</m:t>
                      </m:r>
                      <m:r>
                        <a:rPr lang="en-US" altLang="zh-CN" sz="2400" i="1" dirty="0">
                          <a:latin typeface="Cambria Math" panose="02040503050406030204" charset="0"/>
                          <a:ea typeface="Cambria Math" panose="02040503050406030204" charset="0"/>
                          <a:cs typeface="Cambria Math" panose="02040503050406030204" charset="0"/>
                        </a:rPr>
                        <m:t>𝛾</m:t>
                      </m:r>
                      <m:r>
                        <a:rPr lang="en-US" altLang="zh-CN" sz="2400" i="1" baseline="-25000" dirty="0">
                          <a:latin typeface="Cambria Math" panose="02040503050406030204" charset="0"/>
                          <a:ea typeface="微软雅黑" panose="020B0503020204020204" pitchFamily="34" charset="-122"/>
                          <a:cs typeface="微软雅黑" panose="020B0503020204020204" pitchFamily="34" charset="-122"/>
                        </a:rPr>
                        <m:t>13</m:t>
                      </m:r>
                      <m:r>
                        <a:rPr lang="en-US" altLang="zh-CN" sz="2400" i="1" dirty="0">
                          <a:latin typeface="Cambria Math" panose="02040503050406030204" charset="0"/>
                          <a:ea typeface="微软雅黑" panose="020B0503020204020204" pitchFamily="34" charset="-122"/>
                          <a:cs typeface="微软雅黑" panose="020B0503020204020204" pitchFamily="34" charset="-122"/>
                        </a:rPr>
                        <m:t>𝑣</m:t>
                      </m:r>
                      <m:r>
                        <a:rPr lang="en-US" altLang="zh-CN" sz="2400" i="1" baseline="-25000" dirty="0">
                          <a:latin typeface="Cambria Math" panose="02040503050406030204" charset="0"/>
                          <a:ea typeface="微软雅黑" panose="020B0503020204020204" pitchFamily="34" charset="-122"/>
                          <a:cs typeface="微软雅黑" panose="020B0503020204020204" pitchFamily="34" charset="-122"/>
                        </a:rPr>
                        <m:t>3</m:t>
                      </m:r>
                    </m:oMath>
                  </m:oMathPara>
                </a14:m>
                <a:endParaRPr lang="en-US" altLang="zh-CN" sz="2400" baseline="-25000" dirty="0">
                  <a:latin typeface="微软雅黑" panose="020B0503020204020204" pitchFamily="34" charset="-122"/>
                  <a:ea typeface="微软雅黑" panose="020B0503020204020204" pitchFamily="34" charset="-122"/>
                  <a:cs typeface="微软雅黑" panose="020B0503020204020204" pitchFamily="34" charset="-122"/>
                </a:endParaRPr>
              </a:p>
              <a:p>
                <a:pPr>
                  <a:spcBef>
                    <a:spcPts val="600"/>
                  </a:spcBef>
                </a:pPr>
                <a14:m>
                  <m:oMathPara xmlns:m="http://schemas.openxmlformats.org/officeDocument/2006/math">
                    <m:oMathParaPr>
                      <m:jc m:val="left"/>
                    </m:oMathParaPr>
                    <m:oMath xmlns:m="http://schemas.openxmlformats.org/officeDocument/2006/math">
                      <m:r>
                        <a:rPr lang="en-US" altLang="zh-CN" sz="2400" i="1" dirty="0">
                          <a:latin typeface="Cambria Math" panose="02040503050406030204" charset="0"/>
                          <a:ea typeface="微软雅黑" panose="020B0503020204020204" pitchFamily="34" charset="-122"/>
                          <a:cs typeface="微软雅黑" panose="020B0503020204020204" pitchFamily="34" charset="-122"/>
                        </a:rPr>
                        <m:t>𝑢</m:t>
                      </m:r>
                      <m:r>
                        <a:rPr lang="en-US" altLang="zh-CN" sz="2400" i="1" baseline="-25000" dirty="0">
                          <a:latin typeface="Cambria Math" panose="02040503050406030204" charset="0"/>
                          <a:ea typeface="微软雅黑" panose="020B0503020204020204" pitchFamily="34" charset="-122"/>
                          <a:cs typeface="微软雅黑" panose="020B0503020204020204" pitchFamily="34" charset="-122"/>
                        </a:rPr>
                        <m:t>2 </m:t>
                      </m:r>
                      <m:r>
                        <a:rPr lang="en-US" altLang="zh-CN" sz="2400" i="1" dirty="0">
                          <a:latin typeface="Cambria Math" panose="02040503050406030204" charset="0"/>
                          <a:ea typeface="微软雅黑" panose="020B0503020204020204" pitchFamily="34" charset="-122"/>
                          <a:cs typeface="微软雅黑" panose="020B0503020204020204" pitchFamily="34" charset="-122"/>
                        </a:rPr>
                        <m:t>=</m:t>
                      </m:r>
                      <m:r>
                        <a:rPr lang="en-US" altLang="zh-CN" sz="2400" i="1" dirty="0">
                          <a:latin typeface="Cambria Math" panose="02040503050406030204" charset="0"/>
                          <a:ea typeface="Cambria Math" panose="02040503050406030204" charset="0"/>
                          <a:cs typeface="Cambria Math" panose="02040503050406030204" charset="0"/>
                        </a:rPr>
                        <m:t>𝛾</m:t>
                      </m:r>
                      <m:r>
                        <a:rPr lang="en-US" altLang="zh-CN" sz="2400" i="1" baseline="-25000" dirty="0">
                          <a:latin typeface="Cambria Math" panose="02040503050406030204" charset="0"/>
                          <a:ea typeface="微软雅黑" panose="020B0503020204020204" pitchFamily="34" charset="-122"/>
                          <a:cs typeface="微软雅黑" panose="020B0503020204020204" pitchFamily="34" charset="-122"/>
                        </a:rPr>
                        <m:t>21</m:t>
                      </m:r>
                      <m:r>
                        <a:rPr lang="en-US" altLang="zh-CN" sz="2400" i="1" dirty="0">
                          <a:latin typeface="Cambria Math" panose="02040503050406030204" charset="0"/>
                          <a:ea typeface="微软雅黑" panose="020B0503020204020204" pitchFamily="34" charset="-122"/>
                          <a:cs typeface="微软雅黑" panose="020B0503020204020204" pitchFamily="34" charset="-122"/>
                        </a:rPr>
                        <m:t>𝑣</m:t>
                      </m:r>
                      <m:r>
                        <a:rPr lang="en-US" altLang="zh-CN" sz="2400" i="1" baseline="-25000" dirty="0">
                          <a:latin typeface="Cambria Math" panose="02040503050406030204" charset="0"/>
                          <a:ea typeface="微软雅黑" panose="020B0503020204020204" pitchFamily="34" charset="-122"/>
                          <a:cs typeface="微软雅黑" panose="020B0503020204020204" pitchFamily="34" charset="-122"/>
                        </a:rPr>
                        <m:t>1</m:t>
                      </m:r>
                      <m:r>
                        <a:rPr lang="en-US" altLang="zh-CN" sz="2400" i="1" dirty="0">
                          <a:latin typeface="Cambria Math" panose="02040503050406030204" charset="0"/>
                          <a:ea typeface="微软雅黑" panose="020B0503020204020204" pitchFamily="34" charset="-122"/>
                          <a:cs typeface="微软雅黑" panose="020B0503020204020204" pitchFamily="34" charset="-122"/>
                        </a:rPr>
                        <m:t>+</m:t>
                      </m:r>
                      <m:r>
                        <a:rPr lang="en-US" altLang="zh-CN" sz="2400" i="1" dirty="0">
                          <a:latin typeface="Cambria Math" panose="02040503050406030204" charset="0"/>
                          <a:ea typeface="Cambria Math" panose="02040503050406030204" charset="0"/>
                          <a:cs typeface="Cambria Math" panose="02040503050406030204" charset="0"/>
                        </a:rPr>
                        <m:t>𝛾</m:t>
                      </m:r>
                      <m:r>
                        <a:rPr lang="en-US" altLang="zh-CN" sz="2400" i="1" baseline="-25000" dirty="0">
                          <a:latin typeface="Cambria Math" panose="02040503050406030204" charset="0"/>
                          <a:ea typeface="微软雅黑" panose="020B0503020204020204" pitchFamily="34" charset="-122"/>
                          <a:cs typeface="微软雅黑" panose="020B0503020204020204" pitchFamily="34" charset="-122"/>
                        </a:rPr>
                        <m:t>22</m:t>
                      </m:r>
                      <m:r>
                        <a:rPr lang="en-US" altLang="zh-CN" sz="2400" i="1" dirty="0">
                          <a:latin typeface="Cambria Math" panose="02040503050406030204" charset="0"/>
                          <a:ea typeface="微软雅黑" panose="020B0503020204020204" pitchFamily="34" charset="-122"/>
                          <a:cs typeface="微软雅黑" panose="020B0503020204020204" pitchFamily="34" charset="-122"/>
                        </a:rPr>
                        <m:t>𝑣</m:t>
                      </m:r>
                      <m:r>
                        <a:rPr lang="en-US" altLang="zh-CN" sz="2400" i="1" baseline="-25000" dirty="0">
                          <a:latin typeface="Cambria Math" panose="02040503050406030204" charset="0"/>
                          <a:ea typeface="微软雅黑" panose="020B0503020204020204" pitchFamily="34" charset="-122"/>
                          <a:cs typeface="微软雅黑" panose="020B0503020204020204" pitchFamily="34" charset="-122"/>
                        </a:rPr>
                        <m:t>2</m:t>
                      </m:r>
                      <m:r>
                        <a:rPr lang="en-US" altLang="zh-CN" sz="2400" i="1" dirty="0">
                          <a:latin typeface="Cambria Math" panose="02040503050406030204" charset="0"/>
                          <a:ea typeface="微软雅黑" panose="020B0503020204020204" pitchFamily="34" charset="-122"/>
                          <a:cs typeface="微软雅黑" panose="020B0503020204020204" pitchFamily="34" charset="-122"/>
                        </a:rPr>
                        <m:t>+</m:t>
                      </m:r>
                      <m:r>
                        <a:rPr lang="en-US" altLang="zh-CN" sz="2400" i="1" dirty="0">
                          <a:latin typeface="Cambria Math" panose="02040503050406030204" charset="0"/>
                          <a:ea typeface="Cambria Math" panose="02040503050406030204" charset="0"/>
                          <a:cs typeface="Cambria Math" panose="02040503050406030204" charset="0"/>
                        </a:rPr>
                        <m:t>𝛾</m:t>
                      </m:r>
                      <m:r>
                        <a:rPr lang="en-US" altLang="zh-CN" sz="2400" i="1" baseline="-25000" dirty="0">
                          <a:latin typeface="Cambria Math" panose="02040503050406030204" charset="0"/>
                          <a:ea typeface="微软雅黑" panose="020B0503020204020204" pitchFamily="34" charset="-122"/>
                          <a:cs typeface="微软雅黑" panose="020B0503020204020204" pitchFamily="34" charset="-122"/>
                        </a:rPr>
                        <m:t>23</m:t>
                      </m:r>
                      <m:r>
                        <a:rPr lang="en-US" altLang="zh-CN" sz="2400" i="1" dirty="0">
                          <a:latin typeface="Cambria Math" panose="02040503050406030204" charset="0"/>
                          <a:ea typeface="微软雅黑" panose="020B0503020204020204" pitchFamily="34" charset="-122"/>
                          <a:cs typeface="微软雅黑" panose="020B0503020204020204" pitchFamily="34" charset="-122"/>
                        </a:rPr>
                        <m:t>𝑣</m:t>
                      </m:r>
                      <m:r>
                        <a:rPr lang="en-US" altLang="zh-CN" sz="2400" i="1" baseline="-25000" dirty="0" smtClean="0">
                          <a:latin typeface="Cambria Math" panose="02040503050406030204" charset="0"/>
                          <a:ea typeface="微软雅黑" panose="020B0503020204020204" pitchFamily="34" charset="-122"/>
                          <a:cs typeface="微软雅黑" panose="020B0503020204020204" pitchFamily="34" charset="-122"/>
                        </a:rPr>
                        <m:t>3</m:t>
                      </m:r>
                    </m:oMath>
                  </m:oMathPara>
                </a14:m>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a:spcBef>
                    <a:spcPts val="600"/>
                  </a:spcBef>
                </a:pPr>
                <a14:m>
                  <m:oMathPara xmlns:m="http://schemas.openxmlformats.org/officeDocument/2006/math">
                    <m:oMathParaPr>
                      <m:jc m:val="left"/>
                    </m:oMathParaPr>
                    <m:oMath xmlns:m="http://schemas.openxmlformats.org/officeDocument/2006/math">
                      <m:r>
                        <a:rPr lang="en-US" altLang="zh-CN" sz="2400" i="1" dirty="0">
                          <a:latin typeface="Cambria Math" panose="02040503050406030204" charset="0"/>
                          <a:ea typeface="微软雅黑" panose="020B0503020204020204" pitchFamily="34" charset="-122"/>
                          <a:cs typeface="微软雅黑" panose="020B0503020204020204" pitchFamily="34" charset="-122"/>
                        </a:rPr>
                        <m:t>𝑢</m:t>
                      </m:r>
                      <m:r>
                        <a:rPr lang="en-US" altLang="zh-CN" sz="2400" i="1" baseline="-25000" dirty="0">
                          <a:latin typeface="Cambria Math" panose="02040503050406030204" charset="0"/>
                          <a:ea typeface="微软雅黑" panose="020B0503020204020204" pitchFamily="34" charset="-122"/>
                          <a:cs typeface="微软雅黑" panose="020B0503020204020204" pitchFamily="34" charset="-122"/>
                        </a:rPr>
                        <m:t>3 </m:t>
                      </m:r>
                      <m:r>
                        <a:rPr lang="en-US" altLang="zh-CN" sz="2400" i="1" dirty="0">
                          <a:latin typeface="Cambria Math" panose="02040503050406030204" charset="0"/>
                          <a:ea typeface="微软雅黑" panose="020B0503020204020204" pitchFamily="34" charset="-122"/>
                          <a:cs typeface="微软雅黑" panose="020B0503020204020204" pitchFamily="34" charset="-122"/>
                        </a:rPr>
                        <m:t>=</m:t>
                      </m:r>
                      <m:r>
                        <a:rPr lang="en-US" altLang="zh-CN" sz="2400" i="1" dirty="0">
                          <a:latin typeface="Cambria Math" panose="02040503050406030204" charset="0"/>
                          <a:ea typeface="Cambria Math" panose="02040503050406030204" charset="0"/>
                          <a:cs typeface="Cambria Math" panose="02040503050406030204" charset="0"/>
                        </a:rPr>
                        <m:t>𝛾</m:t>
                      </m:r>
                      <m:r>
                        <a:rPr lang="en-US" altLang="zh-CN" sz="2400" i="1" baseline="-25000" dirty="0">
                          <a:latin typeface="Cambria Math" panose="02040503050406030204" charset="0"/>
                          <a:ea typeface="微软雅黑" panose="020B0503020204020204" pitchFamily="34" charset="-122"/>
                          <a:cs typeface="微软雅黑" panose="020B0503020204020204" pitchFamily="34" charset="-122"/>
                        </a:rPr>
                        <m:t>31</m:t>
                      </m:r>
                      <m:r>
                        <a:rPr lang="en-US" altLang="zh-CN" sz="2400" i="1" dirty="0">
                          <a:latin typeface="Cambria Math" panose="02040503050406030204" charset="0"/>
                          <a:ea typeface="微软雅黑" panose="020B0503020204020204" pitchFamily="34" charset="-122"/>
                          <a:cs typeface="微软雅黑" panose="020B0503020204020204" pitchFamily="34" charset="-122"/>
                        </a:rPr>
                        <m:t>𝑣</m:t>
                      </m:r>
                      <m:r>
                        <a:rPr lang="en-US" altLang="zh-CN" sz="2400" i="1" baseline="-25000" dirty="0">
                          <a:latin typeface="Cambria Math" panose="02040503050406030204" charset="0"/>
                          <a:ea typeface="微软雅黑" panose="020B0503020204020204" pitchFamily="34" charset="-122"/>
                          <a:cs typeface="微软雅黑" panose="020B0503020204020204" pitchFamily="34" charset="-122"/>
                        </a:rPr>
                        <m:t>1</m:t>
                      </m:r>
                      <m:r>
                        <a:rPr lang="en-US" altLang="zh-CN" sz="2400" i="1" dirty="0">
                          <a:latin typeface="Cambria Math" panose="02040503050406030204" charset="0"/>
                          <a:ea typeface="微软雅黑" panose="020B0503020204020204" pitchFamily="34" charset="-122"/>
                          <a:cs typeface="微软雅黑" panose="020B0503020204020204" pitchFamily="34" charset="-122"/>
                        </a:rPr>
                        <m:t>+</m:t>
                      </m:r>
                      <m:r>
                        <a:rPr lang="en-US" altLang="zh-CN" sz="2400" i="1" dirty="0">
                          <a:latin typeface="Cambria Math" panose="02040503050406030204" charset="0"/>
                          <a:ea typeface="Cambria Math" panose="02040503050406030204" charset="0"/>
                          <a:cs typeface="Cambria Math" panose="02040503050406030204" charset="0"/>
                        </a:rPr>
                        <m:t>𝛾</m:t>
                      </m:r>
                      <m:r>
                        <a:rPr lang="en-US" altLang="zh-CN" sz="2400" i="1" baseline="-25000" dirty="0">
                          <a:latin typeface="Cambria Math" panose="02040503050406030204" charset="0"/>
                          <a:ea typeface="微软雅黑" panose="020B0503020204020204" pitchFamily="34" charset="-122"/>
                          <a:cs typeface="微软雅黑" panose="020B0503020204020204" pitchFamily="34" charset="-122"/>
                        </a:rPr>
                        <m:t>32</m:t>
                      </m:r>
                      <m:r>
                        <a:rPr lang="en-US" altLang="zh-CN" sz="2400" i="1" dirty="0">
                          <a:latin typeface="Cambria Math" panose="02040503050406030204" charset="0"/>
                          <a:ea typeface="微软雅黑" panose="020B0503020204020204" pitchFamily="34" charset="-122"/>
                          <a:cs typeface="微软雅黑" panose="020B0503020204020204" pitchFamily="34" charset="-122"/>
                        </a:rPr>
                        <m:t>𝑣</m:t>
                      </m:r>
                      <m:r>
                        <a:rPr lang="en-US" altLang="zh-CN" sz="2400" i="1" baseline="-25000" dirty="0">
                          <a:latin typeface="Cambria Math" panose="02040503050406030204" charset="0"/>
                          <a:ea typeface="微软雅黑" panose="020B0503020204020204" pitchFamily="34" charset="-122"/>
                          <a:cs typeface="微软雅黑" panose="020B0503020204020204" pitchFamily="34" charset="-122"/>
                        </a:rPr>
                        <m:t>2</m:t>
                      </m:r>
                      <m:r>
                        <a:rPr lang="en-US" altLang="zh-CN" sz="2400" i="1" dirty="0">
                          <a:latin typeface="Cambria Math" panose="02040503050406030204" charset="0"/>
                          <a:ea typeface="微软雅黑" panose="020B0503020204020204" pitchFamily="34" charset="-122"/>
                          <a:cs typeface="微软雅黑" panose="020B0503020204020204" pitchFamily="34" charset="-122"/>
                        </a:rPr>
                        <m:t>+</m:t>
                      </m:r>
                      <m:r>
                        <a:rPr lang="en-US" altLang="zh-CN" sz="2400" i="1" dirty="0">
                          <a:latin typeface="Cambria Math" panose="02040503050406030204" charset="0"/>
                          <a:ea typeface="Cambria Math" panose="02040503050406030204" charset="0"/>
                          <a:cs typeface="Cambria Math" panose="02040503050406030204" charset="0"/>
                        </a:rPr>
                        <m:t>𝛾</m:t>
                      </m:r>
                      <m:r>
                        <a:rPr lang="en-US" altLang="zh-CN" sz="2400" i="1" baseline="-25000" dirty="0">
                          <a:latin typeface="Cambria Math" panose="02040503050406030204" charset="0"/>
                          <a:ea typeface="微软雅黑" panose="020B0503020204020204" pitchFamily="34" charset="-122"/>
                          <a:cs typeface="微软雅黑" panose="020B0503020204020204" pitchFamily="34" charset="-122"/>
                        </a:rPr>
                        <m:t>33</m:t>
                      </m:r>
                      <m:r>
                        <a:rPr lang="en-US" altLang="zh-CN" sz="2400" i="1" dirty="0">
                          <a:latin typeface="Cambria Math" panose="02040503050406030204" charset="0"/>
                          <a:ea typeface="微软雅黑" panose="020B0503020204020204" pitchFamily="34" charset="-122"/>
                          <a:cs typeface="微软雅黑" panose="020B0503020204020204" pitchFamily="34" charset="-122"/>
                        </a:rPr>
                        <m:t>𝑣</m:t>
                      </m:r>
                      <m:r>
                        <a:rPr lang="en-US" altLang="zh-CN" sz="2400" i="1" baseline="-25000" dirty="0">
                          <a:latin typeface="Cambria Math" panose="02040503050406030204" charset="0"/>
                          <a:ea typeface="微软雅黑" panose="020B0503020204020204" pitchFamily="34" charset="-122"/>
                          <a:cs typeface="微软雅黑" panose="020B0503020204020204" pitchFamily="34" charset="-122"/>
                        </a:rPr>
                        <m:t>3</m:t>
                      </m:r>
                    </m:oMath>
                  </m:oMathPara>
                </a14:m>
                <a:endParaRPr lang="en-US" altLang="zh-CN" sz="2400" i="1" baseline="-25000" dirty="0">
                  <a:latin typeface="Cambria Math" panose="02040503050406030204" charset="0"/>
                  <a:ea typeface="微软雅黑" panose="020B0503020204020204" pitchFamily="34" charset="-122"/>
                  <a:cs typeface="微软雅黑" panose="020B0503020204020204" pitchFamily="34" charset="-122"/>
                </a:endParaRPr>
              </a:p>
              <a:p>
                <a:pPr>
                  <a:spcBef>
                    <a:spcPts val="600"/>
                  </a:spcBef>
                </a:pPr>
                <a14:m>
                  <m:oMathPara xmlns:m="http://schemas.openxmlformats.org/officeDocument/2006/math">
                    <m:oMathParaPr>
                      <m:jc m:val="left"/>
                    </m:oMathParaPr>
                    <m:oMath xmlns:m="http://schemas.openxmlformats.org/officeDocument/2006/math">
                      <m:r>
                        <a:rPr kumimoji="0" lang="en-US" altLang="zh-CN" sz="2400" b="0" i="1" u="none" strike="noStrike" kern="1200" cap="none" spc="0" normalizeH="0" baseline="0" noProof="0" dirty="0" smtClean="0">
                          <a:ln>
                            <a:noFill/>
                          </a:ln>
                          <a:solidFill>
                            <a:srgbClr val="0000FF"/>
                          </a:solidFill>
                          <a:effectLst/>
                          <a:uLnTx/>
                          <a:uFillTx/>
                          <a:latin typeface="Cambria Math" panose="02040503050406030204" charset="0"/>
                          <a:ea typeface="微软雅黑" panose="020B0503020204020204" pitchFamily="34" charset="-122"/>
                          <a:cs typeface="微软雅黑" panose="020B0503020204020204" pitchFamily="34" charset="-122"/>
                        </a:rPr>
                        <m:t>𝑄</m:t>
                      </m:r>
                      <m:r>
                        <a:rPr kumimoji="0" lang="en-US" altLang="zh-CN" sz="2400" b="0" i="1" u="none" strike="noStrike" kern="1200" cap="none" spc="0" normalizeH="0" baseline="-25000" noProof="0" dirty="0" smtClean="0">
                          <a:ln>
                            <a:noFill/>
                          </a:ln>
                          <a:solidFill>
                            <a:srgbClr val="0000FF"/>
                          </a:solidFill>
                          <a:effectLst/>
                          <a:uLnTx/>
                          <a:uFillTx/>
                          <a:latin typeface="Cambria Math" panose="02040503050406030204" charset="0"/>
                          <a:ea typeface="微软雅黑" panose="020B0503020204020204" pitchFamily="34" charset="-122"/>
                          <a:cs typeface="微软雅黑" panose="020B0503020204020204" pitchFamily="34" charset="-122"/>
                        </a:rPr>
                        <m:t>0 </m:t>
                      </m:r>
                      <m:r>
                        <a:rPr kumimoji="0" lang="en-US" altLang="zh-CN" sz="2400" b="0" i="1" u="none" strike="noStrike" kern="1200" cap="none" spc="0" normalizeH="0" baseline="0" noProof="0" dirty="0" smtClean="0">
                          <a:ln>
                            <a:noFill/>
                          </a:ln>
                          <a:solidFill>
                            <a:srgbClr val="0000FF"/>
                          </a:solidFill>
                          <a:effectLst/>
                          <a:uLnTx/>
                          <a:uFillTx/>
                          <a:latin typeface="Cambria Math" panose="02040503050406030204" charset="0"/>
                          <a:ea typeface="微软雅黑" panose="020B0503020204020204" pitchFamily="34" charset="-122"/>
                          <a:cs typeface="微软雅黑" panose="020B0503020204020204" pitchFamily="34" charset="-122"/>
                        </a:rPr>
                        <m:t>=</m:t>
                      </m:r>
                      <m:r>
                        <a:rPr lang="en-US" altLang="zh-CN" sz="2400" i="1" dirty="0">
                          <a:solidFill>
                            <a:srgbClr val="0000FF"/>
                          </a:solidFill>
                          <a:latin typeface="Cambria Math" panose="02040503050406030204" charset="0"/>
                          <a:ea typeface="Cambria Math" panose="02040503050406030204" charset="0"/>
                          <a:cs typeface="Cambria Math" panose="02040503050406030204" charset="0"/>
                        </a:rPr>
                        <m:t>𝛾</m:t>
                      </m:r>
                      <m:r>
                        <a:rPr kumimoji="0" lang="en-US" altLang="zh-CN" sz="2400" b="0" i="1" u="none" strike="noStrike" kern="1200" cap="none" spc="0" normalizeH="0" baseline="-25000" noProof="0" dirty="0" smtClean="0">
                          <a:ln>
                            <a:noFill/>
                          </a:ln>
                          <a:solidFill>
                            <a:srgbClr val="0000FF"/>
                          </a:solidFill>
                          <a:effectLst/>
                          <a:uLnTx/>
                          <a:uFillTx/>
                          <a:latin typeface="Cambria Math" panose="02040503050406030204" charset="0"/>
                          <a:ea typeface="微软雅黑" panose="020B0503020204020204" pitchFamily="34" charset="-122"/>
                          <a:cs typeface="微软雅黑" panose="020B0503020204020204" pitchFamily="34" charset="-122"/>
                        </a:rPr>
                        <m:t>41</m:t>
                      </m:r>
                      <m:r>
                        <a:rPr kumimoji="0" lang="en-US" altLang="zh-CN" sz="2400" b="0" i="1" u="none" strike="noStrike" kern="1200" cap="none" spc="0" normalizeH="0" baseline="0" noProof="0" dirty="0" smtClean="0">
                          <a:ln>
                            <a:noFill/>
                          </a:ln>
                          <a:solidFill>
                            <a:srgbClr val="0000FF"/>
                          </a:solidFill>
                          <a:effectLst/>
                          <a:uLnTx/>
                          <a:uFillTx/>
                          <a:latin typeface="Cambria Math" panose="02040503050406030204" charset="0"/>
                          <a:ea typeface="微软雅黑" panose="020B0503020204020204" pitchFamily="34" charset="-122"/>
                          <a:cs typeface="微软雅黑" panose="020B0503020204020204" pitchFamily="34" charset="-122"/>
                        </a:rPr>
                        <m:t>𝑣</m:t>
                      </m:r>
                      <m:r>
                        <a:rPr kumimoji="0" lang="en-US" altLang="zh-CN" sz="2400" b="0" i="1" u="none" strike="noStrike" kern="1200" cap="none" spc="0" normalizeH="0" baseline="-25000" noProof="0" dirty="0" smtClean="0">
                          <a:ln>
                            <a:noFill/>
                          </a:ln>
                          <a:solidFill>
                            <a:srgbClr val="0000FF"/>
                          </a:solidFill>
                          <a:effectLst/>
                          <a:uLnTx/>
                          <a:uFillTx/>
                          <a:latin typeface="Cambria Math" panose="02040503050406030204" charset="0"/>
                          <a:ea typeface="微软雅黑" panose="020B0503020204020204" pitchFamily="34" charset="-122"/>
                          <a:cs typeface="微软雅黑" panose="020B0503020204020204" pitchFamily="34" charset="-122"/>
                        </a:rPr>
                        <m:t>1</m:t>
                      </m:r>
                      <m:r>
                        <a:rPr kumimoji="0" lang="en-US" altLang="zh-CN" sz="2400" b="0" i="1" u="none" strike="noStrike" kern="1200" cap="none" spc="0" normalizeH="0" baseline="0" noProof="0" dirty="0" smtClean="0">
                          <a:ln>
                            <a:noFill/>
                          </a:ln>
                          <a:solidFill>
                            <a:srgbClr val="0000FF"/>
                          </a:solidFill>
                          <a:effectLst/>
                          <a:uLnTx/>
                          <a:uFillTx/>
                          <a:latin typeface="Cambria Math" panose="02040503050406030204" charset="0"/>
                          <a:ea typeface="微软雅黑" panose="020B0503020204020204" pitchFamily="34" charset="-122"/>
                          <a:cs typeface="微软雅黑" panose="020B0503020204020204" pitchFamily="34" charset="-122"/>
                        </a:rPr>
                        <m:t>+</m:t>
                      </m:r>
                      <m:r>
                        <a:rPr lang="en-US" altLang="zh-CN" sz="2400" i="1" dirty="0">
                          <a:solidFill>
                            <a:srgbClr val="0000FF"/>
                          </a:solidFill>
                          <a:latin typeface="Cambria Math" panose="02040503050406030204" charset="0"/>
                          <a:ea typeface="Cambria Math" panose="02040503050406030204" charset="0"/>
                          <a:cs typeface="Cambria Math" panose="02040503050406030204" charset="0"/>
                        </a:rPr>
                        <m:t>𝛾</m:t>
                      </m:r>
                      <m:r>
                        <a:rPr kumimoji="0" lang="en-US" altLang="zh-CN" sz="2400" b="0" i="1" u="none" strike="noStrike" kern="1200" cap="none" spc="0" normalizeH="0" baseline="-25000" noProof="0" dirty="0" smtClean="0">
                          <a:ln>
                            <a:noFill/>
                          </a:ln>
                          <a:solidFill>
                            <a:srgbClr val="0000FF"/>
                          </a:solidFill>
                          <a:effectLst/>
                          <a:uLnTx/>
                          <a:uFillTx/>
                          <a:latin typeface="Cambria Math" panose="02040503050406030204" charset="0"/>
                          <a:ea typeface="微软雅黑" panose="020B0503020204020204" pitchFamily="34" charset="-122"/>
                          <a:cs typeface="微软雅黑" panose="020B0503020204020204" pitchFamily="34" charset="-122"/>
                        </a:rPr>
                        <m:t>42</m:t>
                      </m:r>
                      <m:r>
                        <a:rPr kumimoji="0" lang="en-US" altLang="zh-CN" sz="2400" b="0" i="1" u="none" strike="noStrike" kern="1200" cap="none" spc="0" normalizeH="0" baseline="0" noProof="0" dirty="0" smtClean="0">
                          <a:ln>
                            <a:noFill/>
                          </a:ln>
                          <a:solidFill>
                            <a:srgbClr val="0000FF"/>
                          </a:solidFill>
                          <a:effectLst/>
                          <a:uLnTx/>
                          <a:uFillTx/>
                          <a:latin typeface="Cambria Math" panose="02040503050406030204" charset="0"/>
                          <a:ea typeface="微软雅黑" panose="020B0503020204020204" pitchFamily="34" charset="-122"/>
                          <a:cs typeface="微软雅黑" panose="020B0503020204020204" pitchFamily="34" charset="-122"/>
                        </a:rPr>
                        <m:t>𝑣</m:t>
                      </m:r>
                      <m:r>
                        <a:rPr kumimoji="0" lang="en-US" altLang="zh-CN" sz="2400" b="0" i="1" u="none" strike="noStrike" kern="1200" cap="none" spc="0" normalizeH="0" baseline="-25000" noProof="0" dirty="0" smtClean="0">
                          <a:ln>
                            <a:noFill/>
                          </a:ln>
                          <a:solidFill>
                            <a:srgbClr val="0000FF"/>
                          </a:solidFill>
                          <a:effectLst/>
                          <a:uLnTx/>
                          <a:uFillTx/>
                          <a:latin typeface="Cambria Math" panose="02040503050406030204" charset="0"/>
                          <a:ea typeface="微软雅黑" panose="020B0503020204020204" pitchFamily="34" charset="-122"/>
                          <a:cs typeface="微软雅黑" panose="020B0503020204020204" pitchFamily="34" charset="-122"/>
                        </a:rPr>
                        <m:t>2</m:t>
                      </m:r>
                      <m:r>
                        <a:rPr kumimoji="0" lang="en-US" altLang="zh-CN" sz="2400" b="0" i="1" u="none" strike="noStrike" kern="1200" cap="none" spc="0" normalizeH="0" baseline="0" noProof="0" dirty="0" smtClean="0">
                          <a:ln>
                            <a:noFill/>
                          </a:ln>
                          <a:solidFill>
                            <a:srgbClr val="0000FF"/>
                          </a:solidFill>
                          <a:effectLst/>
                          <a:uLnTx/>
                          <a:uFillTx/>
                          <a:latin typeface="Cambria Math" panose="02040503050406030204" charset="0"/>
                          <a:ea typeface="微软雅黑" panose="020B0503020204020204" pitchFamily="34" charset="-122"/>
                          <a:cs typeface="微软雅黑" panose="020B0503020204020204" pitchFamily="34" charset="-122"/>
                        </a:rPr>
                        <m:t>+</m:t>
                      </m:r>
                      <m:r>
                        <a:rPr lang="en-US" altLang="zh-CN" sz="2400" i="1" dirty="0">
                          <a:solidFill>
                            <a:srgbClr val="0000FF"/>
                          </a:solidFill>
                          <a:latin typeface="Cambria Math" panose="02040503050406030204" charset="0"/>
                          <a:ea typeface="Cambria Math" panose="02040503050406030204" charset="0"/>
                          <a:cs typeface="Cambria Math" panose="02040503050406030204" charset="0"/>
                        </a:rPr>
                        <m:t>𝛾</m:t>
                      </m:r>
                      <m:r>
                        <a:rPr kumimoji="0" lang="en-US" altLang="zh-CN" sz="2400" b="0" i="1" u="none" strike="noStrike" kern="1200" cap="none" spc="0" normalizeH="0" baseline="-25000" noProof="0" dirty="0" smtClean="0">
                          <a:ln>
                            <a:noFill/>
                          </a:ln>
                          <a:solidFill>
                            <a:srgbClr val="0000FF"/>
                          </a:solidFill>
                          <a:effectLst/>
                          <a:uLnTx/>
                          <a:uFillTx/>
                          <a:latin typeface="Cambria Math" panose="02040503050406030204" charset="0"/>
                          <a:ea typeface="微软雅黑" panose="020B0503020204020204" pitchFamily="34" charset="-122"/>
                          <a:cs typeface="微软雅黑" panose="020B0503020204020204" pitchFamily="34" charset="-122"/>
                        </a:rPr>
                        <m:t>43</m:t>
                      </m:r>
                      <m:r>
                        <a:rPr kumimoji="0" lang="en-US" altLang="zh-CN" sz="2400" b="0" i="1" u="none" strike="noStrike" kern="1200" cap="none" spc="0" normalizeH="0" baseline="0" noProof="0" dirty="0" smtClean="0">
                          <a:ln>
                            <a:noFill/>
                          </a:ln>
                          <a:solidFill>
                            <a:srgbClr val="0000FF"/>
                          </a:solidFill>
                          <a:effectLst/>
                          <a:uLnTx/>
                          <a:uFillTx/>
                          <a:latin typeface="Cambria Math" panose="02040503050406030204" charset="0"/>
                          <a:ea typeface="微软雅黑" panose="020B0503020204020204" pitchFamily="34" charset="-122"/>
                          <a:cs typeface="微软雅黑" panose="020B0503020204020204" pitchFamily="34" charset="-122"/>
                        </a:rPr>
                        <m:t>𝑣</m:t>
                      </m:r>
                      <m:r>
                        <a:rPr kumimoji="0" lang="en-US" altLang="zh-CN" sz="2400" b="0" i="1" u="none" strike="noStrike" kern="1200" cap="none" spc="0" normalizeH="0" baseline="-25000" noProof="0" dirty="0" smtClean="0">
                          <a:ln>
                            <a:noFill/>
                          </a:ln>
                          <a:solidFill>
                            <a:srgbClr val="0000FF"/>
                          </a:solidFill>
                          <a:effectLst/>
                          <a:uLnTx/>
                          <a:uFillTx/>
                          <a:latin typeface="Cambria Math" panose="02040503050406030204" charset="0"/>
                          <a:ea typeface="微软雅黑" panose="020B0503020204020204" pitchFamily="34" charset="-122"/>
                          <a:cs typeface="微软雅黑" panose="020B0503020204020204" pitchFamily="34" charset="-122"/>
                        </a:rPr>
                        <m:t>3 </m:t>
                      </m:r>
                      <m:r>
                        <a:rPr kumimoji="0" lang="en-US" altLang="zh-CN" sz="2400" b="0" i="1" u="none" strike="noStrike" kern="1200" cap="none" spc="0" normalizeH="0" baseline="0" noProof="0" dirty="0" smtClean="0">
                          <a:ln>
                            <a:noFill/>
                          </a:ln>
                          <a:solidFill>
                            <a:srgbClr val="0000FF"/>
                          </a:solidFill>
                          <a:effectLst/>
                          <a:uLnTx/>
                          <a:uFillTx/>
                          <a:latin typeface="Cambria Math" panose="02040503050406030204" charset="0"/>
                          <a:ea typeface="微软雅黑" panose="020B0503020204020204" pitchFamily="34" charset="-122"/>
                          <a:cs typeface="微软雅黑" panose="020B0503020204020204" pitchFamily="34" charset="-122"/>
                        </a:rPr>
                        <m:t>+</m:t>
                      </m:r>
                      <m:r>
                        <a:rPr kumimoji="0" lang="en-US" altLang="zh-CN" sz="2400" b="0" i="1" u="none" strike="noStrike" kern="1200" cap="none" spc="0" normalizeH="0" baseline="0" noProof="0" dirty="0" smtClean="0">
                          <a:ln>
                            <a:noFill/>
                          </a:ln>
                          <a:solidFill>
                            <a:srgbClr val="0000FF"/>
                          </a:solidFill>
                          <a:effectLst/>
                          <a:uLnTx/>
                          <a:uFillTx/>
                          <a:latin typeface="Cambria Math" panose="02040503050406030204" charset="0"/>
                          <a:ea typeface="微软雅黑" panose="020B0503020204020204" pitchFamily="34" charset="-122"/>
                          <a:cs typeface="微软雅黑" panose="020B0503020204020204" pitchFamily="34" charset="-122"/>
                        </a:rPr>
                        <m:t>𝑃</m:t>
                      </m:r>
                      <m:r>
                        <a:rPr kumimoji="0" lang="en-US" altLang="zh-CN" sz="2400" b="0" i="1" u="none" strike="noStrike" kern="1200" cap="none" spc="0" normalizeH="0" baseline="-25000" noProof="0" dirty="0" smtClean="0">
                          <a:ln>
                            <a:noFill/>
                          </a:ln>
                          <a:solidFill>
                            <a:srgbClr val="0000FF"/>
                          </a:solidFill>
                          <a:effectLst/>
                          <a:uLnTx/>
                          <a:uFillTx/>
                          <a:latin typeface="Cambria Math" panose="02040503050406030204" charset="0"/>
                          <a:ea typeface="微软雅黑" panose="020B0503020204020204" pitchFamily="34" charset="-122"/>
                          <a:cs typeface="微软雅黑" panose="020B0503020204020204" pitchFamily="34" charset="-122"/>
                        </a:rPr>
                        <m:t>0</m:t>
                      </m:r>
                    </m:oMath>
                  </m:oMathPara>
                </a14:m>
                <a:endParaRPr kumimoji="0" lang="en-US" altLang="zh-CN" sz="2400" b="0" i="0" u="none" strike="noStrike" kern="1200" cap="none" spc="0" normalizeH="0" baseline="-25000" noProof="0" dirty="0">
                  <a:ln>
                    <a:noFill/>
                  </a:ln>
                  <a:solidFill>
                    <a:srgbClr val="0000FF"/>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228600" marR="0" lvl="0" indent="-360045" defTabSz="914400" rtl="0" eaLnBrk="1" fontAlgn="auto" latinLnBrk="0" hangingPunct="1">
                  <a:lnSpc>
                    <a:spcPct val="90000"/>
                  </a:lnSpc>
                  <a:spcBef>
                    <a:spcPts val="600"/>
                  </a:spcBef>
                  <a:spcAft>
                    <a:spcPts val="0"/>
                  </a:spcAft>
                  <a:buClr>
                    <a:srgbClr val="94003F"/>
                  </a:buClr>
                  <a:buSzPct val="70000"/>
                  <a:buFontTx/>
                  <a:buNone/>
                  <a:defRPr/>
                </a:pPr>
                <a:endParaRPr kumimoji="0" lang="en-US" altLang="zh-CN" sz="2400" b="0" i="0" u="none" strike="noStrike" kern="1200" cap="none" spc="0" normalizeH="0" baseline="-250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mc:Choice>
        <mc:Fallback xmlns="">
          <p:sp>
            <p:nvSpPr>
              <p:cNvPr id="16" name="Text Box 1029"/>
              <p:cNvSpPr txBox="1">
                <a:spLocks noRot="1" noChangeAspect="1" noMove="1" noResize="1" noEditPoints="1" noAdjustHandles="1" noChangeArrowheads="1" noChangeShapeType="1" noTextEdit="1"/>
              </p:cNvSpPr>
              <p:nvPr/>
            </p:nvSpPr>
            <p:spPr>
              <a:xfrm>
                <a:off x="4465336" y="3528011"/>
                <a:ext cx="4399126" cy="1676400"/>
              </a:xfrm>
              <a:prstGeom prst="rect">
                <a:avLst/>
              </a:prstGeom>
              <a:blipFill rotWithShape="1">
                <a:blip r:embed="rId7"/>
                <a:stretch>
                  <a:fillRect t="-35" r="11" b="-1087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Text Box 4"/>
              <p:cNvSpPr txBox="1">
                <a:spLocks noChangeArrowheads="1"/>
              </p:cNvSpPr>
              <p:nvPr/>
            </p:nvSpPr>
            <p:spPr bwMode="auto">
              <a:xfrm>
                <a:off x="4034016" y="5184889"/>
                <a:ext cx="4655890" cy="1606081"/>
              </a:xfrm>
              <a:prstGeom prst="rect">
                <a:avLst/>
              </a:prstGeom>
              <a:noFill/>
              <a:ln w="12700">
                <a:noFill/>
                <a:miter lim="800000"/>
                <a:headEnd type="none" w="sm" len="sm"/>
                <a:tailEnd type="none" w="sm" len="sm"/>
              </a:ln>
            </p:spPr>
            <p:txBody>
              <a:bodyPr wrap="square" anchorCtr="1">
                <a:spAutoFit/>
              </a:bodyPr>
              <a:lstStyle/>
              <a:p>
                <a:pPr/>
                <a14:m>
                  <m:oMathPara xmlns:m="http://schemas.openxmlformats.org/officeDocument/2006/math">
                    <m:oMathParaPr>
                      <m:jc m:val="centerGroup"/>
                    </m:oMathParaPr>
                    <m:oMath xmlns:m="http://schemas.openxmlformats.org/officeDocument/2006/math">
                      <m:r>
                        <a:rPr lang="en-US" altLang="zh-CN" sz="2800" b="0" i="1" dirty="0" smtClean="0">
                          <a:latin typeface="Cambria Math" panose="02040503050406030204" charset="0"/>
                          <a:ea typeface="微软雅黑" panose="020B0503020204020204" pitchFamily="34" charset="-122"/>
                          <a:cs typeface="微软雅黑" panose="020B0503020204020204" pitchFamily="34" charset="-122"/>
                        </a:rPr>
                        <m:t>𝑀</m:t>
                      </m:r>
                      <m:r>
                        <a:rPr lang="en-US" altLang="zh-CN" sz="2800" b="0" i="1" dirty="0" smtClean="0">
                          <a:latin typeface="Cambria Math" panose="02040503050406030204" charset="0"/>
                          <a:ea typeface="微软雅黑" panose="020B0503020204020204" pitchFamily="34" charset="-122"/>
                          <a:cs typeface="微软雅黑" panose="020B0503020204020204" pitchFamily="34" charset="-122"/>
                        </a:rPr>
                        <m:t>=</m:t>
                      </m:r>
                      <m:d>
                        <m:dPr>
                          <m:begChr m:val="["/>
                          <m:endChr m:val="]"/>
                          <m:ctrlPr>
                            <a:rPr lang="pt-BR" altLang="zh-CN" sz="2800" b="0" i="1" dirty="0" smtClean="0">
                              <a:latin typeface="Cambria Math" panose="02040503050406030204" pitchFamily="18" charset="0"/>
                              <a:ea typeface="微软雅黑" panose="020B0503020204020204" pitchFamily="34" charset="-122"/>
                              <a:cs typeface="微软雅黑" panose="020B0503020204020204" pitchFamily="34" charset="-122"/>
                            </a:rPr>
                          </m:ctrlPr>
                        </m:dPr>
                        <m:e>
                          <m:m>
                            <m:mPr>
                              <m:mcs>
                                <m:mc>
                                  <m:mcPr>
                                    <m:count m:val="2"/>
                                    <m:mcJc m:val="center"/>
                                  </m:mcPr>
                                </m:mc>
                              </m:mcs>
                              <m:ctrlPr>
                                <a:rPr lang="uk-UA" altLang="zh-CN" sz="2800" b="0" i="1" dirty="0" smtClean="0">
                                  <a:latin typeface="Cambria Math" panose="02040503050406030204" pitchFamily="18" charset="0"/>
                                  <a:ea typeface="微软雅黑" panose="020B0503020204020204" pitchFamily="34" charset="-122"/>
                                  <a:cs typeface="微软雅黑" panose="020B0503020204020204" pitchFamily="34" charset="-122"/>
                                </a:rPr>
                              </m:ctrlPr>
                            </m:mPr>
                            <m:mr>
                              <m:e>
                                <m:m>
                                  <m:mPr>
                                    <m:mcs>
                                      <m:mc>
                                        <m:mcPr>
                                          <m:count m:val="3"/>
                                          <m:mcJc m:val="center"/>
                                        </m:mcPr>
                                      </m:mc>
                                    </m:mcs>
                                    <m:ctrlPr>
                                      <a:rPr lang="uk-UA" altLang="zh-CN" sz="2800" i="1" dirty="0">
                                        <a:latin typeface="Cambria Math" panose="02040503050406030204" pitchFamily="18" charset="0"/>
                                        <a:ea typeface="微软雅黑" panose="020B0503020204020204" pitchFamily="34" charset="-122"/>
                                        <a:cs typeface="微软雅黑" panose="020B0503020204020204" pitchFamily="34" charset="-122"/>
                                      </a:rPr>
                                    </m:ctrlPr>
                                  </m:mPr>
                                  <m:mr>
                                    <m:e>
                                      <m:r>
                                        <a:rPr lang="en-US" altLang="zh-CN" sz="2800" i="1" dirty="0">
                                          <a:latin typeface="Cambria Math" panose="02040503050406030204" charset="0"/>
                                          <a:ea typeface="Cambria Math" panose="02040503050406030204" charset="0"/>
                                          <a:cs typeface="Cambria Math" panose="02040503050406030204" charset="0"/>
                                        </a:rPr>
                                        <m:t>𝛾</m:t>
                                      </m:r>
                                      <m:r>
                                        <a:rPr lang="en-US" altLang="zh-CN" sz="2800" i="1" baseline="-25000" dirty="0">
                                          <a:latin typeface="Cambria Math" panose="02040503050406030204" charset="0"/>
                                          <a:ea typeface="微软雅黑" panose="020B0503020204020204" pitchFamily="34" charset="-122"/>
                                          <a:cs typeface="微软雅黑" panose="020B0503020204020204" pitchFamily="34" charset="-122"/>
                                        </a:rPr>
                                        <m:t>11</m:t>
                                      </m:r>
                                    </m:e>
                                    <m:e>
                                      <m:r>
                                        <a:rPr lang="en-US" altLang="zh-CN" sz="2800" i="1" dirty="0">
                                          <a:latin typeface="Cambria Math" panose="02040503050406030204" charset="0"/>
                                          <a:ea typeface="Cambria Math" panose="02040503050406030204" charset="0"/>
                                          <a:cs typeface="Cambria Math" panose="02040503050406030204" charset="0"/>
                                        </a:rPr>
                                        <m:t>𝛾</m:t>
                                      </m:r>
                                      <m:r>
                                        <a:rPr lang="en-US" altLang="zh-CN" sz="2800" i="1" baseline="-25000" dirty="0">
                                          <a:latin typeface="Cambria Math" panose="02040503050406030204" charset="0"/>
                                          <a:ea typeface="微软雅黑" panose="020B0503020204020204" pitchFamily="34" charset="-122"/>
                                          <a:cs typeface="微软雅黑" panose="020B0503020204020204" pitchFamily="34" charset="-122"/>
                                        </a:rPr>
                                        <m:t>12</m:t>
                                      </m:r>
                                    </m:e>
                                    <m:e>
                                      <m:r>
                                        <a:rPr lang="en-US" altLang="zh-CN" sz="2800" i="1" dirty="0">
                                          <a:latin typeface="Cambria Math" panose="02040503050406030204" charset="0"/>
                                          <a:ea typeface="Cambria Math" panose="02040503050406030204" charset="0"/>
                                          <a:cs typeface="Cambria Math" panose="02040503050406030204" charset="0"/>
                                        </a:rPr>
                                        <m:t>𝛾</m:t>
                                      </m:r>
                                      <m:r>
                                        <a:rPr lang="en-US" altLang="zh-CN" sz="2800" i="1" baseline="-25000" dirty="0">
                                          <a:latin typeface="Cambria Math" panose="02040503050406030204" charset="0"/>
                                          <a:ea typeface="微软雅黑" panose="020B0503020204020204" pitchFamily="34" charset="-122"/>
                                          <a:cs typeface="微软雅黑" panose="020B0503020204020204" pitchFamily="34" charset="-122"/>
                                        </a:rPr>
                                        <m:t>13</m:t>
                                      </m:r>
                                    </m:e>
                                  </m:mr>
                                  <m:mr>
                                    <m:e>
                                      <m:r>
                                        <a:rPr lang="en-US" altLang="zh-CN" sz="2800" i="1" dirty="0">
                                          <a:latin typeface="Cambria Math" panose="02040503050406030204" charset="0"/>
                                          <a:ea typeface="Cambria Math" panose="02040503050406030204" charset="0"/>
                                          <a:cs typeface="Cambria Math" panose="02040503050406030204" charset="0"/>
                                        </a:rPr>
                                        <m:t>𝛾</m:t>
                                      </m:r>
                                      <m:r>
                                        <a:rPr lang="en-US" altLang="zh-CN" sz="2800" i="1" baseline="-25000" dirty="0">
                                          <a:latin typeface="Cambria Math" panose="02040503050406030204" charset="0"/>
                                          <a:ea typeface="微软雅黑" panose="020B0503020204020204" pitchFamily="34" charset="-122"/>
                                          <a:cs typeface="微软雅黑" panose="020B0503020204020204" pitchFamily="34" charset="-122"/>
                                        </a:rPr>
                                        <m:t>21</m:t>
                                      </m:r>
                                    </m:e>
                                    <m:e>
                                      <m:sSub>
                                        <m:sSubPr>
                                          <m:ctrlPr>
                                            <a:rPr lang="en-US" altLang="zh-CN" sz="2800" i="1" dirty="0">
                                              <a:latin typeface="Cambria Math" panose="02040503050406030204" pitchFamily="18" charset="0"/>
                                              <a:ea typeface="Cambria Math" panose="02040503050406030204" charset="0"/>
                                              <a:cs typeface="Cambria Math" panose="02040503050406030204" charset="0"/>
                                            </a:rPr>
                                          </m:ctrlPr>
                                        </m:sSubPr>
                                        <m:e>
                                          <m:r>
                                            <a:rPr lang="en-US" altLang="zh-CN" sz="2800" i="1" dirty="0">
                                              <a:latin typeface="Cambria Math" panose="02040503050406030204" charset="0"/>
                                              <a:ea typeface="Cambria Math" panose="02040503050406030204" charset="0"/>
                                              <a:cs typeface="Cambria Math" panose="02040503050406030204" charset="0"/>
                                            </a:rPr>
                                            <m:t>𝛾</m:t>
                                          </m:r>
                                        </m:e>
                                        <m:sub>
                                          <m:r>
                                            <a:rPr lang="en-US" altLang="zh-CN" sz="2800" i="1" dirty="0">
                                              <a:latin typeface="Cambria Math" panose="02040503050406030204" charset="0"/>
                                              <a:ea typeface="Cambria Math" panose="02040503050406030204" charset="0"/>
                                              <a:cs typeface="Cambria Math" panose="02040503050406030204" charset="0"/>
                                            </a:rPr>
                                            <m:t>22</m:t>
                                          </m:r>
                                        </m:sub>
                                      </m:sSub>
                                    </m:e>
                                    <m:e>
                                      <m:r>
                                        <a:rPr lang="en-US" altLang="zh-CN" sz="2800" i="1" dirty="0">
                                          <a:latin typeface="Cambria Math" panose="02040503050406030204" charset="0"/>
                                          <a:ea typeface="Cambria Math" panose="02040503050406030204" charset="0"/>
                                          <a:cs typeface="Cambria Math" panose="02040503050406030204" charset="0"/>
                                        </a:rPr>
                                        <m:t>𝛾</m:t>
                                      </m:r>
                                      <m:r>
                                        <a:rPr lang="en-US" altLang="zh-CN" sz="2800" i="1" baseline="-25000" dirty="0">
                                          <a:latin typeface="Cambria Math" panose="02040503050406030204" charset="0"/>
                                          <a:ea typeface="微软雅黑" panose="020B0503020204020204" pitchFamily="34" charset="-122"/>
                                          <a:cs typeface="微软雅黑" panose="020B0503020204020204" pitchFamily="34" charset="-122"/>
                                        </a:rPr>
                                        <m:t>23</m:t>
                                      </m:r>
                                    </m:e>
                                  </m:mr>
                                  <m:mr>
                                    <m:e>
                                      <m:r>
                                        <a:rPr lang="en-US" altLang="zh-CN" sz="2800" i="1" dirty="0">
                                          <a:latin typeface="Cambria Math" panose="02040503050406030204" charset="0"/>
                                          <a:ea typeface="Cambria Math" panose="02040503050406030204" charset="0"/>
                                          <a:cs typeface="Cambria Math" panose="02040503050406030204" charset="0"/>
                                        </a:rPr>
                                        <m:t>𝛾</m:t>
                                      </m:r>
                                      <m:r>
                                        <a:rPr lang="en-US" altLang="zh-CN" sz="2800" i="1" baseline="-25000" dirty="0">
                                          <a:latin typeface="Cambria Math" panose="02040503050406030204" charset="0"/>
                                          <a:ea typeface="微软雅黑" panose="020B0503020204020204" pitchFamily="34" charset="-122"/>
                                          <a:cs typeface="微软雅黑" panose="020B0503020204020204" pitchFamily="34" charset="-122"/>
                                        </a:rPr>
                                        <m:t>31</m:t>
                                      </m:r>
                                    </m:e>
                                    <m:e>
                                      <m:r>
                                        <a:rPr lang="en-US" altLang="zh-CN" sz="2800" i="1" dirty="0">
                                          <a:latin typeface="Cambria Math" panose="02040503050406030204" charset="0"/>
                                          <a:ea typeface="Cambria Math" panose="02040503050406030204" charset="0"/>
                                          <a:cs typeface="Cambria Math" panose="02040503050406030204" charset="0"/>
                                        </a:rPr>
                                        <m:t>𝛾</m:t>
                                      </m:r>
                                      <m:r>
                                        <a:rPr lang="en-US" altLang="zh-CN" sz="2800" i="1" baseline="-25000" dirty="0">
                                          <a:latin typeface="Cambria Math" panose="02040503050406030204" charset="0"/>
                                          <a:ea typeface="微软雅黑" panose="020B0503020204020204" pitchFamily="34" charset="-122"/>
                                          <a:cs typeface="微软雅黑" panose="020B0503020204020204" pitchFamily="34" charset="-122"/>
                                        </a:rPr>
                                        <m:t>32</m:t>
                                      </m:r>
                                    </m:e>
                                    <m:e>
                                      <m:r>
                                        <a:rPr lang="en-US" altLang="zh-CN" sz="2800" i="1" dirty="0">
                                          <a:latin typeface="Cambria Math" panose="02040503050406030204" charset="0"/>
                                          <a:ea typeface="Cambria Math" panose="02040503050406030204" charset="0"/>
                                          <a:cs typeface="Cambria Math" panose="02040503050406030204" charset="0"/>
                                        </a:rPr>
                                        <m:t>𝛾</m:t>
                                      </m:r>
                                      <m:r>
                                        <a:rPr lang="en-US" altLang="zh-CN" sz="2800" i="1" baseline="-25000" dirty="0">
                                          <a:latin typeface="Cambria Math" panose="02040503050406030204" charset="0"/>
                                          <a:ea typeface="微软雅黑" panose="020B0503020204020204" pitchFamily="34" charset="-122"/>
                                          <a:cs typeface="微软雅黑" panose="020B0503020204020204" pitchFamily="34" charset="-122"/>
                                        </a:rPr>
                                        <m:t>33</m:t>
                                      </m:r>
                                    </m:e>
                                  </m:mr>
                                </m:m>
                              </m:e>
                              <m:e>
                                <m:m>
                                  <m:mPr>
                                    <m:mcs>
                                      <m:mc>
                                        <m:mcPr>
                                          <m:count m:val="1"/>
                                          <m:mcJc m:val="center"/>
                                        </m:mcPr>
                                      </m:mc>
                                    </m:mcs>
                                    <m:ctrlPr>
                                      <a:rPr lang="cs-CZ" altLang="zh-CN" sz="2800" b="0" i="1" dirty="0" smtClean="0">
                                        <a:solidFill>
                                          <a:srgbClr val="0000FF"/>
                                        </a:solidFill>
                                        <a:latin typeface="Cambria Math" panose="02040503050406030204" pitchFamily="18" charset="0"/>
                                        <a:ea typeface="微软雅黑" panose="020B0503020204020204" pitchFamily="34" charset="-122"/>
                                        <a:cs typeface="微软雅黑" panose="020B0503020204020204" pitchFamily="34" charset="-122"/>
                                      </a:rPr>
                                    </m:ctrlPr>
                                  </m:mPr>
                                  <m:mr>
                                    <m:e>
                                      <m:r>
                                        <m:rPr>
                                          <m:brk m:alnAt="7"/>
                                        </m:rPr>
                                        <a:rPr lang="en-US" altLang="zh-CN" sz="2800" b="0" i="1" dirty="0" smtClean="0">
                                          <a:solidFill>
                                            <a:srgbClr val="0000FF"/>
                                          </a:solidFill>
                                          <a:latin typeface="Cambria Math" panose="02040503050406030204" charset="0"/>
                                          <a:ea typeface="微软雅黑" panose="020B0503020204020204" pitchFamily="34" charset="-122"/>
                                          <a:cs typeface="微软雅黑" panose="020B0503020204020204" pitchFamily="34" charset="-122"/>
                                        </a:rPr>
                                        <m:t>0</m:t>
                                      </m:r>
                                    </m:e>
                                  </m:mr>
                                  <m:mr>
                                    <m:e>
                                      <m:r>
                                        <a:rPr lang="en-US" altLang="zh-CN" sz="2800" b="0" i="1" dirty="0" smtClean="0">
                                          <a:solidFill>
                                            <a:srgbClr val="0000FF"/>
                                          </a:solidFill>
                                          <a:latin typeface="Cambria Math" panose="02040503050406030204" charset="0"/>
                                          <a:ea typeface="微软雅黑" panose="020B0503020204020204" pitchFamily="34" charset="-122"/>
                                          <a:cs typeface="微软雅黑" panose="020B0503020204020204" pitchFamily="34" charset="-122"/>
                                        </a:rPr>
                                        <m:t>0</m:t>
                                      </m:r>
                                    </m:e>
                                  </m:mr>
                                  <m:mr>
                                    <m:e>
                                      <m:r>
                                        <a:rPr lang="en-US" altLang="zh-CN" sz="2800" b="0" i="1" dirty="0" smtClean="0">
                                          <a:solidFill>
                                            <a:srgbClr val="0000FF"/>
                                          </a:solidFill>
                                          <a:latin typeface="Cambria Math" panose="02040503050406030204" charset="0"/>
                                          <a:ea typeface="微软雅黑" panose="020B0503020204020204" pitchFamily="34" charset="-122"/>
                                          <a:cs typeface="微软雅黑" panose="020B0503020204020204" pitchFamily="34" charset="-122"/>
                                        </a:rPr>
                                        <m:t>0</m:t>
                                      </m:r>
                                    </m:e>
                                  </m:mr>
                                </m:m>
                              </m:e>
                            </m:mr>
                            <m:mr>
                              <m:e>
                                <m:m>
                                  <m:mPr>
                                    <m:mcs>
                                      <m:mc>
                                        <m:mcPr>
                                          <m:count m:val="3"/>
                                          <m:mcJc m:val="center"/>
                                        </m:mcPr>
                                      </m:mc>
                                    </m:mcs>
                                    <m:ctrlPr>
                                      <a:rPr lang="uk-UA" altLang="zh-CN" sz="2800" b="0" i="1" dirty="0" smtClean="0">
                                        <a:latin typeface="Cambria Math" panose="02040503050406030204" pitchFamily="18" charset="0"/>
                                        <a:ea typeface="微软雅黑" panose="020B0503020204020204" pitchFamily="34" charset="-122"/>
                                        <a:cs typeface="微软雅黑" panose="020B0503020204020204" pitchFamily="34" charset="-122"/>
                                      </a:rPr>
                                    </m:ctrlPr>
                                  </m:mPr>
                                  <m:mr>
                                    <m:e>
                                      <m:r>
                                        <a:rPr lang="en-US" altLang="zh-CN" sz="2800" i="1" dirty="0" smtClean="0">
                                          <a:solidFill>
                                            <a:srgbClr val="0000FF"/>
                                          </a:solidFill>
                                          <a:latin typeface="Cambria Math" panose="02040503050406030204" charset="0"/>
                                          <a:ea typeface="Cambria Math" panose="02040503050406030204" charset="0"/>
                                          <a:cs typeface="Cambria Math" panose="02040503050406030204" charset="0"/>
                                        </a:rPr>
                                        <m:t>𝛾</m:t>
                                      </m:r>
                                      <m:r>
                                        <a:rPr lang="en-US" altLang="zh-CN" sz="2800" b="0" i="1" baseline="-25000" dirty="0" smtClean="0">
                                          <a:solidFill>
                                            <a:srgbClr val="0000FF"/>
                                          </a:solidFill>
                                          <a:latin typeface="Cambria Math" panose="02040503050406030204" charset="0"/>
                                          <a:ea typeface="微软雅黑" panose="020B0503020204020204" pitchFamily="34" charset="-122"/>
                                          <a:cs typeface="微软雅黑" panose="020B0503020204020204" pitchFamily="34" charset="-122"/>
                                        </a:rPr>
                                        <m:t>4</m:t>
                                      </m:r>
                                      <m:r>
                                        <a:rPr lang="en-US" altLang="zh-CN" sz="2800" i="1" baseline="-25000" dirty="0">
                                          <a:solidFill>
                                            <a:srgbClr val="0000FF"/>
                                          </a:solidFill>
                                          <a:latin typeface="Cambria Math" panose="02040503050406030204" charset="0"/>
                                          <a:ea typeface="微软雅黑" panose="020B0503020204020204" pitchFamily="34" charset="-122"/>
                                          <a:cs typeface="微软雅黑" panose="020B0503020204020204" pitchFamily="34" charset="-122"/>
                                        </a:rPr>
                                        <m:t>1</m:t>
                                      </m:r>
                                    </m:e>
                                    <m:e>
                                      <m:r>
                                        <a:rPr lang="en-US" altLang="zh-CN" sz="2800" i="1" dirty="0">
                                          <a:solidFill>
                                            <a:srgbClr val="0000FF"/>
                                          </a:solidFill>
                                          <a:latin typeface="Cambria Math" panose="02040503050406030204" charset="0"/>
                                          <a:ea typeface="Cambria Math" panose="02040503050406030204" charset="0"/>
                                          <a:cs typeface="Cambria Math" panose="02040503050406030204" charset="0"/>
                                        </a:rPr>
                                        <m:t>𝛾</m:t>
                                      </m:r>
                                      <m:r>
                                        <a:rPr lang="en-US" altLang="zh-CN" sz="2800" b="0" i="1" baseline="-25000" dirty="0" smtClean="0">
                                          <a:solidFill>
                                            <a:srgbClr val="0000FF"/>
                                          </a:solidFill>
                                          <a:latin typeface="Cambria Math" panose="02040503050406030204" charset="0"/>
                                          <a:ea typeface="微软雅黑" panose="020B0503020204020204" pitchFamily="34" charset="-122"/>
                                          <a:cs typeface="微软雅黑" panose="020B0503020204020204" pitchFamily="34" charset="-122"/>
                                        </a:rPr>
                                        <m:t>42</m:t>
                                      </m:r>
                                    </m:e>
                                    <m:e>
                                      <m:r>
                                        <a:rPr lang="en-US" altLang="zh-CN" sz="2800" i="1" dirty="0">
                                          <a:solidFill>
                                            <a:srgbClr val="0000FF"/>
                                          </a:solidFill>
                                          <a:latin typeface="Cambria Math" panose="02040503050406030204" charset="0"/>
                                          <a:ea typeface="Cambria Math" panose="02040503050406030204" charset="0"/>
                                          <a:cs typeface="Cambria Math" panose="02040503050406030204" charset="0"/>
                                        </a:rPr>
                                        <m:t>𝛾</m:t>
                                      </m:r>
                                      <m:r>
                                        <a:rPr lang="en-US" altLang="zh-CN" sz="2800" b="0" i="1" baseline="-25000" dirty="0" smtClean="0">
                                          <a:solidFill>
                                            <a:srgbClr val="0000FF"/>
                                          </a:solidFill>
                                          <a:latin typeface="Cambria Math" panose="02040503050406030204" charset="0"/>
                                          <a:ea typeface="微软雅黑" panose="020B0503020204020204" pitchFamily="34" charset="-122"/>
                                          <a:cs typeface="微软雅黑" panose="020B0503020204020204" pitchFamily="34" charset="-122"/>
                                        </a:rPr>
                                        <m:t>43</m:t>
                                      </m:r>
                                    </m:e>
                                  </m:mr>
                                </m:m>
                              </m:e>
                              <m:e>
                                <m:r>
                                  <a:rPr lang="en-US" altLang="zh-CN" sz="2800" b="0" i="1" dirty="0" smtClean="0">
                                    <a:solidFill>
                                      <a:srgbClr val="0000FF"/>
                                    </a:solidFill>
                                    <a:latin typeface="Cambria Math" panose="02040503050406030204" charset="0"/>
                                    <a:ea typeface="微软雅黑" panose="020B0503020204020204" pitchFamily="34" charset="-122"/>
                                    <a:cs typeface="微软雅黑" panose="020B0503020204020204" pitchFamily="34" charset="-122"/>
                                  </a:rPr>
                                  <m:t>1</m:t>
                                </m:r>
                              </m:e>
                            </m:mr>
                          </m:m>
                        </m:e>
                      </m:d>
                    </m:oMath>
                  </m:oMathPara>
                </a14:m>
                <a:endParaRPr lang="en-US" altLang="zh-CN" sz="2800" baseline="-25000" dirty="0">
                  <a:latin typeface="微软雅黑" panose="020B0503020204020204" pitchFamily="34" charset="-122"/>
                  <a:ea typeface="微软雅黑" panose="020B0503020204020204" pitchFamily="34" charset="-122"/>
                  <a:cs typeface="微软雅黑" panose="020B0503020204020204" pitchFamily="34" charset="-122"/>
                </a:endParaRPr>
              </a:p>
            </p:txBody>
          </p:sp>
        </mc:Choice>
        <mc:Fallback xmlns="">
          <p:sp>
            <p:nvSpPr>
              <p:cNvPr id="17" name="Text Box 4"/>
              <p:cNvSpPr txBox="1">
                <a:spLocks noRot="1" noChangeAspect="1" noMove="1" noResize="1" noEditPoints="1" noAdjustHandles="1" noChangeArrowheads="1" noChangeShapeType="1" noTextEdit="1"/>
              </p:cNvSpPr>
              <p:nvPr/>
            </p:nvSpPr>
            <p:spPr bwMode="auto">
              <a:xfrm>
                <a:off x="4034016" y="5184889"/>
                <a:ext cx="4655890" cy="1606081"/>
              </a:xfrm>
              <a:prstGeom prst="rect">
                <a:avLst/>
              </a:prstGeom>
              <a:blipFill rotWithShape="1">
                <a:blip r:embed="rId8"/>
                <a:stretch>
                  <a:fillRect l="-11" t="-7" r="12" b="-101"/>
                </a:stretch>
              </a:blipFill>
              <a:ln w="12700">
                <a:noFill/>
                <a:miter lim="800000"/>
                <a:headEnd type="none" w="sm" len="sm"/>
                <a:tailEnd type="none" w="sm" len="sm"/>
              </a:ln>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缩放变换</a:t>
            </a:r>
            <a:endParaRPr lang="en-US" dirty="0"/>
          </a:p>
        </p:txBody>
      </p:sp>
      <p:sp>
        <p:nvSpPr>
          <p:cNvPr id="3" name="Content Placeholder 2"/>
          <p:cNvSpPr>
            <a:spLocks noGrp="1"/>
          </p:cNvSpPr>
          <p:nvPr>
            <p:ph idx="1"/>
          </p:nvPr>
        </p:nvSpPr>
        <p:spPr/>
        <p:txBody>
          <a:bodyPr>
            <a:normAutofit/>
          </a:bodyPr>
          <a:lstStyle/>
          <a:p>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沿每个坐标轴伸展或收缩（</a:t>
            </a:r>
            <a:r>
              <a:rPr lang="zh-CN" altLang="en-US" sz="24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原点为不动点</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a:t>
            </a:r>
          </a:p>
          <a:p>
            <a:endParaRPr lang="en-US" sz="2400"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t>20</a:t>
            </a:fld>
            <a:endParaRPr lang="zh-CN" altLang="en-US" dirty="0"/>
          </a:p>
        </p:txBody>
      </p:sp>
      <p:pic>
        <p:nvPicPr>
          <p:cNvPr id="6" name="图片 5"/>
          <p:cNvPicPr>
            <a:picLocks noChangeAspect="1"/>
          </p:cNvPicPr>
          <p:nvPr/>
        </p:nvPicPr>
        <p:blipFill>
          <a:blip r:embed="rId2"/>
          <a:stretch>
            <a:fillRect/>
          </a:stretch>
        </p:blipFill>
        <p:spPr>
          <a:xfrm>
            <a:off x="4767499" y="1918573"/>
            <a:ext cx="3600816" cy="3891077"/>
          </a:xfrm>
          <a:prstGeom prst="rect">
            <a:avLst/>
          </a:prstGeom>
        </p:spPr>
      </p:pic>
      <p:pic>
        <p:nvPicPr>
          <p:cNvPr id="5" name="图片 6"/>
          <p:cNvPicPr>
            <a:picLocks noChangeAspect="1"/>
          </p:cNvPicPr>
          <p:nvPr/>
        </p:nvPicPr>
        <p:blipFill>
          <a:blip r:embed="rId3"/>
          <a:stretch>
            <a:fillRect/>
          </a:stretch>
        </p:blipFill>
        <p:spPr>
          <a:xfrm>
            <a:off x="1062284" y="4120440"/>
            <a:ext cx="4289196" cy="1816149"/>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平移变换</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628650" y="1316831"/>
                <a:ext cx="7886700" cy="5176044"/>
              </a:xfrm>
            </p:spPr>
            <p:txBody>
              <a:bodyPr>
                <a:normAutofit/>
              </a:bodyPr>
              <a:lstStyle/>
              <a:p>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可以用在齐次坐标中一个</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4×4</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的</a:t>
                </a:r>
                <a:r>
                  <a:rPr lang="zh-CN" altLang="en-US" sz="2400" dirty="0"/>
                  <a:t>平移变换</a:t>
                </a:r>
                <a14:m>
                  <m:oMath xmlns:m="http://schemas.openxmlformats.org/officeDocument/2006/math">
                    <m:r>
                      <a:rPr lang="en-US" altLang="zh-CN" sz="2400" b="1" i="1" dirty="0" smtClean="0">
                        <a:latin typeface="Cambria Math" panose="02040503050406030204" charset="0"/>
                        <a:ea typeface="微软雅黑" panose="020B0503020204020204" pitchFamily="34" charset="-122"/>
                        <a:cs typeface="微软雅黑" panose="020B0503020204020204" pitchFamily="34" charset="-122"/>
                      </a:rPr>
                      <m:t>𝑻</m:t>
                    </m:r>
                  </m:oMath>
                </a14:m>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表示平移</a:t>
                </a: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b="1" dirty="0">
                    <a:latin typeface="微软雅黑" panose="020B0503020204020204" pitchFamily="34" charset="-122"/>
                    <a:ea typeface="微软雅黑" panose="020B0503020204020204" pitchFamily="34" charset="-122"/>
                    <a:cs typeface="微软雅黑" panose="020B0503020204020204" pitchFamily="34" charset="-122"/>
                  </a:rPr>
                  <a:t> </a:t>
                </a:r>
                <a14:m>
                  <m:oMath xmlns:m="http://schemas.openxmlformats.org/officeDocument/2006/math">
                    <m:r>
                      <a:rPr lang="en-US" altLang="zh-CN" sz="2400" b="1" i="1" dirty="0" smtClean="0">
                        <a:latin typeface="Cambria Math" panose="02040503050406030204" charset="0"/>
                        <a:ea typeface="微软雅黑" panose="020B0503020204020204" pitchFamily="34" charset="-122"/>
                        <a:cs typeface="微软雅黑" panose="020B0503020204020204" pitchFamily="34" charset="-122"/>
                      </a:rPr>
                      <m:t>𝒑</m:t>
                    </m:r>
                    <m:r>
                      <a:rPr lang="en-US" altLang="zh-CN" sz="2400" i="1" dirty="0">
                        <a:latin typeface="Cambria Math" panose="02040503050406030204" charset="0"/>
                        <a:ea typeface="微软雅黑" panose="020B0503020204020204" pitchFamily="34" charset="-122"/>
                        <a:cs typeface="微软雅黑" panose="020B0503020204020204" pitchFamily="34" charset="-122"/>
                      </a:rPr>
                      <m:t>’=</m:t>
                    </m:r>
                    <m:r>
                      <a:rPr lang="en-US" altLang="zh-CN" sz="2400" b="1" i="1" dirty="0" err="1">
                        <a:latin typeface="Cambria Math" panose="02040503050406030204" charset="0"/>
                        <a:ea typeface="微软雅黑" panose="020B0503020204020204" pitchFamily="34" charset="-122"/>
                        <a:cs typeface="微软雅黑" panose="020B0503020204020204" pitchFamily="34" charset="-122"/>
                      </a:rPr>
                      <m:t>𝑻𝒑</m:t>
                    </m:r>
                    <m:r>
                      <a:rPr lang="en-US" altLang="zh-CN" sz="2400" i="1" dirty="0">
                        <a:latin typeface="Cambria Math" panose="02040503050406030204" charset="0"/>
                        <a:ea typeface="微软雅黑" panose="020B0503020204020204" pitchFamily="34" charset="-122"/>
                        <a:cs typeface="微软雅黑" panose="020B0503020204020204" pitchFamily="34" charset="-122"/>
                      </a:rPr>
                      <m:t> </m:t>
                    </m:r>
                  </m:oMath>
                </a14:m>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p:txBody>
          </p:sp>
        </mc:Choice>
        <mc:Fallback xmlns="">
          <p:sp>
            <p:nvSpPr>
              <p:cNvPr id="3" name="内容占位符 2"/>
              <p:cNvSpPr>
                <a:spLocks noRot="1" noChangeAspect="1" noMove="1" noResize="1" noEditPoints="1" noAdjustHandles="1" noChangeArrowheads="1" noChangeShapeType="1" noTextEdit="1"/>
              </p:cNvSpPr>
              <p:nvPr>
                <p:ph idx="1"/>
              </p:nvPr>
            </p:nvSpPr>
            <p:spPr>
              <a:xfrm>
                <a:off x="628650" y="1316831"/>
                <a:ext cx="7886700" cy="5176044"/>
              </a:xfrm>
              <a:blipFill rotWithShape="1">
                <a:blip r:embed="rId2"/>
                <a:stretch>
                  <a:fillRect t="-218"/>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21</a:t>
            </a:fld>
            <a:endParaRPr lang="zh-CN" altLang="en-US"/>
          </a:p>
        </p:txBody>
      </p:sp>
      <p:pic>
        <p:nvPicPr>
          <p:cNvPr id="9" name="图片 8"/>
          <p:cNvPicPr>
            <a:picLocks noChangeAspect="1"/>
          </p:cNvPicPr>
          <p:nvPr/>
        </p:nvPicPr>
        <p:blipFill>
          <a:blip r:embed="rId3"/>
          <a:stretch>
            <a:fillRect/>
          </a:stretch>
        </p:blipFill>
        <p:spPr>
          <a:xfrm>
            <a:off x="1334011" y="2573868"/>
            <a:ext cx="5726409" cy="2366468"/>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旋转变换</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三维对象的旋转</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lvl="1"/>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不动点</a:t>
                </a:r>
                <a:endParaRPr lang="en-US" altLang="zh-CN" sz="1800" dirty="0">
                  <a:latin typeface="微软雅黑" panose="020B0503020204020204" pitchFamily="34" charset="-122"/>
                  <a:ea typeface="微软雅黑" panose="020B0503020204020204" pitchFamily="34" charset="-122"/>
                  <a:cs typeface="微软雅黑" panose="020B0503020204020204" pitchFamily="34" charset="-122"/>
                </a:endParaRPr>
              </a:p>
              <a:p>
                <a:pPr lvl="1"/>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旋转轴</a:t>
                </a:r>
                <a:endParaRPr lang="en-US" altLang="zh-CN" sz="1800" dirty="0">
                  <a:latin typeface="微软雅黑" panose="020B0503020204020204" pitchFamily="34" charset="-122"/>
                  <a:ea typeface="微软雅黑" panose="020B0503020204020204" pitchFamily="34" charset="-122"/>
                  <a:cs typeface="微软雅黑" panose="020B0503020204020204" pitchFamily="34" charset="-122"/>
                </a:endParaRPr>
              </a:p>
              <a:p>
                <a:pPr lvl="1"/>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旋转角度</a:t>
                </a:r>
                <a:endParaRPr lang="en-US" altLang="zh-CN" sz="1800" dirty="0">
                  <a:latin typeface="微软雅黑" panose="020B0503020204020204" pitchFamily="34" charset="-122"/>
                  <a:ea typeface="微软雅黑" panose="020B0503020204020204" pitchFamily="34" charset="-122"/>
                  <a:cs typeface="微软雅黑" panose="020B0503020204020204" pitchFamily="34" charset="-122"/>
                </a:endParaRPr>
              </a:p>
              <a:p>
                <a:pPr lvl="1"/>
                <a:endParaRPr lang="en-US" altLang="zh-CN" sz="1800" dirty="0">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几种特殊情形</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lvl="1"/>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分别绕</a:t>
                </a:r>
                <a14:m>
                  <m:oMath xmlns:m="http://schemas.openxmlformats.org/officeDocument/2006/math">
                    <m:r>
                      <a:rPr lang="en-US" altLang="zh-CN" sz="1800" i="1" dirty="0" smtClean="0">
                        <a:latin typeface="Cambria Math" panose="02040503050406030204" charset="0"/>
                        <a:ea typeface="微软雅黑" panose="020B0503020204020204" pitchFamily="34" charset="-122"/>
                        <a:cs typeface="微软雅黑" panose="020B0503020204020204" pitchFamily="34" charset="-122"/>
                      </a:rPr>
                      <m:t>𝑥</m:t>
                    </m:r>
                    <m:r>
                      <a:rPr lang="zh-CN" altLang="en-US" sz="1800" i="1" dirty="0">
                        <a:latin typeface="Cambria Math" panose="02040503050406030204" charset="0"/>
                        <a:ea typeface="微软雅黑" panose="020B0503020204020204" pitchFamily="34" charset="-122"/>
                        <a:cs typeface="微软雅黑" panose="020B0503020204020204" pitchFamily="34" charset="-122"/>
                      </a:rPr>
                      <m:t>，</m:t>
                    </m:r>
                    <m:r>
                      <a:rPr lang="en-US" altLang="zh-CN" sz="1800" i="1" dirty="0">
                        <a:latin typeface="Cambria Math" panose="02040503050406030204" charset="0"/>
                        <a:ea typeface="微软雅黑" panose="020B0503020204020204" pitchFamily="34" charset="-122"/>
                        <a:cs typeface="微软雅黑" panose="020B0503020204020204" pitchFamily="34" charset="-122"/>
                      </a:rPr>
                      <m:t>𝑦</m:t>
                    </m:r>
                    <m:r>
                      <a:rPr lang="zh-CN" altLang="en-US" sz="1800" i="1" dirty="0">
                        <a:latin typeface="Cambria Math" panose="02040503050406030204" charset="0"/>
                        <a:ea typeface="微软雅黑" panose="020B0503020204020204" pitchFamily="34" charset="-122"/>
                        <a:cs typeface="微软雅黑" panose="020B0503020204020204" pitchFamily="34" charset="-122"/>
                      </a:rPr>
                      <m:t>，</m:t>
                    </m:r>
                    <m:r>
                      <a:rPr lang="en-US" altLang="zh-CN" sz="1800" i="1" dirty="0">
                        <a:latin typeface="Cambria Math" panose="02040503050406030204" charset="0"/>
                        <a:ea typeface="微软雅黑" panose="020B0503020204020204" pitchFamily="34" charset="-122"/>
                        <a:cs typeface="微软雅黑" panose="020B0503020204020204" pitchFamily="34" charset="-122"/>
                      </a:rPr>
                      <m:t>𝑧</m:t>
                    </m:r>
                  </m:oMath>
                </a14:m>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轴的旋转</a:t>
                </a:r>
              </a:p>
              <a:p>
                <a:pPr lvl="1"/>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绕过原点的轴旋转</a:t>
                </a:r>
              </a:p>
              <a:p>
                <a:pPr lvl="1"/>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绕任一轴旋转</a:t>
                </a:r>
              </a:p>
              <a:p>
                <a:endParaRPr lang="en-US" dirty="0"/>
              </a:p>
            </p:txBody>
          </p:sp>
        </mc:Choice>
        <mc:Fallback xmlns="">
          <p:sp>
            <p:nvSpPr>
              <p:cNvPr id="3" name="Content Placeholder 2"/>
              <p:cNvSpPr>
                <a:spLocks noRot="1" noChangeAspect="1" noMove="1" noResize="1" noEditPoints="1" noAdjustHandles="1" noChangeArrowheads="1" noChangeShapeType="1" noTextEdit="1"/>
              </p:cNvSpPr>
              <p:nvPr>
                <p:ph idx="1"/>
              </p:nvPr>
            </p:nvSpPr>
            <p:spPr>
              <a:blipFill rotWithShape="1">
                <a:blip r:embed="rId2"/>
                <a:stretch>
                  <a:fillRect t="-259" b="4"/>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EB792F4E-54C0-4D36-B331-9C6FCFE9A340}" type="slidenum">
              <a:rPr lang="zh-CN" altLang="en-US" smtClean="0"/>
              <a:t>22</a:t>
            </a:fld>
            <a:endParaRPr lang="zh-CN" altLang="en-US" dirty="0"/>
          </a:p>
        </p:txBody>
      </p:sp>
      <p:pic>
        <p:nvPicPr>
          <p:cNvPr id="6" name="Picture 2" descr="E:\CG\交互式计算机图形学—基于OpenGL着色器的自顶向下方法（第六版）\Figures\CHAPTER03 JPEG\an03f36.jpg"/>
          <p:cNvPicPr>
            <a:picLocks noChangeAspect="1" noChangeArrowheads="1"/>
          </p:cNvPicPr>
          <p:nvPr/>
        </p:nvPicPr>
        <p:blipFill>
          <a:blip r:embed="rId3" cstate="print"/>
          <a:srcRect/>
          <a:stretch>
            <a:fillRect/>
          </a:stretch>
        </p:blipFill>
        <p:spPr bwMode="auto">
          <a:xfrm>
            <a:off x="4098471" y="1962763"/>
            <a:ext cx="4168899" cy="3580183"/>
          </a:xfrm>
          <a:prstGeom prst="rect">
            <a:avLst/>
          </a:prstGeom>
          <a:noFill/>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绕</a:t>
            </a:r>
            <a:r>
              <a:rPr lang="en-US" altLang="zh-CN" dirty="0"/>
              <a:t>z</a:t>
            </a:r>
            <a:r>
              <a:rPr lang="zh-CN" altLang="en-US" dirty="0"/>
              <a:t>轴的旋转</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在三维空间中绕</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z</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轴旋转，点的</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z</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坐标不变</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lvl="1"/>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等价于在</a:t>
                </a:r>
                <a:r>
                  <a:rPr lang="en-US" altLang="zh-CN" sz="1800" dirty="0">
                    <a:latin typeface="微软雅黑" panose="020B0503020204020204" pitchFamily="34" charset="-122"/>
                    <a:ea typeface="微软雅黑" panose="020B0503020204020204" pitchFamily="34" charset="-122"/>
                    <a:cs typeface="微软雅黑" panose="020B0503020204020204" pitchFamily="34" charset="-122"/>
                  </a:rPr>
                  <a:t>z=</a:t>
                </a: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常数的平面上进行二维旋转</a:t>
                </a:r>
                <a:endParaRPr lang="en-US" altLang="zh-CN" sz="1800" dirty="0">
                  <a:latin typeface="微软雅黑" panose="020B0503020204020204" pitchFamily="34" charset="-122"/>
                  <a:ea typeface="微软雅黑" panose="020B0503020204020204" pitchFamily="34" charset="-122"/>
                  <a:cs typeface="微软雅黑" panose="020B0503020204020204" pitchFamily="34" charset="-122"/>
                </a:endParaRPr>
              </a:p>
              <a:p>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lvl="1"/>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其齐次坐标表示为</a:t>
                </a:r>
                <a:r>
                  <a:rPr lang="zh-CN" altLang="en-US" sz="1800" b="1" dirty="0">
                    <a:latin typeface="微软雅黑" panose="020B0503020204020204" pitchFamily="34" charset="-122"/>
                    <a:ea typeface="微软雅黑" panose="020B0503020204020204" pitchFamily="34" charset="-122"/>
                    <a:cs typeface="微软雅黑" panose="020B0503020204020204" pitchFamily="34" charset="-122"/>
                  </a:rPr>
                  <a:t> </a:t>
                </a:r>
                <a14:m>
                  <m:oMath xmlns:m="http://schemas.openxmlformats.org/officeDocument/2006/math">
                    <m:r>
                      <a:rPr lang="en-US" altLang="zh-CN" sz="1800" b="1" i="1" dirty="0" smtClean="0">
                        <a:latin typeface="Cambria Math" panose="02040503050406030204" charset="0"/>
                        <a:ea typeface="微软雅黑" panose="020B0503020204020204" pitchFamily="34" charset="-122"/>
                        <a:cs typeface="微软雅黑" panose="020B0503020204020204" pitchFamily="34" charset="-122"/>
                      </a:rPr>
                      <m:t>𝒑</m:t>
                    </m:r>
                    <m:r>
                      <a:rPr lang="en-US" altLang="zh-CN" sz="1800" i="1" dirty="0">
                        <a:latin typeface="Cambria Math" panose="02040503050406030204" charset="0"/>
                        <a:ea typeface="微软雅黑" panose="020B0503020204020204" pitchFamily="34" charset="-122"/>
                        <a:cs typeface="微软雅黑" panose="020B0503020204020204" pitchFamily="34" charset="-122"/>
                      </a:rPr>
                      <m:t>’=</m:t>
                    </m:r>
                    <m:r>
                      <a:rPr lang="en-US" altLang="zh-CN" sz="1800" b="1" i="1" dirty="0" err="1">
                        <a:latin typeface="Cambria Math" panose="02040503050406030204" charset="0"/>
                        <a:ea typeface="微软雅黑" panose="020B0503020204020204" pitchFamily="34" charset="-122"/>
                        <a:cs typeface="微软雅黑" panose="020B0503020204020204" pitchFamily="34" charset="-122"/>
                      </a:rPr>
                      <m:t>𝑹</m:t>
                    </m:r>
                    <m:r>
                      <a:rPr lang="en-US" altLang="zh-CN" sz="1800" b="1" i="1" baseline="-25000" dirty="0" err="1">
                        <a:latin typeface="Cambria Math" panose="02040503050406030204" charset="0"/>
                        <a:ea typeface="微软雅黑" panose="020B0503020204020204" pitchFamily="34" charset="-122"/>
                        <a:cs typeface="微软雅黑" panose="020B0503020204020204" pitchFamily="34" charset="-122"/>
                      </a:rPr>
                      <m:t>𝒛</m:t>
                    </m:r>
                    <m:r>
                      <a:rPr lang="en-US" altLang="zh-CN" sz="1800" i="1" dirty="0">
                        <a:latin typeface="Cambria Math" panose="02040503050406030204" charset="0"/>
                        <a:ea typeface="微软雅黑" panose="020B0503020204020204" pitchFamily="34" charset="-122"/>
                        <a:cs typeface="微软雅黑" panose="020B0503020204020204" pitchFamily="34" charset="-122"/>
                      </a:rPr>
                      <m:t>(</m:t>
                    </m:r>
                    <m:r>
                      <a:rPr lang="en-US" altLang="zh-CN" sz="1800" i="1">
                        <a:latin typeface="Cambria Math" panose="02040503050406030204" charset="0"/>
                        <a:ea typeface="Cambria Math" panose="02040503050406030204" charset="0"/>
                        <a:cs typeface="Cambria Math" panose="02040503050406030204" charset="0"/>
                      </a:rPr>
                      <m:t>𝜃</m:t>
                    </m:r>
                    <m:r>
                      <a:rPr lang="en-US" altLang="zh-CN" sz="1800" i="1" dirty="0">
                        <a:latin typeface="Cambria Math" panose="02040503050406030204" charset="0"/>
                        <a:ea typeface="微软雅黑" panose="020B0503020204020204" pitchFamily="34" charset="-122"/>
                        <a:cs typeface="微软雅黑" panose="020B0503020204020204" pitchFamily="34" charset="-122"/>
                      </a:rPr>
                      <m:t>)</m:t>
                    </m:r>
                    <m:r>
                      <a:rPr lang="en-US" altLang="zh-CN" sz="1800" b="1" i="1" dirty="0">
                        <a:latin typeface="Cambria Math" panose="02040503050406030204" charset="0"/>
                        <a:ea typeface="微软雅黑" panose="020B0503020204020204" pitchFamily="34" charset="-122"/>
                        <a:cs typeface="微软雅黑" panose="020B0503020204020204" pitchFamily="34" charset="-122"/>
                      </a:rPr>
                      <m:t>𝒑</m:t>
                    </m:r>
                  </m:oMath>
                </a14:m>
                <a:endParaRPr lang="zh-CN" altLang="en-US" sz="1800" dirty="0">
                  <a:latin typeface="微软雅黑" panose="020B0503020204020204" pitchFamily="34" charset="-122"/>
                  <a:ea typeface="微软雅黑" panose="020B0503020204020204" pitchFamily="34" charset="-122"/>
                  <a:cs typeface="微软雅黑" panose="020B0503020204020204" pitchFamily="34" charset="-122"/>
                </a:endParaRPr>
              </a:p>
              <a:p>
                <a:pPr lvl="1"/>
                <a:r>
                  <a:rPr lang="zh-CN" altLang="en-US" sz="1800" dirty="0"/>
                  <a:t>其中旋转矩阵为</a:t>
                </a:r>
                <a:endParaRPr lang="en-US" sz="1800" dirty="0"/>
              </a:p>
            </p:txBody>
          </p:sp>
        </mc:Choice>
        <mc:Fallback xmlns="">
          <p:sp>
            <p:nvSpPr>
              <p:cNvPr id="3" name="Content Placeholder 2"/>
              <p:cNvSpPr>
                <a:spLocks noRot="1" noChangeAspect="1" noMove="1" noResize="1" noEditPoints="1" noAdjustHandles="1" noChangeArrowheads="1" noChangeShapeType="1" noTextEdit="1"/>
              </p:cNvSpPr>
              <p:nvPr>
                <p:ph idx="1"/>
              </p:nvPr>
            </p:nvSpPr>
            <p:spPr>
              <a:blipFill rotWithShape="1">
                <a:blip r:embed="rId2"/>
                <a:stretch>
                  <a:fillRect t="-259" b="4"/>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EB792F4E-54C0-4D36-B331-9C6FCFE9A340}" type="slidenum">
              <a:rPr lang="zh-CN" altLang="en-US" smtClean="0"/>
              <a:t>23</a:t>
            </a:fld>
            <a:endParaRPr lang="zh-CN" altLang="en-US" dirty="0"/>
          </a:p>
        </p:txBody>
      </p:sp>
      <mc:AlternateContent xmlns:mc="http://schemas.openxmlformats.org/markup-compatibility/2006" xmlns:a14="http://schemas.microsoft.com/office/drawing/2010/main">
        <mc:Choice Requires="a14">
          <p:sp>
            <p:nvSpPr>
              <p:cNvPr id="5" name="Text Box 5"/>
              <p:cNvSpPr txBox="1">
                <a:spLocks noChangeArrowheads="1"/>
              </p:cNvSpPr>
              <p:nvPr/>
            </p:nvSpPr>
            <p:spPr bwMode="auto">
              <a:xfrm>
                <a:off x="2040622" y="1995288"/>
                <a:ext cx="3457870" cy="1384995"/>
              </a:xfrm>
              <a:prstGeom prst="rect">
                <a:avLst/>
              </a:prstGeom>
              <a:noFill/>
              <a:ln w="12700">
                <a:noFill/>
                <a:miter lim="800000"/>
                <a:headEnd type="none" w="sm" len="sm"/>
                <a:tailEnd type="none" w="sm" len="sm"/>
              </a:ln>
            </p:spPr>
            <p:txBody>
              <a:bodyPr wrap="none" anchorCtr="1">
                <a:spAutoFit/>
              </a:bodyPr>
              <a:lstStyle/>
              <a:p>
                <a:pPr/>
                <a14:m>
                  <m:oMathPara xmlns:m="http://schemas.openxmlformats.org/officeDocument/2006/math">
                    <m:oMathParaPr>
                      <m:jc m:val="left"/>
                    </m:oMathParaPr>
                    <m:oMath xmlns:m="http://schemas.openxmlformats.org/officeDocument/2006/math">
                      <m:r>
                        <a:rPr lang="en-US" altLang="zh-CN" sz="2800" i="1" smtClean="0">
                          <a:latin typeface="Cambria Math" panose="02040503050406030204" charset="0"/>
                          <a:cs typeface="Times New Roman" panose="02020603050405020304" pitchFamily="18" charset="0"/>
                        </a:rPr>
                        <m:t>𝑥</m:t>
                      </m:r>
                      <m:r>
                        <a:rPr lang="en-US" altLang="zh-CN" sz="2800" i="1" smtClean="0">
                          <a:latin typeface="Cambria Math" panose="02040503050406030204" charset="0"/>
                          <a:cs typeface="Times New Roman" panose="02020603050405020304" pitchFamily="18" charset="0"/>
                        </a:rPr>
                        <m:t>’=</m:t>
                      </m:r>
                      <m:r>
                        <a:rPr lang="en-US" altLang="zh-CN" sz="2800" i="1" smtClean="0">
                          <a:latin typeface="Cambria Math" panose="02040503050406030204" charset="0"/>
                          <a:cs typeface="Times New Roman" panose="02020603050405020304" pitchFamily="18" charset="0"/>
                        </a:rPr>
                        <m:t>𝑥</m:t>
                      </m:r>
                      <m:r>
                        <a:rPr lang="zh-CN" altLang="en-US" sz="2800" b="0" i="1" smtClean="0">
                          <a:latin typeface="Cambria Math" panose="02040503050406030204" charset="0"/>
                          <a:cs typeface="Times New Roman" panose="02020603050405020304" pitchFamily="18" charset="0"/>
                        </a:rPr>
                        <m:t> </m:t>
                      </m:r>
                      <m:r>
                        <a:rPr lang="en-US" altLang="zh-CN" sz="2800" i="1" smtClean="0">
                          <a:latin typeface="Cambria Math" panose="02040503050406030204" charset="0"/>
                          <a:cs typeface="Times New Roman" panose="02020603050405020304" pitchFamily="18" charset="0"/>
                        </a:rPr>
                        <m:t>𝑐𝑜𝑠</m:t>
                      </m:r>
                      <m:r>
                        <a:rPr lang="en-US" altLang="zh-CN" sz="2800" i="1" smtClean="0">
                          <a:latin typeface="Cambria Math" panose="02040503050406030204" charset="0"/>
                          <a:ea typeface="Cambria Math" panose="02040503050406030204" charset="0"/>
                          <a:cs typeface="Cambria Math" panose="02040503050406030204" charset="0"/>
                        </a:rPr>
                        <m:t>𝜃</m:t>
                      </m:r>
                      <m:r>
                        <a:rPr lang="zh-CN" altLang="en-US" sz="2800" b="0" i="1" smtClean="0">
                          <a:latin typeface="Cambria Math" panose="02040503050406030204" charset="0"/>
                          <a:ea typeface="Cambria Math" panose="02040503050406030204" charset="0"/>
                          <a:cs typeface="Cambria Math" panose="02040503050406030204" charset="0"/>
                        </a:rPr>
                        <m:t> </m:t>
                      </m:r>
                      <m:r>
                        <a:rPr lang="en-US" altLang="zh-CN" sz="2800" i="1" smtClean="0">
                          <a:latin typeface="Cambria Math" panose="02040503050406030204" charset="0"/>
                          <a:cs typeface="Times New Roman" panose="02020603050405020304" pitchFamily="18" charset="0"/>
                        </a:rPr>
                        <m:t>–</m:t>
                      </m:r>
                      <m:r>
                        <a:rPr lang="zh-CN" altLang="en-US" sz="2800" b="0" i="1" smtClean="0">
                          <a:latin typeface="Cambria Math" panose="02040503050406030204" charset="0"/>
                          <a:cs typeface="Times New Roman" panose="02020603050405020304" pitchFamily="18" charset="0"/>
                        </a:rPr>
                        <m:t> </m:t>
                      </m:r>
                      <m:r>
                        <a:rPr lang="en-US" altLang="zh-CN" sz="2800" i="1" smtClean="0">
                          <a:latin typeface="Cambria Math" panose="02040503050406030204" charset="0"/>
                          <a:cs typeface="Times New Roman" panose="02020603050405020304" pitchFamily="18" charset="0"/>
                        </a:rPr>
                        <m:t>𝑦</m:t>
                      </m:r>
                      <m:func>
                        <m:funcPr>
                          <m:ctrlPr>
                            <a:rPr lang="en-US" altLang="zh-CN" sz="2800" i="1" dirty="0" smtClean="0">
                              <a:latin typeface="Cambria Math" panose="02040503050406030204" pitchFamily="18" charset="0"/>
                              <a:cs typeface="Times New Roman" panose="02020603050405020304" pitchFamily="18" charset="0"/>
                            </a:rPr>
                          </m:ctrlPr>
                        </m:funcPr>
                        <m:fName>
                          <m:r>
                            <m:rPr>
                              <m:sty m:val="p"/>
                            </m:rPr>
                            <a:rPr lang="en-US" altLang="zh-CN" sz="2800" i="0" dirty="0" smtClean="0">
                              <a:latin typeface="Cambria Math" panose="02040503050406030204" charset="0"/>
                              <a:cs typeface="Times New Roman" panose="02020603050405020304" pitchFamily="18" charset="0"/>
                            </a:rPr>
                            <m:t>sin</m:t>
                          </m:r>
                        </m:fName>
                        <m:e>
                          <m:r>
                            <a:rPr lang="en-US" altLang="zh-CN" sz="2800" i="1">
                              <a:latin typeface="Cambria Math" panose="02040503050406030204" charset="0"/>
                              <a:ea typeface="Cambria Math" panose="02040503050406030204" charset="0"/>
                              <a:cs typeface="Cambria Math" panose="02040503050406030204" charset="0"/>
                            </a:rPr>
                            <m:t>𝜃</m:t>
                          </m:r>
                        </m:e>
                      </m:func>
                    </m:oMath>
                  </m:oMathPara>
                </a14:m>
                <a:endParaRPr lang="en-US" altLang="zh-CN" sz="2800" i="1" dirty="0">
                  <a:latin typeface="Cambria Math" panose="02040503050406030204" charset="0"/>
                  <a:ea typeface="Cambria Math" panose="02040503050406030204" charset="0"/>
                  <a:cs typeface="Cambria Math" panose="02040503050406030204" charset="0"/>
                </a:endParaRPr>
              </a:p>
              <a:p>
                <a:pPr/>
                <a14:m>
                  <m:oMathPara xmlns:m="http://schemas.openxmlformats.org/officeDocument/2006/math">
                    <m:oMathParaPr>
                      <m:jc m:val="left"/>
                    </m:oMathParaPr>
                    <m:oMath xmlns:m="http://schemas.openxmlformats.org/officeDocument/2006/math">
                      <m:r>
                        <a:rPr lang="en-US" altLang="zh-CN" sz="2800" i="1" smtClean="0">
                          <a:latin typeface="Cambria Math" panose="02040503050406030204" charset="0"/>
                          <a:cs typeface="Times New Roman" panose="02020603050405020304" pitchFamily="18" charset="0"/>
                        </a:rPr>
                        <m:t>𝑦</m:t>
                      </m:r>
                      <m:r>
                        <a:rPr lang="en-US" altLang="zh-CN" sz="2800" i="1" smtClean="0">
                          <a:latin typeface="Cambria Math" panose="02040503050406030204" charset="0"/>
                          <a:cs typeface="Times New Roman" panose="02020603050405020304" pitchFamily="18" charset="0"/>
                        </a:rPr>
                        <m:t>’=</m:t>
                      </m:r>
                      <m:func>
                        <m:funcPr>
                          <m:ctrlPr>
                            <a:rPr lang="en-US" altLang="zh-CN" sz="2800" i="1" smtClean="0">
                              <a:latin typeface="Cambria Math" panose="02040503050406030204" pitchFamily="18" charset="0"/>
                              <a:cs typeface="Times New Roman" panose="02020603050405020304" pitchFamily="18" charset="0"/>
                            </a:rPr>
                          </m:ctrlPr>
                        </m:funcPr>
                        <m:fName>
                          <m:r>
                            <m:rPr>
                              <m:sty m:val="p"/>
                            </m:rPr>
                            <a:rPr lang="en-US" altLang="zh-CN" sz="2800" i="0" smtClean="0">
                              <a:latin typeface="Cambria Math" panose="02040503050406030204" charset="0"/>
                              <a:cs typeface="Times New Roman" panose="02020603050405020304" pitchFamily="18" charset="0"/>
                            </a:rPr>
                            <m:t>x</m:t>
                          </m:r>
                          <m:r>
                            <a:rPr lang="zh-CN" altLang="en-US" sz="2800" b="0" i="0" smtClean="0">
                              <a:latin typeface="Cambria Math" panose="02040503050406030204" charset="0"/>
                              <a:cs typeface="Times New Roman" panose="02020603050405020304" pitchFamily="18" charset="0"/>
                            </a:rPr>
                            <m:t> </m:t>
                          </m:r>
                          <m:r>
                            <m:rPr>
                              <m:sty m:val="p"/>
                            </m:rPr>
                            <a:rPr lang="en-US" altLang="zh-CN" sz="2800" i="0" smtClean="0">
                              <a:latin typeface="Cambria Math" panose="02040503050406030204" charset="0"/>
                              <a:cs typeface="Times New Roman" panose="02020603050405020304" pitchFamily="18" charset="0"/>
                            </a:rPr>
                            <m:t>sin</m:t>
                          </m:r>
                        </m:fName>
                        <m:e>
                          <m:r>
                            <a:rPr lang="en-US" altLang="zh-CN" sz="2800" i="1">
                              <a:latin typeface="Cambria Math" panose="02040503050406030204" charset="0"/>
                              <a:ea typeface="Cambria Math" panose="02040503050406030204" charset="0"/>
                              <a:cs typeface="Cambria Math" panose="02040503050406030204" charset="0"/>
                            </a:rPr>
                            <m:t>𝜃</m:t>
                          </m:r>
                        </m:e>
                      </m:func>
                      <m:r>
                        <a:rPr lang="en-US" altLang="zh-CN" sz="2800" i="1" smtClean="0">
                          <a:latin typeface="Cambria Math" panose="02040503050406030204" charset="0"/>
                          <a:cs typeface="Times New Roman" panose="02020603050405020304" pitchFamily="18" charset="0"/>
                        </a:rPr>
                        <m:t>+</m:t>
                      </m:r>
                      <m:r>
                        <a:rPr lang="en-US" altLang="zh-CN" sz="2800" i="1" smtClean="0">
                          <a:latin typeface="Cambria Math" panose="02040503050406030204" charset="0"/>
                          <a:cs typeface="Times New Roman" panose="02020603050405020304" pitchFamily="18" charset="0"/>
                        </a:rPr>
                        <m:t>𝑦</m:t>
                      </m:r>
                      <m:func>
                        <m:funcPr>
                          <m:ctrlPr>
                            <a:rPr lang="en-US" altLang="zh-CN" sz="2800" i="1" dirty="0" smtClean="0">
                              <a:latin typeface="Cambria Math" panose="02040503050406030204" pitchFamily="18" charset="0"/>
                              <a:cs typeface="Times New Roman" panose="02020603050405020304" pitchFamily="18" charset="0"/>
                            </a:rPr>
                          </m:ctrlPr>
                        </m:funcPr>
                        <m:fName>
                          <m:r>
                            <m:rPr>
                              <m:sty m:val="p"/>
                            </m:rPr>
                            <a:rPr lang="en-US" altLang="zh-CN" sz="2800" i="0" smtClean="0">
                              <a:latin typeface="Cambria Math" panose="02040503050406030204" charset="0"/>
                              <a:cs typeface="Times New Roman" panose="02020603050405020304" pitchFamily="18" charset="0"/>
                            </a:rPr>
                            <m:t>cos</m:t>
                          </m:r>
                        </m:fName>
                        <m:e>
                          <m:r>
                            <a:rPr lang="en-US" altLang="zh-CN" sz="2800" i="1">
                              <a:latin typeface="Cambria Math" panose="02040503050406030204" charset="0"/>
                              <a:ea typeface="Cambria Math" panose="02040503050406030204" charset="0"/>
                              <a:cs typeface="Cambria Math" panose="02040503050406030204" charset="0"/>
                            </a:rPr>
                            <m:t>𝜃</m:t>
                          </m:r>
                        </m:e>
                      </m:func>
                    </m:oMath>
                  </m:oMathPara>
                </a14:m>
                <a:endParaRPr lang="en-US" altLang="zh-CN" sz="2800" i="1" dirty="0">
                  <a:latin typeface="Cambria Math" panose="02040503050406030204" charset="0"/>
                  <a:ea typeface="Cambria Math" panose="02040503050406030204" charset="0"/>
                  <a:cs typeface="Cambria Math" panose="02040503050406030204" charset="0"/>
                </a:endParaRPr>
              </a:p>
              <a:p>
                <a:pPr/>
                <a14:m>
                  <m:oMathPara xmlns:m="http://schemas.openxmlformats.org/officeDocument/2006/math">
                    <m:oMathParaPr>
                      <m:jc m:val="left"/>
                    </m:oMathParaPr>
                    <m:oMath xmlns:m="http://schemas.openxmlformats.org/officeDocument/2006/math">
                      <m:r>
                        <a:rPr lang="en-US" altLang="zh-CN" sz="2800" i="1" smtClean="0">
                          <a:latin typeface="Cambria Math" panose="02040503050406030204" charset="0"/>
                          <a:cs typeface="Times New Roman" panose="02020603050405020304" pitchFamily="18" charset="0"/>
                        </a:rPr>
                        <m:t>𝑧</m:t>
                      </m:r>
                      <m:r>
                        <a:rPr lang="en-US" altLang="zh-CN" sz="2800" i="1" smtClean="0">
                          <a:latin typeface="Cambria Math" panose="02040503050406030204" charset="0"/>
                          <a:cs typeface="Times New Roman" panose="02020603050405020304" pitchFamily="18" charset="0"/>
                        </a:rPr>
                        <m:t>’ =</m:t>
                      </m:r>
                      <m:r>
                        <a:rPr lang="en-US" altLang="zh-CN" sz="2800" i="1" smtClean="0">
                          <a:latin typeface="Cambria Math" panose="02040503050406030204" charset="0"/>
                          <a:cs typeface="Times New Roman" panose="02020603050405020304" pitchFamily="18" charset="0"/>
                        </a:rPr>
                        <m:t>𝑧</m:t>
                      </m:r>
                    </m:oMath>
                  </m:oMathPara>
                </a14:m>
                <a:endParaRPr lang="en-US" altLang="zh-CN" sz="2800" dirty="0">
                  <a:latin typeface="Times New Roman" panose="02020603050405020304" pitchFamily="18" charset="0"/>
                  <a:cs typeface="Times New Roman" panose="02020603050405020304" pitchFamily="18" charset="0"/>
                </a:endParaRPr>
              </a:p>
            </p:txBody>
          </p:sp>
        </mc:Choice>
        <mc:Fallback xmlns="">
          <p:sp>
            <p:nvSpPr>
              <p:cNvPr id="5" name="Text Box 5"/>
              <p:cNvSpPr txBox="1">
                <a:spLocks noRot="1" noChangeAspect="1" noMove="1" noResize="1" noEditPoints="1" noAdjustHandles="1" noChangeArrowheads="1" noChangeShapeType="1" noTextEdit="1"/>
              </p:cNvSpPr>
              <p:nvPr/>
            </p:nvSpPr>
            <p:spPr bwMode="auto">
              <a:xfrm>
                <a:off x="2040622" y="1995288"/>
                <a:ext cx="3457870" cy="1384995"/>
              </a:xfrm>
              <a:prstGeom prst="rect">
                <a:avLst/>
              </a:prstGeom>
              <a:blipFill rotWithShape="1">
                <a:blip r:embed="rId3"/>
                <a:stretch>
                  <a:fillRect l="-11" t="-9" r="1" b="13"/>
                </a:stretch>
              </a:blipFill>
              <a:ln w="12700">
                <a:noFill/>
                <a:miter lim="800000"/>
                <a:headEnd type="none" w="sm" len="sm"/>
                <a:tailEnd type="none" w="sm" len="sm"/>
              </a:ln>
            </p:spPr>
            <p:txBody>
              <a:bodyPr/>
              <a:lstStyle/>
              <a:p>
                <a:r>
                  <a:rPr lang="zh-CN" altLang="en-US">
                    <a:noFill/>
                  </a:rPr>
                  <a:t> </a:t>
                </a:r>
              </a:p>
            </p:txBody>
          </p:sp>
        </mc:Fallback>
      </mc:AlternateContent>
      <p:graphicFrame>
        <p:nvGraphicFramePr>
          <p:cNvPr id="6" name="Object 2"/>
          <p:cNvGraphicFramePr>
            <a:graphicFrameLocks noChangeAspect="1"/>
          </p:cNvGraphicFramePr>
          <p:nvPr/>
        </p:nvGraphicFramePr>
        <p:xfrm>
          <a:off x="3774467" y="4187626"/>
          <a:ext cx="3448050" cy="2159000"/>
        </p:xfrm>
        <a:graphic>
          <a:graphicData uri="http://schemas.openxmlformats.org/presentationml/2006/ole">
            <mc:AlternateContent xmlns:mc="http://schemas.openxmlformats.org/markup-compatibility/2006">
              <mc:Choice xmlns:v="urn:schemas-microsoft-com:vml" Requires="v">
                <p:oleObj name="Equation" r:id="rId4" imgW="1459865" imgH="914400" progId="Equation.3">
                  <p:embed/>
                </p:oleObj>
              </mc:Choice>
              <mc:Fallback>
                <p:oleObj name="Equation" r:id="rId4" imgW="1459865" imgH="914400" progId="Equation.3">
                  <p:embed/>
                  <p:pic>
                    <p:nvPicPr>
                      <p:cNvPr id="0" name="图片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74467" y="4187626"/>
                        <a:ext cx="3448050" cy="2159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AlternateContent xmlns:mc="http://schemas.openxmlformats.org/markup-compatibility/2006" xmlns:a14="http://schemas.microsoft.com/office/drawing/2010/main">
        <mc:Choice Requires="a14">
          <p:sp>
            <p:nvSpPr>
              <p:cNvPr id="8" name="Text Box 6"/>
              <p:cNvSpPr txBox="1">
                <a:spLocks noChangeArrowheads="1"/>
              </p:cNvSpPr>
              <p:nvPr/>
            </p:nvSpPr>
            <p:spPr>
              <a:xfrm>
                <a:off x="1535945" y="5052892"/>
                <a:ext cx="2347912" cy="448866"/>
              </a:xfrm>
              <a:prstGeom prst="rect">
                <a:avLst/>
              </a:prstGeom>
              <a:noFill/>
            </p:spPr>
            <p:txBody>
              <a:bodyPr vert="horz" lIns="91440" tIns="45720" rIns="91440" bIns="45720" rtlCol="0">
                <a:normAutofit/>
              </a:bodyPr>
              <a:lstStyle/>
              <a:p>
                <a:pPr marL="228600" lvl="0" indent="-360045">
                  <a:lnSpc>
                    <a:spcPct val="90000"/>
                  </a:lnSpc>
                  <a:spcBef>
                    <a:spcPct val="0"/>
                  </a:spcBef>
                  <a:buClr>
                    <a:srgbClr val="94003F"/>
                  </a:buClr>
                  <a:buSzPct val="70000"/>
                  <a:defRPr/>
                </a:pPr>
                <a14:m>
                  <m:oMathPara xmlns:m="http://schemas.openxmlformats.org/officeDocument/2006/math">
                    <m:oMathParaPr>
                      <m:jc m:val="centerGroup"/>
                    </m:oMathParaPr>
                    <m:oMath xmlns:m="http://schemas.openxmlformats.org/officeDocument/2006/math">
                      <m:r>
                        <a:rPr kumimoji="0" lang="en-US" altLang="zh-CN" sz="2400" b="1" i="1" u="none" strike="noStrike" kern="1200" cap="none" spc="0" normalizeH="0" baseline="0" noProof="0" dirty="0" smtClean="0">
                          <a:ln>
                            <a:noFill/>
                          </a:ln>
                          <a:solidFill>
                            <a:schemeClr val="tx1"/>
                          </a:solidFill>
                          <a:effectLst/>
                          <a:uLnTx/>
                          <a:uFillTx/>
                          <a:latin typeface="Cambria Math" panose="02040503050406030204" charset="0"/>
                          <a:ea typeface="微软雅黑" panose="020B0503020204020204" pitchFamily="34" charset="-122"/>
                        </a:rPr>
                        <m:t>𝑹</m:t>
                      </m:r>
                      <m:r>
                        <a:rPr kumimoji="0" lang="en-US" altLang="zh-CN" sz="2400" b="0" i="1" u="none" strike="noStrike" kern="1200" cap="none" spc="0" normalizeH="0" baseline="0" noProof="0" dirty="0" smtClean="0">
                          <a:ln>
                            <a:noFill/>
                          </a:ln>
                          <a:solidFill>
                            <a:schemeClr val="tx1"/>
                          </a:solidFill>
                          <a:effectLst/>
                          <a:uLnTx/>
                          <a:uFillTx/>
                          <a:latin typeface="Cambria Math" panose="02040503050406030204" charset="0"/>
                          <a:ea typeface="微软雅黑" panose="020B0503020204020204" pitchFamily="34" charset="-122"/>
                        </a:rPr>
                        <m:t> = </m:t>
                      </m:r>
                      <m:r>
                        <a:rPr kumimoji="0" lang="en-US" altLang="zh-CN" sz="2400" b="1" i="1" u="none" strike="noStrike" kern="1200" cap="none" spc="0" normalizeH="0" baseline="0" noProof="0" dirty="0" err="1" smtClean="0">
                          <a:ln>
                            <a:noFill/>
                          </a:ln>
                          <a:solidFill>
                            <a:schemeClr val="tx1"/>
                          </a:solidFill>
                          <a:effectLst/>
                          <a:uLnTx/>
                          <a:uFillTx/>
                          <a:latin typeface="Cambria Math" panose="02040503050406030204" charset="0"/>
                          <a:ea typeface="微软雅黑" panose="020B0503020204020204" pitchFamily="34" charset="-122"/>
                        </a:rPr>
                        <m:t>𝑹</m:t>
                      </m:r>
                      <m:r>
                        <a:rPr kumimoji="0" lang="en-US" altLang="zh-CN" sz="2400" b="0" i="1" u="none" strike="noStrike" kern="1200" cap="none" spc="0" normalizeH="0" baseline="-25000" noProof="0" dirty="0" err="1" smtClean="0">
                          <a:ln>
                            <a:noFill/>
                          </a:ln>
                          <a:solidFill>
                            <a:schemeClr val="tx1"/>
                          </a:solidFill>
                          <a:effectLst/>
                          <a:uLnTx/>
                          <a:uFillTx/>
                          <a:latin typeface="Cambria Math" panose="02040503050406030204" charset="0"/>
                          <a:ea typeface="微软雅黑" panose="020B0503020204020204" pitchFamily="34" charset="-122"/>
                        </a:rPr>
                        <m:t>𝑧</m:t>
                      </m:r>
                      <m:r>
                        <a:rPr kumimoji="0" lang="en-US" altLang="zh-CN" sz="2400" b="0" i="1" u="none" strike="noStrike" kern="1200" cap="none" spc="0" normalizeH="0" baseline="0" noProof="0" dirty="0" smtClean="0">
                          <a:ln>
                            <a:noFill/>
                          </a:ln>
                          <a:solidFill>
                            <a:schemeClr val="tx1"/>
                          </a:solidFill>
                          <a:effectLst/>
                          <a:uLnTx/>
                          <a:uFillTx/>
                          <a:latin typeface="Cambria Math" panose="02040503050406030204" charset="0"/>
                          <a:ea typeface="微软雅黑" panose="020B0503020204020204" pitchFamily="34" charset="-122"/>
                        </a:rPr>
                        <m:t>(</m:t>
                      </m:r>
                      <m:r>
                        <a:rPr lang="en-US" altLang="zh-CN" sz="2400" i="1">
                          <a:latin typeface="Cambria Math" panose="02040503050406030204" charset="0"/>
                          <a:ea typeface="Cambria Math" panose="02040503050406030204" charset="0"/>
                          <a:cs typeface="Cambria Math" panose="02040503050406030204" charset="0"/>
                        </a:rPr>
                        <m:t>𝜃</m:t>
                      </m:r>
                      <m:r>
                        <a:rPr kumimoji="0" lang="en-US" altLang="zh-CN" sz="2400" b="0" i="1" u="none" strike="noStrike" kern="1200" cap="none" spc="0" normalizeH="0" baseline="0" noProof="0" dirty="0" smtClean="0">
                          <a:ln>
                            <a:noFill/>
                          </a:ln>
                          <a:solidFill>
                            <a:schemeClr val="tx1"/>
                          </a:solidFill>
                          <a:effectLst/>
                          <a:uLnTx/>
                          <a:uFillTx/>
                          <a:latin typeface="Cambria Math" panose="02040503050406030204" charset="0"/>
                          <a:ea typeface="微软雅黑" panose="020B0503020204020204" pitchFamily="34" charset="-122"/>
                        </a:rPr>
                        <m:t>) =</m:t>
                      </m:r>
                    </m:oMath>
                  </m:oMathPara>
                </a14:m>
                <a:endParaRPr kumimoji="0"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endParaRPr>
              </a:p>
            </p:txBody>
          </p:sp>
        </mc:Choice>
        <mc:Fallback xmlns="">
          <p:sp>
            <p:nvSpPr>
              <p:cNvPr id="8" name="Text Box 6"/>
              <p:cNvSpPr txBox="1">
                <a:spLocks noRot="1" noChangeAspect="1" noMove="1" noResize="1" noEditPoints="1" noAdjustHandles="1" noChangeArrowheads="1" noChangeShapeType="1" noTextEdit="1"/>
              </p:cNvSpPr>
              <p:nvPr/>
            </p:nvSpPr>
            <p:spPr>
              <a:xfrm>
                <a:off x="1535945" y="5052892"/>
                <a:ext cx="2347912" cy="448866"/>
              </a:xfrm>
              <a:prstGeom prst="rect">
                <a:avLst/>
              </a:prstGeom>
              <a:blipFill rotWithShape="1">
                <a:blip r:embed="rId6"/>
                <a:stretch>
                  <a:fillRect l="-22" t="-44" r="8" b="26"/>
                </a:stretch>
              </a:blipFill>
            </p:spPr>
            <p:txBody>
              <a:bodyPr/>
              <a:lstStyle/>
              <a:p>
                <a:r>
                  <a:rPr lang="zh-CN" altLang="en-US">
                    <a:noFill/>
                  </a:rPr>
                  <a:t> </a:t>
                </a:r>
              </a:p>
            </p:txBody>
          </p:sp>
        </mc:Fallback>
      </mc:AlternateContent>
      <p:grpSp>
        <p:nvGrpSpPr>
          <p:cNvPr id="14" name="Group 13"/>
          <p:cNvGrpSpPr/>
          <p:nvPr/>
        </p:nvGrpSpPr>
        <p:grpSpPr>
          <a:xfrm>
            <a:off x="5719527" y="1698473"/>
            <a:ext cx="3135724" cy="1998825"/>
            <a:chOff x="1409994" y="2467493"/>
            <a:chExt cx="5333323" cy="3399656"/>
          </a:xfrm>
        </p:grpSpPr>
        <p:pic>
          <p:nvPicPr>
            <p:cNvPr id="9" name="Picture 2" descr="E:\CG\交互式计算机图形学—基于OpenGL着色器的自顶向下方法（第六版）\Figures\CHAPTER03 JPEG\AN03F34.jpg"/>
            <p:cNvPicPr>
              <a:picLocks noChangeAspect="1" noChangeArrowheads="1"/>
            </p:cNvPicPr>
            <p:nvPr/>
          </p:nvPicPr>
          <p:blipFill>
            <a:blip r:embed="rId7" cstate="print"/>
            <a:srcRect/>
            <a:stretch>
              <a:fillRect/>
            </a:stretch>
          </p:blipFill>
          <p:spPr bwMode="auto">
            <a:xfrm>
              <a:off x="1409994" y="2617423"/>
              <a:ext cx="3212211" cy="3249726"/>
            </a:xfrm>
            <a:prstGeom prst="rect">
              <a:avLst/>
            </a:prstGeom>
            <a:noFill/>
          </p:spPr>
        </p:pic>
        <mc:AlternateContent xmlns:mc="http://schemas.openxmlformats.org/markup-compatibility/2006" xmlns:a14="http://schemas.microsoft.com/office/drawing/2010/main">
          <mc:Choice Requires="a14">
            <p:sp>
              <p:nvSpPr>
                <p:cNvPr id="10" name="Text Box 9"/>
                <p:cNvSpPr txBox="1">
                  <a:spLocks noChangeArrowheads="1"/>
                </p:cNvSpPr>
                <p:nvPr/>
              </p:nvSpPr>
              <p:spPr bwMode="auto">
                <a:xfrm>
                  <a:off x="5023812" y="4935355"/>
                  <a:ext cx="1719505" cy="785213"/>
                </a:xfrm>
                <a:prstGeom prst="rect">
                  <a:avLst/>
                </a:prstGeom>
                <a:noFill/>
                <a:ln w="12700">
                  <a:noFill/>
                  <a:miter lim="800000"/>
                  <a:headEnd type="none" w="sm" len="sm"/>
                  <a:tailEnd type="none" w="sm" len="sm"/>
                </a:ln>
              </p:spPr>
              <p:txBody>
                <a:bodyPr wrap="none" anchorCtr="1">
                  <a:spAutoFit/>
                </a:bodyPr>
                <a:lstStyle/>
                <a:p>
                  <a:pPr/>
                  <a14:m>
                    <m:oMathPara xmlns:m="http://schemas.openxmlformats.org/officeDocument/2006/math">
                      <m:oMathParaPr>
                        <m:jc m:val="centerGroup"/>
                      </m:oMathParaPr>
                      <m:oMath xmlns:m="http://schemas.openxmlformats.org/officeDocument/2006/math">
                        <m:r>
                          <a:rPr lang="en-US" altLang="zh-CN" sz="1200" i="1" dirty="0" smtClean="0">
                            <a:latin typeface="Cambria Math" panose="02040503050406030204" charset="0"/>
                            <a:cs typeface="Times New Roman" panose="02020603050405020304" pitchFamily="18" charset="0"/>
                          </a:rPr>
                          <m:t>𝑥</m:t>
                        </m:r>
                        <m:r>
                          <a:rPr lang="en-US" altLang="zh-CN" sz="1200" i="1" dirty="0" smtClean="0">
                            <a:latin typeface="Cambria Math" panose="02040503050406030204" charset="0"/>
                            <a:cs typeface="Times New Roman" panose="02020603050405020304" pitchFamily="18" charset="0"/>
                          </a:rPr>
                          <m:t> = </m:t>
                        </m:r>
                        <m:r>
                          <a:rPr lang="en-US" altLang="zh-CN" sz="1200" i="1" dirty="0" smtClean="0">
                            <a:latin typeface="Cambria Math" panose="02040503050406030204" charset="0"/>
                            <a:cs typeface="Times New Roman" panose="02020603050405020304" pitchFamily="18" charset="0"/>
                          </a:rPr>
                          <m:t>𝑟</m:t>
                        </m:r>
                        <m:r>
                          <a:rPr lang="en-US" altLang="zh-CN" sz="1200" i="1" dirty="0" smtClean="0">
                            <a:latin typeface="Cambria Math" panose="02040503050406030204" charset="0"/>
                            <a:cs typeface="Times New Roman" panose="02020603050405020304" pitchFamily="18" charset="0"/>
                          </a:rPr>
                          <m:t> </m:t>
                        </m:r>
                        <m:r>
                          <m:rPr>
                            <m:sty m:val="p"/>
                          </m:rPr>
                          <a:rPr lang="en-US" altLang="zh-CN" sz="1200" i="1" dirty="0" err="1" smtClean="0">
                            <a:latin typeface="Cambria Math" panose="02040503050406030204" charset="0"/>
                            <a:cs typeface="Times New Roman" panose="02020603050405020304" pitchFamily="18" charset="0"/>
                          </a:rPr>
                          <m:t>cos</m:t>
                        </m:r>
                        <m:r>
                          <a:rPr lang="el-GR" altLang="zh-CN" sz="1200" i="1" dirty="0" smtClean="0">
                            <a:latin typeface="Cambria Math" panose="02040503050406030204" charset="0"/>
                            <a:cs typeface="Times New Roman" panose="02020603050405020304" pitchFamily="18" charset="0"/>
                          </a:rPr>
                          <m:t>𝜑</m:t>
                        </m:r>
                      </m:oMath>
                    </m:oMathPara>
                  </a14:m>
                  <a:endParaRPr lang="el-GR" altLang="zh-CN" sz="1200" i="1" dirty="0">
                    <a:latin typeface="Times New Roman" panose="020206030504050203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en-US" altLang="zh-CN" sz="1200" i="1" dirty="0" smtClean="0">
                            <a:latin typeface="Cambria Math" panose="02040503050406030204" charset="0"/>
                            <a:cs typeface="Times New Roman" panose="02020603050405020304" pitchFamily="18" charset="0"/>
                          </a:rPr>
                          <m:t>𝑦</m:t>
                        </m:r>
                        <m:r>
                          <a:rPr lang="en-US" altLang="zh-CN" sz="1200" i="1" dirty="0" smtClean="0">
                            <a:latin typeface="Cambria Math" panose="02040503050406030204" charset="0"/>
                            <a:cs typeface="Times New Roman" panose="02020603050405020304" pitchFamily="18" charset="0"/>
                          </a:rPr>
                          <m:t> = </m:t>
                        </m:r>
                        <m:r>
                          <a:rPr lang="en-US" altLang="zh-CN" sz="1200" i="1" dirty="0" smtClean="0">
                            <a:latin typeface="Cambria Math" panose="02040503050406030204" charset="0"/>
                            <a:cs typeface="Times New Roman" panose="02020603050405020304" pitchFamily="18" charset="0"/>
                          </a:rPr>
                          <m:t>𝑟</m:t>
                        </m:r>
                        <m:r>
                          <a:rPr lang="en-US" altLang="zh-CN" sz="1200" i="1" dirty="0" smtClean="0">
                            <a:latin typeface="Cambria Math" panose="02040503050406030204" charset="0"/>
                            <a:cs typeface="Times New Roman" panose="02020603050405020304" pitchFamily="18" charset="0"/>
                          </a:rPr>
                          <m:t> </m:t>
                        </m:r>
                        <m:r>
                          <m:rPr>
                            <m:sty m:val="p"/>
                          </m:rPr>
                          <a:rPr lang="en-US" altLang="zh-CN" sz="1200" i="1" dirty="0" smtClean="0">
                            <a:latin typeface="Cambria Math" panose="02040503050406030204" charset="0"/>
                            <a:cs typeface="Times New Roman" panose="02020603050405020304" pitchFamily="18" charset="0"/>
                          </a:rPr>
                          <m:t>sin</m:t>
                        </m:r>
                        <m:r>
                          <a:rPr lang="el-GR" altLang="zh-CN" sz="1200" i="1" dirty="0" smtClean="0">
                            <a:latin typeface="Cambria Math" panose="02040503050406030204" charset="0"/>
                            <a:cs typeface="Times New Roman" panose="02020603050405020304" pitchFamily="18" charset="0"/>
                          </a:rPr>
                          <m:t>𝜑</m:t>
                        </m:r>
                      </m:oMath>
                    </m:oMathPara>
                  </a14:m>
                  <a:endParaRPr lang="en-US" altLang="zh-CN" sz="1200" dirty="0">
                    <a:latin typeface="Times New Roman" panose="02020603050405020304" pitchFamily="18" charset="0"/>
                    <a:ea typeface="华文新魏" panose="02010800040101010101" pitchFamily="2" charset="-122"/>
                    <a:cs typeface="Times New Roman" panose="02020603050405020304" pitchFamily="18" charset="0"/>
                  </a:endParaRPr>
                </a:p>
              </p:txBody>
            </p:sp>
          </mc:Choice>
          <mc:Fallback xmlns="">
            <p:sp>
              <p:nvSpPr>
                <p:cNvPr id="10" name="Text Box 9"/>
                <p:cNvSpPr txBox="1">
                  <a:spLocks noRot="1" noChangeAspect="1" noMove="1" noResize="1" noEditPoints="1" noAdjustHandles="1" noChangeArrowheads="1" noChangeShapeType="1" noTextEdit="1"/>
                </p:cNvSpPr>
                <p:nvPr/>
              </p:nvSpPr>
              <p:spPr bwMode="auto">
                <a:xfrm>
                  <a:off x="5023812" y="4935355"/>
                  <a:ext cx="1719505" cy="785213"/>
                </a:xfrm>
                <a:prstGeom prst="rect">
                  <a:avLst/>
                </a:prstGeom>
                <a:blipFill rotWithShape="1">
                  <a:blip r:embed="rId8"/>
                </a:blipFill>
                <a:ln w="12700">
                  <a:noFill/>
                  <a:miter lim="800000"/>
                  <a:headEnd type="none" w="sm" len="sm"/>
                  <a:tailEnd type="none" w="sm" len="sm"/>
                </a:ln>
              </p:spPr>
              <p:txBody>
                <a:bodyPr/>
                <a:lstStyle/>
                <a:p>
                  <a:r>
                    <a:rPr lang="zh-CN" altLang="en-US">
                      <a:noFill/>
                    </a:rPr>
                    <a:t> </a:t>
                  </a:r>
                </a:p>
              </p:txBody>
            </p:sp>
          </mc:Fallback>
        </mc:AlternateContent>
        <p:sp>
          <p:nvSpPr>
            <p:cNvPr id="11" name="Line 10"/>
            <p:cNvSpPr>
              <a:spLocks noChangeShapeType="1"/>
            </p:cNvSpPr>
            <p:nvPr/>
          </p:nvSpPr>
          <p:spPr bwMode="auto">
            <a:xfrm flipH="1" flipV="1">
              <a:off x="4143375" y="4986337"/>
              <a:ext cx="880437" cy="347705"/>
            </a:xfrm>
            <a:prstGeom prst="line">
              <a:avLst/>
            </a:prstGeom>
            <a:noFill/>
            <a:ln w="12700">
              <a:solidFill>
                <a:srgbClr val="FF0000"/>
              </a:solidFill>
              <a:round/>
              <a:headEnd type="none" w="sm" len="sm"/>
              <a:tailEnd type="triangle" w="sm" len="sm"/>
            </a:ln>
          </p:spPr>
          <p:txBody>
            <a:bodyPr anchor="ctr" anchorCtr="1"/>
            <a:lstStyle/>
            <a:p>
              <a:endParaRPr lang="zh-CN" altLang="en-US">
                <a:latin typeface="华文新魏" panose="02010800040101010101" pitchFamily="2" charset="-122"/>
                <a:ea typeface="华文新魏" panose="02010800040101010101" pitchFamily="2" charset="-122"/>
              </a:endParaRPr>
            </a:p>
          </p:txBody>
        </p:sp>
        <mc:AlternateContent xmlns:mc="http://schemas.openxmlformats.org/markup-compatibility/2006" xmlns:a14="http://schemas.microsoft.com/office/drawing/2010/main">
          <mc:Choice Requires="a14">
            <p:sp>
              <p:nvSpPr>
                <p:cNvPr id="12" name="Text Box 11"/>
                <p:cNvSpPr txBox="1">
                  <a:spLocks noChangeArrowheads="1"/>
                </p:cNvSpPr>
                <p:nvPr/>
              </p:nvSpPr>
              <p:spPr bwMode="auto">
                <a:xfrm>
                  <a:off x="4095329" y="2467493"/>
                  <a:ext cx="2511587" cy="785212"/>
                </a:xfrm>
                <a:prstGeom prst="rect">
                  <a:avLst/>
                </a:prstGeom>
                <a:noFill/>
                <a:ln w="12700">
                  <a:noFill/>
                  <a:miter lim="800000"/>
                  <a:headEnd type="none" w="sm" len="sm"/>
                  <a:tailEnd type="none" w="sm" len="sm"/>
                </a:ln>
              </p:spPr>
              <p:txBody>
                <a:bodyPr wrap="none" anchorCtr="1">
                  <a:spAutoFit/>
                </a:bodyPr>
                <a:lstStyle/>
                <a:p>
                  <a:pPr/>
                  <a14:m>
                    <m:oMathPara xmlns:m="http://schemas.openxmlformats.org/officeDocument/2006/math">
                      <m:oMathParaPr>
                        <m:jc m:val="centerGroup"/>
                      </m:oMathParaPr>
                      <m:oMath xmlns:m="http://schemas.openxmlformats.org/officeDocument/2006/math">
                        <m:r>
                          <a:rPr lang="en-US" altLang="zh-CN" sz="1200" i="1" dirty="0" smtClean="0">
                            <a:latin typeface="Cambria Math" panose="02040503050406030204" charset="0"/>
                            <a:cs typeface="Times New Roman" panose="02020603050405020304" pitchFamily="18" charset="0"/>
                          </a:rPr>
                          <m:t>𝑥</m:t>
                        </m:r>
                        <m:r>
                          <a:rPr lang="en-US" altLang="zh-CN" sz="1200" i="1" dirty="0" smtClean="0">
                            <a:latin typeface="Cambria Math" panose="02040503050406030204" charset="0"/>
                            <a:cs typeface="Times New Roman" panose="02020603050405020304" pitchFamily="18" charset="0"/>
                          </a:rPr>
                          <m:t>’=</m:t>
                        </m:r>
                        <m:r>
                          <a:rPr lang="en-US" altLang="zh-CN" sz="1200" i="1" dirty="0" smtClean="0">
                            <a:latin typeface="Cambria Math" panose="02040503050406030204" charset="0"/>
                            <a:cs typeface="Times New Roman" panose="02020603050405020304" pitchFamily="18" charset="0"/>
                          </a:rPr>
                          <m:t>𝑟</m:t>
                        </m:r>
                        <m:r>
                          <a:rPr lang="zh-CN" altLang="en-US" sz="1200" b="0" i="1" dirty="0" smtClean="0">
                            <a:latin typeface="Cambria Math" panose="02040503050406030204" charset="0"/>
                            <a:cs typeface="Times New Roman" panose="02020603050405020304" pitchFamily="18" charset="0"/>
                          </a:rPr>
                          <m:t> </m:t>
                        </m:r>
                        <m:r>
                          <m:rPr>
                            <m:sty m:val="p"/>
                          </m:rPr>
                          <a:rPr lang="en-US" altLang="zh-CN" sz="1200" i="1" dirty="0" err="1" smtClean="0">
                            <a:latin typeface="Cambria Math" panose="02040503050406030204" charset="0"/>
                            <a:cs typeface="Times New Roman" panose="02020603050405020304" pitchFamily="18" charset="0"/>
                          </a:rPr>
                          <m:t>cos</m:t>
                        </m:r>
                        <m:r>
                          <a:rPr lang="en-US" altLang="zh-CN" sz="1200" i="1" dirty="0" smtClean="0">
                            <a:latin typeface="Cambria Math" panose="02040503050406030204" charset="0"/>
                            <a:cs typeface="Times New Roman" panose="02020603050405020304" pitchFamily="18" charset="0"/>
                          </a:rPr>
                          <m:t>⁡(</m:t>
                        </m:r>
                        <m:r>
                          <a:rPr lang="el-GR" altLang="zh-CN" sz="1200" i="1" dirty="0" smtClean="0">
                            <a:latin typeface="Cambria Math" panose="02040503050406030204" charset="0"/>
                            <a:cs typeface="Times New Roman" panose="02020603050405020304" pitchFamily="18" charset="0"/>
                          </a:rPr>
                          <m:t>𝜑</m:t>
                        </m:r>
                        <m:r>
                          <a:rPr lang="el-GR" altLang="zh-CN" sz="1200" i="1" dirty="0" smtClean="0">
                            <a:latin typeface="Cambria Math" panose="02040503050406030204" charset="0"/>
                            <a:cs typeface="Times New Roman" panose="02020603050405020304" pitchFamily="18" charset="0"/>
                          </a:rPr>
                          <m:t> + </m:t>
                        </m:r>
                        <m:r>
                          <a:rPr lang="el-GR" altLang="zh-CN" sz="1200" i="1" dirty="0" smtClean="0">
                            <a:latin typeface="Cambria Math" panose="02040503050406030204" charset="0"/>
                            <a:cs typeface="Times New Roman" panose="02020603050405020304" pitchFamily="18" charset="0"/>
                          </a:rPr>
                          <m:t>𝜃</m:t>
                        </m:r>
                        <m:r>
                          <a:rPr lang="el-GR" altLang="zh-CN" sz="1200" i="1" dirty="0" smtClean="0">
                            <a:latin typeface="Cambria Math" panose="02040503050406030204" charset="0"/>
                            <a:cs typeface="Times New Roman" panose="02020603050405020304" pitchFamily="18" charset="0"/>
                          </a:rPr>
                          <m:t>) </m:t>
                        </m:r>
                      </m:oMath>
                    </m:oMathPara>
                  </a14:m>
                  <a:endParaRPr lang="en-US" altLang="zh-CN" sz="1200" i="1" dirty="0">
                    <a:latin typeface="Times New Roman" panose="020206030504050203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es-ES" altLang="zh-CN" sz="1200" i="1" dirty="0" smtClean="0">
                            <a:latin typeface="Cambria Math" panose="02040503050406030204" charset="0"/>
                            <a:cs typeface="Times New Roman" panose="02020603050405020304" pitchFamily="18" charset="0"/>
                          </a:rPr>
                          <m:t>𝑦</m:t>
                        </m:r>
                        <m:r>
                          <a:rPr lang="es-ES" altLang="zh-CN" sz="1200" i="1" dirty="0" smtClean="0">
                            <a:latin typeface="Cambria Math" panose="02040503050406030204" charset="0"/>
                            <a:cs typeface="Times New Roman" panose="02020603050405020304" pitchFamily="18" charset="0"/>
                          </a:rPr>
                          <m:t>’=</m:t>
                        </m:r>
                        <m:r>
                          <a:rPr lang="es-ES" altLang="zh-CN" sz="1200" i="1" dirty="0" smtClean="0">
                            <a:latin typeface="Cambria Math" panose="02040503050406030204" charset="0"/>
                            <a:cs typeface="Times New Roman" panose="02020603050405020304" pitchFamily="18" charset="0"/>
                          </a:rPr>
                          <m:t>𝑟</m:t>
                        </m:r>
                        <m:r>
                          <a:rPr lang="zh-CN" altLang="en-US" sz="1200" b="0" i="1" dirty="0" smtClean="0">
                            <a:latin typeface="Cambria Math" panose="02040503050406030204" charset="0"/>
                            <a:cs typeface="Times New Roman" panose="02020603050405020304" pitchFamily="18" charset="0"/>
                          </a:rPr>
                          <m:t> </m:t>
                        </m:r>
                        <m:r>
                          <m:rPr>
                            <m:sty m:val="p"/>
                          </m:rPr>
                          <a:rPr lang="es-ES" altLang="zh-CN" sz="1200" i="1" dirty="0" smtClean="0">
                            <a:latin typeface="Cambria Math" panose="02040503050406030204" charset="0"/>
                            <a:cs typeface="Times New Roman" panose="02020603050405020304" pitchFamily="18" charset="0"/>
                          </a:rPr>
                          <m:t>sin</m:t>
                        </m:r>
                        <m:r>
                          <a:rPr lang="es-ES" altLang="zh-CN" sz="1200" i="1" dirty="0" smtClean="0">
                            <a:latin typeface="Cambria Math" panose="02040503050406030204" charset="0"/>
                            <a:cs typeface="Times New Roman" panose="02020603050405020304" pitchFamily="18" charset="0"/>
                          </a:rPr>
                          <m:t>⁡(</m:t>
                        </m:r>
                        <m:r>
                          <a:rPr lang="es-ES" altLang="zh-CN" sz="1200" i="1" dirty="0" smtClean="0">
                            <a:latin typeface="Cambria Math" panose="02040503050406030204" charset="0"/>
                            <a:cs typeface="Times New Roman" panose="02020603050405020304" pitchFamily="18" charset="0"/>
                          </a:rPr>
                          <m:t>𝜑</m:t>
                        </m:r>
                        <m:r>
                          <a:rPr lang="es-ES" altLang="zh-CN" sz="1200" i="1" dirty="0" smtClean="0">
                            <a:latin typeface="Cambria Math" panose="02040503050406030204" charset="0"/>
                            <a:cs typeface="Times New Roman" panose="02020603050405020304" pitchFamily="18" charset="0"/>
                          </a:rPr>
                          <m:t> + </m:t>
                        </m:r>
                        <m:r>
                          <a:rPr lang="es-ES" altLang="zh-CN" sz="1200" i="1" dirty="0" smtClean="0">
                            <a:latin typeface="Cambria Math" panose="02040503050406030204" charset="0"/>
                            <a:cs typeface="Times New Roman" panose="02020603050405020304" pitchFamily="18" charset="0"/>
                          </a:rPr>
                          <m:t>𝜃</m:t>
                        </m:r>
                        <m:r>
                          <a:rPr lang="es-ES" altLang="zh-CN" sz="1200" i="1" dirty="0" smtClean="0">
                            <a:latin typeface="Cambria Math" panose="02040503050406030204" charset="0"/>
                            <a:cs typeface="Times New Roman" panose="02020603050405020304" pitchFamily="18" charset="0"/>
                          </a:rPr>
                          <m:t>)</m:t>
                        </m:r>
                      </m:oMath>
                    </m:oMathPara>
                  </a14:m>
                  <a:endParaRPr lang="en-US" altLang="zh-CN" sz="1200" dirty="0">
                    <a:latin typeface="Times New Roman" panose="02020603050405020304" pitchFamily="18" charset="0"/>
                    <a:ea typeface="华文新魏" panose="02010800040101010101" pitchFamily="2" charset="-122"/>
                    <a:cs typeface="Times New Roman" panose="02020603050405020304" pitchFamily="18" charset="0"/>
                  </a:endParaRPr>
                </a:p>
              </p:txBody>
            </p:sp>
          </mc:Choice>
          <mc:Fallback xmlns="">
            <p:sp>
              <p:nvSpPr>
                <p:cNvPr id="12" name="Text Box 11"/>
                <p:cNvSpPr txBox="1">
                  <a:spLocks noRot="1" noChangeAspect="1" noMove="1" noResize="1" noEditPoints="1" noAdjustHandles="1" noChangeArrowheads="1" noChangeShapeType="1" noTextEdit="1"/>
                </p:cNvSpPr>
                <p:nvPr/>
              </p:nvSpPr>
              <p:spPr bwMode="auto">
                <a:xfrm>
                  <a:off x="4095329" y="2467493"/>
                  <a:ext cx="2511587" cy="785212"/>
                </a:xfrm>
                <a:prstGeom prst="rect">
                  <a:avLst/>
                </a:prstGeom>
                <a:blipFill rotWithShape="1">
                  <a:blip r:embed="rId9"/>
                </a:blipFill>
                <a:ln w="12700">
                  <a:noFill/>
                  <a:miter lim="800000"/>
                  <a:headEnd type="none" w="sm" len="sm"/>
                  <a:tailEnd type="none" w="sm" len="sm"/>
                </a:ln>
              </p:spPr>
              <p:txBody>
                <a:bodyPr/>
                <a:lstStyle/>
                <a:p>
                  <a:r>
                    <a:rPr lang="zh-CN" altLang="en-US">
                      <a:noFill/>
                    </a:rPr>
                    <a:t> </a:t>
                  </a:r>
                </a:p>
              </p:txBody>
            </p:sp>
          </mc:Fallback>
        </mc:AlternateContent>
        <p:sp>
          <p:nvSpPr>
            <p:cNvPr id="13" name="Line 12"/>
            <p:cNvSpPr>
              <a:spLocks noChangeShapeType="1"/>
            </p:cNvSpPr>
            <p:nvPr/>
          </p:nvSpPr>
          <p:spPr bwMode="auto">
            <a:xfrm flipH="1">
              <a:off x="3719387" y="3297941"/>
              <a:ext cx="423989" cy="285715"/>
            </a:xfrm>
            <a:prstGeom prst="line">
              <a:avLst/>
            </a:prstGeom>
            <a:noFill/>
            <a:ln w="12700">
              <a:solidFill>
                <a:srgbClr val="FF0000"/>
              </a:solidFill>
              <a:round/>
              <a:headEnd type="none" w="sm" len="sm"/>
              <a:tailEnd type="triangle" w="sm" len="sm"/>
            </a:ln>
          </p:spPr>
          <p:txBody>
            <a:bodyPr anchor="ctr" anchorCtr="1"/>
            <a:lstStyle/>
            <a:p>
              <a:endParaRPr lang="zh-CN" altLang="en-US">
                <a:latin typeface="华文新魏" panose="02010800040101010101" pitchFamily="2" charset="-122"/>
                <a:ea typeface="华文新魏" panose="02010800040101010101" pitchFamily="2" charset="-122"/>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绕</a:t>
            </a:r>
            <a:r>
              <a:rPr lang="en-US" altLang="zh-CN" dirty="0"/>
              <a:t>x</a:t>
            </a:r>
            <a:r>
              <a:rPr lang="zh-CN" altLang="en-US" dirty="0"/>
              <a:t>和</a:t>
            </a:r>
            <a:r>
              <a:rPr lang="en-US" altLang="zh-CN" dirty="0"/>
              <a:t>y</a:t>
            </a:r>
            <a:r>
              <a:rPr lang="zh-CN" altLang="en-US" dirty="0"/>
              <a:t>轴的旋转</a:t>
            </a:r>
            <a:endParaRPr lang="en-US" dirty="0"/>
          </a:p>
        </p:txBody>
      </p:sp>
      <p:sp>
        <p:nvSpPr>
          <p:cNvPr id="3" name="Content Placeholder 2"/>
          <p:cNvSpPr>
            <a:spLocks noGrp="1"/>
          </p:cNvSpPr>
          <p:nvPr>
            <p:ph idx="1"/>
          </p:nvPr>
        </p:nvSpPr>
        <p:spPr/>
        <p:txBody>
          <a:bodyPr>
            <a:normAutofit/>
          </a:bodyPr>
          <a:lstStyle/>
          <a:p>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与绕</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z</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轴的旋转完全类似</a:t>
            </a:r>
          </a:p>
          <a:p>
            <a:pPr lvl="1"/>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 对于绕</a:t>
            </a:r>
            <a:r>
              <a:rPr lang="en-US" altLang="zh-CN" sz="1800" dirty="0">
                <a:latin typeface="微软雅黑" panose="020B0503020204020204" pitchFamily="34" charset="-122"/>
                <a:ea typeface="微软雅黑" panose="020B0503020204020204" pitchFamily="34" charset="-122"/>
                <a:cs typeface="微软雅黑" panose="020B0503020204020204" pitchFamily="34" charset="-122"/>
              </a:rPr>
              <a:t>x</a:t>
            </a: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轴的旋转，</a:t>
            </a:r>
            <a:r>
              <a:rPr lang="en-US" altLang="zh-CN" sz="1800" dirty="0">
                <a:latin typeface="微软雅黑" panose="020B0503020204020204" pitchFamily="34" charset="-122"/>
                <a:ea typeface="微软雅黑" panose="020B0503020204020204" pitchFamily="34" charset="-122"/>
                <a:cs typeface="微软雅黑" panose="020B0503020204020204" pitchFamily="34" charset="-122"/>
              </a:rPr>
              <a:t>x</a:t>
            </a: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坐标不变</a:t>
            </a:r>
          </a:p>
          <a:p>
            <a:pPr lvl="1"/>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 对于绕</a:t>
            </a:r>
            <a:r>
              <a:rPr lang="en-US" altLang="zh-CN" sz="1800" dirty="0">
                <a:latin typeface="微软雅黑" panose="020B0503020204020204" pitchFamily="34" charset="-122"/>
                <a:ea typeface="微软雅黑" panose="020B0503020204020204" pitchFamily="34" charset="-122"/>
                <a:cs typeface="微软雅黑" panose="020B0503020204020204" pitchFamily="34" charset="-122"/>
              </a:rPr>
              <a:t>y</a:t>
            </a: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轴的旋转，</a:t>
            </a:r>
            <a:r>
              <a:rPr lang="en-US" altLang="zh-CN" sz="1800" dirty="0">
                <a:latin typeface="微软雅黑" panose="020B0503020204020204" pitchFamily="34" charset="-122"/>
                <a:ea typeface="微软雅黑" panose="020B0503020204020204" pitchFamily="34" charset="-122"/>
                <a:cs typeface="微软雅黑" panose="020B0503020204020204" pitchFamily="34" charset="-122"/>
              </a:rPr>
              <a:t>y</a:t>
            </a: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坐标不变</a:t>
            </a:r>
          </a:p>
          <a:p>
            <a:endParaRPr lang="en-US" sz="2400"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t>24</a:t>
            </a:fld>
            <a:endParaRPr lang="zh-CN" altLang="en-US" dirty="0"/>
          </a:p>
        </p:txBody>
      </p:sp>
      <mc:AlternateContent xmlns:mc="http://schemas.openxmlformats.org/markup-compatibility/2006" xmlns:a14="http://schemas.microsoft.com/office/drawing/2010/main">
        <mc:Choice Requires="a14">
          <p:sp>
            <p:nvSpPr>
              <p:cNvPr id="5" name="Text Box 4"/>
              <p:cNvSpPr txBox="1">
                <a:spLocks noChangeArrowheads="1"/>
              </p:cNvSpPr>
              <p:nvPr/>
            </p:nvSpPr>
            <p:spPr bwMode="auto">
              <a:xfrm>
                <a:off x="1457330" y="3436937"/>
                <a:ext cx="2321040" cy="685800"/>
              </a:xfrm>
              <a:prstGeom prst="rect">
                <a:avLst/>
              </a:prstGeom>
              <a:noFill/>
              <a:ln w="12700">
                <a:noFill/>
                <a:miter lim="800000"/>
                <a:headEnd type="none" w="sm" len="sm"/>
                <a:tailEnd type="none" w="sm" len="sm"/>
              </a:ln>
            </p:spPr>
            <p:txBody>
              <a:bodyPr lIns="92075" tIns="46038" rIns="92075" bIns="46038"/>
              <a:lstStyle/>
              <a:p>
                <a:pPr marL="190500" indent="-190500"/>
                <a14:m>
                  <m:oMathPara xmlns:m="http://schemas.openxmlformats.org/officeDocument/2006/math">
                    <m:oMathParaPr>
                      <m:jc m:val="centerGroup"/>
                    </m:oMathParaPr>
                    <m:oMath xmlns:m="http://schemas.openxmlformats.org/officeDocument/2006/math">
                      <m:r>
                        <a:rPr lang="en-US" altLang="zh-CN" sz="2400" b="1" i="1" dirty="0" smtClean="0">
                          <a:latin typeface="Cambria Math" panose="02040503050406030204" charset="0"/>
                          <a:cs typeface="Times New Roman" panose="02020603050405020304" pitchFamily="18" charset="0"/>
                        </a:rPr>
                        <m:t>𝑹</m:t>
                      </m:r>
                      <m:r>
                        <a:rPr lang="en-US" altLang="zh-CN" sz="2400" i="1" dirty="0">
                          <a:latin typeface="Cambria Math" panose="02040503050406030204" charset="0"/>
                          <a:cs typeface="Times New Roman" panose="02020603050405020304" pitchFamily="18" charset="0"/>
                        </a:rPr>
                        <m:t> = </m:t>
                      </m:r>
                      <m:r>
                        <a:rPr lang="en-US" altLang="zh-CN" sz="2400" b="1" i="1" dirty="0">
                          <a:latin typeface="Cambria Math" panose="02040503050406030204" charset="0"/>
                          <a:cs typeface="Times New Roman" panose="02020603050405020304" pitchFamily="18" charset="0"/>
                        </a:rPr>
                        <m:t>𝑹</m:t>
                      </m:r>
                      <m:r>
                        <a:rPr lang="en-US" altLang="zh-CN" sz="2400" i="1" baseline="-25000" dirty="0">
                          <a:latin typeface="Cambria Math" panose="02040503050406030204" charset="0"/>
                          <a:cs typeface="Times New Roman" panose="02020603050405020304" pitchFamily="18" charset="0"/>
                        </a:rPr>
                        <m:t>𝑥</m:t>
                      </m:r>
                      <m:r>
                        <a:rPr lang="en-US" altLang="zh-CN" sz="2400" i="1" dirty="0">
                          <a:latin typeface="Cambria Math" panose="02040503050406030204" charset="0"/>
                          <a:cs typeface="Times New Roman" panose="02020603050405020304" pitchFamily="18" charset="0"/>
                        </a:rPr>
                        <m:t>(</m:t>
                      </m:r>
                      <m:r>
                        <a:rPr lang="en-US" altLang="zh-CN" sz="2400" i="1">
                          <a:latin typeface="Cambria Math" panose="02040503050406030204" charset="0"/>
                          <a:ea typeface="Cambria Math" panose="02040503050406030204" charset="0"/>
                          <a:cs typeface="Cambria Math" panose="02040503050406030204" charset="0"/>
                        </a:rPr>
                        <m:t>𝜃</m:t>
                      </m:r>
                      <m:r>
                        <a:rPr lang="en-US" altLang="zh-CN" sz="2400" i="1" dirty="0">
                          <a:latin typeface="Cambria Math" panose="02040503050406030204" charset="0"/>
                          <a:cs typeface="Times New Roman" panose="02020603050405020304" pitchFamily="18" charset="0"/>
                        </a:rPr>
                        <m:t>) =</m:t>
                      </m:r>
                    </m:oMath>
                  </m:oMathPara>
                </a14:m>
                <a:endParaRPr lang="en-US" altLang="zh-CN" sz="2400" dirty="0">
                  <a:latin typeface="Times New Roman" panose="02020603050405020304" pitchFamily="18" charset="0"/>
                  <a:cs typeface="Times New Roman" panose="02020603050405020304" pitchFamily="18" charset="0"/>
                </a:endParaRPr>
              </a:p>
            </p:txBody>
          </p:sp>
        </mc:Choice>
        <mc:Fallback xmlns="">
          <p:sp>
            <p:nvSpPr>
              <p:cNvPr id="5" name="Text Box 4"/>
              <p:cNvSpPr txBox="1">
                <a:spLocks noRot="1" noChangeAspect="1" noMove="1" noResize="1" noEditPoints="1" noAdjustHandles="1" noChangeArrowheads="1" noChangeShapeType="1" noTextEdit="1"/>
              </p:cNvSpPr>
              <p:nvPr/>
            </p:nvSpPr>
            <p:spPr bwMode="auto">
              <a:xfrm>
                <a:off x="1457330" y="3436937"/>
                <a:ext cx="2321040" cy="685800"/>
              </a:xfrm>
              <a:prstGeom prst="rect">
                <a:avLst/>
              </a:prstGeom>
              <a:blipFill rotWithShape="1">
                <a:blip r:embed="rId2"/>
                <a:stretch>
                  <a:fillRect t="-46" r="5" b="46"/>
                </a:stretch>
              </a:blipFill>
              <a:ln w="12700">
                <a:noFill/>
                <a:miter lim="800000"/>
                <a:headEnd type="none" w="sm" len="sm"/>
                <a:tailEnd type="none" w="sm" len="sm"/>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Text Box 5"/>
              <p:cNvSpPr txBox="1">
                <a:spLocks noChangeArrowheads="1"/>
              </p:cNvSpPr>
              <p:nvPr/>
            </p:nvSpPr>
            <p:spPr bwMode="auto">
              <a:xfrm>
                <a:off x="1457330" y="5113337"/>
                <a:ext cx="2397240" cy="658814"/>
              </a:xfrm>
              <a:prstGeom prst="rect">
                <a:avLst/>
              </a:prstGeom>
              <a:noFill/>
              <a:ln w="12700">
                <a:noFill/>
                <a:miter lim="800000"/>
                <a:headEnd type="none" w="sm" len="sm"/>
                <a:tailEnd type="none" w="sm" len="sm"/>
              </a:ln>
            </p:spPr>
            <p:txBody>
              <a:bodyPr lIns="92075" tIns="46038" rIns="92075" bIns="46038"/>
              <a:lstStyle/>
              <a:p>
                <a:pPr marL="190500" indent="-190500"/>
                <a14:m>
                  <m:oMathPara xmlns:m="http://schemas.openxmlformats.org/officeDocument/2006/math">
                    <m:oMathParaPr>
                      <m:jc m:val="centerGroup"/>
                    </m:oMathParaPr>
                    <m:oMath xmlns:m="http://schemas.openxmlformats.org/officeDocument/2006/math">
                      <m:r>
                        <a:rPr lang="en-US" altLang="zh-CN" sz="2400" b="1" i="1" dirty="0" smtClean="0">
                          <a:latin typeface="Cambria Math" panose="02040503050406030204" charset="0"/>
                          <a:cs typeface="Times New Roman" panose="02020603050405020304" pitchFamily="18" charset="0"/>
                        </a:rPr>
                        <m:t>𝑹</m:t>
                      </m:r>
                      <m:r>
                        <a:rPr lang="en-US" altLang="zh-CN" sz="2400" i="1" dirty="0">
                          <a:latin typeface="Cambria Math" panose="02040503050406030204" charset="0"/>
                          <a:cs typeface="Times New Roman" panose="02020603050405020304" pitchFamily="18" charset="0"/>
                        </a:rPr>
                        <m:t> = </m:t>
                      </m:r>
                      <m:r>
                        <a:rPr lang="en-US" altLang="zh-CN" sz="2400" b="1" i="1" dirty="0">
                          <a:latin typeface="Cambria Math" panose="02040503050406030204" charset="0"/>
                          <a:cs typeface="Times New Roman" panose="02020603050405020304" pitchFamily="18" charset="0"/>
                        </a:rPr>
                        <m:t>𝑹</m:t>
                      </m:r>
                      <m:r>
                        <a:rPr lang="en-US" altLang="zh-CN" sz="2400" i="1" baseline="-25000" dirty="0">
                          <a:latin typeface="Cambria Math" panose="02040503050406030204" charset="0"/>
                          <a:cs typeface="Times New Roman" panose="02020603050405020304" pitchFamily="18" charset="0"/>
                        </a:rPr>
                        <m:t>𝑦</m:t>
                      </m:r>
                      <m:r>
                        <a:rPr lang="en-US" altLang="zh-CN" sz="2400" i="1" dirty="0">
                          <a:latin typeface="Cambria Math" panose="02040503050406030204" charset="0"/>
                          <a:cs typeface="Times New Roman" panose="02020603050405020304" pitchFamily="18" charset="0"/>
                        </a:rPr>
                        <m:t>(</m:t>
                      </m:r>
                      <m:r>
                        <a:rPr lang="en-US" altLang="zh-CN" sz="2400" i="1">
                          <a:latin typeface="Cambria Math" panose="02040503050406030204" charset="0"/>
                          <a:ea typeface="Cambria Math" panose="02040503050406030204" charset="0"/>
                          <a:cs typeface="Cambria Math" panose="02040503050406030204" charset="0"/>
                        </a:rPr>
                        <m:t>𝜃</m:t>
                      </m:r>
                      <m:r>
                        <a:rPr lang="en-US" altLang="zh-CN" sz="2400" i="1" dirty="0">
                          <a:latin typeface="Cambria Math" panose="02040503050406030204" charset="0"/>
                          <a:cs typeface="Times New Roman" panose="02020603050405020304" pitchFamily="18" charset="0"/>
                        </a:rPr>
                        <m:t>) =</m:t>
                      </m:r>
                    </m:oMath>
                  </m:oMathPara>
                </a14:m>
                <a:endParaRPr lang="en-US" altLang="zh-CN" sz="2400" dirty="0">
                  <a:latin typeface="Times New Roman" panose="02020603050405020304" pitchFamily="18" charset="0"/>
                  <a:cs typeface="Times New Roman" panose="02020603050405020304" pitchFamily="18" charset="0"/>
                </a:endParaRPr>
              </a:p>
            </p:txBody>
          </p:sp>
        </mc:Choice>
        <mc:Fallback xmlns="">
          <p:sp>
            <p:nvSpPr>
              <p:cNvPr id="6" name="Text Box 5"/>
              <p:cNvSpPr txBox="1">
                <a:spLocks noRot="1" noChangeAspect="1" noMove="1" noResize="1" noEditPoints="1" noAdjustHandles="1" noChangeArrowheads="1" noChangeShapeType="1" noTextEdit="1"/>
              </p:cNvSpPr>
              <p:nvPr/>
            </p:nvSpPr>
            <p:spPr bwMode="auto">
              <a:xfrm>
                <a:off x="1457330" y="5113337"/>
                <a:ext cx="2397240" cy="658814"/>
              </a:xfrm>
              <a:prstGeom prst="rect">
                <a:avLst/>
              </a:prstGeom>
              <a:blipFill rotWithShape="1">
                <a:blip r:embed="rId3"/>
                <a:stretch>
                  <a:fillRect t="-48" r="5"/>
                </a:stretch>
              </a:blipFill>
              <a:ln w="12700">
                <a:noFill/>
                <a:miter lim="800000"/>
                <a:headEnd type="none" w="sm" len="sm"/>
                <a:tailEnd type="none" w="sm" len="sm"/>
              </a:ln>
            </p:spPr>
            <p:txBody>
              <a:bodyPr/>
              <a:lstStyle/>
              <a:p>
                <a:r>
                  <a:rPr lang="zh-CN" altLang="en-US">
                    <a:noFill/>
                  </a:rPr>
                  <a:t> </a:t>
                </a:r>
              </a:p>
            </p:txBody>
          </p:sp>
        </mc:Fallback>
      </mc:AlternateContent>
      <p:graphicFrame>
        <p:nvGraphicFramePr>
          <p:cNvPr id="7" name="Object 2"/>
          <p:cNvGraphicFramePr>
            <a:graphicFrameLocks noChangeAspect="1"/>
          </p:cNvGraphicFramePr>
          <p:nvPr/>
        </p:nvGraphicFramePr>
        <p:xfrm>
          <a:off x="3749795" y="2751137"/>
          <a:ext cx="2619375" cy="1700213"/>
        </p:xfrm>
        <a:graphic>
          <a:graphicData uri="http://schemas.openxmlformats.org/presentationml/2006/ole">
            <mc:AlternateContent xmlns:mc="http://schemas.openxmlformats.org/markup-compatibility/2006">
              <mc:Choice xmlns:v="urn:schemas-microsoft-com:vml" Requires="v">
                <p:oleObj name="Equation" r:id="rId4" imgW="1409065" imgH="914400" progId="Equation.3">
                  <p:embed/>
                </p:oleObj>
              </mc:Choice>
              <mc:Fallback>
                <p:oleObj name="Equation" r:id="rId4" imgW="1409065" imgH="914400" progId="Equation.3">
                  <p:embed/>
                  <p:pic>
                    <p:nvPicPr>
                      <p:cNvPr id="0" name="图片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49795" y="2751137"/>
                        <a:ext cx="2619375" cy="17002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 name="Object 3"/>
          <p:cNvGraphicFramePr>
            <a:graphicFrameLocks noChangeAspect="1"/>
          </p:cNvGraphicFramePr>
          <p:nvPr/>
        </p:nvGraphicFramePr>
        <p:xfrm>
          <a:off x="3748208" y="4653756"/>
          <a:ext cx="2620962" cy="1700213"/>
        </p:xfrm>
        <a:graphic>
          <a:graphicData uri="http://schemas.openxmlformats.org/presentationml/2006/ole">
            <mc:AlternateContent xmlns:mc="http://schemas.openxmlformats.org/markup-compatibility/2006">
              <mc:Choice xmlns:v="urn:schemas-microsoft-com:vml" Requires="v">
                <p:oleObj name="Equation" r:id="rId6" imgW="1409065" imgH="914400" progId="Equation.3">
                  <p:embed/>
                </p:oleObj>
              </mc:Choice>
              <mc:Fallback>
                <p:oleObj name="Equation" r:id="rId6" imgW="1409065" imgH="914400" progId="Equation.3">
                  <p:embed/>
                  <p:pic>
                    <p:nvPicPr>
                      <p:cNvPr id="0" name="图片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48208" y="4653756"/>
                        <a:ext cx="2620962" cy="17002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变换的级联</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zh-CN" altLang="en-US" sz="2400" dirty="0"/>
                  <a:t>多个变换依次作用于点 </a:t>
                </a:r>
                <a14:m>
                  <m:oMath xmlns:m="http://schemas.openxmlformats.org/officeDocument/2006/math">
                    <m:r>
                      <a:rPr lang="en-US" altLang="zh-CN" sz="2400" b="1" i="1" smtClean="0">
                        <a:latin typeface="Cambria Math" panose="02040503050406030204" charset="0"/>
                      </a:rPr>
                      <m:t>𝒑</m:t>
                    </m:r>
                  </m:oMath>
                </a14:m>
                <a:r>
                  <a:rPr lang="zh-CN" altLang="en-US" sz="2400" dirty="0"/>
                  <a:t>： </a:t>
                </a:r>
                <a14:m>
                  <m:oMath xmlns:m="http://schemas.openxmlformats.org/officeDocument/2006/math">
                    <m:r>
                      <a:rPr lang="zh-CN" altLang="en-US" sz="2400" i="1" dirty="0" smtClean="0">
                        <a:latin typeface="Cambria Math" panose="02040503050406030204" charset="0"/>
                      </a:rPr>
                      <m:t>𝒒</m:t>
                    </m:r>
                    <m:r>
                      <a:rPr lang="en-US" altLang="zh-CN" sz="2400" i="1" dirty="0">
                        <a:latin typeface="Cambria Math" panose="02040503050406030204" charset="0"/>
                      </a:rPr>
                      <m:t>=</m:t>
                    </m:r>
                    <m:r>
                      <a:rPr lang="en-US" altLang="zh-CN" sz="2400" i="1" dirty="0">
                        <a:solidFill>
                          <a:srgbClr val="00B0F0"/>
                        </a:solidFill>
                        <a:latin typeface="Cambria Math" panose="02040503050406030204" charset="0"/>
                      </a:rPr>
                      <m:t>𝑪𝑩𝑨</m:t>
                    </m:r>
                    <m:r>
                      <a:rPr lang="en-US" altLang="zh-CN" sz="2400" i="1" dirty="0">
                        <a:latin typeface="Cambria Math" panose="02040503050406030204" charset="0"/>
                      </a:rPr>
                      <m:t>𝒑</m:t>
                    </m:r>
                  </m:oMath>
                </a14:m>
                <a:endParaRPr lang="en-US" altLang="zh-CN" sz="2400" dirty="0"/>
              </a:p>
              <a:p>
                <a:endParaRPr lang="en-US" altLang="zh-CN" sz="2400" dirty="0"/>
              </a:p>
              <a:p>
                <a:endParaRPr lang="en-US" altLang="zh-CN" sz="2400" dirty="0"/>
              </a:p>
              <a:p>
                <a:endParaRPr lang="en-US" altLang="zh-CN" sz="2400" dirty="0"/>
              </a:p>
              <a:p>
                <a:endParaRPr lang="en-US" altLang="zh-CN" sz="2400" dirty="0"/>
              </a:p>
              <a:p>
                <a:r>
                  <a:rPr lang="zh-CN" altLang="en-US" sz="2400" dirty="0"/>
                  <a:t>变换的级联：  </a:t>
                </a:r>
                <a14:m>
                  <m:oMath xmlns:m="http://schemas.openxmlformats.org/officeDocument/2006/math">
                    <m:r>
                      <a:rPr lang="zh-CN" altLang="en-US" sz="2400" i="1" dirty="0" smtClean="0">
                        <a:latin typeface="Cambria Math" panose="02040503050406030204" charset="0"/>
                      </a:rPr>
                      <m:t>𝑴</m:t>
                    </m:r>
                    <m:r>
                      <a:rPr lang="en-US" altLang="zh-CN" sz="2400" i="1" dirty="0">
                        <a:latin typeface="Cambria Math" panose="02040503050406030204" charset="0"/>
                      </a:rPr>
                      <m:t>=</m:t>
                    </m:r>
                    <m:r>
                      <a:rPr lang="en-US" altLang="zh-CN" sz="2400" i="1" dirty="0">
                        <a:solidFill>
                          <a:srgbClr val="00B0F0"/>
                        </a:solidFill>
                        <a:latin typeface="Cambria Math" panose="02040503050406030204" charset="0"/>
                      </a:rPr>
                      <m:t>𝑪𝑩𝑨</m:t>
                    </m:r>
                  </m:oMath>
                </a14:m>
                <a:r>
                  <a:rPr lang="zh-CN" altLang="en-US" sz="2400" dirty="0"/>
                  <a:t>， </a:t>
                </a:r>
                <a14:m>
                  <m:oMath xmlns:m="http://schemas.openxmlformats.org/officeDocument/2006/math">
                    <m:r>
                      <a:rPr lang="zh-CN" altLang="en-US" sz="2400" i="1" dirty="0" smtClean="0">
                        <a:latin typeface="Cambria Math" panose="02040503050406030204" charset="0"/>
                      </a:rPr>
                      <m:t>𝒒</m:t>
                    </m:r>
                    <m:r>
                      <a:rPr lang="en-US" altLang="zh-CN" sz="2400" i="1" dirty="0">
                        <a:latin typeface="Cambria Math" panose="02040503050406030204" charset="0"/>
                      </a:rPr>
                      <m:t>=</m:t>
                    </m:r>
                    <m:r>
                      <a:rPr lang="en-US" altLang="zh-CN" sz="2400" i="1" dirty="0">
                        <a:solidFill>
                          <a:srgbClr val="00B0F0"/>
                        </a:solidFill>
                        <a:latin typeface="Cambria Math" panose="02040503050406030204" charset="0"/>
                      </a:rPr>
                      <m:t>𝑴</m:t>
                    </m:r>
                    <m:r>
                      <a:rPr lang="en-US" altLang="zh-CN" sz="2400" i="1" dirty="0">
                        <a:latin typeface="Cambria Math" panose="02040503050406030204" charset="0"/>
                      </a:rPr>
                      <m:t>𝒑</m:t>
                    </m:r>
                  </m:oMath>
                </a14:m>
                <a:endParaRPr lang="en-US" altLang="zh-CN" sz="2400" dirty="0"/>
              </a:p>
              <a:p>
                <a:endParaRPr lang="en-US" altLang="zh-CN" sz="2400" dirty="0"/>
              </a:p>
              <a:p>
                <a:endParaRPr lang="en-US" sz="2400" dirty="0"/>
              </a:p>
            </p:txBody>
          </p:sp>
        </mc:Choice>
        <mc:Fallback xmlns="">
          <p:sp>
            <p:nvSpPr>
              <p:cNvPr id="3" name="Content Placeholder 2"/>
              <p:cNvSpPr>
                <a:spLocks noRot="1" noChangeAspect="1" noMove="1" noResize="1" noEditPoints="1" noAdjustHandles="1" noChangeArrowheads="1" noChangeShapeType="1" noTextEdit="1"/>
              </p:cNvSpPr>
              <p:nvPr>
                <p:ph idx="1"/>
              </p:nvPr>
            </p:nvSpPr>
            <p:spPr>
              <a:blipFill rotWithShape="1">
                <a:blip r:embed="rId2"/>
                <a:stretch>
                  <a:fillRect t="-259" b="4"/>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fld id="{EB792F4E-54C0-4D36-B331-9C6FCFE9A340}" type="slidenum">
              <a:rPr lang="zh-CN" altLang="en-US" smtClean="0"/>
              <a:t>25</a:t>
            </a:fld>
            <a:endParaRPr lang="zh-CN" altLang="en-US" dirty="0"/>
          </a:p>
        </p:txBody>
      </p:sp>
      <p:pic>
        <p:nvPicPr>
          <p:cNvPr id="5" name="图片 4"/>
          <p:cNvPicPr>
            <a:picLocks noChangeAspect="1"/>
          </p:cNvPicPr>
          <p:nvPr/>
        </p:nvPicPr>
        <p:blipFill>
          <a:blip r:embed="rId3"/>
          <a:stretch>
            <a:fillRect/>
          </a:stretch>
        </p:blipFill>
        <p:spPr>
          <a:xfrm>
            <a:off x="1026731" y="2188548"/>
            <a:ext cx="7090538" cy="789602"/>
          </a:xfrm>
          <a:prstGeom prst="rect">
            <a:avLst/>
          </a:prstGeom>
        </p:spPr>
      </p:pic>
      <p:pic>
        <p:nvPicPr>
          <p:cNvPr id="6" name="图片 6"/>
          <p:cNvPicPr>
            <a:picLocks noChangeAspect="1"/>
          </p:cNvPicPr>
          <p:nvPr/>
        </p:nvPicPr>
        <p:blipFill>
          <a:blip r:embed="rId4"/>
          <a:stretch>
            <a:fillRect/>
          </a:stretch>
        </p:blipFill>
        <p:spPr>
          <a:xfrm>
            <a:off x="2229093" y="4354918"/>
            <a:ext cx="4171464" cy="1882899"/>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绕原点的一般旋转</a:t>
            </a:r>
          </a:p>
        </p:txBody>
      </p:sp>
      <p:sp>
        <p:nvSpPr>
          <p:cNvPr id="3" name="内容占位符 2"/>
          <p:cNvSpPr>
            <a:spLocks noGrp="1"/>
          </p:cNvSpPr>
          <p:nvPr>
            <p:ph idx="1"/>
          </p:nvPr>
        </p:nvSpPr>
        <p:spPr>
          <a:xfrm>
            <a:off x="628650" y="1316831"/>
            <a:ext cx="8039762" cy="4351338"/>
          </a:xfrm>
        </p:spPr>
        <p:txBody>
          <a:bodyPr>
            <a:normAutofit/>
          </a:bodyPr>
          <a:lstStyle/>
          <a:p>
            <a:r>
              <a:rPr lang="zh-CN" altLang="en-US" sz="2400" dirty="0"/>
              <a:t>绕原点的任意旋转根据选择的顺序不同可</a:t>
            </a:r>
            <a:r>
              <a:rPr lang="zh-CN" altLang="en-US" sz="2400" dirty="0">
                <a:solidFill>
                  <a:srgbClr val="0000FF"/>
                </a:solidFill>
              </a:rPr>
              <a:t>不唯一</a:t>
            </a:r>
            <a:r>
              <a:rPr lang="zh-CN" altLang="en-US" sz="2400" dirty="0"/>
              <a:t>地分解为绕</a:t>
            </a:r>
            <a:r>
              <a:rPr lang="en-US" altLang="zh-CN" sz="2400" dirty="0"/>
              <a:t>x</a:t>
            </a:r>
            <a:r>
              <a:rPr lang="zh-CN" altLang="en-US" sz="2400" dirty="0"/>
              <a:t>轴、</a:t>
            </a:r>
            <a:r>
              <a:rPr lang="en-US" altLang="zh-CN" sz="2400" dirty="0"/>
              <a:t>y</a:t>
            </a:r>
            <a:r>
              <a:rPr lang="zh-CN" altLang="en-US" sz="2400" dirty="0"/>
              <a:t>轴、</a:t>
            </a:r>
            <a:r>
              <a:rPr lang="en-US" altLang="zh-CN" sz="2400" dirty="0"/>
              <a:t>z</a:t>
            </a:r>
            <a:r>
              <a:rPr lang="zh-CN" altLang="en-US" sz="2400" dirty="0"/>
              <a:t>轴的三个旋转的级联</a:t>
            </a:r>
            <a:endParaRPr lang="en-US" altLang="zh-CN" sz="2400" dirty="0"/>
          </a:p>
          <a:p>
            <a:pPr lvl="1">
              <a:buClr>
                <a:schemeClr val="tx1"/>
              </a:buClr>
            </a:pPr>
            <a:endParaRPr lang="zh-CN" altLang="en-US" sz="18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26</a:t>
            </a:fld>
            <a:endParaRPr lang="zh-CN" altLang="en-US"/>
          </a:p>
        </p:txBody>
      </p:sp>
      <p:pic>
        <p:nvPicPr>
          <p:cNvPr id="6" name="图片 5"/>
          <p:cNvPicPr>
            <a:picLocks noChangeAspect="1"/>
          </p:cNvPicPr>
          <p:nvPr/>
        </p:nvPicPr>
        <p:blipFill>
          <a:blip r:embed="rId2"/>
          <a:stretch>
            <a:fillRect/>
          </a:stretch>
        </p:blipFill>
        <p:spPr>
          <a:xfrm>
            <a:off x="695419" y="2877532"/>
            <a:ext cx="3530299" cy="1882840"/>
          </a:xfrm>
          <a:prstGeom prst="rect">
            <a:avLst/>
          </a:prstGeom>
        </p:spPr>
      </p:pic>
      <p:pic>
        <p:nvPicPr>
          <p:cNvPr id="9" name="图片 8"/>
          <p:cNvPicPr>
            <a:picLocks noChangeAspect="1"/>
          </p:cNvPicPr>
          <p:nvPr/>
        </p:nvPicPr>
        <p:blipFill>
          <a:blip r:embed="rId3"/>
          <a:stretch>
            <a:fillRect/>
          </a:stretch>
        </p:blipFill>
        <p:spPr>
          <a:xfrm>
            <a:off x="5588215" y="2787190"/>
            <a:ext cx="3080197" cy="1479861"/>
          </a:xfrm>
          <a:prstGeom prst="rect">
            <a:avLst/>
          </a:prstGeom>
        </p:spPr>
      </p:pic>
      <p:pic>
        <p:nvPicPr>
          <p:cNvPr id="10" name="图片 9"/>
          <p:cNvPicPr>
            <a:picLocks noChangeAspect="1"/>
          </p:cNvPicPr>
          <p:nvPr/>
        </p:nvPicPr>
        <p:blipFill>
          <a:blip r:embed="rId4"/>
          <a:stretch>
            <a:fillRect/>
          </a:stretch>
        </p:blipFill>
        <p:spPr>
          <a:xfrm>
            <a:off x="4874167" y="4603274"/>
            <a:ext cx="3355433" cy="1658393"/>
          </a:xfrm>
          <a:prstGeom prst="rect">
            <a:avLst/>
          </a:prstGeom>
        </p:spPr>
      </p:pic>
      <p:sp>
        <p:nvSpPr>
          <p:cNvPr id="11" name="文本框 10"/>
          <p:cNvSpPr txBox="1"/>
          <p:nvPr/>
        </p:nvSpPr>
        <p:spPr>
          <a:xfrm>
            <a:off x="1847259" y="2431001"/>
            <a:ext cx="1226618" cy="369332"/>
          </a:xfrm>
          <a:prstGeom prst="rect">
            <a:avLst/>
          </a:prstGeom>
          <a:noFill/>
        </p:spPr>
        <p:txBody>
          <a:bodyPr wrap="none" rtlCol="0">
            <a:spAutoFit/>
          </a:bodyPr>
          <a:lstStyle/>
          <a:p>
            <a:pPr algn="ctr"/>
            <a:r>
              <a:rPr lang="zh-CN" altLang="en-US" b="1" dirty="0">
                <a:latin typeface="微软雅黑" panose="020B0503020204020204" pitchFamily="34" charset="-122"/>
                <a:ea typeface="微软雅黑" panose="020B0503020204020204" pitchFamily="34" charset="-122"/>
              </a:rPr>
              <a:t>绕</a:t>
            </a:r>
            <a:r>
              <a:rPr lang="en-US" altLang="zh-CN" b="1" dirty="0">
                <a:latin typeface="微软雅黑" panose="020B0503020204020204" pitchFamily="34" charset="-122"/>
                <a:ea typeface="微软雅黑" panose="020B0503020204020204" pitchFamily="34" charset="-122"/>
              </a:rPr>
              <a:t>z</a:t>
            </a:r>
            <a:r>
              <a:rPr lang="zh-CN" altLang="en-US" b="1" dirty="0">
                <a:latin typeface="微软雅黑" panose="020B0503020204020204" pitchFamily="34" charset="-122"/>
                <a:ea typeface="微软雅黑" panose="020B0503020204020204" pitchFamily="34" charset="-122"/>
              </a:rPr>
              <a:t>轴旋转</a:t>
            </a:r>
          </a:p>
        </p:txBody>
      </p:sp>
      <p:sp>
        <p:nvSpPr>
          <p:cNvPr id="12" name="文本框 11"/>
          <p:cNvSpPr txBox="1"/>
          <p:nvPr/>
        </p:nvSpPr>
        <p:spPr>
          <a:xfrm>
            <a:off x="6326819" y="2431001"/>
            <a:ext cx="1241045" cy="369332"/>
          </a:xfrm>
          <a:prstGeom prst="rect">
            <a:avLst/>
          </a:prstGeom>
          <a:noFill/>
        </p:spPr>
        <p:txBody>
          <a:bodyPr wrap="none" rtlCol="0">
            <a:spAutoFit/>
          </a:bodyPr>
          <a:lstStyle/>
          <a:p>
            <a:pPr algn="ctr"/>
            <a:r>
              <a:rPr lang="zh-CN" altLang="en-US" b="1" dirty="0">
                <a:latin typeface="微软雅黑" panose="020B0503020204020204" pitchFamily="34" charset="-122"/>
                <a:ea typeface="微软雅黑" panose="020B0503020204020204" pitchFamily="34" charset="-122"/>
              </a:rPr>
              <a:t>绕</a:t>
            </a:r>
            <a:r>
              <a:rPr lang="en-US" altLang="zh-CN" b="1" dirty="0">
                <a:latin typeface="微软雅黑" panose="020B0503020204020204" pitchFamily="34" charset="-122"/>
                <a:ea typeface="微软雅黑" panose="020B0503020204020204" pitchFamily="34" charset="-122"/>
              </a:rPr>
              <a:t>y</a:t>
            </a:r>
            <a:r>
              <a:rPr lang="zh-CN" altLang="en-US" b="1" dirty="0">
                <a:latin typeface="微软雅黑" panose="020B0503020204020204" pitchFamily="34" charset="-122"/>
                <a:ea typeface="微软雅黑" panose="020B0503020204020204" pitchFamily="34" charset="-122"/>
              </a:rPr>
              <a:t>轴旋转</a:t>
            </a:r>
          </a:p>
        </p:txBody>
      </p:sp>
      <p:sp>
        <p:nvSpPr>
          <p:cNvPr id="13" name="文本框 12"/>
          <p:cNvSpPr txBox="1"/>
          <p:nvPr/>
        </p:nvSpPr>
        <p:spPr>
          <a:xfrm>
            <a:off x="6325215" y="6261667"/>
            <a:ext cx="1242649" cy="369332"/>
          </a:xfrm>
          <a:prstGeom prst="rect">
            <a:avLst/>
          </a:prstGeom>
          <a:noFill/>
        </p:spPr>
        <p:txBody>
          <a:bodyPr wrap="none" rtlCol="0">
            <a:spAutoFit/>
          </a:bodyPr>
          <a:lstStyle/>
          <a:p>
            <a:pPr algn="ctr"/>
            <a:r>
              <a:rPr lang="zh-CN" altLang="en-US" b="1" dirty="0">
                <a:latin typeface="微软雅黑" panose="020B0503020204020204" pitchFamily="34" charset="-122"/>
                <a:ea typeface="微软雅黑" panose="020B0503020204020204" pitchFamily="34" charset="-122"/>
              </a:rPr>
              <a:t>绕</a:t>
            </a:r>
            <a:r>
              <a:rPr lang="en-US" altLang="zh-CN" b="1" dirty="0">
                <a:latin typeface="微软雅黑" panose="020B0503020204020204" pitchFamily="34" charset="-122"/>
                <a:ea typeface="微软雅黑" panose="020B0503020204020204" pitchFamily="34" charset="-122"/>
              </a:rPr>
              <a:t>x</a:t>
            </a:r>
            <a:r>
              <a:rPr lang="zh-CN" altLang="en-US" b="1" dirty="0">
                <a:latin typeface="微软雅黑" panose="020B0503020204020204" pitchFamily="34" charset="-122"/>
                <a:ea typeface="微软雅黑" panose="020B0503020204020204" pitchFamily="34" charset="-122"/>
              </a:rPr>
              <a:t>轴旋转</a:t>
            </a:r>
          </a:p>
        </p:txBody>
      </p:sp>
      <p:sp>
        <p:nvSpPr>
          <p:cNvPr id="14" name="箭头: 右 13"/>
          <p:cNvSpPr/>
          <p:nvPr/>
        </p:nvSpPr>
        <p:spPr>
          <a:xfrm>
            <a:off x="4570976" y="3210029"/>
            <a:ext cx="540450" cy="634185"/>
          </a:xfrm>
          <a:prstGeom prst="rightArrow">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zh-CN" altLang="en-US"/>
          </a:p>
        </p:txBody>
      </p:sp>
      <p:sp>
        <p:nvSpPr>
          <p:cNvPr id="15" name="箭头: 下 14"/>
          <p:cNvSpPr/>
          <p:nvPr/>
        </p:nvSpPr>
        <p:spPr>
          <a:xfrm>
            <a:off x="6611889" y="4234364"/>
            <a:ext cx="669303" cy="544177"/>
          </a:xfrm>
          <a:prstGeom prst="downArrow">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zh-CN" altLang="en-US"/>
          </a:p>
        </p:txBody>
      </p:sp>
      <p:pic>
        <p:nvPicPr>
          <p:cNvPr id="16" name="图片 15"/>
          <p:cNvPicPr>
            <a:picLocks noChangeAspect="1"/>
          </p:cNvPicPr>
          <p:nvPr/>
        </p:nvPicPr>
        <p:blipFill>
          <a:blip r:embed="rId5"/>
          <a:stretch>
            <a:fillRect/>
          </a:stretch>
        </p:blipFill>
        <p:spPr>
          <a:xfrm>
            <a:off x="1430985" y="5135800"/>
            <a:ext cx="1921816" cy="504117"/>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a:xfrm>
                <a:off x="628650" y="1316831"/>
                <a:ext cx="7886700" cy="2131019"/>
              </a:xfrm>
            </p:spPr>
            <p:txBody>
              <a:bodyPr>
                <a:normAutofit/>
              </a:bodyPr>
              <a:lstStyle/>
              <a:p>
                <a:r>
                  <a:rPr lang="zh-CN" altLang="en-US" sz="2400" dirty="0"/>
                  <a:t>绕任意轴旋转变换的构造步骤：</a:t>
                </a:r>
                <a:endParaRPr lang="en-US" altLang="zh-CN" sz="2400" dirty="0"/>
              </a:p>
              <a:p>
                <a:pPr marL="800100" lvl="1" indent="-342900">
                  <a:buClr>
                    <a:schemeClr val="tx1"/>
                  </a:buClr>
                  <a:buFont typeface="+mj-lt"/>
                  <a:buAutoNum type="arabicPeriod"/>
                </a:pPr>
                <a:r>
                  <a:rPr lang="zh-CN" altLang="en-US" sz="1800" dirty="0"/>
                  <a:t>将不动点平移到原点</a:t>
                </a:r>
                <a14:m>
                  <m:oMath xmlns:m="http://schemas.openxmlformats.org/officeDocument/2006/math">
                    <m:r>
                      <a:rPr lang="en-US" altLang="zh-CN" sz="1800" b="1" i="1" dirty="0" smtClean="0">
                        <a:latin typeface="Cambria Math" panose="02040503050406030204" charset="0"/>
                      </a:rPr>
                      <m:t>𝑻</m:t>
                    </m:r>
                    <m:r>
                      <a:rPr lang="en-US" altLang="zh-CN" sz="1800" i="1" dirty="0">
                        <a:latin typeface="Cambria Math" panose="02040503050406030204" charset="0"/>
                      </a:rPr>
                      <m:t>(</m:t>
                    </m:r>
                    <m:r>
                      <a:rPr lang="en-US" altLang="zh-CN" sz="1800" b="0" i="1" dirty="0" smtClean="0">
                        <a:latin typeface="Cambria Math" panose="02040503050406030204" charset="0"/>
                      </a:rPr>
                      <m:t>−</m:t>
                    </m:r>
                    <m:sSub>
                      <m:sSubPr>
                        <m:ctrlPr>
                          <a:rPr lang="en-US" altLang="zh-CN" sz="1800" b="0" i="1" dirty="0" smtClean="0">
                            <a:latin typeface="Cambria Math" panose="02040503050406030204" pitchFamily="18" charset="0"/>
                          </a:rPr>
                        </m:ctrlPr>
                      </m:sSubPr>
                      <m:e>
                        <m:r>
                          <a:rPr lang="en-US" altLang="zh-CN" sz="1800" b="0" i="1" dirty="0" smtClean="0">
                            <a:latin typeface="Cambria Math" panose="02040503050406030204" charset="0"/>
                          </a:rPr>
                          <m:t>𝑝</m:t>
                        </m:r>
                      </m:e>
                      <m:sub>
                        <m:r>
                          <a:rPr lang="en-US" altLang="zh-CN" sz="1800" b="0" i="1" dirty="0" smtClean="0">
                            <a:latin typeface="Cambria Math" panose="02040503050406030204" charset="0"/>
                          </a:rPr>
                          <m:t>0</m:t>
                        </m:r>
                      </m:sub>
                    </m:sSub>
                    <m:r>
                      <a:rPr lang="el-GR" altLang="zh-CN" sz="1800" i="1" dirty="0">
                        <a:latin typeface="Cambria Math" panose="02040503050406030204" charset="0"/>
                      </a:rPr>
                      <m:t>)</m:t>
                    </m:r>
                  </m:oMath>
                </a14:m>
                <a:endParaRPr lang="en-US" altLang="zh-CN" sz="1800" dirty="0"/>
              </a:p>
              <a:p>
                <a:pPr marL="800100" lvl="1" indent="-342900">
                  <a:buClr>
                    <a:schemeClr val="tx1"/>
                  </a:buClr>
                  <a:buFont typeface="+mj-lt"/>
                  <a:buAutoNum type="arabicPeriod"/>
                </a:pPr>
                <a:r>
                  <a:rPr lang="zh-CN" altLang="en-US" sz="1800" dirty="0"/>
                  <a:t>使用两个旋转变换</a:t>
                </a:r>
                <a14:m>
                  <m:oMath xmlns:m="http://schemas.openxmlformats.org/officeDocument/2006/math">
                    <m:r>
                      <a:rPr lang="en-US" altLang="zh-CN" sz="1800" b="1" i="1" dirty="0" smtClean="0">
                        <a:latin typeface="Cambria Math" panose="02040503050406030204" charset="0"/>
                      </a:rPr>
                      <m:t>𝑹</m:t>
                    </m:r>
                    <m:r>
                      <a:rPr lang="en-US" altLang="zh-CN" sz="1800" i="1" baseline="-25000" dirty="0">
                        <a:latin typeface="Cambria Math" panose="02040503050406030204" charset="0"/>
                      </a:rPr>
                      <m:t>𝑥</m:t>
                    </m:r>
                    <m:r>
                      <a:rPr lang="en-US" altLang="zh-CN" sz="1800" i="1" dirty="0">
                        <a:latin typeface="Cambria Math" panose="02040503050406030204" charset="0"/>
                      </a:rPr>
                      <m:t>(</m:t>
                    </m:r>
                    <m:r>
                      <a:rPr lang="el-GR" altLang="zh-CN" sz="1800" i="1" dirty="0">
                        <a:latin typeface="Cambria Math" panose="02040503050406030204" charset="0"/>
                      </a:rPr>
                      <m:t>𝜃</m:t>
                    </m:r>
                    <m:r>
                      <a:rPr lang="en-US" altLang="zh-CN" sz="1800" i="1" baseline="-25000" dirty="0">
                        <a:latin typeface="Cambria Math" panose="02040503050406030204" charset="0"/>
                      </a:rPr>
                      <m:t>𝑥</m:t>
                    </m:r>
                    <m:r>
                      <a:rPr lang="el-GR" altLang="zh-CN" sz="1800" i="1" dirty="0">
                        <a:latin typeface="Cambria Math" panose="02040503050406030204" charset="0"/>
                      </a:rPr>
                      <m:t>)</m:t>
                    </m:r>
                    <m:r>
                      <a:rPr lang="zh-CN" altLang="en-US" sz="1800" i="1" dirty="0">
                        <a:latin typeface="Cambria Math" panose="02040503050406030204" charset="0"/>
                      </a:rPr>
                      <m:t>、</m:t>
                    </m:r>
                    <m:r>
                      <a:rPr lang="en-US" altLang="zh-CN" sz="1800" b="1" i="1" dirty="0">
                        <a:latin typeface="Cambria Math" panose="02040503050406030204" charset="0"/>
                      </a:rPr>
                      <m:t> </m:t>
                    </m:r>
                    <m:r>
                      <a:rPr lang="en-US" altLang="zh-CN" sz="1800" b="1" i="1" dirty="0">
                        <a:latin typeface="Cambria Math" panose="02040503050406030204" charset="0"/>
                      </a:rPr>
                      <m:t>𝑹</m:t>
                    </m:r>
                    <m:r>
                      <a:rPr lang="en-US" altLang="zh-CN" sz="1800" i="1" baseline="-25000" dirty="0">
                        <a:latin typeface="Cambria Math" panose="02040503050406030204" charset="0"/>
                      </a:rPr>
                      <m:t>𝑦</m:t>
                    </m:r>
                    <m:r>
                      <a:rPr lang="en-US" altLang="zh-CN" sz="1800" i="1" dirty="0">
                        <a:latin typeface="Cambria Math" panose="02040503050406030204" charset="0"/>
                      </a:rPr>
                      <m:t>(</m:t>
                    </m:r>
                    <m:r>
                      <a:rPr lang="el-GR" altLang="zh-CN" sz="1800" i="1" dirty="0">
                        <a:latin typeface="Cambria Math" panose="02040503050406030204" charset="0"/>
                      </a:rPr>
                      <m:t>𝜃</m:t>
                    </m:r>
                    <m:r>
                      <a:rPr lang="en-US" altLang="zh-CN" sz="1800" i="1" baseline="-25000" dirty="0">
                        <a:latin typeface="Cambria Math" panose="02040503050406030204" charset="0"/>
                      </a:rPr>
                      <m:t>𝑦</m:t>
                    </m:r>
                    <m:r>
                      <a:rPr lang="el-GR" altLang="zh-CN" sz="1800" i="1" dirty="0">
                        <a:latin typeface="Cambria Math" panose="02040503050406030204" charset="0"/>
                      </a:rPr>
                      <m:t>)</m:t>
                    </m:r>
                  </m:oMath>
                </a14:m>
                <a:r>
                  <a:rPr lang="zh-CN" altLang="en-US" sz="1800" dirty="0"/>
                  <a:t>将轴向量</a:t>
                </a:r>
                <a:r>
                  <a:rPr lang="en-US" altLang="zh-CN" sz="1800" dirty="0"/>
                  <a:t>u</a:t>
                </a:r>
                <a:r>
                  <a:rPr lang="zh-CN" altLang="en-US" sz="1800" dirty="0"/>
                  <a:t>与</a:t>
                </a:r>
                <a:r>
                  <a:rPr lang="en-US" altLang="zh-CN" sz="1800" dirty="0"/>
                  <a:t>z</a:t>
                </a:r>
                <a:r>
                  <a:rPr lang="zh-CN" altLang="en-US" sz="1800" dirty="0"/>
                  <a:t>轴</a:t>
                </a:r>
                <a:r>
                  <a:rPr lang="zh-CN" altLang="en-US" sz="1800" dirty="0">
                    <a:solidFill>
                      <a:srgbClr val="0000FF"/>
                    </a:solidFill>
                  </a:rPr>
                  <a:t>对齐</a:t>
                </a:r>
                <a:endParaRPr lang="en-US" altLang="zh-CN" sz="1800" dirty="0">
                  <a:solidFill>
                    <a:srgbClr val="0000FF"/>
                  </a:solidFill>
                </a:endParaRPr>
              </a:p>
              <a:p>
                <a:pPr marL="800100" lvl="1" indent="-342900">
                  <a:buClr>
                    <a:schemeClr val="tx1"/>
                  </a:buClr>
                  <a:buFont typeface="+mj-lt"/>
                  <a:buAutoNum type="arabicPeriod"/>
                </a:pPr>
                <a:r>
                  <a:rPr lang="zh-CN" altLang="en-US" sz="1800" dirty="0"/>
                  <a:t>施加绕</a:t>
                </a:r>
                <a:r>
                  <a:rPr lang="en-US" altLang="zh-CN" sz="1800" dirty="0"/>
                  <a:t>z</a:t>
                </a:r>
                <a:r>
                  <a:rPr lang="zh-CN" altLang="en-US" sz="1800" dirty="0"/>
                  <a:t>轴的旋转变换</a:t>
                </a:r>
                <a14:m>
                  <m:oMath xmlns:m="http://schemas.openxmlformats.org/officeDocument/2006/math">
                    <m:r>
                      <a:rPr lang="en-US" altLang="zh-CN" b="1" i="1" dirty="0" smtClean="0">
                        <a:latin typeface="Cambria Math" panose="02040503050406030204" charset="0"/>
                      </a:rPr>
                      <m:t>𝑹</m:t>
                    </m:r>
                    <m:r>
                      <a:rPr lang="en-US" altLang="zh-CN" i="1" baseline="-25000" dirty="0" err="1">
                        <a:latin typeface="Cambria Math" panose="02040503050406030204" charset="0"/>
                      </a:rPr>
                      <m:t>𝑧</m:t>
                    </m:r>
                    <m:r>
                      <a:rPr lang="en-US" altLang="zh-CN" i="1" dirty="0">
                        <a:latin typeface="Cambria Math" panose="02040503050406030204" charset="0"/>
                      </a:rPr>
                      <m:t>(</m:t>
                    </m:r>
                    <m:r>
                      <a:rPr lang="el-GR" altLang="zh-CN" i="1" dirty="0">
                        <a:latin typeface="Cambria Math" panose="02040503050406030204" charset="0"/>
                      </a:rPr>
                      <m:t>𝜃</m:t>
                    </m:r>
                    <m:r>
                      <a:rPr lang="el-GR" altLang="zh-CN" i="1" dirty="0">
                        <a:latin typeface="Cambria Math" panose="02040503050406030204" charset="0"/>
                      </a:rPr>
                      <m:t>)</m:t>
                    </m:r>
                  </m:oMath>
                </a14:m>
                <a:endParaRPr lang="en-US" altLang="zh-CN" sz="1800" dirty="0"/>
              </a:p>
              <a:p>
                <a:pPr marL="800100" lvl="1" indent="-342900">
                  <a:buClr>
                    <a:schemeClr val="tx1"/>
                  </a:buClr>
                  <a:buFont typeface="+mj-lt"/>
                  <a:buAutoNum type="arabicPeriod"/>
                </a:pPr>
                <a:r>
                  <a:rPr lang="zh-CN" altLang="en-US" sz="1800" dirty="0"/>
                  <a:t>使用两个逆旋转变换</a:t>
                </a:r>
                <a14:m>
                  <m:oMath xmlns:m="http://schemas.openxmlformats.org/officeDocument/2006/math">
                    <m:r>
                      <a:rPr lang="en-US" altLang="zh-CN" sz="1800" b="1" i="1" dirty="0" smtClean="0">
                        <a:latin typeface="Cambria Math" panose="02040503050406030204" charset="0"/>
                      </a:rPr>
                      <m:t>𝑹</m:t>
                    </m:r>
                    <m:r>
                      <a:rPr lang="en-US" altLang="zh-CN" sz="1800" i="1" baseline="-25000" dirty="0">
                        <a:latin typeface="Cambria Math" panose="02040503050406030204" charset="0"/>
                      </a:rPr>
                      <m:t>𝑦</m:t>
                    </m:r>
                    <m:r>
                      <a:rPr lang="en-US" altLang="zh-CN" sz="1800" i="1" dirty="0">
                        <a:latin typeface="Cambria Math" panose="02040503050406030204" charset="0"/>
                      </a:rPr>
                      <m:t>(−</m:t>
                    </m:r>
                    <m:r>
                      <a:rPr lang="el-GR" altLang="zh-CN" sz="1800" i="1" dirty="0">
                        <a:latin typeface="Cambria Math" panose="02040503050406030204" charset="0"/>
                      </a:rPr>
                      <m:t>𝜃</m:t>
                    </m:r>
                    <m:r>
                      <a:rPr lang="en-US" altLang="zh-CN" sz="1800" i="1" baseline="-25000" dirty="0">
                        <a:latin typeface="Cambria Math" panose="02040503050406030204" charset="0"/>
                      </a:rPr>
                      <m:t>𝑦</m:t>
                    </m:r>
                    <m:r>
                      <a:rPr lang="el-GR" altLang="zh-CN" sz="1800" i="1" dirty="0">
                        <a:latin typeface="Cambria Math" panose="02040503050406030204" charset="0"/>
                      </a:rPr>
                      <m:t>) </m:t>
                    </m:r>
                    <m:r>
                      <a:rPr lang="zh-CN" altLang="en-US" sz="1800" i="1" dirty="0">
                        <a:latin typeface="Cambria Math" panose="02040503050406030204" charset="0"/>
                      </a:rPr>
                      <m:t>、</m:t>
                    </m:r>
                    <m:r>
                      <a:rPr lang="en-US" altLang="zh-CN" sz="1800" b="1" i="1" dirty="0">
                        <a:latin typeface="Cambria Math" panose="02040503050406030204" charset="0"/>
                      </a:rPr>
                      <m:t>𝑹</m:t>
                    </m:r>
                    <m:r>
                      <a:rPr lang="en-US" altLang="zh-CN" sz="1800" i="1" baseline="-25000" dirty="0">
                        <a:latin typeface="Cambria Math" panose="02040503050406030204" charset="0"/>
                      </a:rPr>
                      <m:t>𝑥</m:t>
                    </m:r>
                    <m:r>
                      <a:rPr lang="en-US" altLang="zh-CN" sz="1800" i="1" dirty="0">
                        <a:latin typeface="Cambria Math" panose="02040503050406030204" charset="0"/>
                      </a:rPr>
                      <m:t>(−</m:t>
                    </m:r>
                    <m:r>
                      <a:rPr lang="el-GR" altLang="zh-CN" sz="1800" i="1" dirty="0">
                        <a:latin typeface="Cambria Math" panose="02040503050406030204" charset="0"/>
                      </a:rPr>
                      <m:t>𝜃</m:t>
                    </m:r>
                    <m:r>
                      <a:rPr lang="en-US" altLang="zh-CN" sz="1800" i="1" baseline="-25000" dirty="0">
                        <a:latin typeface="Cambria Math" panose="02040503050406030204" charset="0"/>
                      </a:rPr>
                      <m:t>𝑥</m:t>
                    </m:r>
                    <m:r>
                      <a:rPr lang="el-GR" altLang="zh-CN" sz="1800" i="1" dirty="0">
                        <a:latin typeface="Cambria Math" panose="02040503050406030204" charset="0"/>
                      </a:rPr>
                      <m:t>)</m:t>
                    </m:r>
                    <m:r>
                      <a:rPr lang="zh-CN" altLang="en-US" sz="1800" i="1" dirty="0">
                        <a:latin typeface="Cambria Math" panose="02040503050406030204" charset="0"/>
                      </a:rPr>
                      <m:t> </m:t>
                    </m:r>
                  </m:oMath>
                </a14:m>
                <a:r>
                  <a:rPr lang="zh-CN" altLang="en-US" sz="1800" dirty="0"/>
                  <a:t>将向量</a:t>
                </a:r>
                <a:r>
                  <a:rPr lang="en-US" altLang="zh-CN" sz="1800" dirty="0"/>
                  <a:t>u</a:t>
                </a:r>
                <a:r>
                  <a:rPr lang="zh-CN" altLang="en-US" sz="1800" dirty="0"/>
                  <a:t>转至原位</a:t>
                </a:r>
                <a:endParaRPr lang="en-US" altLang="zh-CN" sz="1800" dirty="0"/>
              </a:p>
              <a:p>
                <a:pPr marL="800100" lvl="1" indent="-342900">
                  <a:buClr>
                    <a:schemeClr val="tx1"/>
                  </a:buClr>
                  <a:buFont typeface="+mj-lt"/>
                  <a:buAutoNum type="arabicPeriod"/>
                </a:pPr>
                <a:r>
                  <a:rPr lang="zh-CN" altLang="en-US" sz="1800" dirty="0"/>
                  <a:t>将不动点移回</a:t>
                </a:r>
                <a14:m>
                  <m:oMath xmlns:m="http://schemas.openxmlformats.org/officeDocument/2006/math">
                    <m:r>
                      <a:rPr lang="en-US" altLang="zh-CN" sz="1800" b="1" i="1" dirty="0">
                        <a:latin typeface="Cambria Math" panose="02040503050406030204" charset="0"/>
                      </a:rPr>
                      <m:t>𝑻</m:t>
                    </m:r>
                    <m:r>
                      <a:rPr lang="en-US" altLang="zh-CN" sz="1800" i="1" dirty="0">
                        <a:latin typeface="Cambria Math" panose="02040503050406030204" charset="0"/>
                      </a:rPr>
                      <m:t>(</m:t>
                    </m:r>
                    <m:sSub>
                      <m:sSubPr>
                        <m:ctrlPr>
                          <a:rPr lang="en-US" altLang="zh-CN" sz="1800" i="1" dirty="0">
                            <a:latin typeface="Cambria Math" panose="02040503050406030204" pitchFamily="18" charset="0"/>
                          </a:rPr>
                        </m:ctrlPr>
                      </m:sSubPr>
                      <m:e>
                        <m:r>
                          <a:rPr lang="en-US" altLang="zh-CN" sz="1800" i="1" dirty="0">
                            <a:latin typeface="Cambria Math" panose="02040503050406030204" charset="0"/>
                          </a:rPr>
                          <m:t>𝑝</m:t>
                        </m:r>
                      </m:e>
                      <m:sub>
                        <m:r>
                          <a:rPr lang="en-US" altLang="zh-CN" sz="1800" i="1" dirty="0">
                            <a:latin typeface="Cambria Math" panose="02040503050406030204" charset="0"/>
                          </a:rPr>
                          <m:t>0</m:t>
                        </m:r>
                      </m:sub>
                    </m:sSub>
                    <m:r>
                      <a:rPr lang="el-GR" altLang="zh-CN" sz="1800" i="1" dirty="0">
                        <a:latin typeface="Cambria Math" panose="02040503050406030204" charset="0"/>
                      </a:rPr>
                      <m:t>)</m:t>
                    </m:r>
                  </m:oMath>
                </a14:m>
                <a:endParaRPr lang="zh-CN" altLang="en-US" sz="1800" dirty="0"/>
              </a:p>
            </p:txBody>
          </p:sp>
        </mc:Choice>
        <mc:Fallback xmlns="">
          <p:sp>
            <p:nvSpPr>
              <p:cNvPr id="3" name="内容占位符 2"/>
              <p:cNvSpPr>
                <a:spLocks noRot="1" noChangeAspect="1" noMove="1" noResize="1" noEditPoints="1" noAdjustHandles="1" noChangeArrowheads="1" noChangeShapeType="1" noTextEdit="1"/>
              </p:cNvSpPr>
              <p:nvPr>
                <p:ph idx="1"/>
              </p:nvPr>
            </p:nvSpPr>
            <p:spPr>
              <a:xfrm>
                <a:off x="628650" y="1316831"/>
                <a:ext cx="7886700" cy="2131019"/>
              </a:xfrm>
              <a:blipFill rotWithShape="1">
                <a:blip r:embed="rId2"/>
                <a:stretch>
                  <a:fillRect t="-529" b="20"/>
                </a:stretch>
              </a:blipFill>
            </p:spPr>
            <p:txBody>
              <a:bodyPr/>
              <a:lstStyle/>
              <a:p>
                <a:r>
                  <a:rPr lang="zh-CN" altLang="en-US">
                    <a:noFill/>
                  </a:rPr>
                  <a:t> </a:t>
                </a:r>
              </a:p>
            </p:txBody>
          </p:sp>
        </mc:Fallback>
      </mc:AlternateContent>
      <p:pic>
        <p:nvPicPr>
          <p:cNvPr id="5" name="图片 4"/>
          <p:cNvPicPr>
            <a:picLocks noChangeAspect="1"/>
          </p:cNvPicPr>
          <p:nvPr/>
        </p:nvPicPr>
        <p:blipFill>
          <a:blip r:embed="rId3"/>
          <a:stretch>
            <a:fillRect/>
          </a:stretch>
        </p:blipFill>
        <p:spPr>
          <a:xfrm>
            <a:off x="288946" y="3570135"/>
            <a:ext cx="1905597" cy="2018196"/>
          </a:xfrm>
          <a:prstGeom prst="rect">
            <a:avLst/>
          </a:prstGeom>
        </p:spPr>
      </p:pic>
      <p:pic>
        <p:nvPicPr>
          <p:cNvPr id="7" name="图片 6"/>
          <p:cNvPicPr>
            <a:picLocks noChangeAspect="1"/>
          </p:cNvPicPr>
          <p:nvPr/>
        </p:nvPicPr>
        <p:blipFill>
          <a:blip r:embed="rId4"/>
          <a:stretch>
            <a:fillRect/>
          </a:stretch>
        </p:blipFill>
        <p:spPr>
          <a:xfrm>
            <a:off x="2852730" y="3862533"/>
            <a:ext cx="6099462" cy="1725798"/>
          </a:xfrm>
          <a:prstGeom prst="rect">
            <a:avLst/>
          </a:prstGeom>
        </p:spPr>
      </p:pic>
      <p:sp>
        <p:nvSpPr>
          <p:cNvPr id="2" name="标题 1"/>
          <p:cNvSpPr>
            <a:spLocks noGrp="1"/>
          </p:cNvSpPr>
          <p:nvPr>
            <p:ph type="title"/>
          </p:nvPr>
        </p:nvSpPr>
        <p:spPr/>
        <p:txBody>
          <a:bodyPr/>
          <a:lstStyle/>
          <a:p>
            <a:r>
              <a:rPr lang="zh-CN" altLang="en-US" dirty="0"/>
              <a:t>绕任意轴旋转</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27</a:t>
            </a:fld>
            <a:endParaRPr lang="zh-CN" altLang="en-US"/>
          </a:p>
        </p:txBody>
      </p:sp>
      <p:pic>
        <p:nvPicPr>
          <p:cNvPr id="20" name="图片 19"/>
          <p:cNvPicPr>
            <a:picLocks noChangeAspect="1"/>
          </p:cNvPicPr>
          <p:nvPr/>
        </p:nvPicPr>
        <p:blipFill>
          <a:blip r:embed="rId5"/>
          <a:stretch>
            <a:fillRect/>
          </a:stretch>
        </p:blipFill>
        <p:spPr>
          <a:xfrm>
            <a:off x="3860111" y="5748539"/>
            <a:ext cx="4362811" cy="332937"/>
          </a:xfrm>
          <a:prstGeom prst="rect">
            <a:avLst/>
          </a:prstGeom>
        </p:spPr>
      </p:pic>
      <mc:AlternateContent xmlns:mc="http://schemas.openxmlformats.org/markup-compatibility/2006" xmlns:a14="http://schemas.microsoft.com/office/drawing/2010/main">
        <mc:Choice Requires="a14">
          <p:sp>
            <p:nvSpPr>
              <p:cNvPr id="6" name="Rectangle 5"/>
              <p:cNvSpPr/>
              <p:nvPr/>
            </p:nvSpPr>
            <p:spPr>
              <a:xfrm>
                <a:off x="-91185" y="5710616"/>
                <a:ext cx="2665858" cy="369332"/>
              </a:xfrm>
              <a:prstGeom prst="rect">
                <a:avLst/>
              </a:prstGeom>
            </p:spPr>
            <p:txBody>
              <a:bodyPr wrap="none">
                <a:spAutoFit/>
              </a:bodyPr>
              <a:lstStyle/>
              <a:p>
                <a:pPr lvl="1">
                  <a:buClr>
                    <a:schemeClr val="tx1"/>
                  </a:buClr>
                </a:pPr>
                <a14:m>
                  <m:oMathPara xmlns:m="http://schemas.openxmlformats.org/officeDocument/2006/math">
                    <m:oMathParaPr>
                      <m:jc m:val="centerGroup"/>
                    </m:oMathParaPr>
                    <m:oMath xmlns:m="http://schemas.openxmlformats.org/officeDocument/2006/math">
                      <m:r>
                        <a:rPr lang="en-US" altLang="zh-CN" b="0" i="1" dirty="0" smtClean="0">
                          <a:latin typeface="Cambria Math" panose="02040503050406030204" charset="0"/>
                        </a:rPr>
                        <m:t>𝑀</m:t>
                      </m:r>
                      <m:r>
                        <a:rPr lang="en-US" altLang="zh-CN" b="1" i="1" dirty="0" smtClean="0">
                          <a:latin typeface="Cambria Math" panose="02040503050406030204" charset="0"/>
                        </a:rPr>
                        <m:t>=</m:t>
                      </m:r>
                      <m:r>
                        <a:rPr lang="en-US" altLang="zh-CN" b="1" i="1" dirty="0">
                          <a:latin typeface="Cambria Math" panose="02040503050406030204" charset="0"/>
                        </a:rPr>
                        <m:t>𝑻</m:t>
                      </m:r>
                      <m:d>
                        <m:dPr>
                          <m:ctrlPr>
                            <a:rPr lang="en-US" altLang="zh-CN" b="1" i="1" dirty="0">
                              <a:latin typeface="Cambria Math" panose="02040503050406030204" pitchFamily="18" charset="0"/>
                            </a:rPr>
                          </m:ctrlPr>
                        </m:dPr>
                        <m:e>
                          <m:sSub>
                            <m:sSubPr>
                              <m:ctrlPr>
                                <a:rPr lang="en-US" altLang="zh-CN" i="1" dirty="0">
                                  <a:latin typeface="Cambria Math" panose="02040503050406030204" pitchFamily="18" charset="0"/>
                                </a:rPr>
                              </m:ctrlPr>
                            </m:sSubPr>
                            <m:e>
                              <m:r>
                                <a:rPr lang="en-US" altLang="zh-CN" i="1" dirty="0">
                                  <a:latin typeface="Cambria Math" panose="02040503050406030204" charset="0"/>
                                </a:rPr>
                                <m:t>𝑝</m:t>
                              </m:r>
                            </m:e>
                            <m:sub>
                              <m:r>
                                <a:rPr lang="en-US" altLang="zh-CN" i="1" dirty="0">
                                  <a:latin typeface="Cambria Math" panose="02040503050406030204" charset="0"/>
                                </a:rPr>
                                <m:t>0</m:t>
                              </m:r>
                            </m:sub>
                          </m:sSub>
                        </m:e>
                      </m:d>
                      <m:r>
                        <a:rPr lang="en-US" altLang="zh-CN" b="1" i="1" dirty="0" smtClean="0">
                          <a:latin typeface="Cambria Math" panose="02040503050406030204" charset="0"/>
                        </a:rPr>
                        <m:t>𝑹</m:t>
                      </m:r>
                      <m:r>
                        <a:rPr lang="en-US" altLang="zh-CN" b="1" i="1" dirty="0">
                          <a:latin typeface="Cambria Math" panose="02040503050406030204" charset="0"/>
                        </a:rPr>
                        <m:t>𝑻</m:t>
                      </m:r>
                      <m:r>
                        <a:rPr lang="en-US" altLang="zh-CN" i="1" dirty="0">
                          <a:latin typeface="Cambria Math" panose="02040503050406030204" charset="0"/>
                        </a:rPr>
                        <m:t>(</m:t>
                      </m:r>
                      <m:sSub>
                        <m:sSubPr>
                          <m:ctrlPr>
                            <a:rPr lang="en-US" altLang="zh-CN" i="1" dirty="0">
                              <a:latin typeface="Cambria Math" panose="02040503050406030204" pitchFamily="18" charset="0"/>
                            </a:rPr>
                          </m:ctrlPr>
                        </m:sSubPr>
                        <m:e>
                          <m:r>
                            <a:rPr lang="en-US" altLang="zh-CN" b="0" i="1" dirty="0" smtClean="0">
                              <a:latin typeface="Cambria Math" panose="02040503050406030204" charset="0"/>
                            </a:rPr>
                            <m:t>−</m:t>
                          </m:r>
                          <m:r>
                            <a:rPr lang="en-US" altLang="zh-CN" i="1" dirty="0">
                              <a:latin typeface="Cambria Math" panose="02040503050406030204" charset="0"/>
                            </a:rPr>
                            <m:t>𝑝</m:t>
                          </m:r>
                        </m:e>
                        <m:sub>
                          <m:r>
                            <a:rPr lang="en-US" altLang="zh-CN" i="1" dirty="0">
                              <a:latin typeface="Cambria Math" panose="02040503050406030204" charset="0"/>
                            </a:rPr>
                            <m:t>0</m:t>
                          </m:r>
                        </m:sub>
                      </m:sSub>
                      <m:r>
                        <a:rPr lang="el-GR" altLang="zh-CN" i="1" dirty="0">
                          <a:latin typeface="Cambria Math" panose="02040503050406030204" charset="0"/>
                        </a:rPr>
                        <m:t>)</m:t>
                      </m:r>
                    </m:oMath>
                  </m:oMathPara>
                </a14:m>
                <a:endParaRPr lang="en-US" altLang="zh-CN" dirty="0"/>
              </a:p>
            </p:txBody>
          </p:sp>
        </mc:Choice>
        <mc:Fallback xmlns="">
          <p:sp>
            <p:nvSpPr>
              <p:cNvPr id="6" name="Rectangle 5"/>
              <p:cNvSpPr>
                <a:spLocks noRot="1" noChangeAspect="1" noMove="1" noResize="1" noEditPoints="1" noAdjustHandles="1" noChangeArrowheads="1" noChangeShapeType="1" noTextEdit="1"/>
              </p:cNvSpPr>
              <p:nvPr/>
            </p:nvSpPr>
            <p:spPr>
              <a:xfrm>
                <a:off x="-91185" y="5710616"/>
                <a:ext cx="2665858" cy="369332"/>
              </a:xfrm>
              <a:prstGeom prst="rect">
                <a:avLst/>
              </a:prstGeom>
              <a:blipFill rotWithShape="1">
                <a:blip r:embed="rId6"/>
                <a:stretch>
                  <a:fillRect l="14" t="-17" r="-5655" b="124"/>
                </a:stretch>
              </a:blipFill>
            </p:spPr>
            <p:txBody>
              <a:bodyPr/>
              <a:lstStyle/>
              <a:p>
                <a:r>
                  <a:rPr lang="zh-CN" altLang="en-US">
                    <a:noFill/>
                  </a:rPr>
                  <a:t> </a:t>
                </a:r>
              </a:p>
            </p:txBody>
          </p:sp>
        </mc:Fallback>
      </mc:AlternateContent>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模型视图矩阵的计算</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a:bodyPr>
              <a:lstStyle/>
              <a:p>
                <a:r>
                  <a:rPr lang="zh-CN" altLang="en-US" sz="2400" dirty="0"/>
                  <a:t>设</a:t>
                </a:r>
                <a:r>
                  <a:rPr lang="en-US" altLang="zh-CN" sz="2400" dirty="0"/>
                  <a:t>VRP</a:t>
                </a:r>
                <a:r>
                  <a:rPr lang="zh-CN" altLang="en-US" sz="2400" dirty="0"/>
                  <a:t>点</a:t>
                </a:r>
                <a14:m>
                  <m:oMath xmlns:m="http://schemas.openxmlformats.org/officeDocument/2006/math">
                    <m:r>
                      <a:rPr lang="en-US" altLang="zh-CN" sz="2400" b="1" i="1" dirty="0" smtClean="0">
                        <a:latin typeface="Cambria Math" panose="02040503050406030204" charset="0"/>
                      </a:rPr>
                      <m:t>𝒑</m:t>
                    </m:r>
                    <m:r>
                      <a:rPr lang="en-US" altLang="zh-CN" sz="2400" i="1" dirty="0">
                        <a:latin typeface="Cambria Math" panose="02040503050406030204" charset="0"/>
                      </a:rPr>
                      <m:t>=[</m:t>
                    </m:r>
                    <m:r>
                      <a:rPr lang="en-US" altLang="zh-CN" sz="2400" i="1" dirty="0">
                        <a:latin typeface="Cambria Math" panose="02040503050406030204" charset="0"/>
                      </a:rPr>
                      <m:t>𝑥</m:t>
                    </m:r>
                    <m:r>
                      <a:rPr lang="en-US" altLang="zh-CN" sz="2400" i="1" dirty="0">
                        <a:latin typeface="Cambria Math" panose="02040503050406030204" charset="0"/>
                      </a:rPr>
                      <m:t>,</m:t>
                    </m:r>
                    <m:r>
                      <a:rPr lang="en-US" altLang="zh-CN" sz="2400" i="1" dirty="0">
                        <a:latin typeface="Cambria Math" panose="02040503050406030204" charset="0"/>
                      </a:rPr>
                      <m:t>𝑦</m:t>
                    </m:r>
                    <m:r>
                      <a:rPr lang="en-US" altLang="zh-CN" sz="2400" i="1" dirty="0">
                        <a:latin typeface="Cambria Math" panose="02040503050406030204" charset="0"/>
                      </a:rPr>
                      <m:t>,</m:t>
                    </m:r>
                    <m:r>
                      <a:rPr lang="en-US" altLang="zh-CN" sz="2400" i="1" dirty="0">
                        <a:latin typeface="Cambria Math" panose="02040503050406030204" charset="0"/>
                      </a:rPr>
                      <m:t>𝑧</m:t>
                    </m:r>
                    <m:r>
                      <a:rPr lang="en-US" altLang="zh-CN" sz="2400" i="1" dirty="0">
                        <a:latin typeface="Cambria Math" panose="02040503050406030204" charset="0"/>
                      </a:rPr>
                      <m:t>,1]</m:t>
                    </m:r>
                    <m:r>
                      <a:rPr lang="en-US" altLang="zh-CN" sz="2400" i="1" baseline="30000" dirty="0">
                        <a:latin typeface="Cambria Math" panose="02040503050406030204" charset="0"/>
                      </a:rPr>
                      <m:t>𝑇</m:t>
                    </m:r>
                  </m:oMath>
                </a14:m>
                <a:r>
                  <a:rPr lang="en-US" altLang="zh-CN" sz="2400" dirty="0"/>
                  <a:t>, </a:t>
                </a:r>
                <a:r>
                  <a:rPr lang="zh-CN" altLang="en-US" sz="2400" dirty="0"/>
                  <a:t>视平面法向</a:t>
                </a:r>
                <a14:m>
                  <m:oMath xmlns:m="http://schemas.openxmlformats.org/officeDocument/2006/math">
                    <m:r>
                      <a:rPr lang="en-US" altLang="zh-CN" sz="2400" b="1" i="1" dirty="0" smtClean="0">
                        <a:latin typeface="Cambria Math" panose="02040503050406030204" charset="0"/>
                      </a:rPr>
                      <m:t>𝒏</m:t>
                    </m:r>
                    <m:r>
                      <a:rPr lang="en-US" altLang="zh-CN" sz="2400" i="1" dirty="0">
                        <a:latin typeface="Cambria Math" panose="02040503050406030204" charset="0"/>
                      </a:rPr>
                      <m:t>=[</m:t>
                    </m:r>
                    <m:r>
                      <a:rPr lang="en-US" altLang="zh-CN" sz="2400" i="1" dirty="0">
                        <a:latin typeface="Cambria Math" panose="02040503050406030204" charset="0"/>
                      </a:rPr>
                      <m:t>𝑛𝑥</m:t>
                    </m:r>
                    <m:r>
                      <a:rPr lang="en-US" altLang="zh-CN" sz="2400" i="1" dirty="0">
                        <a:latin typeface="Cambria Math" panose="02040503050406030204" charset="0"/>
                      </a:rPr>
                      <m:t>,</m:t>
                    </m:r>
                    <m:r>
                      <a:rPr lang="en-US" altLang="zh-CN" sz="2400" i="1" dirty="0">
                        <a:latin typeface="Cambria Math" panose="02040503050406030204" charset="0"/>
                      </a:rPr>
                      <m:t>𝑛𝑦</m:t>
                    </m:r>
                    <m:r>
                      <a:rPr lang="en-US" altLang="zh-CN" sz="2400" i="1" dirty="0">
                        <a:latin typeface="Cambria Math" panose="02040503050406030204" charset="0"/>
                      </a:rPr>
                      <m:t>,</m:t>
                    </m:r>
                    <m:r>
                      <a:rPr lang="en-US" altLang="zh-CN" sz="2400" i="1" dirty="0">
                        <a:latin typeface="Cambria Math" panose="02040503050406030204" charset="0"/>
                      </a:rPr>
                      <m:t>𝑛𝑧</m:t>
                    </m:r>
                    <m:r>
                      <a:rPr lang="en-US" altLang="zh-CN" sz="2400" i="1" dirty="0">
                        <a:latin typeface="Cambria Math" panose="02040503050406030204" charset="0"/>
                      </a:rPr>
                      <m:t>,0]</m:t>
                    </m:r>
                    <m:r>
                      <a:rPr lang="en-US" altLang="zh-CN" sz="2400" i="1" baseline="30000" dirty="0">
                        <a:latin typeface="Cambria Math" panose="02040503050406030204" charset="0"/>
                      </a:rPr>
                      <m:t>𝑇</m:t>
                    </m:r>
                  </m:oMath>
                </a14:m>
                <a:r>
                  <a:rPr lang="en-US" altLang="zh-CN" sz="2400" dirty="0"/>
                  <a:t>,</a:t>
                </a:r>
              </a:p>
              <a:p>
                <a:pPr marL="0" indent="0">
                  <a:buNone/>
                </a:pPr>
                <a:r>
                  <a:rPr lang="zh-CN" altLang="en-US" sz="2400" dirty="0"/>
                  <a:t>    上方向量为</a:t>
                </a:r>
                <a14:m>
                  <m:oMath xmlns:m="http://schemas.openxmlformats.org/officeDocument/2006/math">
                    <m:r>
                      <a:rPr lang="en-US" altLang="zh-CN" sz="2400" b="1" i="1" dirty="0" smtClean="0">
                        <a:latin typeface="Cambria Math" panose="02040503050406030204" charset="0"/>
                      </a:rPr>
                      <m:t>𝒗</m:t>
                    </m:r>
                    <m:r>
                      <a:rPr lang="en-US" altLang="zh-CN" sz="2400" i="1" baseline="-25000" dirty="0" err="1">
                        <a:latin typeface="Cambria Math" panose="02040503050406030204" charset="0"/>
                      </a:rPr>
                      <m:t>𝑢𝑝</m:t>
                    </m:r>
                    <m:r>
                      <a:rPr lang="en-US" altLang="zh-CN" sz="2400" i="1" dirty="0">
                        <a:latin typeface="Cambria Math" panose="02040503050406030204" charset="0"/>
                      </a:rPr>
                      <m:t>=[</m:t>
                    </m:r>
                    <m:r>
                      <a:rPr lang="en-US" altLang="zh-CN" sz="2400" i="1" dirty="0" err="1">
                        <a:latin typeface="Cambria Math" panose="02040503050406030204" charset="0"/>
                      </a:rPr>
                      <m:t>𝑣</m:t>
                    </m:r>
                    <m:r>
                      <a:rPr lang="en-US" altLang="zh-CN" sz="2400" i="1" baseline="-25000" dirty="0" err="1">
                        <a:latin typeface="Cambria Math" panose="02040503050406030204" charset="0"/>
                      </a:rPr>
                      <m:t>𝑢𝑝𝑥</m:t>
                    </m:r>
                    <m:r>
                      <a:rPr lang="en-US" altLang="zh-CN" sz="2400" i="1" dirty="0">
                        <a:latin typeface="Cambria Math" panose="02040503050406030204" charset="0"/>
                      </a:rPr>
                      <m:t>, </m:t>
                    </m:r>
                    <m:r>
                      <a:rPr lang="en-US" altLang="zh-CN" sz="2400" i="1" dirty="0" err="1">
                        <a:latin typeface="Cambria Math" panose="02040503050406030204" charset="0"/>
                      </a:rPr>
                      <m:t>𝑣</m:t>
                    </m:r>
                    <m:r>
                      <a:rPr lang="en-US" altLang="zh-CN" sz="2400" i="1" baseline="-25000" dirty="0" err="1">
                        <a:latin typeface="Cambria Math" panose="02040503050406030204" charset="0"/>
                      </a:rPr>
                      <m:t>𝑢𝑝𝑦</m:t>
                    </m:r>
                    <m:r>
                      <a:rPr lang="en-US" altLang="zh-CN" sz="2400" i="1" dirty="0">
                        <a:latin typeface="Cambria Math" panose="02040503050406030204" charset="0"/>
                      </a:rPr>
                      <m:t>, </m:t>
                    </m:r>
                    <m:r>
                      <a:rPr lang="en-US" altLang="zh-CN" sz="2400" i="1" dirty="0" err="1">
                        <a:latin typeface="Cambria Math" panose="02040503050406030204" charset="0"/>
                      </a:rPr>
                      <m:t>𝑣</m:t>
                    </m:r>
                    <m:r>
                      <a:rPr lang="en-US" altLang="zh-CN" sz="2400" i="1" baseline="-25000" dirty="0" err="1">
                        <a:latin typeface="Cambria Math" panose="02040503050406030204" charset="0"/>
                      </a:rPr>
                      <m:t>𝑢𝑝𝑧</m:t>
                    </m:r>
                    <m:r>
                      <a:rPr lang="en-US" altLang="zh-CN" sz="2400" i="1" dirty="0">
                        <a:latin typeface="Cambria Math" panose="02040503050406030204" charset="0"/>
                      </a:rPr>
                      <m:t>, 0]</m:t>
                    </m:r>
                    <m:r>
                      <a:rPr lang="en-US" altLang="zh-CN" sz="2400" i="1" baseline="30000" dirty="0">
                        <a:latin typeface="Cambria Math" panose="02040503050406030204" charset="0"/>
                      </a:rPr>
                      <m:t>𝑇</m:t>
                    </m:r>
                  </m:oMath>
                </a14:m>
                <a:endParaRPr lang="en-US" altLang="zh-CN" sz="2400" dirty="0"/>
              </a:p>
              <a:p>
                <a14:m>
                  <m:oMath xmlns:m="http://schemas.openxmlformats.org/officeDocument/2006/math">
                    <m:r>
                      <a:rPr lang="en-US" altLang="zh-CN" sz="2400" b="1" i="1" dirty="0" smtClean="0">
                        <a:latin typeface="Cambria Math" panose="02040503050406030204" charset="0"/>
                      </a:rPr>
                      <m:t>𝒗</m:t>
                    </m:r>
                    <m:r>
                      <a:rPr lang="en-US" altLang="zh-CN" sz="2400" i="1" dirty="0">
                        <a:latin typeface="Cambria Math" panose="02040503050406030204" charset="0"/>
                      </a:rPr>
                      <m:t> = </m:t>
                    </m:r>
                    <m:r>
                      <a:rPr lang="en-US" altLang="zh-CN" sz="2400" b="1" i="1" dirty="0" err="1">
                        <a:latin typeface="Cambria Math" panose="02040503050406030204" charset="0"/>
                      </a:rPr>
                      <m:t>𝒗</m:t>
                    </m:r>
                    <m:r>
                      <a:rPr lang="en-US" altLang="zh-CN" sz="2400" i="1" baseline="-25000" dirty="0" err="1">
                        <a:latin typeface="Cambria Math" panose="02040503050406030204" charset="0"/>
                      </a:rPr>
                      <m:t>𝑢𝑝</m:t>
                    </m:r>
                    <m:r>
                      <a:rPr lang="en-US" altLang="zh-CN" sz="2400" i="1" dirty="0">
                        <a:latin typeface="Cambria Math" panose="02040503050406030204" charset="0"/>
                      </a:rPr>
                      <m:t>−(</m:t>
                    </m:r>
                    <m:r>
                      <a:rPr lang="en-US" altLang="zh-CN" sz="2400" b="1" i="1" dirty="0" err="1">
                        <a:latin typeface="Cambria Math" panose="02040503050406030204" charset="0"/>
                      </a:rPr>
                      <m:t>𝒗</m:t>
                    </m:r>
                    <m:r>
                      <a:rPr lang="en-US" altLang="zh-CN" sz="2400" i="1" baseline="-25000" dirty="0" err="1">
                        <a:latin typeface="Cambria Math" panose="02040503050406030204" charset="0"/>
                      </a:rPr>
                      <m:t>𝑢𝑝</m:t>
                    </m:r>
                    <m:r>
                      <a:rPr lang="en-US" altLang="zh-CN" sz="2400" i="1" dirty="0" err="1">
                        <a:latin typeface="Cambria Math" panose="02040503050406030204" charset="0"/>
                      </a:rPr>
                      <m:t>⋅</m:t>
                    </m:r>
                    <m:r>
                      <a:rPr lang="en-US" altLang="zh-CN" sz="2400" b="1" i="1" dirty="0" err="1">
                        <a:latin typeface="Cambria Math" panose="02040503050406030204" charset="0"/>
                      </a:rPr>
                      <m:t>𝒏</m:t>
                    </m:r>
                    <m:r>
                      <a:rPr lang="en-US" altLang="zh-CN" sz="2400" i="1" dirty="0">
                        <a:latin typeface="Cambria Math" panose="02040503050406030204" charset="0"/>
                      </a:rPr>
                      <m:t>)/(</m:t>
                    </m:r>
                    <m:r>
                      <a:rPr lang="en-US" altLang="zh-CN" sz="2400" b="1" i="1" dirty="0" err="1">
                        <a:latin typeface="Cambria Math" panose="02040503050406030204" charset="0"/>
                      </a:rPr>
                      <m:t>𝒏</m:t>
                    </m:r>
                    <m:r>
                      <a:rPr lang="en-US" altLang="zh-CN" sz="2400" i="1" dirty="0" err="1">
                        <a:latin typeface="Cambria Math" panose="02040503050406030204" charset="0"/>
                      </a:rPr>
                      <m:t>⋅</m:t>
                    </m:r>
                    <m:r>
                      <a:rPr lang="en-US" altLang="zh-CN" sz="2400" b="1" i="1" dirty="0" err="1">
                        <a:latin typeface="Cambria Math" panose="02040503050406030204" charset="0"/>
                      </a:rPr>
                      <m:t>𝒏</m:t>
                    </m:r>
                    <m:r>
                      <a:rPr lang="en-US" altLang="zh-CN" sz="2400" i="1" dirty="0">
                        <a:latin typeface="Cambria Math" panose="02040503050406030204" charset="0"/>
                      </a:rPr>
                      <m:t>)</m:t>
                    </m:r>
                    <m:r>
                      <a:rPr lang="en-US" altLang="zh-CN" sz="2400" b="1" i="1" dirty="0">
                        <a:latin typeface="Cambria Math" panose="02040503050406030204" charset="0"/>
                      </a:rPr>
                      <m:t>𝒏</m:t>
                    </m:r>
                  </m:oMath>
                </a14:m>
                <a:r>
                  <a:rPr lang="en-US" altLang="zh-CN" sz="2400" dirty="0"/>
                  <a:t>, </a:t>
                </a:r>
                <a:r>
                  <a:rPr lang="zh-CN" altLang="en-US" sz="2400" dirty="0"/>
                  <a:t>把</a:t>
                </a:r>
                <a14:m>
                  <m:oMath xmlns:m="http://schemas.openxmlformats.org/officeDocument/2006/math">
                    <m:r>
                      <a:rPr lang="en-US" altLang="zh-CN" sz="2400" b="1" i="1" dirty="0" smtClean="0">
                        <a:latin typeface="Cambria Math" panose="02040503050406030204" charset="0"/>
                      </a:rPr>
                      <m:t>𝒗</m:t>
                    </m:r>
                    <m:r>
                      <a:rPr lang="en-US" altLang="zh-CN" sz="2400" i="1" dirty="0">
                        <a:latin typeface="Cambria Math" panose="02040503050406030204" charset="0"/>
                      </a:rPr>
                      <m:t>, </m:t>
                    </m:r>
                    <m:r>
                      <a:rPr lang="en-US" altLang="zh-CN" sz="2400" b="1" i="1" dirty="0">
                        <a:latin typeface="Cambria Math" panose="02040503050406030204" charset="0"/>
                      </a:rPr>
                      <m:t>𝒏</m:t>
                    </m:r>
                  </m:oMath>
                </a14:m>
                <a:r>
                  <a:rPr lang="zh-CN" altLang="en-US" sz="2400" dirty="0"/>
                  <a:t>单位化</a:t>
                </a:r>
                <a:endParaRPr lang="en-US" altLang="zh-CN" sz="2400" dirty="0"/>
              </a:p>
              <a:p>
                <a14:m>
                  <m:oMath xmlns:m="http://schemas.openxmlformats.org/officeDocument/2006/math">
                    <m:r>
                      <a:rPr lang="en-US" altLang="zh-CN" sz="2400" b="1" i="1" dirty="0" smtClean="0">
                        <a:latin typeface="Cambria Math" panose="02040503050406030204" charset="0"/>
                      </a:rPr>
                      <m:t>𝒖</m:t>
                    </m:r>
                    <m:r>
                      <a:rPr lang="en-US" altLang="zh-CN" sz="2400" i="1" dirty="0">
                        <a:latin typeface="Cambria Math" panose="02040503050406030204" charset="0"/>
                      </a:rPr>
                      <m:t> = </m:t>
                    </m:r>
                    <m:r>
                      <a:rPr lang="en-US" altLang="zh-CN" sz="2400" b="1" i="1" dirty="0">
                        <a:latin typeface="Cambria Math" panose="02040503050406030204" charset="0"/>
                      </a:rPr>
                      <m:t>𝒗</m:t>
                    </m:r>
                    <m:r>
                      <a:rPr lang="en-US" altLang="zh-CN" sz="2400" i="1" dirty="0">
                        <a:latin typeface="Cambria Math" panose="02040503050406030204" charset="0"/>
                      </a:rPr>
                      <m:t> </m:t>
                    </m:r>
                    <m:r>
                      <a:rPr lang="en-US" altLang="zh-CN" sz="2400" i="1" dirty="0">
                        <a:latin typeface="Cambria Math" panose="02040503050406030204" charset="0"/>
                      </a:rPr>
                      <m:t>𝑥</m:t>
                    </m:r>
                    <m:r>
                      <a:rPr lang="en-US" altLang="zh-CN" sz="2400" i="1" dirty="0">
                        <a:latin typeface="Cambria Math" panose="02040503050406030204" charset="0"/>
                      </a:rPr>
                      <m:t> </m:t>
                    </m:r>
                    <m:r>
                      <a:rPr lang="en-US" altLang="zh-CN" sz="2400" b="1" i="1" dirty="0">
                        <a:latin typeface="Cambria Math" panose="02040503050406030204" charset="0"/>
                      </a:rPr>
                      <m:t>𝒏</m:t>
                    </m:r>
                  </m:oMath>
                </a14:m>
                <a:endParaRPr lang="en-US" altLang="zh-CN" sz="2400" b="1" dirty="0"/>
              </a:p>
              <a:p>
                <a:r>
                  <a:rPr lang="zh-CN" altLang="en-US" sz="2400" dirty="0"/>
                  <a:t>模型视图矩阵为：</a:t>
                </a:r>
                <a:endParaRPr lang="en-US" altLang="zh-CN" sz="2400" dirty="0"/>
              </a:p>
              <a:p>
                <a:endParaRPr lang="en-US" altLang="zh-CN" sz="2400" dirty="0"/>
              </a:p>
              <a:p>
                <a:endParaRPr lang="zh-CN" altLang="en-US" dirty="0"/>
              </a:p>
            </p:txBody>
          </p:sp>
        </mc:Choice>
        <mc:Fallback xmlns="">
          <p:sp>
            <p:nvSpPr>
              <p:cNvPr id="3" name="内容占位符 2"/>
              <p:cNvSpPr>
                <a:spLocks noRot="1" noChangeAspect="1" noMove="1" noResize="1" noEditPoints="1" noAdjustHandles="1" noChangeArrowheads="1" noChangeShapeType="1" noTextEdit="1"/>
              </p:cNvSpPr>
              <p:nvPr>
                <p:ph idx="1"/>
              </p:nvPr>
            </p:nvSpPr>
            <p:spPr>
              <a:blipFill rotWithShape="1">
                <a:blip r:embed="rId2"/>
                <a:stretch>
                  <a:fillRect t="-2010" b="4"/>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28</a:t>
            </a:fld>
            <a:endParaRPr lang="zh-CN" altLang="en-US"/>
          </a:p>
        </p:txBody>
      </p:sp>
      <p:pic>
        <p:nvPicPr>
          <p:cNvPr id="6" name="图片 5"/>
          <p:cNvPicPr>
            <a:picLocks noChangeAspect="1"/>
          </p:cNvPicPr>
          <p:nvPr/>
        </p:nvPicPr>
        <p:blipFill>
          <a:blip r:embed="rId3"/>
          <a:stretch>
            <a:fillRect/>
          </a:stretch>
        </p:blipFill>
        <p:spPr>
          <a:xfrm>
            <a:off x="1956198" y="3878293"/>
            <a:ext cx="5018953" cy="2202229"/>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3200401" y="2094748"/>
            <a:ext cx="3032598" cy="796287"/>
          </a:xfrm>
          <a:prstGeom prst="roundRect">
            <a:avLst>
              <a:gd name="adj" fmla="val 50000"/>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角矩形 2"/>
          <p:cNvSpPr/>
          <p:nvPr/>
        </p:nvSpPr>
        <p:spPr>
          <a:xfrm>
            <a:off x="5418743" y="2115257"/>
            <a:ext cx="788833" cy="749851"/>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大纲</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29</a:t>
            </a:fld>
            <a:endParaRPr lang="zh-CN" altLang="en-US"/>
          </a:p>
        </p:txBody>
      </p:sp>
      <p:sp>
        <p:nvSpPr>
          <p:cNvPr id="8" name="文本框 7"/>
          <p:cNvSpPr txBox="1"/>
          <p:nvPr/>
        </p:nvSpPr>
        <p:spPr>
          <a:xfrm>
            <a:off x="3677999" y="3364107"/>
            <a:ext cx="2031325" cy="646331"/>
          </a:xfrm>
          <a:prstGeom prst="rect">
            <a:avLst/>
          </a:prstGeom>
          <a:noFill/>
        </p:spPr>
        <p:txBody>
          <a:bodyPr wrap="none" rtlCol="0">
            <a:spAutoFit/>
          </a:bodyPr>
          <a:lstStyle/>
          <a:p>
            <a:pPr algn="ctr"/>
            <a:r>
              <a:rPr lang="zh-CN" altLang="en-US" sz="3600" b="1" dirty="0">
                <a:latin typeface="微软雅黑" panose="020B0503020204020204" pitchFamily="34" charset="-122"/>
                <a:ea typeface="微软雅黑" panose="020B0503020204020204" pitchFamily="34" charset="-122"/>
              </a:rPr>
              <a:t>投影变换</a:t>
            </a:r>
          </a:p>
        </p:txBody>
      </p:sp>
      <p:sp>
        <p:nvSpPr>
          <p:cNvPr id="11" name="文本框 10"/>
          <p:cNvSpPr txBox="1"/>
          <p:nvPr/>
        </p:nvSpPr>
        <p:spPr>
          <a:xfrm>
            <a:off x="3376147" y="2138948"/>
            <a:ext cx="1755609" cy="707886"/>
          </a:xfrm>
          <a:prstGeom prst="rect">
            <a:avLst/>
          </a:prstGeom>
          <a:noFill/>
        </p:spPr>
        <p:txBody>
          <a:bodyPr wrap="none" rtlCol="0">
            <a:spAutoFit/>
          </a:bodyPr>
          <a:lstStyle/>
          <a:p>
            <a:pPr algn="ctr"/>
            <a:r>
              <a:rPr lang="en-US" altLang="zh-CN" sz="4000" b="1" dirty="0">
                <a:solidFill>
                  <a:schemeClr val="bg1"/>
                </a:solidFill>
              </a:rPr>
              <a:t>Section</a:t>
            </a:r>
            <a:endParaRPr lang="zh-CN" altLang="en-US" sz="4000" b="1" dirty="0">
              <a:solidFill>
                <a:schemeClr val="bg1"/>
              </a:solidFill>
            </a:endParaRPr>
          </a:p>
        </p:txBody>
      </p:sp>
      <p:sp>
        <p:nvSpPr>
          <p:cNvPr id="12" name="文本框 11"/>
          <p:cNvSpPr txBox="1"/>
          <p:nvPr/>
        </p:nvSpPr>
        <p:spPr>
          <a:xfrm>
            <a:off x="5523180" y="1913900"/>
            <a:ext cx="614271" cy="1107996"/>
          </a:xfrm>
          <a:prstGeom prst="rect">
            <a:avLst/>
          </a:prstGeom>
          <a:noFill/>
        </p:spPr>
        <p:txBody>
          <a:bodyPr wrap="none" rtlCol="0">
            <a:spAutoFit/>
          </a:bodyPr>
          <a:lstStyle/>
          <a:p>
            <a:pPr algn="ctr"/>
            <a:r>
              <a:rPr lang="en-US" altLang="zh-CN" sz="6600" b="1" i="1" dirty="0">
                <a:solidFill>
                  <a:srgbClr val="94003F"/>
                </a:solidFill>
              </a:rPr>
              <a:t>2</a:t>
            </a:r>
            <a:endParaRPr lang="zh-CN" altLang="en-US" sz="6600" b="1" i="1" dirty="0">
              <a:solidFill>
                <a:srgbClr val="94003F"/>
              </a:solidFill>
            </a:endParaRPr>
          </a:p>
        </p:txBody>
      </p:sp>
      <p:sp>
        <p:nvSpPr>
          <p:cNvPr id="6" name="等腰三角形 5"/>
          <p:cNvSpPr/>
          <p:nvPr/>
        </p:nvSpPr>
        <p:spPr>
          <a:xfrm rot="10800000">
            <a:off x="4447572" y="2804325"/>
            <a:ext cx="492176" cy="321924"/>
          </a:xfrm>
          <a:prstGeom prst="triangl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平面几何投影的分类</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30</a:t>
            </a:fld>
            <a:endParaRPr lang="zh-CN" altLang="en-US"/>
          </a:p>
        </p:txBody>
      </p:sp>
      <p:pic>
        <p:nvPicPr>
          <p:cNvPr id="5" name="图片 4"/>
          <p:cNvPicPr>
            <a:picLocks noChangeAspect="1"/>
          </p:cNvPicPr>
          <p:nvPr/>
        </p:nvPicPr>
        <p:blipFill>
          <a:blip r:embed="rId2"/>
          <a:stretch>
            <a:fillRect/>
          </a:stretch>
        </p:blipFill>
        <p:spPr>
          <a:xfrm>
            <a:off x="155121" y="1347144"/>
            <a:ext cx="8693251" cy="4804734"/>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11"/>
          <p:cNvGrpSpPr/>
          <p:nvPr/>
        </p:nvGrpSpPr>
        <p:grpSpPr bwMode="auto">
          <a:xfrm>
            <a:off x="1158803" y="1279986"/>
            <a:ext cx="7429500" cy="4354513"/>
            <a:chOff x="446" y="1230"/>
            <a:chExt cx="4680" cy="2743"/>
          </a:xfrm>
        </p:grpSpPr>
        <p:pic>
          <p:nvPicPr>
            <p:cNvPr id="10" name="Picture 4" descr="an05f0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5" y="1230"/>
              <a:ext cx="3726" cy="2667"/>
            </a:xfrm>
            <a:prstGeom prst="rect">
              <a:avLst/>
            </a:prstGeom>
            <a:noFill/>
            <a:ln>
              <a:noFill/>
            </a:ln>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 Box 9"/>
            <p:cNvSpPr txBox="1">
              <a:spLocks noChangeArrowheads="1"/>
            </p:cNvSpPr>
            <p:nvPr/>
          </p:nvSpPr>
          <p:spPr bwMode="auto">
            <a:xfrm>
              <a:off x="3080" y="3022"/>
              <a:ext cx="1388" cy="2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rgbClr val="3333FF"/>
                  </a:solidFill>
                  <a:latin typeface="Trebuchet MS" panose="020B0603020202020204" charset="0"/>
                  <a:ea typeface="굴림" charset="-127"/>
                </a:defRPr>
              </a:lvl1pPr>
              <a:lvl2pPr marL="742950" indent="-285750" eaLnBrk="0" hangingPunct="0">
                <a:defRPr sz="2800">
                  <a:solidFill>
                    <a:srgbClr val="3333FF"/>
                  </a:solidFill>
                  <a:latin typeface="Trebuchet MS" panose="020B0603020202020204" charset="0"/>
                  <a:ea typeface="굴림" charset="-127"/>
                </a:defRPr>
              </a:lvl2pPr>
              <a:lvl3pPr marL="1143000" indent="-228600" eaLnBrk="0" hangingPunct="0">
                <a:defRPr sz="2800">
                  <a:solidFill>
                    <a:srgbClr val="3333FF"/>
                  </a:solidFill>
                  <a:latin typeface="Trebuchet MS" panose="020B0603020202020204" charset="0"/>
                  <a:ea typeface="굴림" charset="-127"/>
                </a:defRPr>
              </a:lvl3pPr>
              <a:lvl4pPr marL="1600200" indent="-228600" eaLnBrk="0" hangingPunct="0">
                <a:defRPr sz="2800">
                  <a:solidFill>
                    <a:srgbClr val="3333FF"/>
                  </a:solidFill>
                  <a:latin typeface="Trebuchet MS" panose="020B0603020202020204" charset="0"/>
                  <a:ea typeface="굴림" charset="-127"/>
                </a:defRPr>
              </a:lvl4pPr>
              <a:lvl5pPr marL="2057400" indent="-228600" eaLnBrk="0" hangingPunct="0">
                <a:defRPr sz="2800">
                  <a:solidFill>
                    <a:srgbClr val="3333FF"/>
                  </a:solidFill>
                  <a:latin typeface="Trebuchet MS" panose="020B0603020202020204" charset="0"/>
                  <a:ea typeface="굴림" charset="-127"/>
                </a:defRPr>
              </a:lvl5pPr>
              <a:lvl6pPr marL="2514600" indent="-228600" algn="ctr" eaLnBrk="0" fontAlgn="base" hangingPunct="0">
                <a:spcBef>
                  <a:spcPct val="0"/>
                </a:spcBef>
                <a:spcAft>
                  <a:spcPct val="0"/>
                </a:spcAft>
                <a:defRPr sz="2800">
                  <a:solidFill>
                    <a:srgbClr val="3333FF"/>
                  </a:solidFill>
                  <a:latin typeface="Trebuchet MS" panose="020B0603020202020204" charset="0"/>
                  <a:ea typeface="굴림" charset="-127"/>
                </a:defRPr>
              </a:lvl6pPr>
              <a:lvl7pPr marL="2971800" indent="-228600" algn="ctr" eaLnBrk="0" fontAlgn="base" hangingPunct="0">
                <a:spcBef>
                  <a:spcPct val="0"/>
                </a:spcBef>
                <a:spcAft>
                  <a:spcPct val="0"/>
                </a:spcAft>
                <a:defRPr sz="2800">
                  <a:solidFill>
                    <a:srgbClr val="3333FF"/>
                  </a:solidFill>
                  <a:latin typeface="Trebuchet MS" panose="020B0603020202020204" charset="0"/>
                  <a:ea typeface="굴림" charset="-127"/>
                </a:defRPr>
              </a:lvl7pPr>
              <a:lvl8pPr marL="3429000" indent="-228600" algn="ctr" eaLnBrk="0" fontAlgn="base" hangingPunct="0">
                <a:spcBef>
                  <a:spcPct val="0"/>
                </a:spcBef>
                <a:spcAft>
                  <a:spcPct val="0"/>
                </a:spcAft>
                <a:defRPr sz="2800">
                  <a:solidFill>
                    <a:srgbClr val="3333FF"/>
                  </a:solidFill>
                  <a:latin typeface="Trebuchet MS" panose="020B0603020202020204" charset="0"/>
                  <a:ea typeface="굴림" charset="-127"/>
                </a:defRPr>
              </a:lvl8pPr>
              <a:lvl9pPr marL="3886200" indent="-228600" algn="ctr" eaLnBrk="0" fontAlgn="base" hangingPunct="0">
                <a:spcBef>
                  <a:spcPct val="0"/>
                </a:spcBef>
                <a:spcAft>
                  <a:spcPct val="0"/>
                </a:spcAft>
                <a:defRPr sz="2800">
                  <a:solidFill>
                    <a:srgbClr val="3333FF"/>
                  </a:solidFill>
                  <a:latin typeface="Trebuchet MS" panose="020B0603020202020204" charset="0"/>
                  <a:ea typeface="굴림" charset="-127"/>
                </a:defRPr>
              </a:lvl9pPr>
            </a:lstStyle>
            <a:p>
              <a:pPr algn="l" eaLnBrk="1" hangingPunct="1">
                <a:spcBef>
                  <a:spcPct val="50000"/>
                </a:spcBef>
              </a:pPr>
              <a:r>
                <a:rPr lang="zh-CN" altLang="en-US" sz="2400" dirty="0">
                  <a:solidFill>
                    <a:schemeClr val="tx1"/>
                  </a:solidFill>
                  <a:latin typeface="Arial" panose="020B0604020202020204" pitchFamily="34" charset="0"/>
                  <a:ea typeface="楷体_GB2312" charset="0"/>
                </a:rPr>
                <a:t>投影平面</a:t>
              </a:r>
            </a:p>
          </p:txBody>
        </p:sp>
        <p:sp>
          <p:nvSpPr>
            <p:cNvPr id="12" name="Text Box 11"/>
            <p:cNvSpPr txBox="1">
              <a:spLocks noChangeArrowheads="1"/>
            </p:cNvSpPr>
            <p:nvPr/>
          </p:nvSpPr>
          <p:spPr bwMode="auto">
            <a:xfrm>
              <a:off x="1568" y="1781"/>
              <a:ext cx="931" cy="2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rgbClr val="3333FF"/>
                  </a:solidFill>
                  <a:latin typeface="Trebuchet MS" panose="020B0603020202020204" charset="0"/>
                  <a:ea typeface="굴림" charset="-127"/>
                </a:defRPr>
              </a:lvl1pPr>
              <a:lvl2pPr marL="742950" indent="-285750" eaLnBrk="0" hangingPunct="0">
                <a:defRPr sz="2800">
                  <a:solidFill>
                    <a:srgbClr val="3333FF"/>
                  </a:solidFill>
                  <a:latin typeface="Trebuchet MS" panose="020B0603020202020204" charset="0"/>
                  <a:ea typeface="굴림" charset="-127"/>
                </a:defRPr>
              </a:lvl2pPr>
              <a:lvl3pPr marL="1143000" indent="-228600" eaLnBrk="0" hangingPunct="0">
                <a:defRPr sz="2800">
                  <a:solidFill>
                    <a:srgbClr val="3333FF"/>
                  </a:solidFill>
                  <a:latin typeface="Trebuchet MS" panose="020B0603020202020204" charset="0"/>
                  <a:ea typeface="굴림" charset="-127"/>
                </a:defRPr>
              </a:lvl3pPr>
              <a:lvl4pPr marL="1600200" indent="-228600" eaLnBrk="0" hangingPunct="0">
                <a:defRPr sz="2800">
                  <a:solidFill>
                    <a:srgbClr val="3333FF"/>
                  </a:solidFill>
                  <a:latin typeface="Trebuchet MS" panose="020B0603020202020204" charset="0"/>
                  <a:ea typeface="굴림" charset="-127"/>
                </a:defRPr>
              </a:lvl4pPr>
              <a:lvl5pPr marL="2057400" indent="-228600" eaLnBrk="0" hangingPunct="0">
                <a:defRPr sz="2800">
                  <a:solidFill>
                    <a:srgbClr val="3333FF"/>
                  </a:solidFill>
                  <a:latin typeface="Trebuchet MS" panose="020B0603020202020204" charset="0"/>
                  <a:ea typeface="굴림" charset="-127"/>
                </a:defRPr>
              </a:lvl5pPr>
              <a:lvl6pPr marL="2514600" indent="-228600" algn="ctr" eaLnBrk="0" fontAlgn="base" hangingPunct="0">
                <a:spcBef>
                  <a:spcPct val="0"/>
                </a:spcBef>
                <a:spcAft>
                  <a:spcPct val="0"/>
                </a:spcAft>
                <a:defRPr sz="2800">
                  <a:solidFill>
                    <a:srgbClr val="3333FF"/>
                  </a:solidFill>
                  <a:latin typeface="Trebuchet MS" panose="020B0603020202020204" charset="0"/>
                  <a:ea typeface="굴림" charset="-127"/>
                </a:defRPr>
              </a:lvl6pPr>
              <a:lvl7pPr marL="2971800" indent="-228600" algn="ctr" eaLnBrk="0" fontAlgn="base" hangingPunct="0">
                <a:spcBef>
                  <a:spcPct val="0"/>
                </a:spcBef>
                <a:spcAft>
                  <a:spcPct val="0"/>
                </a:spcAft>
                <a:defRPr sz="2800">
                  <a:solidFill>
                    <a:srgbClr val="3333FF"/>
                  </a:solidFill>
                  <a:latin typeface="Trebuchet MS" panose="020B0603020202020204" charset="0"/>
                  <a:ea typeface="굴림" charset="-127"/>
                </a:defRPr>
              </a:lvl7pPr>
              <a:lvl8pPr marL="3429000" indent="-228600" algn="ctr" eaLnBrk="0" fontAlgn="base" hangingPunct="0">
                <a:spcBef>
                  <a:spcPct val="0"/>
                </a:spcBef>
                <a:spcAft>
                  <a:spcPct val="0"/>
                </a:spcAft>
                <a:defRPr sz="2800">
                  <a:solidFill>
                    <a:srgbClr val="3333FF"/>
                  </a:solidFill>
                  <a:latin typeface="Trebuchet MS" panose="020B0603020202020204" charset="0"/>
                  <a:ea typeface="굴림" charset="-127"/>
                </a:defRPr>
              </a:lvl8pPr>
              <a:lvl9pPr marL="3886200" indent="-228600" algn="ctr" eaLnBrk="0" fontAlgn="base" hangingPunct="0">
                <a:spcBef>
                  <a:spcPct val="0"/>
                </a:spcBef>
                <a:spcAft>
                  <a:spcPct val="0"/>
                </a:spcAft>
                <a:defRPr sz="2800">
                  <a:solidFill>
                    <a:srgbClr val="3333FF"/>
                  </a:solidFill>
                  <a:latin typeface="Trebuchet MS" panose="020B0603020202020204" charset="0"/>
                  <a:ea typeface="굴림" charset="-127"/>
                </a:defRPr>
              </a:lvl9pPr>
            </a:lstStyle>
            <a:p>
              <a:pPr algn="r" eaLnBrk="1" hangingPunct="1">
                <a:spcBef>
                  <a:spcPct val="50000"/>
                </a:spcBef>
              </a:pPr>
              <a:r>
                <a:rPr lang="zh-CN" altLang="en-US" sz="2400" dirty="0">
                  <a:solidFill>
                    <a:schemeClr val="tx1"/>
                  </a:solidFill>
                  <a:latin typeface="Arial" panose="020B0604020202020204" pitchFamily="34" charset="0"/>
                  <a:ea typeface="楷体_GB2312" charset="0"/>
                </a:rPr>
                <a:t>投影线</a:t>
              </a:r>
            </a:p>
          </p:txBody>
        </p:sp>
        <p:sp>
          <p:nvSpPr>
            <p:cNvPr id="13" name="Text Box 12"/>
            <p:cNvSpPr txBox="1">
              <a:spLocks noChangeArrowheads="1"/>
            </p:cNvSpPr>
            <p:nvPr/>
          </p:nvSpPr>
          <p:spPr bwMode="auto">
            <a:xfrm>
              <a:off x="4195" y="1344"/>
              <a:ext cx="931" cy="2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rgbClr val="3333FF"/>
                  </a:solidFill>
                  <a:latin typeface="Trebuchet MS" panose="020B0603020202020204" charset="0"/>
                  <a:ea typeface="굴림" charset="-127"/>
                </a:defRPr>
              </a:lvl1pPr>
              <a:lvl2pPr marL="742950" indent="-285750" eaLnBrk="0" hangingPunct="0">
                <a:defRPr sz="2800">
                  <a:solidFill>
                    <a:srgbClr val="3333FF"/>
                  </a:solidFill>
                  <a:latin typeface="Trebuchet MS" panose="020B0603020202020204" charset="0"/>
                  <a:ea typeface="굴림" charset="-127"/>
                </a:defRPr>
              </a:lvl2pPr>
              <a:lvl3pPr marL="1143000" indent="-228600" eaLnBrk="0" hangingPunct="0">
                <a:defRPr sz="2800">
                  <a:solidFill>
                    <a:srgbClr val="3333FF"/>
                  </a:solidFill>
                  <a:latin typeface="Trebuchet MS" panose="020B0603020202020204" charset="0"/>
                  <a:ea typeface="굴림" charset="-127"/>
                </a:defRPr>
              </a:lvl3pPr>
              <a:lvl4pPr marL="1600200" indent="-228600" eaLnBrk="0" hangingPunct="0">
                <a:defRPr sz="2800">
                  <a:solidFill>
                    <a:srgbClr val="3333FF"/>
                  </a:solidFill>
                  <a:latin typeface="Trebuchet MS" panose="020B0603020202020204" charset="0"/>
                  <a:ea typeface="굴림" charset="-127"/>
                </a:defRPr>
              </a:lvl4pPr>
              <a:lvl5pPr marL="2057400" indent="-228600" eaLnBrk="0" hangingPunct="0">
                <a:defRPr sz="2800">
                  <a:solidFill>
                    <a:srgbClr val="3333FF"/>
                  </a:solidFill>
                  <a:latin typeface="Trebuchet MS" panose="020B0603020202020204" charset="0"/>
                  <a:ea typeface="굴림" charset="-127"/>
                </a:defRPr>
              </a:lvl5pPr>
              <a:lvl6pPr marL="2514600" indent="-228600" algn="ctr" eaLnBrk="0" fontAlgn="base" hangingPunct="0">
                <a:spcBef>
                  <a:spcPct val="0"/>
                </a:spcBef>
                <a:spcAft>
                  <a:spcPct val="0"/>
                </a:spcAft>
                <a:defRPr sz="2800">
                  <a:solidFill>
                    <a:srgbClr val="3333FF"/>
                  </a:solidFill>
                  <a:latin typeface="Trebuchet MS" panose="020B0603020202020204" charset="0"/>
                  <a:ea typeface="굴림" charset="-127"/>
                </a:defRPr>
              </a:lvl6pPr>
              <a:lvl7pPr marL="2971800" indent="-228600" algn="ctr" eaLnBrk="0" fontAlgn="base" hangingPunct="0">
                <a:spcBef>
                  <a:spcPct val="0"/>
                </a:spcBef>
                <a:spcAft>
                  <a:spcPct val="0"/>
                </a:spcAft>
                <a:defRPr sz="2800">
                  <a:solidFill>
                    <a:srgbClr val="3333FF"/>
                  </a:solidFill>
                  <a:latin typeface="Trebuchet MS" panose="020B0603020202020204" charset="0"/>
                  <a:ea typeface="굴림" charset="-127"/>
                </a:defRPr>
              </a:lvl7pPr>
              <a:lvl8pPr marL="3429000" indent="-228600" algn="ctr" eaLnBrk="0" fontAlgn="base" hangingPunct="0">
                <a:spcBef>
                  <a:spcPct val="0"/>
                </a:spcBef>
                <a:spcAft>
                  <a:spcPct val="0"/>
                </a:spcAft>
                <a:defRPr sz="2800">
                  <a:solidFill>
                    <a:srgbClr val="3333FF"/>
                  </a:solidFill>
                  <a:latin typeface="Trebuchet MS" panose="020B0603020202020204" charset="0"/>
                  <a:ea typeface="굴림" charset="-127"/>
                </a:defRPr>
              </a:lvl8pPr>
              <a:lvl9pPr marL="3886200" indent="-228600" algn="ctr" eaLnBrk="0" fontAlgn="base" hangingPunct="0">
                <a:spcBef>
                  <a:spcPct val="0"/>
                </a:spcBef>
                <a:spcAft>
                  <a:spcPct val="0"/>
                </a:spcAft>
                <a:defRPr sz="2800">
                  <a:solidFill>
                    <a:srgbClr val="3333FF"/>
                  </a:solidFill>
                  <a:latin typeface="Trebuchet MS" panose="020B0603020202020204" charset="0"/>
                  <a:ea typeface="굴림" charset="-127"/>
                </a:defRPr>
              </a:lvl9pPr>
            </a:lstStyle>
            <a:p>
              <a:pPr algn="l" eaLnBrk="1" hangingPunct="1">
                <a:spcBef>
                  <a:spcPct val="50000"/>
                </a:spcBef>
              </a:pPr>
              <a:r>
                <a:rPr lang="zh-CN" altLang="en-US" sz="2400">
                  <a:solidFill>
                    <a:schemeClr val="tx1"/>
                  </a:solidFill>
                  <a:latin typeface="Arial" panose="020B0604020202020204" pitchFamily="34" charset="0"/>
                  <a:ea typeface="楷体_GB2312" charset="0"/>
                </a:rPr>
                <a:t>对象</a:t>
              </a:r>
            </a:p>
          </p:txBody>
        </p:sp>
        <p:sp>
          <p:nvSpPr>
            <p:cNvPr id="14" name="Text Box 9"/>
            <p:cNvSpPr txBox="1">
              <a:spLocks noChangeArrowheads="1"/>
            </p:cNvSpPr>
            <p:nvPr/>
          </p:nvSpPr>
          <p:spPr bwMode="auto">
            <a:xfrm>
              <a:off x="446" y="3685"/>
              <a:ext cx="953" cy="2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rgbClr val="3333FF"/>
                  </a:solidFill>
                  <a:latin typeface="Trebuchet MS" panose="020B0603020202020204" charset="0"/>
                  <a:ea typeface="굴림" charset="-127"/>
                </a:defRPr>
              </a:lvl1pPr>
              <a:lvl2pPr marL="742950" indent="-285750" eaLnBrk="0" hangingPunct="0">
                <a:defRPr sz="2800">
                  <a:solidFill>
                    <a:srgbClr val="3333FF"/>
                  </a:solidFill>
                  <a:latin typeface="Trebuchet MS" panose="020B0603020202020204" charset="0"/>
                  <a:ea typeface="굴림" charset="-127"/>
                </a:defRPr>
              </a:lvl2pPr>
              <a:lvl3pPr marL="1143000" indent="-228600" eaLnBrk="0" hangingPunct="0">
                <a:defRPr sz="2800">
                  <a:solidFill>
                    <a:srgbClr val="3333FF"/>
                  </a:solidFill>
                  <a:latin typeface="Trebuchet MS" panose="020B0603020202020204" charset="0"/>
                  <a:ea typeface="굴림" charset="-127"/>
                </a:defRPr>
              </a:lvl3pPr>
              <a:lvl4pPr marL="1600200" indent="-228600" eaLnBrk="0" hangingPunct="0">
                <a:defRPr sz="2800">
                  <a:solidFill>
                    <a:srgbClr val="3333FF"/>
                  </a:solidFill>
                  <a:latin typeface="Trebuchet MS" panose="020B0603020202020204" charset="0"/>
                  <a:ea typeface="굴림" charset="-127"/>
                </a:defRPr>
              </a:lvl4pPr>
              <a:lvl5pPr marL="2057400" indent="-228600" eaLnBrk="0" hangingPunct="0">
                <a:defRPr sz="2800">
                  <a:solidFill>
                    <a:srgbClr val="3333FF"/>
                  </a:solidFill>
                  <a:latin typeface="Trebuchet MS" panose="020B0603020202020204" charset="0"/>
                  <a:ea typeface="굴림" charset="-127"/>
                </a:defRPr>
              </a:lvl5pPr>
              <a:lvl6pPr marL="2514600" indent="-228600" algn="ctr" eaLnBrk="0" fontAlgn="base" hangingPunct="0">
                <a:spcBef>
                  <a:spcPct val="0"/>
                </a:spcBef>
                <a:spcAft>
                  <a:spcPct val="0"/>
                </a:spcAft>
                <a:defRPr sz="2800">
                  <a:solidFill>
                    <a:srgbClr val="3333FF"/>
                  </a:solidFill>
                  <a:latin typeface="Trebuchet MS" panose="020B0603020202020204" charset="0"/>
                  <a:ea typeface="굴림" charset="-127"/>
                </a:defRPr>
              </a:lvl6pPr>
              <a:lvl7pPr marL="2971800" indent="-228600" algn="ctr" eaLnBrk="0" fontAlgn="base" hangingPunct="0">
                <a:spcBef>
                  <a:spcPct val="0"/>
                </a:spcBef>
                <a:spcAft>
                  <a:spcPct val="0"/>
                </a:spcAft>
                <a:defRPr sz="2800">
                  <a:solidFill>
                    <a:srgbClr val="3333FF"/>
                  </a:solidFill>
                  <a:latin typeface="Trebuchet MS" panose="020B0603020202020204" charset="0"/>
                  <a:ea typeface="굴림" charset="-127"/>
                </a:defRPr>
              </a:lvl7pPr>
              <a:lvl8pPr marL="3429000" indent="-228600" algn="ctr" eaLnBrk="0" fontAlgn="base" hangingPunct="0">
                <a:spcBef>
                  <a:spcPct val="0"/>
                </a:spcBef>
                <a:spcAft>
                  <a:spcPct val="0"/>
                </a:spcAft>
                <a:defRPr sz="2800">
                  <a:solidFill>
                    <a:srgbClr val="3333FF"/>
                  </a:solidFill>
                  <a:latin typeface="Trebuchet MS" panose="020B0603020202020204" charset="0"/>
                  <a:ea typeface="굴림" charset="-127"/>
                </a:defRPr>
              </a:lvl8pPr>
              <a:lvl9pPr marL="3886200" indent="-228600" algn="ctr" eaLnBrk="0" fontAlgn="base" hangingPunct="0">
                <a:spcBef>
                  <a:spcPct val="0"/>
                </a:spcBef>
                <a:spcAft>
                  <a:spcPct val="0"/>
                </a:spcAft>
                <a:defRPr sz="2800">
                  <a:solidFill>
                    <a:srgbClr val="3333FF"/>
                  </a:solidFill>
                  <a:latin typeface="Trebuchet MS" panose="020B0603020202020204" charset="0"/>
                  <a:ea typeface="굴림" charset="-127"/>
                </a:defRPr>
              </a:lvl9pPr>
            </a:lstStyle>
            <a:p>
              <a:pPr algn="l" eaLnBrk="1" hangingPunct="1">
                <a:spcBef>
                  <a:spcPct val="50000"/>
                </a:spcBef>
              </a:pPr>
              <a:r>
                <a:rPr lang="zh-CN" altLang="en-US" sz="2400">
                  <a:solidFill>
                    <a:schemeClr val="tx1"/>
                  </a:solidFill>
                  <a:latin typeface="Arial" panose="020B0604020202020204" pitchFamily="34" charset="0"/>
                  <a:ea typeface="楷体_GB2312" charset="0"/>
                </a:rPr>
                <a:t>投影中心</a:t>
              </a:r>
            </a:p>
          </p:txBody>
        </p:sp>
      </p:grpSp>
      <p:sp>
        <p:nvSpPr>
          <p:cNvPr id="2" name="标题 1"/>
          <p:cNvSpPr>
            <a:spLocks noGrp="1"/>
          </p:cNvSpPr>
          <p:nvPr>
            <p:ph type="title"/>
          </p:nvPr>
        </p:nvSpPr>
        <p:spPr/>
        <p:txBody>
          <a:bodyPr/>
          <a:lstStyle/>
          <a:p>
            <a:r>
              <a:rPr lang="zh-CN" altLang="en-US" dirty="0"/>
              <a:t>透视投影</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31</a:t>
            </a:fld>
            <a:endParaRPr lang="zh-CN" altLang="en-US"/>
          </a:p>
        </p:txBody>
      </p:sp>
      <p:pic>
        <p:nvPicPr>
          <p:cNvPr id="7" name="图片 6"/>
          <p:cNvPicPr>
            <a:picLocks noChangeAspect="1"/>
          </p:cNvPicPr>
          <p:nvPr/>
        </p:nvPicPr>
        <p:blipFill>
          <a:blip r:embed="rId3"/>
          <a:stretch>
            <a:fillRect/>
          </a:stretch>
        </p:blipFill>
        <p:spPr>
          <a:xfrm>
            <a:off x="277573" y="1253763"/>
            <a:ext cx="2876295" cy="3044860"/>
          </a:xfrm>
          <a:prstGeom prst="rect">
            <a:avLst/>
          </a:prstGeom>
          <a:solidFill>
            <a:srgbClr val="FFFFFF">
              <a:shade val="85000"/>
            </a:srgbClr>
          </a:solidFill>
          <a:ln w="88900" cap="sq">
            <a:solidFill>
              <a:srgbClr val="FFFFFF"/>
            </a:solidFill>
            <a:miter lim="800000"/>
            <a:headEnd/>
            <a:tailEnd/>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8" name="图片 7"/>
          <p:cNvPicPr>
            <a:picLocks noChangeAspect="1"/>
          </p:cNvPicPr>
          <p:nvPr/>
        </p:nvPicPr>
        <p:blipFill>
          <a:blip r:embed="rId4"/>
          <a:stretch>
            <a:fillRect/>
          </a:stretch>
        </p:blipFill>
        <p:spPr>
          <a:xfrm>
            <a:off x="7017467" y="3046141"/>
            <a:ext cx="1557000" cy="3446734"/>
          </a:xfrm>
          <a:prstGeom prst="rect">
            <a:avLst/>
          </a:prstGeom>
          <a:solidFill>
            <a:srgbClr val="FFFFFF">
              <a:shade val="85000"/>
            </a:srgbClr>
          </a:solidFill>
          <a:ln w="88900" cap="sq">
            <a:solidFill>
              <a:srgbClr val="FFFFFF"/>
            </a:solidFill>
            <a:miter lim="800000"/>
            <a:headEnd/>
            <a:tailEnd/>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三点透视</a:t>
            </a:r>
            <a:endParaRPr lang="en-US" dirty="0"/>
          </a:p>
        </p:txBody>
      </p:sp>
      <p:sp>
        <p:nvSpPr>
          <p:cNvPr id="3" name="Content Placeholder 2"/>
          <p:cNvSpPr>
            <a:spLocks noGrp="1"/>
          </p:cNvSpPr>
          <p:nvPr>
            <p:ph idx="1"/>
          </p:nvPr>
        </p:nvSpPr>
        <p:spPr/>
        <p:txBody>
          <a:bodyPr/>
          <a:lstStyle/>
          <a:p>
            <a:r>
              <a:rPr lang="zh-CN" altLang="en-US" dirty="0"/>
              <a:t>没有基准面平行于投影面</a:t>
            </a:r>
          </a:p>
          <a:p>
            <a:r>
              <a:rPr lang="zh-CN" altLang="en-US" dirty="0"/>
              <a:t>立方体的投影中有三个灭点</a:t>
            </a:r>
          </a:p>
          <a:p>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t>32</a:t>
            </a:fld>
            <a:endParaRPr lang="zh-CN" altLang="en-US" dirty="0"/>
          </a:p>
        </p:txBody>
      </p:sp>
      <p:pic>
        <p:nvPicPr>
          <p:cNvPr id="5" name="Picture 4"/>
          <p:cNvPicPr>
            <a:picLocks noChangeAspect="1"/>
          </p:cNvPicPr>
          <p:nvPr/>
        </p:nvPicPr>
        <p:blipFill rotWithShape="1">
          <a:blip r:embed="rId2">
            <a:extLst>
              <a:ext uri="{28A0092B-C50C-407E-A947-70E740481C1C}">
                <a14:useLocalDpi xmlns:a14="http://schemas.microsoft.com/office/drawing/2010/main" val="0"/>
              </a:ext>
            </a:extLst>
          </a:blip>
          <a:srcRect b="15194"/>
          <a:stretch>
            <a:fillRect/>
          </a:stretch>
        </p:blipFill>
        <p:spPr>
          <a:xfrm>
            <a:off x="4988956" y="2719963"/>
            <a:ext cx="2753281" cy="3187569"/>
          </a:xfrm>
          <a:prstGeom prst="rect">
            <a:avLst/>
          </a:prstGeom>
        </p:spPr>
      </p:pic>
      <p:graphicFrame>
        <p:nvGraphicFramePr>
          <p:cNvPr id="6" name="Object 7"/>
          <p:cNvGraphicFramePr>
            <a:graphicFrameLocks noChangeAspect="1"/>
          </p:cNvGraphicFramePr>
          <p:nvPr/>
        </p:nvGraphicFramePr>
        <p:xfrm>
          <a:off x="969406" y="2908811"/>
          <a:ext cx="3246438" cy="2809875"/>
        </p:xfrm>
        <a:graphic>
          <a:graphicData uri="http://schemas.openxmlformats.org/presentationml/2006/ole">
            <mc:AlternateContent xmlns:mc="http://schemas.openxmlformats.org/markup-compatibility/2006">
              <mc:Choice xmlns:v="urn:schemas-microsoft-com:vml" Requires="v">
                <p:oleObj name="Image" r:id="rId3" imgW="10325100" imgH="8940800" progId="Photoshop.Image.7">
                  <p:embed/>
                </p:oleObj>
              </mc:Choice>
              <mc:Fallback>
                <p:oleObj name="Image" r:id="rId3" imgW="10325100" imgH="8940800" progId="Photoshop.Image.7">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9406" y="2908811"/>
                        <a:ext cx="3246438" cy="2809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两点透视</a:t>
            </a:r>
            <a:br>
              <a:rPr lang="zh-CN" altLang="en-US" dirty="0"/>
            </a:br>
            <a:endParaRPr lang="en-US" dirty="0"/>
          </a:p>
        </p:txBody>
      </p:sp>
      <p:sp>
        <p:nvSpPr>
          <p:cNvPr id="3" name="Content Placeholder 2"/>
          <p:cNvSpPr>
            <a:spLocks noGrp="1"/>
          </p:cNvSpPr>
          <p:nvPr>
            <p:ph idx="1"/>
          </p:nvPr>
        </p:nvSpPr>
        <p:spPr/>
        <p:txBody>
          <a:bodyPr/>
          <a:lstStyle/>
          <a:p>
            <a:r>
              <a:rPr lang="zh-CN" altLang="en-US" dirty="0"/>
              <a:t>一个基准方向平行于投影面</a:t>
            </a:r>
          </a:p>
          <a:p>
            <a:r>
              <a:rPr lang="zh-CN" altLang="en-US" dirty="0"/>
              <a:t>立方体的投影中有两个灭点</a:t>
            </a:r>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t>33</a:t>
            </a:fld>
            <a:endParaRPr lang="zh-CN" altLang="en-US" dirty="0"/>
          </a:p>
        </p:txBody>
      </p:sp>
      <p:graphicFrame>
        <p:nvGraphicFramePr>
          <p:cNvPr id="5" name="Object 7"/>
          <p:cNvGraphicFramePr>
            <a:graphicFrameLocks noChangeAspect="1"/>
          </p:cNvGraphicFramePr>
          <p:nvPr/>
        </p:nvGraphicFramePr>
        <p:xfrm>
          <a:off x="919112" y="2796225"/>
          <a:ext cx="3652888" cy="2658465"/>
        </p:xfrm>
        <a:graphic>
          <a:graphicData uri="http://schemas.openxmlformats.org/presentationml/2006/ole">
            <mc:AlternateContent xmlns:mc="http://schemas.openxmlformats.org/markup-compatibility/2006">
              <mc:Choice xmlns:v="urn:schemas-microsoft-com:vml" Requires="v">
                <p:oleObj name="Image" r:id="rId2" imgW="10922000" imgH="8331200" progId="Photoshop.Image.7">
                  <p:embed/>
                </p:oleObj>
              </mc:Choice>
              <mc:Fallback>
                <p:oleObj name="Image" r:id="rId2" imgW="10922000" imgH="8331200" progId="Photoshop.Image.7">
                  <p:embed/>
                  <p:pic>
                    <p:nvPicPr>
                      <p:cNvPr id="0"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9112" y="2796225"/>
                        <a:ext cx="3652888" cy="26584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pic>
        <p:nvPicPr>
          <p:cNvPr id="6" name="Picture 5"/>
          <p:cNvPicPr>
            <a:picLocks noChangeAspect="1"/>
          </p:cNvPicPr>
          <p:nvPr/>
        </p:nvPicPr>
        <p:blipFill rotWithShape="1">
          <a:blip r:embed="rId4">
            <a:extLst>
              <a:ext uri="{28A0092B-C50C-407E-A947-70E740481C1C}">
                <a14:useLocalDpi xmlns:a14="http://schemas.microsoft.com/office/drawing/2010/main" val="0"/>
              </a:ext>
            </a:extLst>
          </a:blip>
          <a:srcRect b="15323"/>
          <a:stretch>
            <a:fillRect/>
          </a:stretch>
        </p:blipFill>
        <p:spPr>
          <a:xfrm>
            <a:off x="5387810" y="2796225"/>
            <a:ext cx="2794656" cy="2883551"/>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单点透视</a:t>
            </a:r>
            <a:endParaRPr lang="en-US" dirty="0"/>
          </a:p>
        </p:txBody>
      </p:sp>
      <p:sp>
        <p:nvSpPr>
          <p:cNvPr id="3" name="Content Placeholder 2"/>
          <p:cNvSpPr>
            <a:spLocks noGrp="1"/>
          </p:cNvSpPr>
          <p:nvPr>
            <p:ph idx="1"/>
          </p:nvPr>
        </p:nvSpPr>
        <p:spPr/>
        <p:txBody>
          <a:bodyPr/>
          <a:lstStyle/>
          <a:p>
            <a:r>
              <a:rPr lang="zh-CN" altLang="en-US" dirty="0"/>
              <a:t>一个基准面平行于投影平面</a:t>
            </a:r>
          </a:p>
          <a:p>
            <a:r>
              <a:rPr lang="zh-CN" altLang="en-US" dirty="0"/>
              <a:t>立方体的投影中有一个灭点</a:t>
            </a:r>
          </a:p>
          <a:p>
            <a:endParaRPr lang="zh-CN" altLang="en-US" dirty="0"/>
          </a:p>
          <a:p>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t>34</a:t>
            </a:fld>
            <a:endParaRPr lang="zh-CN" altLang="en-US" dirty="0"/>
          </a:p>
        </p:txBody>
      </p:sp>
      <p:graphicFrame>
        <p:nvGraphicFramePr>
          <p:cNvPr id="5" name="Object 7"/>
          <p:cNvGraphicFramePr>
            <a:graphicFrameLocks noChangeAspect="1"/>
          </p:cNvGraphicFramePr>
          <p:nvPr/>
        </p:nvGraphicFramePr>
        <p:xfrm>
          <a:off x="804617" y="2941852"/>
          <a:ext cx="5519738" cy="2235200"/>
        </p:xfrm>
        <a:graphic>
          <a:graphicData uri="http://schemas.openxmlformats.org/presentationml/2006/ole">
            <mc:AlternateContent xmlns:mc="http://schemas.openxmlformats.org/markup-compatibility/2006">
              <mc:Choice xmlns:v="urn:schemas-microsoft-com:vml" Requires="v">
                <p:oleObj name="Image" r:id="rId2" imgW="11163300" imgH="4521200" progId="Photoshop.Image.7">
                  <p:embed/>
                </p:oleObj>
              </mc:Choice>
              <mc:Fallback>
                <p:oleObj name="Image" r:id="rId2" imgW="11163300" imgH="4521200" progId="Photoshop.Image.7">
                  <p:embed/>
                  <p:pic>
                    <p:nvPicPr>
                      <p:cNvPr id="0"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4617" y="2941852"/>
                        <a:ext cx="5519738" cy="223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pic>
        <p:nvPicPr>
          <p:cNvPr id="6" name="Picture 5"/>
          <p:cNvPicPr>
            <a:picLocks noChangeAspect="1"/>
          </p:cNvPicPr>
          <p:nvPr/>
        </p:nvPicPr>
        <p:blipFill rotWithShape="1">
          <a:blip r:embed="rId4">
            <a:extLst>
              <a:ext uri="{28A0092B-C50C-407E-A947-70E740481C1C}">
                <a14:useLocalDpi xmlns:a14="http://schemas.microsoft.com/office/drawing/2010/main" val="0"/>
              </a:ext>
            </a:extLst>
          </a:blip>
          <a:srcRect b="17033"/>
          <a:stretch>
            <a:fillRect/>
          </a:stretch>
        </p:blipFill>
        <p:spPr>
          <a:xfrm>
            <a:off x="6419109" y="2863351"/>
            <a:ext cx="2341605" cy="2392202"/>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Content Placeholder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89340" y="1273126"/>
            <a:ext cx="6532368" cy="4361373"/>
          </a:xfrm>
          <a:prstGeom prst="rect">
            <a:avLst/>
          </a:prstGeom>
        </p:spPr>
      </p:pic>
      <p:grpSp>
        <p:nvGrpSpPr>
          <p:cNvPr id="9" name="Group 11"/>
          <p:cNvGrpSpPr/>
          <p:nvPr/>
        </p:nvGrpSpPr>
        <p:grpSpPr bwMode="auto">
          <a:xfrm>
            <a:off x="1158803" y="1573673"/>
            <a:ext cx="7593013" cy="3603625"/>
            <a:chOff x="446" y="1415"/>
            <a:chExt cx="4783" cy="2270"/>
          </a:xfrm>
        </p:grpSpPr>
        <p:sp>
          <p:nvSpPr>
            <p:cNvPr id="11" name="Text Box 9"/>
            <p:cNvSpPr txBox="1">
              <a:spLocks noChangeArrowheads="1"/>
            </p:cNvSpPr>
            <p:nvPr/>
          </p:nvSpPr>
          <p:spPr bwMode="auto">
            <a:xfrm>
              <a:off x="3175" y="3397"/>
              <a:ext cx="1523" cy="2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a:solidFill>
                    <a:srgbClr val="3333FF"/>
                  </a:solidFill>
                  <a:latin typeface="Trebuchet MS" panose="020B0603020202020204" charset="0"/>
                  <a:ea typeface="굴림" charset="-127"/>
                </a:defRPr>
              </a:lvl1pPr>
              <a:lvl2pPr marL="742950" indent="-285750" eaLnBrk="0" hangingPunct="0">
                <a:defRPr sz="2800">
                  <a:solidFill>
                    <a:srgbClr val="3333FF"/>
                  </a:solidFill>
                  <a:latin typeface="Trebuchet MS" panose="020B0603020202020204" charset="0"/>
                  <a:ea typeface="굴림" charset="-127"/>
                </a:defRPr>
              </a:lvl2pPr>
              <a:lvl3pPr marL="1143000" indent="-228600" eaLnBrk="0" hangingPunct="0">
                <a:defRPr sz="2800">
                  <a:solidFill>
                    <a:srgbClr val="3333FF"/>
                  </a:solidFill>
                  <a:latin typeface="Trebuchet MS" panose="020B0603020202020204" charset="0"/>
                  <a:ea typeface="굴림" charset="-127"/>
                </a:defRPr>
              </a:lvl3pPr>
              <a:lvl4pPr marL="1600200" indent="-228600" eaLnBrk="0" hangingPunct="0">
                <a:defRPr sz="2800">
                  <a:solidFill>
                    <a:srgbClr val="3333FF"/>
                  </a:solidFill>
                  <a:latin typeface="Trebuchet MS" panose="020B0603020202020204" charset="0"/>
                  <a:ea typeface="굴림" charset="-127"/>
                </a:defRPr>
              </a:lvl4pPr>
              <a:lvl5pPr marL="2057400" indent="-228600" eaLnBrk="0" hangingPunct="0">
                <a:defRPr sz="2800">
                  <a:solidFill>
                    <a:srgbClr val="3333FF"/>
                  </a:solidFill>
                  <a:latin typeface="Trebuchet MS" panose="020B0603020202020204" charset="0"/>
                  <a:ea typeface="굴림" charset="-127"/>
                </a:defRPr>
              </a:lvl5pPr>
              <a:lvl6pPr marL="2514600" indent="-228600" algn="ctr" eaLnBrk="0" fontAlgn="base" hangingPunct="0">
                <a:spcBef>
                  <a:spcPct val="0"/>
                </a:spcBef>
                <a:spcAft>
                  <a:spcPct val="0"/>
                </a:spcAft>
                <a:defRPr sz="2800">
                  <a:solidFill>
                    <a:srgbClr val="3333FF"/>
                  </a:solidFill>
                  <a:latin typeface="Trebuchet MS" panose="020B0603020202020204" charset="0"/>
                  <a:ea typeface="굴림" charset="-127"/>
                </a:defRPr>
              </a:lvl6pPr>
              <a:lvl7pPr marL="2971800" indent="-228600" algn="ctr" eaLnBrk="0" fontAlgn="base" hangingPunct="0">
                <a:spcBef>
                  <a:spcPct val="0"/>
                </a:spcBef>
                <a:spcAft>
                  <a:spcPct val="0"/>
                </a:spcAft>
                <a:defRPr sz="2800">
                  <a:solidFill>
                    <a:srgbClr val="3333FF"/>
                  </a:solidFill>
                  <a:latin typeface="Trebuchet MS" panose="020B0603020202020204" charset="0"/>
                  <a:ea typeface="굴림" charset="-127"/>
                </a:defRPr>
              </a:lvl7pPr>
              <a:lvl8pPr marL="3429000" indent="-228600" algn="ctr" eaLnBrk="0" fontAlgn="base" hangingPunct="0">
                <a:spcBef>
                  <a:spcPct val="0"/>
                </a:spcBef>
                <a:spcAft>
                  <a:spcPct val="0"/>
                </a:spcAft>
                <a:defRPr sz="2800">
                  <a:solidFill>
                    <a:srgbClr val="3333FF"/>
                  </a:solidFill>
                  <a:latin typeface="Trebuchet MS" panose="020B0603020202020204" charset="0"/>
                  <a:ea typeface="굴림" charset="-127"/>
                </a:defRPr>
              </a:lvl8pPr>
              <a:lvl9pPr marL="3886200" indent="-228600" algn="ctr" eaLnBrk="0" fontAlgn="base" hangingPunct="0">
                <a:spcBef>
                  <a:spcPct val="0"/>
                </a:spcBef>
                <a:spcAft>
                  <a:spcPct val="0"/>
                </a:spcAft>
                <a:defRPr sz="2800">
                  <a:solidFill>
                    <a:srgbClr val="3333FF"/>
                  </a:solidFill>
                  <a:latin typeface="Trebuchet MS" panose="020B0603020202020204" charset="0"/>
                  <a:ea typeface="굴림" charset="-127"/>
                </a:defRPr>
              </a:lvl9pPr>
            </a:lstStyle>
            <a:p>
              <a:pPr algn="l" eaLnBrk="1" hangingPunct="1">
                <a:spcBef>
                  <a:spcPct val="50000"/>
                </a:spcBef>
              </a:pPr>
              <a:r>
                <a:rPr lang="zh-CN" altLang="en-US" sz="2400" dirty="0">
                  <a:solidFill>
                    <a:schemeClr val="tx1"/>
                  </a:solidFill>
                  <a:latin typeface="Arial" panose="020B0604020202020204" pitchFamily="34" charset="0"/>
                  <a:ea typeface="楷体_GB2312" charset="0"/>
                </a:rPr>
                <a:t>投影平面</a:t>
              </a:r>
            </a:p>
          </p:txBody>
        </p:sp>
        <p:sp>
          <p:nvSpPr>
            <p:cNvPr id="12" name="Text Box 11"/>
            <p:cNvSpPr txBox="1">
              <a:spLocks noChangeArrowheads="1"/>
            </p:cNvSpPr>
            <p:nvPr/>
          </p:nvSpPr>
          <p:spPr bwMode="auto">
            <a:xfrm>
              <a:off x="3628" y="2762"/>
              <a:ext cx="956" cy="2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a:solidFill>
                    <a:srgbClr val="3333FF"/>
                  </a:solidFill>
                  <a:latin typeface="Trebuchet MS" panose="020B0603020202020204" charset="0"/>
                  <a:ea typeface="굴림" charset="-127"/>
                </a:defRPr>
              </a:lvl1pPr>
              <a:lvl2pPr marL="742950" indent="-285750" eaLnBrk="0" hangingPunct="0">
                <a:defRPr sz="2800">
                  <a:solidFill>
                    <a:srgbClr val="3333FF"/>
                  </a:solidFill>
                  <a:latin typeface="Trebuchet MS" panose="020B0603020202020204" charset="0"/>
                  <a:ea typeface="굴림" charset="-127"/>
                </a:defRPr>
              </a:lvl2pPr>
              <a:lvl3pPr marL="1143000" indent="-228600" eaLnBrk="0" hangingPunct="0">
                <a:defRPr sz="2800">
                  <a:solidFill>
                    <a:srgbClr val="3333FF"/>
                  </a:solidFill>
                  <a:latin typeface="Trebuchet MS" panose="020B0603020202020204" charset="0"/>
                  <a:ea typeface="굴림" charset="-127"/>
                </a:defRPr>
              </a:lvl3pPr>
              <a:lvl4pPr marL="1600200" indent="-228600" eaLnBrk="0" hangingPunct="0">
                <a:defRPr sz="2800">
                  <a:solidFill>
                    <a:srgbClr val="3333FF"/>
                  </a:solidFill>
                  <a:latin typeface="Trebuchet MS" panose="020B0603020202020204" charset="0"/>
                  <a:ea typeface="굴림" charset="-127"/>
                </a:defRPr>
              </a:lvl4pPr>
              <a:lvl5pPr marL="2057400" indent="-228600" eaLnBrk="0" hangingPunct="0">
                <a:defRPr sz="2800">
                  <a:solidFill>
                    <a:srgbClr val="3333FF"/>
                  </a:solidFill>
                  <a:latin typeface="Trebuchet MS" panose="020B0603020202020204" charset="0"/>
                  <a:ea typeface="굴림" charset="-127"/>
                </a:defRPr>
              </a:lvl5pPr>
              <a:lvl6pPr marL="2514600" indent="-228600" algn="ctr" eaLnBrk="0" fontAlgn="base" hangingPunct="0">
                <a:spcBef>
                  <a:spcPct val="0"/>
                </a:spcBef>
                <a:spcAft>
                  <a:spcPct val="0"/>
                </a:spcAft>
                <a:defRPr sz="2800">
                  <a:solidFill>
                    <a:srgbClr val="3333FF"/>
                  </a:solidFill>
                  <a:latin typeface="Trebuchet MS" panose="020B0603020202020204" charset="0"/>
                  <a:ea typeface="굴림" charset="-127"/>
                </a:defRPr>
              </a:lvl6pPr>
              <a:lvl7pPr marL="2971800" indent="-228600" algn="ctr" eaLnBrk="0" fontAlgn="base" hangingPunct="0">
                <a:spcBef>
                  <a:spcPct val="0"/>
                </a:spcBef>
                <a:spcAft>
                  <a:spcPct val="0"/>
                </a:spcAft>
                <a:defRPr sz="2800">
                  <a:solidFill>
                    <a:srgbClr val="3333FF"/>
                  </a:solidFill>
                  <a:latin typeface="Trebuchet MS" panose="020B0603020202020204" charset="0"/>
                  <a:ea typeface="굴림" charset="-127"/>
                </a:defRPr>
              </a:lvl7pPr>
              <a:lvl8pPr marL="3429000" indent="-228600" algn="ctr" eaLnBrk="0" fontAlgn="base" hangingPunct="0">
                <a:spcBef>
                  <a:spcPct val="0"/>
                </a:spcBef>
                <a:spcAft>
                  <a:spcPct val="0"/>
                </a:spcAft>
                <a:defRPr sz="2800">
                  <a:solidFill>
                    <a:srgbClr val="3333FF"/>
                  </a:solidFill>
                  <a:latin typeface="Trebuchet MS" panose="020B0603020202020204" charset="0"/>
                  <a:ea typeface="굴림" charset="-127"/>
                </a:defRPr>
              </a:lvl8pPr>
              <a:lvl9pPr marL="3886200" indent="-228600" algn="ctr" eaLnBrk="0" fontAlgn="base" hangingPunct="0">
                <a:spcBef>
                  <a:spcPct val="0"/>
                </a:spcBef>
                <a:spcAft>
                  <a:spcPct val="0"/>
                </a:spcAft>
                <a:defRPr sz="2800">
                  <a:solidFill>
                    <a:srgbClr val="3333FF"/>
                  </a:solidFill>
                  <a:latin typeface="Trebuchet MS" panose="020B0603020202020204" charset="0"/>
                  <a:ea typeface="굴림" charset="-127"/>
                </a:defRPr>
              </a:lvl9pPr>
            </a:lstStyle>
            <a:p>
              <a:pPr eaLnBrk="1" hangingPunct="1">
                <a:spcBef>
                  <a:spcPct val="50000"/>
                </a:spcBef>
              </a:pPr>
              <a:r>
                <a:rPr lang="zh-CN" altLang="en-US" sz="2400" dirty="0">
                  <a:solidFill>
                    <a:schemeClr val="tx1"/>
                  </a:solidFill>
                  <a:latin typeface="Arial" panose="020B0604020202020204" pitchFamily="34" charset="0"/>
                  <a:ea typeface="楷体_GB2312" charset="0"/>
                </a:rPr>
                <a:t>投影线</a:t>
              </a:r>
            </a:p>
          </p:txBody>
        </p:sp>
        <p:sp>
          <p:nvSpPr>
            <p:cNvPr id="13" name="Text Box 12"/>
            <p:cNvSpPr txBox="1">
              <a:spLocks noChangeArrowheads="1"/>
            </p:cNvSpPr>
            <p:nvPr/>
          </p:nvSpPr>
          <p:spPr bwMode="auto">
            <a:xfrm>
              <a:off x="4298" y="1415"/>
              <a:ext cx="931" cy="2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rgbClr val="3333FF"/>
                  </a:solidFill>
                  <a:latin typeface="Trebuchet MS" panose="020B0603020202020204" charset="0"/>
                  <a:ea typeface="굴림" charset="-127"/>
                </a:defRPr>
              </a:lvl1pPr>
              <a:lvl2pPr marL="742950" indent="-285750" eaLnBrk="0" hangingPunct="0">
                <a:defRPr sz="2800">
                  <a:solidFill>
                    <a:srgbClr val="3333FF"/>
                  </a:solidFill>
                  <a:latin typeface="Trebuchet MS" panose="020B0603020202020204" charset="0"/>
                  <a:ea typeface="굴림" charset="-127"/>
                </a:defRPr>
              </a:lvl2pPr>
              <a:lvl3pPr marL="1143000" indent="-228600" eaLnBrk="0" hangingPunct="0">
                <a:defRPr sz="2800">
                  <a:solidFill>
                    <a:srgbClr val="3333FF"/>
                  </a:solidFill>
                  <a:latin typeface="Trebuchet MS" panose="020B0603020202020204" charset="0"/>
                  <a:ea typeface="굴림" charset="-127"/>
                </a:defRPr>
              </a:lvl3pPr>
              <a:lvl4pPr marL="1600200" indent="-228600" eaLnBrk="0" hangingPunct="0">
                <a:defRPr sz="2800">
                  <a:solidFill>
                    <a:srgbClr val="3333FF"/>
                  </a:solidFill>
                  <a:latin typeface="Trebuchet MS" panose="020B0603020202020204" charset="0"/>
                  <a:ea typeface="굴림" charset="-127"/>
                </a:defRPr>
              </a:lvl4pPr>
              <a:lvl5pPr marL="2057400" indent="-228600" eaLnBrk="0" hangingPunct="0">
                <a:defRPr sz="2800">
                  <a:solidFill>
                    <a:srgbClr val="3333FF"/>
                  </a:solidFill>
                  <a:latin typeface="Trebuchet MS" panose="020B0603020202020204" charset="0"/>
                  <a:ea typeface="굴림" charset="-127"/>
                </a:defRPr>
              </a:lvl5pPr>
              <a:lvl6pPr marL="2514600" indent="-228600" algn="ctr" eaLnBrk="0" fontAlgn="base" hangingPunct="0">
                <a:spcBef>
                  <a:spcPct val="0"/>
                </a:spcBef>
                <a:spcAft>
                  <a:spcPct val="0"/>
                </a:spcAft>
                <a:defRPr sz="2800">
                  <a:solidFill>
                    <a:srgbClr val="3333FF"/>
                  </a:solidFill>
                  <a:latin typeface="Trebuchet MS" panose="020B0603020202020204" charset="0"/>
                  <a:ea typeface="굴림" charset="-127"/>
                </a:defRPr>
              </a:lvl6pPr>
              <a:lvl7pPr marL="2971800" indent="-228600" algn="ctr" eaLnBrk="0" fontAlgn="base" hangingPunct="0">
                <a:spcBef>
                  <a:spcPct val="0"/>
                </a:spcBef>
                <a:spcAft>
                  <a:spcPct val="0"/>
                </a:spcAft>
                <a:defRPr sz="2800">
                  <a:solidFill>
                    <a:srgbClr val="3333FF"/>
                  </a:solidFill>
                  <a:latin typeface="Trebuchet MS" panose="020B0603020202020204" charset="0"/>
                  <a:ea typeface="굴림" charset="-127"/>
                </a:defRPr>
              </a:lvl7pPr>
              <a:lvl8pPr marL="3429000" indent="-228600" algn="ctr" eaLnBrk="0" fontAlgn="base" hangingPunct="0">
                <a:spcBef>
                  <a:spcPct val="0"/>
                </a:spcBef>
                <a:spcAft>
                  <a:spcPct val="0"/>
                </a:spcAft>
                <a:defRPr sz="2800">
                  <a:solidFill>
                    <a:srgbClr val="3333FF"/>
                  </a:solidFill>
                  <a:latin typeface="Trebuchet MS" panose="020B0603020202020204" charset="0"/>
                  <a:ea typeface="굴림" charset="-127"/>
                </a:defRPr>
              </a:lvl8pPr>
              <a:lvl9pPr marL="3886200" indent="-228600" algn="ctr" eaLnBrk="0" fontAlgn="base" hangingPunct="0">
                <a:spcBef>
                  <a:spcPct val="0"/>
                </a:spcBef>
                <a:spcAft>
                  <a:spcPct val="0"/>
                </a:spcAft>
                <a:defRPr sz="2800">
                  <a:solidFill>
                    <a:srgbClr val="3333FF"/>
                  </a:solidFill>
                  <a:latin typeface="Trebuchet MS" panose="020B0603020202020204" charset="0"/>
                  <a:ea typeface="굴림" charset="-127"/>
                </a:defRPr>
              </a:lvl9pPr>
            </a:lstStyle>
            <a:p>
              <a:pPr algn="l" eaLnBrk="1" hangingPunct="1">
                <a:spcBef>
                  <a:spcPct val="50000"/>
                </a:spcBef>
              </a:pPr>
              <a:r>
                <a:rPr lang="zh-CN" altLang="en-US" sz="2400">
                  <a:solidFill>
                    <a:schemeClr val="tx1"/>
                  </a:solidFill>
                  <a:latin typeface="Arial" panose="020B0604020202020204" pitchFamily="34" charset="0"/>
                  <a:ea typeface="楷体_GB2312" charset="0"/>
                </a:rPr>
                <a:t>对象</a:t>
              </a:r>
            </a:p>
          </p:txBody>
        </p:sp>
        <p:sp>
          <p:nvSpPr>
            <p:cNvPr id="14" name="Text Box 9"/>
            <p:cNvSpPr txBox="1">
              <a:spLocks noChangeArrowheads="1"/>
            </p:cNvSpPr>
            <p:nvPr/>
          </p:nvSpPr>
          <p:spPr bwMode="auto">
            <a:xfrm>
              <a:off x="446" y="3271"/>
              <a:ext cx="953" cy="29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rgbClr val="3333FF"/>
                  </a:solidFill>
                  <a:latin typeface="Trebuchet MS" panose="020B0603020202020204" charset="0"/>
                  <a:ea typeface="굴림" charset="-127"/>
                </a:defRPr>
              </a:lvl1pPr>
              <a:lvl2pPr marL="742950" indent="-285750" eaLnBrk="0" hangingPunct="0">
                <a:defRPr sz="2800">
                  <a:solidFill>
                    <a:srgbClr val="3333FF"/>
                  </a:solidFill>
                  <a:latin typeface="Trebuchet MS" panose="020B0603020202020204" charset="0"/>
                  <a:ea typeface="굴림" charset="-127"/>
                </a:defRPr>
              </a:lvl2pPr>
              <a:lvl3pPr marL="1143000" indent="-228600" eaLnBrk="0" hangingPunct="0">
                <a:defRPr sz="2800">
                  <a:solidFill>
                    <a:srgbClr val="3333FF"/>
                  </a:solidFill>
                  <a:latin typeface="Trebuchet MS" panose="020B0603020202020204" charset="0"/>
                  <a:ea typeface="굴림" charset="-127"/>
                </a:defRPr>
              </a:lvl3pPr>
              <a:lvl4pPr marL="1600200" indent="-228600" eaLnBrk="0" hangingPunct="0">
                <a:defRPr sz="2800">
                  <a:solidFill>
                    <a:srgbClr val="3333FF"/>
                  </a:solidFill>
                  <a:latin typeface="Trebuchet MS" panose="020B0603020202020204" charset="0"/>
                  <a:ea typeface="굴림" charset="-127"/>
                </a:defRPr>
              </a:lvl4pPr>
              <a:lvl5pPr marL="2057400" indent="-228600" eaLnBrk="0" hangingPunct="0">
                <a:defRPr sz="2800">
                  <a:solidFill>
                    <a:srgbClr val="3333FF"/>
                  </a:solidFill>
                  <a:latin typeface="Trebuchet MS" panose="020B0603020202020204" charset="0"/>
                  <a:ea typeface="굴림" charset="-127"/>
                </a:defRPr>
              </a:lvl5pPr>
              <a:lvl6pPr marL="2514600" indent="-228600" algn="ctr" eaLnBrk="0" fontAlgn="base" hangingPunct="0">
                <a:spcBef>
                  <a:spcPct val="0"/>
                </a:spcBef>
                <a:spcAft>
                  <a:spcPct val="0"/>
                </a:spcAft>
                <a:defRPr sz="2800">
                  <a:solidFill>
                    <a:srgbClr val="3333FF"/>
                  </a:solidFill>
                  <a:latin typeface="Trebuchet MS" panose="020B0603020202020204" charset="0"/>
                  <a:ea typeface="굴림" charset="-127"/>
                </a:defRPr>
              </a:lvl6pPr>
              <a:lvl7pPr marL="2971800" indent="-228600" algn="ctr" eaLnBrk="0" fontAlgn="base" hangingPunct="0">
                <a:spcBef>
                  <a:spcPct val="0"/>
                </a:spcBef>
                <a:spcAft>
                  <a:spcPct val="0"/>
                </a:spcAft>
                <a:defRPr sz="2800">
                  <a:solidFill>
                    <a:srgbClr val="3333FF"/>
                  </a:solidFill>
                  <a:latin typeface="Trebuchet MS" panose="020B0603020202020204" charset="0"/>
                  <a:ea typeface="굴림" charset="-127"/>
                </a:defRPr>
              </a:lvl7pPr>
              <a:lvl8pPr marL="3429000" indent="-228600" algn="ctr" eaLnBrk="0" fontAlgn="base" hangingPunct="0">
                <a:spcBef>
                  <a:spcPct val="0"/>
                </a:spcBef>
                <a:spcAft>
                  <a:spcPct val="0"/>
                </a:spcAft>
                <a:defRPr sz="2800">
                  <a:solidFill>
                    <a:srgbClr val="3333FF"/>
                  </a:solidFill>
                  <a:latin typeface="Trebuchet MS" panose="020B0603020202020204" charset="0"/>
                  <a:ea typeface="굴림" charset="-127"/>
                </a:defRPr>
              </a:lvl8pPr>
              <a:lvl9pPr marL="3886200" indent="-228600" algn="ctr" eaLnBrk="0" fontAlgn="base" hangingPunct="0">
                <a:spcBef>
                  <a:spcPct val="0"/>
                </a:spcBef>
                <a:spcAft>
                  <a:spcPct val="0"/>
                </a:spcAft>
                <a:defRPr sz="2800">
                  <a:solidFill>
                    <a:srgbClr val="3333FF"/>
                  </a:solidFill>
                  <a:latin typeface="Trebuchet MS" panose="020B0603020202020204" charset="0"/>
                  <a:ea typeface="굴림" charset="-127"/>
                </a:defRPr>
              </a:lvl9pPr>
            </a:lstStyle>
            <a:p>
              <a:pPr algn="l" eaLnBrk="1" hangingPunct="1">
                <a:spcBef>
                  <a:spcPct val="50000"/>
                </a:spcBef>
              </a:pPr>
              <a:r>
                <a:rPr lang="zh-CN" altLang="en-US" sz="2400" dirty="0">
                  <a:solidFill>
                    <a:schemeClr val="tx1"/>
                  </a:solidFill>
                  <a:latin typeface="Arial" panose="020B0604020202020204" pitchFamily="34" charset="0"/>
                  <a:ea typeface="楷体_GB2312" charset="0"/>
                </a:rPr>
                <a:t>投影方向</a:t>
              </a:r>
            </a:p>
          </p:txBody>
        </p:sp>
      </p:grpSp>
      <p:sp>
        <p:nvSpPr>
          <p:cNvPr id="2" name="标题 1"/>
          <p:cNvSpPr>
            <a:spLocks noGrp="1"/>
          </p:cNvSpPr>
          <p:nvPr>
            <p:ph type="title"/>
          </p:nvPr>
        </p:nvSpPr>
        <p:spPr/>
        <p:txBody>
          <a:bodyPr/>
          <a:lstStyle/>
          <a:p>
            <a:r>
              <a:rPr lang="zh-CN" altLang="en-US" dirty="0"/>
              <a:t>平行投影</a:t>
            </a:r>
          </a:p>
        </p:txBody>
      </p:sp>
      <p:sp>
        <p:nvSpPr>
          <p:cNvPr id="3" name="Content Placeholder 2"/>
          <p:cNvSpPr>
            <a:spLocks noGrp="1"/>
          </p:cNvSpPr>
          <p:nvPr>
            <p:ph idx="1"/>
          </p:nvPr>
        </p:nvSpPr>
        <p:spPr/>
        <p:txBody>
          <a:bodyPr/>
          <a:lstStyle/>
          <a:p>
            <a:r>
              <a:rPr lang="zh-CN" altLang="en-US" dirty="0"/>
              <a:t>投影中心在无穷远处</a:t>
            </a:r>
            <a:endParaRPr lang="en-US" altLang="zh-CN" dirty="0"/>
          </a:p>
          <a:p>
            <a:r>
              <a:rPr lang="zh-CN" altLang="en-US" dirty="0"/>
              <a:t>投影方向平行</a:t>
            </a:r>
            <a:endParaRPr 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35</a:t>
            </a:fld>
            <a:endParaRPr lang="zh-CN" alt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正交投影</a:t>
            </a:r>
          </a:p>
        </p:txBody>
      </p:sp>
      <p:sp>
        <p:nvSpPr>
          <p:cNvPr id="7" name="Content Placeholder 6"/>
          <p:cNvSpPr>
            <a:spLocks noGrp="1"/>
          </p:cNvSpPr>
          <p:nvPr>
            <p:ph idx="1"/>
          </p:nvPr>
        </p:nvSpPr>
        <p:spPr/>
        <p:txBody>
          <a:bodyPr>
            <a:normAutofit/>
          </a:bodyPr>
          <a:lstStyle/>
          <a:p>
            <a:r>
              <a:rPr lang="zh-CN" altLang="en-US" dirty="0"/>
              <a:t>投影线垂直于投影平面</a:t>
            </a:r>
            <a:endParaRPr lang="zh-CN" altLang="en-US" sz="20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36</a:t>
            </a:fld>
            <a:endParaRPr lang="zh-CN" altLang="en-US"/>
          </a:p>
        </p:txBody>
      </p:sp>
      <p:pic>
        <p:nvPicPr>
          <p:cNvPr id="5" name="图片 4"/>
          <p:cNvPicPr>
            <a:picLocks noChangeAspect="1"/>
          </p:cNvPicPr>
          <p:nvPr/>
        </p:nvPicPr>
        <p:blipFill>
          <a:blip r:embed="rId2"/>
          <a:stretch>
            <a:fillRect/>
          </a:stretch>
        </p:blipFill>
        <p:spPr>
          <a:xfrm>
            <a:off x="1640264" y="1834871"/>
            <a:ext cx="5759778" cy="4878274"/>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计算机视图原理</a:t>
            </a:r>
          </a:p>
        </p:txBody>
      </p:sp>
      <p:sp>
        <p:nvSpPr>
          <p:cNvPr id="3" name="内容占位符 2"/>
          <p:cNvSpPr>
            <a:spLocks noGrp="1"/>
          </p:cNvSpPr>
          <p:nvPr>
            <p:ph idx="1"/>
          </p:nvPr>
        </p:nvSpPr>
        <p:spPr/>
        <p:txBody>
          <a:bodyPr>
            <a:normAutofit/>
          </a:bodyPr>
          <a:lstStyle/>
          <a:p>
            <a:r>
              <a:rPr lang="zh-CN" altLang="en-US" sz="2400" dirty="0"/>
              <a:t>计算视图的构建原理</a:t>
            </a:r>
            <a:endParaRPr lang="en-US" altLang="zh-CN" sz="1800" dirty="0"/>
          </a:p>
          <a:p>
            <a:pPr lvl="1">
              <a:buClr>
                <a:schemeClr val="tx1"/>
              </a:buClr>
            </a:pPr>
            <a:r>
              <a:rPr lang="zh-CN" altLang="en-US" sz="1800" dirty="0"/>
              <a:t>应用程序分别指定物体形状与相机参数，由图形管线计算视图</a:t>
            </a:r>
            <a:endParaRPr lang="en-US" altLang="zh-CN" sz="1800" dirty="0"/>
          </a:p>
          <a:p>
            <a:pPr lvl="1">
              <a:buClr>
                <a:schemeClr val="tx1"/>
              </a:buClr>
            </a:pPr>
            <a:r>
              <a:rPr lang="zh-CN" altLang="en-US" sz="1800" dirty="0"/>
              <a:t>视图在</a:t>
            </a:r>
            <a:r>
              <a:rPr lang="en-US" altLang="zh-CN" sz="1800" dirty="0"/>
              <a:t>OpenGL</a:t>
            </a:r>
            <a:r>
              <a:rPr lang="zh-CN" altLang="en-US" sz="1800" dirty="0"/>
              <a:t>中通过</a:t>
            </a:r>
            <a:r>
              <a:rPr lang="zh-CN" altLang="en-US" sz="1800" b="1" dirty="0">
                <a:solidFill>
                  <a:srgbClr val="00B050"/>
                </a:solidFill>
              </a:rPr>
              <a:t>坐标系转换与裁剪</a:t>
            </a:r>
            <a:r>
              <a:rPr lang="zh-CN" altLang="en-US" sz="1800" dirty="0"/>
              <a:t>实现</a:t>
            </a:r>
            <a:endParaRPr lang="en-US" altLang="zh-CN" sz="1800" dirty="0"/>
          </a:p>
          <a:p>
            <a:pPr lvl="1">
              <a:buClr>
                <a:schemeClr val="tx1"/>
              </a:buClr>
            </a:pPr>
            <a:r>
              <a:rPr lang="zh-CN" altLang="en-US" sz="1800" dirty="0"/>
              <a:t>核心机制：</a:t>
            </a:r>
            <a:r>
              <a:rPr lang="zh-CN" altLang="en-US" sz="1800" b="1" dirty="0"/>
              <a:t>仿射变换</a:t>
            </a:r>
            <a:r>
              <a:rPr lang="zh-CN" altLang="en-US" sz="1800" dirty="0"/>
              <a:t>、</a:t>
            </a:r>
            <a:r>
              <a:rPr lang="zh-CN" altLang="en-US" sz="1800" b="1" dirty="0"/>
              <a:t>投影规范化</a:t>
            </a:r>
            <a:r>
              <a:rPr lang="en-US" altLang="zh-CN" sz="1800" dirty="0"/>
              <a:t>(Perspective Normalization)</a:t>
            </a:r>
          </a:p>
          <a:p>
            <a:pPr lvl="1">
              <a:buClr>
                <a:schemeClr val="tx1"/>
              </a:buClr>
            </a:pPr>
            <a:endParaRPr lang="en-US" altLang="zh-CN" sz="2400" dirty="0"/>
          </a:p>
          <a:p>
            <a:r>
              <a:rPr lang="en-US" altLang="zh-CN" sz="2400" dirty="0"/>
              <a:t>OpenGL</a:t>
            </a:r>
            <a:r>
              <a:rPr lang="zh-CN" altLang="en-US" sz="2400" dirty="0"/>
              <a:t>程序实现步骤</a:t>
            </a:r>
            <a:endParaRPr lang="en-US" altLang="zh-CN" sz="1800" dirty="0"/>
          </a:p>
          <a:p>
            <a:pPr lvl="1">
              <a:buClr>
                <a:schemeClr val="tx1"/>
              </a:buClr>
            </a:pPr>
            <a:r>
              <a:rPr lang="zh-CN" altLang="en-US" sz="1800" dirty="0"/>
              <a:t>定位照相机：设置模－图矩阵</a:t>
            </a:r>
            <a:endParaRPr lang="en-US" altLang="zh-CN" sz="1800" dirty="0"/>
          </a:p>
          <a:p>
            <a:pPr lvl="1">
              <a:buClr>
                <a:schemeClr val="tx1"/>
              </a:buClr>
            </a:pPr>
            <a:r>
              <a:rPr lang="zh-CN" altLang="en-US" sz="1800" dirty="0"/>
              <a:t>设置镜头：设置投影矩阵，规范化视见体</a:t>
            </a:r>
            <a:endParaRPr lang="en-US" altLang="zh-CN" sz="1800" dirty="0"/>
          </a:p>
          <a:p>
            <a:pPr lvl="1">
              <a:buClr>
                <a:schemeClr val="tx1"/>
              </a:buClr>
            </a:pPr>
            <a:r>
              <a:rPr lang="zh-CN" altLang="en-US" sz="1800" dirty="0">
                <a:solidFill>
                  <a:srgbClr val="0000FF"/>
                </a:solidFill>
              </a:rPr>
              <a:t>裁剪：裁剪规范视见体之外的几何图元</a:t>
            </a:r>
            <a:endParaRPr lang="en-US" altLang="zh-CN" sz="2400" dirty="0">
              <a:solidFill>
                <a:srgbClr val="0000FF"/>
              </a:solidFill>
            </a:endParaRPr>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marL="0" indent="0">
              <a:buClr>
                <a:srgbClr val="94003F"/>
              </a:buClr>
              <a:buNone/>
            </a:pPr>
            <a:endParaRPr lang="zh-CN" altLang="en-US" sz="24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37</a:t>
            </a:fld>
            <a:endParaRPr lang="zh-CN" altLang="en-US"/>
          </a:p>
        </p:txBody>
      </p:sp>
      <p:pic>
        <p:nvPicPr>
          <p:cNvPr id="7" name="图片 6"/>
          <p:cNvPicPr>
            <a:picLocks noChangeAspect="1"/>
          </p:cNvPicPr>
          <p:nvPr/>
        </p:nvPicPr>
        <p:blipFill>
          <a:blip r:embed="rId2"/>
          <a:stretch>
            <a:fillRect/>
          </a:stretch>
        </p:blipFill>
        <p:spPr>
          <a:xfrm>
            <a:off x="1109186" y="4708696"/>
            <a:ext cx="6796061" cy="1495611"/>
          </a:xfrm>
          <a:prstGeom prst="rect">
            <a:avLst/>
          </a:prstGeom>
        </p:spPr>
      </p:pic>
      <p:pic>
        <p:nvPicPr>
          <p:cNvPr id="8" name="Picture 2" descr="E:\CG\交互式计算机图形学—基于OpenGL着色器的自顶向下方法（第六版）\Figures\CHAPTER02 JPEG\AN02F34.jpg"/>
          <p:cNvPicPr>
            <a:picLocks noChangeAspect="1" noChangeArrowheads="1"/>
          </p:cNvPicPr>
          <p:nvPr/>
        </p:nvPicPr>
        <p:blipFill>
          <a:blip r:embed="rId3" cstate="print"/>
          <a:srcRect/>
          <a:stretch>
            <a:fillRect/>
          </a:stretch>
        </p:blipFill>
        <p:spPr bwMode="auto">
          <a:xfrm>
            <a:off x="6529451" y="2929467"/>
            <a:ext cx="2229854" cy="1596785"/>
          </a:xfrm>
          <a:prstGeom prst="rect">
            <a:avLst/>
          </a:prstGeom>
          <a:noFill/>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投影规范化</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sz="2400" dirty="0">
                    <a:solidFill>
                      <a:srgbClr val="0000FF"/>
                    </a:solidFill>
                  </a:rPr>
                  <a:t>把所有的投影都转化为正交投影</a:t>
                </a:r>
                <a:endParaRPr lang="zh-CN" altLang="en-US" sz="1800" dirty="0">
                  <a:solidFill>
                    <a:srgbClr val="0000FF"/>
                  </a:solidFill>
                </a:endParaRPr>
              </a:p>
              <a:p>
                <a:pPr lvl="1"/>
                <a:r>
                  <a:rPr lang="zh-CN" altLang="en-US" sz="1800" dirty="0"/>
                  <a:t>把对象变形使得它的正交投影图与原来想要得到的对象的投影图相同</a:t>
                </a:r>
                <a:endParaRPr lang="en-US" altLang="zh-CN" sz="1800" dirty="0"/>
              </a:p>
              <a:p>
                <a:pPr lvl="1"/>
                <a:r>
                  <a:rPr lang="zh-CN" altLang="en-US" sz="1800" dirty="0"/>
                  <a:t>适用于图形管线的另外一种处理方式：</a:t>
                </a:r>
                <a:r>
                  <a:rPr lang="zh-CN" altLang="en-US" sz="1800" b="1" dirty="0">
                    <a:solidFill>
                      <a:srgbClr val="00B050"/>
                    </a:solidFill>
                  </a:rPr>
                  <a:t>射影畸变</a:t>
                </a:r>
                <a:r>
                  <a:rPr lang="en-US" altLang="zh-CN" sz="1800" b="1" dirty="0">
                    <a:solidFill>
                      <a:srgbClr val="00B050"/>
                    </a:solidFill>
                  </a:rPr>
                  <a:t>+</a:t>
                </a:r>
                <a:r>
                  <a:rPr lang="zh-CN" altLang="en-US" sz="1800" b="1" dirty="0">
                    <a:solidFill>
                      <a:srgbClr val="00B050"/>
                    </a:solidFill>
                  </a:rPr>
                  <a:t>正交投影</a:t>
                </a:r>
                <a:endParaRPr lang="en-US" altLang="zh-CN" sz="1800" b="1" dirty="0">
                  <a:solidFill>
                    <a:srgbClr val="00B050"/>
                  </a:solidFill>
                </a:endParaRPr>
              </a:p>
              <a:p>
                <a:pPr lvl="1">
                  <a:buClr>
                    <a:schemeClr val="tx1"/>
                  </a:buClr>
                </a:pPr>
                <a:endParaRPr lang="en-US" altLang="zh-CN" sz="1800" dirty="0"/>
              </a:p>
              <a:p>
                <a:pPr lvl="1">
                  <a:buClr>
                    <a:schemeClr val="tx1"/>
                  </a:buClr>
                </a:pPr>
                <a:r>
                  <a:rPr lang="zh-CN" altLang="en-US" sz="1800" dirty="0"/>
                  <a:t>不想为每种类型的投影设计不同的投影矩阵，所以把所有的投影转化为具有默认视见体的正交投影：</a:t>
                </a:r>
                <a:r>
                  <a:rPr lang="zh-CN" altLang="en-US" sz="1800" dirty="0">
                    <a:solidFill>
                      <a:srgbClr val="0000FF"/>
                    </a:solidFill>
                  </a:rPr>
                  <a:t>规范视见体 </a:t>
                </a:r>
                <a14:m>
                  <m:oMath xmlns:m="http://schemas.openxmlformats.org/officeDocument/2006/math">
                    <m:r>
                      <a:rPr lang="en-US" altLang="zh-CN" sz="1800" b="0" i="1" smtClean="0">
                        <a:solidFill>
                          <a:srgbClr val="0000FF"/>
                        </a:solidFill>
                        <a:latin typeface="Cambria Math" panose="02040503050406030204" charset="0"/>
                      </a:rPr>
                      <m:t>𝑥</m:t>
                    </m:r>
                    <m:r>
                      <a:rPr lang="en-US" altLang="zh-CN" sz="1800" b="0" i="1" smtClean="0">
                        <a:solidFill>
                          <a:srgbClr val="0000FF"/>
                        </a:solidFill>
                        <a:latin typeface="Cambria Math" panose="02040503050406030204" charset="0"/>
                      </a:rPr>
                      <m:t>=±1,</m:t>
                    </m:r>
                    <m:r>
                      <a:rPr lang="en-US" altLang="zh-CN" sz="1800" b="0" i="1" smtClean="0">
                        <a:solidFill>
                          <a:srgbClr val="0000FF"/>
                        </a:solidFill>
                        <a:latin typeface="Cambria Math" panose="02040503050406030204" charset="0"/>
                      </a:rPr>
                      <m:t>𝑦</m:t>
                    </m:r>
                    <m:r>
                      <a:rPr lang="en-US" altLang="zh-CN" sz="1800" i="1">
                        <a:solidFill>
                          <a:srgbClr val="0000FF"/>
                        </a:solidFill>
                        <a:latin typeface="Cambria Math" panose="02040503050406030204" charset="0"/>
                      </a:rPr>
                      <m:t>=±1</m:t>
                    </m:r>
                    <m:r>
                      <a:rPr lang="en-US" altLang="zh-CN" sz="1800" b="0" i="1" smtClean="0">
                        <a:solidFill>
                          <a:srgbClr val="0000FF"/>
                        </a:solidFill>
                        <a:latin typeface="Cambria Math" panose="02040503050406030204" charset="0"/>
                      </a:rPr>
                      <m:t>,</m:t>
                    </m:r>
                    <m:r>
                      <a:rPr lang="en-US" altLang="zh-CN" sz="1800" b="0" i="1" smtClean="0">
                        <a:solidFill>
                          <a:srgbClr val="0000FF"/>
                        </a:solidFill>
                        <a:latin typeface="Cambria Math" panose="02040503050406030204" charset="0"/>
                      </a:rPr>
                      <m:t>𝑧</m:t>
                    </m:r>
                    <m:r>
                      <a:rPr lang="en-US" altLang="zh-CN" sz="1800" i="1">
                        <a:solidFill>
                          <a:srgbClr val="0000FF"/>
                        </a:solidFill>
                        <a:latin typeface="Cambria Math" panose="02040503050406030204" charset="0"/>
                      </a:rPr>
                      <m:t>=±1</m:t>
                    </m:r>
                  </m:oMath>
                </a14:m>
                <a:endParaRPr lang="en-US" altLang="zh-CN" sz="1800" dirty="0">
                  <a:solidFill>
                    <a:srgbClr val="0000FF"/>
                  </a:solidFill>
                </a:endParaRPr>
              </a:p>
              <a:p>
                <a:pPr lvl="1">
                  <a:buClr>
                    <a:schemeClr val="tx1"/>
                  </a:buClr>
                </a:pPr>
                <a:endParaRPr lang="en-US" altLang="zh-CN" sz="1800" dirty="0"/>
              </a:p>
              <a:p>
                <a:pPr lvl="1">
                  <a:buClr>
                    <a:schemeClr val="tx1"/>
                  </a:buClr>
                </a:pPr>
                <a:r>
                  <a:rPr lang="zh-CN" altLang="en-US" sz="1800" dirty="0"/>
                  <a:t>这种策略可以使我们在流水线中应用标准变换，同样的绘制流水线可以既支持透视投影又支持平行投影</a:t>
                </a:r>
                <a:endParaRPr lang="zh-CN" altLang="en-US" dirty="0"/>
              </a:p>
            </p:txBody>
          </p:sp>
        </mc:Choice>
        <mc:Fallback xmlns="">
          <p:sp>
            <p:nvSpPr>
              <p:cNvPr id="3" name="内容占位符 2"/>
              <p:cNvSpPr>
                <a:spLocks noRot="1" noChangeAspect="1" noMove="1" noResize="1" noEditPoints="1" noAdjustHandles="1" noChangeArrowheads="1" noChangeShapeType="1" noTextEdit="1"/>
              </p:cNvSpPr>
              <p:nvPr>
                <p:ph idx="1"/>
              </p:nvPr>
            </p:nvSpPr>
            <p:spPr>
              <a:blipFill rotWithShape="1">
                <a:blip r:embed="rId2"/>
                <a:stretch>
                  <a:fillRect t="-259" b="4"/>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38</a:t>
            </a:fld>
            <a:endParaRPr lang="zh-CN" altLang="en-US"/>
          </a:p>
        </p:txBody>
      </p:sp>
      <p:pic>
        <p:nvPicPr>
          <p:cNvPr id="5" name="图片 4"/>
          <p:cNvPicPr>
            <a:picLocks noChangeAspect="1"/>
          </p:cNvPicPr>
          <p:nvPr/>
        </p:nvPicPr>
        <p:blipFill>
          <a:blip r:embed="rId3"/>
          <a:stretch>
            <a:fillRect/>
          </a:stretch>
        </p:blipFill>
        <p:spPr>
          <a:xfrm>
            <a:off x="838003" y="4361413"/>
            <a:ext cx="2943205" cy="2131462"/>
          </a:xfrm>
          <a:prstGeom prst="rect">
            <a:avLst/>
          </a:prstGeom>
        </p:spPr>
      </p:pic>
      <p:pic>
        <p:nvPicPr>
          <p:cNvPr id="6" name="图片 5"/>
          <p:cNvPicPr>
            <a:picLocks noChangeAspect="1"/>
          </p:cNvPicPr>
          <p:nvPr/>
        </p:nvPicPr>
        <p:blipFill>
          <a:blip r:embed="rId4"/>
          <a:stretch>
            <a:fillRect/>
          </a:stretch>
        </p:blipFill>
        <p:spPr>
          <a:xfrm>
            <a:off x="4098471" y="5054522"/>
            <a:ext cx="4621795" cy="745243"/>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投影规范化</a:t>
            </a:r>
          </a:p>
        </p:txBody>
      </p:sp>
      <p:sp>
        <p:nvSpPr>
          <p:cNvPr id="3" name="内容占位符 2"/>
          <p:cNvSpPr>
            <a:spLocks noGrp="1"/>
          </p:cNvSpPr>
          <p:nvPr>
            <p:ph idx="1"/>
          </p:nvPr>
        </p:nvSpPr>
        <p:spPr/>
        <p:txBody>
          <a:bodyPr/>
          <a:lstStyle/>
          <a:p>
            <a:r>
              <a:rPr lang="zh-CN" altLang="en-US" sz="2400" dirty="0"/>
              <a:t>在模－视和投影变换过程中，始终使用四维齐次坐标系：</a:t>
            </a:r>
            <a:endParaRPr lang="en-US" altLang="zh-CN" sz="2400" dirty="0"/>
          </a:p>
          <a:p>
            <a:pPr lvl="1">
              <a:buClr>
                <a:schemeClr val="tx1"/>
              </a:buClr>
            </a:pPr>
            <a:r>
              <a:rPr lang="zh-CN" altLang="en-US" sz="1800" dirty="0"/>
              <a:t>这些变换都是非奇异的，即可逆的</a:t>
            </a:r>
          </a:p>
          <a:p>
            <a:pPr lvl="1">
              <a:buClr>
                <a:schemeClr val="tx1"/>
              </a:buClr>
            </a:pPr>
            <a:r>
              <a:rPr lang="zh-CN" altLang="en-US" sz="1800" dirty="0">
                <a:solidFill>
                  <a:srgbClr val="0000FF"/>
                </a:solidFill>
              </a:rPr>
              <a:t>默认值为单位阵</a:t>
            </a:r>
            <a:r>
              <a:rPr lang="zh-CN" altLang="en-US" sz="1800" dirty="0"/>
              <a:t>（正交视图）</a:t>
            </a:r>
          </a:p>
          <a:p>
            <a:r>
              <a:rPr lang="zh-CN" altLang="en-US" sz="2400" dirty="0">
                <a:solidFill>
                  <a:srgbClr val="0000FF"/>
                </a:solidFill>
              </a:rPr>
              <a:t>规范化使得任意投影类型，都相对于默认立方体裁剪</a:t>
            </a:r>
            <a:endParaRPr lang="en-US" altLang="zh-CN" sz="2400" dirty="0">
              <a:solidFill>
                <a:srgbClr val="0000FF"/>
              </a:solidFill>
            </a:endParaRPr>
          </a:p>
          <a:p>
            <a:pPr lvl="1">
              <a:buClr>
                <a:schemeClr val="tx1"/>
              </a:buClr>
            </a:pPr>
            <a:r>
              <a:rPr lang="zh-CN" altLang="en-US" sz="1800" dirty="0"/>
              <a:t>三维到二维的投影直到最后时刻才进行</a:t>
            </a:r>
          </a:p>
          <a:p>
            <a:pPr lvl="1">
              <a:buClr>
                <a:schemeClr val="tx1"/>
              </a:buClr>
            </a:pPr>
            <a:r>
              <a:rPr lang="zh-CN" altLang="en-US" sz="1800" dirty="0"/>
              <a:t>从而可以尽可能的保留深度信息，这对隐藏面消除是非常重要的</a:t>
            </a:r>
            <a:endParaRPr lang="en-US" altLang="zh-CN" sz="18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39</a:t>
            </a:fld>
            <a:endParaRPr lang="zh-CN" altLang="en-US"/>
          </a:p>
        </p:txBody>
      </p:sp>
      <p:pic>
        <p:nvPicPr>
          <p:cNvPr id="8" name="图片 7"/>
          <p:cNvPicPr>
            <a:picLocks noChangeAspect="1"/>
          </p:cNvPicPr>
          <p:nvPr/>
        </p:nvPicPr>
        <p:blipFill>
          <a:blip r:embed="rId2"/>
          <a:stretch>
            <a:fillRect/>
          </a:stretch>
        </p:blipFill>
        <p:spPr>
          <a:xfrm>
            <a:off x="1853086" y="3693433"/>
            <a:ext cx="5663169" cy="2662917"/>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透视除法</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sz="2400" dirty="0"/>
                  <a:t>如果</a:t>
                </a:r>
                <a14:m>
                  <m:oMath xmlns:m="http://schemas.openxmlformats.org/officeDocument/2006/math">
                    <m:r>
                      <a:rPr lang="en-US" altLang="zh-CN" sz="2400" i="1" dirty="0" smtClean="0">
                        <a:latin typeface="Cambria Math" panose="02040503050406030204" charset="0"/>
                      </a:rPr>
                      <m:t>𝑤</m:t>
                    </m:r>
                    <m:r>
                      <a:rPr lang="en-US" altLang="zh-CN" sz="2400" i="1" dirty="0" smtClean="0">
                        <a:latin typeface="Cambria Math" panose="02040503050406030204" charset="0"/>
                      </a:rPr>
                      <m:t>≠1</m:t>
                    </m:r>
                  </m:oMath>
                </a14:m>
                <a:r>
                  <a:rPr lang="en-US" altLang="zh-CN" sz="2400" dirty="0"/>
                  <a:t>, </a:t>
                </a:r>
                <a:r>
                  <a:rPr lang="zh-CN" altLang="en-US" sz="2400" dirty="0"/>
                  <a:t>那么必须从齐次坐标中除以</a:t>
                </a:r>
                <a14:m>
                  <m:oMath xmlns:m="http://schemas.openxmlformats.org/officeDocument/2006/math">
                    <m:r>
                      <a:rPr lang="en-US" altLang="zh-CN" sz="2400" i="1" dirty="0" smtClean="0">
                        <a:latin typeface="Cambria Math" panose="02040503050406030204" charset="0"/>
                      </a:rPr>
                      <m:t>𝑤</m:t>
                    </m:r>
                  </m:oMath>
                </a14:m>
                <a:r>
                  <a:rPr lang="zh-CN" altLang="en-US" sz="2400" dirty="0"/>
                  <a:t>而得到所表示</a:t>
                </a:r>
                <a:endParaRPr lang="en-US" altLang="zh-CN" sz="2400" dirty="0"/>
              </a:p>
              <a:p>
                <a:pPr marL="0" indent="0">
                  <a:buNone/>
                </a:pPr>
                <a:r>
                  <a:rPr lang="en-US" altLang="zh-CN" sz="2400" dirty="0"/>
                  <a:t>    </a:t>
                </a:r>
                <a:r>
                  <a:rPr lang="zh-CN" altLang="en-US" sz="2400" dirty="0"/>
                  <a:t>的点，这就是</a:t>
                </a:r>
                <a:r>
                  <a:rPr lang="zh-CN" altLang="en-US" sz="2400" dirty="0">
                    <a:solidFill>
                      <a:srgbClr val="0000FF"/>
                    </a:solidFill>
                  </a:rPr>
                  <a:t>透视除法</a:t>
                </a:r>
                <a:endParaRPr lang="zh-CN" altLang="en-US" dirty="0">
                  <a:solidFill>
                    <a:srgbClr val="0000FF"/>
                  </a:solidFill>
                </a:endParaRPr>
              </a:p>
            </p:txBody>
          </p:sp>
        </mc:Choice>
        <mc:Fallback xmlns="">
          <p:sp>
            <p:nvSpPr>
              <p:cNvPr id="3" name="内容占位符 2"/>
              <p:cNvSpPr>
                <a:spLocks noRot="1" noChangeAspect="1" noMove="1" noResize="1" noEditPoints="1" noAdjustHandles="1" noChangeArrowheads="1" noChangeShapeType="1" noTextEdit="1"/>
              </p:cNvSpPr>
              <p:nvPr>
                <p:ph idx="1"/>
              </p:nvPr>
            </p:nvSpPr>
            <p:spPr>
              <a:blipFill rotWithShape="1">
                <a:blip r:embed="rId2"/>
                <a:stretch>
                  <a:fillRect t="-259" b="4"/>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40</a:t>
            </a:fld>
            <a:endParaRPr lang="zh-CN" altLang="en-US"/>
          </a:p>
        </p:txBody>
      </p:sp>
      <p:pic>
        <p:nvPicPr>
          <p:cNvPr id="6" name="图片 5"/>
          <p:cNvPicPr>
            <a:picLocks noChangeAspect="1"/>
          </p:cNvPicPr>
          <p:nvPr/>
        </p:nvPicPr>
        <p:blipFill>
          <a:blip r:embed="rId3"/>
          <a:stretch>
            <a:fillRect/>
          </a:stretch>
        </p:blipFill>
        <p:spPr>
          <a:xfrm>
            <a:off x="746159" y="2615033"/>
            <a:ext cx="7940701" cy="963533"/>
          </a:xfrm>
          <a:prstGeom prst="rect">
            <a:avLst/>
          </a:prstGeom>
        </p:spPr>
      </p:pic>
      <p:pic>
        <p:nvPicPr>
          <p:cNvPr id="8" name="图片 7"/>
          <p:cNvPicPr>
            <a:picLocks noChangeAspect="1"/>
          </p:cNvPicPr>
          <p:nvPr/>
        </p:nvPicPr>
        <p:blipFill>
          <a:blip r:embed="rId4"/>
          <a:stretch>
            <a:fillRect/>
          </a:stretch>
        </p:blipFill>
        <p:spPr>
          <a:xfrm>
            <a:off x="1561941" y="4046957"/>
            <a:ext cx="2095658" cy="2280860"/>
          </a:xfrm>
          <a:prstGeom prst="rect">
            <a:avLst/>
          </a:prstGeom>
        </p:spPr>
      </p:pic>
      <p:pic>
        <p:nvPicPr>
          <p:cNvPr id="9" name="图片 8"/>
          <p:cNvPicPr>
            <a:picLocks noChangeAspect="1"/>
          </p:cNvPicPr>
          <p:nvPr/>
        </p:nvPicPr>
        <p:blipFill>
          <a:blip r:embed="rId5"/>
          <a:stretch>
            <a:fillRect/>
          </a:stretch>
        </p:blipFill>
        <p:spPr>
          <a:xfrm>
            <a:off x="5395078" y="3969498"/>
            <a:ext cx="2274450" cy="2435778"/>
          </a:xfrm>
          <a:prstGeom prst="rect">
            <a:avLst/>
          </a:prstGeom>
        </p:spPr>
      </p:pic>
      <p:sp>
        <p:nvSpPr>
          <p:cNvPr id="10" name="箭头: 右 9"/>
          <p:cNvSpPr/>
          <p:nvPr/>
        </p:nvSpPr>
        <p:spPr>
          <a:xfrm>
            <a:off x="4241837" y="4912664"/>
            <a:ext cx="614837" cy="54944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2"/>
          <a:stretch>
            <a:fillRect/>
          </a:stretch>
        </p:blipFill>
        <p:spPr>
          <a:xfrm>
            <a:off x="1197869" y="2589750"/>
            <a:ext cx="6599652" cy="1780997"/>
          </a:xfrm>
          <a:prstGeom prst="rect">
            <a:avLst/>
          </a:prstGeom>
        </p:spPr>
      </p:pic>
      <p:sp>
        <p:nvSpPr>
          <p:cNvPr id="2" name="标题 1"/>
          <p:cNvSpPr>
            <a:spLocks noGrp="1"/>
          </p:cNvSpPr>
          <p:nvPr>
            <p:ph type="title"/>
          </p:nvPr>
        </p:nvSpPr>
        <p:spPr/>
        <p:txBody>
          <a:bodyPr/>
          <a:lstStyle/>
          <a:p>
            <a:r>
              <a:rPr lang="zh-CN" altLang="en-US" dirty="0"/>
              <a:t>简单透视</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sz="2400" dirty="0"/>
                  <a:t>透视投影的概念</a:t>
                </a:r>
                <a:endParaRPr lang="en-US" altLang="zh-CN" sz="2400" dirty="0"/>
              </a:p>
              <a:p>
                <a:pPr lvl="1">
                  <a:buClr>
                    <a:schemeClr val="tx1"/>
                  </a:buClr>
                </a:pPr>
                <a:r>
                  <a:rPr lang="zh-CN" altLang="en-US" sz="1800" dirty="0"/>
                  <a:t>投影中心在原点</a:t>
                </a:r>
                <a:endParaRPr lang="en-US" altLang="zh-CN" sz="1800" dirty="0"/>
              </a:p>
              <a:p>
                <a:pPr lvl="1">
                  <a:buClr>
                    <a:schemeClr val="tx1"/>
                  </a:buClr>
                </a:pPr>
                <a:r>
                  <a:rPr lang="zh-CN" altLang="en-US" sz="1800" dirty="0"/>
                  <a:t>投影平面为</a:t>
                </a:r>
                <a14:m>
                  <m:oMath xmlns:m="http://schemas.openxmlformats.org/officeDocument/2006/math">
                    <m:r>
                      <a:rPr lang="en-US" altLang="zh-CN" sz="1800" i="1" dirty="0" smtClean="0">
                        <a:latin typeface="Cambria Math" panose="02040503050406030204" charset="0"/>
                      </a:rPr>
                      <m:t>𝑧</m:t>
                    </m:r>
                    <m:r>
                      <a:rPr lang="en-US" altLang="zh-CN" sz="1800" i="1" dirty="0" smtClean="0">
                        <a:latin typeface="Cambria Math" panose="02040503050406030204" charset="0"/>
                      </a:rPr>
                      <m:t>=</m:t>
                    </m:r>
                    <m:r>
                      <a:rPr lang="en-US" altLang="zh-CN" sz="1800" i="1" dirty="0" smtClean="0">
                        <a:latin typeface="Cambria Math" panose="02040503050406030204" charset="0"/>
                      </a:rPr>
                      <m:t>𝑑</m:t>
                    </m:r>
                    <m:r>
                      <a:rPr lang="en-US" altLang="zh-CN" sz="1800" i="1" dirty="0" smtClean="0">
                        <a:latin typeface="Cambria Math" panose="02040503050406030204" charset="0"/>
                      </a:rPr>
                      <m:t>, </m:t>
                    </m:r>
                    <m:r>
                      <a:rPr lang="en-US" altLang="zh-CN" sz="1800" i="1" dirty="0" smtClean="0">
                        <a:latin typeface="Cambria Math" panose="02040503050406030204" charset="0"/>
                      </a:rPr>
                      <m:t>𝑑</m:t>
                    </m:r>
                    <m:r>
                      <a:rPr lang="en-US" altLang="zh-CN" sz="1800" i="1" dirty="0" smtClean="0">
                        <a:latin typeface="Cambria Math" panose="02040503050406030204" charset="0"/>
                      </a:rPr>
                      <m:t>&lt;0</m:t>
                    </m:r>
                  </m:oMath>
                </a14:m>
                <a:endParaRPr lang="en-US" altLang="zh-CN" sz="1800" dirty="0"/>
              </a:p>
              <a:p>
                <a:pPr lvl="1">
                  <a:buClr>
                    <a:schemeClr val="tx1"/>
                  </a:buClr>
                </a:pPr>
                <a:r>
                  <a:rPr lang="zh-CN" altLang="en-US" sz="1800" dirty="0"/>
                  <a:t>近大远小</a:t>
                </a:r>
                <a:endParaRPr lang="en-US" altLang="zh-CN" sz="2400" dirty="0"/>
              </a:p>
              <a:p>
                <a:pPr marL="0" indent="0">
                  <a:buNone/>
                </a:pPr>
                <a:endParaRPr lang="en-US" altLang="zh-CN" sz="2400" dirty="0"/>
              </a:p>
              <a:p>
                <a:pPr marL="0" indent="0">
                  <a:buNone/>
                </a:pPr>
                <a:endParaRPr lang="en-US" altLang="zh-CN" sz="2400" dirty="0"/>
              </a:p>
              <a:p>
                <a:pPr marL="0" indent="0">
                  <a:buNone/>
                </a:pPr>
                <a:endParaRPr lang="en-US" altLang="zh-CN" sz="2400" dirty="0"/>
              </a:p>
              <a:p>
                <a:pPr marL="0" indent="0">
                  <a:buNone/>
                </a:pPr>
                <a:endParaRPr lang="en-US" altLang="zh-CN" sz="2400" dirty="0"/>
              </a:p>
              <a:p>
                <a:r>
                  <a:rPr lang="zh-CN" altLang="en-US" sz="2400" dirty="0"/>
                  <a:t>透视方程：</a:t>
                </a:r>
                <a:endParaRPr lang="en-US" altLang="zh-CN" sz="1800" dirty="0"/>
              </a:p>
              <a:p>
                <a:endParaRPr lang="zh-CN" altLang="en-US" dirty="0"/>
              </a:p>
            </p:txBody>
          </p:sp>
        </mc:Choice>
        <mc:Fallback xmlns="">
          <p:sp>
            <p:nvSpPr>
              <p:cNvPr id="3" name="内容占位符 2"/>
              <p:cNvSpPr>
                <a:spLocks noRot="1" noChangeAspect="1" noMove="1" noResize="1" noEditPoints="1" noAdjustHandles="1" noChangeArrowheads="1" noChangeShapeType="1" noTextEdit="1"/>
              </p:cNvSpPr>
              <p:nvPr>
                <p:ph idx="1"/>
              </p:nvPr>
            </p:nvSpPr>
            <p:spPr>
              <a:blipFill rotWithShape="1">
                <a:blip r:embed="rId3"/>
                <a:stretch>
                  <a:fillRect t="-259" b="4"/>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41</a:t>
            </a:fld>
            <a:endParaRPr lang="zh-CN" altLang="en-US"/>
          </a:p>
        </p:txBody>
      </p:sp>
      <p:pic>
        <p:nvPicPr>
          <p:cNvPr id="14" name="图片 13"/>
          <p:cNvPicPr>
            <a:picLocks noChangeAspect="1"/>
          </p:cNvPicPr>
          <p:nvPr/>
        </p:nvPicPr>
        <p:blipFill>
          <a:blip r:embed="rId4"/>
          <a:stretch>
            <a:fillRect/>
          </a:stretch>
        </p:blipFill>
        <p:spPr>
          <a:xfrm>
            <a:off x="1592948" y="5010661"/>
            <a:ext cx="1284362" cy="1679578"/>
          </a:xfrm>
          <a:prstGeom prst="rect">
            <a:avLst/>
          </a:prstGeom>
        </p:spPr>
      </p:pic>
      <p:pic>
        <p:nvPicPr>
          <p:cNvPr id="15" name="图片 14"/>
          <p:cNvPicPr>
            <a:picLocks noChangeAspect="1"/>
          </p:cNvPicPr>
          <p:nvPr/>
        </p:nvPicPr>
        <p:blipFill>
          <a:blip r:embed="rId5"/>
          <a:stretch>
            <a:fillRect/>
          </a:stretch>
        </p:blipFill>
        <p:spPr>
          <a:xfrm>
            <a:off x="3419988" y="4986851"/>
            <a:ext cx="3975600" cy="1623945"/>
          </a:xfrm>
          <a:prstGeom prst="rect">
            <a:avLst/>
          </a:prstGeom>
        </p:spPr>
      </p:pic>
      <p:sp>
        <p:nvSpPr>
          <p:cNvPr id="16" name="文本框 15"/>
          <p:cNvSpPr txBox="1"/>
          <p:nvPr/>
        </p:nvSpPr>
        <p:spPr>
          <a:xfrm>
            <a:off x="5121773" y="4617519"/>
            <a:ext cx="1569660" cy="369332"/>
          </a:xfrm>
          <a:prstGeom prst="rect">
            <a:avLst/>
          </a:prstGeom>
          <a:noFill/>
        </p:spPr>
        <p:txBody>
          <a:bodyPr wrap="none" rtlCol="0">
            <a:spAutoFit/>
          </a:bodyPr>
          <a:lstStyle/>
          <a:p>
            <a:pPr algn="ctr"/>
            <a:r>
              <a:rPr lang="zh-CN" altLang="en-US" b="1" dirty="0">
                <a:latin typeface="微软雅黑" panose="020B0503020204020204" pitchFamily="34" charset="-122"/>
                <a:ea typeface="微软雅黑" panose="020B0503020204020204" pitchFamily="34" charset="-122"/>
              </a:rPr>
              <a:t>齐次坐标表达</a:t>
            </a:r>
          </a:p>
        </p:txBody>
      </p:sp>
      <p:sp>
        <p:nvSpPr>
          <p:cNvPr id="9" name="Rectangle 8"/>
          <p:cNvSpPr/>
          <p:nvPr/>
        </p:nvSpPr>
        <p:spPr>
          <a:xfrm>
            <a:off x="6962184" y="6335084"/>
            <a:ext cx="342383" cy="210650"/>
          </a:xfrm>
          <a:prstGeom prst="rect">
            <a:avLst/>
          </a:prstGeom>
          <a:solidFill>
            <a:srgbClr val="FF0000">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4690673" y="1820750"/>
            <a:ext cx="3916978" cy="3000223"/>
          </a:xfrm>
          <a:prstGeom prst="rect">
            <a:avLst/>
          </a:prstGeom>
        </p:spPr>
      </p:pic>
      <p:sp>
        <p:nvSpPr>
          <p:cNvPr id="2" name="标题 1"/>
          <p:cNvSpPr>
            <a:spLocks noGrp="1"/>
          </p:cNvSpPr>
          <p:nvPr>
            <p:ph type="title"/>
          </p:nvPr>
        </p:nvSpPr>
        <p:spPr/>
        <p:txBody>
          <a:bodyPr/>
          <a:lstStyle/>
          <a:p>
            <a:r>
              <a:rPr lang="zh-CN" altLang="en-US" dirty="0"/>
              <a:t>正交投影</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628650" y="1316830"/>
                <a:ext cx="7886700" cy="5058570"/>
              </a:xfrm>
            </p:spPr>
            <p:txBody>
              <a:bodyPr>
                <a:normAutofit/>
              </a:bodyPr>
              <a:lstStyle/>
              <a:p>
                <a:pPr>
                  <a:buClr>
                    <a:srgbClr val="94003F"/>
                  </a:buClr>
                </a:pPr>
                <a:r>
                  <a:rPr lang="zh-CN" altLang="en-US" sz="2400" dirty="0"/>
                  <a:t>正交投影原理</a:t>
                </a:r>
              </a:p>
              <a:p>
                <a:pPr lvl="1">
                  <a:buClr>
                    <a:schemeClr val="tx1"/>
                  </a:buClr>
                </a:pPr>
                <a:r>
                  <a:rPr lang="zh-CN" altLang="en-US" sz="1800" dirty="0"/>
                  <a:t>平行投影的特殊情况</a:t>
                </a:r>
                <a:endParaRPr lang="en-US" altLang="zh-CN" sz="1800" dirty="0"/>
              </a:p>
              <a:p>
                <a:pPr lvl="1">
                  <a:buClr>
                    <a:schemeClr val="tx1"/>
                  </a:buClr>
                </a:pPr>
                <a:r>
                  <a:rPr lang="zh-CN" altLang="en-US" sz="1800" dirty="0"/>
                  <a:t>投影方向与投影平面垂直</a:t>
                </a:r>
                <a:endParaRPr lang="en-US" altLang="zh-CN" sz="1800" dirty="0"/>
              </a:p>
              <a:p>
                <a:pPr lvl="1">
                  <a:buClr>
                    <a:schemeClr val="tx1"/>
                  </a:buClr>
                </a:pPr>
                <a:r>
                  <a:rPr lang="zh-CN" altLang="en-US" sz="1800" dirty="0"/>
                  <a:t>投影矩阵（投影平面为</a:t>
                </a:r>
                <a14:m>
                  <m:oMath xmlns:m="http://schemas.openxmlformats.org/officeDocument/2006/math">
                    <m:r>
                      <a:rPr lang="en-US" altLang="zh-CN" sz="1800" i="1" dirty="0" smtClean="0">
                        <a:latin typeface="Cambria Math" panose="02040503050406030204" charset="0"/>
                      </a:rPr>
                      <m:t>𝑧</m:t>
                    </m:r>
                    <m:r>
                      <a:rPr lang="en-US" altLang="zh-CN" sz="1800" i="1" dirty="0" smtClean="0">
                        <a:latin typeface="Cambria Math" panose="02040503050406030204" charset="0"/>
                      </a:rPr>
                      <m:t>=0</m:t>
                    </m:r>
                  </m:oMath>
                </a14:m>
                <a:r>
                  <a:rPr lang="zh-CN" altLang="en-US" sz="1800" dirty="0"/>
                  <a:t>）：</a:t>
                </a: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endParaRPr lang="en-US" altLang="zh-CN" sz="2400" dirty="0"/>
              </a:p>
              <a:p>
                <a:r>
                  <a:rPr lang="zh-CN" altLang="en-US" sz="2400" dirty="0"/>
                  <a:t>特点：</a:t>
                </a:r>
              </a:p>
              <a:p>
                <a:pPr lvl="1">
                  <a:buClr>
                    <a:schemeClr val="tx1"/>
                  </a:buClr>
                </a:pPr>
                <a:r>
                  <a:rPr lang="zh-CN" altLang="en-US" sz="1800" dirty="0"/>
                  <a:t>保持</a:t>
                </a:r>
                <a:r>
                  <a:rPr lang="en-US" altLang="zh-CN" sz="1800" dirty="0"/>
                  <a:t>x</a:t>
                </a:r>
                <a:r>
                  <a:rPr lang="zh-CN" altLang="en-US" sz="1800" dirty="0"/>
                  <a:t>，</a:t>
                </a:r>
                <a:r>
                  <a:rPr lang="en-US" altLang="zh-CN" sz="1800" dirty="0"/>
                  <a:t>y</a:t>
                </a:r>
                <a:r>
                  <a:rPr lang="zh-CN" altLang="en-US" sz="1800" dirty="0"/>
                  <a:t>方向上尺寸不变</a:t>
                </a:r>
                <a:endParaRPr lang="en-US" altLang="zh-CN" sz="1800" dirty="0"/>
              </a:p>
              <a:p>
                <a:pPr lvl="1">
                  <a:buClr>
                    <a:schemeClr val="tx1"/>
                  </a:buClr>
                </a:pPr>
                <a:r>
                  <a:rPr lang="zh-CN" altLang="en-US" sz="1800" dirty="0"/>
                  <a:t>默认观察范围是以原点为中心，变长为</a:t>
                </a:r>
                <a:r>
                  <a:rPr lang="en-US" altLang="zh-CN" sz="1800" dirty="0"/>
                  <a:t>2</a:t>
                </a:r>
                <a:r>
                  <a:rPr lang="zh-CN" altLang="en-US" sz="1800" dirty="0"/>
                  <a:t>的立方体区域</a:t>
                </a:r>
                <a:endParaRPr lang="en-US" altLang="zh-CN" sz="1800" dirty="0"/>
              </a:p>
              <a:p>
                <a:pPr lvl="1">
                  <a:buClr>
                    <a:schemeClr val="tx1"/>
                  </a:buClr>
                </a:pPr>
                <a:endParaRPr lang="zh-CN" altLang="en-US" sz="1800" dirty="0"/>
              </a:p>
              <a:p>
                <a:endParaRPr lang="zh-CN" altLang="en-US" dirty="0"/>
              </a:p>
            </p:txBody>
          </p:sp>
        </mc:Choice>
        <mc:Fallback xmlns="">
          <p:sp>
            <p:nvSpPr>
              <p:cNvPr id="3" name="内容占位符 2"/>
              <p:cNvSpPr>
                <a:spLocks noRot="1" noChangeAspect="1" noMove="1" noResize="1" noEditPoints="1" noAdjustHandles="1" noChangeArrowheads="1" noChangeShapeType="1" noTextEdit="1"/>
              </p:cNvSpPr>
              <p:nvPr>
                <p:ph idx="1"/>
              </p:nvPr>
            </p:nvSpPr>
            <p:spPr>
              <a:xfrm>
                <a:off x="628650" y="1316830"/>
                <a:ext cx="7886700" cy="5058570"/>
              </a:xfrm>
              <a:blipFill rotWithShape="1">
                <a:blip r:embed="rId3"/>
                <a:stretch>
                  <a:fillRect t="-223" b="-902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42</a:t>
            </a:fld>
            <a:endParaRPr lang="zh-CN" altLang="en-US"/>
          </a:p>
        </p:txBody>
      </p:sp>
      <p:pic>
        <p:nvPicPr>
          <p:cNvPr id="7" name="图片 6"/>
          <p:cNvPicPr>
            <a:picLocks noChangeAspect="1"/>
          </p:cNvPicPr>
          <p:nvPr/>
        </p:nvPicPr>
        <p:blipFill>
          <a:blip r:embed="rId4"/>
          <a:stretch>
            <a:fillRect/>
          </a:stretch>
        </p:blipFill>
        <p:spPr>
          <a:xfrm>
            <a:off x="1439792" y="3023657"/>
            <a:ext cx="2658679" cy="1644916"/>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正交投影函数</a:t>
            </a:r>
          </a:p>
        </p:txBody>
      </p:sp>
      <p:sp>
        <p:nvSpPr>
          <p:cNvPr id="3" name="内容占位符 2"/>
          <p:cNvSpPr>
            <a:spLocks noGrp="1"/>
          </p:cNvSpPr>
          <p:nvPr>
            <p:ph idx="1"/>
          </p:nvPr>
        </p:nvSpPr>
        <p:spPr/>
        <p:txBody>
          <a:bodyPr/>
          <a:lstStyle/>
          <a:p>
            <a:pPr>
              <a:buClr>
                <a:srgbClr val="94003F"/>
              </a:buClr>
            </a:pPr>
            <a:r>
              <a:rPr lang="zh-CN" altLang="en-US" sz="2400" dirty="0"/>
              <a:t>在</a:t>
            </a:r>
            <a:r>
              <a:rPr lang="en-US" altLang="zh-CN" sz="2400" dirty="0"/>
              <a:t>OpenGL</a:t>
            </a:r>
            <a:r>
              <a:rPr lang="zh-CN" altLang="en-US" sz="2400" dirty="0"/>
              <a:t>中采用下述函数指定正交投影：</a:t>
            </a:r>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r>
              <a:rPr lang="zh-CN" altLang="en-US" sz="2400" dirty="0"/>
              <a:t>正交投影的视见体：</a:t>
            </a:r>
            <a:endParaRPr lang="en-US" altLang="zh-CN" sz="2400" dirty="0"/>
          </a:p>
          <a:p>
            <a:pPr lvl="1">
              <a:buClr>
                <a:schemeClr val="tx1"/>
              </a:buClr>
            </a:pPr>
            <a:endParaRPr lang="zh-CN" altLang="en-US" sz="1800" dirty="0"/>
          </a:p>
          <a:p>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43</a:t>
            </a:fld>
            <a:endParaRPr lang="zh-CN" altLang="en-US"/>
          </a:p>
        </p:txBody>
      </p:sp>
      <p:pic>
        <p:nvPicPr>
          <p:cNvPr id="7" name="图片 6"/>
          <p:cNvPicPr>
            <a:picLocks noChangeAspect="1"/>
          </p:cNvPicPr>
          <p:nvPr/>
        </p:nvPicPr>
        <p:blipFill>
          <a:blip r:embed="rId2"/>
          <a:stretch>
            <a:fillRect/>
          </a:stretch>
        </p:blipFill>
        <p:spPr>
          <a:xfrm>
            <a:off x="2041758" y="3581311"/>
            <a:ext cx="4705685" cy="2911564"/>
          </a:xfrm>
          <a:prstGeom prst="rect">
            <a:avLst/>
          </a:prstGeom>
        </p:spPr>
      </p:pic>
      <p:sp>
        <p:nvSpPr>
          <p:cNvPr id="8" name="矩形 7"/>
          <p:cNvSpPr/>
          <p:nvPr/>
        </p:nvSpPr>
        <p:spPr>
          <a:xfrm>
            <a:off x="1029727" y="1892522"/>
            <a:ext cx="6459094" cy="646331"/>
          </a:xfrm>
          <a:prstGeom prst="rect">
            <a:avLst/>
          </a:prstGeom>
          <a:solidFill>
            <a:srgbClr val="BDD7EE">
              <a:alpha val="52941"/>
            </a:srgbClr>
          </a:solidFill>
        </p:spPr>
        <p:txBody>
          <a:bodyPr wrap="square">
            <a:spAutoFit/>
          </a:bodyPr>
          <a:lstStyle/>
          <a:p>
            <a:r>
              <a:rPr lang="en-US" altLang="zh-CN" b="1" dirty="0">
                <a:solidFill>
                  <a:srgbClr val="0000FF"/>
                </a:solidFill>
                <a:latin typeface="ZztexMono-Regular"/>
              </a:rPr>
              <a:t>mat4 </a:t>
            </a:r>
            <a:r>
              <a:rPr lang="en-US" altLang="zh-CN" b="1" dirty="0">
                <a:latin typeface="ZztexMono-Regular"/>
              </a:rPr>
              <a:t>Ortho(</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dirty="0">
                <a:latin typeface="ZztexMono-Regular"/>
              </a:rPr>
              <a:t>left,</a:t>
            </a:r>
            <a:r>
              <a:rPr lang="en-US" altLang="zh-CN" b="1"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dirty="0">
                <a:latin typeface="ZztexMono-Regular"/>
              </a:rPr>
              <a:t>right,</a:t>
            </a:r>
            <a:r>
              <a:rPr lang="en-US" altLang="zh-CN" b="1" dirty="0">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dirty="0">
                <a:latin typeface="ZztexMono-Regular"/>
              </a:rPr>
              <a:t>bottom,</a:t>
            </a:r>
            <a:r>
              <a:rPr lang="en-US" altLang="zh-CN" b="1" dirty="0">
                <a:solidFill>
                  <a:srgbClr val="0000FF"/>
                </a:solidFill>
                <a:latin typeface="ZztexMono-Regular"/>
              </a:rPr>
              <a:t>     </a:t>
            </a:r>
          </a:p>
          <a:p>
            <a:r>
              <a:rPr lang="en-US" altLang="zh-CN" b="1" dirty="0">
                <a:solidFill>
                  <a:srgbClr val="0000FF"/>
                </a:solidFill>
                <a:latin typeface="ZztexMono-Regular"/>
              </a:rPr>
              <a:t>           </a:t>
            </a:r>
            <a:r>
              <a:rPr lang="zh-CN" altLang="en-US" b="1"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dirty="0">
                <a:latin typeface="ZztexMono-Regular"/>
              </a:rPr>
              <a:t>top,</a:t>
            </a:r>
            <a:r>
              <a:rPr lang="zh-CN" altLang="en-US" dirty="0">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dirty="0">
                <a:latin typeface="ZztexMono-Regular"/>
              </a:rPr>
              <a:t>near,</a:t>
            </a:r>
            <a:r>
              <a:rPr lang="en-US" altLang="zh-CN" dirty="0">
                <a:solidFill>
                  <a:srgbClr val="0000FF"/>
                </a:solidFill>
                <a:latin typeface="ZztexMono-Regular"/>
              </a:rPr>
              <a:t> </a:t>
            </a:r>
            <a:r>
              <a:rPr lang="zh-CN" altLang="en-US"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dirty="0">
                <a:latin typeface="ZztexMono-Regular"/>
              </a:rPr>
              <a:t>far)</a:t>
            </a:r>
            <a:endParaRPr lang="zh-CN" alt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正交投影矩阵</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endParaRPr lang="en-US" altLang="zh-CN" sz="2400" dirty="0"/>
              </a:p>
              <a:p>
                <a:r>
                  <a:rPr lang="zh-CN" altLang="en-US" sz="2400" dirty="0"/>
                  <a:t>正交矩阵的构造：</a:t>
                </a:r>
                <a:endParaRPr lang="en-US" altLang="zh-CN" sz="2400" dirty="0"/>
              </a:p>
              <a:p>
                <a:endParaRPr lang="en-US" altLang="zh-CN" sz="2400" dirty="0"/>
              </a:p>
              <a:p>
                <a:pPr lvl="1">
                  <a:buClr>
                    <a:schemeClr val="tx1"/>
                  </a:buClr>
                </a:pPr>
                <a:endParaRPr lang="en-US" altLang="zh-CN" sz="1800" dirty="0"/>
              </a:p>
              <a:p>
                <a:pPr lvl="1">
                  <a:buClr>
                    <a:schemeClr val="tx1"/>
                  </a:buClr>
                </a:pPr>
                <a:r>
                  <a:rPr lang="zh-CN" altLang="en-US" sz="1800" dirty="0"/>
                  <a:t>把中心移到原点，对应的变换为：</a:t>
                </a:r>
                <a:endParaRPr lang="en-US" altLang="zh-CN" sz="1800" dirty="0"/>
              </a:p>
              <a:p>
                <a:pPr marL="457200" lvl="1" indent="0">
                  <a:buClr>
                    <a:schemeClr val="tx1"/>
                  </a:buClr>
                  <a:buNone/>
                </a:pPr>
                <a14:m>
                  <m:oMathPara xmlns:m="http://schemas.openxmlformats.org/officeDocument/2006/math">
                    <m:oMathParaPr>
                      <m:jc m:val="left"/>
                    </m:oMathParaPr>
                    <m:oMath xmlns:m="http://schemas.openxmlformats.org/officeDocument/2006/math">
                      <m:r>
                        <a:rPr lang="en-US" altLang="zh-CN" sz="1800" b="1" i="1" dirty="0">
                          <a:latin typeface="Cambria Math" panose="02040503050406030204" charset="0"/>
                        </a:rPr>
                        <m:t>	</m:t>
                      </m:r>
                      <m:r>
                        <a:rPr lang="en-US" altLang="zh-CN" sz="1800" b="1" i="1" dirty="0" smtClean="0">
                          <a:latin typeface="Cambria Math" panose="02040503050406030204" charset="0"/>
                        </a:rPr>
                        <m:t>𝑻</m:t>
                      </m:r>
                      <m:r>
                        <a:rPr lang="en-US" altLang="zh-CN" sz="1800" i="1" dirty="0" smtClean="0">
                          <a:latin typeface="Cambria Math" panose="02040503050406030204" charset="0"/>
                        </a:rPr>
                        <m:t>(−</m:t>
                      </m:r>
                      <m:f>
                        <m:fPr>
                          <m:ctrlPr>
                            <a:rPr lang="en-US" altLang="zh-CN" sz="1800" b="1" i="1" dirty="0" smtClean="0">
                              <a:latin typeface="Cambria Math" panose="02040503050406030204" pitchFamily="18" charset="0"/>
                            </a:rPr>
                          </m:ctrlPr>
                        </m:fPr>
                        <m:num>
                          <m:r>
                            <a:rPr lang="en-US" altLang="zh-CN" sz="1800" i="1" dirty="0" smtClean="0">
                              <a:latin typeface="Cambria Math" panose="02040503050406030204" charset="0"/>
                            </a:rPr>
                            <m:t>𝑙𝑒𝑓𝑡</m:t>
                          </m:r>
                          <m:r>
                            <a:rPr lang="en-US" altLang="zh-CN" sz="1800" i="1" dirty="0" smtClean="0">
                              <a:latin typeface="Cambria Math" panose="02040503050406030204" charset="0"/>
                            </a:rPr>
                            <m:t>+</m:t>
                          </m:r>
                          <m:r>
                            <a:rPr lang="en-US" altLang="zh-CN" sz="1800" i="1" dirty="0" smtClean="0">
                              <a:latin typeface="Cambria Math" panose="02040503050406030204" charset="0"/>
                            </a:rPr>
                            <m:t>𝑟𝑖𝑔h𝑡</m:t>
                          </m:r>
                        </m:num>
                        <m:den>
                          <m:r>
                            <a:rPr lang="en-US" altLang="zh-CN" sz="1800" i="1" dirty="0" smtClean="0">
                              <a:latin typeface="Cambria Math" panose="02040503050406030204" charset="0"/>
                            </a:rPr>
                            <m:t>2</m:t>
                          </m:r>
                        </m:den>
                      </m:f>
                      <m:r>
                        <a:rPr lang="en-US" altLang="zh-CN" sz="1800" i="1" dirty="0" smtClean="0">
                          <a:latin typeface="Cambria Math" panose="02040503050406030204" charset="0"/>
                        </a:rPr>
                        <m:t>, −</m:t>
                      </m:r>
                      <m:f>
                        <m:fPr>
                          <m:ctrlPr>
                            <a:rPr lang="en-US" altLang="zh-CN" sz="1800" i="1" dirty="0" smtClean="0">
                              <a:latin typeface="Cambria Math" panose="02040503050406030204" pitchFamily="18" charset="0"/>
                            </a:rPr>
                          </m:ctrlPr>
                        </m:fPr>
                        <m:num>
                          <m:r>
                            <a:rPr lang="en-US" altLang="zh-CN" sz="1800" i="1" dirty="0" smtClean="0">
                              <a:latin typeface="Cambria Math" panose="02040503050406030204" charset="0"/>
                            </a:rPr>
                            <m:t>𝑏𝑜𝑡𝑡𝑜𝑚</m:t>
                          </m:r>
                          <m:r>
                            <a:rPr lang="en-US" altLang="zh-CN" sz="1800" i="1" dirty="0" smtClean="0">
                              <a:latin typeface="Cambria Math" panose="02040503050406030204" charset="0"/>
                            </a:rPr>
                            <m:t>+</m:t>
                          </m:r>
                          <m:r>
                            <a:rPr lang="en-US" altLang="zh-CN" sz="1800" i="1" dirty="0" smtClean="0">
                              <a:latin typeface="Cambria Math" panose="02040503050406030204" charset="0"/>
                            </a:rPr>
                            <m:t>𝑡𝑜𝑝</m:t>
                          </m:r>
                        </m:num>
                        <m:den>
                          <m:r>
                            <a:rPr lang="en-US" altLang="zh-CN" sz="1800" i="1" dirty="0" smtClean="0">
                              <a:latin typeface="Cambria Math" panose="02040503050406030204" charset="0"/>
                            </a:rPr>
                            <m:t>2</m:t>
                          </m:r>
                        </m:den>
                      </m:f>
                      <m:r>
                        <a:rPr lang="en-US" altLang="zh-CN" sz="1800" i="1" dirty="0" smtClean="0">
                          <a:latin typeface="Cambria Math" panose="02040503050406030204" charset="0"/>
                        </a:rPr>
                        <m:t>,</m:t>
                      </m:r>
                      <m:f>
                        <m:fPr>
                          <m:ctrlPr>
                            <a:rPr lang="en-US" altLang="zh-CN" sz="1800" i="1" dirty="0" smtClean="0">
                              <a:latin typeface="Cambria Math" panose="02040503050406030204" pitchFamily="18" charset="0"/>
                            </a:rPr>
                          </m:ctrlPr>
                        </m:fPr>
                        <m:num>
                          <m:r>
                            <a:rPr lang="en-US" altLang="zh-CN" sz="1800" i="1" dirty="0" smtClean="0">
                              <a:latin typeface="Cambria Math" panose="02040503050406030204" charset="0"/>
                            </a:rPr>
                            <m:t>𝑛𝑒𝑎𝑟</m:t>
                          </m:r>
                          <m:r>
                            <a:rPr lang="en-US" altLang="zh-CN" sz="1800" i="1" dirty="0" smtClean="0">
                              <a:latin typeface="Cambria Math" panose="02040503050406030204" charset="0"/>
                            </a:rPr>
                            <m:t>+</m:t>
                          </m:r>
                          <m:r>
                            <a:rPr lang="en-US" altLang="zh-CN" sz="1800" i="1" dirty="0" smtClean="0">
                              <a:latin typeface="Cambria Math" panose="02040503050406030204" charset="0"/>
                            </a:rPr>
                            <m:t>𝑓𝑎𝑟</m:t>
                          </m:r>
                        </m:num>
                        <m:den>
                          <m:r>
                            <a:rPr lang="en-US" altLang="zh-CN" sz="1800" i="1" dirty="0" smtClean="0">
                              <a:latin typeface="Cambria Math" panose="02040503050406030204" charset="0"/>
                            </a:rPr>
                            <m:t>2</m:t>
                          </m:r>
                        </m:den>
                      </m:f>
                      <m:r>
                        <a:rPr lang="en-US" altLang="zh-CN" sz="1800" i="1" dirty="0" smtClean="0">
                          <a:latin typeface="Cambria Math" panose="02040503050406030204" charset="0"/>
                        </a:rPr>
                        <m:t>)</m:t>
                      </m:r>
                    </m:oMath>
                  </m:oMathPara>
                </a14:m>
                <a:endParaRPr lang="en-US" altLang="zh-CN" sz="1800" dirty="0"/>
              </a:p>
              <a:p>
                <a:pPr lvl="1">
                  <a:buClr>
                    <a:schemeClr val="tx1"/>
                  </a:buClr>
                </a:pPr>
                <a:r>
                  <a:rPr lang="zh-CN" altLang="en-US" sz="1800" dirty="0"/>
                  <a:t>进行放缩从而使视见体的边长为</a:t>
                </a:r>
                <a:r>
                  <a:rPr lang="en-US" altLang="zh-CN" sz="1800" dirty="0"/>
                  <a:t>2</a:t>
                </a:r>
                <a:r>
                  <a:rPr lang="zh-CN" altLang="en-US" sz="1800" dirty="0"/>
                  <a:t>：</a:t>
                </a:r>
                <a:endParaRPr lang="en-US" altLang="zh-CN" sz="1800" dirty="0"/>
              </a:p>
              <a:p>
                <a:pPr marL="457200" lvl="1" indent="0">
                  <a:buClr>
                    <a:schemeClr val="tx1"/>
                  </a:buClr>
                  <a:buNone/>
                </a:pPr>
                <a:r>
                  <a:rPr lang="en-US" altLang="zh-CN" sz="1800" dirty="0"/>
                  <a:t> </a:t>
                </a:r>
                <a14:m>
                  <m:oMath xmlns:m="http://schemas.openxmlformats.org/officeDocument/2006/math">
                    <m:r>
                      <a:rPr lang="en-US" altLang="zh-CN" sz="1800" b="1" i="1" dirty="0">
                        <a:latin typeface="Cambria Math" panose="02040503050406030204" charset="0"/>
                      </a:rPr>
                      <m:t>𝑺</m:t>
                    </m:r>
                    <m:d>
                      <m:dPr>
                        <m:ctrlPr>
                          <a:rPr lang="en-US" altLang="zh-CN" sz="1800" b="1" i="1" dirty="0">
                            <a:latin typeface="Cambria Math" panose="02040503050406030204" pitchFamily="18" charset="0"/>
                          </a:rPr>
                        </m:ctrlPr>
                      </m:dPr>
                      <m:e>
                        <m:f>
                          <m:fPr>
                            <m:ctrlPr>
                              <a:rPr lang="en-US" altLang="zh-CN" sz="1800" b="1" i="1" dirty="0">
                                <a:latin typeface="Cambria Math" panose="02040503050406030204" pitchFamily="18" charset="0"/>
                              </a:rPr>
                            </m:ctrlPr>
                          </m:fPr>
                          <m:num>
                            <m:r>
                              <a:rPr lang="en-US" altLang="zh-CN" sz="1800" b="1" i="1" dirty="0">
                                <a:latin typeface="Cambria Math" panose="02040503050406030204" charset="0"/>
                              </a:rPr>
                              <m:t>2</m:t>
                            </m:r>
                          </m:num>
                          <m:den>
                            <m:r>
                              <a:rPr lang="en-US" altLang="zh-CN" sz="1800" b="1" i="1" dirty="0">
                                <a:latin typeface="Cambria Math" panose="02040503050406030204" charset="0"/>
                              </a:rPr>
                              <m:t>𝑟𝑖𝑔h𝑡</m:t>
                            </m:r>
                            <m:r>
                              <a:rPr lang="en-US" altLang="zh-CN" sz="1800" b="1" i="1" dirty="0">
                                <a:latin typeface="Cambria Math" panose="02040503050406030204" charset="0"/>
                              </a:rPr>
                              <m:t>−</m:t>
                            </m:r>
                            <m:r>
                              <a:rPr lang="en-US" altLang="zh-CN" sz="1800" b="1" i="1" dirty="0">
                                <a:latin typeface="Cambria Math" panose="02040503050406030204" charset="0"/>
                              </a:rPr>
                              <m:t>𝑙𝑒𝑓𝑡</m:t>
                            </m:r>
                          </m:den>
                        </m:f>
                        <m:r>
                          <a:rPr lang="en-US" altLang="zh-CN" sz="1800" b="1" i="1" dirty="0">
                            <a:latin typeface="Cambria Math" panose="02040503050406030204" charset="0"/>
                          </a:rPr>
                          <m:t>,</m:t>
                        </m:r>
                        <m:f>
                          <m:fPr>
                            <m:ctrlPr>
                              <a:rPr lang="en-US" altLang="zh-CN" sz="1800" b="1" i="1" dirty="0">
                                <a:latin typeface="Cambria Math" panose="02040503050406030204" pitchFamily="18" charset="0"/>
                              </a:rPr>
                            </m:ctrlPr>
                          </m:fPr>
                          <m:num>
                            <m:r>
                              <a:rPr lang="en-US" altLang="zh-CN" sz="1800" b="1" i="1" dirty="0">
                                <a:latin typeface="Cambria Math" panose="02040503050406030204" charset="0"/>
                              </a:rPr>
                              <m:t>2</m:t>
                            </m:r>
                          </m:num>
                          <m:den>
                            <m:r>
                              <a:rPr lang="en-US" altLang="zh-CN" sz="1800" b="1" i="1" dirty="0">
                                <a:latin typeface="Cambria Math" panose="02040503050406030204" charset="0"/>
                              </a:rPr>
                              <m:t>𝑡𝑜𝑝</m:t>
                            </m:r>
                            <m:r>
                              <a:rPr lang="en-US" altLang="zh-CN" sz="1800" b="1" i="1" dirty="0">
                                <a:latin typeface="Cambria Math" panose="02040503050406030204" charset="0"/>
                              </a:rPr>
                              <m:t> − </m:t>
                            </m:r>
                            <m:r>
                              <a:rPr lang="en-US" altLang="zh-CN" sz="1800" b="1" i="1" dirty="0">
                                <a:latin typeface="Cambria Math" panose="02040503050406030204" charset="0"/>
                              </a:rPr>
                              <m:t>𝑏𝑜𝑡𝑡𝑜𝑚</m:t>
                            </m:r>
                          </m:den>
                        </m:f>
                        <m:r>
                          <a:rPr lang="en-US" altLang="zh-CN" sz="1800" b="1" i="1" dirty="0">
                            <a:latin typeface="Cambria Math" panose="02040503050406030204" charset="0"/>
                          </a:rPr>
                          <m:t>, </m:t>
                        </m:r>
                        <m:r>
                          <a:rPr lang="en-US" altLang="zh-CN" sz="1800" b="1" i="1" dirty="0" smtClean="0">
                            <a:solidFill>
                              <a:schemeClr val="tx1"/>
                            </a:solidFill>
                            <a:latin typeface="Cambria Math" panose="02040503050406030204" charset="0"/>
                          </a:rPr>
                          <m:t>−</m:t>
                        </m:r>
                        <m:f>
                          <m:fPr>
                            <m:ctrlPr>
                              <a:rPr lang="en-US" altLang="zh-CN" sz="1800" b="1" i="1" dirty="0">
                                <a:latin typeface="Cambria Math" panose="02040503050406030204" pitchFamily="18" charset="0"/>
                              </a:rPr>
                            </m:ctrlPr>
                          </m:fPr>
                          <m:num>
                            <m:r>
                              <a:rPr lang="en-US" altLang="zh-CN" sz="1800" b="1" i="1" dirty="0">
                                <a:latin typeface="Cambria Math" panose="02040503050406030204" charset="0"/>
                              </a:rPr>
                              <m:t>2</m:t>
                            </m:r>
                          </m:num>
                          <m:den>
                            <m:r>
                              <a:rPr lang="en-US" altLang="zh-CN" sz="1800" b="1" i="1" dirty="0">
                                <a:latin typeface="Cambria Math" panose="02040503050406030204" charset="0"/>
                              </a:rPr>
                              <m:t>𝑓𝑎𝑟</m:t>
                            </m:r>
                            <m:r>
                              <a:rPr lang="en-US" altLang="zh-CN" sz="1800" b="1" i="1" dirty="0">
                                <a:latin typeface="Cambria Math" panose="02040503050406030204" charset="0"/>
                              </a:rPr>
                              <m:t>−</m:t>
                            </m:r>
                            <m:r>
                              <a:rPr lang="en-US" altLang="zh-CN" sz="1800" b="1" i="1" dirty="0">
                                <a:latin typeface="Cambria Math" panose="02040503050406030204" charset="0"/>
                              </a:rPr>
                              <m:t>𝑛𝑒𝑎𝑟</m:t>
                            </m:r>
                          </m:den>
                        </m:f>
                      </m:e>
                    </m:d>
                  </m:oMath>
                </a14:m>
                <a:endParaRPr lang="en-US" altLang="zh-CN" sz="1800" b="1" i="1" dirty="0">
                  <a:latin typeface="Cambria Math" panose="02040503050406030204" charset="0"/>
                </a:endParaRPr>
              </a:p>
              <a:p>
                <a:pPr marL="457200" lvl="1" indent="0">
                  <a:buClr>
                    <a:schemeClr val="tx1"/>
                  </a:buClr>
                  <a:buNone/>
                </a:pPr>
                <a:endParaRPr lang="en-US" altLang="zh-CN" sz="1800" dirty="0"/>
              </a:p>
              <a:p>
                <a:pPr lvl="1">
                  <a:buClr>
                    <a:schemeClr val="tx1"/>
                  </a:buClr>
                </a:pPr>
                <a:endParaRPr lang="en-US" altLang="zh-CN" sz="2400" dirty="0"/>
              </a:p>
            </p:txBody>
          </p:sp>
        </mc:Choice>
        <mc:Fallback xmlns="">
          <p:sp>
            <p:nvSpPr>
              <p:cNvPr id="3" name="内容占位符 2"/>
              <p:cNvSpPr>
                <a:spLocks noRot="1" noChangeAspect="1" noMove="1" noResize="1" noEditPoints="1" noAdjustHandles="1" noChangeArrowheads="1" noChangeShapeType="1" noTextEdit="1"/>
              </p:cNvSpPr>
              <p:nvPr>
                <p:ph idx="1"/>
              </p:nvPr>
            </p:nvSpPr>
            <p:spPr>
              <a:blipFill rotWithShape="1">
                <a:blip r:embed="rId2"/>
                <a:stretch>
                  <a:fillRect t="-259" b="4"/>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44</a:t>
            </a:fld>
            <a:endParaRPr lang="zh-CN" altLang="en-US"/>
          </a:p>
        </p:txBody>
      </p:sp>
      <p:sp>
        <p:nvSpPr>
          <p:cNvPr id="7" name="矩形 6"/>
          <p:cNvSpPr/>
          <p:nvPr/>
        </p:nvSpPr>
        <p:spPr>
          <a:xfrm>
            <a:off x="1002591" y="1197679"/>
            <a:ext cx="4941009" cy="369332"/>
          </a:xfrm>
          <a:prstGeom prst="rect">
            <a:avLst/>
          </a:prstGeom>
          <a:solidFill>
            <a:srgbClr val="BDD7EE">
              <a:alpha val="52941"/>
            </a:srgbClr>
          </a:solidFill>
        </p:spPr>
        <p:txBody>
          <a:bodyPr wrap="square">
            <a:spAutoFit/>
          </a:bodyPr>
          <a:lstStyle/>
          <a:p>
            <a:r>
              <a:rPr lang="en-US" altLang="zh-CN" b="1" dirty="0">
                <a:solidFill>
                  <a:srgbClr val="0000FF"/>
                </a:solidFill>
                <a:latin typeface="ZztexMono-Regular"/>
              </a:rPr>
              <a:t>mat4 </a:t>
            </a:r>
            <a:r>
              <a:rPr lang="en-US" altLang="zh-CN" b="1" dirty="0">
                <a:latin typeface="ZztexMono-Regular"/>
              </a:rPr>
              <a:t>N = Ortho</a:t>
            </a:r>
            <a:r>
              <a:rPr lang="en-US" altLang="zh-CN" dirty="0">
                <a:latin typeface="ZztexMono-Regular"/>
              </a:rPr>
              <a:t>(left, right, bottom, top, near, far);</a:t>
            </a:r>
            <a:endParaRPr lang="zh-CN" altLang="en-US" dirty="0"/>
          </a:p>
        </p:txBody>
      </p:sp>
      <p:pic>
        <p:nvPicPr>
          <p:cNvPr id="8" name="图片 7"/>
          <p:cNvPicPr>
            <a:picLocks noChangeAspect="1"/>
          </p:cNvPicPr>
          <p:nvPr/>
        </p:nvPicPr>
        <p:blipFill>
          <a:blip r:embed="rId3"/>
          <a:stretch>
            <a:fillRect/>
          </a:stretch>
        </p:blipFill>
        <p:spPr>
          <a:xfrm>
            <a:off x="4847232" y="1559098"/>
            <a:ext cx="3756025" cy="1392188"/>
          </a:xfrm>
          <a:prstGeom prst="rect">
            <a:avLst/>
          </a:prstGeom>
        </p:spPr>
      </p:pic>
      <p:pic>
        <p:nvPicPr>
          <p:cNvPr id="9" name="图片 8"/>
          <p:cNvPicPr>
            <a:picLocks noChangeAspect="1"/>
          </p:cNvPicPr>
          <p:nvPr/>
        </p:nvPicPr>
        <p:blipFill>
          <a:blip r:embed="rId4"/>
          <a:stretch>
            <a:fillRect/>
          </a:stretch>
        </p:blipFill>
        <p:spPr>
          <a:xfrm>
            <a:off x="5380389" y="3967246"/>
            <a:ext cx="3057929" cy="506441"/>
          </a:xfrm>
          <a:prstGeom prst="rect">
            <a:avLst/>
          </a:prstGeom>
        </p:spPr>
      </p:pic>
      <p:pic>
        <p:nvPicPr>
          <p:cNvPr id="10" name="图片 9"/>
          <p:cNvPicPr>
            <a:picLocks noChangeAspect="1"/>
          </p:cNvPicPr>
          <p:nvPr/>
        </p:nvPicPr>
        <p:blipFill>
          <a:blip r:embed="rId5"/>
          <a:stretch>
            <a:fillRect/>
          </a:stretch>
        </p:blipFill>
        <p:spPr>
          <a:xfrm>
            <a:off x="2040042" y="4896192"/>
            <a:ext cx="4798275" cy="1543954"/>
          </a:xfrm>
          <a:prstGeom prst="rect">
            <a:avLst/>
          </a:prstGeom>
        </p:spPr>
      </p:pic>
      <p:sp>
        <p:nvSpPr>
          <p:cNvPr id="5" name="Rectangle 4"/>
          <p:cNvSpPr/>
          <p:nvPr/>
        </p:nvSpPr>
        <p:spPr>
          <a:xfrm>
            <a:off x="4643233" y="5865620"/>
            <a:ext cx="203999" cy="129159"/>
          </a:xfrm>
          <a:prstGeom prst="rect">
            <a:avLst/>
          </a:prstGeom>
          <a:solidFill>
            <a:srgbClr val="FF0000">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5760706" y="5865619"/>
            <a:ext cx="182894" cy="129160"/>
          </a:xfrm>
          <a:prstGeom prst="rect">
            <a:avLst/>
          </a:prstGeom>
          <a:solidFill>
            <a:srgbClr val="FF0000">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3723828" y="4186694"/>
            <a:ext cx="199585" cy="130124"/>
          </a:xfrm>
          <a:prstGeom prst="rect">
            <a:avLst/>
          </a:prstGeom>
          <a:solidFill>
            <a:srgbClr val="FF0000">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2"/>
          <a:stretch>
            <a:fillRect/>
          </a:stretch>
        </p:blipFill>
        <p:spPr>
          <a:xfrm>
            <a:off x="4368921" y="905208"/>
            <a:ext cx="4775079" cy="2567054"/>
          </a:xfrm>
          <a:prstGeom prst="rect">
            <a:avLst/>
          </a:prstGeom>
        </p:spPr>
      </p:pic>
      <p:pic>
        <p:nvPicPr>
          <p:cNvPr id="8" name="图片 7"/>
          <p:cNvPicPr>
            <a:picLocks noChangeAspect="1"/>
          </p:cNvPicPr>
          <p:nvPr/>
        </p:nvPicPr>
        <p:blipFill>
          <a:blip r:embed="rId3"/>
          <a:stretch>
            <a:fillRect/>
          </a:stretch>
        </p:blipFill>
        <p:spPr>
          <a:xfrm>
            <a:off x="4186981" y="3434628"/>
            <a:ext cx="4171455" cy="3181546"/>
          </a:xfrm>
          <a:prstGeom prst="rect">
            <a:avLst/>
          </a:prstGeom>
        </p:spPr>
      </p:pic>
      <p:sp>
        <p:nvSpPr>
          <p:cNvPr id="2" name="标题 1"/>
          <p:cNvSpPr>
            <a:spLocks noGrp="1"/>
          </p:cNvSpPr>
          <p:nvPr>
            <p:ph type="title"/>
          </p:nvPr>
        </p:nvSpPr>
        <p:spPr/>
        <p:txBody>
          <a:bodyPr/>
          <a:lstStyle/>
          <a:p>
            <a:r>
              <a:rPr lang="zh-CN" altLang="en-US" dirty="0"/>
              <a:t>透视投影函数</a:t>
            </a:r>
          </a:p>
        </p:txBody>
      </p:sp>
      <p:sp>
        <p:nvSpPr>
          <p:cNvPr id="3" name="内容占位符 2"/>
          <p:cNvSpPr>
            <a:spLocks noGrp="1"/>
          </p:cNvSpPr>
          <p:nvPr>
            <p:ph idx="1"/>
          </p:nvPr>
        </p:nvSpPr>
        <p:spPr/>
        <p:txBody>
          <a:bodyPr>
            <a:normAutofit/>
          </a:bodyPr>
          <a:lstStyle/>
          <a:p>
            <a:r>
              <a:rPr lang="zh-CN" altLang="en-US" dirty="0"/>
              <a:t>视见体函数</a:t>
            </a:r>
            <a:endParaRPr lang="en-US" altLang="zh-CN" dirty="0"/>
          </a:p>
          <a:p>
            <a:endParaRPr lang="en-US" altLang="zh-CN" dirty="0"/>
          </a:p>
          <a:p>
            <a:endParaRPr lang="en-US" altLang="zh-CN" dirty="0"/>
          </a:p>
          <a:p>
            <a:endParaRPr lang="en-US" altLang="zh-CN" dirty="0"/>
          </a:p>
          <a:p>
            <a:endParaRPr lang="en-US" altLang="zh-CN" dirty="0"/>
          </a:p>
          <a:p>
            <a:endParaRPr lang="en-US" altLang="zh-CN" dirty="0"/>
          </a:p>
          <a:p>
            <a:r>
              <a:rPr lang="zh-CN" altLang="en-US" dirty="0"/>
              <a:t>透视函数：</a:t>
            </a:r>
            <a:r>
              <a:rPr lang="en-US" altLang="zh-CN" dirty="0"/>
              <a:t>  </a:t>
            </a:r>
          </a:p>
          <a:p>
            <a:endParaRPr lang="en-US" altLang="zh-CN" dirty="0"/>
          </a:p>
          <a:p>
            <a:pPr marL="457200" lvl="1" indent="0">
              <a:buClr>
                <a:schemeClr val="tx1"/>
              </a:buClr>
              <a:buNone/>
            </a:pPr>
            <a:endParaRPr lang="en-US" altLang="zh-CN" sz="1800" dirty="0"/>
          </a:p>
          <a:p>
            <a:pPr lvl="1">
              <a:buClr>
                <a:schemeClr val="tx1"/>
              </a:buClr>
            </a:pPr>
            <a:endParaRPr lang="en-US" altLang="zh-CN" sz="1800" dirty="0"/>
          </a:p>
          <a:p>
            <a:endParaRPr lang="zh-CN" altLang="en-US" dirty="0"/>
          </a:p>
          <a:p>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45</a:t>
            </a:fld>
            <a:endParaRPr lang="zh-CN" altLang="en-US"/>
          </a:p>
        </p:txBody>
      </p:sp>
      <p:sp>
        <p:nvSpPr>
          <p:cNvPr id="5" name="矩形 4"/>
          <p:cNvSpPr/>
          <p:nvPr/>
        </p:nvSpPr>
        <p:spPr>
          <a:xfrm>
            <a:off x="764750" y="1934757"/>
            <a:ext cx="3506047" cy="1754326"/>
          </a:xfrm>
          <a:prstGeom prst="rect">
            <a:avLst/>
          </a:prstGeom>
          <a:solidFill>
            <a:srgbClr val="BDD7EE">
              <a:alpha val="52941"/>
            </a:srgbClr>
          </a:solidFill>
        </p:spPr>
        <p:txBody>
          <a:bodyPr wrap="square">
            <a:spAutoFit/>
          </a:bodyPr>
          <a:lstStyle/>
          <a:p>
            <a:r>
              <a:rPr lang="en-US" altLang="zh-CN" b="1" dirty="0">
                <a:solidFill>
                  <a:srgbClr val="0000FF"/>
                </a:solidFill>
                <a:latin typeface="ZztexMono-Regular"/>
              </a:rPr>
              <a:t>mat4 </a:t>
            </a:r>
            <a:r>
              <a:rPr lang="en-US" altLang="zh-CN" b="1" dirty="0">
                <a:latin typeface="ZztexMono-Regular"/>
              </a:rPr>
              <a:t>Frustum(</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left,</a:t>
            </a:r>
            <a:r>
              <a:rPr lang="en-US" altLang="zh-CN" b="1" dirty="0">
                <a:solidFill>
                  <a:srgbClr val="0000FF"/>
                </a:solidFill>
                <a:latin typeface="ZztexMono-Regular"/>
              </a:rPr>
              <a:t> </a:t>
            </a:r>
          </a:p>
          <a:p>
            <a:pPr lvl="3"/>
            <a:r>
              <a:rPr lang="en-US" altLang="zh-CN" b="1"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right,</a:t>
            </a:r>
            <a:r>
              <a:rPr lang="en-US" altLang="zh-CN" b="1" dirty="0">
                <a:solidFill>
                  <a:srgbClr val="0000FF"/>
                </a:solidFill>
                <a:latin typeface="ZztexMono-Regular"/>
              </a:rPr>
              <a:t> </a:t>
            </a:r>
          </a:p>
          <a:p>
            <a:pPr lvl="3"/>
            <a:r>
              <a:rPr lang="en-US" altLang="zh-CN" b="1"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bottom,     </a:t>
            </a:r>
          </a:p>
          <a:p>
            <a:r>
              <a:rPr lang="en-US" altLang="zh-CN" b="1" dirty="0">
                <a:solidFill>
                  <a:srgbClr val="0000FF"/>
                </a:solidFill>
                <a:latin typeface="ZztexMono-Regular"/>
              </a:rPr>
              <a:t>             	</a:t>
            </a:r>
            <a:r>
              <a:rPr lang="zh-CN" altLang="en-US" b="1"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top,</a:t>
            </a:r>
          </a:p>
          <a:p>
            <a:pPr lvl="3"/>
            <a:r>
              <a:rPr lang="en-US" altLang="zh-CN" b="1"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near,</a:t>
            </a:r>
            <a:r>
              <a:rPr lang="en-US" altLang="zh-CN" b="1" dirty="0">
                <a:solidFill>
                  <a:srgbClr val="0000FF"/>
                </a:solidFill>
                <a:latin typeface="ZztexMono-Regular"/>
              </a:rPr>
              <a:t> </a:t>
            </a:r>
          </a:p>
          <a:p>
            <a:pPr lvl="3"/>
            <a:r>
              <a:rPr lang="en-US" altLang="zh-CN" b="1"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far);</a:t>
            </a:r>
            <a:endParaRPr lang="zh-CN" altLang="en-US" dirty="0"/>
          </a:p>
        </p:txBody>
      </p:sp>
      <p:sp>
        <p:nvSpPr>
          <p:cNvPr id="7" name="矩形 6"/>
          <p:cNvSpPr/>
          <p:nvPr/>
        </p:nvSpPr>
        <p:spPr>
          <a:xfrm>
            <a:off x="764750" y="4941842"/>
            <a:ext cx="3929798" cy="1200329"/>
          </a:xfrm>
          <a:prstGeom prst="rect">
            <a:avLst/>
          </a:prstGeom>
          <a:solidFill>
            <a:srgbClr val="BDD7EE">
              <a:alpha val="52941"/>
            </a:srgbClr>
          </a:solidFill>
        </p:spPr>
        <p:txBody>
          <a:bodyPr wrap="square">
            <a:spAutoFit/>
          </a:bodyPr>
          <a:lstStyle/>
          <a:p>
            <a:r>
              <a:rPr lang="en-US" altLang="zh-CN" b="1" dirty="0">
                <a:solidFill>
                  <a:srgbClr val="0000FF"/>
                </a:solidFill>
                <a:latin typeface="ZztexMono-Regular"/>
              </a:rPr>
              <a:t>mat4 </a:t>
            </a:r>
            <a:r>
              <a:rPr lang="en-US" altLang="zh-CN" b="1" dirty="0">
                <a:latin typeface="ZztexMono-Regular"/>
              </a:rPr>
              <a:t>Perspective(</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err="1">
                <a:latin typeface="ZztexMono-Regular"/>
              </a:rPr>
              <a:t>fovy</a:t>
            </a:r>
            <a:r>
              <a:rPr lang="en-US" altLang="zh-CN" b="1" dirty="0">
                <a:latin typeface="ZztexMono-Regular"/>
              </a:rPr>
              <a:t>,</a:t>
            </a:r>
            <a:r>
              <a:rPr lang="en-US" altLang="zh-CN" b="1" dirty="0">
                <a:solidFill>
                  <a:srgbClr val="0000FF"/>
                </a:solidFill>
                <a:latin typeface="ZztexMono-Regular"/>
              </a:rPr>
              <a:t> 		</a:t>
            </a:r>
            <a:r>
              <a:rPr lang="zh-CN" altLang="en-US" b="1"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aspect,</a:t>
            </a:r>
            <a:r>
              <a:rPr lang="en-US" altLang="zh-CN" b="1" dirty="0">
                <a:solidFill>
                  <a:srgbClr val="0000FF"/>
                </a:solidFill>
                <a:latin typeface="ZztexMono-Regular"/>
              </a:rPr>
              <a:t> </a:t>
            </a:r>
            <a:r>
              <a:rPr lang="zh-CN" altLang="en-US" b="1" dirty="0">
                <a:solidFill>
                  <a:srgbClr val="0000FF"/>
                </a:solidFill>
                <a:latin typeface="ZztexMono-Regular"/>
              </a:rPr>
              <a:t> </a:t>
            </a:r>
            <a:r>
              <a:rPr lang="en-US" altLang="zh-CN" b="1" dirty="0">
                <a:solidFill>
                  <a:srgbClr val="0000FF"/>
                </a:solidFill>
                <a:latin typeface="ZztexMono-Regular"/>
              </a:rPr>
              <a:t>	</a:t>
            </a:r>
            <a:r>
              <a:rPr lang="zh-CN" altLang="en-US" b="1" dirty="0">
                <a:solidFill>
                  <a:srgbClr val="0000FF"/>
                </a:solidFill>
                <a:latin typeface="ZztexMono-Regular"/>
              </a:rPr>
              <a:t>  </a:t>
            </a:r>
            <a:r>
              <a:rPr lang="en-US" altLang="zh-CN" b="1" dirty="0">
                <a:solidFill>
                  <a:srgbClr val="0000FF"/>
                </a:solidFill>
                <a:latin typeface="ZztexMono-Regular"/>
              </a:rPr>
              <a:t>	</a:t>
            </a:r>
            <a:r>
              <a:rPr lang="zh-CN" altLang="en-US" b="1"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near, 		</a:t>
            </a:r>
            <a:r>
              <a:rPr lang="zh-CN" altLang="en-US" b="1" dirty="0">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far);</a:t>
            </a:r>
            <a:endParaRPr lang="zh-CN" altLang="en-US" dirty="0"/>
          </a:p>
        </p:txBody>
      </p:sp>
      <p:sp>
        <p:nvSpPr>
          <p:cNvPr id="10" name="TextBox 9"/>
          <p:cNvSpPr txBox="1"/>
          <p:nvPr/>
        </p:nvSpPr>
        <p:spPr>
          <a:xfrm>
            <a:off x="7202170" y="4828680"/>
            <a:ext cx="1980029" cy="307777"/>
          </a:xfrm>
          <a:prstGeom prst="rect">
            <a:avLst/>
          </a:prstGeom>
          <a:noFill/>
        </p:spPr>
        <p:txBody>
          <a:bodyPr wrap="none" rtlCol="0">
            <a:spAutoFit/>
          </a:bodyPr>
          <a:lstStyle/>
          <a:p>
            <a:r>
              <a:rPr lang="zh-CN" altLang="en-US" sz="1400" dirty="0"/>
              <a:t>（顶面和地面的夹角）</a:t>
            </a:r>
            <a:endParaRPr lang="en-US" sz="1400" dirty="0"/>
          </a:p>
        </p:txBody>
      </p:sp>
      <p:sp>
        <p:nvSpPr>
          <p:cNvPr id="11" name="TextBox 10"/>
          <p:cNvSpPr txBox="1"/>
          <p:nvPr/>
        </p:nvSpPr>
        <p:spPr>
          <a:xfrm>
            <a:off x="5340923" y="5807274"/>
            <a:ext cx="3722494" cy="307777"/>
          </a:xfrm>
          <a:prstGeom prst="rect">
            <a:avLst/>
          </a:prstGeom>
          <a:noFill/>
        </p:spPr>
        <p:txBody>
          <a:bodyPr wrap="none" rtlCol="0">
            <a:spAutoFit/>
          </a:bodyPr>
          <a:lstStyle/>
          <a:p>
            <a:r>
              <a:rPr lang="en-US" altLang="zh-CN" sz="1400" dirty="0"/>
              <a:t>aspect:</a:t>
            </a:r>
            <a:r>
              <a:rPr lang="zh-CN" altLang="en-US" sz="1400" dirty="0"/>
              <a:t> 沿</a:t>
            </a:r>
            <a:r>
              <a:rPr lang="en-US" altLang="zh-CN" sz="1400" dirty="0"/>
              <a:t>y</a:t>
            </a:r>
            <a:r>
              <a:rPr lang="zh-CN" altLang="en-US" sz="1400" dirty="0"/>
              <a:t>轴方向的视角和投影平面的宽高比</a:t>
            </a:r>
            <a:endParaRPr lang="en-US" sz="14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视见体函数矩阵</a:t>
            </a:r>
          </a:p>
        </p:txBody>
      </p:sp>
      <p:sp>
        <p:nvSpPr>
          <p:cNvPr id="3" name="内容占位符 2"/>
          <p:cNvSpPr>
            <a:spLocks noGrp="1"/>
          </p:cNvSpPr>
          <p:nvPr>
            <p:ph idx="1"/>
          </p:nvPr>
        </p:nvSpPr>
        <p:spPr/>
        <p:txBody>
          <a:bodyPr/>
          <a:lstStyle/>
          <a:p>
            <a:pPr>
              <a:buClr>
                <a:srgbClr val="94003F"/>
              </a:buClr>
            </a:pPr>
            <a:r>
              <a:rPr lang="zh-CN" altLang="en-US" dirty="0"/>
              <a:t>视见体函数的矩阵</a:t>
            </a:r>
            <a:r>
              <a:rPr lang="en-US" altLang="zh-CN" dirty="0"/>
              <a:t>?</a:t>
            </a:r>
          </a:p>
          <a:p>
            <a:pPr>
              <a:buClr>
                <a:srgbClr val="94003F"/>
              </a:buClr>
            </a:pPr>
            <a:endParaRPr lang="en-US" altLang="zh-CN" sz="2400" dirty="0"/>
          </a:p>
          <a:p>
            <a:pPr marL="0" indent="0">
              <a:buClr>
                <a:srgbClr val="94003F"/>
              </a:buClr>
              <a:buNone/>
            </a:pPr>
            <a:endParaRPr lang="en-US" altLang="zh-CN" sz="2400" dirty="0"/>
          </a:p>
          <a:p>
            <a:pPr>
              <a:buClr>
                <a:srgbClr val="94003F"/>
              </a:buClr>
            </a:pPr>
            <a:endParaRPr lang="en-US" altLang="zh-CN" sz="2400" dirty="0"/>
          </a:p>
          <a:p>
            <a:pPr>
              <a:buClr>
                <a:srgbClr val="94003F"/>
              </a:buClr>
            </a:pPr>
            <a:endParaRPr lang="en-US" altLang="zh-CN" sz="24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46</a:t>
            </a:fld>
            <a:endParaRPr lang="zh-CN" altLang="en-US"/>
          </a:p>
        </p:txBody>
      </p:sp>
      <p:sp>
        <p:nvSpPr>
          <p:cNvPr id="24" name="矩形 23"/>
          <p:cNvSpPr/>
          <p:nvPr/>
        </p:nvSpPr>
        <p:spPr>
          <a:xfrm>
            <a:off x="847302" y="1907578"/>
            <a:ext cx="3506047" cy="1754326"/>
          </a:xfrm>
          <a:prstGeom prst="rect">
            <a:avLst/>
          </a:prstGeom>
          <a:solidFill>
            <a:srgbClr val="BDD7EE">
              <a:alpha val="52941"/>
            </a:srgbClr>
          </a:solidFill>
        </p:spPr>
        <p:txBody>
          <a:bodyPr wrap="square">
            <a:spAutoFit/>
          </a:bodyPr>
          <a:lstStyle/>
          <a:p>
            <a:r>
              <a:rPr lang="en-US" altLang="zh-CN" b="1" dirty="0">
                <a:solidFill>
                  <a:srgbClr val="0000FF"/>
                </a:solidFill>
                <a:latin typeface="ZztexMono-Regular"/>
              </a:rPr>
              <a:t>mat4 </a:t>
            </a:r>
            <a:r>
              <a:rPr lang="en-US" altLang="zh-CN" b="1" dirty="0">
                <a:latin typeface="ZztexMono-Regular"/>
              </a:rPr>
              <a:t>Frustum(</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left,</a:t>
            </a:r>
            <a:r>
              <a:rPr lang="en-US" altLang="zh-CN" b="1" dirty="0">
                <a:solidFill>
                  <a:srgbClr val="0000FF"/>
                </a:solidFill>
                <a:latin typeface="ZztexMono-Regular"/>
              </a:rPr>
              <a:t> </a:t>
            </a:r>
          </a:p>
          <a:p>
            <a:pPr lvl="3"/>
            <a:r>
              <a:rPr lang="en-US" altLang="zh-CN" b="1"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right,</a:t>
            </a:r>
            <a:r>
              <a:rPr lang="en-US" altLang="zh-CN" b="1" dirty="0">
                <a:solidFill>
                  <a:srgbClr val="0000FF"/>
                </a:solidFill>
                <a:latin typeface="ZztexMono-Regular"/>
              </a:rPr>
              <a:t> </a:t>
            </a:r>
          </a:p>
          <a:p>
            <a:pPr lvl="3"/>
            <a:r>
              <a:rPr lang="en-US" altLang="zh-CN" b="1"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bottom,     </a:t>
            </a:r>
          </a:p>
          <a:p>
            <a:r>
              <a:rPr lang="en-US" altLang="zh-CN" b="1" dirty="0">
                <a:solidFill>
                  <a:srgbClr val="0000FF"/>
                </a:solidFill>
                <a:latin typeface="ZztexMono-Regular"/>
              </a:rPr>
              <a:t>            </a:t>
            </a:r>
            <a:r>
              <a:rPr lang="zh-CN" altLang="en-US" b="1" dirty="0">
                <a:solidFill>
                  <a:srgbClr val="0000FF"/>
                </a:solidFill>
                <a:latin typeface="ZztexMono-Regular"/>
              </a:rPr>
              <a:t>            </a:t>
            </a:r>
            <a:r>
              <a:rPr lang="en-US" altLang="zh-CN" b="1" dirty="0">
                <a:solidFill>
                  <a:srgbClr val="0000FF"/>
                </a:solidFill>
                <a:latin typeface="ZztexMono-Regular"/>
              </a:rPr>
              <a:t> </a:t>
            </a:r>
            <a:r>
              <a:rPr lang="zh-CN" altLang="en-US" b="1"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top,</a:t>
            </a:r>
          </a:p>
          <a:p>
            <a:pPr lvl="3"/>
            <a:r>
              <a:rPr lang="en-US" altLang="zh-CN" b="1"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near,</a:t>
            </a:r>
            <a:r>
              <a:rPr lang="en-US" altLang="zh-CN" b="1" dirty="0">
                <a:solidFill>
                  <a:srgbClr val="0000FF"/>
                </a:solidFill>
                <a:latin typeface="ZztexMono-Regular"/>
              </a:rPr>
              <a:t> </a:t>
            </a:r>
          </a:p>
          <a:p>
            <a:pPr lvl="3"/>
            <a:r>
              <a:rPr lang="en-US" altLang="zh-CN" b="1"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far);</a:t>
            </a:r>
            <a:endParaRPr lang="zh-CN" altLang="en-US" dirty="0"/>
          </a:p>
        </p:txBody>
      </p:sp>
      <p:pic>
        <p:nvPicPr>
          <p:cNvPr id="9" name="图片 8"/>
          <p:cNvPicPr>
            <a:picLocks noChangeAspect="1"/>
          </p:cNvPicPr>
          <p:nvPr/>
        </p:nvPicPr>
        <p:blipFill>
          <a:blip r:embed="rId2"/>
          <a:stretch>
            <a:fillRect/>
          </a:stretch>
        </p:blipFill>
        <p:spPr>
          <a:xfrm>
            <a:off x="4572000" y="1519986"/>
            <a:ext cx="4167667" cy="1764239"/>
          </a:xfrm>
          <a:prstGeom prst="rect">
            <a:avLst/>
          </a:prstGeom>
        </p:spPr>
      </p:pic>
      <p:pic>
        <p:nvPicPr>
          <p:cNvPr id="14" name="图片 5"/>
          <p:cNvPicPr>
            <a:picLocks noChangeAspect="1"/>
          </p:cNvPicPr>
          <p:nvPr/>
        </p:nvPicPr>
        <p:blipFill>
          <a:blip r:embed="rId3"/>
          <a:stretch>
            <a:fillRect/>
          </a:stretch>
        </p:blipFill>
        <p:spPr>
          <a:xfrm>
            <a:off x="5715151" y="3742070"/>
            <a:ext cx="2460224" cy="2005651"/>
          </a:xfrm>
          <a:prstGeom prst="rect">
            <a:avLst/>
          </a:prstGeom>
        </p:spPr>
      </p:pic>
      <mc:AlternateContent xmlns:mc="http://schemas.openxmlformats.org/markup-compatibility/2006" xmlns:a14="http://schemas.microsoft.com/office/drawing/2010/main">
        <mc:Choice Requires="a14">
          <p:sp>
            <p:nvSpPr>
              <p:cNvPr id="6" name="TextBox 5"/>
              <p:cNvSpPr txBox="1"/>
              <p:nvPr/>
            </p:nvSpPr>
            <p:spPr>
              <a:xfrm>
                <a:off x="847302" y="3829955"/>
                <a:ext cx="3862921" cy="1477328"/>
              </a:xfrm>
              <a:prstGeom prst="rect">
                <a:avLst/>
              </a:prstGeom>
              <a:noFill/>
            </p:spPr>
            <p:txBody>
              <a:bodyPr wrap="square" rtlCol="0">
                <a:spAutoFit/>
              </a:bodyPr>
              <a:lstStyle/>
              <a:p>
                <a:r>
                  <a:rPr lang="zh-CN" altLang="en-US" b="1" dirty="0"/>
                  <a:t>注意：</a:t>
                </a:r>
                <a:r>
                  <a:rPr lang="en-US" altLang="zh-CN" b="1" dirty="0">
                    <a:latin typeface="ZztexMono-Regular"/>
                  </a:rPr>
                  <a:t>Frustum</a:t>
                </a:r>
                <a:r>
                  <a:rPr lang="zh-CN" altLang="en-US" b="1" dirty="0">
                    <a:latin typeface="ZztexMono-Regular"/>
                  </a:rPr>
                  <a:t>函数没有限制视见体一定是对称的棱台！</a:t>
                </a:r>
                <a:endParaRPr lang="en-US" altLang="zh-CN" b="1" dirty="0">
                  <a:latin typeface="ZztexMono-Regular"/>
                </a:endParaRPr>
              </a:p>
              <a:p>
                <a:endParaRPr lang="en-US" b="1" dirty="0">
                  <a:latin typeface="ZztexMono-Regular"/>
                </a:endParaRPr>
              </a:p>
              <a:p>
                <a14:m>
                  <m:oMath xmlns:m="http://schemas.openxmlformats.org/officeDocument/2006/math">
                    <m:r>
                      <a:rPr lang="en-US" b="1" i="1" smtClean="0">
                        <a:latin typeface="Cambria Math" panose="02040503050406030204" charset="0"/>
                        <a:ea typeface="Cambria Math" panose="02040503050406030204" charset="0"/>
                        <a:cs typeface="Cambria Math" panose="02040503050406030204" charset="0"/>
                      </a:rPr>
                      <m:t>⇒</m:t>
                    </m:r>
                  </m:oMath>
                </a14:m>
                <a:r>
                  <a:rPr lang="zh-CN" altLang="en-US" b="1" dirty="0"/>
                  <a:t> 需要先将棱台变为对称标准的棱台，再做透视归一化变换</a:t>
                </a:r>
                <a:endParaRPr lang="en-US" b="1" dirty="0"/>
              </a:p>
            </p:txBody>
          </p:sp>
        </mc:Choice>
        <mc:Fallback xmlns="">
          <p:sp>
            <p:nvSpPr>
              <p:cNvPr id="6" name="TextBox 5"/>
              <p:cNvSpPr txBox="1">
                <a:spLocks noRot="1" noChangeAspect="1" noMove="1" noResize="1" noEditPoints="1" noAdjustHandles="1" noChangeArrowheads="1" noChangeShapeType="1" noTextEdit="1"/>
              </p:cNvSpPr>
              <p:nvPr/>
            </p:nvSpPr>
            <p:spPr>
              <a:xfrm>
                <a:off x="847302" y="3829955"/>
                <a:ext cx="3862921" cy="1477328"/>
              </a:xfrm>
              <a:prstGeom prst="rect">
                <a:avLst/>
              </a:prstGeom>
              <a:blipFill rotWithShape="1">
                <a:blip r:embed="rId4"/>
                <a:stretch>
                  <a:fillRect l="-5" t="-1136" r="11" b="40"/>
                </a:stretch>
              </a:blipFill>
            </p:spPr>
            <p:txBody>
              <a:bodyPr/>
              <a:lstStyle/>
              <a:p>
                <a:r>
                  <a:rPr lang="zh-CN" altLang="en-US">
                    <a:noFill/>
                  </a:rPr>
                  <a:t> </a:t>
                </a:r>
              </a:p>
            </p:txBody>
          </p:sp>
        </mc:Fallback>
      </mc:AlternateContent>
      <p:grpSp>
        <p:nvGrpSpPr>
          <p:cNvPr id="17" name="组合 21"/>
          <p:cNvGrpSpPr/>
          <p:nvPr/>
        </p:nvGrpSpPr>
        <p:grpSpPr>
          <a:xfrm>
            <a:off x="954487" y="5428255"/>
            <a:ext cx="4774477" cy="1429743"/>
            <a:chOff x="565288" y="3342928"/>
            <a:chExt cx="4950338" cy="1482406"/>
          </a:xfrm>
        </p:grpSpPr>
        <p:pic>
          <p:nvPicPr>
            <p:cNvPr id="18" name="图片 6"/>
            <p:cNvPicPr>
              <a:picLocks noChangeAspect="1"/>
            </p:cNvPicPr>
            <p:nvPr/>
          </p:nvPicPr>
          <p:blipFill>
            <a:blip r:embed="rId5"/>
            <a:stretch>
              <a:fillRect/>
            </a:stretch>
          </p:blipFill>
          <p:spPr>
            <a:xfrm>
              <a:off x="565288" y="3342928"/>
              <a:ext cx="4950338" cy="1482406"/>
            </a:xfrm>
            <a:prstGeom prst="rect">
              <a:avLst/>
            </a:prstGeom>
          </p:spPr>
        </p:pic>
        <p:pic>
          <p:nvPicPr>
            <p:cNvPr id="19" name="图片 17"/>
            <p:cNvPicPr>
              <a:picLocks noChangeAspect="1"/>
            </p:cNvPicPr>
            <p:nvPr/>
          </p:nvPicPr>
          <p:blipFill>
            <a:blip r:embed="rId6"/>
            <a:stretch>
              <a:fillRect/>
            </a:stretch>
          </p:blipFill>
          <p:spPr>
            <a:xfrm>
              <a:off x="4546508" y="3460160"/>
              <a:ext cx="97792" cy="97478"/>
            </a:xfrm>
            <a:prstGeom prst="rect">
              <a:avLst/>
            </a:prstGeom>
          </p:spPr>
        </p:pic>
        <p:pic>
          <p:nvPicPr>
            <p:cNvPr id="20" name="图片 18"/>
            <p:cNvPicPr>
              <a:picLocks noChangeAspect="1"/>
            </p:cNvPicPr>
            <p:nvPr/>
          </p:nvPicPr>
          <p:blipFill>
            <a:blip r:embed="rId6"/>
            <a:stretch>
              <a:fillRect/>
            </a:stretch>
          </p:blipFill>
          <p:spPr>
            <a:xfrm>
              <a:off x="4497612" y="4628267"/>
              <a:ext cx="97792" cy="97478"/>
            </a:xfrm>
            <a:prstGeom prst="rect">
              <a:avLst/>
            </a:prstGeom>
          </p:spPr>
        </p:pic>
        <p:pic>
          <p:nvPicPr>
            <p:cNvPr id="21" name="图片 19"/>
            <p:cNvPicPr>
              <a:picLocks noChangeAspect="1"/>
            </p:cNvPicPr>
            <p:nvPr/>
          </p:nvPicPr>
          <p:blipFill>
            <a:blip r:embed="rId6"/>
            <a:stretch>
              <a:fillRect/>
            </a:stretch>
          </p:blipFill>
          <p:spPr>
            <a:xfrm>
              <a:off x="5238875" y="4034332"/>
              <a:ext cx="97792" cy="97478"/>
            </a:xfrm>
            <a:prstGeom prst="rect">
              <a:avLst/>
            </a:prstGeom>
          </p:spPr>
        </p:pic>
        <p:pic>
          <p:nvPicPr>
            <p:cNvPr id="22" name="图片 20"/>
            <p:cNvPicPr>
              <a:picLocks noChangeAspect="1"/>
            </p:cNvPicPr>
            <p:nvPr/>
          </p:nvPicPr>
          <p:blipFill>
            <a:blip r:embed="rId6"/>
            <a:stretch>
              <a:fillRect/>
            </a:stretch>
          </p:blipFill>
          <p:spPr>
            <a:xfrm>
              <a:off x="3763618" y="4041307"/>
              <a:ext cx="97792" cy="97478"/>
            </a:xfrm>
            <a:prstGeom prst="rect">
              <a:avLst/>
            </a:prstGeom>
          </p:spPr>
        </p:pic>
      </p:grpSp>
      <p:cxnSp>
        <p:nvCxnSpPr>
          <p:cNvPr id="8" name="Elbow Connector 7"/>
          <p:cNvCxnSpPr/>
          <p:nvPr/>
        </p:nvCxnSpPr>
        <p:spPr>
          <a:xfrm rot="10800000" flipV="1">
            <a:off x="6277563" y="5906081"/>
            <a:ext cx="844593" cy="391485"/>
          </a:xfrm>
          <a:prstGeom prst="bentConnector3">
            <a:avLst>
              <a:gd name="adj1" fmla="val -6651"/>
            </a:avLst>
          </a:prstGeom>
          <a:ln w="104775">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a:off x="7122156" y="3162891"/>
            <a:ext cx="0" cy="579179"/>
          </a:xfrm>
          <a:prstGeom prst="straightConnector1">
            <a:avLst/>
          </a:prstGeom>
          <a:ln w="104775">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2"/>
          <a:stretch>
            <a:fillRect/>
          </a:stretch>
        </p:blipFill>
        <p:spPr>
          <a:xfrm>
            <a:off x="5162842" y="1506818"/>
            <a:ext cx="2460224" cy="2005651"/>
          </a:xfrm>
          <a:prstGeom prst="rect">
            <a:avLst/>
          </a:prstGeom>
        </p:spPr>
      </p:pic>
      <p:sp>
        <p:nvSpPr>
          <p:cNvPr id="2" name="标题 1"/>
          <p:cNvSpPr>
            <a:spLocks noGrp="1"/>
          </p:cNvSpPr>
          <p:nvPr>
            <p:ph type="title"/>
          </p:nvPr>
        </p:nvSpPr>
        <p:spPr/>
        <p:txBody>
          <a:bodyPr/>
          <a:lstStyle/>
          <a:p>
            <a:r>
              <a:rPr lang="zh-CN" altLang="en-US" dirty="0"/>
              <a:t>透视规范化</a:t>
            </a:r>
          </a:p>
        </p:txBody>
      </p:sp>
      <p:sp>
        <p:nvSpPr>
          <p:cNvPr id="3" name="内容占位符 2"/>
          <p:cNvSpPr>
            <a:spLocks noGrp="1"/>
          </p:cNvSpPr>
          <p:nvPr>
            <p:ph idx="1"/>
          </p:nvPr>
        </p:nvSpPr>
        <p:spPr/>
        <p:txBody>
          <a:bodyPr/>
          <a:lstStyle/>
          <a:p>
            <a:r>
              <a:rPr lang="zh-CN" altLang="en-US" dirty="0"/>
              <a:t>导出透视规范化矩阵：</a:t>
            </a:r>
            <a:endParaRPr lang="en-US" altLang="zh-CN" sz="1200" dirty="0"/>
          </a:p>
          <a:p>
            <a:pPr marL="457200" lvl="1" indent="0">
              <a:buClr>
                <a:schemeClr val="tx1"/>
              </a:buClr>
              <a:buNone/>
            </a:pPr>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47</a:t>
            </a:fld>
            <a:endParaRPr lang="zh-CN" altLang="en-US"/>
          </a:p>
        </p:txBody>
      </p:sp>
      <p:pic>
        <p:nvPicPr>
          <p:cNvPr id="10" name="图片 9"/>
          <p:cNvPicPr>
            <a:picLocks noChangeAspect="1"/>
          </p:cNvPicPr>
          <p:nvPr/>
        </p:nvPicPr>
        <p:blipFill>
          <a:blip r:embed="rId3"/>
          <a:stretch>
            <a:fillRect/>
          </a:stretch>
        </p:blipFill>
        <p:spPr>
          <a:xfrm>
            <a:off x="5848548" y="3846920"/>
            <a:ext cx="1774518" cy="1027317"/>
          </a:xfrm>
          <a:prstGeom prst="rect">
            <a:avLst/>
          </a:prstGeom>
        </p:spPr>
      </p:pic>
      <p:pic>
        <p:nvPicPr>
          <p:cNvPr id="11" name="图片 10"/>
          <p:cNvPicPr>
            <a:picLocks noChangeAspect="1"/>
          </p:cNvPicPr>
          <p:nvPr/>
        </p:nvPicPr>
        <p:blipFill>
          <a:blip r:embed="rId4"/>
          <a:stretch>
            <a:fillRect/>
          </a:stretch>
        </p:blipFill>
        <p:spPr>
          <a:xfrm>
            <a:off x="7851086" y="3705239"/>
            <a:ext cx="1174463" cy="1284131"/>
          </a:xfrm>
          <a:prstGeom prst="rect">
            <a:avLst/>
          </a:prstGeom>
        </p:spPr>
      </p:pic>
      <p:grpSp>
        <p:nvGrpSpPr>
          <p:cNvPr id="23" name="组合 22"/>
          <p:cNvGrpSpPr/>
          <p:nvPr/>
        </p:nvGrpSpPr>
        <p:grpSpPr>
          <a:xfrm>
            <a:off x="1048327" y="5290348"/>
            <a:ext cx="1982621" cy="1394346"/>
            <a:chOff x="1492905" y="4961378"/>
            <a:chExt cx="1982621" cy="1394346"/>
          </a:xfrm>
        </p:grpSpPr>
        <p:pic>
          <p:nvPicPr>
            <p:cNvPr id="12" name="图片 11"/>
            <p:cNvPicPr>
              <a:picLocks noChangeAspect="1"/>
            </p:cNvPicPr>
            <p:nvPr/>
          </p:nvPicPr>
          <p:blipFill>
            <a:blip r:embed="rId5"/>
            <a:stretch>
              <a:fillRect/>
            </a:stretch>
          </p:blipFill>
          <p:spPr>
            <a:xfrm>
              <a:off x="1492905" y="4961378"/>
              <a:ext cx="1982621" cy="676800"/>
            </a:xfrm>
            <a:prstGeom prst="rect">
              <a:avLst/>
            </a:prstGeom>
          </p:spPr>
        </p:pic>
        <p:pic>
          <p:nvPicPr>
            <p:cNvPr id="13" name="图片 12"/>
            <p:cNvPicPr>
              <a:picLocks noChangeAspect="1"/>
            </p:cNvPicPr>
            <p:nvPr/>
          </p:nvPicPr>
          <p:blipFill>
            <a:blip r:embed="rId6"/>
            <a:stretch>
              <a:fillRect/>
            </a:stretch>
          </p:blipFill>
          <p:spPr>
            <a:xfrm>
              <a:off x="1492905" y="5680686"/>
              <a:ext cx="1962087" cy="675038"/>
            </a:xfrm>
            <a:prstGeom prst="rect">
              <a:avLst/>
            </a:prstGeom>
          </p:spPr>
        </p:pic>
      </p:grpSp>
      <p:grpSp>
        <p:nvGrpSpPr>
          <p:cNvPr id="22" name="组合 21"/>
          <p:cNvGrpSpPr/>
          <p:nvPr/>
        </p:nvGrpSpPr>
        <p:grpSpPr>
          <a:xfrm>
            <a:off x="825098" y="3599722"/>
            <a:ext cx="4774477" cy="1429743"/>
            <a:chOff x="565288" y="3342928"/>
            <a:chExt cx="4950338" cy="1482406"/>
          </a:xfrm>
        </p:grpSpPr>
        <p:pic>
          <p:nvPicPr>
            <p:cNvPr id="7" name="图片 6"/>
            <p:cNvPicPr>
              <a:picLocks noChangeAspect="1"/>
            </p:cNvPicPr>
            <p:nvPr/>
          </p:nvPicPr>
          <p:blipFill>
            <a:blip r:embed="rId7"/>
            <a:stretch>
              <a:fillRect/>
            </a:stretch>
          </p:blipFill>
          <p:spPr>
            <a:xfrm>
              <a:off x="565288" y="3342928"/>
              <a:ext cx="4950338" cy="1482406"/>
            </a:xfrm>
            <a:prstGeom prst="rect">
              <a:avLst/>
            </a:prstGeom>
          </p:spPr>
        </p:pic>
        <p:pic>
          <p:nvPicPr>
            <p:cNvPr id="18" name="图片 17"/>
            <p:cNvPicPr>
              <a:picLocks noChangeAspect="1"/>
            </p:cNvPicPr>
            <p:nvPr/>
          </p:nvPicPr>
          <p:blipFill>
            <a:blip r:embed="rId8"/>
            <a:stretch>
              <a:fillRect/>
            </a:stretch>
          </p:blipFill>
          <p:spPr>
            <a:xfrm>
              <a:off x="4546508" y="3460160"/>
              <a:ext cx="97792" cy="97478"/>
            </a:xfrm>
            <a:prstGeom prst="rect">
              <a:avLst/>
            </a:prstGeom>
          </p:spPr>
        </p:pic>
        <p:pic>
          <p:nvPicPr>
            <p:cNvPr id="19" name="图片 18"/>
            <p:cNvPicPr>
              <a:picLocks noChangeAspect="1"/>
            </p:cNvPicPr>
            <p:nvPr/>
          </p:nvPicPr>
          <p:blipFill>
            <a:blip r:embed="rId8"/>
            <a:stretch>
              <a:fillRect/>
            </a:stretch>
          </p:blipFill>
          <p:spPr>
            <a:xfrm>
              <a:off x="4497612" y="4628267"/>
              <a:ext cx="97792" cy="97478"/>
            </a:xfrm>
            <a:prstGeom prst="rect">
              <a:avLst/>
            </a:prstGeom>
          </p:spPr>
        </p:pic>
        <p:pic>
          <p:nvPicPr>
            <p:cNvPr id="20" name="图片 19"/>
            <p:cNvPicPr>
              <a:picLocks noChangeAspect="1"/>
            </p:cNvPicPr>
            <p:nvPr/>
          </p:nvPicPr>
          <p:blipFill>
            <a:blip r:embed="rId8"/>
            <a:stretch>
              <a:fillRect/>
            </a:stretch>
          </p:blipFill>
          <p:spPr>
            <a:xfrm>
              <a:off x="5238875" y="4034332"/>
              <a:ext cx="97792" cy="97478"/>
            </a:xfrm>
            <a:prstGeom prst="rect">
              <a:avLst/>
            </a:prstGeom>
          </p:spPr>
        </p:pic>
        <p:pic>
          <p:nvPicPr>
            <p:cNvPr id="21" name="图片 20"/>
            <p:cNvPicPr>
              <a:picLocks noChangeAspect="1"/>
            </p:cNvPicPr>
            <p:nvPr/>
          </p:nvPicPr>
          <p:blipFill>
            <a:blip r:embed="rId8"/>
            <a:stretch>
              <a:fillRect/>
            </a:stretch>
          </p:blipFill>
          <p:spPr>
            <a:xfrm>
              <a:off x="3763618" y="4041307"/>
              <a:ext cx="97792" cy="97478"/>
            </a:xfrm>
            <a:prstGeom prst="rect">
              <a:avLst/>
            </a:prstGeom>
          </p:spPr>
        </p:pic>
      </p:grpSp>
      <p:sp>
        <p:nvSpPr>
          <p:cNvPr id="24" name="Rectangle 23"/>
          <p:cNvSpPr/>
          <p:nvPr/>
        </p:nvSpPr>
        <p:spPr>
          <a:xfrm>
            <a:off x="6966208" y="4398379"/>
            <a:ext cx="568919" cy="237261"/>
          </a:xfrm>
          <a:prstGeom prst="rect">
            <a:avLst/>
          </a:prstGeom>
          <a:solidFill>
            <a:srgbClr val="FF0000">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8" name="TextBox 7"/>
              <p:cNvSpPr txBox="1"/>
              <p:nvPr/>
            </p:nvSpPr>
            <p:spPr>
              <a:xfrm>
                <a:off x="2072289" y="2622732"/>
                <a:ext cx="95865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charset="0"/>
                        </a:rPr>
                        <m:t>𝑥</m:t>
                      </m:r>
                      <m:r>
                        <a:rPr lang="en-US" altLang="zh-CN" b="0" i="1" smtClean="0">
                          <a:latin typeface="Cambria Math" panose="02040503050406030204" charset="0"/>
                        </a:rPr>
                        <m:t>=±</m:t>
                      </m:r>
                      <m:r>
                        <a:rPr lang="en-US" altLang="zh-CN" b="0" i="1" smtClean="0">
                          <a:latin typeface="Cambria Math" panose="02040503050406030204" charset="0"/>
                          <a:ea typeface="Cambria Math" panose="02040503050406030204" charset="0"/>
                          <a:cs typeface="Cambria Math" panose="02040503050406030204" charset="0"/>
                        </a:rPr>
                        <m:t>𝑧</m:t>
                      </m:r>
                    </m:oMath>
                  </m:oMathPara>
                </a14:m>
                <a:endParaRPr lang="en-US" altLang="zh-CN" b="0" dirty="0">
                  <a:ea typeface="Cambria Math" panose="02040503050406030204" charset="0"/>
                  <a:cs typeface="Cambria Math" panose="02040503050406030204" charset="0"/>
                </a:endParaRPr>
              </a:p>
            </p:txBody>
          </p:sp>
        </mc:Choice>
        <mc:Fallback xmlns="">
          <p:sp>
            <p:nvSpPr>
              <p:cNvPr id="8" name="TextBox 7"/>
              <p:cNvSpPr txBox="1">
                <a:spLocks noRot="1" noChangeAspect="1" noMove="1" noResize="1" noEditPoints="1" noAdjustHandles="1" noChangeArrowheads="1" noChangeShapeType="1" noTextEdit="1"/>
              </p:cNvSpPr>
              <p:nvPr/>
            </p:nvSpPr>
            <p:spPr>
              <a:xfrm>
                <a:off x="2072289" y="2622732"/>
                <a:ext cx="958659" cy="369332"/>
              </a:xfrm>
              <a:prstGeom prst="rect">
                <a:avLst/>
              </a:prstGeom>
              <a:blipFill rotWithShape="1">
                <a:blip r:embed="rId9"/>
                <a:stretch>
                  <a:fillRect l="-30" t="-49" r="10" b="15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TextBox 25"/>
              <p:cNvSpPr txBox="1"/>
              <p:nvPr/>
            </p:nvSpPr>
            <p:spPr>
              <a:xfrm>
                <a:off x="2072289" y="2980307"/>
                <a:ext cx="95865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charset="0"/>
                        </a:rPr>
                        <m:t>𝑦</m:t>
                      </m:r>
                      <m:r>
                        <a:rPr lang="en-US" altLang="zh-CN" b="0" i="1" smtClean="0">
                          <a:latin typeface="Cambria Math" panose="02040503050406030204" charset="0"/>
                        </a:rPr>
                        <m:t>=±</m:t>
                      </m:r>
                      <m:r>
                        <a:rPr lang="en-US" altLang="zh-CN" b="0" i="1" smtClean="0">
                          <a:latin typeface="Cambria Math" panose="02040503050406030204" charset="0"/>
                          <a:ea typeface="Cambria Math" panose="02040503050406030204" charset="0"/>
                          <a:cs typeface="Cambria Math" panose="02040503050406030204" charset="0"/>
                        </a:rPr>
                        <m:t>𝑧</m:t>
                      </m:r>
                    </m:oMath>
                  </m:oMathPara>
                </a14:m>
                <a:endParaRPr lang="en-US" altLang="zh-CN" b="0" dirty="0">
                  <a:ea typeface="Cambria Math" panose="02040503050406030204" charset="0"/>
                  <a:cs typeface="Cambria Math" panose="02040503050406030204" charset="0"/>
                </a:endParaRPr>
              </a:p>
            </p:txBody>
          </p:sp>
        </mc:Choice>
        <mc:Fallback xmlns="">
          <p:sp>
            <p:nvSpPr>
              <p:cNvPr id="26" name="TextBox 25"/>
              <p:cNvSpPr txBox="1">
                <a:spLocks noRot="1" noChangeAspect="1" noMove="1" noResize="1" noEditPoints="1" noAdjustHandles="1" noChangeArrowheads="1" noChangeShapeType="1" noTextEdit="1"/>
              </p:cNvSpPr>
              <p:nvPr/>
            </p:nvSpPr>
            <p:spPr>
              <a:xfrm>
                <a:off x="2072289" y="2980307"/>
                <a:ext cx="958659" cy="369332"/>
              </a:xfrm>
              <a:prstGeom prst="rect">
                <a:avLst/>
              </a:prstGeom>
              <a:blipFill rotWithShape="1">
                <a:blip r:embed="rId10"/>
                <a:stretch>
                  <a:fillRect l="-30" t="-68" r="10" b="4"/>
                </a:stretch>
              </a:blipFill>
            </p:spPr>
            <p:txBody>
              <a:bodyPr/>
              <a:lstStyle/>
              <a:p>
                <a:r>
                  <a:rPr lang="zh-CN" altLang="en-US">
                    <a:noFill/>
                  </a:rPr>
                  <a:t> </a:t>
                </a:r>
              </a:p>
            </p:txBody>
          </p:sp>
        </mc:Fallback>
      </mc:AlternateContent>
      <p:sp>
        <p:nvSpPr>
          <p:cNvPr id="9" name="TextBox 8"/>
          <p:cNvSpPr txBox="1"/>
          <p:nvPr/>
        </p:nvSpPr>
        <p:spPr>
          <a:xfrm>
            <a:off x="1318135" y="2988042"/>
            <a:ext cx="184731" cy="338554"/>
          </a:xfrm>
          <a:prstGeom prst="rect">
            <a:avLst/>
          </a:prstGeom>
          <a:noFill/>
        </p:spPr>
        <p:txBody>
          <a:bodyPr wrap="none" rtlCol="0">
            <a:spAutoFit/>
          </a:bodyPr>
          <a:lstStyle/>
          <a:p>
            <a:endParaRPr lang="en-US" sz="1600" dirty="0"/>
          </a:p>
        </p:txBody>
      </p:sp>
      <p:sp>
        <p:nvSpPr>
          <p:cNvPr id="28" name="Left-Right Arrow 27"/>
          <p:cNvSpPr/>
          <p:nvPr/>
        </p:nvSpPr>
        <p:spPr>
          <a:xfrm>
            <a:off x="3306726" y="5539563"/>
            <a:ext cx="322728" cy="128606"/>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5" name="Picture 34"/>
          <p:cNvPicPr>
            <a:picLocks noChangeAspect="1"/>
          </p:cNvPicPr>
          <p:nvPr/>
        </p:nvPicPr>
        <p:blipFill>
          <a:blip r:embed="rId11"/>
          <a:stretch>
            <a:fillRect/>
          </a:stretch>
        </p:blipFill>
        <p:spPr>
          <a:xfrm>
            <a:off x="3909807" y="6177590"/>
            <a:ext cx="558800" cy="292100"/>
          </a:xfrm>
          <a:prstGeom prst="rect">
            <a:avLst/>
          </a:prstGeom>
        </p:spPr>
      </p:pic>
      <p:pic>
        <p:nvPicPr>
          <p:cNvPr id="36" name="Picture 35"/>
          <p:cNvPicPr>
            <a:picLocks noChangeAspect="1"/>
          </p:cNvPicPr>
          <p:nvPr/>
        </p:nvPicPr>
        <p:blipFill>
          <a:blip r:embed="rId12"/>
          <a:stretch>
            <a:fillRect/>
          </a:stretch>
        </p:blipFill>
        <p:spPr>
          <a:xfrm>
            <a:off x="3949529" y="5495398"/>
            <a:ext cx="609600" cy="266700"/>
          </a:xfrm>
          <a:prstGeom prst="rect">
            <a:avLst/>
          </a:prstGeom>
        </p:spPr>
      </p:pic>
      <p:sp>
        <p:nvSpPr>
          <p:cNvPr id="37" name="Left-Right Arrow 36"/>
          <p:cNvSpPr/>
          <p:nvPr/>
        </p:nvSpPr>
        <p:spPr>
          <a:xfrm>
            <a:off x="3306606" y="6292047"/>
            <a:ext cx="322728" cy="128606"/>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ight Arrow 37"/>
          <p:cNvSpPr/>
          <p:nvPr/>
        </p:nvSpPr>
        <p:spPr>
          <a:xfrm>
            <a:off x="5192540" y="5773183"/>
            <a:ext cx="350920" cy="47294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9" name="TextBox 38"/>
              <p:cNvSpPr txBox="1"/>
              <p:nvPr/>
            </p:nvSpPr>
            <p:spPr>
              <a:xfrm>
                <a:off x="1022097" y="1919305"/>
                <a:ext cx="3776996" cy="584775"/>
              </a:xfrm>
              <a:prstGeom prst="rect">
                <a:avLst/>
              </a:prstGeom>
              <a:noFill/>
            </p:spPr>
            <p:txBody>
              <a:bodyPr wrap="none" rtlCol="0">
                <a:spAutoFit/>
              </a:bodyPr>
              <a:lstStyle/>
              <a:p>
                <a:r>
                  <a:rPr lang="zh-CN" altLang="en-US" sz="1600" dirty="0"/>
                  <a:t>给定由下面</a:t>
                </a:r>
                <a:r>
                  <a:rPr lang="en-US" altLang="zh-CN" sz="1600" dirty="0"/>
                  <a:t>4</a:t>
                </a:r>
                <a:r>
                  <a:rPr lang="zh-CN" altLang="en-US" sz="1600" dirty="0"/>
                  <a:t>个平面构成的半无穷棱锥：</a:t>
                </a:r>
                <a:endParaRPr lang="en-US" altLang="zh-CN" sz="1600" dirty="0"/>
              </a:p>
              <a:p>
                <a:r>
                  <a:rPr lang="zh-CN" altLang="en-US" sz="1600" dirty="0"/>
                  <a:t>（侧面与投影平面夹角 </a:t>
                </a:r>
                <a:r>
                  <a:rPr lang="en-US" altLang="zh-CN" sz="1600" dirty="0"/>
                  <a:t>=</a:t>
                </a:r>
                <a:r>
                  <a:rPr lang="zh-CN" altLang="en-US" sz="1600" dirty="0"/>
                  <a:t> </a:t>
                </a:r>
                <a:r>
                  <a:rPr lang="en-US" altLang="zh-CN" sz="1600" dirty="0"/>
                  <a:t>45</a:t>
                </a:r>
                <a14:m>
                  <m:oMath xmlns:m="http://schemas.openxmlformats.org/officeDocument/2006/math">
                    <m:r>
                      <a:rPr lang="it-IT" altLang="zh-CN" sz="1600" i="1">
                        <a:latin typeface="Cambria Math" panose="02040503050406030204" charset="0"/>
                        <a:ea typeface="Cambria Math" panose="02040503050406030204" charset="0"/>
                        <a:cs typeface="Cambria Math" panose="02040503050406030204" charset="0"/>
                      </a:rPr>
                      <m:t>°</m:t>
                    </m:r>
                    <m:r>
                      <a:rPr lang="zh-CN" altLang="en-US" sz="1600" i="1">
                        <a:latin typeface="Cambria Math" panose="02040503050406030204" charset="0"/>
                        <a:ea typeface="Cambria Math" panose="02040503050406030204" charset="0"/>
                        <a:cs typeface="Cambria Math" panose="02040503050406030204" charset="0"/>
                      </a:rPr>
                      <m:t>）</m:t>
                    </m:r>
                  </m:oMath>
                </a14:m>
                <a:endParaRPr lang="en-US" sz="1600" dirty="0"/>
              </a:p>
            </p:txBody>
          </p:sp>
        </mc:Choice>
        <mc:Fallback xmlns="">
          <p:sp>
            <p:nvSpPr>
              <p:cNvPr id="39" name="TextBox 38"/>
              <p:cNvSpPr txBox="1">
                <a:spLocks noRot="1" noChangeAspect="1" noMove="1" noResize="1" noEditPoints="1" noAdjustHandles="1" noChangeArrowheads="1" noChangeShapeType="1" noTextEdit="1"/>
              </p:cNvSpPr>
              <p:nvPr/>
            </p:nvSpPr>
            <p:spPr>
              <a:xfrm>
                <a:off x="1022097" y="1919305"/>
                <a:ext cx="3776996" cy="584775"/>
              </a:xfrm>
              <a:prstGeom prst="rect">
                <a:avLst/>
              </a:prstGeom>
              <a:blipFill rotWithShape="1">
                <a:blip r:embed="rId13"/>
                <a:stretch>
                  <a:fillRect l="-10" t="-57" r="11" b="47"/>
                </a:stretch>
              </a:blipFill>
            </p:spPr>
            <p:txBody>
              <a:bodyPr/>
              <a:lstStyle/>
              <a:p>
                <a:r>
                  <a:rPr lang="zh-CN" altLang="en-US">
                    <a:noFill/>
                  </a:rPr>
                  <a:t> </a:t>
                </a:r>
              </a:p>
            </p:txBody>
          </p:sp>
        </mc:Fallback>
      </mc:AlternateContent>
      <p:sp>
        <p:nvSpPr>
          <p:cNvPr id="29" name="Rectangle 28"/>
          <p:cNvSpPr/>
          <p:nvPr/>
        </p:nvSpPr>
        <p:spPr>
          <a:xfrm>
            <a:off x="6010563" y="5322470"/>
            <a:ext cx="2158582" cy="1385763"/>
          </a:xfrm>
          <a:prstGeom prst="rect">
            <a:avLst/>
          </a:prstGeom>
          <a:solidFill>
            <a:srgbClr val="FF0000">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30" name="TextBox 29"/>
              <p:cNvSpPr txBox="1"/>
              <p:nvPr/>
            </p:nvSpPr>
            <p:spPr>
              <a:xfrm>
                <a:off x="6042579" y="6063656"/>
                <a:ext cx="2046008" cy="52655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charset="0"/>
                          <a:ea typeface="Cambria Math" panose="02040503050406030204" charset="0"/>
                        </a:rPr>
                        <m:t>𝛽</m:t>
                      </m:r>
                      <m:r>
                        <a:rPr lang="en-US" altLang="zh-CN" b="0" i="1" smtClean="0">
                          <a:latin typeface="Cambria Math" panose="02040503050406030204" charset="0"/>
                          <a:ea typeface="Cambria Math" panose="02040503050406030204" charset="0"/>
                        </a:rPr>
                        <m:t>=−</m:t>
                      </m:r>
                      <m:r>
                        <a:rPr lang="zh-CN" altLang="en-US" b="0" i="1" smtClean="0">
                          <a:latin typeface="Cambria Math" panose="02040503050406030204" charset="0"/>
                          <a:ea typeface="Cambria Math" panose="02040503050406030204" charset="0"/>
                        </a:rPr>
                        <m:t> </m:t>
                      </m:r>
                      <m:f>
                        <m:fPr>
                          <m:ctrlPr>
                            <a:rPr lang="en-US" altLang="zh-CN" b="0" i="1" smtClean="0">
                              <a:latin typeface="Cambria Math" panose="02040503050406030204" pitchFamily="18" charset="0"/>
                              <a:ea typeface="Cambria Math" panose="02040503050406030204" charset="0"/>
                            </a:rPr>
                          </m:ctrlPr>
                        </m:fPr>
                        <m:num>
                          <m:r>
                            <a:rPr lang="en-US" altLang="zh-CN" b="0" i="1" smtClean="0">
                              <a:latin typeface="Cambria Math" panose="02040503050406030204" charset="0"/>
                              <a:ea typeface="Cambria Math" panose="02040503050406030204" charset="0"/>
                            </a:rPr>
                            <m:t>2</m:t>
                          </m:r>
                          <m:r>
                            <a:rPr lang="zh-CN" altLang="en-US" b="0" i="1" smtClean="0">
                              <a:latin typeface="Cambria Math" panose="02040503050406030204" charset="0"/>
                              <a:ea typeface="Cambria Math" panose="02040503050406030204" charset="0"/>
                            </a:rPr>
                            <m:t>∗</m:t>
                          </m:r>
                          <m:r>
                            <m:rPr>
                              <m:sty m:val="p"/>
                            </m:rPr>
                            <a:rPr lang="en-US" altLang="zh-CN" b="0" i="0" smtClean="0">
                              <a:latin typeface="Cambria Math" panose="02040503050406030204" charset="0"/>
                              <a:ea typeface="Cambria Math" panose="02040503050406030204" charset="0"/>
                            </a:rPr>
                            <m:t>far</m:t>
                          </m:r>
                          <m:r>
                            <a:rPr lang="zh-CN" altLang="en-US" b="0" i="1" smtClean="0">
                              <a:latin typeface="Cambria Math" panose="02040503050406030204" charset="0"/>
                              <a:ea typeface="Cambria Math" panose="02040503050406030204" charset="0"/>
                            </a:rPr>
                            <m:t>∗</m:t>
                          </m:r>
                          <m:r>
                            <m:rPr>
                              <m:sty m:val="p"/>
                            </m:rPr>
                            <a:rPr lang="en-US" altLang="zh-CN" b="0" i="0" smtClean="0">
                              <a:latin typeface="Cambria Math" panose="02040503050406030204" charset="0"/>
                              <a:ea typeface="Cambria Math" panose="02040503050406030204" charset="0"/>
                            </a:rPr>
                            <m:t>near</m:t>
                          </m:r>
                        </m:num>
                        <m:den>
                          <m:r>
                            <m:rPr>
                              <m:sty m:val="p"/>
                            </m:rPr>
                            <a:rPr lang="en-US" altLang="zh-CN" b="0" i="0" smtClean="0">
                              <a:latin typeface="Cambria Math" panose="02040503050406030204" charset="0"/>
                              <a:ea typeface="Cambria Math" panose="02040503050406030204" charset="0"/>
                            </a:rPr>
                            <m:t>far</m:t>
                          </m:r>
                          <m:r>
                            <a:rPr lang="zh-CN" altLang="en-US" b="0" i="1" smtClean="0">
                              <a:latin typeface="Cambria Math" panose="02040503050406030204" charset="0"/>
                              <a:ea typeface="Cambria Math" panose="02040503050406030204" charset="0"/>
                            </a:rPr>
                            <m:t> </m:t>
                          </m:r>
                          <m:r>
                            <a:rPr lang="en-US" altLang="zh-CN" b="0" i="1" smtClean="0">
                              <a:latin typeface="Cambria Math" panose="02040503050406030204" charset="0"/>
                              <a:ea typeface="Cambria Math" panose="02040503050406030204" charset="0"/>
                            </a:rPr>
                            <m:t>−</m:t>
                          </m:r>
                          <m:r>
                            <a:rPr lang="zh-CN" altLang="en-US" b="0" i="1" smtClean="0">
                              <a:latin typeface="Cambria Math" panose="02040503050406030204" charset="0"/>
                              <a:ea typeface="Cambria Math" panose="02040503050406030204" charset="0"/>
                            </a:rPr>
                            <m:t> </m:t>
                          </m:r>
                          <m:r>
                            <m:rPr>
                              <m:sty m:val="p"/>
                            </m:rPr>
                            <a:rPr lang="en-US" altLang="zh-CN" i="0">
                              <a:latin typeface="Cambria Math" panose="02040503050406030204" charset="0"/>
                              <a:ea typeface="Cambria Math" panose="02040503050406030204" charset="0"/>
                            </a:rPr>
                            <m:t>near</m:t>
                          </m:r>
                        </m:den>
                      </m:f>
                    </m:oMath>
                  </m:oMathPara>
                </a14:m>
                <a:endParaRPr lang="en-US" dirty="0"/>
              </a:p>
            </p:txBody>
          </p:sp>
        </mc:Choice>
        <mc:Fallback xmlns="">
          <p:sp>
            <p:nvSpPr>
              <p:cNvPr id="30" name="TextBox 29"/>
              <p:cNvSpPr txBox="1">
                <a:spLocks noRot="1" noChangeAspect="1" noMove="1" noResize="1" noEditPoints="1" noAdjustHandles="1" noChangeArrowheads="1" noChangeShapeType="1" noTextEdit="1"/>
              </p:cNvSpPr>
              <p:nvPr/>
            </p:nvSpPr>
            <p:spPr>
              <a:xfrm>
                <a:off x="6042579" y="6063656"/>
                <a:ext cx="2046008" cy="526554"/>
              </a:xfrm>
              <a:prstGeom prst="rect">
                <a:avLst/>
              </a:prstGeom>
              <a:blipFill rotWithShape="1">
                <a:blip r:embed="rId14"/>
                <a:stretch>
                  <a:fillRect l="-27" t="-8" r="-312" b="3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 name="Rectangle 30"/>
              <p:cNvSpPr/>
              <p:nvPr/>
            </p:nvSpPr>
            <p:spPr>
              <a:xfrm>
                <a:off x="6001525" y="5351168"/>
                <a:ext cx="1987275" cy="618887"/>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i="1">
                          <a:latin typeface="Cambria Math" panose="02040503050406030204" charset="0"/>
                          <a:ea typeface="Cambria Math" panose="02040503050406030204" charset="0"/>
                        </a:rPr>
                        <m:t>𝛼</m:t>
                      </m:r>
                      <m:r>
                        <a:rPr lang="en-US" altLang="zh-CN" i="1">
                          <a:latin typeface="Cambria Math" panose="02040503050406030204" charset="0"/>
                          <a:ea typeface="Cambria Math" panose="02040503050406030204" charset="0"/>
                        </a:rPr>
                        <m:t>=−</m:t>
                      </m:r>
                      <m:r>
                        <a:rPr lang="zh-CN" altLang="en-US" i="1">
                          <a:latin typeface="Cambria Math" panose="02040503050406030204" charset="0"/>
                          <a:ea typeface="Cambria Math" panose="02040503050406030204" charset="0"/>
                        </a:rPr>
                        <m:t> </m:t>
                      </m:r>
                      <m:f>
                        <m:fPr>
                          <m:ctrlPr>
                            <a:rPr lang="en-US" altLang="zh-CN" i="1">
                              <a:latin typeface="Cambria Math" panose="02040503050406030204" pitchFamily="18" charset="0"/>
                              <a:ea typeface="Cambria Math" panose="02040503050406030204" charset="0"/>
                            </a:rPr>
                          </m:ctrlPr>
                        </m:fPr>
                        <m:num>
                          <m:r>
                            <m:rPr>
                              <m:sty m:val="p"/>
                            </m:rPr>
                            <a:rPr lang="en-US" altLang="zh-CN" i="0">
                              <a:latin typeface="Cambria Math" panose="02040503050406030204" charset="0"/>
                              <a:ea typeface="Cambria Math" panose="02040503050406030204" charset="0"/>
                            </a:rPr>
                            <m:t>far</m:t>
                          </m:r>
                          <m:r>
                            <a:rPr lang="en-US" altLang="zh-CN" i="1">
                              <a:latin typeface="Cambria Math" panose="02040503050406030204" charset="0"/>
                              <a:ea typeface="Cambria Math" panose="02040503050406030204" charset="0"/>
                            </a:rPr>
                            <m:t>+</m:t>
                          </m:r>
                          <m:r>
                            <m:rPr>
                              <m:sty m:val="p"/>
                            </m:rPr>
                            <a:rPr lang="en-US" altLang="zh-CN" i="0">
                              <a:latin typeface="Cambria Math" panose="02040503050406030204" charset="0"/>
                              <a:ea typeface="Cambria Math" panose="02040503050406030204" charset="0"/>
                            </a:rPr>
                            <m:t>near</m:t>
                          </m:r>
                        </m:num>
                        <m:den>
                          <m:r>
                            <m:rPr>
                              <m:sty m:val="p"/>
                            </m:rPr>
                            <a:rPr lang="en-US" altLang="zh-CN" i="1">
                              <a:latin typeface="Cambria Math" panose="02040503050406030204" charset="0"/>
                              <a:ea typeface="Cambria Math" panose="02040503050406030204" charset="0"/>
                            </a:rPr>
                            <m:t>far</m:t>
                          </m:r>
                          <m:r>
                            <a:rPr lang="en-US" altLang="zh-CN" i="1">
                              <a:latin typeface="Cambria Math" panose="02040503050406030204" charset="0"/>
                              <a:ea typeface="Cambria Math" panose="02040503050406030204" charset="0"/>
                            </a:rPr>
                            <m:t>−</m:t>
                          </m:r>
                          <m:r>
                            <m:rPr>
                              <m:sty m:val="p"/>
                            </m:rPr>
                            <a:rPr lang="en-US" altLang="zh-CN" i="0">
                              <a:latin typeface="Cambria Math" panose="02040503050406030204" charset="0"/>
                              <a:ea typeface="Cambria Math" panose="02040503050406030204" charset="0"/>
                            </a:rPr>
                            <m:t>near</m:t>
                          </m:r>
                        </m:den>
                      </m:f>
                    </m:oMath>
                  </m:oMathPara>
                </a14:m>
                <a:endParaRPr lang="en-US" dirty="0"/>
              </a:p>
            </p:txBody>
          </p:sp>
        </mc:Choice>
        <mc:Fallback xmlns="">
          <p:sp>
            <p:nvSpPr>
              <p:cNvPr id="31" name="Rectangle 30"/>
              <p:cNvSpPr>
                <a:spLocks noRot="1" noChangeAspect="1" noMove="1" noResize="1" noEditPoints="1" noAdjustHandles="1" noChangeArrowheads="1" noChangeShapeType="1" noTextEdit="1"/>
              </p:cNvSpPr>
              <p:nvPr/>
            </p:nvSpPr>
            <p:spPr>
              <a:xfrm>
                <a:off x="6001525" y="5351168"/>
                <a:ext cx="1987275" cy="618887"/>
              </a:xfrm>
              <a:prstGeom prst="rect">
                <a:avLst/>
              </a:prstGeom>
              <a:blipFill rotWithShape="1">
                <a:blip r:embed="rId15"/>
                <a:stretch>
                  <a:fillRect l="-7" t="-4" r="25" b="68"/>
                </a:stretch>
              </a:blipFill>
            </p:spPr>
            <p:txBody>
              <a:bodyPr/>
              <a:lstStyle/>
              <a:p>
                <a:r>
                  <a:rPr lang="zh-CN" altLang="en-US">
                    <a:noFill/>
                  </a:rPr>
                  <a:t> </a:t>
                </a:r>
              </a:p>
            </p:txBody>
          </p:sp>
        </mc:Fallback>
      </mc:AlternateContent>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透视投影矩阵</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a:bodyPr>
              <a:lstStyle/>
              <a:p>
                <a:pPr>
                  <a:buClr>
                    <a:srgbClr val="94003F"/>
                  </a:buClr>
                </a:pPr>
                <a:r>
                  <a:rPr lang="zh-CN" altLang="en-US" dirty="0"/>
                  <a:t>视见体函数的矩阵</a:t>
                </a:r>
                <a:r>
                  <a:rPr lang="en-US" altLang="zh-CN" dirty="0"/>
                  <a:t>?</a:t>
                </a:r>
              </a:p>
              <a:p>
                <a:pPr lvl="1">
                  <a:buClr>
                    <a:schemeClr val="tx1"/>
                  </a:buClr>
                </a:pPr>
                <a:r>
                  <a:rPr lang="zh-CN" altLang="en-US" dirty="0">
                    <a:solidFill>
                      <a:srgbClr val="0000FF"/>
                    </a:solidFill>
                  </a:rPr>
                  <a:t>错切变换</a:t>
                </a:r>
                <a:r>
                  <a:rPr lang="zh-CN" altLang="en-US" dirty="0"/>
                  <a:t>：把不对称棱台变成对称</a:t>
                </a:r>
                <a:r>
                  <a:rPr lang="en-US" altLang="zh-CN" dirty="0"/>
                  <a:t>+</a:t>
                </a:r>
                <a:r>
                  <a:rPr lang="zh-CN" altLang="en-US" dirty="0"/>
                  <a:t>对称平面过原点</a:t>
                </a:r>
                <a:endParaRPr lang="en-US" altLang="zh-CN" dirty="0"/>
              </a:p>
              <a:p>
                <a:pPr lvl="1">
                  <a:buClr>
                    <a:schemeClr val="tx1"/>
                  </a:buClr>
                </a:pPr>
                <a:endParaRPr lang="en-US" altLang="zh-CN" dirty="0"/>
              </a:p>
              <a:p>
                <a:pPr lvl="1">
                  <a:buClr>
                    <a:schemeClr val="tx1"/>
                  </a:buClr>
                </a:pPr>
                <a:endParaRPr lang="en-US" altLang="zh-CN" dirty="0"/>
              </a:p>
              <a:p>
                <a:pPr lvl="1">
                  <a:buClr>
                    <a:schemeClr val="tx1"/>
                  </a:buClr>
                </a:pPr>
                <a:r>
                  <a:rPr lang="zh-CN" altLang="en-US" dirty="0">
                    <a:solidFill>
                      <a:srgbClr val="0000FF"/>
                    </a:solidFill>
                  </a:rPr>
                  <a:t>缩放变换</a:t>
                </a:r>
                <a:r>
                  <a:rPr lang="zh-CN" altLang="en-US" dirty="0"/>
                  <a:t>：把棱台的侧面变成</a:t>
                </a:r>
                <a14:m>
                  <m:oMath xmlns:m="http://schemas.openxmlformats.org/officeDocument/2006/math">
                    <m:r>
                      <a:rPr lang="en-US" altLang="zh-CN" i="1">
                        <a:latin typeface="Cambria Math" panose="02040503050406030204" charset="0"/>
                      </a:rPr>
                      <m:t>𝑥</m:t>
                    </m:r>
                    <m:r>
                      <a:rPr lang="en-US" altLang="zh-CN" i="1">
                        <a:latin typeface="Cambria Math" panose="02040503050406030204" charset="0"/>
                      </a:rPr>
                      <m:t>=±</m:t>
                    </m:r>
                    <m:r>
                      <a:rPr lang="en-US" altLang="zh-CN" i="1">
                        <a:latin typeface="Cambria Math" panose="02040503050406030204" charset="0"/>
                        <a:ea typeface="Cambria Math" panose="02040503050406030204" charset="0"/>
                        <a:cs typeface="Cambria Math" panose="02040503050406030204" charset="0"/>
                      </a:rPr>
                      <m:t>𝑧</m:t>
                    </m:r>
                  </m:oMath>
                </a14:m>
                <a:r>
                  <a:rPr lang="zh-CN" altLang="en-US" dirty="0">
                    <a:ea typeface="Cambria Math" panose="02040503050406030204" charset="0"/>
                    <a:cs typeface="Cambria Math" panose="02040503050406030204" charset="0"/>
                  </a:rPr>
                  <a:t>和</a:t>
                </a:r>
                <a14:m>
                  <m:oMath xmlns:m="http://schemas.openxmlformats.org/officeDocument/2006/math">
                    <m:r>
                      <a:rPr lang="en-US" altLang="zh-CN" b="0" i="1" dirty="0" smtClean="0">
                        <a:latin typeface="Cambria Math" panose="02040503050406030204" charset="0"/>
                        <a:ea typeface="Cambria Math" panose="02040503050406030204" charset="0"/>
                        <a:cs typeface="Cambria Math" panose="02040503050406030204" charset="0"/>
                      </a:rPr>
                      <m:t>𝑦</m:t>
                    </m:r>
                    <m:r>
                      <a:rPr lang="en-US" altLang="zh-CN" i="1">
                        <a:latin typeface="Cambria Math" panose="02040503050406030204" charset="0"/>
                      </a:rPr>
                      <m:t>=±</m:t>
                    </m:r>
                    <m:r>
                      <a:rPr lang="en-US" altLang="zh-CN" i="1">
                        <a:latin typeface="Cambria Math" panose="02040503050406030204" charset="0"/>
                        <a:ea typeface="Cambria Math" panose="02040503050406030204" charset="0"/>
                        <a:cs typeface="Cambria Math" panose="02040503050406030204" charset="0"/>
                      </a:rPr>
                      <m:t>𝑧</m:t>
                    </m:r>
                  </m:oMath>
                </a14:m>
                <a:endParaRPr lang="en-US" altLang="zh-CN" dirty="0"/>
              </a:p>
              <a:p>
                <a:pPr lvl="1">
                  <a:buClr>
                    <a:schemeClr val="tx1"/>
                  </a:buClr>
                </a:pPr>
                <a:endParaRPr lang="en-US" altLang="zh-CN" dirty="0"/>
              </a:p>
              <a:p>
                <a:pPr lvl="1">
                  <a:buClr>
                    <a:schemeClr val="tx1"/>
                  </a:buClr>
                </a:pPr>
                <a:endParaRPr lang="en-US" altLang="zh-CN" dirty="0"/>
              </a:p>
              <a:p>
                <a:pPr lvl="1">
                  <a:buClr>
                    <a:schemeClr val="tx1"/>
                  </a:buClr>
                </a:pPr>
                <a:r>
                  <a:rPr lang="zh-CN" altLang="en-US" dirty="0">
                    <a:solidFill>
                      <a:srgbClr val="0000FF"/>
                    </a:solidFill>
                  </a:rPr>
                  <a:t>透视规范化变换</a:t>
                </a:r>
              </a:p>
              <a:p>
                <a:pPr lvl="1">
                  <a:buClr>
                    <a:schemeClr val="tx1"/>
                  </a:buClr>
                </a:pPr>
                <a:endParaRPr lang="en-US" altLang="zh-CN" dirty="0"/>
              </a:p>
              <a:p>
                <a:pPr lvl="1">
                  <a:buClr>
                    <a:srgbClr val="94003F"/>
                  </a:buClr>
                </a:pPr>
                <a:endParaRPr lang="en-US" altLang="zh-CN" dirty="0"/>
              </a:p>
              <a:p>
                <a:pPr>
                  <a:buClr>
                    <a:srgbClr val="94003F"/>
                  </a:buClr>
                </a:pPr>
                <a:endParaRPr lang="en-US" altLang="zh-CN" sz="2400" dirty="0"/>
              </a:p>
              <a:p>
                <a:pPr marL="0" indent="0">
                  <a:buClr>
                    <a:srgbClr val="94003F"/>
                  </a:buClr>
                  <a:buNone/>
                </a:pPr>
                <a:endParaRPr lang="en-US" altLang="zh-CN" sz="2400" dirty="0"/>
              </a:p>
              <a:p>
                <a:pPr>
                  <a:buClr>
                    <a:srgbClr val="94003F"/>
                  </a:buClr>
                </a:pPr>
                <a:endParaRPr lang="en-US" altLang="zh-CN" sz="2400" dirty="0"/>
              </a:p>
              <a:p>
                <a:pPr>
                  <a:buClr>
                    <a:srgbClr val="94003F"/>
                  </a:buClr>
                </a:pPr>
                <a:endParaRPr lang="en-US" altLang="zh-CN" sz="2400" dirty="0"/>
              </a:p>
            </p:txBody>
          </p:sp>
        </mc:Choice>
        <mc:Fallback xmlns="">
          <p:sp>
            <p:nvSpPr>
              <p:cNvPr id="3" name="内容占位符 2"/>
              <p:cNvSpPr>
                <a:spLocks noRot="1" noChangeAspect="1" noMove="1" noResize="1" noEditPoints="1" noAdjustHandles="1" noChangeArrowheads="1" noChangeShapeType="1" noTextEdit="1"/>
              </p:cNvSpPr>
              <p:nvPr>
                <p:ph idx="1"/>
              </p:nvPr>
            </p:nvSpPr>
            <p:spPr>
              <a:blipFill rotWithShape="1">
                <a:blip r:embed="rId2"/>
                <a:stretch>
                  <a:fillRect t="-478" b="-21638"/>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48</a:t>
            </a:fld>
            <a:endParaRPr lang="zh-CN" altLang="en-US"/>
          </a:p>
        </p:txBody>
      </p:sp>
      <p:pic>
        <p:nvPicPr>
          <p:cNvPr id="15" name="图片 14"/>
          <p:cNvPicPr>
            <a:picLocks noChangeAspect="1"/>
          </p:cNvPicPr>
          <p:nvPr/>
        </p:nvPicPr>
        <p:blipFill>
          <a:blip r:embed="rId3"/>
          <a:stretch>
            <a:fillRect/>
          </a:stretch>
        </p:blipFill>
        <p:spPr>
          <a:xfrm>
            <a:off x="1378547" y="2144635"/>
            <a:ext cx="5439846" cy="580969"/>
          </a:xfrm>
          <a:prstGeom prst="rect">
            <a:avLst/>
          </a:prstGeom>
        </p:spPr>
      </p:pic>
      <p:pic>
        <p:nvPicPr>
          <p:cNvPr id="25" name="图片 24"/>
          <p:cNvPicPr>
            <a:picLocks noChangeAspect="1"/>
          </p:cNvPicPr>
          <p:nvPr/>
        </p:nvPicPr>
        <p:blipFill>
          <a:blip r:embed="rId4"/>
          <a:stretch>
            <a:fillRect/>
          </a:stretch>
        </p:blipFill>
        <p:spPr>
          <a:xfrm>
            <a:off x="1342934" y="3278860"/>
            <a:ext cx="5511073" cy="306737"/>
          </a:xfrm>
          <a:prstGeom prst="rect">
            <a:avLst/>
          </a:prstGeom>
        </p:spPr>
      </p:pic>
      <p:pic>
        <p:nvPicPr>
          <p:cNvPr id="26" name="图片 25"/>
          <p:cNvPicPr>
            <a:picLocks noChangeAspect="1"/>
          </p:cNvPicPr>
          <p:nvPr/>
        </p:nvPicPr>
        <p:blipFill>
          <a:blip r:embed="rId5"/>
          <a:stretch>
            <a:fillRect/>
          </a:stretch>
        </p:blipFill>
        <p:spPr>
          <a:xfrm>
            <a:off x="1378547" y="4440070"/>
            <a:ext cx="2137283" cy="1226457"/>
          </a:xfrm>
          <a:prstGeom prst="rect">
            <a:avLst/>
          </a:prstGeom>
        </p:spPr>
      </p:pic>
      <p:pic>
        <p:nvPicPr>
          <p:cNvPr id="27" name="图片 26"/>
          <p:cNvPicPr>
            <a:picLocks noChangeAspect="1"/>
          </p:cNvPicPr>
          <p:nvPr/>
        </p:nvPicPr>
        <p:blipFill>
          <a:blip r:embed="rId6"/>
          <a:stretch>
            <a:fillRect/>
          </a:stretch>
        </p:blipFill>
        <p:spPr>
          <a:xfrm>
            <a:off x="4044963" y="4281148"/>
            <a:ext cx="5095442" cy="1417313"/>
          </a:xfrm>
          <a:prstGeom prst="rect">
            <a:avLst/>
          </a:prstGeom>
        </p:spPr>
      </p:pic>
      <p:sp>
        <p:nvSpPr>
          <p:cNvPr id="6" name="Right Arrow 5"/>
          <p:cNvSpPr/>
          <p:nvPr/>
        </p:nvSpPr>
        <p:spPr>
          <a:xfrm>
            <a:off x="3646406" y="4866148"/>
            <a:ext cx="296272" cy="24731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透视函数矩阵</a:t>
            </a:r>
          </a:p>
        </p:txBody>
      </p:sp>
      <p:sp>
        <p:nvSpPr>
          <p:cNvPr id="3" name="内容占位符 2"/>
          <p:cNvSpPr>
            <a:spLocks noGrp="1"/>
          </p:cNvSpPr>
          <p:nvPr>
            <p:ph idx="1"/>
          </p:nvPr>
        </p:nvSpPr>
        <p:spPr/>
        <p:txBody>
          <a:bodyPr>
            <a:normAutofit/>
          </a:bodyPr>
          <a:lstStyle/>
          <a:p>
            <a:pPr>
              <a:buClr>
                <a:srgbClr val="94003F"/>
              </a:buClr>
            </a:pPr>
            <a:r>
              <a:rPr lang="zh-CN" altLang="en-US" dirty="0"/>
              <a:t>透视函数的矩阵</a:t>
            </a:r>
            <a:r>
              <a:rPr lang="en-US" altLang="zh-CN" dirty="0"/>
              <a:t>?</a:t>
            </a:r>
          </a:p>
          <a:p>
            <a:pPr lvl="1">
              <a:buClr>
                <a:schemeClr val="tx1"/>
              </a:buClr>
            </a:pPr>
            <a:endParaRPr lang="en-US" altLang="zh-CN" dirty="0"/>
          </a:p>
          <a:p>
            <a:pPr lvl="1">
              <a:buClr>
                <a:srgbClr val="94003F"/>
              </a:buClr>
            </a:pPr>
            <a:endParaRPr lang="en-US" altLang="zh-CN" dirty="0"/>
          </a:p>
          <a:p>
            <a:pPr>
              <a:buClr>
                <a:srgbClr val="94003F"/>
              </a:buClr>
            </a:pPr>
            <a:endParaRPr lang="en-US" altLang="zh-CN" sz="2400" dirty="0"/>
          </a:p>
          <a:p>
            <a:pPr marL="0" indent="0">
              <a:buClr>
                <a:srgbClr val="94003F"/>
              </a:buClr>
              <a:buNone/>
            </a:pPr>
            <a:endParaRPr lang="en-US" altLang="zh-CN" sz="2400" dirty="0"/>
          </a:p>
          <a:p>
            <a:pPr>
              <a:buClr>
                <a:srgbClr val="94003F"/>
              </a:buClr>
            </a:pPr>
            <a:endParaRPr lang="en-US" altLang="zh-CN" sz="2400" dirty="0"/>
          </a:p>
          <a:p>
            <a:pPr>
              <a:buClr>
                <a:srgbClr val="94003F"/>
              </a:buClr>
            </a:pPr>
            <a:endParaRPr lang="en-US" altLang="zh-CN" sz="24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49</a:t>
            </a:fld>
            <a:endParaRPr lang="zh-CN" altLang="en-US"/>
          </a:p>
        </p:txBody>
      </p:sp>
      <p:sp>
        <p:nvSpPr>
          <p:cNvPr id="10" name="矩形 6"/>
          <p:cNvSpPr/>
          <p:nvPr/>
        </p:nvSpPr>
        <p:spPr>
          <a:xfrm>
            <a:off x="1073094" y="2081684"/>
            <a:ext cx="3929798" cy="1200329"/>
          </a:xfrm>
          <a:prstGeom prst="rect">
            <a:avLst/>
          </a:prstGeom>
          <a:solidFill>
            <a:srgbClr val="BDD7EE">
              <a:alpha val="52941"/>
            </a:srgbClr>
          </a:solidFill>
        </p:spPr>
        <p:txBody>
          <a:bodyPr wrap="square">
            <a:spAutoFit/>
          </a:bodyPr>
          <a:lstStyle/>
          <a:p>
            <a:r>
              <a:rPr lang="en-US" altLang="zh-CN" b="1" dirty="0">
                <a:solidFill>
                  <a:srgbClr val="0000FF"/>
                </a:solidFill>
                <a:latin typeface="ZztexMono-Regular"/>
              </a:rPr>
              <a:t>mat4 </a:t>
            </a:r>
            <a:r>
              <a:rPr lang="en-US" altLang="zh-CN" b="1" dirty="0">
                <a:latin typeface="ZztexMono-Regular"/>
              </a:rPr>
              <a:t>Perspective(</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err="1">
                <a:latin typeface="ZztexMono-Regular"/>
              </a:rPr>
              <a:t>fovy</a:t>
            </a:r>
            <a:r>
              <a:rPr lang="en-US" altLang="zh-CN" b="1" dirty="0">
                <a:latin typeface="ZztexMono-Regular"/>
              </a:rPr>
              <a:t>,</a:t>
            </a:r>
            <a:r>
              <a:rPr lang="en-US" altLang="zh-CN" b="1" dirty="0">
                <a:solidFill>
                  <a:srgbClr val="0000FF"/>
                </a:solidFill>
                <a:latin typeface="ZztexMono-Regular"/>
              </a:rPr>
              <a:t> 		</a:t>
            </a:r>
            <a:r>
              <a:rPr lang="zh-CN" altLang="en-US" b="1"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aspect,</a:t>
            </a:r>
            <a:r>
              <a:rPr lang="en-US" altLang="zh-CN" b="1" dirty="0">
                <a:solidFill>
                  <a:srgbClr val="0000FF"/>
                </a:solidFill>
                <a:latin typeface="ZztexMono-Regular"/>
              </a:rPr>
              <a:t> </a:t>
            </a:r>
            <a:r>
              <a:rPr lang="zh-CN" altLang="en-US" b="1" dirty="0">
                <a:solidFill>
                  <a:srgbClr val="0000FF"/>
                </a:solidFill>
                <a:latin typeface="ZztexMono-Regular"/>
              </a:rPr>
              <a:t> </a:t>
            </a:r>
            <a:r>
              <a:rPr lang="en-US" altLang="zh-CN" b="1" dirty="0">
                <a:solidFill>
                  <a:srgbClr val="0000FF"/>
                </a:solidFill>
                <a:latin typeface="ZztexMono-Regular"/>
              </a:rPr>
              <a:t>	</a:t>
            </a:r>
            <a:r>
              <a:rPr lang="zh-CN" altLang="en-US" b="1" dirty="0">
                <a:solidFill>
                  <a:srgbClr val="0000FF"/>
                </a:solidFill>
                <a:latin typeface="ZztexMono-Regular"/>
              </a:rPr>
              <a:t>  </a:t>
            </a:r>
            <a:r>
              <a:rPr lang="en-US" altLang="zh-CN" b="1" dirty="0">
                <a:solidFill>
                  <a:srgbClr val="0000FF"/>
                </a:solidFill>
                <a:latin typeface="ZztexMono-Regular"/>
              </a:rPr>
              <a:t>	</a:t>
            </a:r>
            <a:r>
              <a:rPr lang="zh-CN" altLang="en-US" b="1" dirty="0">
                <a:solidFill>
                  <a:srgbClr val="0000FF"/>
                </a:solidFill>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near, 		</a:t>
            </a:r>
            <a:r>
              <a:rPr lang="zh-CN" altLang="en-US" b="1" dirty="0">
                <a:latin typeface="ZztexMono-Regular"/>
              </a:rPr>
              <a:t>              </a:t>
            </a:r>
            <a:r>
              <a:rPr lang="en-US" altLang="zh-CN" b="1" dirty="0" err="1">
                <a:solidFill>
                  <a:srgbClr val="0000FF"/>
                </a:solidFill>
                <a:latin typeface="ZztexMono-Regular"/>
              </a:rPr>
              <a:t>GLfloat</a:t>
            </a:r>
            <a:r>
              <a:rPr lang="en-US" altLang="zh-CN" b="1" dirty="0">
                <a:solidFill>
                  <a:srgbClr val="0000FF"/>
                </a:solidFill>
                <a:latin typeface="ZztexMono-Regular"/>
              </a:rPr>
              <a:t> </a:t>
            </a:r>
            <a:r>
              <a:rPr lang="en-US" altLang="zh-CN" b="1" dirty="0">
                <a:latin typeface="ZztexMono-Regular"/>
              </a:rPr>
              <a:t>far);</a:t>
            </a:r>
            <a:endParaRPr lang="zh-CN" altLang="en-US" dirty="0"/>
          </a:p>
        </p:txBody>
      </p:sp>
      <p:sp>
        <p:nvSpPr>
          <p:cNvPr id="5" name="Right Arrow 4"/>
          <p:cNvSpPr/>
          <p:nvPr/>
        </p:nvSpPr>
        <p:spPr>
          <a:xfrm>
            <a:off x="5380074" y="2509284"/>
            <a:ext cx="180754" cy="27644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Box 6"/>
          <p:cNvSpPr txBox="1"/>
          <p:nvPr/>
        </p:nvSpPr>
        <p:spPr>
          <a:xfrm>
            <a:off x="5890438" y="2046333"/>
            <a:ext cx="1274003" cy="369332"/>
          </a:xfrm>
          <a:prstGeom prst="rect">
            <a:avLst/>
          </a:prstGeom>
          <a:noFill/>
        </p:spPr>
        <p:txBody>
          <a:bodyPr wrap="none" rtlCol="0">
            <a:spAutoFit/>
          </a:bodyPr>
          <a:lstStyle/>
          <a:p>
            <a:r>
              <a:rPr lang="en-US" altLang="zh-CN" dirty="0"/>
              <a:t>left</a:t>
            </a:r>
            <a:r>
              <a:rPr lang="zh-CN" altLang="en-US" dirty="0"/>
              <a:t> </a:t>
            </a:r>
            <a:r>
              <a:rPr lang="en-US" altLang="zh-CN" dirty="0"/>
              <a:t>=</a:t>
            </a:r>
            <a:r>
              <a:rPr lang="zh-CN" altLang="en-US" dirty="0"/>
              <a:t> </a:t>
            </a:r>
            <a:r>
              <a:rPr lang="en-US" altLang="zh-CN" dirty="0"/>
              <a:t>-right</a:t>
            </a:r>
            <a:endParaRPr lang="en-US" dirty="0"/>
          </a:p>
        </p:txBody>
      </p:sp>
      <p:sp>
        <p:nvSpPr>
          <p:cNvPr id="13" name="TextBox 12"/>
          <p:cNvSpPr txBox="1"/>
          <p:nvPr/>
        </p:nvSpPr>
        <p:spPr>
          <a:xfrm>
            <a:off x="7303673" y="2046333"/>
            <a:ext cx="1496628" cy="369332"/>
          </a:xfrm>
          <a:prstGeom prst="rect">
            <a:avLst/>
          </a:prstGeom>
          <a:noFill/>
        </p:spPr>
        <p:txBody>
          <a:bodyPr wrap="none" rtlCol="0">
            <a:spAutoFit/>
          </a:bodyPr>
          <a:lstStyle/>
          <a:p>
            <a:r>
              <a:rPr lang="en-US" altLang="zh-CN" dirty="0"/>
              <a:t>bottom</a:t>
            </a:r>
            <a:r>
              <a:rPr lang="zh-CN" altLang="en-US" dirty="0"/>
              <a:t> </a:t>
            </a:r>
            <a:r>
              <a:rPr lang="en-US" altLang="zh-CN" dirty="0"/>
              <a:t>=</a:t>
            </a:r>
            <a:r>
              <a:rPr lang="zh-CN" altLang="en-US" dirty="0"/>
              <a:t> </a:t>
            </a:r>
            <a:r>
              <a:rPr lang="en-US" altLang="zh-CN" dirty="0"/>
              <a:t>-top</a:t>
            </a:r>
            <a:endParaRPr lang="en-US" dirty="0"/>
          </a:p>
        </p:txBody>
      </p:sp>
      <p:sp>
        <p:nvSpPr>
          <p:cNvPr id="8" name="TextBox 7"/>
          <p:cNvSpPr txBox="1"/>
          <p:nvPr/>
        </p:nvSpPr>
        <p:spPr>
          <a:xfrm>
            <a:off x="5890438" y="2504852"/>
            <a:ext cx="2111925" cy="369332"/>
          </a:xfrm>
          <a:prstGeom prst="rect">
            <a:avLst/>
          </a:prstGeom>
          <a:noFill/>
        </p:spPr>
        <p:txBody>
          <a:bodyPr wrap="none" rtlCol="0">
            <a:spAutoFit/>
          </a:bodyPr>
          <a:lstStyle/>
          <a:p>
            <a:r>
              <a:rPr lang="en-US" altLang="zh-CN" dirty="0"/>
              <a:t>top</a:t>
            </a:r>
            <a:r>
              <a:rPr lang="zh-CN" altLang="en-US" dirty="0"/>
              <a:t> </a:t>
            </a:r>
            <a:r>
              <a:rPr lang="en-US" altLang="zh-CN" dirty="0"/>
              <a:t>=</a:t>
            </a:r>
            <a:r>
              <a:rPr lang="zh-CN" altLang="en-US" dirty="0"/>
              <a:t> </a:t>
            </a:r>
            <a:r>
              <a:rPr lang="en-US" altLang="zh-CN" dirty="0"/>
              <a:t>near</a:t>
            </a:r>
            <a:r>
              <a:rPr lang="zh-CN" altLang="en-US" dirty="0"/>
              <a:t>*</a:t>
            </a:r>
            <a:r>
              <a:rPr lang="en-US" altLang="zh-CN" dirty="0"/>
              <a:t>tan(</a:t>
            </a:r>
            <a:r>
              <a:rPr lang="en-US" altLang="zh-CN" dirty="0" err="1"/>
              <a:t>fovy</a:t>
            </a:r>
            <a:r>
              <a:rPr lang="en-US" altLang="zh-CN" dirty="0"/>
              <a:t>)</a:t>
            </a:r>
          </a:p>
        </p:txBody>
      </p:sp>
      <p:sp>
        <p:nvSpPr>
          <p:cNvPr id="9" name="Rectangle 8"/>
          <p:cNvSpPr/>
          <p:nvPr/>
        </p:nvSpPr>
        <p:spPr>
          <a:xfrm>
            <a:off x="5897234" y="2913267"/>
            <a:ext cx="1890967" cy="369332"/>
          </a:xfrm>
          <a:prstGeom prst="rect">
            <a:avLst/>
          </a:prstGeom>
        </p:spPr>
        <p:txBody>
          <a:bodyPr wrap="none">
            <a:spAutoFit/>
          </a:bodyPr>
          <a:lstStyle/>
          <a:p>
            <a:r>
              <a:rPr lang="en-US" altLang="zh-CN"/>
              <a:t>right</a:t>
            </a:r>
            <a:r>
              <a:rPr lang="zh-CN" altLang="en-US" dirty="0"/>
              <a:t> </a:t>
            </a:r>
            <a:r>
              <a:rPr lang="en-US" altLang="zh-CN" dirty="0"/>
              <a:t>=</a:t>
            </a:r>
            <a:r>
              <a:rPr lang="zh-CN" altLang="en-US" dirty="0"/>
              <a:t> </a:t>
            </a:r>
            <a:r>
              <a:rPr lang="en-US" altLang="zh-CN" dirty="0"/>
              <a:t>top</a:t>
            </a:r>
            <a:r>
              <a:rPr lang="zh-CN" altLang="en-US" dirty="0"/>
              <a:t>*</a:t>
            </a:r>
            <a:r>
              <a:rPr lang="en-US" altLang="zh-CN" dirty="0"/>
              <a:t>aspect</a:t>
            </a:r>
            <a:endParaRPr lang="en-US" dirty="0"/>
          </a:p>
        </p:txBody>
      </p:sp>
      <p:pic>
        <p:nvPicPr>
          <p:cNvPr id="16" name="图片 26"/>
          <p:cNvPicPr>
            <a:picLocks noChangeAspect="1"/>
          </p:cNvPicPr>
          <p:nvPr/>
        </p:nvPicPr>
        <p:blipFill rotWithShape="1">
          <a:blip r:embed="rId2"/>
          <a:srcRect l="19946"/>
          <a:stretch>
            <a:fillRect/>
          </a:stretch>
        </p:blipFill>
        <p:spPr>
          <a:xfrm>
            <a:off x="874741" y="4062205"/>
            <a:ext cx="4079067" cy="1417313"/>
          </a:xfrm>
          <a:prstGeom prst="rect">
            <a:avLst/>
          </a:prstGeom>
        </p:spPr>
      </p:pic>
      <p:sp>
        <p:nvSpPr>
          <p:cNvPr id="11" name="Right Arrow 10"/>
          <p:cNvSpPr/>
          <p:nvPr/>
        </p:nvSpPr>
        <p:spPr>
          <a:xfrm>
            <a:off x="5231797" y="4514025"/>
            <a:ext cx="164805" cy="29771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p:cNvPicPr>
            <a:picLocks noChangeAspect="1"/>
          </p:cNvPicPr>
          <p:nvPr/>
        </p:nvPicPr>
        <p:blipFill rotWithShape="1">
          <a:blip r:embed="rId3"/>
          <a:srcRect l="8827"/>
          <a:stretch>
            <a:fillRect/>
          </a:stretch>
        </p:blipFill>
        <p:spPr>
          <a:xfrm>
            <a:off x="5746859" y="3974137"/>
            <a:ext cx="2835164" cy="1505381"/>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3200401" y="2094748"/>
            <a:ext cx="3032598" cy="796287"/>
          </a:xfrm>
          <a:prstGeom prst="roundRect">
            <a:avLst>
              <a:gd name="adj" fmla="val 50000"/>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角矩形 2"/>
          <p:cNvSpPr/>
          <p:nvPr/>
        </p:nvSpPr>
        <p:spPr>
          <a:xfrm>
            <a:off x="5418743" y="2115257"/>
            <a:ext cx="788833" cy="749851"/>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大纲</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50</a:t>
            </a:fld>
            <a:endParaRPr lang="zh-CN" altLang="en-US"/>
          </a:p>
        </p:txBody>
      </p:sp>
      <p:sp>
        <p:nvSpPr>
          <p:cNvPr id="8" name="文本框 7"/>
          <p:cNvSpPr txBox="1"/>
          <p:nvPr/>
        </p:nvSpPr>
        <p:spPr>
          <a:xfrm>
            <a:off x="3678001" y="3364107"/>
            <a:ext cx="2031325" cy="646331"/>
          </a:xfrm>
          <a:prstGeom prst="rect">
            <a:avLst/>
          </a:prstGeom>
          <a:noFill/>
        </p:spPr>
        <p:txBody>
          <a:bodyPr wrap="none" rtlCol="0">
            <a:spAutoFit/>
          </a:bodyPr>
          <a:lstStyle/>
          <a:p>
            <a:pPr algn="ctr"/>
            <a:r>
              <a:rPr lang="zh-CN" altLang="en-US" sz="3600" b="1" dirty="0">
                <a:latin typeface="微软雅黑" panose="020B0503020204020204" pitchFamily="34" charset="-122"/>
                <a:ea typeface="微软雅黑" panose="020B0503020204020204" pitchFamily="34" charset="-122"/>
              </a:rPr>
              <a:t>明暗绘制</a:t>
            </a:r>
          </a:p>
        </p:txBody>
      </p:sp>
      <p:sp>
        <p:nvSpPr>
          <p:cNvPr id="11" name="文本框 10"/>
          <p:cNvSpPr txBox="1"/>
          <p:nvPr/>
        </p:nvSpPr>
        <p:spPr>
          <a:xfrm>
            <a:off x="3376147" y="2138948"/>
            <a:ext cx="1755609" cy="707886"/>
          </a:xfrm>
          <a:prstGeom prst="rect">
            <a:avLst/>
          </a:prstGeom>
          <a:noFill/>
        </p:spPr>
        <p:txBody>
          <a:bodyPr wrap="none" rtlCol="0">
            <a:spAutoFit/>
          </a:bodyPr>
          <a:lstStyle/>
          <a:p>
            <a:pPr algn="ctr"/>
            <a:r>
              <a:rPr lang="en-US" altLang="zh-CN" sz="4000" b="1" dirty="0">
                <a:solidFill>
                  <a:schemeClr val="bg1"/>
                </a:solidFill>
              </a:rPr>
              <a:t>Section</a:t>
            </a:r>
            <a:endParaRPr lang="zh-CN" altLang="en-US" sz="4000" b="1" dirty="0">
              <a:solidFill>
                <a:schemeClr val="bg1"/>
              </a:solidFill>
            </a:endParaRPr>
          </a:p>
        </p:txBody>
      </p:sp>
      <p:sp>
        <p:nvSpPr>
          <p:cNvPr id="12" name="文本框 11"/>
          <p:cNvSpPr txBox="1"/>
          <p:nvPr/>
        </p:nvSpPr>
        <p:spPr>
          <a:xfrm>
            <a:off x="5523180" y="1913900"/>
            <a:ext cx="614271" cy="1107996"/>
          </a:xfrm>
          <a:prstGeom prst="rect">
            <a:avLst/>
          </a:prstGeom>
          <a:noFill/>
        </p:spPr>
        <p:txBody>
          <a:bodyPr wrap="none" rtlCol="0">
            <a:spAutoFit/>
          </a:bodyPr>
          <a:lstStyle/>
          <a:p>
            <a:pPr algn="ctr"/>
            <a:r>
              <a:rPr lang="en-US" altLang="zh-CN" sz="6600" b="1" i="1" dirty="0">
                <a:solidFill>
                  <a:srgbClr val="94003F"/>
                </a:solidFill>
              </a:rPr>
              <a:t>3</a:t>
            </a:r>
            <a:endParaRPr lang="zh-CN" altLang="en-US" sz="6600" b="1" i="1" dirty="0">
              <a:solidFill>
                <a:srgbClr val="94003F"/>
              </a:solidFill>
            </a:endParaRPr>
          </a:p>
        </p:txBody>
      </p:sp>
      <p:sp>
        <p:nvSpPr>
          <p:cNvPr id="6" name="等腰三角形 5"/>
          <p:cNvSpPr/>
          <p:nvPr/>
        </p:nvSpPr>
        <p:spPr>
          <a:xfrm rot="10800000">
            <a:off x="4447572" y="2804325"/>
            <a:ext cx="492176" cy="321924"/>
          </a:xfrm>
          <a:prstGeom prst="triangl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明暗绘制</a:t>
            </a:r>
            <a:endParaRPr lang="en-US" dirty="0"/>
          </a:p>
        </p:txBody>
      </p:sp>
      <p:sp>
        <p:nvSpPr>
          <p:cNvPr id="5" name="Content Placeholder 4"/>
          <p:cNvSpPr>
            <a:spLocks noGrp="1"/>
          </p:cNvSpPr>
          <p:nvPr>
            <p:ph idx="1"/>
          </p:nvPr>
        </p:nvSpPr>
        <p:spPr/>
        <p:txBody>
          <a:bodyPr/>
          <a:lstStyle/>
          <a:p>
            <a:r>
              <a:rPr lang="zh-CN" altLang="en-US" dirty="0"/>
              <a:t>绘制</a:t>
            </a:r>
            <a:endParaRPr lang="en-US" altLang="zh-CN" dirty="0"/>
          </a:p>
          <a:p>
            <a:pPr lvl="1"/>
            <a:r>
              <a:rPr lang="zh-CN" altLang="en-US" dirty="0"/>
              <a:t>几何对象</a:t>
            </a:r>
            <a:endParaRPr lang="en-US" altLang="zh-CN" dirty="0"/>
          </a:p>
          <a:p>
            <a:pPr lvl="1"/>
            <a:r>
              <a:rPr lang="zh-CN" altLang="en-US" dirty="0"/>
              <a:t>观察</a:t>
            </a:r>
            <a:endParaRPr lang="en-US" altLang="zh-CN" dirty="0"/>
          </a:p>
          <a:p>
            <a:pPr lvl="2"/>
            <a:r>
              <a:rPr lang="zh-CN" altLang="en-US" dirty="0"/>
              <a:t>相机位置</a:t>
            </a:r>
            <a:endParaRPr lang="en-US" altLang="zh-CN" dirty="0"/>
          </a:p>
          <a:p>
            <a:pPr lvl="2"/>
            <a:r>
              <a:rPr lang="zh-CN" altLang="en-US" dirty="0"/>
              <a:t>投影方式</a:t>
            </a:r>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t>51</a:t>
            </a:fld>
            <a:endParaRPr lang="zh-CN" altLang="en-US" dirty="0"/>
          </a:p>
        </p:txBody>
      </p:sp>
      <p:pic>
        <p:nvPicPr>
          <p:cNvPr id="6" name="Picture 4"/>
          <p:cNvPicPr>
            <a:picLocks noChangeAspect="1" noChangeArrowheads="1"/>
          </p:cNvPicPr>
          <p:nvPr/>
        </p:nvPicPr>
        <p:blipFill>
          <a:blip r:embed="rId2">
            <a:extLst>
              <a:ext uri="{28A0092B-C50C-407E-A947-70E740481C1C}">
                <a14:useLocalDpi xmlns:a14="http://schemas.microsoft.com/office/drawing/2010/main" val="0"/>
              </a:ext>
            </a:extLst>
          </a:blip>
          <a:srcRect t="29138" b="23181"/>
          <a:stretch>
            <a:fillRect/>
          </a:stretch>
        </p:blipFill>
        <p:spPr bwMode="auto">
          <a:xfrm>
            <a:off x="3519659" y="1316831"/>
            <a:ext cx="4522162" cy="2152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pic>
      <p:pic>
        <p:nvPicPr>
          <p:cNvPr id="7" name="Picture 5"/>
          <p:cNvPicPr>
            <a:picLocks noChangeAspect="1" noChangeArrowheads="1"/>
          </p:cNvPicPr>
          <p:nvPr/>
        </p:nvPicPr>
        <p:blipFill>
          <a:blip r:embed="rId3">
            <a:extLst>
              <a:ext uri="{28A0092B-C50C-407E-A947-70E740481C1C}">
                <a14:useLocalDpi xmlns:a14="http://schemas.microsoft.com/office/drawing/2010/main" val="0"/>
              </a:ext>
            </a:extLst>
          </a:blip>
          <a:srcRect t="27321" b="25000"/>
          <a:stretch>
            <a:fillRect/>
          </a:stretch>
        </p:blipFill>
        <p:spPr bwMode="auto">
          <a:xfrm>
            <a:off x="3519659" y="4157119"/>
            <a:ext cx="4522161" cy="2152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pic>
      <p:sp>
        <p:nvSpPr>
          <p:cNvPr id="8" name="Down Arrow 7"/>
          <p:cNvSpPr/>
          <p:nvPr/>
        </p:nvSpPr>
        <p:spPr>
          <a:xfrm>
            <a:off x="4493330" y="3617761"/>
            <a:ext cx="416242" cy="42827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5109396" y="3628362"/>
            <a:ext cx="1800493" cy="369332"/>
          </a:xfrm>
          <a:prstGeom prst="rect">
            <a:avLst/>
          </a:prstGeom>
          <a:noFill/>
        </p:spPr>
        <p:txBody>
          <a:bodyPr wrap="none" rtlCol="0">
            <a:spAutoFit/>
          </a:bodyPr>
          <a:lstStyle/>
          <a:p>
            <a:r>
              <a:rPr lang="zh-CN" altLang="en-US" b="1"/>
              <a:t>光照和明暗绘制</a:t>
            </a:r>
            <a:endParaRPr lang="en-US" b="1" dirty="0"/>
          </a:p>
        </p:txBody>
      </p:sp>
      <p:pic>
        <p:nvPicPr>
          <p:cNvPr id="10" name="图片 2" descr="C:\Users\LEO\AppData\Local\Microsoft\Windows\INetCache\Content.Word\QQ截图20160824161701.png"/>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89973" y="3708336"/>
            <a:ext cx="2535630" cy="2648014"/>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up)">
                                      <p:cBhvr>
                                        <p:cTn id="11" dur="500"/>
                                        <p:tgtEl>
                                          <p:spTgt spid="8"/>
                                        </p:tgtEl>
                                      </p:cBhvr>
                                    </p:animEffect>
                                  </p:childTnLst>
                                </p:cTn>
                              </p:par>
                              <p:par>
                                <p:cTn id="12" presetID="22" presetClass="entr" presetSubtype="1"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up)">
                                      <p:cBhvr>
                                        <p:cTn id="14" dur="5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光线与材质</a:t>
            </a:r>
            <a:endParaRPr lang="en-US" dirty="0"/>
          </a:p>
        </p:txBody>
      </p:sp>
      <p:sp>
        <p:nvSpPr>
          <p:cNvPr id="3" name="Content Placeholder 2"/>
          <p:cNvSpPr>
            <a:spLocks noGrp="1"/>
          </p:cNvSpPr>
          <p:nvPr>
            <p:ph idx="1"/>
          </p:nvPr>
        </p:nvSpPr>
        <p:spPr/>
        <p:txBody>
          <a:bodyPr/>
          <a:lstStyle/>
          <a:p>
            <a:r>
              <a:rPr lang="zh-CN" altLang="en-US" sz="2400" dirty="0"/>
              <a:t>曲面上某一点的颜色取决于</a:t>
            </a:r>
            <a:r>
              <a:rPr lang="zh-CN" altLang="en-US" sz="2400" dirty="0">
                <a:solidFill>
                  <a:srgbClr val="0000FF"/>
                </a:solidFill>
              </a:rPr>
              <a:t>光照与材质之间的多次作用</a:t>
            </a:r>
          </a:p>
          <a:p>
            <a:r>
              <a:rPr lang="zh-CN" altLang="en-US" sz="2400" dirty="0"/>
              <a:t>相互作用的三大分类：</a:t>
            </a:r>
            <a:endParaRPr lang="en-US" altLang="zh-CN" sz="2400" dirty="0"/>
          </a:p>
          <a:p>
            <a:pPr lvl="1"/>
            <a:r>
              <a:rPr lang="zh-CN" altLang="en-US" sz="1800" b="1" dirty="0"/>
              <a:t>镜面反射</a:t>
            </a:r>
            <a:r>
              <a:rPr lang="zh-CN" altLang="en-US" sz="1800" dirty="0"/>
              <a:t>：如镜子</a:t>
            </a:r>
            <a:endParaRPr lang="en-US" altLang="zh-CN" sz="1800" dirty="0"/>
          </a:p>
          <a:p>
            <a:pPr lvl="2"/>
            <a:r>
              <a:rPr lang="zh-CN" altLang="en-US" sz="1800" dirty="0"/>
              <a:t>可能有一部分入射光线被吸收，但是所有反射出去的光线都沿着同一个方向，反射光线的方向服从入射角等于反射角这一规律</a:t>
            </a:r>
            <a:endParaRPr lang="en-US" altLang="zh-CN" sz="1800" dirty="0"/>
          </a:p>
          <a:p>
            <a:pPr lvl="1"/>
            <a:r>
              <a:rPr lang="zh-CN" altLang="en-US" sz="1800" b="1" dirty="0"/>
              <a:t>漫反射</a:t>
            </a:r>
            <a:r>
              <a:rPr lang="zh-CN" altLang="en-US" sz="1800" dirty="0"/>
              <a:t>：如墙面</a:t>
            </a:r>
            <a:endParaRPr lang="en-US" altLang="zh-CN" sz="1800" dirty="0"/>
          </a:p>
          <a:p>
            <a:pPr lvl="2"/>
            <a:r>
              <a:rPr lang="zh-CN" altLang="en-US" sz="1800" dirty="0"/>
              <a:t>向各个方向散射的光线强度都相等</a:t>
            </a:r>
            <a:endParaRPr lang="en-US" altLang="zh-CN" sz="1800" dirty="0"/>
          </a:p>
          <a:p>
            <a:pPr lvl="1"/>
            <a:r>
              <a:rPr lang="zh-CN" altLang="en-US" sz="1800" b="1" dirty="0"/>
              <a:t>折射</a:t>
            </a:r>
            <a:r>
              <a:rPr lang="zh-CN" altLang="en-US" sz="1800" dirty="0"/>
              <a:t>：如玻璃和水</a:t>
            </a:r>
            <a:endParaRPr lang="en-US" altLang="zh-CN" sz="1800" dirty="0"/>
          </a:p>
          <a:p>
            <a:pPr lvl="2"/>
            <a:r>
              <a:rPr lang="zh-CN" altLang="en-US" sz="1800" dirty="0"/>
              <a:t>半透明表面，允许入射光线的一部分进入表面并且从对象的另一个位置再发射出去</a:t>
            </a:r>
            <a:endParaRPr lang="en-US" altLang="zh-CN" sz="1800"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t>52</a:t>
            </a:fld>
            <a:endParaRPr lang="zh-CN" altLang="en-US" dirty="0"/>
          </a:p>
        </p:txBody>
      </p:sp>
      <p:pic>
        <p:nvPicPr>
          <p:cNvPr id="5" name="图片 6"/>
          <p:cNvPicPr>
            <a:picLocks noChangeAspect="1"/>
          </p:cNvPicPr>
          <p:nvPr/>
        </p:nvPicPr>
        <p:blipFill>
          <a:blip r:embed="rId2"/>
          <a:stretch>
            <a:fillRect/>
          </a:stretch>
        </p:blipFill>
        <p:spPr>
          <a:xfrm>
            <a:off x="1356866" y="4725566"/>
            <a:ext cx="6242114" cy="1630784"/>
          </a:xfrm>
          <a:prstGeom prst="rect">
            <a:avLst/>
          </a:prstGeom>
        </p:spPr>
      </p:pic>
      <p:sp>
        <p:nvSpPr>
          <p:cNvPr id="6" name="文本框 7"/>
          <p:cNvSpPr txBox="1"/>
          <p:nvPr/>
        </p:nvSpPr>
        <p:spPr>
          <a:xfrm>
            <a:off x="1799271" y="6240503"/>
            <a:ext cx="1107996" cy="369332"/>
          </a:xfrm>
          <a:prstGeom prst="rect">
            <a:avLst/>
          </a:prstGeom>
          <a:noFill/>
        </p:spPr>
        <p:txBody>
          <a:bodyPr wrap="none" rtlCol="0">
            <a:spAutoFit/>
          </a:bodyPr>
          <a:lstStyle/>
          <a:p>
            <a:pPr algn="ctr"/>
            <a:r>
              <a:rPr lang="zh-CN" altLang="en-US" b="1" dirty="0">
                <a:latin typeface="微软雅黑" panose="020B0503020204020204" pitchFamily="34" charset="-122"/>
                <a:ea typeface="微软雅黑" panose="020B0503020204020204" pitchFamily="34" charset="-122"/>
              </a:rPr>
              <a:t>镜面反射</a:t>
            </a:r>
          </a:p>
        </p:txBody>
      </p:sp>
      <p:sp>
        <p:nvSpPr>
          <p:cNvPr id="7" name="文本框 8"/>
          <p:cNvSpPr txBox="1"/>
          <p:nvPr/>
        </p:nvSpPr>
        <p:spPr>
          <a:xfrm>
            <a:off x="4375960" y="6240503"/>
            <a:ext cx="877163" cy="369332"/>
          </a:xfrm>
          <a:prstGeom prst="rect">
            <a:avLst/>
          </a:prstGeom>
          <a:noFill/>
        </p:spPr>
        <p:txBody>
          <a:bodyPr wrap="none" rtlCol="0">
            <a:spAutoFit/>
          </a:bodyPr>
          <a:lstStyle/>
          <a:p>
            <a:pPr algn="ctr"/>
            <a:r>
              <a:rPr lang="zh-CN" altLang="en-US" b="1" dirty="0">
                <a:latin typeface="微软雅黑" panose="020B0503020204020204" pitchFamily="34" charset="-122"/>
                <a:ea typeface="微软雅黑" panose="020B0503020204020204" pitchFamily="34" charset="-122"/>
              </a:rPr>
              <a:t>漫反射</a:t>
            </a:r>
          </a:p>
        </p:txBody>
      </p:sp>
      <p:sp>
        <p:nvSpPr>
          <p:cNvPr id="8" name="文本框 9"/>
          <p:cNvSpPr txBox="1"/>
          <p:nvPr/>
        </p:nvSpPr>
        <p:spPr>
          <a:xfrm>
            <a:off x="6721817" y="6240503"/>
            <a:ext cx="646331" cy="369332"/>
          </a:xfrm>
          <a:prstGeom prst="rect">
            <a:avLst/>
          </a:prstGeom>
          <a:noFill/>
        </p:spPr>
        <p:txBody>
          <a:bodyPr wrap="none" rtlCol="0">
            <a:spAutoFit/>
          </a:bodyPr>
          <a:lstStyle/>
          <a:p>
            <a:pPr algn="ctr"/>
            <a:r>
              <a:rPr lang="zh-CN" altLang="en-US" b="1" dirty="0">
                <a:latin typeface="微软雅黑" panose="020B0503020204020204" pitchFamily="34" charset="-122"/>
                <a:ea typeface="微软雅黑" panose="020B0503020204020204" pitchFamily="34" charset="-122"/>
              </a:rPr>
              <a:t>折射</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简单光源模型</a:t>
            </a:r>
            <a:endParaRPr lang="en-US" dirty="0"/>
          </a:p>
        </p:txBody>
      </p:sp>
      <p:sp>
        <p:nvSpPr>
          <p:cNvPr id="3" name="Content Placeholder 2"/>
          <p:cNvSpPr>
            <a:spLocks noGrp="1"/>
          </p:cNvSpPr>
          <p:nvPr>
            <p:ph idx="1"/>
          </p:nvPr>
        </p:nvSpPr>
        <p:spPr/>
        <p:txBody>
          <a:bodyPr/>
          <a:lstStyle/>
          <a:p>
            <a:r>
              <a:rPr lang="zh-CN" altLang="en-US" sz="2400" dirty="0"/>
              <a:t>基本光源：</a:t>
            </a:r>
            <a:endParaRPr lang="en-US" altLang="zh-CN" sz="2400" dirty="0"/>
          </a:p>
          <a:p>
            <a:pPr lvl="1"/>
            <a:r>
              <a:rPr lang="zh-CN" altLang="en-US" sz="1800" dirty="0"/>
              <a:t>环境光：</a:t>
            </a:r>
            <a:r>
              <a:rPr lang="zh-CN" altLang="en-US" sz="1800" dirty="0">
                <a:solidFill>
                  <a:srgbClr val="0000FF"/>
                </a:solidFill>
              </a:rPr>
              <a:t>环境中每个位置的环境光强度完全相同</a:t>
            </a:r>
            <a:endParaRPr lang="en-US" altLang="zh-CN" sz="1800" dirty="0"/>
          </a:p>
          <a:p>
            <a:pPr lvl="1"/>
            <a:r>
              <a:rPr lang="zh-CN" altLang="en-US" sz="1800" dirty="0"/>
              <a:t>点光源：</a:t>
            </a:r>
            <a:r>
              <a:rPr lang="zh-CN" altLang="en-US" sz="1800" dirty="0">
                <a:solidFill>
                  <a:srgbClr val="0000FF"/>
                </a:solidFill>
              </a:rPr>
              <a:t>向各个方向发射的光线的强度相等</a:t>
            </a:r>
            <a:endParaRPr lang="en-US" altLang="zh-CN" sz="1800" dirty="0"/>
          </a:p>
          <a:p>
            <a:pPr lvl="1"/>
            <a:r>
              <a:rPr lang="zh-CN" altLang="en-US" sz="1800" dirty="0"/>
              <a:t>聚光灯：</a:t>
            </a:r>
            <a:r>
              <a:rPr lang="zh-CN" altLang="en-US" sz="1800" dirty="0">
                <a:solidFill>
                  <a:srgbClr val="0000FF"/>
                </a:solidFill>
              </a:rPr>
              <a:t>具有一个比较的窄的照明范围，通常为圆锥形半无穷区域</a:t>
            </a:r>
            <a:endParaRPr lang="zh-CN" altLang="en-US" sz="1400" dirty="0">
              <a:solidFill>
                <a:srgbClr val="0000FF"/>
              </a:solidFill>
            </a:endParaRPr>
          </a:p>
          <a:p>
            <a:pPr lvl="1"/>
            <a:r>
              <a:rPr lang="zh-CN" altLang="en-US" sz="1800" dirty="0"/>
              <a:t>远距离光源：</a:t>
            </a:r>
            <a:r>
              <a:rPr lang="zh-CN" altLang="en-US" sz="1800" dirty="0">
                <a:solidFill>
                  <a:srgbClr val="0000FF"/>
                </a:solidFill>
              </a:rPr>
              <a:t>在无穷远处的光源，光线为平行线</a:t>
            </a:r>
            <a:endParaRPr lang="en-US" altLang="zh-CN" sz="1800" dirty="0">
              <a:solidFill>
                <a:srgbClr val="0000FF"/>
              </a:solidFill>
            </a:endParaRPr>
          </a:p>
          <a:p>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t>53</a:t>
            </a:fld>
            <a:endParaRPr lang="zh-CN" altLang="en-US" dirty="0"/>
          </a:p>
        </p:txBody>
      </p:sp>
      <p:pic>
        <p:nvPicPr>
          <p:cNvPr id="5" name="图片 4"/>
          <p:cNvPicPr>
            <a:picLocks noChangeAspect="1"/>
          </p:cNvPicPr>
          <p:nvPr/>
        </p:nvPicPr>
        <p:blipFill>
          <a:blip r:embed="rId2"/>
          <a:stretch>
            <a:fillRect/>
          </a:stretch>
        </p:blipFill>
        <p:spPr>
          <a:xfrm>
            <a:off x="628650" y="4041129"/>
            <a:ext cx="2331923" cy="1371293"/>
          </a:xfrm>
          <a:prstGeom prst="rect">
            <a:avLst/>
          </a:prstGeom>
        </p:spPr>
      </p:pic>
      <p:pic>
        <p:nvPicPr>
          <p:cNvPr id="6" name="图片 4"/>
          <p:cNvPicPr>
            <a:picLocks noChangeAspect="1"/>
          </p:cNvPicPr>
          <p:nvPr/>
        </p:nvPicPr>
        <p:blipFill>
          <a:blip r:embed="rId3"/>
          <a:stretch>
            <a:fillRect/>
          </a:stretch>
        </p:blipFill>
        <p:spPr>
          <a:xfrm>
            <a:off x="3754897" y="3766259"/>
            <a:ext cx="2462114" cy="2286252"/>
          </a:xfrm>
          <a:prstGeom prst="rect">
            <a:avLst/>
          </a:prstGeom>
        </p:spPr>
      </p:pic>
      <p:pic>
        <p:nvPicPr>
          <p:cNvPr id="7" name="图片 4"/>
          <p:cNvPicPr>
            <a:picLocks noChangeAspect="1"/>
          </p:cNvPicPr>
          <p:nvPr/>
        </p:nvPicPr>
        <p:blipFill>
          <a:blip r:embed="rId4"/>
          <a:stretch>
            <a:fillRect/>
          </a:stretch>
        </p:blipFill>
        <p:spPr>
          <a:xfrm>
            <a:off x="6205805" y="3238942"/>
            <a:ext cx="2399583" cy="2336511"/>
          </a:xfrm>
          <a:prstGeom prst="rect">
            <a:avLst/>
          </a:prstGeom>
        </p:spPr>
      </p:pic>
      <p:sp>
        <p:nvSpPr>
          <p:cNvPr id="8" name="Rectangle 7"/>
          <p:cNvSpPr/>
          <p:nvPr/>
        </p:nvSpPr>
        <p:spPr>
          <a:xfrm>
            <a:off x="1356029" y="5683179"/>
            <a:ext cx="877163" cy="369332"/>
          </a:xfrm>
          <a:prstGeom prst="rect">
            <a:avLst/>
          </a:prstGeom>
        </p:spPr>
        <p:txBody>
          <a:bodyPr wrap="none">
            <a:spAutoFit/>
          </a:bodyPr>
          <a:lstStyle/>
          <a:p>
            <a:r>
              <a:rPr lang="zh-CN" altLang="en-US" b="1" dirty="0"/>
              <a:t>点光源</a:t>
            </a:r>
            <a:endParaRPr lang="en-US" altLang="zh-CN" b="1" dirty="0"/>
          </a:p>
        </p:txBody>
      </p:sp>
      <p:sp>
        <p:nvSpPr>
          <p:cNvPr id="9" name="Rectangle 8"/>
          <p:cNvSpPr/>
          <p:nvPr/>
        </p:nvSpPr>
        <p:spPr>
          <a:xfrm>
            <a:off x="4256707" y="5683179"/>
            <a:ext cx="877163" cy="369332"/>
          </a:xfrm>
          <a:prstGeom prst="rect">
            <a:avLst/>
          </a:prstGeom>
        </p:spPr>
        <p:txBody>
          <a:bodyPr wrap="none">
            <a:spAutoFit/>
          </a:bodyPr>
          <a:lstStyle/>
          <a:p>
            <a:r>
              <a:rPr lang="zh-CN" altLang="en-US" b="1" dirty="0"/>
              <a:t>聚光灯</a:t>
            </a:r>
            <a:endParaRPr lang="en-US" altLang="zh-CN" b="1" dirty="0"/>
          </a:p>
        </p:txBody>
      </p:sp>
      <p:sp>
        <p:nvSpPr>
          <p:cNvPr id="10" name="Rectangle 9"/>
          <p:cNvSpPr/>
          <p:nvPr/>
        </p:nvSpPr>
        <p:spPr>
          <a:xfrm>
            <a:off x="6968457" y="5683179"/>
            <a:ext cx="1338828" cy="369332"/>
          </a:xfrm>
          <a:prstGeom prst="rect">
            <a:avLst/>
          </a:prstGeom>
        </p:spPr>
        <p:txBody>
          <a:bodyPr wrap="none">
            <a:spAutoFit/>
          </a:bodyPr>
          <a:lstStyle/>
          <a:p>
            <a:r>
              <a:rPr lang="zh-CN" altLang="en-US" b="1" dirty="0"/>
              <a:t>远距离光源</a:t>
            </a:r>
            <a:endParaRPr lang="en-US" altLang="zh-CN" b="1" dirty="0"/>
          </a:p>
        </p:txBody>
      </p:sp>
      <p:pic>
        <p:nvPicPr>
          <p:cNvPr id="11" name="图片 4"/>
          <p:cNvPicPr>
            <a:picLocks noChangeAspect="1"/>
          </p:cNvPicPr>
          <p:nvPr/>
        </p:nvPicPr>
        <p:blipFill>
          <a:blip r:embed="rId5"/>
          <a:stretch>
            <a:fillRect/>
          </a:stretch>
        </p:blipFill>
        <p:spPr>
          <a:xfrm>
            <a:off x="6683359" y="1386211"/>
            <a:ext cx="1020901" cy="831975"/>
          </a:xfrm>
          <a:prstGeom prst="rect">
            <a:avLst/>
          </a:prstGeom>
        </p:spPr>
      </p:pic>
      <p:pic>
        <p:nvPicPr>
          <p:cNvPr id="12" name="图片 5"/>
          <p:cNvPicPr>
            <a:picLocks noChangeAspect="1"/>
          </p:cNvPicPr>
          <p:nvPr/>
        </p:nvPicPr>
        <p:blipFill>
          <a:blip r:embed="rId6"/>
          <a:stretch>
            <a:fillRect/>
          </a:stretch>
        </p:blipFill>
        <p:spPr>
          <a:xfrm>
            <a:off x="499127" y="3583058"/>
            <a:ext cx="1399525" cy="763423"/>
          </a:xfrm>
          <a:prstGeom prst="rect">
            <a:avLst/>
          </a:prstGeom>
        </p:spPr>
      </p:pic>
      <p:pic>
        <p:nvPicPr>
          <p:cNvPr id="13" name="图片 6"/>
          <p:cNvPicPr>
            <a:picLocks noChangeAspect="1"/>
          </p:cNvPicPr>
          <p:nvPr/>
        </p:nvPicPr>
        <p:blipFill>
          <a:blip r:embed="rId7"/>
          <a:stretch>
            <a:fillRect/>
          </a:stretch>
        </p:blipFill>
        <p:spPr>
          <a:xfrm>
            <a:off x="3370950" y="3392840"/>
            <a:ext cx="1261110" cy="1143858"/>
          </a:xfrm>
          <a:prstGeom prst="rect">
            <a:avLst/>
          </a:prstGeom>
        </p:spPr>
      </p:pic>
      <p:pic>
        <p:nvPicPr>
          <p:cNvPr id="14" name="图片 5"/>
          <p:cNvPicPr>
            <a:picLocks noChangeAspect="1"/>
          </p:cNvPicPr>
          <p:nvPr/>
        </p:nvPicPr>
        <p:blipFill>
          <a:blip r:embed="rId8"/>
          <a:stretch>
            <a:fillRect/>
          </a:stretch>
        </p:blipFill>
        <p:spPr>
          <a:xfrm>
            <a:off x="8089198" y="4300504"/>
            <a:ext cx="897060" cy="1111918"/>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光源模型</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a:bodyPr>
              <a:lstStyle/>
              <a:p>
                <a:r>
                  <a:rPr lang="en-US" altLang="zh-CN" sz="2400" dirty="0"/>
                  <a:t>Phong</a:t>
                </a:r>
                <a:r>
                  <a:rPr lang="zh-CN" altLang="en-US" sz="2400" dirty="0"/>
                  <a:t>反射模型考虑了光线和材料之间三种相互作用：</a:t>
                </a:r>
                <a:endParaRPr lang="en-US" altLang="zh-CN" sz="2400" dirty="0"/>
              </a:p>
              <a:p>
                <a:pPr lvl="1"/>
                <a:r>
                  <a:rPr lang="zh-CN" altLang="en-US" sz="1800" dirty="0">
                    <a:solidFill>
                      <a:srgbClr val="0000FF"/>
                    </a:solidFill>
                  </a:rPr>
                  <a:t>环境光反射</a:t>
                </a:r>
                <a:endParaRPr lang="en-US" altLang="zh-CN" sz="1800" dirty="0">
                  <a:solidFill>
                    <a:srgbClr val="0000FF"/>
                  </a:solidFill>
                </a:endParaRPr>
              </a:p>
              <a:p>
                <a:pPr lvl="1"/>
                <a:r>
                  <a:rPr lang="zh-CN" altLang="en-US" sz="1800" dirty="0">
                    <a:solidFill>
                      <a:srgbClr val="0000FF"/>
                    </a:solidFill>
                  </a:rPr>
                  <a:t>漫反射</a:t>
                </a:r>
                <a:endParaRPr lang="en-US" altLang="zh-CN" sz="1800" dirty="0">
                  <a:solidFill>
                    <a:srgbClr val="0000FF"/>
                  </a:solidFill>
                </a:endParaRPr>
              </a:p>
              <a:p>
                <a:pPr lvl="1"/>
                <a:r>
                  <a:rPr lang="zh-CN" altLang="en-US" sz="1800" dirty="0">
                    <a:solidFill>
                      <a:srgbClr val="0000FF"/>
                    </a:solidFill>
                  </a:rPr>
                  <a:t>镜面反射</a:t>
                </a:r>
                <a:endParaRPr lang="en-US" altLang="zh-CN" sz="1800" dirty="0">
                  <a:solidFill>
                    <a:srgbClr val="0000FF"/>
                  </a:solidFill>
                </a:endParaRPr>
              </a:p>
              <a:p>
                <a:endParaRPr lang="en-US" altLang="zh-CN" sz="2400" dirty="0"/>
              </a:p>
              <a:p>
                <a:r>
                  <a:rPr lang="zh-CN" altLang="en-US" sz="2400" dirty="0"/>
                  <a:t>假定有一组点光源</a:t>
                </a:r>
                <a14:m>
                  <m:oMath xmlns:m="http://schemas.openxmlformats.org/officeDocument/2006/math">
                    <m:d>
                      <m:dPr>
                        <m:begChr m:val="{"/>
                        <m:endChr m:val="}"/>
                        <m:ctrlPr>
                          <a:rPr lang="en-US" altLang="zh-CN" sz="2400" i="1" dirty="0" smtClean="0">
                            <a:latin typeface="Cambria Math" panose="02040503050406030204" pitchFamily="18" charset="0"/>
                          </a:rPr>
                        </m:ctrlPr>
                      </m:dPr>
                      <m:e>
                        <m:sSub>
                          <m:sSubPr>
                            <m:ctrlPr>
                              <a:rPr lang="en-US" altLang="zh-CN" sz="2400" i="1" dirty="0" smtClean="0">
                                <a:latin typeface="Cambria Math" panose="02040503050406030204" pitchFamily="18" charset="0"/>
                              </a:rPr>
                            </m:ctrlPr>
                          </m:sSubPr>
                          <m:e>
                            <m:r>
                              <m:rPr>
                                <m:sty m:val="p"/>
                              </m:rPr>
                              <a:rPr lang="en-US" altLang="zh-CN" sz="2400" b="0" i="0" dirty="0" smtClean="0">
                                <a:latin typeface="Cambria Math" panose="02040503050406030204" charset="0"/>
                              </a:rPr>
                              <m:t>L</m:t>
                            </m:r>
                          </m:e>
                          <m:sub>
                            <m:r>
                              <m:rPr>
                                <m:sty m:val="p"/>
                              </m:rPr>
                              <a:rPr lang="en-US" altLang="zh-CN" sz="2400" i="0" dirty="0" smtClean="0">
                                <a:latin typeface="Cambria Math" panose="02040503050406030204" charset="0"/>
                              </a:rPr>
                              <m:t>i</m:t>
                            </m:r>
                          </m:sub>
                        </m:sSub>
                      </m:e>
                    </m:d>
                  </m:oMath>
                </a14:m>
                <a:r>
                  <a:rPr lang="zh-CN" altLang="en-US" sz="2400" dirty="0"/>
                  <a:t>，对于每一个颜色分量</a:t>
                </a:r>
                <a14:m>
                  <m:oMath xmlns:m="http://schemas.openxmlformats.org/officeDocument/2006/math">
                    <m:d>
                      <m:dPr>
                        <m:ctrlPr>
                          <a:rPr lang="en-US" altLang="zh-CN" sz="2400" i="1" smtClean="0">
                            <a:latin typeface="Cambria Math" panose="02040503050406030204" pitchFamily="18" charset="0"/>
                          </a:rPr>
                        </m:ctrlPr>
                      </m:dPr>
                      <m:e>
                        <m:r>
                          <a:rPr lang="en-US" altLang="zh-CN" sz="2400" b="0" i="1" smtClean="0">
                            <a:latin typeface="Cambria Math" panose="02040503050406030204" charset="0"/>
                          </a:rPr>
                          <m:t>𝑟</m:t>
                        </m:r>
                        <m:r>
                          <a:rPr lang="en-US" altLang="zh-CN" sz="2400" b="0" i="1" smtClean="0">
                            <a:latin typeface="Cambria Math" panose="02040503050406030204" charset="0"/>
                          </a:rPr>
                          <m:t>,</m:t>
                        </m:r>
                        <m:r>
                          <a:rPr lang="en-US" altLang="zh-CN" sz="2400" b="0" i="1" smtClean="0">
                            <a:latin typeface="Cambria Math" panose="02040503050406030204" charset="0"/>
                          </a:rPr>
                          <m:t>𝑔</m:t>
                        </m:r>
                        <m:r>
                          <a:rPr lang="en-US" altLang="zh-CN" sz="2400" b="0" i="1" smtClean="0">
                            <a:latin typeface="Cambria Math" panose="02040503050406030204" charset="0"/>
                          </a:rPr>
                          <m:t>,</m:t>
                        </m:r>
                        <m:r>
                          <a:rPr lang="en-US" altLang="zh-CN" sz="2400" b="0" i="1" smtClean="0">
                            <a:latin typeface="Cambria Math" panose="02040503050406030204" charset="0"/>
                          </a:rPr>
                          <m:t>𝑏</m:t>
                        </m:r>
                      </m:e>
                    </m:d>
                  </m:oMath>
                </a14:m>
                <a:r>
                  <a:rPr lang="zh-CN" altLang="en-US" sz="2400" dirty="0"/>
                  <a:t>，每个点光源都有相应独立的三个光照分量：</a:t>
                </a:r>
                <a:endParaRPr lang="en-US" altLang="zh-CN" sz="1800" dirty="0"/>
              </a:p>
              <a:p>
                <a:pPr lvl="1">
                  <a:buClr>
                    <a:schemeClr val="tx1"/>
                  </a:buClr>
                </a:pPr>
                <a:r>
                  <a:rPr lang="zh-CN" altLang="en-US" sz="1800" dirty="0"/>
                  <a:t>环境光分量</a:t>
                </a:r>
                <a14:m>
                  <m:oMath xmlns:m="http://schemas.openxmlformats.org/officeDocument/2006/math">
                    <m:r>
                      <a:rPr lang="en-US" altLang="zh-CN" sz="1800" i="1" dirty="0" smtClean="0">
                        <a:latin typeface="Cambria Math" panose="02040503050406030204" charset="0"/>
                      </a:rPr>
                      <m:t>𝑎</m:t>
                    </m:r>
                  </m:oMath>
                </a14:m>
                <a:endParaRPr lang="en-US" altLang="zh-CN" sz="1800" dirty="0"/>
              </a:p>
              <a:p>
                <a:pPr lvl="1">
                  <a:buClr>
                    <a:schemeClr val="tx1"/>
                  </a:buClr>
                </a:pPr>
                <a:r>
                  <a:rPr lang="zh-CN" altLang="en-US" sz="1800" dirty="0"/>
                  <a:t>漫反射光分量</a:t>
                </a:r>
                <a14:m>
                  <m:oMath xmlns:m="http://schemas.openxmlformats.org/officeDocument/2006/math">
                    <m:r>
                      <a:rPr lang="en-US" altLang="zh-CN" sz="1800" i="1" dirty="0" smtClean="0">
                        <a:latin typeface="Cambria Math" panose="02040503050406030204" charset="0"/>
                      </a:rPr>
                      <m:t>𝑑</m:t>
                    </m:r>
                  </m:oMath>
                </a14:m>
                <a:endParaRPr lang="en-US" altLang="zh-CN" sz="1800" dirty="0"/>
              </a:p>
              <a:p>
                <a:pPr lvl="1">
                  <a:buClr>
                    <a:schemeClr val="tx1"/>
                  </a:buClr>
                </a:pPr>
                <a:r>
                  <a:rPr lang="zh-CN" altLang="en-US" sz="1800" dirty="0"/>
                  <a:t>镜面反射光分量</a:t>
                </a:r>
                <a14:m>
                  <m:oMath xmlns:m="http://schemas.openxmlformats.org/officeDocument/2006/math">
                    <m:r>
                      <a:rPr lang="en-US" altLang="zh-CN" sz="1800" i="1" dirty="0" smtClean="0">
                        <a:latin typeface="Cambria Math" panose="02040503050406030204" charset="0"/>
                      </a:rPr>
                      <m:t>𝑠</m:t>
                    </m:r>
                  </m:oMath>
                </a14:m>
                <a:endParaRPr lang="en-US" altLang="zh-CN" sz="1800" dirty="0"/>
              </a:p>
            </p:txBody>
          </p:sp>
        </mc:Choice>
        <mc:Fallback xmlns="">
          <p:sp>
            <p:nvSpPr>
              <p:cNvPr id="3" name="内容占位符 2"/>
              <p:cNvSpPr>
                <a:spLocks noRot="1" noChangeAspect="1" noMove="1" noResize="1" noEditPoints="1" noAdjustHandles="1" noChangeArrowheads="1" noChangeShapeType="1" noTextEdit="1"/>
              </p:cNvSpPr>
              <p:nvPr>
                <p:ph idx="1"/>
              </p:nvPr>
            </p:nvSpPr>
            <p:spPr>
              <a:blipFill rotWithShape="1">
                <a:blip r:embed="rId2"/>
                <a:stretch>
                  <a:fillRect t="-259" b="4"/>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54</a:t>
            </a:fld>
            <a:endParaRPr lang="zh-CN" altLang="en-US"/>
          </a:p>
        </p:txBody>
      </p:sp>
      <p:pic>
        <p:nvPicPr>
          <p:cNvPr id="6" name="图片 5"/>
          <p:cNvPicPr>
            <a:picLocks noChangeAspect="1"/>
          </p:cNvPicPr>
          <p:nvPr/>
        </p:nvPicPr>
        <p:blipFill>
          <a:blip r:embed="rId3"/>
          <a:stretch>
            <a:fillRect/>
          </a:stretch>
        </p:blipFill>
        <p:spPr>
          <a:xfrm>
            <a:off x="3920066" y="4317775"/>
            <a:ext cx="4263140" cy="1693557"/>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光照计算</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628650" y="1316831"/>
                <a:ext cx="7886700" cy="4955632"/>
              </a:xfrm>
            </p:spPr>
            <p:txBody>
              <a:bodyPr>
                <a:normAutofit/>
              </a:bodyPr>
              <a:lstStyle/>
              <a:p>
                <a:r>
                  <a:rPr lang="zh-CN" altLang="en-US" sz="2400" dirty="0"/>
                  <a:t>反射模型：</a:t>
                </a:r>
                <a:endParaRPr lang="en-US" altLang="zh-CN" sz="1800" dirty="0"/>
              </a:p>
              <a:p>
                <a:pPr lvl="1">
                  <a:buClr>
                    <a:schemeClr val="tx1"/>
                  </a:buClr>
                </a:pPr>
                <a:r>
                  <a:rPr lang="zh-CN" altLang="en-US" sz="1800" dirty="0"/>
                  <a:t>需要计算出入射光线的每个光照分量在曲面上</a:t>
                </a:r>
                <a14:m>
                  <m:oMath xmlns:m="http://schemas.openxmlformats.org/officeDocument/2006/math">
                    <m:r>
                      <a:rPr lang="en-US" altLang="zh-CN" sz="1800" b="1" i="1" dirty="0">
                        <a:latin typeface="Cambria Math" panose="02040503050406030204" charset="0"/>
                      </a:rPr>
                      <m:t>𝒑</m:t>
                    </m:r>
                  </m:oMath>
                </a14:m>
                <a:r>
                  <a:rPr lang="zh-CN" altLang="en-US" sz="1800" dirty="0"/>
                  <a:t>点的</a:t>
                </a:r>
                <a:r>
                  <a:rPr lang="zh-CN" altLang="en-US" sz="1800" dirty="0">
                    <a:solidFill>
                      <a:srgbClr val="0000FF"/>
                    </a:solidFill>
                  </a:rPr>
                  <a:t>反射率 </a:t>
                </a:r>
                <a:endParaRPr lang="en-US" altLang="zh-CN" sz="1800" dirty="0">
                  <a:solidFill>
                    <a:srgbClr val="0000FF"/>
                  </a:solidFill>
                </a:endParaRPr>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b="1" i="1" dirty="0">
                  <a:latin typeface="Cambria Math" panose="02040503050406030204" charset="0"/>
                </a:endParaRPr>
              </a:p>
              <a:p>
                <a:pPr lvl="1">
                  <a:buClr>
                    <a:schemeClr val="tx1"/>
                  </a:buClr>
                </a:pPr>
                <a14:m>
                  <m:oMath xmlns:m="http://schemas.openxmlformats.org/officeDocument/2006/math">
                    <m:r>
                      <a:rPr lang="en-US" altLang="zh-CN" sz="1800" b="1" i="1" dirty="0" smtClean="0">
                        <a:latin typeface="Cambria Math" panose="02040503050406030204" charset="0"/>
                      </a:rPr>
                      <m:t>𝒑</m:t>
                    </m:r>
                  </m:oMath>
                </a14:m>
                <a:r>
                  <a:rPr lang="zh-CN" altLang="en-US" sz="1800" dirty="0"/>
                  <a:t>点红色分量的光强计算公式：</a:t>
                </a: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14:m>
                  <m:oMath xmlns:m="http://schemas.openxmlformats.org/officeDocument/2006/math">
                    <m:r>
                      <a:rPr lang="en-US" altLang="zh-CN" sz="1800" b="1" i="1" dirty="0">
                        <a:latin typeface="Cambria Math" panose="02040503050406030204" charset="0"/>
                      </a:rPr>
                      <m:t>𝒑</m:t>
                    </m:r>
                  </m:oMath>
                </a14:m>
                <a:r>
                  <a:rPr lang="zh-CN" altLang="en-US" sz="1800" dirty="0"/>
                  <a:t>点总光强为各个颜色分量光强汇总（省略光源和颜色下标）：</a:t>
                </a:r>
                <a:endParaRPr lang="en-US" altLang="zh-CN" sz="1800" dirty="0"/>
              </a:p>
              <a:p>
                <a:pPr lvl="1">
                  <a:buClr>
                    <a:schemeClr val="tx1"/>
                  </a:buClr>
                </a:pPr>
                <a:endParaRPr lang="en-US" altLang="zh-CN" sz="1800" dirty="0"/>
              </a:p>
              <a:p>
                <a:pPr lvl="1">
                  <a:buClr>
                    <a:schemeClr val="tx1"/>
                  </a:buClr>
                </a:pPr>
                <a:endParaRPr lang="en-US" altLang="zh-CN" sz="1800" dirty="0">
                  <a:solidFill>
                    <a:srgbClr val="0000FF"/>
                  </a:solidFill>
                </a:endParaRPr>
              </a:p>
              <a:p>
                <a:pPr lvl="1">
                  <a:buClr>
                    <a:schemeClr val="tx1"/>
                  </a:buClr>
                </a:pPr>
                <a:endParaRPr lang="en-US" altLang="zh-CN" sz="1800" dirty="0">
                  <a:solidFill>
                    <a:srgbClr val="0000FF"/>
                  </a:solidFill>
                </a:endParaRPr>
              </a:p>
              <a:p>
                <a:pPr lvl="1">
                  <a:buClr>
                    <a:schemeClr val="tx1"/>
                  </a:buClr>
                </a:pPr>
                <a:r>
                  <a:rPr lang="zh-CN" altLang="en-US" sz="1800" dirty="0">
                    <a:solidFill>
                      <a:srgbClr val="0000FF"/>
                    </a:solidFill>
                  </a:rPr>
                  <a:t>反射率取决于曲面材质、光线方向、光源距离、视点位置等因素</a:t>
                </a:r>
                <a:endParaRPr lang="en-US" altLang="zh-CN" sz="2400" dirty="0">
                  <a:solidFill>
                    <a:srgbClr val="0000FF"/>
                  </a:solidFill>
                </a:endParaRPr>
              </a:p>
              <a:p>
                <a:endParaRPr lang="zh-CN" altLang="en-US" dirty="0"/>
              </a:p>
            </p:txBody>
          </p:sp>
        </mc:Choice>
        <mc:Fallback xmlns="">
          <p:sp>
            <p:nvSpPr>
              <p:cNvPr id="3" name="内容占位符 2"/>
              <p:cNvSpPr>
                <a:spLocks noRot="1" noChangeAspect="1" noMove="1" noResize="1" noEditPoints="1" noAdjustHandles="1" noChangeArrowheads="1" noChangeShapeType="1" noTextEdit="1"/>
              </p:cNvSpPr>
              <p:nvPr>
                <p:ph idx="1"/>
              </p:nvPr>
            </p:nvSpPr>
            <p:spPr>
              <a:xfrm>
                <a:off x="628650" y="1316831"/>
                <a:ext cx="7886700" cy="4955632"/>
              </a:xfrm>
              <a:blipFill rotWithShape="1">
                <a:blip r:embed="rId2"/>
                <a:stretch>
                  <a:fillRect t="-227" b="-539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55</a:t>
            </a:fld>
            <a:endParaRPr lang="zh-CN" altLang="en-US"/>
          </a:p>
        </p:txBody>
      </p:sp>
      <p:pic>
        <p:nvPicPr>
          <p:cNvPr id="7" name="图片 6"/>
          <p:cNvPicPr>
            <a:picLocks noChangeAspect="1"/>
          </p:cNvPicPr>
          <p:nvPr/>
        </p:nvPicPr>
        <p:blipFill>
          <a:blip r:embed="rId3"/>
          <a:stretch>
            <a:fillRect/>
          </a:stretch>
        </p:blipFill>
        <p:spPr>
          <a:xfrm>
            <a:off x="1598755" y="2184918"/>
            <a:ext cx="2261091" cy="909493"/>
          </a:xfrm>
          <a:prstGeom prst="rect">
            <a:avLst/>
          </a:prstGeom>
        </p:spPr>
      </p:pic>
      <p:pic>
        <p:nvPicPr>
          <p:cNvPr id="10" name="图片 9"/>
          <p:cNvPicPr>
            <a:picLocks noChangeAspect="1"/>
          </p:cNvPicPr>
          <p:nvPr/>
        </p:nvPicPr>
        <p:blipFill>
          <a:blip r:embed="rId4"/>
          <a:stretch>
            <a:fillRect/>
          </a:stretch>
        </p:blipFill>
        <p:spPr>
          <a:xfrm>
            <a:off x="4638054" y="3580074"/>
            <a:ext cx="3546512" cy="807693"/>
          </a:xfrm>
          <a:prstGeom prst="rect">
            <a:avLst/>
          </a:prstGeom>
        </p:spPr>
      </p:pic>
      <p:pic>
        <p:nvPicPr>
          <p:cNvPr id="11" name="图片 10"/>
          <p:cNvPicPr>
            <a:picLocks noChangeAspect="1"/>
          </p:cNvPicPr>
          <p:nvPr/>
        </p:nvPicPr>
        <p:blipFill>
          <a:blip r:embed="rId5"/>
          <a:stretch>
            <a:fillRect/>
          </a:stretch>
        </p:blipFill>
        <p:spPr>
          <a:xfrm>
            <a:off x="2099443" y="5103082"/>
            <a:ext cx="4589672" cy="454066"/>
          </a:xfrm>
          <a:prstGeom prst="rect">
            <a:avLst/>
          </a:prstGeom>
        </p:spPr>
      </p:pic>
      <p:pic>
        <p:nvPicPr>
          <p:cNvPr id="8" name="图片 5"/>
          <p:cNvPicPr>
            <a:picLocks noChangeAspect="1"/>
          </p:cNvPicPr>
          <p:nvPr/>
        </p:nvPicPr>
        <p:blipFill>
          <a:blip r:embed="rId6"/>
          <a:stretch>
            <a:fillRect/>
          </a:stretch>
        </p:blipFill>
        <p:spPr>
          <a:xfrm>
            <a:off x="4726047" y="2205700"/>
            <a:ext cx="2302224" cy="914572"/>
          </a:xfrm>
          <a:prstGeom prst="rect">
            <a:avLst/>
          </a:prstGeom>
        </p:spPr>
      </p:pic>
      <p:sp>
        <p:nvSpPr>
          <p:cNvPr id="5" name="Left-Right Arrow 4"/>
          <p:cNvSpPr/>
          <p:nvPr/>
        </p:nvSpPr>
        <p:spPr>
          <a:xfrm>
            <a:off x="4098471" y="2510538"/>
            <a:ext cx="451367" cy="240157"/>
          </a:xfrm>
          <a:prstGeom prst="leftRightArrow">
            <a:avLst>
              <a:gd name="adj1" fmla="val 50460"/>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Phong</a:t>
            </a:r>
            <a:r>
              <a:rPr lang="zh-CN" altLang="en-US" dirty="0"/>
              <a:t>光照模型</a:t>
            </a:r>
          </a:p>
        </p:txBody>
      </p:sp>
      <p:sp>
        <p:nvSpPr>
          <p:cNvPr id="3" name="内容占位符 2"/>
          <p:cNvSpPr>
            <a:spLocks noGrp="1"/>
          </p:cNvSpPr>
          <p:nvPr>
            <p:ph idx="1"/>
          </p:nvPr>
        </p:nvSpPr>
        <p:spPr/>
        <p:txBody>
          <a:bodyPr>
            <a:normAutofit/>
          </a:bodyPr>
          <a:lstStyle/>
          <a:p>
            <a:r>
              <a:rPr lang="zh-CN" altLang="en-US" sz="2600" dirty="0"/>
              <a:t>环境光反射</a:t>
            </a:r>
            <a:r>
              <a:rPr lang="en-US" altLang="zh-CN" sz="2600" dirty="0"/>
              <a:t>+</a:t>
            </a:r>
            <a:r>
              <a:rPr lang="zh-CN" altLang="en-US" sz="2600" dirty="0"/>
              <a:t>漫反射</a:t>
            </a:r>
            <a:r>
              <a:rPr lang="en-US" altLang="zh-CN" sz="2600" dirty="0"/>
              <a:t>+</a:t>
            </a:r>
            <a:r>
              <a:rPr lang="zh-CN" altLang="en-US" sz="2600" dirty="0"/>
              <a:t>镜面反射：</a:t>
            </a:r>
            <a:endParaRPr lang="en-US" altLang="zh-CN" sz="2600" dirty="0"/>
          </a:p>
          <a:p>
            <a:endParaRPr lang="en-US" altLang="zh-CN" sz="2600" dirty="0"/>
          </a:p>
          <a:p>
            <a:endParaRPr lang="en-US" altLang="zh-CN" sz="2400" dirty="0"/>
          </a:p>
          <a:p>
            <a:endParaRPr lang="en-US" altLang="zh-CN" sz="1800" dirty="0"/>
          </a:p>
          <a:p>
            <a:pPr marL="0" indent="0">
              <a:buNone/>
            </a:pPr>
            <a:endParaRPr lang="en-US" altLang="zh-CN" sz="1800" dirty="0"/>
          </a:p>
          <a:p>
            <a:endParaRPr lang="en-US" altLang="zh-CN" sz="2400" dirty="0"/>
          </a:p>
          <a:p>
            <a:endParaRPr lang="en-US" altLang="zh-CN" sz="2400" dirty="0"/>
          </a:p>
          <a:p>
            <a:endParaRPr lang="en-US" altLang="zh-CN" sz="2400" dirty="0"/>
          </a:p>
          <a:p>
            <a:endParaRPr lang="en-US" altLang="zh-CN" sz="2400" dirty="0"/>
          </a:p>
          <a:p>
            <a:endParaRPr lang="en-US" altLang="zh-CN" sz="2400" dirty="0"/>
          </a:p>
          <a:p>
            <a:endParaRPr lang="zh-CN" altLang="en-US" dirty="0"/>
          </a:p>
          <a:p>
            <a:endParaRPr lang="en-US" altLang="zh-CN" sz="24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56</a:t>
            </a:fld>
            <a:endParaRPr lang="zh-CN" altLang="en-US"/>
          </a:p>
        </p:txBody>
      </p:sp>
      <p:pic>
        <p:nvPicPr>
          <p:cNvPr id="7" name="图片 9"/>
          <p:cNvPicPr>
            <a:picLocks noChangeAspect="1"/>
          </p:cNvPicPr>
          <p:nvPr/>
        </p:nvPicPr>
        <p:blipFill>
          <a:blip r:embed="rId2"/>
          <a:stretch>
            <a:fillRect/>
          </a:stretch>
        </p:blipFill>
        <p:spPr>
          <a:xfrm>
            <a:off x="6483922" y="657663"/>
            <a:ext cx="2031428" cy="1344899"/>
          </a:xfrm>
          <a:prstGeom prst="rect">
            <a:avLst/>
          </a:prstGeom>
        </p:spPr>
      </p:pic>
      <p:grpSp>
        <p:nvGrpSpPr>
          <p:cNvPr id="9" name="Group 8"/>
          <p:cNvGrpSpPr/>
          <p:nvPr/>
        </p:nvGrpSpPr>
        <p:grpSpPr>
          <a:xfrm>
            <a:off x="1025273" y="3647308"/>
            <a:ext cx="7490077" cy="2070371"/>
            <a:chOff x="1466657" y="3773909"/>
            <a:chExt cx="9215630" cy="2547342"/>
          </a:xfrm>
        </p:grpSpPr>
        <p:pic>
          <p:nvPicPr>
            <p:cNvPr id="10" name="Picture 9"/>
            <p:cNvPicPr>
              <a:picLocks noChangeAspect="1"/>
            </p:cNvPicPr>
            <p:nvPr/>
          </p:nvPicPr>
          <p:blipFill>
            <a:blip r:embed="rId3"/>
            <a:stretch>
              <a:fillRect/>
            </a:stretch>
          </p:blipFill>
          <p:spPr>
            <a:xfrm>
              <a:off x="1509712" y="3773909"/>
              <a:ext cx="9172575" cy="2171700"/>
            </a:xfrm>
            <a:prstGeom prst="rect">
              <a:avLst/>
            </a:prstGeom>
          </p:spPr>
        </p:pic>
        <p:sp>
          <p:nvSpPr>
            <p:cNvPr id="11" name="TextBox 10"/>
            <p:cNvSpPr txBox="1"/>
            <p:nvPr/>
          </p:nvSpPr>
          <p:spPr>
            <a:xfrm>
              <a:off x="1466657" y="5942568"/>
              <a:ext cx="9172576" cy="378683"/>
            </a:xfrm>
            <a:prstGeom prst="rect">
              <a:avLst/>
            </a:prstGeom>
            <a:noFill/>
          </p:spPr>
          <p:txBody>
            <a:bodyPr wrap="square" rtlCol="0">
              <a:spAutoFit/>
            </a:bodyPr>
            <a:lstStyle/>
            <a:p>
              <a:pPr algn="ctr"/>
              <a:r>
                <a:rPr lang="zh-CN" altLang="en-US" sz="1400" b="1" dirty="0">
                  <a:latin typeface="微软雅黑" panose="020B0503020204020204" pitchFamily="34" charset="-122"/>
                  <a:ea typeface="微软雅黑" panose="020B0503020204020204" pitchFamily="34" charset="-122"/>
                  <a:cs typeface="微软雅黑" panose="020B0503020204020204" pitchFamily="34" charset="-122"/>
                </a:rPr>
                <a:t>   环境光反射         </a:t>
              </a:r>
              <a:r>
                <a:rPr lang="en-US" altLang="zh-CN" sz="1400" b="1"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400" b="1"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400" b="1"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400" b="1"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400" b="1"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400" b="1" dirty="0">
                  <a:latin typeface="微软雅黑" panose="020B0503020204020204" pitchFamily="34" charset="-122"/>
                  <a:ea typeface="微软雅黑" panose="020B0503020204020204" pitchFamily="34" charset="-122"/>
                  <a:cs typeface="微软雅黑" panose="020B0503020204020204" pitchFamily="34" charset="-122"/>
                </a:rPr>
                <a:t>   漫反射           </a:t>
              </a:r>
              <a:r>
                <a:rPr lang="en-US" altLang="zh-CN" sz="1400" b="1"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400" b="1" dirty="0">
                  <a:latin typeface="微软雅黑" panose="020B0503020204020204" pitchFamily="34" charset="-122"/>
                  <a:ea typeface="微软雅黑" panose="020B0503020204020204" pitchFamily="34" charset="-122"/>
                  <a:cs typeface="微软雅黑" panose="020B0503020204020204" pitchFamily="34" charset="-122"/>
                </a:rPr>
                <a:t>  镜面反射           </a:t>
              </a:r>
              <a:r>
                <a:rPr lang="en-US" altLang="zh-CN" sz="1400" b="1"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400" b="1" dirty="0" err="1">
                  <a:latin typeface="微软雅黑" panose="020B0503020204020204" pitchFamily="34" charset="-122"/>
                  <a:ea typeface="微软雅黑" panose="020B0503020204020204" pitchFamily="34" charset="-122"/>
                  <a:cs typeface="微软雅黑" panose="020B0503020204020204" pitchFamily="34" charset="-122"/>
                </a:rPr>
                <a:t>Phong</a:t>
              </a:r>
              <a:r>
                <a:rPr lang="zh-CN" altLang="en-US" sz="1400" b="1" dirty="0">
                  <a:latin typeface="微软雅黑" panose="020B0503020204020204" pitchFamily="34" charset="-122"/>
                  <a:ea typeface="微软雅黑" panose="020B0503020204020204" pitchFamily="34" charset="-122"/>
                  <a:cs typeface="微软雅黑" panose="020B0503020204020204" pitchFamily="34" charset="-122"/>
                </a:rPr>
                <a:t>反射</a:t>
              </a:r>
            </a:p>
          </p:txBody>
        </p:sp>
      </p:grpSp>
      <mc:AlternateContent xmlns:mc="http://schemas.openxmlformats.org/markup-compatibility/2006" xmlns:a14="http://schemas.microsoft.com/office/drawing/2010/main">
        <mc:Choice Requires="a14">
          <p:sp>
            <p:nvSpPr>
              <p:cNvPr id="12" name="矩形 11"/>
              <p:cNvSpPr/>
              <p:nvPr/>
            </p:nvSpPr>
            <p:spPr>
              <a:xfrm>
                <a:off x="585477" y="2304177"/>
                <a:ext cx="8240468" cy="675698"/>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000" i="1" smtClean="0">
                              <a:latin typeface="Cambria Math" panose="02040503050406030204" pitchFamily="18" charset="0"/>
                            </a:rPr>
                          </m:ctrlPr>
                        </m:sSubPr>
                        <m:e>
                          <m:r>
                            <a:rPr lang="en-US" altLang="zh-CN" sz="2000" i="1">
                              <a:latin typeface="Cambria Math" panose="02040503050406030204" charset="0"/>
                            </a:rPr>
                            <m:t>𝐼</m:t>
                          </m:r>
                        </m:e>
                        <m:sub>
                          <m:r>
                            <a:rPr lang="en-US" altLang="zh-CN" sz="2000" i="1">
                              <a:latin typeface="Cambria Math" panose="02040503050406030204" charset="0"/>
                            </a:rPr>
                            <m:t>𝑠</m:t>
                          </m:r>
                        </m:sub>
                      </m:sSub>
                      <m:r>
                        <a:rPr lang="en-US" altLang="zh-CN" sz="2000" i="1">
                          <a:latin typeface="Cambria Math" panose="02040503050406030204" charset="0"/>
                        </a:rPr>
                        <m:t>=</m:t>
                      </m:r>
                      <m:f>
                        <m:fPr>
                          <m:ctrlPr>
                            <a:rPr lang="en-US" altLang="zh-CN" sz="2000" i="1">
                              <a:latin typeface="Cambria Math" panose="02040503050406030204" pitchFamily="18" charset="0"/>
                            </a:rPr>
                          </m:ctrlPr>
                        </m:fPr>
                        <m:num>
                          <m:r>
                            <a:rPr lang="en-US" altLang="zh-CN" sz="2000" b="0" i="1" smtClean="0">
                              <a:latin typeface="Cambria Math" panose="02040503050406030204" charset="0"/>
                            </a:rPr>
                            <m:t>1</m:t>
                          </m:r>
                        </m:num>
                        <m:den>
                          <m:r>
                            <a:rPr lang="en-US" altLang="zh-CN" sz="2000" i="1">
                              <a:latin typeface="Cambria Math" panose="02040503050406030204" charset="0"/>
                            </a:rPr>
                            <m:t>𝑎</m:t>
                          </m:r>
                          <m:r>
                            <a:rPr lang="en-US" altLang="zh-CN" sz="2000" i="1">
                              <a:latin typeface="Cambria Math" panose="02040503050406030204" charset="0"/>
                            </a:rPr>
                            <m:t>+</m:t>
                          </m:r>
                          <m:r>
                            <a:rPr lang="en-US" altLang="zh-CN" sz="2000" i="1">
                              <a:latin typeface="Cambria Math" panose="02040503050406030204" charset="0"/>
                            </a:rPr>
                            <m:t>𝑏𝑑</m:t>
                          </m:r>
                          <m:r>
                            <a:rPr lang="en-US" altLang="zh-CN" sz="2000" i="1">
                              <a:latin typeface="Cambria Math" panose="02040503050406030204" charset="0"/>
                            </a:rPr>
                            <m:t>+</m:t>
                          </m:r>
                          <m:r>
                            <a:rPr lang="en-US" altLang="zh-CN" sz="2000" i="1">
                              <a:latin typeface="Cambria Math" panose="02040503050406030204" charset="0"/>
                            </a:rPr>
                            <m:t>𝑐</m:t>
                          </m:r>
                          <m:sSup>
                            <m:sSupPr>
                              <m:ctrlPr>
                                <a:rPr lang="en-US" altLang="zh-CN" sz="2000" i="1">
                                  <a:latin typeface="Cambria Math" panose="02040503050406030204" pitchFamily="18" charset="0"/>
                                </a:rPr>
                              </m:ctrlPr>
                            </m:sSupPr>
                            <m:e>
                              <m:r>
                                <a:rPr lang="en-US" altLang="zh-CN" sz="2000" i="1">
                                  <a:latin typeface="Cambria Math" panose="02040503050406030204" charset="0"/>
                                </a:rPr>
                                <m:t>𝑑</m:t>
                              </m:r>
                            </m:e>
                            <m:sup>
                              <m:r>
                                <a:rPr lang="en-US" altLang="zh-CN" sz="2000" i="1">
                                  <a:latin typeface="Cambria Math" panose="02040503050406030204" charset="0"/>
                                </a:rPr>
                                <m:t>2</m:t>
                              </m:r>
                            </m:sup>
                          </m:sSup>
                        </m:den>
                      </m:f>
                      <m:d>
                        <m:dPr>
                          <m:ctrlPr>
                            <a:rPr lang="en-US" altLang="zh-CN" sz="2000" b="1" i="1" smtClean="0">
                              <a:latin typeface="Cambria Math" panose="02040503050406030204" pitchFamily="18" charset="0"/>
                            </a:rPr>
                          </m:ctrlPr>
                        </m:dPr>
                        <m:e>
                          <m:sSub>
                            <m:sSubPr>
                              <m:ctrlPr>
                                <a:rPr lang="en-US" altLang="zh-CN" sz="2000" i="1">
                                  <a:latin typeface="Cambria Math" panose="02040503050406030204" pitchFamily="18" charset="0"/>
                                </a:rPr>
                              </m:ctrlPr>
                            </m:sSubPr>
                            <m:e>
                              <m:r>
                                <a:rPr lang="en-US" altLang="zh-CN" sz="2000" i="1">
                                  <a:latin typeface="Cambria Math" panose="02040503050406030204" charset="0"/>
                                </a:rPr>
                                <m:t>𝑘</m:t>
                              </m:r>
                            </m:e>
                            <m:sub>
                              <m:r>
                                <a:rPr lang="en-US" altLang="zh-CN" sz="2000" i="1">
                                  <a:latin typeface="Cambria Math" panose="02040503050406030204" charset="0"/>
                                </a:rPr>
                                <m:t>𝑑</m:t>
                              </m:r>
                            </m:sub>
                          </m:sSub>
                          <m:sSub>
                            <m:sSubPr>
                              <m:ctrlPr>
                                <a:rPr lang="en-US" altLang="zh-CN" sz="2000" i="1">
                                  <a:latin typeface="Cambria Math" panose="02040503050406030204" pitchFamily="18" charset="0"/>
                                </a:rPr>
                              </m:ctrlPr>
                            </m:sSubPr>
                            <m:e>
                              <m:r>
                                <a:rPr lang="en-US" altLang="zh-CN" sz="2000" i="1">
                                  <a:latin typeface="Cambria Math" panose="02040503050406030204" charset="0"/>
                                </a:rPr>
                                <m:t>𝐿</m:t>
                              </m:r>
                            </m:e>
                            <m:sub>
                              <m:r>
                                <a:rPr lang="en-US" altLang="zh-CN" sz="2000" i="1">
                                  <a:latin typeface="Cambria Math" panose="02040503050406030204" charset="0"/>
                                </a:rPr>
                                <m:t>𝑑</m:t>
                              </m:r>
                            </m:sub>
                          </m:sSub>
                          <m:func>
                            <m:funcPr>
                              <m:ctrlPr>
                                <a:rPr lang="en-US" altLang="zh-CN" sz="2000" i="1">
                                  <a:latin typeface="Cambria Math" panose="02040503050406030204" pitchFamily="18" charset="0"/>
                                </a:rPr>
                              </m:ctrlPr>
                            </m:funcPr>
                            <m:fName>
                              <m:r>
                                <m:rPr>
                                  <m:sty m:val="p"/>
                                </m:rPr>
                                <a:rPr lang="en-US" altLang="zh-CN" sz="2000">
                                  <a:latin typeface="Cambria Math" panose="02040503050406030204" charset="0"/>
                                </a:rPr>
                                <m:t>max</m:t>
                              </m:r>
                            </m:fName>
                            <m:e>
                              <m:d>
                                <m:dPr>
                                  <m:ctrlPr>
                                    <a:rPr lang="en-US" altLang="zh-CN" sz="2000" i="1">
                                      <a:latin typeface="Cambria Math" panose="02040503050406030204" pitchFamily="18" charset="0"/>
                                    </a:rPr>
                                  </m:ctrlPr>
                                </m:dPr>
                                <m:e>
                                  <m:r>
                                    <a:rPr lang="en-US" altLang="zh-CN" sz="2000" b="1" i="1">
                                      <a:latin typeface="Cambria Math" panose="02040503050406030204" charset="0"/>
                                    </a:rPr>
                                    <m:t>𝒍</m:t>
                                  </m:r>
                                  <m:r>
                                    <a:rPr lang="en-US" altLang="zh-CN" sz="2000" i="1">
                                      <a:latin typeface="Cambria Math" panose="02040503050406030204" charset="0"/>
                                      <a:ea typeface="Cambria Math" panose="02040503050406030204" charset="0"/>
                                    </a:rPr>
                                    <m:t>∙</m:t>
                                  </m:r>
                                  <m:r>
                                    <a:rPr lang="en-US" altLang="zh-CN" sz="2000" b="1" i="1">
                                      <a:latin typeface="Cambria Math" panose="02040503050406030204" charset="0"/>
                                      <a:ea typeface="Cambria Math" panose="02040503050406030204" charset="0"/>
                                    </a:rPr>
                                    <m:t>𝒏</m:t>
                                  </m:r>
                                  <m:r>
                                    <a:rPr lang="en-US" altLang="zh-CN" sz="2000" b="1" i="1">
                                      <a:latin typeface="Cambria Math" panose="02040503050406030204" charset="0"/>
                                      <a:ea typeface="Cambria Math" panose="02040503050406030204" charset="0"/>
                                    </a:rPr>
                                    <m:t>, </m:t>
                                  </m:r>
                                  <m:r>
                                    <a:rPr lang="en-US" altLang="zh-CN" sz="2000" i="1">
                                      <a:latin typeface="Cambria Math" panose="02040503050406030204" charset="0"/>
                                      <a:ea typeface="Cambria Math" panose="02040503050406030204" charset="0"/>
                                    </a:rPr>
                                    <m:t>0</m:t>
                                  </m:r>
                                </m:e>
                              </m:d>
                            </m:e>
                          </m:func>
                          <m:r>
                            <a:rPr lang="en-US" altLang="zh-CN" sz="2000" b="1" i="1" smtClean="0">
                              <a:latin typeface="Cambria Math" panose="02040503050406030204" charset="0"/>
                            </a:rPr>
                            <m:t>+</m:t>
                          </m:r>
                          <m:sSup>
                            <m:sSupPr>
                              <m:ctrlPr>
                                <a:rPr lang="en-US" altLang="zh-CN" sz="2000" b="1" i="1" smtClean="0">
                                  <a:latin typeface="Cambria Math" panose="02040503050406030204" pitchFamily="18" charset="0"/>
                                  <a:ea typeface="Cambria Math" panose="02040503050406030204" charset="0"/>
                                </a:rPr>
                              </m:ctrlPr>
                            </m:sSupPr>
                            <m:e>
                              <m:sSub>
                                <m:sSubPr>
                                  <m:ctrlPr>
                                    <a:rPr lang="en-US" altLang="zh-CN" sz="2000" i="1">
                                      <a:latin typeface="Cambria Math" panose="02040503050406030204" pitchFamily="18" charset="0"/>
                                    </a:rPr>
                                  </m:ctrlPr>
                                </m:sSubPr>
                                <m:e>
                                  <m:r>
                                    <a:rPr lang="en-US" altLang="zh-CN" sz="2000" i="1">
                                      <a:latin typeface="Cambria Math" panose="02040503050406030204" charset="0"/>
                                    </a:rPr>
                                    <m:t>𝑘</m:t>
                                  </m:r>
                                </m:e>
                                <m:sub>
                                  <m:r>
                                    <a:rPr lang="en-US" altLang="zh-CN" sz="2000" i="1">
                                      <a:latin typeface="Cambria Math" panose="02040503050406030204" charset="0"/>
                                    </a:rPr>
                                    <m:t>𝑠</m:t>
                                  </m:r>
                                </m:sub>
                              </m:sSub>
                              <m:sSub>
                                <m:sSubPr>
                                  <m:ctrlPr>
                                    <a:rPr lang="en-US" altLang="zh-CN" sz="2000" i="1">
                                      <a:latin typeface="Cambria Math" panose="02040503050406030204" pitchFamily="18" charset="0"/>
                                    </a:rPr>
                                  </m:ctrlPr>
                                </m:sSubPr>
                                <m:e>
                                  <m:r>
                                    <a:rPr lang="en-US" altLang="zh-CN" sz="2000" i="1">
                                      <a:latin typeface="Cambria Math" panose="02040503050406030204" charset="0"/>
                                    </a:rPr>
                                    <m:t>𝐿</m:t>
                                  </m:r>
                                </m:e>
                                <m:sub>
                                  <m:r>
                                    <a:rPr lang="en-US" altLang="zh-CN" sz="2000" i="1">
                                      <a:latin typeface="Cambria Math" panose="02040503050406030204" charset="0"/>
                                    </a:rPr>
                                    <m:t>𝑠</m:t>
                                  </m:r>
                                </m:sub>
                              </m:sSub>
                              <m:d>
                                <m:dPr>
                                  <m:ctrlPr>
                                    <a:rPr lang="en-US" altLang="zh-CN" sz="2000" b="1" i="1">
                                      <a:latin typeface="Cambria Math" panose="02040503050406030204" pitchFamily="18" charset="0"/>
                                    </a:rPr>
                                  </m:ctrlPr>
                                </m:dPr>
                                <m:e>
                                  <m:r>
                                    <m:rPr>
                                      <m:sty m:val="p"/>
                                    </m:rPr>
                                    <a:rPr lang="en-US" altLang="zh-CN" sz="2000">
                                      <a:latin typeface="Cambria Math" panose="02040503050406030204" charset="0"/>
                                    </a:rPr>
                                    <m:t>max</m:t>
                                  </m:r>
                                  <m:r>
                                    <a:rPr lang="en-US" altLang="zh-CN" sz="2000" i="1">
                                      <a:latin typeface="Cambria Math" panose="02040503050406030204" charset="0"/>
                                    </a:rPr>
                                    <m:t>⁡(</m:t>
                                  </m:r>
                                  <m:r>
                                    <a:rPr lang="en-US" altLang="zh-CN" sz="2000" b="1" i="1">
                                      <a:latin typeface="Cambria Math" panose="02040503050406030204" charset="0"/>
                                    </a:rPr>
                                    <m:t>𝒓</m:t>
                                  </m:r>
                                  <m:r>
                                    <a:rPr lang="en-US" altLang="zh-CN" sz="2000" i="1">
                                      <a:latin typeface="Cambria Math" panose="02040503050406030204" charset="0"/>
                                      <a:ea typeface="Cambria Math" panose="02040503050406030204" charset="0"/>
                                    </a:rPr>
                                    <m:t>∙</m:t>
                                  </m:r>
                                  <m:r>
                                    <a:rPr lang="en-US" altLang="zh-CN" sz="2000" b="1" i="1">
                                      <a:latin typeface="Cambria Math" panose="02040503050406030204" charset="0"/>
                                      <a:ea typeface="Cambria Math" panose="02040503050406030204" charset="0"/>
                                    </a:rPr>
                                    <m:t>𝒗</m:t>
                                  </m:r>
                                  <m:r>
                                    <a:rPr lang="en-US" altLang="zh-CN" sz="2000" b="1" i="1">
                                      <a:latin typeface="Cambria Math" panose="02040503050406030204" charset="0"/>
                                      <a:ea typeface="Cambria Math" panose="02040503050406030204" charset="0"/>
                                    </a:rPr>
                                    <m:t>,</m:t>
                                  </m:r>
                                  <m:r>
                                    <a:rPr lang="en-US" altLang="zh-CN" sz="2000" i="1">
                                      <a:latin typeface="Cambria Math" panose="02040503050406030204" charset="0"/>
                                      <a:ea typeface="Cambria Math" panose="02040503050406030204" charset="0"/>
                                    </a:rPr>
                                    <m:t>0</m:t>
                                  </m:r>
                                </m:e>
                              </m:d>
                              <m:r>
                                <a:rPr lang="en-US" altLang="zh-CN" sz="2000" b="1" i="1">
                                  <a:latin typeface="Cambria Math" panose="02040503050406030204" charset="0"/>
                                  <a:ea typeface="Cambria Math" panose="02040503050406030204" charset="0"/>
                                </a:rPr>
                                <m:t>)</m:t>
                              </m:r>
                            </m:e>
                            <m:sup>
                              <m:r>
                                <a:rPr lang="en-US" altLang="zh-CN" sz="2000" b="1" i="1">
                                  <a:latin typeface="Cambria Math" panose="02040503050406030204" charset="0"/>
                                  <a:ea typeface="Cambria Math" panose="02040503050406030204" charset="0"/>
                                </a:rPr>
                                <m:t>𝜶</m:t>
                              </m:r>
                            </m:sup>
                          </m:sSup>
                        </m:e>
                      </m:d>
                      <m:r>
                        <a:rPr lang="en-US" altLang="zh-CN" sz="2000" b="1" i="1" smtClean="0">
                          <a:latin typeface="Cambria Math" panose="02040503050406030204" charset="0"/>
                          <a:ea typeface="Cambria Math" panose="02040503050406030204" charset="0"/>
                        </a:rPr>
                        <m:t>+</m:t>
                      </m:r>
                      <m:sSub>
                        <m:sSubPr>
                          <m:ctrlPr>
                            <a:rPr lang="en-US" altLang="zh-CN" sz="2000" i="1">
                              <a:latin typeface="Cambria Math" panose="02040503050406030204" pitchFamily="18" charset="0"/>
                            </a:rPr>
                          </m:ctrlPr>
                        </m:sSubPr>
                        <m:e>
                          <m:r>
                            <a:rPr lang="en-US" altLang="zh-CN" sz="2000" i="1">
                              <a:latin typeface="Cambria Math" panose="02040503050406030204" charset="0"/>
                            </a:rPr>
                            <m:t>𝑘</m:t>
                          </m:r>
                        </m:e>
                        <m:sub>
                          <m:r>
                            <a:rPr lang="en-US" altLang="zh-CN" sz="2000" i="1">
                              <a:latin typeface="Cambria Math" panose="02040503050406030204" charset="0"/>
                            </a:rPr>
                            <m:t>𝑎</m:t>
                          </m:r>
                        </m:sub>
                      </m:sSub>
                      <m:sSub>
                        <m:sSubPr>
                          <m:ctrlPr>
                            <a:rPr lang="en-US" altLang="zh-CN" sz="2000" i="1">
                              <a:latin typeface="Cambria Math" panose="02040503050406030204" pitchFamily="18" charset="0"/>
                            </a:rPr>
                          </m:ctrlPr>
                        </m:sSubPr>
                        <m:e>
                          <m:r>
                            <a:rPr lang="en-US" altLang="zh-CN" sz="2000" i="1">
                              <a:latin typeface="Cambria Math" panose="02040503050406030204" charset="0"/>
                            </a:rPr>
                            <m:t>𝐿</m:t>
                          </m:r>
                        </m:e>
                        <m:sub>
                          <m:r>
                            <a:rPr lang="en-US" altLang="zh-CN" sz="2000" i="1">
                              <a:latin typeface="Cambria Math" panose="02040503050406030204" charset="0"/>
                            </a:rPr>
                            <m:t>𝑎</m:t>
                          </m:r>
                        </m:sub>
                      </m:sSub>
                    </m:oMath>
                  </m:oMathPara>
                </a14:m>
                <a:endParaRPr lang="zh-CN" altLang="en-US" sz="2000" dirty="0"/>
              </a:p>
            </p:txBody>
          </p:sp>
        </mc:Choice>
        <mc:Fallback xmlns="">
          <p:sp>
            <p:nvSpPr>
              <p:cNvPr id="12" name="矩形 11"/>
              <p:cNvSpPr>
                <a:spLocks noRot="1" noChangeAspect="1" noMove="1" noResize="1" noEditPoints="1" noAdjustHandles="1" noChangeArrowheads="1" noChangeShapeType="1" noTextEdit="1"/>
              </p:cNvSpPr>
              <p:nvPr/>
            </p:nvSpPr>
            <p:spPr>
              <a:xfrm>
                <a:off x="585477" y="2304177"/>
                <a:ext cx="8240468" cy="675698"/>
              </a:xfrm>
              <a:prstGeom prst="rect">
                <a:avLst/>
              </a:prstGeom>
              <a:blipFill rotWithShape="1">
                <a:blip r:embed="rId4"/>
                <a:stretch>
                  <a:fillRect t="-59" r="1" b="67"/>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改进的</a:t>
            </a:r>
            <a:r>
              <a:rPr lang="en-US" altLang="zh-CN" dirty="0" err="1"/>
              <a:t>Phong</a:t>
            </a:r>
            <a:r>
              <a:rPr lang="zh-CN" altLang="en-US" dirty="0"/>
              <a:t>模型</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a:bodyPr>
              <a:lstStyle/>
              <a:p>
                <a:r>
                  <a:rPr lang="zh-CN" altLang="en-US" sz="2400" dirty="0"/>
                  <a:t> 在</a:t>
                </a:r>
                <a:r>
                  <a:rPr lang="en-US" altLang="zh-CN" sz="2400" dirty="0" err="1"/>
                  <a:t>Phong</a:t>
                </a:r>
                <a:r>
                  <a:rPr lang="zh-CN" altLang="en-US" sz="2400" dirty="0"/>
                  <a:t>模型中，镜面光反射项计算量较大</a:t>
                </a:r>
                <a:endParaRPr lang="en-US" altLang="zh-CN" sz="2400" dirty="0"/>
              </a:p>
              <a:p>
                <a:pPr lvl="1"/>
                <a:r>
                  <a:rPr lang="zh-CN" altLang="en-US" sz="1800" dirty="0"/>
                  <a:t>需要为每个顶点计算一个新的反射向量与视角方向的夹角</a:t>
                </a:r>
                <a:endParaRPr lang="en-US" altLang="zh-CN" sz="1800" b="1" dirty="0"/>
              </a:p>
              <a:p>
                <a:pPr marL="0" indent="0">
                  <a:buNone/>
                </a:pPr>
                <a:endParaRPr lang="en-US" altLang="zh-CN" sz="2400" dirty="0"/>
              </a:p>
              <a:p>
                <a:r>
                  <a:rPr lang="en-US" altLang="zh-CN" sz="2400" dirty="0" err="1"/>
                  <a:t>Blinn-Phong</a:t>
                </a:r>
                <a:r>
                  <a:rPr lang="zh-CN" altLang="en-US" sz="2400" dirty="0"/>
                  <a:t>模型</a:t>
                </a:r>
                <a:endParaRPr lang="en-US" altLang="zh-CN" sz="2400" dirty="0"/>
              </a:p>
              <a:p>
                <a:pPr lvl="1"/>
                <a:r>
                  <a:rPr lang="en-US" altLang="zh-CN" sz="1800" dirty="0" err="1"/>
                  <a:t>Blinn</a:t>
                </a:r>
                <a:r>
                  <a:rPr lang="zh-CN" altLang="en-US" sz="1800" dirty="0"/>
                  <a:t>利用中</a:t>
                </a:r>
                <a:r>
                  <a:rPr lang="zh-CN" altLang="en-US" sz="1800" dirty="0">
                    <a:solidFill>
                      <a:srgbClr val="0000FF"/>
                    </a:solidFill>
                  </a:rPr>
                  <a:t>半角向量</a:t>
                </a:r>
                <a:r>
                  <a:rPr lang="zh-CN" altLang="en-US" sz="1800" dirty="0"/>
                  <a:t>，避免求反射角，从而使得计算效果更高</a:t>
                </a:r>
                <a:endParaRPr lang="en-US" altLang="zh-CN" sz="1000" dirty="0"/>
              </a:p>
              <a:p>
                <a:pPr lvl="1">
                  <a:buClr>
                    <a:schemeClr val="tx1"/>
                  </a:buClr>
                </a:pPr>
                <a14:m>
                  <m:oMath xmlns:m="http://schemas.openxmlformats.org/officeDocument/2006/math">
                    <m:r>
                      <a:rPr lang="en-US" altLang="zh-CN" sz="1800" b="1" i="1" dirty="0" smtClean="0">
                        <a:latin typeface="Cambria Math" panose="02040503050406030204" charset="0"/>
                      </a:rPr>
                      <m:t>𝒉</m:t>
                    </m:r>
                  </m:oMath>
                </a14:m>
                <a:r>
                  <a:rPr lang="zh-CN" altLang="en-US" sz="1800" dirty="0"/>
                  <a:t>是</a:t>
                </a:r>
                <a14:m>
                  <m:oMath xmlns:m="http://schemas.openxmlformats.org/officeDocument/2006/math">
                    <m:r>
                      <a:rPr lang="en-US" altLang="zh-CN" sz="1800" b="1" i="1" dirty="0">
                        <a:latin typeface="Cambria Math" panose="02040503050406030204" charset="0"/>
                      </a:rPr>
                      <m:t>𝒍</m:t>
                    </m:r>
                  </m:oMath>
                </a14:m>
                <a:r>
                  <a:rPr lang="zh-CN" altLang="en-US" sz="1800" dirty="0"/>
                  <a:t>和</a:t>
                </a:r>
                <a14:m>
                  <m:oMath xmlns:m="http://schemas.openxmlformats.org/officeDocument/2006/math">
                    <m:r>
                      <a:rPr lang="en-US" altLang="zh-CN" sz="1800" b="1" i="1" dirty="0" smtClean="0">
                        <a:latin typeface="Cambria Math" panose="02040503050406030204" charset="0"/>
                      </a:rPr>
                      <m:t>𝒗</m:t>
                    </m:r>
                  </m:oMath>
                </a14:m>
                <a:r>
                  <a:rPr lang="zh-CN" altLang="en-US" sz="1800" dirty="0"/>
                  <a:t>的平分单位向量，即</a:t>
                </a: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14:m>
                  <m:oMath xmlns:m="http://schemas.openxmlformats.org/officeDocument/2006/math">
                    <m:r>
                      <a:rPr lang="en-US" altLang="zh-CN" sz="1800" b="1" i="1" smtClean="0">
                        <a:solidFill>
                          <a:srgbClr val="0000FF"/>
                        </a:solidFill>
                        <a:latin typeface="Cambria Math" panose="02040503050406030204" charset="0"/>
                      </a:rPr>
                      <m:t>𝟐</m:t>
                    </m:r>
                    <m:r>
                      <a:rPr lang="en-US" altLang="zh-CN" sz="1800" b="1" i="1" smtClean="0">
                        <a:solidFill>
                          <a:srgbClr val="0000FF"/>
                        </a:solidFill>
                        <a:latin typeface="Cambria Math" panose="02040503050406030204" charset="0"/>
                        <a:ea typeface="Cambria Math" panose="02040503050406030204" charset="0"/>
                        <a:cs typeface="Cambria Math" panose="02040503050406030204" charset="0"/>
                      </a:rPr>
                      <m:t>𝝍</m:t>
                    </m:r>
                    <m:r>
                      <a:rPr lang="en-US" altLang="zh-CN" sz="1800" b="1" i="1" smtClean="0">
                        <a:solidFill>
                          <a:srgbClr val="0000FF"/>
                        </a:solidFill>
                        <a:latin typeface="Cambria Math" panose="02040503050406030204" charset="0"/>
                        <a:ea typeface="Cambria Math" panose="02040503050406030204" charset="0"/>
                        <a:cs typeface="Cambria Math" panose="02040503050406030204" charset="0"/>
                      </a:rPr>
                      <m:t>=</m:t>
                    </m:r>
                    <m:r>
                      <a:rPr lang="en-US" altLang="zh-CN" sz="1800" b="1" i="1" smtClean="0">
                        <a:solidFill>
                          <a:srgbClr val="0000FF"/>
                        </a:solidFill>
                        <a:latin typeface="Cambria Math" panose="02040503050406030204" charset="0"/>
                        <a:ea typeface="Cambria Math" panose="02040503050406030204" charset="0"/>
                        <a:cs typeface="Cambria Math" panose="02040503050406030204" charset="0"/>
                      </a:rPr>
                      <m:t>𝝓</m:t>
                    </m:r>
                  </m:oMath>
                </a14:m>
                <a:r>
                  <a:rPr lang="zh-CN" altLang="en-US" sz="1800" dirty="0"/>
                  <a:t>，因此可以用</a:t>
                </a:r>
                <a14:m>
                  <m:oMath xmlns:m="http://schemas.openxmlformats.org/officeDocument/2006/math">
                    <m:r>
                      <a:rPr lang="en-US" altLang="zh-CN" sz="1800" b="1" i="1">
                        <a:latin typeface="Cambria Math" panose="02040503050406030204" charset="0"/>
                        <a:ea typeface="Cambria Math" panose="02040503050406030204" charset="0"/>
                        <a:cs typeface="Cambria Math" panose="02040503050406030204" charset="0"/>
                      </a:rPr>
                      <m:t>𝝍</m:t>
                    </m:r>
                  </m:oMath>
                </a14:m>
                <a:r>
                  <a:rPr lang="zh-CN" altLang="en-US" sz="1800" dirty="0"/>
                  <a:t>替换</a:t>
                </a:r>
                <a14:m>
                  <m:oMath xmlns:m="http://schemas.openxmlformats.org/officeDocument/2006/math">
                    <m:r>
                      <a:rPr lang="en-US" altLang="zh-CN" sz="1800" b="1" i="1">
                        <a:latin typeface="Cambria Math" panose="02040503050406030204" charset="0"/>
                        <a:ea typeface="Cambria Math" panose="02040503050406030204" charset="0"/>
                        <a:cs typeface="Cambria Math" panose="02040503050406030204" charset="0"/>
                      </a:rPr>
                      <m:t>𝝓</m:t>
                    </m:r>
                  </m:oMath>
                </a14:m>
                <a:r>
                  <a:rPr lang="en-US" altLang="zh-CN" sz="1800" dirty="0"/>
                  <a:t>:</a:t>
                </a:r>
              </a:p>
              <a:p>
                <a:pPr lvl="1">
                  <a:buClr>
                    <a:schemeClr val="tx1"/>
                  </a:buClr>
                </a:pPr>
                <a:endParaRPr lang="en-US" altLang="zh-CN" sz="1800" dirty="0"/>
              </a:p>
              <a:p>
                <a:pPr lvl="1">
                  <a:buClr>
                    <a:schemeClr val="tx1"/>
                  </a:buClr>
                </a:pPr>
                <a:endParaRPr lang="en-US" altLang="zh-CN" sz="1800" dirty="0"/>
              </a:p>
              <a:p>
                <a:pPr>
                  <a:buClr>
                    <a:schemeClr val="tx1"/>
                  </a:buClr>
                </a:pPr>
                <a:endParaRPr lang="zh-CN" altLang="en-US" sz="2600" dirty="0"/>
              </a:p>
              <a:p>
                <a:endParaRPr lang="zh-CN" altLang="en-US" dirty="0"/>
              </a:p>
            </p:txBody>
          </p:sp>
        </mc:Choice>
        <mc:Fallback xmlns="">
          <p:sp>
            <p:nvSpPr>
              <p:cNvPr id="3" name="内容占位符 2"/>
              <p:cNvSpPr>
                <a:spLocks noRot="1" noChangeAspect="1" noMove="1" noResize="1" noEditPoints="1" noAdjustHandles="1" noChangeArrowheads="1" noChangeShapeType="1" noTextEdit="1"/>
              </p:cNvSpPr>
              <p:nvPr>
                <p:ph idx="1"/>
              </p:nvPr>
            </p:nvSpPr>
            <p:spPr>
              <a:blipFill rotWithShape="1">
                <a:blip r:embed="rId2"/>
                <a:stretch>
                  <a:fillRect t="-259" b="-9365"/>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57</a:t>
            </a:fld>
            <a:endParaRPr lang="zh-CN" altLang="en-US"/>
          </a:p>
        </p:txBody>
      </p:sp>
      <p:pic>
        <p:nvPicPr>
          <p:cNvPr id="5" name="图片 4"/>
          <p:cNvPicPr>
            <a:picLocks noChangeAspect="1"/>
          </p:cNvPicPr>
          <p:nvPr/>
        </p:nvPicPr>
        <p:blipFill>
          <a:blip r:embed="rId3"/>
          <a:stretch>
            <a:fillRect/>
          </a:stretch>
        </p:blipFill>
        <p:spPr>
          <a:xfrm>
            <a:off x="5064155" y="3761113"/>
            <a:ext cx="3451195" cy="2680494"/>
          </a:xfrm>
          <a:prstGeom prst="rect">
            <a:avLst/>
          </a:prstGeom>
        </p:spPr>
      </p:pic>
      <mc:AlternateContent xmlns:mc="http://schemas.openxmlformats.org/markup-compatibility/2006" xmlns:a14="http://schemas.microsoft.com/office/drawing/2010/main">
        <mc:Choice Requires="a14">
          <p:sp>
            <p:nvSpPr>
              <p:cNvPr id="6" name="Rectangle 5"/>
              <p:cNvSpPr/>
              <p:nvPr/>
            </p:nvSpPr>
            <p:spPr>
              <a:xfrm>
                <a:off x="1153825" y="3670960"/>
                <a:ext cx="2699778" cy="369332"/>
              </a:xfrm>
              <a:prstGeom prst="rect">
                <a:avLst/>
              </a:prstGeom>
            </p:spPr>
            <p:txBody>
              <a:bodyPr wrap="none">
                <a:spAutoFit/>
              </a:bodyPr>
              <a:lstStyle/>
              <a:p>
                <a:pPr lvl="1">
                  <a:buClr>
                    <a:schemeClr val="tx1"/>
                  </a:buClr>
                </a:pPr>
                <a14:m>
                  <m:oMathPara xmlns:m="http://schemas.openxmlformats.org/officeDocument/2006/math">
                    <m:oMathParaPr>
                      <m:jc m:val="centerGroup"/>
                    </m:oMathParaPr>
                    <m:oMath xmlns:m="http://schemas.openxmlformats.org/officeDocument/2006/math">
                      <m:r>
                        <a:rPr lang="en-US" altLang="zh-CN" b="1" i="1" dirty="0">
                          <a:latin typeface="Cambria Math" panose="02040503050406030204" charset="0"/>
                        </a:rPr>
                        <m:t>𝒉</m:t>
                      </m:r>
                      <m:r>
                        <a:rPr lang="en-US" altLang="zh-CN" i="1" dirty="0">
                          <a:latin typeface="Cambria Math" panose="02040503050406030204" charset="0"/>
                        </a:rPr>
                        <m:t> = </m:t>
                      </m:r>
                      <m:r>
                        <a:rPr lang="en-US" altLang="zh-CN" b="1" i="1" dirty="0">
                          <a:latin typeface="Cambria Math" panose="02040503050406030204" charset="0"/>
                        </a:rPr>
                        <m:t>(</m:t>
                      </m:r>
                      <m:r>
                        <a:rPr lang="en-US" altLang="zh-CN" b="1" i="1" dirty="0">
                          <a:latin typeface="Cambria Math" panose="02040503050406030204" charset="0"/>
                        </a:rPr>
                        <m:t>𝒍</m:t>
                      </m:r>
                      <m:r>
                        <a:rPr lang="en-US" altLang="zh-CN" b="1" i="1" dirty="0" err="1">
                          <a:latin typeface="Cambria Math" panose="02040503050406030204" charset="0"/>
                        </a:rPr>
                        <m:t>+</m:t>
                      </m:r>
                      <m:r>
                        <a:rPr lang="en-US" altLang="zh-CN" b="1" i="1" dirty="0" err="1">
                          <a:latin typeface="Cambria Math" panose="02040503050406030204" charset="0"/>
                        </a:rPr>
                        <m:t>𝒗</m:t>
                      </m:r>
                      <m:r>
                        <a:rPr lang="en-US" altLang="zh-CN" b="1" i="1" dirty="0">
                          <a:latin typeface="Cambria Math" panose="02040503050406030204" charset="0"/>
                        </a:rPr>
                        <m:t>)/|</m:t>
                      </m:r>
                      <m:r>
                        <a:rPr lang="en-US" altLang="zh-CN" b="1" i="1" dirty="0">
                          <a:latin typeface="Cambria Math" panose="02040503050406030204" charset="0"/>
                        </a:rPr>
                        <m:t>𝒍</m:t>
                      </m:r>
                      <m:r>
                        <a:rPr lang="en-US" altLang="zh-CN" b="1" i="1" dirty="0" err="1">
                          <a:latin typeface="Cambria Math" panose="02040503050406030204" charset="0"/>
                        </a:rPr>
                        <m:t>+</m:t>
                      </m:r>
                      <m:r>
                        <a:rPr lang="en-US" altLang="zh-CN" b="1" i="1" dirty="0" err="1">
                          <a:latin typeface="Cambria Math" panose="02040503050406030204" charset="0"/>
                        </a:rPr>
                        <m:t>𝒗</m:t>
                      </m:r>
                      <m:r>
                        <a:rPr lang="en-US" altLang="zh-CN" b="1" i="1" dirty="0">
                          <a:latin typeface="Cambria Math" panose="02040503050406030204" charset="0"/>
                        </a:rPr>
                        <m:t>|</m:t>
                      </m:r>
                    </m:oMath>
                  </m:oMathPara>
                </a14:m>
                <a:endParaRPr lang="en-US" altLang="zh-CN" sz="2400" b="1" dirty="0"/>
              </a:p>
            </p:txBody>
          </p:sp>
        </mc:Choice>
        <mc:Fallback xmlns="">
          <p:sp>
            <p:nvSpPr>
              <p:cNvPr id="6" name="Rectangle 5"/>
              <p:cNvSpPr>
                <a:spLocks noRot="1" noChangeAspect="1" noMove="1" noResize="1" noEditPoints="1" noAdjustHandles="1" noChangeArrowheads="1" noChangeShapeType="1" noTextEdit="1"/>
              </p:cNvSpPr>
              <p:nvPr/>
            </p:nvSpPr>
            <p:spPr>
              <a:xfrm>
                <a:off x="1153825" y="3670960"/>
                <a:ext cx="2699778" cy="369332"/>
              </a:xfrm>
              <a:prstGeom prst="rect">
                <a:avLst/>
              </a:prstGeom>
              <a:blipFill rotWithShape="1">
                <a:blip r:embed="rId4"/>
                <a:stretch>
                  <a:fillRect l="-1" t="-7" r="-6335" b="11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2038655" y="4730713"/>
                <a:ext cx="1949187" cy="28732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CN" b="1" i="1" smtClean="0">
                              <a:latin typeface="Cambria Math" panose="02040503050406030204" pitchFamily="18" charset="0"/>
                            </a:rPr>
                          </m:ctrlPr>
                        </m:sSupPr>
                        <m:e>
                          <m:d>
                            <m:dPr>
                              <m:ctrlPr>
                                <a:rPr lang="en-US" altLang="zh-CN" b="1" i="1" smtClean="0">
                                  <a:latin typeface="Cambria Math" panose="02040503050406030204" pitchFamily="18" charset="0"/>
                                </a:rPr>
                              </m:ctrlPr>
                            </m:dPr>
                            <m:e>
                              <m:r>
                                <a:rPr lang="en-US" altLang="zh-CN" b="1" i="1">
                                  <a:latin typeface="Cambria Math" panose="02040503050406030204" charset="0"/>
                                </a:rPr>
                                <m:t>𝒏</m:t>
                              </m:r>
                              <m:r>
                                <a:rPr lang="en-US" altLang="zh-CN" b="1" i="1">
                                  <a:latin typeface="Cambria Math" panose="02040503050406030204" charset="0"/>
                                  <a:ea typeface="Cambria Math" panose="02040503050406030204" charset="0"/>
                                  <a:cs typeface="Cambria Math" panose="02040503050406030204" charset="0"/>
                                </a:rPr>
                                <m:t>∙</m:t>
                              </m:r>
                              <m:r>
                                <a:rPr lang="en-US" altLang="zh-CN" b="1" i="1">
                                  <a:latin typeface="Cambria Math" panose="02040503050406030204" charset="0"/>
                                  <a:ea typeface="Cambria Math" panose="02040503050406030204" charset="0"/>
                                  <a:cs typeface="Cambria Math" panose="02040503050406030204" charset="0"/>
                                </a:rPr>
                                <m:t>𝒉</m:t>
                              </m:r>
                            </m:e>
                          </m:d>
                        </m:e>
                        <m:sup>
                          <m:r>
                            <a:rPr lang="en-US" altLang="zh-CN" b="1" i="1" smtClean="0">
                              <a:latin typeface="Cambria Math" panose="02040503050406030204" charset="0"/>
                              <a:ea typeface="Cambria Math" panose="02040503050406030204" charset="0"/>
                              <a:cs typeface="Cambria Math" panose="02040503050406030204" charset="0"/>
                            </a:rPr>
                            <m:t>𝜷</m:t>
                          </m:r>
                        </m:sup>
                      </m:sSup>
                      <m:r>
                        <a:rPr lang="zh-CN" altLang="en-US" b="1" i="1" smtClean="0">
                          <a:latin typeface="Cambria Math" panose="02040503050406030204" charset="0"/>
                          <a:ea typeface="Cambria Math" panose="02040503050406030204" charset="0"/>
                          <a:cs typeface="Cambria Math" panose="02040503050406030204" charset="0"/>
                        </a:rPr>
                        <m:t> </m:t>
                      </m:r>
                      <m:r>
                        <a:rPr lang="is-IS" altLang="zh-CN" b="1" i="1" smtClean="0">
                          <a:latin typeface="Cambria Math" panose="02040503050406030204" charset="0"/>
                          <a:ea typeface="Cambria Math" panose="02040503050406030204" charset="0"/>
                          <a:cs typeface="Cambria Math" panose="02040503050406030204" charset="0"/>
                        </a:rPr>
                        <m:t>→</m:t>
                      </m:r>
                      <m:sSup>
                        <m:sSupPr>
                          <m:ctrlPr>
                            <a:rPr lang="en-US" altLang="zh-CN" b="1" i="1">
                              <a:latin typeface="Cambria Math" panose="02040503050406030204" pitchFamily="18" charset="0"/>
                            </a:rPr>
                          </m:ctrlPr>
                        </m:sSupPr>
                        <m:e>
                          <m:d>
                            <m:dPr>
                              <m:ctrlPr>
                                <a:rPr lang="en-US" altLang="zh-CN" b="1" i="1">
                                  <a:latin typeface="Cambria Math" panose="02040503050406030204" pitchFamily="18" charset="0"/>
                                </a:rPr>
                              </m:ctrlPr>
                            </m:dPr>
                            <m:e>
                              <m:r>
                                <a:rPr lang="en-US" altLang="zh-CN" b="1" i="1">
                                  <a:latin typeface="Cambria Math" panose="02040503050406030204" charset="0"/>
                                  <a:ea typeface="Cambria Math" panose="02040503050406030204" charset="0"/>
                                  <a:cs typeface="Cambria Math" panose="02040503050406030204" charset="0"/>
                                </a:rPr>
                                <m:t>𝒓</m:t>
                              </m:r>
                              <m:r>
                                <a:rPr lang="en-US" altLang="zh-CN" b="1" i="1">
                                  <a:latin typeface="Cambria Math" panose="02040503050406030204" charset="0"/>
                                  <a:ea typeface="Cambria Math" panose="02040503050406030204" charset="0"/>
                                  <a:cs typeface="Cambria Math" panose="02040503050406030204" charset="0"/>
                                </a:rPr>
                                <m:t>∙</m:t>
                              </m:r>
                              <m:r>
                                <a:rPr lang="en-US" altLang="zh-CN" b="1" i="1">
                                  <a:latin typeface="Cambria Math" panose="02040503050406030204" charset="0"/>
                                  <a:ea typeface="Cambria Math" panose="02040503050406030204" charset="0"/>
                                  <a:cs typeface="Cambria Math" panose="02040503050406030204" charset="0"/>
                                </a:rPr>
                                <m:t>𝒗</m:t>
                              </m:r>
                            </m:e>
                          </m:d>
                        </m:e>
                        <m:sup>
                          <m:r>
                            <a:rPr lang="en-US" altLang="zh-CN" b="1" i="1" smtClean="0">
                              <a:latin typeface="Cambria Math" panose="02040503050406030204" charset="0"/>
                              <a:ea typeface="Cambria Math" panose="02040503050406030204" charset="0"/>
                              <a:cs typeface="Cambria Math" panose="02040503050406030204" charset="0"/>
                            </a:rPr>
                            <m:t>𝜶</m:t>
                          </m:r>
                        </m:sup>
                      </m:sSup>
                    </m:oMath>
                  </m:oMathPara>
                </a14:m>
                <a:endParaRPr lang="en-US" b="1" dirty="0"/>
              </a:p>
            </p:txBody>
          </p:sp>
        </mc:Choice>
        <mc:Fallback xmlns="">
          <p:sp>
            <p:nvSpPr>
              <p:cNvPr id="7" name="TextBox 6"/>
              <p:cNvSpPr txBox="1">
                <a:spLocks noRot="1" noChangeAspect="1" noMove="1" noResize="1" noEditPoints="1" noAdjustHandles="1" noChangeArrowheads="1" noChangeShapeType="1" noTextEdit="1"/>
              </p:cNvSpPr>
              <p:nvPr/>
            </p:nvSpPr>
            <p:spPr>
              <a:xfrm>
                <a:off x="2038655" y="4730713"/>
                <a:ext cx="1949187" cy="287323"/>
              </a:xfrm>
              <a:prstGeom prst="rect">
                <a:avLst/>
              </a:prstGeom>
              <a:blipFill rotWithShape="1">
                <a:blip r:embed="rId5"/>
                <a:stretch>
                  <a:fillRect l="-16" t="-208" r="-519" b="9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1337758" y="5298837"/>
                <a:ext cx="2650084" cy="369332"/>
              </a:xfrm>
              <a:prstGeom prst="rect">
                <a:avLst/>
              </a:prstGeom>
              <a:noFill/>
            </p:spPr>
            <p:txBody>
              <a:bodyPr wrap="none" rtlCol="0">
                <a:spAutoFit/>
              </a:bodyPr>
              <a:lstStyle/>
              <a:p>
                <a:r>
                  <a:rPr lang="zh-CN" altLang="en-US" dirty="0">
                    <a:latin typeface="微软雅黑" panose="020B0503020204020204" pitchFamily="34" charset="-122"/>
                    <a:ea typeface="微软雅黑" panose="020B0503020204020204" pitchFamily="34" charset="-122"/>
                    <a:cs typeface="微软雅黑" panose="020B0503020204020204" pitchFamily="34" charset="-122"/>
                  </a:rPr>
                  <a:t>可取适当的</a:t>
                </a:r>
                <a14:m>
                  <m:oMath xmlns:m="http://schemas.openxmlformats.org/officeDocument/2006/math">
                    <m:r>
                      <a:rPr lang="en-US" altLang="zh-CN" b="1" i="1">
                        <a:latin typeface="Cambria Math" panose="02040503050406030204" charset="0"/>
                        <a:ea typeface="微软雅黑" panose="020B0503020204020204" pitchFamily="34" charset="-122"/>
                        <a:cs typeface="微软雅黑" panose="020B0503020204020204" pitchFamily="34" charset="-122"/>
                      </a:rPr>
                      <m:t>𝜷</m:t>
                    </m:r>
                  </m:oMath>
                </a14:m>
                <a:r>
                  <a:rPr lang="zh-CN" altLang="en-US" dirty="0">
                    <a:latin typeface="微软雅黑" panose="020B0503020204020204" pitchFamily="34" charset="-122"/>
                    <a:ea typeface="微软雅黑" panose="020B0503020204020204" pitchFamily="34" charset="-122"/>
                    <a:cs typeface="微软雅黑" panose="020B0503020204020204" pitchFamily="34" charset="-122"/>
                  </a:rPr>
                  <a:t>以匹配明亮</a:t>
                </a:r>
                <a:endParaRPr lang="en-US" dirty="0">
                  <a:latin typeface="微软雅黑" panose="020B0503020204020204" pitchFamily="34" charset="-122"/>
                  <a:ea typeface="微软雅黑" panose="020B0503020204020204" pitchFamily="34" charset="-122"/>
                  <a:cs typeface="微软雅黑" panose="020B0503020204020204" pitchFamily="34" charset="-122"/>
                </a:endParaRPr>
              </a:p>
            </p:txBody>
          </p:sp>
        </mc:Choice>
        <mc:Fallback xmlns="">
          <p:sp>
            <p:nvSpPr>
              <p:cNvPr id="8" name="TextBox 7"/>
              <p:cNvSpPr txBox="1">
                <a:spLocks noRot="1" noChangeAspect="1" noMove="1" noResize="1" noEditPoints="1" noAdjustHandles="1" noChangeArrowheads="1" noChangeShapeType="1" noTextEdit="1"/>
              </p:cNvSpPr>
              <p:nvPr/>
            </p:nvSpPr>
            <p:spPr>
              <a:xfrm>
                <a:off x="1337758" y="5298837"/>
                <a:ext cx="2650084" cy="369332"/>
              </a:xfrm>
              <a:prstGeom prst="rect">
                <a:avLst/>
              </a:prstGeom>
              <a:blipFill rotWithShape="1">
                <a:blip r:embed="rId6"/>
                <a:stretch>
                  <a:fillRect l="-17" t="-107" r="2" b="43"/>
                </a:stretch>
              </a:blipFill>
            </p:spPr>
            <p:txBody>
              <a:bodyPr/>
              <a:lstStyle/>
              <a:p>
                <a:r>
                  <a:rPr lang="zh-CN" altLang="en-US">
                    <a:noFill/>
                  </a:rPr>
                  <a:t> </a:t>
                </a:r>
              </a:p>
            </p:txBody>
          </p:sp>
        </mc:Fallback>
      </mc:AlternateContent>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光照模型的程序实现</a:t>
            </a:r>
          </a:p>
        </p:txBody>
      </p:sp>
      <p:sp>
        <p:nvSpPr>
          <p:cNvPr id="3" name="内容占位符 2"/>
          <p:cNvSpPr>
            <a:spLocks noGrp="1"/>
          </p:cNvSpPr>
          <p:nvPr>
            <p:ph idx="1"/>
          </p:nvPr>
        </p:nvSpPr>
        <p:spPr/>
        <p:txBody>
          <a:bodyPr/>
          <a:lstStyle/>
          <a:p>
            <a:pPr>
              <a:buClr>
                <a:srgbClr val="94003F"/>
              </a:buClr>
            </a:pPr>
            <a:r>
              <a:rPr lang="zh-CN" altLang="en-US" sz="2400" dirty="0"/>
              <a:t>实现方式</a:t>
            </a:r>
            <a:endParaRPr lang="en-US" altLang="zh-CN" sz="2400" dirty="0"/>
          </a:p>
          <a:p>
            <a:pPr lvl="1">
              <a:buClr>
                <a:schemeClr val="tx1"/>
              </a:buClr>
            </a:pPr>
            <a:r>
              <a:rPr lang="zh-CN" altLang="en-US" sz="1800" dirty="0"/>
              <a:t>应用程序实现</a:t>
            </a:r>
            <a:endParaRPr lang="en-US" altLang="zh-CN" sz="1800" dirty="0"/>
          </a:p>
          <a:p>
            <a:pPr lvl="1">
              <a:buClr>
                <a:schemeClr val="tx1"/>
              </a:buClr>
            </a:pPr>
            <a:r>
              <a:rPr lang="zh-CN" altLang="en-US" sz="1800" dirty="0"/>
              <a:t>顶点着色器实现</a:t>
            </a:r>
            <a:endParaRPr lang="en-US" altLang="zh-CN" sz="1800" dirty="0"/>
          </a:p>
          <a:p>
            <a:pPr lvl="1">
              <a:buClr>
                <a:schemeClr val="tx1"/>
              </a:buClr>
            </a:pPr>
            <a:r>
              <a:rPr lang="zh-CN" altLang="en-US" sz="1800" dirty="0"/>
              <a:t>片元着色器实现</a:t>
            </a:r>
            <a:endParaRPr lang="en-US" altLang="zh-CN" sz="1800" dirty="0"/>
          </a:p>
          <a:p>
            <a:endParaRPr lang="en-US" altLang="zh-CN" sz="2400" dirty="0"/>
          </a:p>
          <a:p>
            <a:r>
              <a:rPr lang="zh-CN" altLang="en-US" sz="2400" dirty="0"/>
              <a:t>应用程序实现</a:t>
            </a:r>
            <a:endParaRPr lang="en-US" altLang="zh-CN" sz="2400" dirty="0"/>
          </a:p>
          <a:p>
            <a:pPr lvl="1">
              <a:buClr>
                <a:schemeClr val="tx1"/>
              </a:buClr>
            </a:pPr>
            <a:r>
              <a:rPr lang="zh-CN" altLang="en-US" sz="1800" dirty="0"/>
              <a:t>分别计算环境光、</a:t>
            </a:r>
            <a:endParaRPr lang="en-US" altLang="zh-CN" sz="1800" dirty="0"/>
          </a:p>
          <a:p>
            <a:pPr marL="457200" lvl="1" indent="0">
              <a:buClr>
                <a:schemeClr val="tx1"/>
              </a:buClr>
              <a:buNone/>
            </a:pPr>
            <a:r>
              <a:rPr lang="zh-CN" altLang="en-US" sz="1800" dirty="0"/>
              <a:t>   漫反射光和镜面光</a:t>
            </a:r>
            <a:endParaRPr lang="en-US" altLang="zh-CN" sz="1800" dirty="0"/>
          </a:p>
          <a:p>
            <a:pPr lvl="1">
              <a:buClr>
                <a:schemeClr val="tx1"/>
              </a:buClr>
            </a:pPr>
            <a:r>
              <a:rPr lang="zh-CN" altLang="en-US" sz="1800" dirty="0"/>
              <a:t>光照颜色求和</a:t>
            </a:r>
            <a:endParaRPr lang="en-US" altLang="zh-CN" sz="1800" dirty="0"/>
          </a:p>
          <a:p>
            <a:pPr lvl="1">
              <a:buClr>
                <a:schemeClr val="tx1"/>
              </a:buClr>
            </a:pPr>
            <a:r>
              <a:rPr lang="zh-CN" altLang="en-US" sz="1800" dirty="0"/>
              <a:t>顶点着色器实现</a:t>
            </a:r>
            <a:endParaRPr lang="en-US" altLang="zh-CN" sz="1800" dirty="0"/>
          </a:p>
          <a:p>
            <a:pPr lvl="1">
              <a:buClr>
                <a:schemeClr val="tx1"/>
              </a:buClr>
            </a:pPr>
            <a:r>
              <a:rPr lang="zh-CN" altLang="en-US" sz="1800" dirty="0"/>
              <a:t>片元着色器实现</a:t>
            </a:r>
            <a:endParaRPr lang="en-US" altLang="zh-CN" sz="1800" dirty="0"/>
          </a:p>
          <a:p>
            <a:endParaRPr lang="en-US" altLang="zh-CN" sz="1800" dirty="0"/>
          </a:p>
          <a:p>
            <a:pPr marL="457200" lvl="1" indent="0">
              <a:buClr>
                <a:schemeClr val="tx1"/>
              </a:buClr>
              <a:buNone/>
            </a:pPr>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58</a:t>
            </a:fld>
            <a:endParaRPr lang="zh-CN" altLang="en-US"/>
          </a:p>
        </p:txBody>
      </p:sp>
      <p:sp>
        <p:nvSpPr>
          <p:cNvPr id="6" name="矩形 5"/>
          <p:cNvSpPr/>
          <p:nvPr/>
        </p:nvSpPr>
        <p:spPr>
          <a:xfrm>
            <a:off x="3327991" y="1063817"/>
            <a:ext cx="5592725" cy="5355312"/>
          </a:xfrm>
          <a:prstGeom prst="rect">
            <a:avLst/>
          </a:prstGeom>
          <a:solidFill>
            <a:srgbClr val="BDD7EE">
              <a:alpha val="52941"/>
            </a:srgbClr>
          </a:solidFill>
        </p:spPr>
        <p:txBody>
          <a:bodyPr wrap="square">
            <a:spAutoFit/>
          </a:bodyPr>
          <a:lstStyle/>
          <a:p>
            <a:r>
              <a:rPr lang="en-US" altLang="zh-CN" dirty="0">
                <a:solidFill>
                  <a:srgbClr val="00B050"/>
                </a:solidFill>
                <a:latin typeface="ZztexMono-Regular"/>
              </a:rPr>
              <a:t>//</a:t>
            </a:r>
            <a:r>
              <a:rPr lang="zh-CN" altLang="en-US" dirty="0">
                <a:solidFill>
                  <a:srgbClr val="00B050"/>
                </a:solidFill>
                <a:latin typeface="ZztexMono-Regular"/>
              </a:rPr>
              <a:t>计算四个归一化向量</a:t>
            </a:r>
          </a:p>
          <a:p>
            <a:r>
              <a:rPr lang="en-US" altLang="zh-CN" dirty="0">
                <a:solidFill>
                  <a:srgbClr val="0000FF"/>
                </a:solidFill>
                <a:latin typeface="ZztexMono-Regular"/>
              </a:rPr>
              <a:t>vec3 </a:t>
            </a:r>
            <a:r>
              <a:rPr lang="en-US" altLang="zh-CN" dirty="0">
                <a:latin typeface="ZztexMono-Regular"/>
              </a:rPr>
              <a:t>N = </a:t>
            </a:r>
            <a:r>
              <a:rPr lang="en-US" altLang="zh-CN" b="1" dirty="0">
                <a:latin typeface="ZztexMono-Regular"/>
              </a:rPr>
              <a:t>normalize</a:t>
            </a:r>
            <a:r>
              <a:rPr lang="en-US" altLang="zh-CN" dirty="0">
                <a:latin typeface="ZztexMono-Regular"/>
              </a:rPr>
              <a:t>(norm); </a:t>
            </a:r>
          </a:p>
          <a:p>
            <a:r>
              <a:rPr lang="en-US" altLang="zh-CN" dirty="0">
                <a:solidFill>
                  <a:srgbClr val="0000FF"/>
                </a:solidFill>
                <a:latin typeface="ZztexMono-Regular"/>
              </a:rPr>
              <a:t>vec3</a:t>
            </a:r>
            <a:r>
              <a:rPr lang="en-US" altLang="zh-CN" dirty="0">
                <a:latin typeface="ZztexMono-Regular"/>
              </a:rPr>
              <a:t> L = </a:t>
            </a:r>
            <a:r>
              <a:rPr lang="en-US" altLang="zh-CN" b="1" dirty="0">
                <a:latin typeface="ZztexMono-Regular"/>
              </a:rPr>
              <a:t>normalize</a:t>
            </a:r>
            <a:r>
              <a:rPr lang="en-US" altLang="zh-CN" dirty="0">
                <a:latin typeface="ZztexMono-Regular"/>
              </a:rPr>
              <a:t>(</a:t>
            </a:r>
            <a:r>
              <a:rPr lang="en-US" altLang="zh-CN" dirty="0" err="1">
                <a:latin typeface="ZztexMono-Regular"/>
              </a:rPr>
              <a:t>l_pos</a:t>
            </a:r>
            <a:r>
              <a:rPr lang="en-US" altLang="zh-CN" dirty="0">
                <a:latin typeface="ZztexMono-Regular"/>
              </a:rPr>
              <a:t> - pos );</a:t>
            </a:r>
          </a:p>
          <a:p>
            <a:r>
              <a:rPr lang="en-US" altLang="zh-CN" dirty="0">
                <a:solidFill>
                  <a:srgbClr val="0000FF"/>
                </a:solidFill>
                <a:latin typeface="ZztexMono-Regular"/>
              </a:rPr>
              <a:t>vec3 </a:t>
            </a:r>
            <a:r>
              <a:rPr lang="pt-BR" altLang="zh-CN" dirty="0">
                <a:latin typeface="ZztexMono-Regular"/>
              </a:rPr>
              <a:t>V = </a:t>
            </a:r>
            <a:r>
              <a:rPr lang="pt-BR" altLang="zh-CN" b="1" dirty="0">
                <a:latin typeface="ZztexMono-Regular"/>
              </a:rPr>
              <a:t>normalize</a:t>
            </a:r>
            <a:r>
              <a:rPr lang="pt-BR" altLang="zh-CN" dirty="0">
                <a:latin typeface="ZztexMono-Regular"/>
              </a:rPr>
              <a:t>( -pos );</a:t>
            </a:r>
          </a:p>
          <a:p>
            <a:r>
              <a:rPr lang="en-US" altLang="zh-CN" dirty="0">
                <a:solidFill>
                  <a:srgbClr val="0000FF"/>
                </a:solidFill>
                <a:latin typeface="ZztexMono-Regular"/>
              </a:rPr>
              <a:t>vec3</a:t>
            </a:r>
            <a:r>
              <a:rPr lang="pt-BR" altLang="zh-CN" dirty="0">
                <a:latin typeface="ZztexMono-Regular"/>
              </a:rPr>
              <a:t> R = </a:t>
            </a:r>
            <a:r>
              <a:rPr lang="pt-BR" altLang="zh-CN" b="1" dirty="0">
                <a:latin typeface="ZztexMono-Regular"/>
              </a:rPr>
              <a:t>reflect</a:t>
            </a:r>
            <a:r>
              <a:rPr lang="pt-BR" altLang="zh-CN" dirty="0">
                <a:latin typeface="ZztexMono-Regular"/>
              </a:rPr>
              <a:t>(-L, N);</a:t>
            </a:r>
          </a:p>
          <a:p>
            <a:endParaRPr lang="en-US" altLang="zh-CN" dirty="0">
              <a:solidFill>
                <a:srgbClr val="0000FF"/>
              </a:solidFill>
              <a:latin typeface="ZztexMono-Regular"/>
            </a:endParaRPr>
          </a:p>
          <a:p>
            <a:r>
              <a:rPr lang="en-US" altLang="zh-CN" dirty="0">
                <a:solidFill>
                  <a:srgbClr val="00B050"/>
                </a:solidFill>
                <a:latin typeface="ZztexMono-Regular"/>
              </a:rPr>
              <a:t>//</a:t>
            </a:r>
            <a:r>
              <a:rPr lang="zh-CN" altLang="en-US" dirty="0">
                <a:solidFill>
                  <a:srgbClr val="00B050"/>
                </a:solidFill>
                <a:latin typeface="ZztexMono-Regular"/>
              </a:rPr>
              <a:t>计算环境光光照</a:t>
            </a:r>
            <a:endParaRPr lang="en-US" altLang="zh-CN" dirty="0">
              <a:solidFill>
                <a:srgbClr val="0000FF"/>
              </a:solidFill>
              <a:latin typeface="ZztexMono-Regular"/>
            </a:endParaRPr>
          </a:p>
          <a:p>
            <a:r>
              <a:rPr lang="en-US" altLang="zh-CN" dirty="0">
                <a:solidFill>
                  <a:srgbClr val="0000FF"/>
                </a:solidFill>
                <a:latin typeface="ZztexMono-Regular"/>
              </a:rPr>
              <a:t>color4 </a:t>
            </a:r>
            <a:r>
              <a:rPr lang="en-US" altLang="zh-CN" dirty="0">
                <a:latin typeface="ZztexMono-Regular"/>
              </a:rPr>
              <a:t>ambient = </a:t>
            </a:r>
            <a:r>
              <a:rPr lang="en-US" altLang="zh-CN" dirty="0" err="1">
                <a:latin typeface="ZztexMono-Regular"/>
              </a:rPr>
              <a:t>AmbientProduct</a:t>
            </a:r>
            <a:r>
              <a:rPr lang="en-US" altLang="zh-CN" dirty="0">
                <a:latin typeface="ZztexMono-Regular"/>
              </a:rPr>
              <a:t>; </a:t>
            </a:r>
          </a:p>
          <a:p>
            <a:endParaRPr lang="en-US" altLang="zh-CN" dirty="0">
              <a:solidFill>
                <a:srgbClr val="0000FF"/>
              </a:solidFill>
              <a:latin typeface="ZztexMono-Regular"/>
            </a:endParaRPr>
          </a:p>
          <a:p>
            <a:r>
              <a:rPr lang="en-US" altLang="zh-CN" dirty="0">
                <a:solidFill>
                  <a:srgbClr val="00B050"/>
                </a:solidFill>
                <a:latin typeface="ZztexMono-Regular"/>
              </a:rPr>
              <a:t>//</a:t>
            </a:r>
            <a:r>
              <a:rPr lang="zh-CN" altLang="en-US" dirty="0">
                <a:solidFill>
                  <a:srgbClr val="00B050"/>
                </a:solidFill>
                <a:latin typeface="ZztexMono-Regular"/>
              </a:rPr>
              <a:t>计算漫反射光光照</a:t>
            </a:r>
          </a:p>
          <a:p>
            <a:r>
              <a:rPr lang="en-US" altLang="zh-CN" dirty="0">
                <a:solidFill>
                  <a:srgbClr val="0000FF"/>
                </a:solidFill>
                <a:latin typeface="ZztexMono-Regular"/>
              </a:rPr>
              <a:t>color4 </a:t>
            </a:r>
            <a:r>
              <a:rPr lang="en-US" altLang="zh-CN" dirty="0">
                <a:latin typeface="ZztexMono-Regular"/>
              </a:rPr>
              <a:t>diffuse = </a:t>
            </a:r>
            <a:r>
              <a:rPr lang="en-US" altLang="zh-CN" dirty="0" err="1">
                <a:latin typeface="ZztexMono-Regular"/>
              </a:rPr>
              <a:t>DiffuseProduct</a:t>
            </a:r>
            <a:r>
              <a:rPr lang="en-US" altLang="zh-CN" dirty="0">
                <a:latin typeface="ZztexMono-Regular"/>
              </a:rPr>
              <a:t> * </a:t>
            </a:r>
            <a:r>
              <a:rPr lang="en-US" altLang="zh-CN" b="1" dirty="0">
                <a:latin typeface="ZztexMono-Regular"/>
              </a:rPr>
              <a:t>max</a:t>
            </a:r>
            <a:r>
              <a:rPr lang="en-US" altLang="zh-CN" dirty="0">
                <a:latin typeface="ZztexMono-Regular"/>
              </a:rPr>
              <a:t>(</a:t>
            </a:r>
            <a:r>
              <a:rPr lang="en-US" altLang="zh-CN" b="1" dirty="0">
                <a:latin typeface="ZztexMono-Regular"/>
              </a:rPr>
              <a:t>dot</a:t>
            </a:r>
            <a:r>
              <a:rPr lang="en-US" altLang="zh-CN" dirty="0">
                <a:latin typeface="ZztexMono-Regular"/>
              </a:rPr>
              <a:t>(N, L),</a:t>
            </a:r>
            <a:r>
              <a:rPr lang="zh-CN" altLang="en-US" dirty="0">
                <a:latin typeface="ZztexMono-Regular"/>
              </a:rPr>
              <a:t> </a:t>
            </a:r>
            <a:r>
              <a:rPr lang="en-US" altLang="zh-CN" dirty="0">
                <a:latin typeface="ZztexMono-Regular"/>
              </a:rPr>
              <a:t>0.0); </a:t>
            </a:r>
          </a:p>
          <a:p>
            <a:endParaRPr lang="en-US" altLang="zh-CN" dirty="0">
              <a:latin typeface="ZztexMono-Regular"/>
            </a:endParaRPr>
          </a:p>
          <a:p>
            <a:r>
              <a:rPr lang="en-US" altLang="zh-CN" dirty="0">
                <a:solidFill>
                  <a:srgbClr val="00B050"/>
                </a:solidFill>
                <a:latin typeface="ZztexMono-Regular"/>
              </a:rPr>
              <a:t>//</a:t>
            </a:r>
            <a:r>
              <a:rPr lang="zh-CN" altLang="en-US" dirty="0">
                <a:solidFill>
                  <a:srgbClr val="00B050"/>
                </a:solidFill>
                <a:latin typeface="ZztexMono-Regular"/>
              </a:rPr>
              <a:t>计算镜面反射光光照</a:t>
            </a:r>
          </a:p>
          <a:p>
            <a:r>
              <a:rPr lang="en-US" altLang="zh-CN" dirty="0">
                <a:solidFill>
                  <a:srgbClr val="0000FF"/>
                </a:solidFill>
                <a:latin typeface="ZztexMono-Regular"/>
              </a:rPr>
              <a:t>color4 </a:t>
            </a:r>
            <a:r>
              <a:rPr lang="en-US" altLang="zh-CN" dirty="0">
                <a:latin typeface="ZztexMono-Regular"/>
              </a:rPr>
              <a:t>specular =</a:t>
            </a:r>
            <a:r>
              <a:rPr lang="zh-CN" altLang="en-US" dirty="0">
                <a:latin typeface="ZztexMono-Regular"/>
              </a:rPr>
              <a:t> </a:t>
            </a:r>
            <a:r>
              <a:rPr lang="en-US" altLang="zh-CN" dirty="0" err="1">
                <a:latin typeface="ZztexMono-Regular"/>
              </a:rPr>
              <a:t>SpecularProduct</a:t>
            </a:r>
            <a:r>
              <a:rPr lang="en-US" altLang="zh-CN" dirty="0">
                <a:latin typeface="ZztexMono-Regular"/>
              </a:rPr>
              <a:t> * </a:t>
            </a:r>
            <a:r>
              <a:rPr lang="en-US" altLang="zh-CN" b="1" dirty="0">
                <a:latin typeface="ZztexMono-Regular"/>
              </a:rPr>
              <a:t>pow</a:t>
            </a:r>
            <a:r>
              <a:rPr lang="en-US" altLang="zh-CN" dirty="0">
                <a:latin typeface="ZztexMono-Regular"/>
              </a:rPr>
              <a:t>(</a:t>
            </a:r>
            <a:r>
              <a:rPr lang="en-US" altLang="zh-CN" b="1" dirty="0">
                <a:latin typeface="ZztexMono-Regular"/>
              </a:rPr>
              <a:t>max</a:t>
            </a:r>
            <a:r>
              <a:rPr lang="en-US" altLang="zh-CN" dirty="0">
                <a:latin typeface="ZztexMono-Regular"/>
              </a:rPr>
              <a:t>(</a:t>
            </a:r>
            <a:r>
              <a:rPr lang="en-US" altLang="zh-CN" b="1" dirty="0">
                <a:latin typeface="ZztexMono-Regular"/>
              </a:rPr>
              <a:t>dot</a:t>
            </a:r>
            <a:r>
              <a:rPr lang="en-US" altLang="zh-CN" dirty="0">
                <a:latin typeface="ZztexMono-Regular"/>
              </a:rPr>
              <a:t>(V,R),0.0),</a:t>
            </a:r>
            <a:r>
              <a:rPr lang="zh-CN" altLang="en-US" dirty="0">
                <a:latin typeface="ZztexMono-Regular"/>
              </a:rPr>
              <a:t> </a:t>
            </a:r>
            <a:r>
              <a:rPr lang="en-US" altLang="zh-CN" dirty="0" err="1">
                <a:latin typeface="ZztexMono-Regular"/>
              </a:rPr>
              <a:t>material_shininess</a:t>
            </a:r>
            <a:r>
              <a:rPr lang="en-US" altLang="zh-CN" dirty="0">
                <a:latin typeface="ZztexMono-Regular"/>
              </a:rPr>
              <a:t>);</a:t>
            </a:r>
          </a:p>
          <a:p>
            <a:endParaRPr lang="en-US" altLang="zh-CN" b="1" dirty="0">
              <a:solidFill>
                <a:srgbClr val="0000FF"/>
              </a:solidFill>
              <a:latin typeface="ZztexMono-Regular"/>
            </a:endParaRPr>
          </a:p>
          <a:p>
            <a:r>
              <a:rPr lang="en-US" altLang="zh-CN" dirty="0">
                <a:solidFill>
                  <a:srgbClr val="00B050"/>
                </a:solidFill>
                <a:latin typeface="ZztexMono-Regular"/>
              </a:rPr>
              <a:t>//</a:t>
            </a:r>
            <a:r>
              <a:rPr lang="zh-CN" altLang="en-US" dirty="0">
                <a:solidFill>
                  <a:srgbClr val="00B050"/>
                </a:solidFill>
                <a:latin typeface="ZztexMono-Regular"/>
              </a:rPr>
              <a:t>光照求和</a:t>
            </a:r>
            <a:endParaRPr lang="zh-CN" altLang="en-US" b="1" dirty="0">
              <a:solidFill>
                <a:srgbClr val="0000FF"/>
              </a:solidFill>
              <a:latin typeface="ZztexMono-Regular"/>
            </a:endParaRPr>
          </a:p>
          <a:p>
            <a:r>
              <a:rPr lang="en-US" altLang="zh-CN" dirty="0">
                <a:latin typeface="ZztexMono-Regular"/>
              </a:rPr>
              <a:t>color = ambient + diffuse + specular; </a:t>
            </a:r>
          </a:p>
          <a:p>
            <a:r>
              <a:rPr lang="en-US" altLang="zh-CN" dirty="0" err="1">
                <a:latin typeface="ZztexMono-Regular"/>
              </a:rPr>
              <a:t>Color.a</a:t>
            </a:r>
            <a:r>
              <a:rPr lang="en-US" altLang="zh-CN" dirty="0">
                <a:latin typeface="ZztexMono-Regular"/>
              </a:rPr>
              <a:t> = 1.0;</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光照模型的顶点着色器实现</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59</a:t>
            </a:fld>
            <a:endParaRPr lang="zh-CN" altLang="en-US"/>
          </a:p>
        </p:txBody>
      </p:sp>
      <p:sp>
        <p:nvSpPr>
          <p:cNvPr id="8" name="矩形 7"/>
          <p:cNvSpPr/>
          <p:nvPr/>
        </p:nvSpPr>
        <p:spPr>
          <a:xfrm>
            <a:off x="466077" y="1129984"/>
            <a:ext cx="8211845" cy="5632311"/>
          </a:xfrm>
          <a:prstGeom prst="rect">
            <a:avLst/>
          </a:prstGeom>
          <a:solidFill>
            <a:srgbClr val="BDD7EE">
              <a:alpha val="52941"/>
            </a:srgbClr>
          </a:solidFill>
        </p:spPr>
        <p:txBody>
          <a:bodyPr wrap="square">
            <a:spAutoFit/>
          </a:bodyPr>
          <a:lstStyle/>
          <a:p>
            <a:r>
              <a:rPr lang="en-US" altLang="zh-CN" dirty="0">
                <a:latin typeface="ZztexMono-Regular"/>
              </a:rPr>
              <a:t>void main()</a:t>
            </a:r>
          </a:p>
          <a:p>
            <a:r>
              <a:rPr lang="en-US" altLang="zh-CN" dirty="0">
                <a:latin typeface="ZztexMono-Regular"/>
              </a:rPr>
              <a:t>{</a:t>
            </a:r>
          </a:p>
          <a:p>
            <a:pPr lvl="1"/>
            <a:r>
              <a:rPr lang="zh-CN" altLang="en-US" dirty="0">
                <a:solidFill>
                  <a:srgbClr val="0000FF"/>
                </a:solidFill>
                <a:latin typeface="ZztexMono-Regular"/>
              </a:rPr>
              <a:t> </a:t>
            </a:r>
            <a:r>
              <a:rPr lang="en-US" altLang="zh-CN" dirty="0">
                <a:solidFill>
                  <a:srgbClr val="00B050"/>
                </a:solidFill>
                <a:latin typeface="ZztexMono-Regular"/>
              </a:rPr>
              <a:t>// </a:t>
            </a:r>
            <a:r>
              <a:rPr lang="zh-CN" altLang="en-US" dirty="0">
                <a:solidFill>
                  <a:srgbClr val="00B050"/>
                </a:solidFill>
                <a:latin typeface="ZztexMono-Regular"/>
              </a:rPr>
              <a:t>计算顶点最终位置，传给顶点着色器</a:t>
            </a:r>
          </a:p>
          <a:p>
            <a:pPr lvl="1"/>
            <a:r>
              <a:rPr lang="zh-CN" altLang="en-US" dirty="0">
                <a:solidFill>
                  <a:srgbClr val="0000FF"/>
                </a:solidFill>
                <a:latin typeface="ZztexMono-Regular"/>
              </a:rPr>
              <a:t> </a:t>
            </a:r>
            <a:r>
              <a:rPr lang="en-US" altLang="zh-CN" dirty="0" err="1">
                <a:latin typeface="ZztexMono-Regular"/>
              </a:rPr>
              <a:t>gl_Position</a:t>
            </a:r>
            <a:r>
              <a:rPr lang="en-US" altLang="zh-CN" dirty="0">
                <a:latin typeface="ZztexMono-Regular"/>
              </a:rPr>
              <a:t> = </a:t>
            </a:r>
            <a:r>
              <a:rPr lang="en-US" altLang="zh-CN" dirty="0" err="1">
                <a:latin typeface="ZztexMono-Regular"/>
              </a:rPr>
              <a:t>ModelViewProjection</a:t>
            </a:r>
            <a:r>
              <a:rPr lang="en-US" altLang="zh-CN" dirty="0">
                <a:latin typeface="ZztexMono-Regular"/>
              </a:rPr>
              <a:t> * </a:t>
            </a:r>
            <a:r>
              <a:rPr lang="en-US" altLang="zh-CN" dirty="0" err="1">
                <a:latin typeface="ZztexMono-Regular"/>
              </a:rPr>
              <a:t>vPosition</a:t>
            </a:r>
            <a:r>
              <a:rPr lang="en-US" altLang="zh-CN" dirty="0">
                <a:latin typeface="ZztexMono-Regular"/>
              </a:rPr>
              <a:t>;</a:t>
            </a:r>
          </a:p>
          <a:p>
            <a:pPr lvl="1"/>
            <a:endParaRPr lang="en-US" altLang="zh-CN" dirty="0">
              <a:solidFill>
                <a:srgbClr val="0000FF"/>
              </a:solidFill>
              <a:latin typeface="ZztexMono-Regular"/>
            </a:endParaRPr>
          </a:p>
          <a:p>
            <a:pPr lvl="1"/>
            <a:r>
              <a:rPr lang="en-US" altLang="zh-CN" dirty="0">
                <a:solidFill>
                  <a:srgbClr val="56C791"/>
                </a:solidFill>
                <a:latin typeface="ZztexMono-Regular"/>
              </a:rPr>
              <a:t> </a:t>
            </a:r>
            <a:r>
              <a:rPr lang="en-US" altLang="zh-CN" dirty="0">
                <a:solidFill>
                  <a:srgbClr val="00B050"/>
                </a:solidFill>
                <a:latin typeface="ZztexMono-Regular"/>
              </a:rPr>
              <a:t>// </a:t>
            </a:r>
            <a:r>
              <a:rPr lang="zh-CN" altLang="en-US" dirty="0">
                <a:solidFill>
                  <a:srgbClr val="00B050"/>
                </a:solidFill>
                <a:latin typeface="ZztexMono-Regular"/>
              </a:rPr>
              <a:t>将顶点坐标、光源坐标和法向量转换到相机坐标系</a:t>
            </a:r>
          </a:p>
          <a:p>
            <a:pPr lvl="1"/>
            <a:r>
              <a:rPr lang="zh-CN" altLang="en-US" dirty="0">
                <a:solidFill>
                  <a:srgbClr val="0000FF"/>
                </a:solidFill>
                <a:latin typeface="ZztexMono-Regular"/>
              </a:rPr>
              <a:t> </a:t>
            </a:r>
            <a:r>
              <a:rPr lang="en-US" altLang="zh-CN" dirty="0">
                <a:solidFill>
                  <a:srgbClr val="0000FF"/>
                </a:solidFill>
                <a:latin typeface="ZztexMono-Regular"/>
              </a:rPr>
              <a:t>vec3</a:t>
            </a:r>
            <a:r>
              <a:rPr lang="en-US" altLang="zh-CN" dirty="0">
                <a:latin typeface="ZztexMono-Regular"/>
              </a:rPr>
              <a:t> pos = (</a:t>
            </a:r>
            <a:r>
              <a:rPr lang="en-US" altLang="zh-CN" dirty="0" err="1">
                <a:latin typeface="ZztexMono-Regular"/>
              </a:rPr>
              <a:t>ModelView</a:t>
            </a:r>
            <a:r>
              <a:rPr lang="en-US" altLang="zh-CN" dirty="0">
                <a:latin typeface="ZztexMono-Regular"/>
              </a:rPr>
              <a:t>*</a:t>
            </a:r>
            <a:r>
              <a:rPr lang="en-US" altLang="zh-CN" dirty="0" err="1">
                <a:latin typeface="ZztexMono-Regular"/>
              </a:rPr>
              <a:t>vPosition</a:t>
            </a:r>
            <a:r>
              <a:rPr lang="en-US" altLang="zh-CN" dirty="0">
                <a:latin typeface="ZztexMono-Regular"/>
              </a:rPr>
              <a:t>).</a:t>
            </a:r>
            <a:r>
              <a:rPr lang="en-US" altLang="zh-CN" dirty="0" err="1">
                <a:latin typeface="ZztexMono-Regular"/>
              </a:rPr>
              <a:t>xyz</a:t>
            </a:r>
            <a:r>
              <a:rPr lang="en-US" altLang="zh-CN" dirty="0">
                <a:latin typeface="ZztexMono-Regular"/>
              </a:rPr>
              <a:t>;</a:t>
            </a:r>
          </a:p>
          <a:p>
            <a:pPr lvl="1"/>
            <a:r>
              <a:rPr lang="en-US" altLang="zh-CN" dirty="0">
                <a:latin typeface="ZztexMono-Regular"/>
              </a:rPr>
              <a:t> </a:t>
            </a:r>
            <a:r>
              <a:rPr lang="en-US" altLang="zh-CN" dirty="0">
                <a:solidFill>
                  <a:srgbClr val="0000FF"/>
                </a:solidFill>
                <a:latin typeface="ZztexMono-Regular"/>
              </a:rPr>
              <a:t>vec3</a:t>
            </a:r>
            <a:r>
              <a:rPr lang="en-US" altLang="zh-CN" dirty="0">
                <a:latin typeface="ZztexMono-Regular"/>
              </a:rPr>
              <a:t> </a:t>
            </a:r>
            <a:r>
              <a:rPr lang="en-US" altLang="zh-CN" dirty="0" err="1">
                <a:latin typeface="ZztexMono-Regular"/>
              </a:rPr>
              <a:t>l_pos</a:t>
            </a:r>
            <a:r>
              <a:rPr lang="en-US" altLang="zh-CN" dirty="0">
                <a:latin typeface="ZztexMono-Regular"/>
              </a:rPr>
              <a:t> = (</a:t>
            </a:r>
            <a:r>
              <a:rPr lang="en-US" altLang="zh-CN" dirty="0" err="1">
                <a:latin typeface="ZztexMono-Regular"/>
              </a:rPr>
              <a:t>ModelView</a:t>
            </a:r>
            <a:r>
              <a:rPr lang="en-US" altLang="zh-CN" dirty="0">
                <a:latin typeface="ZztexMono-Regular"/>
              </a:rPr>
              <a:t>*</a:t>
            </a:r>
            <a:r>
              <a:rPr lang="en-US" altLang="zh-CN" dirty="0" err="1">
                <a:latin typeface="ZztexMono-Regular"/>
              </a:rPr>
              <a:t>LightPosition</a:t>
            </a:r>
            <a:r>
              <a:rPr lang="en-US" altLang="zh-CN" dirty="0">
                <a:latin typeface="ZztexMono-Regular"/>
              </a:rPr>
              <a:t>).</a:t>
            </a:r>
            <a:r>
              <a:rPr lang="en-US" altLang="zh-CN" dirty="0" err="1">
                <a:latin typeface="ZztexMono-Regular"/>
              </a:rPr>
              <a:t>xyz</a:t>
            </a:r>
            <a:r>
              <a:rPr lang="en-US" altLang="zh-CN" dirty="0">
                <a:latin typeface="ZztexMono-Regular"/>
              </a:rPr>
              <a:t>;</a:t>
            </a:r>
          </a:p>
          <a:p>
            <a:pPr lvl="1"/>
            <a:r>
              <a:rPr lang="en-US" altLang="zh-CN" dirty="0">
                <a:latin typeface="ZztexMono-Regular"/>
              </a:rPr>
              <a:t> </a:t>
            </a:r>
            <a:r>
              <a:rPr lang="en-US" altLang="zh-CN" dirty="0">
                <a:solidFill>
                  <a:srgbClr val="0000FF"/>
                </a:solidFill>
                <a:latin typeface="ZztexMono-Regular"/>
              </a:rPr>
              <a:t>vec3</a:t>
            </a:r>
            <a:r>
              <a:rPr lang="en-US" altLang="zh-CN" dirty="0">
                <a:latin typeface="ZztexMono-Regular"/>
              </a:rPr>
              <a:t> norm = (</a:t>
            </a:r>
            <a:r>
              <a:rPr lang="en-US" altLang="zh-CN" dirty="0" err="1">
                <a:latin typeface="ZztexMono-Regular"/>
              </a:rPr>
              <a:t>ModelView</a:t>
            </a:r>
            <a:r>
              <a:rPr lang="en-US" altLang="zh-CN" dirty="0">
                <a:latin typeface="ZztexMono-Regular"/>
              </a:rPr>
              <a:t>*vec4(</a:t>
            </a:r>
            <a:r>
              <a:rPr lang="en-US" altLang="zh-CN" dirty="0" err="1">
                <a:latin typeface="ZztexMono-Regular"/>
              </a:rPr>
              <a:t>vNormal</a:t>
            </a:r>
            <a:r>
              <a:rPr lang="en-US" altLang="zh-CN" dirty="0">
                <a:latin typeface="ZztexMono-Regular"/>
              </a:rPr>
              <a:t>, 0.0)).</a:t>
            </a:r>
            <a:r>
              <a:rPr lang="en-US" altLang="zh-CN" dirty="0" err="1">
                <a:latin typeface="ZztexMono-Regular"/>
              </a:rPr>
              <a:t>xyz</a:t>
            </a:r>
            <a:r>
              <a:rPr lang="en-US" altLang="zh-CN" dirty="0">
                <a:latin typeface="ZztexMono-Regular"/>
              </a:rPr>
              <a:t>; </a:t>
            </a:r>
          </a:p>
          <a:p>
            <a:pPr lvl="1"/>
            <a:endParaRPr lang="en-US" altLang="zh-CN" dirty="0">
              <a:solidFill>
                <a:srgbClr val="0000FF"/>
              </a:solidFill>
              <a:latin typeface="ZztexMono-Regular"/>
            </a:endParaRPr>
          </a:p>
          <a:p>
            <a:r>
              <a:rPr lang="en-US" altLang="zh-CN" dirty="0">
                <a:solidFill>
                  <a:srgbClr val="0000FF"/>
                </a:solidFill>
                <a:latin typeface="ZztexMono-Regular"/>
              </a:rPr>
              <a:t>          </a:t>
            </a:r>
            <a:r>
              <a:rPr lang="en-US" altLang="zh-CN" dirty="0">
                <a:solidFill>
                  <a:srgbClr val="00B050"/>
                </a:solidFill>
                <a:latin typeface="ZztexMono-Regular"/>
              </a:rPr>
              <a:t>//</a:t>
            </a:r>
            <a:r>
              <a:rPr lang="zh-CN" altLang="en-US" dirty="0">
                <a:solidFill>
                  <a:srgbClr val="00B050"/>
                </a:solidFill>
                <a:latin typeface="ZztexMono-Regular"/>
              </a:rPr>
              <a:t>计算四个归一化向量</a:t>
            </a:r>
          </a:p>
          <a:p>
            <a:r>
              <a:rPr lang="en-US" altLang="zh-CN" dirty="0">
                <a:solidFill>
                  <a:srgbClr val="0000FF"/>
                </a:solidFill>
                <a:latin typeface="ZztexMono-Regular"/>
              </a:rPr>
              <a:t>          </a:t>
            </a:r>
            <a:r>
              <a:rPr lang="en-US" altLang="zh-CN" dirty="0">
                <a:latin typeface="ZztexMono-Regular"/>
              </a:rPr>
              <a:t>…</a:t>
            </a:r>
            <a:endParaRPr lang="pt-BR" altLang="zh-CN" dirty="0">
              <a:latin typeface="ZztexMono-Regular"/>
            </a:endParaRPr>
          </a:p>
          <a:p>
            <a:pPr lvl="1"/>
            <a:endParaRPr lang="en-US" altLang="zh-CN" dirty="0">
              <a:latin typeface="ZztexMono-Regular"/>
            </a:endParaRPr>
          </a:p>
          <a:p>
            <a:pPr lvl="1"/>
            <a:r>
              <a:rPr lang="en-US" altLang="zh-CN" dirty="0">
                <a:solidFill>
                  <a:srgbClr val="00B050"/>
                </a:solidFill>
                <a:latin typeface="ZztexMono-Regular"/>
              </a:rPr>
              <a:t>//</a:t>
            </a:r>
            <a:r>
              <a:rPr lang="zh-CN" altLang="en-US" dirty="0">
                <a:solidFill>
                  <a:srgbClr val="00B050"/>
                </a:solidFill>
                <a:latin typeface="ZztexMono-Regular"/>
              </a:rPr>
              <a:t>计算镜面反射光光照</a:t>
            </a:r>
            <a:endParaRPr lang="en-US" altLang="zh-CN" dirty="0">
              <a:latin typeface="ZztexMono-Regular"/>
            </a:endParaRPr>
          </a:p>
          <a:p>
            <a:pPr lvl="1"/>
            <a:r>
              <a:rPr lang="en-US" altLang="zh-CN" dirty="0">
                <a:solidFill>
                  <a:srgbClr val="00B050"/>
                </a:solidFill>
                <a:latin typeface="ZztexMono-Regular"/>
              </a:rPr>
              <a:t>// </a:t>
            </a:r>
            <a:r>
              <a:rPr lang="zh-CN" altLang="en-US" dirty="0">
                <a:solidFill>
                  <a:srgbClr val="00B050"/>
                </a:solidFill>
                <a:latin typeface="ZztexMono-Regular"/>
              </a:rPr>
              <a:t>注意如果光源在背面则去除高光</a:t>
            </a:r>
            <a:endParaRPr lang="en-US" altLang="zh-CN" dirty="0">
              <a:solidFill>
                <a:srgbClr val="00B050"/>
              </a:solidFill>
              <a:latin typeface="ZztexMono-Regular"/>
            </a:endParaRPr>
          </a:p>
          <a:p>
            <a:pPr lvl="1"/>
            <a:r>
              <a:rPr lang="zh-CN" altLang="en-US" dirty="0">
                <a:latin typeface="ZztexMono-Regular"/>
              </a:rPr>
              <a:t> </a:t>
            </a:r>
            <a:r>
              <a:rPr lang="en-US" altLang="zh-CN" dirty="0">
                <a:latin typeface="ZztexMono-Regular"/>
              </a:rPr>
              <a:t>if( dot(L, N) &lt; 0.0 ) {</a:t>
            </a:r>
          </a:p>
          <a:p>
            <a:pPr lvl="1"/>
            <a:r>
              <a:rPr lang="en-US" altLang="zh-CN" dirty="0">
                <a:latin typeface="ZztexMono-Regular"/>
              </a:rPr>
              <a:t>	 specular = vec4(0.0, 0.0, 0.0, 1.0);</a:t>
            </a:r>
          </a:p>
          <a:p>
            <a:pPr lvl="1"/>
            <a:r>
              <a:rPr lang="en-US" altLang="zh-CN" dirty="0">
                <a:latin typeface="ZztexMono-Regular"/>
              </a:rPr>
              <a:t>   }</a:t>
            </a:r>
          </a:p>
          <a:p>
            <a:pPr lvl="1"/>
            <a:r>
              <a:rPr lang="en-US" altLang="zh-CN" dirty="0">
                <a:latin typeface="ZztexMono-Regular"/>
              </a:rPr>
              <a:t>…</a:t>
            </a:r>
          </a:p>
          <a:p>
            <a:r>
              <a:rPr lang="en-US" altLang="zh-CN" dirty="0">
                <a:latin typeface="ZztexMono-Regular"/>
              </a:rPr>
              <a:t>}</a:t>
            </a:r>
            <a:endParaRPr lang="zh-CN" altLang="en-US" dirty="0">
              <a:solidFill>
                <a:srgbClr val="00B050"/>
              </a:solidFill>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2"/>
          <a:stretch>
            <a:fillRect/>
          </a:stretch>
        </p:blipFill>
        <p:spPr>
          <a:xfrm>
            <a:off x="4509114" y="1765952"/>
            <a:ext cx="3942874" cy="2002674"/>
          </a:xfrm>
          <a:prstGeom prst="rect">
            <a:avLst/>
          </a:prstGeom>
        </p:spPr>
      </p:pic>
      <p:sp>
        <p:nvSpPr>
          <p:cNvPr id="2" name="标题 1"/>
          <p:cNvSpPr>
            <a:spLocks noGrp="1"/>
          </p:cNvSpPr>
          <p:nvPr>
            <p:ph type="title"/>
          </p:nvPr>
        </p:nvSpPr>
        <p:spPr/>
        <p:txBody>
          <a:bodyPr/>
          <a:lstStyle/>
          <a:p>
            <a:r>
              <a:rPr lang="zh-CN" altLang="en-US" dirty="0"/>
              <a:t>多边形着色</a:t>
            </a:r>
          </a:p>
        </p:txBody>
      </p:sp>
      <p:sp>
        <p:nvSpPr>
          <p:cNvPr id="3" name="内容占位符 2"/>
          <p:cNvSpPr>
            <a:spLocks noGrp="1"/>
          </p:cNvSpPr>
          <p:nvPr>
            <p:ph idx="1"/>
          </p:nvPr>
        </p:nvSpPr>
        <p:spPr/>
        <p:txBody>
          <a:bodyPr>
            <a:normAutofit/>
          </a:bodyPr>
          <a:lstStyle/>
          <a:p>
            <a:pPr>
              <a:buClr>
                <a:srgbClr val="94003F"/>
              </a:buClr>
            </a:pPr>
            <a:r>
              <a:rPr lang="zh-CN" altLang="en-US" sz="2400" dirty="0"/>
              <a:t>着色（</a:t>
            </a:r>
            <a:r>
              <a:rPr lang="en-US" altLang="zh-CN" sz="2400" dirty="0"/>
              <a:t>Shading</a:t>
            </a:r>
            <a:r>
              <a:rPr lang="zh-CN" altLang="en-US" sz="2400" dirty="0"/>
              <a:t>）：</a:t>
            </a:r>
          </a:p>
          <a:p>
            <a:pPr lvl="1">
              <a:buClr>
                <a:schemeClr val="tx1"/>
              </a:buClr>
            </a:pPr>
            <a:r>
              <a:rPr lang="zh-CN" altLang="en-US" sz="1800" dirty="0"/>
              <a:t>根据光源与材质决定场景中</a:t>
            </a:r>
            <a:endParaRPr lang="en-US" altLang="zh-CN" sz="1800" dirty="0"/>
          </a:p>
          <a:p>
            <a:pPr lvl="1">
              <a:buClr>
                <a:schemeClr val="tx1"/>
              </a:buClr>
            </a:pPr>
            <a:r>
              <a:rPr lang="zh-CN" altLang="en-US" sz="1800" dirty="0"/>
              <a:t>某一曲面点的观测颜色</a:t>
            </a:r>
            <a:endParaRPr lang="en-US" altLang="zh-CN" sz="1800" dirty="0"/>
          </a:p>
          <a:p>
            <a:pPr lvl="1">
              <a:buClr>
                <a:schemeClr val="tx1"/>
              </a:buClr>
            </a:pPr>
            <a:endParaRPr lang="en-US" altLang="zh-CN" sz="1800" dirty="0"/>
          </a:p>
          <a:p>
            <a:pPr marL="457200" lvl="1" indent="0">
              <a:buClr>
                <a:schemeClr val="tx1"/>
              </a:buClr>
              <a:buNone/>
            </a:pPr>
            <a:endParaRPr lang="en-US" altLang="zh-CN" sz="1800" dirty="0"/>
          </a:p>
          <a:p>
            <a:r>
              <a:rPr lang="zh-CN" altLang="en-US" sz="2400" dirty="0"/>
              <a:t>多边形着色：</a:t>
            </a:r>
          </a:p>
          <a:p>
            <a:pPr lvl="1">
              <a:buClr>
                <a:schemeClr val="tx1"/>
              </a:buClr>
            </a:pPr>
            <a:r>
              <a:rPr lang="zh-CN" altLang="en-US" sz="1800" dirty="0"/>
              <a:t>曲面的离散表示</a:t>
            </a:r>
            <a:endParaRPr lang="en-US" altLang="zh-CN" sz="1800" dirty="0"/>
          </a:p>
          <a:p>
            <a:pPr lvl="1">
              <a:buClr>
                <a:schemeClr val="tx1"/>
              </a:buClr>
            </a:pPr>
            <a:r>
              <a:rPr lang="zh-CN" altLang="en-US" sz="1800" dirty="0"/>
              <a:t>如何获得连续</a:t>
            </a:r>
            <a:r>
              <a:rPr lang="en-US" altLang="zh-CN" sz="1800" dirty="0"/>
              <a:t>or</a:t>
            </a:r>
            <a:r>
              <a:rPr lang="zh-CN" altLang="en-US" sz="1800" dirty="0"/>
              <a:t>光滑的着色效果？</a:t>
            </a:r>
          </a:p>
          <a:p>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60</a:t>
            </a:fld>
            <a:endParaRPr lang="zh-CN" altLang="en-US"/>
          </a:p>
        </p:txBody>
      </p:sp>
      <p:sp>
        <p:nvSpPr>
          <p:cNvPr id="8" name="矩形 7"/>
          <p:cNvSpPr/>
          <p:nvPr/>
        </p:nvSpPr>
        <p:spPr>
          <a:xfrm>
            <a:off x="4098471" y="1196241"/>
            <a:ext cx="3883948" cy="369332"/>
          </a:xfrm>
          <a:prstGeom prst="rect">
            <a:avLst/>
          </a:prstGeom>
        </p:spPr>
        <p:txBody>
          <a:bodyPr wrap="none">
            <a:spAutoFit/>
          </a:bodyPr>
          <a:lstStyle/>
          <a:p>
            <a:r>
              <a:rPr lang="zh-CN" altLang="en-US" b="1" dirty="0">
                <a:solidFill>
                  <a:srgbClr val="00B0F0"/>
                </a:solidFill>
                <a:effectLst>
                  <a:outerShdw blurRad="38100" dist="38100" dir="2700000" algn="tl">
                    <a:srgbClr val="000000">
                      <a:alpha val="43137"/>
                    </a:srgbClr>
                  </a:outerShdw>
                </a:effectLst>
                <a:hlinkClick r:id="rId3"/>
              </a:rPr>
              <a:t>https://en.wikipedia.org/wiki/Shading</a:t>
            </a:r>
            <a:endParaRPr lang="zh-CN" altLang="en-US" b="1" dirty="0">
              <a:solidFill>
                <a:srgbClr val="00B0F0"/>
              </a:solidFill>
              <a:effectLst>
                <a:outerShdw blurRad="38100" dist="38100" dir="2700000" algn="tl">
                  <a:srgbClr val="000000">
                    <a:alpha val="43137"/>
                  </a:srgbClr>
                </a:outerShdw>
              </a:effectLst>
            </a:endParaRPr>
          </a:p>
        </p:txBody>
      </p:sp>
      <p:pic>
        <p:nvPicPr>
          <p:cNvPr id="9" name="图片 8"/>
          <p:cNvPicPr>
            <a:picLocks noChangeAspect="1"/>
          </p:cNvPicPr>
          <p:nvPr/>
        </p:nvPicPr>
        <p:blipFill>
          <a:blip r:embed="rId4"/>
          <a:stretch>
            <a:fillRect/>
          </a:stretch>
        </p:blipFill>
        <p:spPr>
          <a:xfrm>
            <a:off x="7911634" y="659714"/>
            <a:ext cx="829576" cy="823651"/>
          </a:xfrm>
          <a:prstGeom prst="rect">
            <a:avLst/>
          </a:prstGeom>
        </p:spPr>
      </p:pic>
      <p:pic>
        <p:nvPicPr>
          <p:cNvPr id="10" name="图片 9"/>
          <p:cNvPicPr>
            <a:picLocks noChangeAspect="1"/>
          </p:cNvPicPr>
          <p:nvPr/>
        </p:nvPicPr>
        <p:blipFill>
          <a:blip r:embed="rId5"/>
          <a:stretch>
            <a:fillRect/>
          </a:stretch>
        </p:blipFill>
        <p:spPr>
          <a:xfrm>
            <a:off x="848092" y="4289467"/>
            <a:ext cx="2437274" cy="1980000"/>
          </a:xfrm>
          <a:prstGeom prst="rect">
            <a:avLst/>
          </a:prstGeom>
        </p:spPr>
      </p:pic>
      <p:pic>
        <p:nvPicPr>
          <p:cNvPr id="11" name="图片 10"/>
          <p:cNvPicPr>
            <a:picLocks noChangeAspect="1"/>
          </p:cNvPicPr>
          <p:nvPr/>
        </p:nvPicPr>
        <p:blipFill>
          <a:blip r:embed="rId6"/>
          <a:stretch>
            <a:fillRect/>
          </a:stretch>
        </p:blipFill>
        <p:spPr>
          <a:xfrm>
            <a:off x="3502157" y="4289467"/>
            <a:ext cx="2437274" cy="1980000"/>
          </a:xfrm>
          <a:prstGeom prst="rect">
            <a:avLst/>
          </a:prstGeom>
        </p:spPr>
      </p:pic>
      <p:pic>
        <p:nvPicPr>
          <p:cNvPr id="12" name="图片 11"/>
          <p:cNvPicPr>
            <a:picLocks noChangeAspect="1"/>
          </p:cNvPicPr>
          <p:nvPr/>
        </p:nvPicPr>
        <p:blipFill>
          <a:blip r:embed="rId7"/>
          <a:stretch>
            <a:fillRect/>
          </a:stretch>
        </p:blipFill>
        <p:spPr>
          <a:xfrm>
            <a:off x="6154417" y="4289467"/>
            <a:ext cx="2437274" cy="1980000"/>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2996667" y="1824529"/>
            <a:ext cx="3373396" cy="2210137"/>
          </a:xfrm>
          <a:prstGeom prst="rect">
            <a:avLst/>
          </a:prstGeom>
        </p:spPr>
      </p:pic>
      <p:sp>
        <p:nvSpPr>
          <p:cNvPr id="2" name="标题 1"/>
          <p:cNvSpPr>
            <a:spLocks noGrp="1"/>
          </p:cNvSpPr>
          <p:nvPr>
            <p:ph type="title"/>
          </p:nvPr>
        </p:nvSpPr>
        <p:spPr/>
        <p:txBody>
          <a:bodyPr/>
          <a:lstStyle/>
          <a:p>
            <a:r>
              <a:rPr lang="zh-CN" altLang="en-US" dirty="0"/>
              <a:t>均匀着色</a:t>
            </a:r>
          </a:p>
        </p:txBody>
      </p:sp>
      <p:sp>
        <p:nvSpPr>
          <p:cNvPr id="3" name="内容占位符 2"/>
          <p:cNvSpPr>
            <a:spLocks noGrp="1"/>
          </p:cNvSpPr>
          <p:nvPr>
            <p:ph idx="1"/>
          </p:nvPr>
        </p:nvSpPr>
        <p:spPr/>
        <p:txBody>
          <a:bodyPr>
            <a:normAutofit/>
          </a:bodyPr>
          <a:lstStyle/>
          <a:p>
            <a:r>
              <a:rPr lang="zh-CN" altLang="en-US" sz="2400" dirty="0"/>
              <a:t>对每一个多边形根据其法向计算一个颜色</a:t>
            </a:r>
            <a:endParaRPr lang="en-US" altLang="zh-CN" sz="2400" dirty="0"/>
          </a:p>
          <a:p>
            <a:endParaRPr lang="en-US" altLang="zh-CN" sz="2400" dirty="0"/>
          </a:p>
          <a:p>
            <a:endParaRPr lang="en-US" altLang="zh-CN" sz="2400" dirty="0"/>
          </a:p>
          <a:p>
            <a:endParaRPr lang="en-US" altLang="zh-CN" sz="2400" dirty="0"/>
          </a:p>
          <a:p>
            <a:endParaRPr lang="en-US" altLang="zh-CN" sz="2400" dirty="0"/>
          </a:p>
          <a:p>
            <a:r>
              <a:rPr lang="en-US" altLang="zh-CN" sz="2400" dirty="0">
                <a:solidFill>
                  <a:srgbClr val="0000FF"/>
                </a:solidFill>
              </a:rPr>
              <a:t>Mach</a:t>
            </a:r>
            <a:r>
              <a:rPr lang="zh-CN" altLang="en-US" sz="2400" dirty="0">
                <a:solidFill>
                  <a:srgbClr val="0000FF"/>
                </a:solidFill>
              </a:rPr>
              <a:t>带效应</a:t>
            </a:r>
            <a:endParaRPr lang="en-US" altLang="zh-CN" sz="1800" dirty="0">
              <a:solidFill>
                <a:srgbClr val="0000FF"/>
              </a:solidFill>
            </a:endParaRPr>
          </a:p>
          <a:p>
            <a:pPr lvl="1">
              <a:buClr>
                <a:schemeClr val="tx1"/>
              </a:buClr>
            </a:pPr>
            <a:r>
              <a:rPr lang="zh-CN" altLang="en-US" sz="1800" dirty="0"/>
              <a:t>边缘感知增强</a:t>
            </a:r>
            <a:endParaRPr lang="en-US" altLang="zh-CN" sz="2400" dirty="0"/>
          </a:p>
          <a:p>
            <a:pPr lvl="1">
              <a:buClr>
                <a:schemeClr val="tx1"/>
              </a:buClr>
            </a:pPr>
            <a:endParaRPr lang="zh-CN" altLang="en-US" sz="1800" dirty="0"/>
          </a:p>
          <a:p>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61</a:t>
            </a:fld>
            <a:endParaRPr lang="zh-CN" altLang="en-US"/>
          </a:p>
        </p:txBody>
      </p:sp>
      <p:pic>
        <p:nvPicPr>
          <p:cNvPr id="6" name="图片 5"/>
          <p:cNvPicPr>
            <a:picLocks noChangeAspect="1"/>
          </p:cNvPicPr>
          <p:nvPr/>
        </p:nvPicPr>
        <p:blipFill>
          <a:blip r:embed="rId3"/>
          <a:stretch>
            <a:fillRect/>
          </a:stretch>
        </p:blipFill>
        <p:spPr>
          <a:xfrm>
            <a:off x="1049095" y="4406192"/>
            <a:ext cx="3175294" cy="2070781"/>
          </a:xfrm>
          <a:prstGeom prst="rect">
            <a:avLst/>
          </a:prstGeom>
        </p:spPr>
      </p:pic>
      <p:grpSp>
        <p:nvGrpSpPr>
          <p:cNvPr id="8" name="Group 10"/>
          <p:cNvGrpSpPr/>
          <p:nvPr/>
        </p:nvGrpSpPr>
        <p:grpSpPr bwMode="auto">
          <a:xfrm>
            <a:off x="4572000" y="4607261"/>
            <a:ext cx="4214507" cy="1845756"/>
            <a:chOff x="3076" y="2418"/>
            <a:chExt cx="2208" cy="967"/>
          </a:xfrm>
        </p:grpSpPr>
        <p:pic>
          <p:nvPicPr>
            <p:cNvPr id="10" name="Picture 4" descr="an06f2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76" y="2452"/>
              <a:ext cx="2160" cy="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 Box 8"/>
            <p:cNvSpPr txBox="1">
              <a:spLocks noChangeArrowheads="1"/>
            </p:cNvSpPr>
            <p:nvPr/>
          </p:nvSpPr>
          <p:spPr bwMode="auto">
            <a:xfrm>
              <a:off x="3076" y="2418"/>
              <a:ext cx="983" cy="19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l" eaLnBrk="0" hangingPunct="0">
                <a:spcBef>
                  <a:spcPct val="20000"/>
                </a:spcBef>
                <a:buFont typeface="Wingdings 2" panose="05020102010507070707" charset="2"/>
                <a:buChar char="¡"/>
                <a:defRPr sz="2800" b="1">
                  <a:solidFill>
                    <a:srgbClr val="000000"/>
                  </a:solidFill>
                  <a:latin typeface="华文新魏" panose="02010800040101010101" pitchFamily="2" charset="-122"/>
                  <a:ea typeface="华文新魏" panose="02010800040101010101" pitchFamily="2" charset="-122"/>
                </a:defRPr>
              </a:lvl1pPr>
              <a:lvl2pPr marL="742950" indent="-285750" algn="l" eaLnBrk="0" hangingPunct="0">
                <a:spcBef>
                  <a:spcPct val="20000"/>
                </a:spcBef>
                <a:buSzPct val="80000"/>
                <a:buFont typeface="Wingdings" panose="05000000000000000000" pitchFamily="2" charset="2"/>
                <a:buChar char="l"/>
                <a:defRPr sz="2000">
                  <a:solidFill>
                    <a:srgbClr val="000000"/>
                  </a:solidFill>
                  <a:latin typeface="华文新魏" panose="02010800040101010101" pitchFamily="2" charset="-122"/>
                  <a:ea typeface="华文新魏" panose="02010800040101010101" pitchFamily="2" charset="-122"/>
                </a:defRPr>
              </a:lvl2pPr>
              <a:lvl3pPr marL="1143000" indent="-228600" algn="l" eaLnBrk="0" hangingPunct="0">
                <a:spcBef>
                  <a:spcPct val="20000"/>
                </a:spcBef>
                <a:buSzPct val="130000"/>
                <a:buFont typeface="Wingdings" panose="05000000000000000000" pitchFamily="2" charset="2"/>
                <a:buChar char="§"/>
                <a:defRPr>
                  <a:solidFill>
                    <a:srgbClr val="000000"/>
                  </a:solidFill>
                  <a:latin typeface="华文新魏" panose="02010800040101010101" pitchFamily="2" charset="-122"/>
                  <a:ea typeface="华文新魏" panose="02010800040101010101" pitchFamily="2" charset="-122"/>
                </a:defRPr>
              </a:lvl3pPr>
              <a:lvl4pPr marL="1600200" indent="-228600" algn="l" eaLnBrk="0" hangingPunct="0">
                <a:spcBef>
                  <a:spcPct val="20000"/>
                </a:spcBef>
                <a:buSzPct val="130000"/>
                <a:buChar char="•"/>
                <a:defRPr sz="1600">
                  <a:solidFill>
                    <a:srgbClr val="000000"/>
                  </a:solidFill>
                  <a:latin typeface="华文新魏" panose="02010800040101010101" pitchFamily="2" charset="-122"/>
                  <a:ea typeface="华文新魏" panose="02010800040101010101" pitchFamily="2" charset="-122"/>
                </a:defRPr>
              </a:lvl4pPr>
              <a:lvl5pPr marL="2057400" indent="-228600" algn="l" eaLnBrk="0" hangingPunct="0">
                <a:spcBef>
                  <a:spcPct val="20000"/>
                </a:spcBef>
                <a:buFont typeface="Wingdings" panose="05000000000000000000" pitchFamily="2" charset="2"/>
                <a:buChar char="§"/>
                <a:defRPr sz="1400">
                  <a:solidFill>
                    <a:srgbClr val="000000"/>
                  </a:solidFill>
                  <a:latin typeface="华文新魏" panose="02010800040101010101" pitchFamily="2" charset="-122"/>
                  <a:ea typeface="华文新魏" panose="0201080004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1400">
                  <a:solidFill>
                    <a:srgbClr val="000000"/>
                  </a:solidFill>
                  <a:latin typeface="华文新魏" panose="02010800040101010101" pitchFamily="2" charset="-122"/>
                  <a:ea typeface="华文新魏" panose="0201080004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1400">
                  <a:solidFill>
                    <a:srgbClr val="000000"/>
                  </a:solidFill>
                  <a:latin typeface="华文新魏" panose="02010800040101010101" pitchFamily="2" charset="-122"/>
                  <a:ea typeface="华文新魏" panose="0201080004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1400">
                  <a:solidFill>
                    <a:srgbClr val="000000"/>
                  </a:solidFill>
                  <a:latin typeface="华文新魏" panose="02010800040101010101" pitchFamily="2" charset="-122"/>
                  <a:ea typeface="华文新魏" panose="0201080004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1400">
                  <a:solidFill>
                    <a:srgbClr val="000000"/>
                  </a:solidFill>
                  <a:latin typeface="华文新魏" panose="02010800040101010101" pitchFamily="2" charset="-122"/>
                  <a:ea typeface="华文新魏" panose="02010800040101010101" pitchFamily="2" charset="-122"/>
                </a:defRPr>
              </a:lvl9pPr>
            </a:lstStyle>
            <a:p>
              <a:pPr algn="r" eaLnBrk="1" hangingPunct="1">
                <a:spcBef>
                  <a:spcPct val="0"/>
                </a:spcBef>
                <a:buFontTx/>
                <a:buNone/>
              </a:pPr>
              <a:r>
                <a:rPr lang="zh-CN" altLang="en-US" sz="1800" b="0" dirty="0">
                  <a:solidFill>
                    <a:schemeClr val="tx1"/>
                  </a:solidFill>
                  <a:latin typeface="Arial" panose="020B0604020202020204" pitchFamily="34" charset="0"/>
                  <a:ea typeface="楷体_GB2312" charset="0"/>
                </a:rPr>
                <a:t>感受到的强度</a:t>
              </a:r>
            </a:p>
          </p:txBody>
        </p:sp>
        <p:sp>
          <p:nvSpPr>
            <p:cNvPr id="12" name="Text Box 9"/>
            <p:cNvSpPr txBox="1">
              <a:spLocks noChangeArrowheads="1"/>
            </p:cNvSpPr>
            <p:nvPr/>
          </p:nvSpPr>
          <p:spPr bwMode="auto">
            <a:xfrm>
              <a:off x="4448" y="2826"/>
              <a:ext cx="836" cy="23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spcBef>
                  <a:spcPct val="20000"/>
                </a:spcBef>
                <a:buFont typeface="Wingdings 2" panose="05020102010507070707" charset="2"/>
                <a:buChar char="¡"/>
                <a:defRPr sz="2800" b="1">
                  <a:solidFill>
                    <a:srgbClr val="000000"/>
                  </a:solidFill>
                  <a:latin typeface="华文新魏" panose="02010800040101010101" pitchFamily="2" charset="-122"/>
                  <a:ea typeface="华文新魏" panose="02010800040101010101" pitchFamily="2" charset="-122"/>
                </a:defRPr>
              </a:lvl1pPr>
              <a:lvl2pPr marL="742950" indent="-285750" algn="l" eaLnBrk="0" hangingPunct="0">
                <a:spcBef>
                  <a:spcPct val="20000"/>
                </a:spcBef>
                <a:buSzPct val="80000"/>
                <a:buFont typeface="Wingdings" panose="05000000000000000000" pitchFamily="2" charset="2"/>
                <a:buChar char="l"/>
                <a:defRPr sz="2000">
                  <a:solidFill>
                    <a:srgbClr val="000000"/>
                  </a:solidFill>
                  <a:latin typeface="华文新魏" panose="02010800040101010101" pitchFamily="2" charset="-122"/>
                  <a:ea typeface="华文新魏" panose="02010800040101010101" pitchFamily="2" charset="-122"/>
                </a:defRPr>
              </a:lvl2pPr>
              <a:lvl3pPr marL="1143000" indent="-228600" algn="l" eaLnBrk="0" hangingPunct="0">
                <a:spcBef>
                  <a:spcPct val="20000"/>
                </a:spcBef>
                <a:buSzPct val="130000"/>
                <a:buFont typeface="Wingdings" panose="05000000000000000000" pitchFamily="2" charset="2"/>
                <a:buChar char="§"/>
                <a:defRPr>
                  <a:solidFill>
                    <a:srgbClr val="000000"/>
                  </a:solidFill>
                  <a:latin typeface="华文新魏" panose="02010800040101010101" pitchFamily="2" charset="-122"/>
                  <a:ea typeface="华文新魏" panose="02010800040101010101" pitchFamily="2" charset="-122"/>
                </a:defRPr>
              </a:lvl3pPr>
              <a:lvl4pPr marL="1600200" indent="-228600" algn="l" eaLnBrk="0" hangingPunct="0">
                <a:spcBef>
                  <a:spcPct val="20000"/>
                </a:spcBef>
                <a:buSzPct val="130000"/>
                <a:buChar char="•"/>
                <a:defRPr sz="1600">
                  <a:solidFill>
                    <a:srgbClr val="000000"/>
                  </a:solidFill>
                  <a:latin typeface="华文新魏" panose="02010800040101010101" pitchFamily="2" charset="-122"/>
                  <a:ea typeface="华文新魏" panose="02010800040101010101" pitchFamily="2" charset="-122"/>
                </a:defRPr>
              </a:lvl4pPr>
              <a:lvl5pPr marL="2057400" indent="-228600" algn="l" eaLnBrk="0" hangingPunct="0">
                <a:spcBef>
                  <a:spcPct val="20000"/>
                </a:spcBef>
                <a:buFont typeface="Wingdings" panose="05000000000000000000" pitchFamily="2" charset="2"/>
                <a:buChar char="§"/>
                <a:defRPr sz="1400">
                  <a:solidFill>
                    <a:srgbClr val="000000"/>
                  </a:solidFill>
                  <a:latin typeface="华文新魏" panose="02010800040101010101" pitchFamily="2" charset="-122"/>
                  <a:ea typeface="华文新魏" panose="0201080004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1400">
                  <a:solidFill>
                    <a:srgbClr val="000000"/>
                  </a:solidFill>
                  <a:latin typeface="华文新魏" panose="02010800040101010101" pitchFamily="2" charset="-122"/>
                  <a:ea typeface="华文新魏" panose="0201080004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1400">
                  <a:solidFill>
                    <a:srgbClr val="000000"/>
                  </a:solidFill>
                  <a:latin typeface="华文新魏" panose="02010800040101010101" pitchFamily="2" charset="-122"/>
                  <a:ea typeface="华文新魏" panose="0201080004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1400">
                  <a:solidFill>
                    <a:srgbClr val="000000"/>
                  </a:solidFill>
                  <a:latin typeface="华文新魏" panose="02010800040101010101" pitchFamily="2" charset="-122"/>
                  <a:ea typeface="华文新魏" panose="0201080004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1400">
                  <a:solidFill>
                    <a:srgbClr val="000000"/>
                  </a:solidFill>
                  <a:latin typeface="华文新魏" panose="02010800040101010101" pitchFamily="2" charset="-122"/>
                  <a:ea typeface="华文新魏" panose="02010800040101010101" pitchFamily="2" charset="-122"/>
                </a:defRPr>
              </a:lvl9pPr>
            </a:lstStyle>
            <a:p>
              <a:pPr eaLnBrk="1" hangingPunct="1">
                <a:spcBef>
                  <a:spcPct val="0"/>
                </a:spcBef>
                <a:buFontTx/>
                <a:buNone/>
              </a:pPr>
              <a:r>
                <a:rPr lang="zh-CN" altLang="en-US" sz="1800" b="0">
                  <a:solidFill>
                    <a:schemeClr val="tx1"/>
                  </a:solidFill>
                  <a:latin typeface="Arial" panose="020B0604020202020204" pitchFamily="34" charset="0"/>
                  <a:ea typeface="楷体_GB2312" charset="0"/>
                </a:rPr>
                <a:t>实际的强度</a:t>
              </a:r>
            </a:p>
          </p:txBody>
        </p:sp>
      </p:gr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光滑着色（</a:t>
            </a:r>
            <a:r>
              <a:rPr lang="en-US" altLang="zh-CN" dirty="0" err="1"/>
              <a:t>Gouraud</a:t>
            </a:r>
            <a:r>
              <a:rPr lang="zh-CN" altLang="en-US" dirty="0"/>
              <a:t> 着色）</a:t>
            </a:r>
          </a:p>
        </p:txBody>
      </p:sp>
      <p:sp>
        <p:nvSpPr>
          <p:cNvPr id="3" name="内容占位符 2"/>
          <p:cNvSpPr>
            <a:spLocks noGrp="1"/>
          </p:cNvSpPr>
          <p:nvPr>
            <p:ph idx="1"/>
          </p:nvPr>
        </p:nvSpPr>
        <p:spPr>
          <a:xfrm>
            <a:off x="628650" y="1316831"/>
            <a:ext cx="7886700" cy="4838436"/>
          </a:xfrm>
        </p:spPr>
        <p:txBody>
          <a:bodyPr>
            <a:normAutofit/>
          </a:bodyPr>
          <a:lstStyle/>
          <a:p>
            <a:r>
              <a:rPr lang="zh-CN" altLang="en-US" sz="2400" dirty="0"/>
              <a:t>在网格中每个顶点处有几个多边形交于该点，每个多边</a:t>
            </a:r>
            <a:r>
              <a:rPr lang="en-US" altLang="zh-CN" sz="2400" dirty="0"/>
              <a:t>    </a:t>
            </a:r>
            <a:r>
              <a:rPr lang="zh-CN" altLang="en-US" sz="2400" dirty="0"/>
              <a:t>形有一个法向，取这几个法向的平均得到该点的法向：</a:t>
            </a:r>
            <a:endParaRPr lang="en-US" altLang="zh-CN" sz="2400" dirty="0"/>
          </a:p>
          <a:p>
            <a:pPr marL="457200" lvl="1" indent="0">
              <a:buClr>
                <a:schemeClr val="tx1"/>
              </a:buClr>
              <a:buNone/>
            </a:pPr>
            <a:endParaRPr lang="en-US" altLang="zh-CN" sz="1800" dirty="0"/>
          </a:p>
          <a:p>
            <a:pPr marL="457200" lvl="1" indent="0">
              <a:buClr>
                <a:schemeClr val="tx1"/>
              </a:buClr>
              <a:buNone/>
            </a:pPr>
            <a:endParaRPr lang="en-US" altLang="zh-CN" sz="1800" dirty="0"/>
          </a:p>
          <a:p>
            <a:pPr marL="457200" lvl="1" indent="0">
              <a:buClr>
                <a:schemeClr val="tx1"/>
              </a:buClr>
              <a:buNone/>
            </a:pPr>
            <a:endParaRPr lang="en-US" altLang="zh-CN" sz="1800" dirty="0"/>
          </a:p>
          <a:p>
            <a:pPr marL="457200" lvl="1" indent="0">
              <a:buClr>
                <a:schemeClr val="tx1"/>
              </a:buClr>
              <a:buNone/>
            </a:pPr>
            <a:endParaRPr lang="zh-CN" altLang="en-US" sz="1800" dirty="0"/>
          </a:p>
          <a:p>
            <a:endParaRPr lang="en-US" altLang="zh-CN" sz="2400" dirty="0"/>
          </a:p>
          <a:p>
            <a:r>
              <a:rPr lang="zh-CN" altLang="en-US" sz="2400" dirty="0"/>
              <a:t>然后利用简单光照模型计算出顶点的颜色</a:t>
            </a:r>
            <a:endParaRPr lang="en-US" altLang="zh-CN" sz="2400" dirty="0"/>
          </a:p>
          <a:p>
            <a:r>
              <a:rPr lang="zh-CN" altLang="en-US" sz="2400" dirty="0"/>
              <a:t>对于多边形内的点，光栅化模块可以采用插值确定颜色</a:t>
            </a:r>
            <a:endParaRPr lang="en-US" altLang="zh-CN" sz="2400" dirty="0"/>
          </a:p>
          <a:p>
            <a:endParaRPr lang="en-US" altLang="zh-CN" sz="2400" dirty="0"/>
          </a:p>
          <a:p>
            <a:r>
              <a:rPr lang="zh-CN" altLang="en-US" sz="2400" dirty="0">
                <a:solidFill>
                  <a:srgbClr val="00B050"/>
                </a:solidFill>
              </a:rPr>
              <a:t>光滑着色在哪里实现计算？</a:t>
            </a:r>
            <a:endParaRPr lang="en-US" altLang="zh-CN" sz="2400" dirty="0">
              <a:solidFill>
                <a:srgbClr val="00B050"/>
              </a:solidFill>
            </a:endParaRPr>
          </a:p>
          <a:p>
            <a:endParaRPr lang="en-US" altLang="zh-CN" sz="2400" dirty="0"/>
          </a:p>
          <a:p>
            <a:pPr marL="0" indent="0">
              <a:buNone/>
            </a:pPr>
            <a:endParaRPr lang="en-US" altLang="zh-CN" sz="2400" dirty="0"/>
          </a:p>
          <a:p>
            <a:pPr marL="0" indent="0">
              <a:buNone/>
            </a:pPr>
            <a:endParaRPr lang="en-US" altLang="zh-CN" sz="2400" dirty="0"/>
          </a:p>
          <a:p>
            <a:pPr lvl="1">
              <a:buClr>
                <a:schemeClr val="tx1"/>
              </a:buClr>
            </a:pPr>
            <a:endParaRPr lang="en-US" altLang="zh-CN" sz="1800" dirty="0"/>
          </a:p>
          <a:p>
            <a:pPr lvl="1">
              <a:buClr>
                <a:schemeClr val="tx1"/>
              </a:buClr>
            </a:pPr>
            <a:endParaRPr lang="en-US" altLang="zh-CN" sz="1800" dirty="0"/>
          </a:p>
          <a:p>
            <a:pPr marL="457200" lvl="1" indent="0">
              <a:buClr>
                <a:schemeClr val="tx1"/>
              </a:buClr>
              <a:buNone/>
            </a:pPr>
            <a:endParaRPr lang="en-US" altLang="zh-CN" sz="18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62</a:t>
            </a:fld>
            <a:endParaRPr lang="zh-CN" altLang="en-US"/>
          </a:p>
        </p:txBody>
      </p:sp>
      <p:pic>
        <p:nvPicPr>
          <p:cNvPr id="7" name="图片 6"/>
          <p:cNvPicPr>
            <a:picLocks noChangeAspect="1"/>
          </p:cNvPicPr>
          <p:nvPr/>
        </p:nvPicPr>
        <p:blipFill>
          <a:blip r:embed="rId2"/>
          <a:stretch>
            <a:fillRect/>
          </a:stretch>
        </p:blipFill>
        <p:spPr>
          <a:xfrm>
            <a:off x="6941354" y="2210355"/>
            <a:ext cx="1692529" cy="1743153"/>
          </a:xfrm>
          <a:prstGeom prst="rect">
            <a:avLst/>
          </a:prstGeom>
        </p:spPr>
      </p:pic>
      <p:pic>
        <p:nvPicPr>
          <p:cNvPr id="8" name="图片 7"/>
          <p:cNvPicPr>
            <a:picLocks noChangeAspect="1"/>
          </p:cNvPicPr>
          <p:nvPr/>
        </p:nvPicPr>
        <p:blipFill>
          <a:blip r:embed="rId3"/>
          <a:stretch>
            <a:fillRect/>
          </a:stretch>
        </p:blipFill>
        <p:spPr>
          <a:xfrm>
            <a:off x="2375230" y="2311394"/>
            <a:ext cx="3737537" cy="934091"/>
          </a:xfrm>
          <a:prstGeom prst="rect">
            <a:avLst/>
          </a:prstGeom>
        </p:spPr>
      </p:pic>
      <p:sp>
        <p:nvSpPr>
          <p:cNvPr id="5" name="Rectangle 2"/>
          <p:cNvSpPr>
            <a:spLocks noChangeArrowheads="1"/>
          </p:cNvSpPr>
          <p:nvPr/>
        </p:nvSpPr>
        <p:spPr bwMode="auto">
          <a:xfrm>
            <a:off x="4141694" y="3447156"/>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square" lIns="91440" tIns="45720" rIns="91440" bIns="45720" numCol="1" anchor="ctr" anchorCtr="0" compatLnSpc="1">
            <a:spAutoFit/>
          </a:bodyPr>
          <a:lstStyle/>
          <a:p>
            <a:endParaRPr lang="en-US"/>
          </a:p>
        </p:txBody>
      </p:sp>
      <p:pic>
        <p:nvPicPr>
          <p:cNvPr id="10" name="图片 5" descr="Green Question Mark Clip Art | Clipart Panda - Free Clipart Images"/>
          <p:cNvPicPr>
            <a:picLocks noChangeAspect="1"/>
          </p:cNvPicPr>
          <p:nvPr/>
        </p:nvPicPr>
        <p:blipFill rotWithShape="1">
          <a:blip r:embed="rId4" cstate="print">
            <a:extLst>
              <a:ext uri="{28A0092B-C50C-407E-A947-70E740481C1C}">
                <a14:useLocalDpi xmlns:a14="http://schemas.microsoft.com/office/drawing/2010/main" val="0"/>
              </a:ext>
            </a:extLst>
          </a:blip>
          <a:srcRect t="5882"/>
          <a:stretch>
            <a:fillRect/>
          </a:stretch>
        </p:blipFill>
        <p:spPr>
          <a:xfrm>
            <a:off x="5137253" y="4897491"/>
            <a:ext cx="1216877" cy="1255657"/>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Phong</a:t>
            </a:r>
            <a:r>
              <a:rPr lang="zh-CN" altLang="en-US" dirty="0"/>
              <a:t> 着色</a:t>
            </a:r>
          </a:p>
        </p:txBody>
      </p:sp>
      <p:sp>
        <p:nvSpPr>
          <p:cNvPr id="3" name="内容占位符 2"/>
          <p:cNvSpPr>
            <a:spLocks noGrp="1"/>
          </p:cNvSpPr>
          <p:nvPr>
            <p:ph idx="1"/>
          </p:nvPr>
        </p:nvSpPr>
        <p:spPr>
          <a:xfrm>
            <a:off x="628650" y="1316830"/>
            <a:ext cx="7886700" cy="5276071"/>
          </a:xfrm>
        </p:spPr>
        <p:txBody>
          <a:bodyPr>
            <a:normAutofit/>
          </a:bodyPr>
          <a:lstStyle/>
          <a:p>
            <a:r>
              <a:rPr lang="zh-CN" altLang="en-US" sz="2400" dirty="0"/>
              <a:t>与</a:t>
            </a:r>
            <a:r>
              <a:rPr lang="en-US" altLang="zh-CN" sz="2400" dirty="0" err="1"/>
              <a:t>Gouraud</a:t>
            </a:r>
            <a:r>
              <a:rPr lang="zh-CN" altLang="en-US" sz="2400" dirty="0"/>
              <a:t>方法不同，</a:t>
            </a:r>
            <a:r>
              <a:rPr lang="en-US" altLang="zh-CN" sz="2400" dirty="0" err="1"/>
              <a:t>Phong</a:t>
            </a:r>
            <a:r>
              <a:rPr lang="zh-CN" altLang="en-US" sz="2400" dirty="0"/>
              <a:t>方法是根据每个顶点的法向，插值出多边形内部各点的法向，然后基于光照模型计算出各点的颜色：</a:t>
            </a:r>
            <a:endParaRPr lang="en-US" altLang="zh-CN" sz="2400" dirty="0"/>
          </a:p>
          <a:p>
            <a:pPr lvl="1">
              <a:buClr>
                <a:schemeClr val="tx1"/>
              </a:buClr>
            </a:pPr>
            <a:endParaRPr lang="en-US" altLang="zh-CN" sz="1800" dirty="0"/>
          </a:p>
          <a:p>
            <a:pPr lvl="1">
              <a:buClr>
                <a:schemeClr val="tx1"/>
              </a:buClr>
            </a:pPr>
            <a:endParaRPr lang="en-US" altLang="zh-CN" sz="1800" dirty="0"/>
          </a:p>
          <a:p>
            <a:pPr lvl="1">
              <a:buClr>
                <a:schemeClr val="tx1"/>
              </a:buClr>
            </a:pPr>
            <a:endParaRPr lang="zh-CN" altLang="en-US" sz="1800" dirty="0"/>
          </a:p>
          <a:p>
            <a:endParaRPr lang="en-US" altLang="zh-CN" sz="2400" dirty="0"/>
          </a:p>
          <a:p>
            <a:endParaRPr lang="en-US" altLang="zh-CN" sz="2400" dirty="0"/>
          </a:p>
          <a:p>
            <a:pPr marL="0" indent="0">
              <a:buNone/>
            </a:pPr>
            <a:endParaRPr lang="en-US" altLang="zh-CN" sz="2400" dirty="0"/>
          </a:p>
          <a:p>
            <a:endParaRPr lang="en-US" altLang="zh-CN" sz="2400" dirty="0"/>
          </a:p>
          <a:p>
            <a:endParaRPr lang="en-US" altLang="zh-CN" sz="2400" dirty="0"/>
          </a:p>
          <a:p>
            <a:r>
              <a:rPr lang="en-US" altLang="zh-CN" sz="2400" dirty="0" err="1">
                <a:solidFill>
                  <a:srgbClr val="00B050"/>
                </a:solidFill>
              </a:rPr>
              <a:t>Phong</a:t>
            </a:r>
            <a:r>
              <a:rPr lang="zh-CN" altLang="en-US" sz="2400" dirty="0">
                <a:solidFill>
                  <a:srgbClr val="00B050"/>
                </a:solidFill>
              </a:rPr>
              <a:t>着色在哪里实现计算？</a:t>
            </a:r>
            <a:endParaRPr lang="en-US" altLang="zh-CN" sz="2400" dirty="0">
              <a:solidFill>
                <a:srgbClr val="00B050"/>
              </a:solidFill>
            </a:endParaRPr>
          </a:p>
        </p:txBody>
      </p:sp>
      <p:sp>
        <p:nvSpPr>
          <p:cNvPr id="4" name="灯片编号占位符 3"/>
          <p:cNvSpPr>
            <a:spLocks noGrp="1"/>
          </p:cNvSpPr>
          <p:nvPr>
            <p:ph type="sldNum" sz="quarter" idx="12"/>
          </p:nvPr>
        </p:nvSpPr>
        <p:spPr/>
        <p:txBody>
          <a:bodyPr/>
          <a:lstStyle/>
          <a:p>
            <a:fld id="{EB792F4E-54C0-4D36-B331-9C6FCFE9A340}" type="slidenum">
              <a:rPr lang="zh-CN" altLang="en-US" smtClean="0"/>
              <a:t>63</a:t>
            </a:fld>
            <a:endParaRPr lang="zh-CN" altLang="en-US"/>
          </a:p>
        </p:txBody>
      </p:sp>
      <p:pic>
        <p:nvPicPr>
          <p:cNvPr id="5" name="图片 4"/>
          <p:cNvPicPr>
            <a:picLocks noChangeAspect="1"/>
          </p:cNvPicPr>
          <p:nvPr/>
        </p:nvPicPr>
        <p:blipFill>
          <a:blip r:embed="rId2"/>
          <a:stretch>
            <a:fillRect/>
          </a:stretch>
        </p:blipFill>
        <p:spPr>
          <a:xfrm>
            <a:off x="4614193" y="3145008"/>
            <a:ext cx="2462830" cy="2213454"/>
          </a:xfrm>
          <a:prstGeom prst="rect">
            <a:avLst/>
          </a:prstGeom>
        </p:spPr>
      </p:pic>
      <p:pic>
        <p:nvPicPr>
          <p:cNvPr id="6" name="图片 5"/>
          <p:cNvPicPr>
            <a:picLocks noChangeAspect="1"/>
          </p:cNvPicPr>
          <p:nvPr/>
        </p:nvPicPr>
        <p:blipFill>
          <a:blip r:embed="rId3"/>
          <a:stretch>
            <a:fillRect/>
          </a:stretch>
        </p:blipFill>
        <p:spPr>
          <a:xfrm>
            <a:off x="1534107" y="3145008"/>
            <a:ext cx="2856644" cy="2150995"/>
          </a:xfrm>
          <a:prstGeom prst="rect">
            <a:avLst/>
          </a:prstGeom>
        </p:spPr>
      </p:pic>
      <p:sp>
        <p:nvSpPr>
          <p:cNvPr id="9" name="文本框 8"/>
          <p:cNvSpPr txBox="1"/>
          <p:nvPr/>
        </p:nvSpPr>
        <p:spPr>
          <a:xfrm>
            <a:off x="7152876" y="4315549"/>
            <a:ext cx="1107996" cy="369332"/>
          </a:xfrm>
          <a:prstGeom prst="rect">
            <a:avLst/>
          </a:prstGeom>
          <a:noFill/>
        </p:spPr>
        <p:txBody>
          <a:bodyPr wrap="none" rtlCol="0">
            <a:spAutoFit/>
          </a:bodyPr>
          <a:lstStyle/>
          <a:p>
            <a:pPr algn="ctr"/>
            <a:r>
              <a:rPr lang="zh-CN" altLang="en-US" b="1" dirty="0">
                <a:latin typeface="微软雅黑" panose="020B0503020204020204" pitchFamily="34" charset="-122"/>
                <a:ea typeface="微软雅黑" panose="020B0503020204020204" pitchFamily="34" charset="-122"/>
              </a:rPr>
              <a:t>法向插值</a:t>
            </a:r>
          </a:p>
        </p:txBody>
      </p:sp>
      <p:pic>
        <p:nvPicPr>
          <p:cNvPr id="7" name="图片 6"/>
          <p:cNvPicPr>
            <a:picLocks noChangeAspect="1"/>
          </p:cNvPicPr>
          <p:nvPr/>
        </p:nvPicPr>
        <p:blipFill>
          <a:blip r:embed="rId4"/>
          <a:stretch>
            <a:fillRect/>
          </a:stretch>
        </p:blipFill>
        <p:spPr>
          <a:xfrm>
            <a:off x="2746591" y="2456828"/>
            <a:ext cx="3735203" cy="437195"/>
          </a:xfrm>
          <a:prstGeom prst="rect">
            <a:avLst/>
          </a:prstGeom>
        </p:spPr>
      </p:pic>
      <p:pic>
        <p:nvPicPr>
          <p:cNvPr id="10" name="图片 5" descr="Green Question Mark Clip Art | Clipart Panda - Free Clipart Images"/>
          <p:cNvPicPr>
            <a:picLocks noChangeAspect="1"/>
          </p:cNvPicPr>
          <p:nvPr/>
        </p:nvPicPr>
        <p:blipFill rotWithShape="1">
          <a:blip r:embed="rId5" cstate="print">
            <a:extLst>
              <a:ext uri="{28A0092B-C50C-407E-A947-70E740481C1C}">
                <a14:useLocalDpi xmlns:a14="http://schemas.microsoft.com/office/drawing/2010/main" val="0"/>
              </a:ext>
            </a:extLst>
          </a:blip>
          <a:srcRect t="5882"/>
          <a:stretch>
            <a:fillRect/>
          </a:stretch>
        </p:blipFill>
        <p:spPr>
          <a:xfrm>
            <a:off x="6209257" y="5237218"/>
            <a:ext cx="1216877" cy="1255657"/>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err="1"/>
              <a:t>Phong</a:t>
            </a:r>
            <a:r>
              <a:rPr lang="zh-CN" altLang="en-US" dirty="0"/>
              <a:t> 着色</a:t>
            </a:r>
            <a:endParaRPr lang="en-US" dirty="0"/>
          </a:p>
        </p:txBody>
      </p:sp>
      <p:sp>
        <p:nvSpPr>
          <p:cNvPr id="3" name="Content Placeholder 2"/>
          <p:cNvSpPr>
            <a:spLocks noGrp="1"/>
          </p:cNvSpPr>
          <p:nvPr>
            <p:ph idx="1"/>
          </p:nvPr>
        </p:nvSpPr>
        <p:spPr>
          <a:xfrm>
            <a:off x="628650" y="1316831"/>
            <a:ext cx="7886700" cy="4784292"/>
          </a:xfrm>
        </p:spPr>
        <p:txBody>
          <a:bodyPr>
            <a:normAutofit/>
          </a:bodyPr>
          <a:lstStyle/>
          <a:p>
            <a:r>
              <a:rPr lang="zh-CN" altLang="en-US" sz="2400" dirty="0"/>
              <a:t>通常会有效地降低</a:t>
            </a:r>
            <a:r>
              <a:rPr lang="en-US" altLang="zh-CN" sz="2400" dirty="0"/>
              <a:t>Mach</a:t>
            </a:r>
            <a:r>
              <a:rPr lang="zh-CN" altLang="en-US" sz="2400" dirty="0"/>
              <a:t>带效应</a:t>
            </a:r>
          </a:p>
          <a:p>
            <a:r>
              <a:rPr lang="zh-CN" altLang="en-US" sz="2400" dirty="0"/>
              <a:t>得到的图形比应用</a:t>
            </a:r>
            <a:r>
              <a:rPr lang="en-US" altLang="zh-CN" sz="2400" dirty="0" err="1"/>
              <a:t>Gouraud</a:t>
            </a:r>
            <a:r>
              <a:rPr lang="zh-CN" altLang="en-US" sz="2400" dirty="0"/>
              <a:t>方法的结果更光滑</a:t>
            </a:r>
          </a:p>
          <a:p>
            <a:endParaRPr lang="en-US" altLang="zh-CN" sz="2400" dirty="0"/>
          </a:p>
          <a:p>
            <a:endParaRPr lang="en-US" altLang="zh-CN" sz="2400" dirty="0"/>
          </a:p>
          <a:p>
            <a:endParaRPr lang="en-US" altLang="zh-CN" sz="2400" dirty="0"/>
          </a:p>
          <a:p>
            <a:endParaRPr lang="en-US" altLang="zh-CN" sz="2400" dirty="0"/>
          </a:p>
          <a:p>
            <a:endParaRPr lang="en-US" altLang="zh-CN" sz="2400" dirty="0"/>
          </a:p>
          <a:p>
            <a:endParaRPr lang="en-US" altLang="zh-CN" sz="2400" dirty="0"/>
          </a:p>
          <a:p>
            <a:pPr lvl="1"/>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t>64</a:t>
            </a:fld>
            <a:endParaRPr lang="zh-CN" altLang="en-US" dirty="0"/>
          </a:p>
        </p:txBody>
      </p:sp>
      <p:pic>
        <p:nvPicPr>
          <p:cNvPr id="5" name="Picture 4"/>
          <p:cNvPicPr/>
          <p:nvPr/>
        </p:nvPicPr>
        <p:blipFill>
          <a:blip r:embed="rId2"/>
          <a:stretch>
            <a:fillRect/>
          </a:stretch>
        </p:blipFill>
        <p:spPr>
          <a:xfrm>
            <a:off x="1187797" y="2632155"/>
            <a:ext cx="2727854" cy="2884995"/>
          </a:xfrm>
          <a:prstGeom prst="rect">
            <a:avLst/>
          </a:prstGeom>
        </p:spPr>
      </p:pic>
      <p:pic>
        <p:nvPicPr>
          <p:cNvPr id="6" name="Picture 5"/>
          <p:cNvPicPr/>
          <p:nvPr/>
        </p:nvPicPr>
        <p:blipFill>
          <a:blip r:embed="rId3"/>
          <a:stretch>
            <a:fillRect/>
          </a:stretch>
        </p:blipFill>
        <p:spPr>
          <a:xfrm>
            <a:off x="4682067" y="2632154"/>
            <a:ext cx="2727832" cy="2884996"/>
          </a:xfrm>
          <a:prstGeom prst="rect">
            <a:avLst/>
          </a:prstGeom>
        </p:spPr>
      </p:pic>
      <p:sp>
        <p:nvSpPr>
          <p:cNvPr id="7" name="TextBox 6"/>
          <p:cNvSpPr txBox="1"/>
          <p:nvPr/>
        </p:nvSpPr>
        <p:spPr>
          <a:xfrm>
            <a:off x="2056235" y="5731791"/>
            <a:ext cx="990977" cy="369332"/>
          </a:xfrm>
          <a:prstGeom prst="rect">
            <a:avLst/>
          </a:prstGeom>
          <a:noFill/>
        </p:spPr>
        <p:txBody>
          <a:bodyPr wrap="none" rtlCol="0">
            <a:spAutoFit/>
          </a:bodyPr>
          <a:lstStyle/>
          <a:p>
            <a:r>
              <a:rPr lang="zh-CN" altLang="en-US" b="1" dirty="0"/>
              <a:t>实验 </a:t>
            </a:r>
            <a:r>
              <a:rPr lang="en-US" altLang="zh-CN" b="1" dirty="0"/>
              <a:t>3.3</a:t>
            </a:r>
            <a:endParaRPr lang="en-US" b="1" dirty="0"/>
          </a:p>
        </p:txBody>
      </p:sp>
      <p:sp>
        <p:nvSpPr>
          <p:cNvPr id="8" name="TextBox 7"/>
          <p:cNvSpPr txBox="1"/>
          <p:nvPr/>
        </p:nvSpPr>
        <p:spPr>
          <a:xfrm>
            <a:off x="5550494" y="5731791"/>
            <a:ext cx="994183" cy="369332"/>
          </a:xfrm>
          <a:prstGeom prst="rect">
            <a:avLst/>
          </a:prstGeom>
          <a:noFill/>
        </p:spPr>
        <p:txBody>
          <a:bodyPr wrap="none" rtlCol="0">
            <a:spAutoFit/>
          </a:bodyPr>
          <a:lstStyle/>
          <a:p>
            <a:r>
              <a:rPr lang="zh-CN" altLang="en-US" b="1" dirty="0"/>
              <a:t>实验 </a:t>
            </a:r>
            <a:r>
              <a:rPr lang="en-US" altLang="zh-CN" b="1" dirty="0"/>
              <a:t>3.4</a:t>
            </a:r>
            <a:endParaRPr lang="en-US" b="1"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阴影效果</a:t>
            </a:r>
          </a:p>
        </p:txBody>
      </p:sp>
      <p:sp>
        <p:nvSpPr>
          <p:cNvPr id="3" name="内容占位符 2"/>
          <p:cNvSpPr>
            <a:spLocks noGrp="1"/>
          </p:cNvSpPr>
          <p:nvPr>
            <p:ph idx="1"/>
          </p:nvPr>
        </p:nvSpPr>
        <p:spPr/>
        <p:txBody>
          <a:bodyPr>
            <a:normAutofit/>
          </a:bodyPr>
          <a:lstStyle/>
          <a:p>
            <a:r>
              <a:rPr lang="zh-CN" altLang="en-US" dirty="0"/>
              <a:t>计算机产生的阴影</a:t>
            </a:r>
            <a:endParaRPr lang="en-US" altLang="zh-CN" dirty="0"/>
          </a:p>
          <a:p>
            <a:pPr lvl="1">
              <a:buClr>
                <a:schemeClr val="tx1"/>
              </a:buClr>
            </a:pPr>
            <a:r>
              <a:rPr lang="zh-CN" altLang="en-US" dirty="0"/>
              <a:t>光源照射不到</a:t>
            </a:r>
            <a:endParaRPr lang="en-US" altLang="zh-CN" dirty="0"/>
          </a:p>
          <a:p>
            <a:pPr lvl="1">
              <a:buClr>
                <a:schemeClr val="tx1"/>
              </a:buClr>
            </a:pPr>
            <a:r>
              <a:rPr lang="zh-CN" altLang="en-US" dirty="0"/>
              <a:t>视角观察不到</a:t>
            </a:r>
            <a:endParaRPr lang="en-US" altLang="zh-CN" dirty="0"/>
          </a:p>
          <a:p>
            <a:pPr marL="0" indent="0">
              <a:buNone/>
            </a:pPr>
            <a:endParaRPr lang="en-US" altLang="zh-CN" dirty="0"/>
          </a:p>
          <a:p>
            <a:r>
              <a:rPr lang="zh-CN" altLang="en-US" dirty="0"/>
              <a:t>阴影的投影矩阵</a:t>
            </a:r>
            <a:endParaRPr lang="en-US" altLang="zh-CN" dirty="0"/>
          </a:p>
          <a:p>
            <a:pPr lvl="1">
              <a:buClr>
                <a:schemeClr val="tx1"/>
              </a:buClr>
            </a:pPr>
            <a:r>
              <a:rPr lang="zh-CN" altLang="en-US" dirty="0"/>
              <a:t>向三维空间中的平面投影</a:t>
            </a:r>
            <a:endParaRPr lang="en-US" altLang="zh-CN"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65</a:t>
            </a:fld>
            <a:endParaRPr lang="zh-CN" altLang="en-US"/>
          </a:p>
        </p:txBody>
      </p:sp>
      <p:pic>
        <p:nvPicPr>
          <p:cNvPr id="5" name="图片 4"/>
          <p:cNvPicPr>
            <a:picLocks noChangeAspect="1"/>
          </p:cNvPicPr>
          <p:nvPr/>
        </p:nvPicPr>
        <p:blipFill>
          <a:blip r:embed="rId2"/>
          <a:stretch>
            <a:fillRect/>
          </a:stretch>
        </p:blipFill>
        <p:spPr>
          <a:xfrm>
            <a:off x="5301497" y="1020341"/>
            <a:ext cx="2396946" cy="2321895"/>
          </a:xfrm>
          <a:prstGeom prst="rect">
            <a:avLst/>
          </a:prstGeom>
          <a:solidFill>
            <a:srgbClr val="FFFFFF">
              <a:shade val="85000"/>
            </a:srgbClr>
          </a:solidFill>
          <a:ln w="88900" cap="sq">
            <a:solidFill>
              <a:srgbClr val="FFFFFF"/>
            </a:solidFill>
            <a:miter lim="800000"/>
            <a:headEnd/>
            <a:tailEnd/>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7" name="图片 6"/>
          <p:cNvPicPr>
            <a:picLocks noChangeAspect="1"/>
          </p:cNvPicPr>
          <p:nvPr/>
        </p:nvPicPr>
        <p:blipFill>
          <a:blip r:embed="rId3"/>
          <a:stretch>
            <a:fillRect/>
          </a:stretch>
        </p:blipFill>
        <p:spPr>
          <a:xfrm>
            <a:off x="5159308" y="3938435"/>
            <a:ext cx="2229464" cy="2577019"/>
          </a:xfrm>
          <a:prstGeom prst="rect">
            <a:avLst/>
          </a:prstGeom>
        </p:spPr>
      </p:pic>
      <mc:AlternateContent xmlns:mc="http://schemas.openxmlformats.org/markup-compatibility/2006" xmlns:a14="http://schemas.microsoft.com/office/drawing/2010/main">
        <mc:Choice Requires="a14">
          <p:sp>
            <p:nvSpPr>
              <p:cNvPr id="6" name="TextBox 5"/>
              <p:cNvSpPr txBox="1"/>
              <p:nvPr/>
            </p:nvSpPr>
            <p:spPr>
              <a:xfrm>
                <a:off x="1426960" y="4369384"/>
                <a:ext cx="2278060" cy="369332"/>
              </a:xfrm>
              <a:prstGeom prst="rect">
                <a:avLst/>
              </a:prstGeom>
              <a:noFill/>
            </p:spPr>
            <p:txBody>
              <a:bodyPr wrap="none" rtlCol="0">
                <a:spAutoFit/>
              </a:bodyPr>
              <a:lstStyle/>
              <a:p>
                <a:r>
                  <a:rPr lang="zh-CN" altLang="en-US" dirty="0"/>
                  <a:t>光源位置</a:t>
                </a:r>
                <a:r>
                  <a:rPr lang="zh-CN" altLang="en-US" dirty="0">
                    <a:sym typeface="Wingdings" panose="05000000000000000000"/>
                  </a:rPr>
                  <a:t>：</a:t>
                </a:r>
                <a14:m>
                  <m:oMath xmlns:m="http://schemas.openxmlformats.org/officeDocument/2006/math">
                    <m:d>
                      <m:dPr>
                        <m:ctrlPr>
                          <a:rPr lang="en-US" altLang="zh-CN" i="1" smtClean="0">
                            <a:latin typeface="Cambria Math" panose="02040503050406030204" pitchFamily="18" charset="0"/>
                            <a:sym typeface="Wingdings" panose="05000000000000000000"/>
                          </a:rPr>
                        </m:ctrlPr>
                      </m:dPr>
                      <m:e>
                        <m:sSub>
                          <m:sSubPr>
                            <m:ctrlPr>
                              <a:rPr lang="en-US" altLang="zh-CN" b="0" i="1" smtClean="0">
                                <a:latin typeface="Cambria Math" panose="02040503050406030204" pitchFamily="18" charset="0"/>
                                <a:sym typeface="Wingdings" panose="05000000000000000000"/>
                              </a:rPr>
                            </m:ctrlPr>
                          </m:sSubPr>
                          <m:e>
                            <m:r>
                              <a:rPr lang="en-US" altLang="zh-CN" b="0" i="1" smtClean="0">
                                <a:latin typeface="Cambria Math" panose="02040503050406030204" charset="0"/>
                                <a:sym typeface="Wingdings" panose="05000000000000000000"/>
                              </a:rPr>
                              <m:t>𝑥</m:t>
                            </m:r>
                          </m:e>
                          <m:sub>
                            <m:r>
                              <a:rPr lang="en-US" altLang="zh-CN" b="0" i="1" smtClean="0">
                                <a:latin typeface="Cambria Math" panose="02040503050406030204" charset="0"/>
                                <a:sym typeface="Wingdings" panose="05000000000000000000"/>
                              </a:rPr>
                              <m:t>𝑙</m:t>
                            </m:r>
                          </m:sub>
                        </m:sSub>
                        <m:r>
                          <a:rPr lang="en-US" altLang="zh-CN" b="0" i="1" smtClean="0">
                            <a:latin typeface="Cambria Math" panose="02040503050406030204" charset="0"/>
                            <a:sym typeface="Wingdings" panose="05000000000000000000"/>
                          </a:rPr>
                          <m:t>,</m:t>
                        </m:r>
                        <m:sSub>
                          <m:sSubPr>
                            <m:ctrlPr>
                              <a:rPr lang="en-US" altLang="zh-CN" b="0" i="1" smtClean="0">
                                <a:latin typeface="Cambria Math" panose="02040503050406030204" pitchFamily="18" charset="0"/>
                                <a:sym typeface="Wingdings" panose="05000000000000000000"/>
                              </a:rPr>
                            </m:ctrlPr>
                          </m:sSubPr>
                          <m:e>
                            <m:r>
                              <a:rPr lang="en-US" altLang="zh-CN" b="0" i="1" smtClean="0">
                                <a:latin typeface="Cambria Math" panose="02040503050406030204" charset="0"/>
                                <a:sym typeface="Wingdings" panose="05000000000000000000"/>
                              </a:rPr>
                              <m:t>𝑦</m:t>
                            </m:r>
                          </m:e>
                          <m:sub>
                            <m:r>
                              <a:rPr lang="en-US" altLang="zh-CN" b="0" i="1" smtClean="0">
                                <a:latin typeface="Cambria Math" panose="02040503050406030204" charset="0"/>
                                <a:sym typeface="Wingdings" panose="05000000000000000000"/>
                              </a:rPr>
                              <m:t>𝑙</m:t>
                            </m:r>
                          </m:sub>
                        </m:sSub>
                        <m:r>
                          <a:rPr lang="en-US" altLang="zh-CN" b="0" i="1" smtClean="0">
                            <a:latin typeface="Cambria Math" panose="02040503050406030204" charset="0"/>
                            <a:sym typeface="Wingdings" panose="05000000000000000000"/>
                          </a:rPr>
                          <m:t>,</m:t>
                        </m:r>
                        <m:r>
                          <a:rPr lang="zh-CN" altLang="en-US" b="0" i="1" smtClean="0">
                            <a:latin typeface="Cambria Math" panose="02040503050406030204" charset="0"/>
                            <a:sym typeface="Wingdings" panose="05000000000000000000"/>
                          </a:rPr>
                          <m:t> </m:t>
                        </m:r>
                        <m:sSub>
                          <m:sSubPr>
                            <m:ctrlPr>
                              <a:rPr lang="en-US" altLang="zh-CN" b="0" i="1" smtClean="0">
                                <a:latin typeface="Cambria Math" panose="02040503050406030204" pitchFamily="18" charset="0"/>
                                <a:sym typeface="Wingdings" panose="05000000000000000000"/>
                              </a:rPr>
                            </m:ctrlPr>
                          </m:sSubPr>
                          <m:e>
                            <m:r>
                              <a:rPr lang="en-US" altLang="zh-CN" b="0" i="1" smtClean="0">
                                <a:latin typeface="Cambria Math" panose="02040503050406030204" charset="0"/>
                                <a:sym typeface="Wingdings" panose="05000000000000000000"/>
                              </a:rPr>
                              <m:t>𝑧</m:t>
                            </m:r>
                          </m:e>
                          <m:sub>
                            <m:r>
                              <a:rPr lang="en-US" altLang="zh-CN" b="0" i="1" smtClean="0">
                                <a:latin typeface="Cambria Math" panose="02040503050406030204" charset="0"/>
                                <a:sym typeface="Wingdings" panose="05000000000000000000"/>
                              </a:rPr>
                              <m:t>𝑙</m:t>
                            </m:r>
                          </m:sub>
                        </m:sSub>
                      </m:e>
                    </m:d>
                  </m:oMath>
                </a14:m>
                <a:endParaRPr lang="en-US" dirty="0"/>
              </a:p>
            </p:txBody>
          </p:sp>
        </mc:Choice>
        <mc:Fallback xmlns="">
          <p:sp>
            <p:nvSpPr>
              <p:cNvPr id="6" name="TextBox 5"/>
              <p:cNvSpPr txBox="1">
                <a:spLocks noRot="1" noChangeAspect="1" noMove="1" noResize="1" noEditPoints="1" noAdjustHandles="1" noChangeArrowheads="1" noChangeShapeType="1" noTextEdit="1"/>
              </p:cNvSpPr>
              <p:nvPr/>
            </p:nvSpPr>
            <p:spPr>
              <a:xfrm>
                <a:off x="1426960" y="4369384"/>
                <a:ext cx="2278060" cy="369332"/>
              </a:xfrm>
              <a:prstGeom prst="rect">
                <a:avLst/>
              </a:prstGeom>
              <a:blipFill rotWithShape="1">
                <a:blip r:embed="rId4"/>
                <a:stretch>
                  <a:fillRect l="-5" t="-158" r="19" b="9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1426960" y="4913556"/>
                <a:ext cx="1902252" cy="369332"/>
              </a:xfrm>
              <a:prstGeom prst="rect">
                <a:avLst/>
              </a:prstGeom>
              <a:noFill/>
            </p:spPr>
            <p:txBody>
              <a:bodyPr wrap="none" rtlCol="0">
                <a:spAutoFit/>
              </a:bodyPr>
              <a:lstStyle/>
              <a:p>
                <a:r>
                  <a:rPr lang="zh-CN" altLang="en-US" dirty="0">
                    <a:sym typeface="Wingdings" panose="05000000000000000000"/>
                  </a:rPr>
                  <a:t>投影平面：</a:t>
                </a:r>
                <a14:m>
                  <m:oMath xmlns:m="http://schemas.openxmlformats.org/officeDocument/2006/math">
                    <m:r>
                      <a:rPr lang="en-US" altLang="zh-CN" b="0" i="1" dirty="0" smtClean="0">
                        <a:latin typeface="Cambria Math" panose="02040503050406030204" charset="0"/>
                        <a:sym typeface="Wingdings" panose="05000000000000000000"/>
                      </a:rPr>
                      <m:t>𝑦</m:t>
                    </m:r>
                    <m:r>
                      <a:rPr lang="en-US" altLang="zh-CN" b="0" i="1" dirty="0" smtClean="0">
                        <a:latin typeface="Cambria Math" panose="02040503050406030204" charset="0"/>
                        <a:sym typeface="Wingdings" panose="05000000000000000000"/>
                      </a:rPr>
                      <m:t>=0</m:t>
                    </m:r>
                  </m:oMath>
                </a14:m>
                <a:endParaRPr lang="en-US" dirty="0"/>
              </a:p>
            </p:txBody>
          </p:sp>
        </mc:Choice>
        <mc:Fallback xmlns="">
          <p:sp>
            <p:nvSpPr>
              <p:cNvPr id="9" name="TextBox 8"/>
              <p:cNvSpPr txBox="1">
                <a:spLocks noRot="1" noChangeAspect="1" noMove="1" noResize="1" noEditPoints="1" noAdjustHandles="1" noChangeArrowheads="1" noChangeShapeType="1" noTextEdit="1"/>
              </p:cNvSpPr>
              <p:nvPr/>
            </p:nvSpPr>
            <p:spPr>
              <a:xfrm>
                <a:off x="1426960" y="4913556"/>
                <a:ext cx="1902252" cy="369332"/>
              </a:xfrm>
              <a:prstGeom prst="rect">
                <a:avLst/>
              </a:prstGeom>
              <a:blipFill rotWithShape="1">
                <a:blip r:embed="rId5"/>
                <a:stretch>
                  <a:fillRect l="-6" t="-152" r="28" b="8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7080694" y="4559918"/>
                <a:ext cx="1410964" cy="369332"/>
              </a:xfrm>
              <a:prstGeom prst="rect">
                <a:avLst/>
              </a:prstGeom>
              <a:noFill/>
            </p:spPr>
            <p:txBody>
              <a:bodyPr wrap="none" rtlCol="0">
                <a:spAutoFit/>
              </a:bodyPr>
              <a:lstStyle/>
              <a:p>
                <a:r>
                  <a:rPr lang="zh-CN" altLang="en-US" dirty="0"/>
                  <a:t>阴影</a:t>
                </a:r>
                <a14:m>
                  <m:oMath xmlns:m="http://schemas.openxmlformats.org/officeDocument/2006/math">
                    <m:r>
                      <a:rPr lang="zh-CN" altLang="en-US" i="1" smtClean="0">
                        <a:latin typeface="Cambria Math" panose="02040503050406030204" charset="0"/>
                        <a:ea typeface="Cambria Math" panose="02040503050406030204" charset="0"/>
                        <a:cs typeface="Cambria Math" panose="02040503050406030204" charset="0"/>
                      </a:rPr>
                      <m:t>⇔</m:t>
                    </m:r>
                    <m:r>
                      <m:rPr>
                        <m:nor/>
                      </m:rPr>
                      <a:rPr lang="zh-CN" altLang="en-US">
                        <a:latin typeface="Cambria Math" panose="02040503050406030204" charset="0"/>
                      </a:rPr>
                      <m:t>透视</m:t>
                    </m:r>
                  </m:oMath>
                </a14:m>
                <a:endParaRPr lang="en-US" dirty="0"/>
              </a:p>
            </p:txBody>
          </p:sp>
        </mc:Choice>
        <mc:Fallback xmlns="">
          <p:sp>
            <p:nvSpPr>
              <p:cNvPr id="10" name="TextBox 9"/>
              <p:cNvSpPr txBox="1">
                <a:spLocks noRot="1" noChangeAspect="1" noMove="1" noResize="1" noEditPoints="1" noAdjustHandles="1" noChangeArrowheads="1" noChangeShapeType="1" noTextEdit="1"/>
              </p:cNvSpPr>
              <p:nvPr/>
            </p:nvSpPr>
            <p:spPr>
              <a:xfrm>
                <a:off x="7080694" y="4559918"/>
                <a:ext cx="1410964" cy="369332"/>
              </a:xfrm>
              <a:prstGeom prst="rect">
                <a:avLst/>
              </a:prstGeom>
              <a:blipFill rotWithShape="1">
                <a:blip r:embed="rId6"/>
                <a:stretch>
                  <a:fillRect l="-31" t="-167" r="31" b="103"/>
                </a:stretch>
              </a:blipFill>
            </p:spPr>
            <p:txBody>
              <a:bodyPr/>
              <a:lstStyle/>
              <a:p>
                <a:r>
                  <a:rPr lang="zh-CN" altLang="en-US">
                    <a:noFill/>
                  </a:rPr>
                  <a:t> </a:t>
                </a:r>
              </a:p>
            </p:txBody>
          </p:sp>
        </mc:Fallback>
      </mc:AlternateContent>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4" name="TextBox 13"/>
              <p:cNvSpPr txBox="1"/>
              <p:nvPr/>
            </p:nvSpPr>
            <p:spPr>
              <a:xfrm>
                <a:off x="1021496" y="4120326"/>
                <a:ext cx="4440767" cy="2585323"/>
              </a:xfrm>
              <a:prstGeom prst="rect">
                <a:avLst/>
              </a:prstGeom>
              <a:noFill/>
            </p:spPr>
            <p:txBody>
              <a:bodyPr wrap="none" rtlCol="0">
                <a:spAutoFit/>
              </a:bodyPr>
              <a:lstStyle/>
              <a:p>
                <a:pPr marL="342900" indent="-342900">
                  <a:buAutoNum type="arabicPeriod"/>
                </a:pPr>
                <a:r>
                  <a:rPr lang="zh-CN" altLang="en-US" dirty="0"/>
                  <a:t>将投影中心移至原点：</a:t>
                </a:r>
                <a14:m>
                  <m:oMath xmlns:m="http://schemas.openxmlformats.org/officeDocument/2006/math">
                    <m:r>
                      <a:rPr lang="en-US" altLang="zh-CN" b="0" i="1" smtClean="0">
                        <a:latin typeface="Cambria Math" panose="02040503050406030204" charset="0"/>
                      </a:rPr>
                      <m:t>𝑇</m:t>
                    </m:r>
                    <m:d>
                      <m:dPr>
                        <m:ctrlPr>
                          <a:rPr lang="en-US" altLang="zh-CN" b="0" i="1" smtClean="0">
                            <a:latin typeface="Cambria Math" panose="02040503050406030204" pitchFamily="18" charset="0"/>
                          </a:rPr>
                        </m:ctrlPr>
                      </m:dPr>
                      <m:e>
                        <m:sSub>
                          <m:sSubPr>
                            <m:ctrlPr>
                              <a:rPr lang="en-US" altLang="zh-CN" i="1">
                                <a:latin typeface="Cambria Math" panose="02040503050406030204" pitchFamily="18" charset="0"/>
                                <a:sym typeface="Wingdings" panose="05000000000000000000"/>
                              </a:rPr>
                            </m:ctrlPr>
                          </m:sSubPr>
                          <m:e>
                            <m:r>
                              <a:rPr lang="en-US" altLang="zh-CN" b="0" i="1" smtClean="0">
                                <a:latin typeface="Cambria Math" panose="02040503050406030204" charset="0"/>
                                <a:sym typeface="Wingdings" panose="05000000000000000000"/>
                              </a:rPr>
                              <m:t>−</m:t>
                            </m:r>
                            <m:r>
                              <a:rPr lang="en-US" altLang="zh-CN" i="1">
                                <a:latin typeface="Cambria Math" panose="02040503050406030204" charset="0"/>
                                <a:sym typeface="Wingdings" panose="05000000000000000000"/>
                              </a:rPr>
                              <m:t>𝑥</m:t>
                            </m:r>
                          </m:e>
                          <m:sub>
                            <m:r>
                              <a:rPr lang="en-US" altLang="zh-CN" i="1">
                                <a:latin typeface="Cambria Math" panose="02040503050406030204" charset="0"/>
                                <a:sym typeface="Wingdings" panose="05000000000000000000"/>
                              </a:rPr>
                              <m:t>𝑙</m:t>
                            </m:r>
                          </m:sub>
                        </m:sSub>
                        <m:r>
                          <a:rPr lang="en-US" altLang="zh-CN" i="1">
                            <a:latin typeface="Cambria Math" panose="02040503050406030204" charset="0"/>
                            <a:sym typeface="Wingdings" panose="05000000000000000000"/>
                          </a:rPr>
                          <m:t>,</m:t>
                        </m:r>
                        <m:r>
                          <a:rPr lang="en-US" altLang="zh-CN" b="0" i="1" smtClean="0">
                            <a:latin typeface="Cambria Math" panose="02040503050406030204" charset="0"/>
                            <a:sym typeface="Wingdings" panose="05000000000000000000"/>
                          </a:rPr>
                          <m:t>−</m:t>
                        </m:r>
                        <m:sSub>
                          <m:sSubPr>
                            <m:ctrlPr>
                              <a:rPr lang="en-US" altLang="zh-CN" i="1">
                                <a:latin typeface="Cambria Math" panose="02040503050406030204" pitchFamily="18" charset="0"/>
                                <a:sym typeface="Wingdings" panose="05000000000000000000"/>
                              </a:rPr>
                            </m:ctrlPr>
                          </m:sSubPr>
                          <m:e>
                            <m:r>
                              <a:rPr lang="en-US" altLang="zh-CN" i="1">
                                <a:latin typeface="Cambria Math" panose="02040503050406030204" charset="0"/>
                                <a:sym typeface="Wingdings" panose="05000000000000000000"/>
                              </a:rPr>
                              <m:t>𝑦</m:t>
                            </m:r>
                          </m:e>
                          <m:sub>
                            <m:r>
                              <a:rPr lang="en-US" altLang="zh-CN" i="1">
                                <a:latin typeface="Cambria Math" panose="02040503050406030204" charset="0"/>
                                <a:sym typeface="Wingdings" panose="05000000000000000000"/>
                              </a:rPr>
                              <m:t>𝑙</m:t>
                            </m:r>
                          </m:sub>
                        </m:sSub>
                        <m:r>
                          <a:rPr lang="en-US" altLang="zh-CN" i="1">
                            <a:latin typeface="Cambria Math" panose="02040503050406030204" charset="0"/>
                            <a:sym typeface="Wingdings" panose="05000000000000000000"/>
                          </a:rPr>
                          <m:t>,</m:t>
                        </m:r>
                        <m:r>
                          <a:rPr lang="zh-CN" altLang="en-US" i="1">
                            <a:latin typeface="Cambria Math" panose="02040503050406030204" charset="0"/>
                            <a:sym typeface="Wingdings" panose="05000000000000000000"/>
                          </a:rPr>
                          <m:t> </m:t>
                        </m:r>
                        <m:sSub>
                          <m:sSubPr>
                            <m:ctrlPr>
                              <a:rPr lang="en-US" altLang="zh-CN" i="1">
                                <a:latin typeface="Cambria Math" panose="02040503050406030204" pitchFamily="18" charset="0"/>
                                <a:sym typeface="Wingdings" panose="05000000000000000000"/>
                              </a:rPr>
                            </m:ctrlPr>
                          </m:sSubPr>
                          <m:e>
                            <m:r>
                              <a:rPr lang="en-US" altLang="zh-CN" b="0" i="1" smtClean="0">
                                <a:latin typeface="Cambria Math" panose="02040503050406030204" charset="0"/>
                                <a:sym typeface="Wingdings" panose="05000000000000000000"/>
                              </a:rPr>
                              <m:t>−</m:t>
                            </m:r>
                            <m:r>
                              <a:rPr lang="en-US" altLang="zh-CN" i="1">
                                <a:latin typeface="Cambria Math" panose="02040503050406030204" charset="0"/>
                                <a:sym typeface="Wingdings" panose="05000000000000000000"/>
                              </a:rPr>
                              <m:t>𝑧</m:t>
                            </m:r>
                          </m:e>
                          <m:sub>
                            <m:r>
                              <a:rPr lang="en-US" altLang="zh-CN" i="1">
                                <a:latin typeface="Cambria Math" panose="02040503050406030204" charset="0"/>
                                <a:sym typeface="Wingdings" panose="05000000000000000000"/>
                              </a:rPr>
                              <m:t>𝑙</m:t>
                            </m:r>
                          </m:sub>
                        </m:sSub>
                      </m:e>
                    </m:d>
                  </m:oMath>
                </a14:m>
                <a:endParaRPr lang="en-US" altLang="zh-CN" dirty="0"/>
              </a:p>
              <a:p>
                <a:pPr marL="342900" indent="-342900">
                  <a:buAutoNum type="arabicPeriod"/>
                </a:pPr>
                <a:r>
                  <a:rPr lang="zh-CN" altLang="en-US" dirty="0"/>
                  <a:t>投影至平面</a:t>
                </a:r>
                <a14:m>
                  <m:oMath xmlns:m="http://schemas.openxmlformats.org/officeDocument/2006/math">
                    <m:r>
                      <a:rPr lang="en-US" altLang="zh-CN" i="1" dirty="0">
                        <a:latin typeface="Cambria Math" panose="02040503050406030204" charset="0"/>
                        <a:sym typeface="Wingdings" panose="05000000000000000000"/>
                      </a:rPr>
                      <m:t>𝑦</m:t>
                    </m:r>
                    <m:r>
                      <a:rPr lang="en-US" altLang="zh-CN" i="1" dirty="0">
                        <a:latin typeface="Cambria Math" panose="02040503050406030204" charset="0"/>
                        <a:sym typeface="Wingdings" panose="05000000000000000000"/>
                      </a:rPr>
                      <m:t>=−</m:t>
                    </m:r>
                    <m:sSub>
                      <m:sSubPr>
                        <m:ctrlPr>
                          <a:rPr lang="en-US" altLang="zh-CN" i="1">
                            <a:latin typeface="Cambria Math" panose="02040503050406030204" pitchFamily="18" charset="0"/>
                            <a:sym typeface="Wingdings" panose="05000000000000000000"/>
                          </a:rPr>
                        </m:ctrlPr>
                      </m:sSubPr>
                      <m:e>
                        <m:r>
                          <a:rPr lang="en-US" altLang="zh-CN" i="1">
                            <a:latin typeface="Cambria Math" panose="02040503050406030204" charset="0"/>
                            <a:sym typeface="Wingdings" panose="05000000000000000000"/>
                          </a:rPr>
                          <m:t>𝑦</m:t>
                        </m:r>
                      </m:e>
                      <m:sub>
                        <m:r>
                          <a:rPr lang="en-US" altLang="zh-CN" i="1">
                            <a:latin typeface="Cambria Math" panose="02040503050406030204" charset="0"/>
                            <a:sym typeface="Wingdings" panose="05000000000000000000"/>
                          </a:rPr>
                          <m:t>𝑙</m:t>
                        </m:r>
                      </m:sub>
                    </m:sSub>
                  </m:oMath>
                </a14:m>
                <a:r>
                  <a:rPr lang="en-US" altLang="zh-CN" dirty="0"/>
                  <a:t>:</a:t>
                </a:r>
              </a:p>
              <a:p>
                <a:pPr marL="342900" indent="-342900">
                  <a:buAutoNum type="arabicPeriod"/>
                </a:pPr>
                <a:endParaRPr lang="en-US" dirty="0"/>
              </a:p>
              <a:p>
                <a:pPr marL="342900" indent="-342900">
                  <a:buAutoNum type="arabicPeriod"/>
                </a:pPr>
                <a:endParaRPr lang="en-US" dirty="0"/>
              </a:p>
              <a:p>
                <a:pPr marL="342900" indent="-342900">
                  <a:buAutoNum type="arabicPeriod"/>
                </a:pPr>
                <a:endParaRPr lang="en-US" dirty="0"/>
              </a:p>
              <a:p>
                <a:pPr marL="342900" indent="-342900">
                  <a:buAutoNum type="arabicPeriod"/>
                </a:pPr>
                <a:endParaRPr lang="en-US" altLang="zh-CN" dirty="0"/>
              </a:p>
              <a:p>
                <a:pPr marL="342900" indent="-342900">
                  <a:buAutoNum type="arabicPeriod"/>
                </a:pPr>
                <a:endParaRPr lang="en-US" altLang="zh-CN" dirty="0"/>
              </a:p>
              <a:p>
                <a:pPr marL="342900" indent="-342900">
                  <a:buAutoNum type="arabicPeriod"/>
                </a:pPr>
                <a:endParaRPr lang="en-US" altLang="zh-CN" dirty="0"/>
              </a:p>
              <a:p>
                <a:pPr marL="342900" indent="-342900">
                  <a:buAutoNum type="arabicPeriod"/>
                </a:pPr>
                <a:r>
                  <a:rPr lang="zh-CN" altLang="en-US" dirty="0"/>
                  <a:t>将投影中心移回</a:t>
                </a:r>
                <a14:m>
                  <m:oMath xmlns:m="http://schemas.openxmlformats.org/officeDocument/2006/math">
                    <m:d>
                      <m:dPr>
                        <m:ctrlPr>
                          <a:rPr lang="en-US" altLang="zh-CN" i="1">
                            <a:latin typeface="Cambria Math" panose="02040503050406030204" pitchFamily="18" charset="0"/>
                            <a:sym typeface="Wingdings" panose="05000000000000000000"/>
                          </a:rPr>
                        </m:ctrlPr>
                      </m:dPr>
                      <m:e>
                        <m:sSub>
                          <m:sSubPr>
                            <m:ctrlPr>
                              <a:rPr lang="en-US" altLang="zh-CN" i="1">
                                <a:latin typeface="Cambria Math" panose="02040503050406030204" pitchFamily="18" charset="0"/>
                                <a:sym typeface="Wingdings" panose="05000000000000000000"/>
                              </a:rPr>
                            </m:ctrlPr>
                          </m:sSubPr>
                          <m:e>
                            <m:r>
                              <a:rPr lang="en-US" altLang="zh-CN" i="1">
                                <a:latin typeface="Cambria Math" panose="02040503050406030204" charset="0"/>
                                <a:sym typeface="Wingdings" panose="05000000000000000000"/>
                              </a:rPr>
                              <m:t>𝑥</m:t>
                            </m:r>
                          </m:e>
                          <m:sub>
                            <m:r>
                              <a:rPr lang="en-US" altLang="zh-CN" i="1">
                                <a:latin typeface="Cambria Math" panose="02040503050406030204" charset="0"/>
                                <a:sym typeface="Wingdings" panose="05000000000000000000"/>
                              </a:rPr>
                              <m:t>𝑙</m:t>
                            </m:r>
                          </m:sub>
                        </m:sSub>
                        <m:r>
                          <a:rPr lang="en-US" altLang="zh-CN" i="1">
                            <a:latin typeface="Cambria Math" panose="02040503050406030204" charset="0"/>
                            <a:sym typeface="Wingdings" panose="05000000000000000000"/>
                          </a:rPr>
                          <m:t>,</m:t>
                        </m:r>
                        <m:sSub>
                          <m:sSubPr>
                            <m:ctrlPr>
                              <a:rPr lang="en-US" altLang="zh-CN" i="1">
                                <a:latin typeface="Cambria Math" panose="02040503050406030204" pitchFamily="18" charset="0"/>
                                <a:sym typeface="Wingdings" panose="05000000000000000000"/>
                              </a:rPr>
                            </m:ctrlPr>
                          </m:sSubPr>
                          <m:e>
                            <m:r>
                              <a:rPr lang="en-US" altLang="zh-CN" i="1">
                                <a:latin typeface="Cambria Math" panose="02040503050406030204" charset="0"/>
                                <a:sym typeface="Wingdings" panose="05000000000000000000"/>
                              </a:rPr>
                              <m:t>𝑦</m:t>
                            </m:r>
                          </m:e>
                          <m:sub>
                            <m:r>
                              <a:rPr lang="en-US" altLang="zh-CN" i="1">
                                <a:latin typeface="Cambria Math" panose="02040503050406030204" charset="0"/>
                                <a:sym typeface="Wingdings" panose="05000000000000000000"/>
                              </a:rPr>
                              <m:t>𝑙</m:t>
                            </m:r>
                          </m:sub>
                        </m:sSub>
                        <m:r>
                          <a:rPr lang="en-US" altLang="zh-CN" i="1">
                            <a:latin typeface="Cambria Math" panose="02040503050406030204" charset="0"/>
                            <a:sym typeface="Wingdings" panose="05000000000000000000"/>
                          </a:rPr>
                          <m:t>,</m:t>
                        </m:r>
                        <m:r>
                          <a:rPr lang="zh-CN" altLang="en-US" i="1">
                            <a:latin typeface="Cambria Math" panose="02040503050406030204" charset="0"/>
                            <a:sym typeface="Wingdings" panose="05000000000000000000"/>
                          </a:rPr>
                          <m:t> </m:t>
                        </m:r>
                        <m:sSub>
                          <m:sSubPr>
                            <m:ctrlPr>
                              <a:rPr lang="en-US" altLang="zh-CN" i="1">
                                <a:latin typeface="Cambria Math" panose="02040503050406030204" pitchFamily="18" charset="0"/>
                                <a:sym typeface="Wingdings" panose="05000000000000000000"/>
                              </a:rPr>
                            </m:ctrlPr>
                          </m:sSubPr>
                          <m:e>
                            <m:r>
                              <a:rPr lang="en-US" altLang="zh-CN" i="1">
                                <a:latin typeface="Cambria Math" panose="02040503050406030204" charset="0"/>
                                <a:sym typeface="Wingdings" panose="05000000000000000000"/>
                              </a:rPr>
                              <m:t>𝑧</m:t>
                            </m:r>
                          </m:e>
                          <m:sub>
                            <m:r>
                              <a:rPr lang="en-US" altLang="zh-CN" i="1">
                                <a:latin typeface="Cambria Math" panose="02040503050406030204" charset="0"/>
                                <a:sym typeface="Wingdings" panose="05000000000000000000"/>
                              </a:rPr>
                              <m:t>𝑙</m:t>
                            </m:r>
                          </m:sub>
                        </m:sSub>
                      </m:e>
                    </m:d>
                  </m:oMath>
                </a14:m>
                <a:r>
                  <a:rPr lang="en-US" altLang="zh-CN" dirty="0"/>
                  <a:t>: </a:t>
                </a:r>
                <a14:m>
                  <m:oMath xmlns:m="http://schemas.openxmlformats.org/officeDocument/2006/math">
                    <m:r>
                      <a:rPr lang="en-US" altLang="zh-CN" i="1">
                        <a:latin typeface="Cambria Math" panose="02040503050406030204" charset="0"/>
                      </a:rPr>
                      <m:t>𝑇</m:t>
                    </m:r>
                    <m:d>
                      <m:dPr>
                        <m:ctrlPr>
                          <a:rPr lang="en-US" altLang="zh-CN" i="1">
                            <a:latin typeface="Cambria Math" panose="02040503050406030204" pitchFamily="18" charset="0"/>
                          </a:rPr>
                        </m:ctrlPr>
                      </m:dPr>
                      <m:e>
                        <m:sSub>
                          <m:sSubPr>
                            <m:ctrlPr>
                              <a:rPr lang="en-US" altLang="zh-CN" i="1">
                                <a:latin typeface="Cambria Math" panose="02040503050406030204" pitchFamily="18" charset="0"/>
                                <a:sym typeface="Wingdings" panose="05000000000000000000"/>
                              </a:rPr>
                            </m:ctrlPr>
                          </m:sSubPr>
                          <m:e>
                            <m:r>
                              <a:rPr lang="en-US" altLang="zh-CN" i="1">
                                <a:latin typeface="Cambria Math" panose="02040503050406030204" charset="0"/>
                                <a:sym typeface="Wingdings" panose="05000000000000000000"/>
                              </a:rPr>
                              <m:t>𝑥</m:t>
                            </m:r>
                          </m:e>
                          <m:sub>
                            <m:r>
                              <a:rPr lang="en-US" altLang="zh-CN" i="1">
                                <a:latin typeface="Cambria Math" panose="02040503050406030204" charset="0"/>
                                <a:sym typeface="Wingdings" panose="05000000000000000000"/>
                              </a:rPr>
                              <m:t>𝑙</m:t>
                            </m:r>
                          </m:sub>
                        </m:sSub>
                        <m:r>
                          <a:rPr lang="en-US" altLang="zh-CN" i="1">
                            <a:latin typeface="Cambria Math" panose="02040503050406030204" charset="0"/>
                            <a:sym typeface="Wingdings" panose="05000000000000000000"/>
                          </a:rPr>
                          <m:t>,</m:t>
                        </m:r>
                        <m:sSub>
                          <m:sSubPr>
                            <m:ctrlPr>
                              <a:rPr lang="en-US" altLang="zh-CN" i="1">
                                <a:latin typeface="Cambria Math" panose="02040503050406030204" pitchFamily="18" charset="0"/>
                                <a:sym typeface="Wingdings" panose="05000000000000000000"/>
                              </a:rPr>
                            </m:ctrlPr>
                          </m:sSubPr>
                          <m:e>
                            <m:r>
                              <a:rPr lang="en-US" altLang="zh-CN" i="1">
                                <a:latin typeface="Cambria Math" panose="02040503050406030204" charset="0"/>
                                <a:sym typeface="Wingdings" panose="05000000000000000000"/>
                              </a:rPr>
                              <m:t>𝑦</m:t>
                            </m:r>
                          </m:e>
                          <m:sub>
                            <m:r>
                              <a:rPr lang="en-US" altLang="zh-CN" i="1">
                                <a:latin typeface="Cambria Math" panose="02040503050406030204" charset="0"/>
                                <a:sym typeface="Wingdings" panose="05000000000000000000"/>
                              </a:rPr>
                              <m:t>𝑙</m:t>
                            </m:r>
                          </m:sub>
                        </m:sSub>
                        <m:r>
                          <a:rPr lang="en-US" altLang="zh-CN" i="1">
                            <a:latin typeface="Cambria Math" panose="02040503050406030204" charset="0"/>
                            <a:sym typeface="Wingdings" panose="05000000000000000000"/>
                          </a:rPr>
                          <m:t>,</m:t>
                        </m:r>
                        <m:r>
                          <a:rPr lang="zh-CN" altLang="en-US" i="1">
                            <a:latin typeface="Cambria Math" panose="02040503050406030204" charset="0"/>
                            <a:sym typeface="Wingdings" panose="05000000000000000000"/>
                          </a:rPr>
                          <m:t> </m:t>
                        </m:r>
                        <m:sSub>
                          <m:sSubPr>
                            <m:ctrlPr>
                              <a:rPr lang="en-US" altLang="zh-CN" i="1">
                                <a:latin typeface="Cambria Math" panose="02040503050406030204" pitchFamily="18" charset="0"/>
                                <a:sym typeface="Wingdings" panose="05000000000000000000"/>
                              </a:rPr>
                            </m:ctrlPr>
                          </m:sSubPr>
                          <m:e>
                            <m:r>
                              <a:rPr lang="en-US" altLang="zh-CN" i="1">
                                <a:latin typeface="Cambria Math" panose="02040503050406030204" charset="0"/>
                                <a:sym typeface="Wingdings" panose="05000000000000000000"/>
                              </a:rPr>
                              <m:t>𝑧</m:t>
                            </m:r>
                          </m:e>
                          <m:sub>
                            <m:r>
                              <a:rPr lang="en-US" altLang="zh-CN" i="1">
                                <a:latin typeface="Cambria Math" panose="02040503050406030204" charset="0"/>
                                <a:sym typeface="Wingdings" panose="05000000000000000000"/>
                              </a:rPr>
                              <m:t>𝑙</m:t>
                            </m:r>
                          </m:sub>
                        </m:sSub>
                      </m:e>
                    </m:d>
                  </m:oMath>
                </a14:m>
                <a:endParaRPr lang="en-US" dirty="0"/>
              </a:p>
            </p:txBody>
          </p:sp>
        </mc:Choice>
        <mc:Fallback xmlns="">
          <p:sp>
            <p:nvSpPr>
              <p:cNvPr id="14" name="TextBox 13"/>
              <p:cNvSpPr txBox="1">
                <a:spLocks noRot="1" noChangeAspect="1" noMove="1" noResize="1" noEditPoints="1" noAdjustHandles="1" noChangeArrowheads="1" noChangeShapeType="1" noTextEdit="1"/>
              </p:cNvSpPr>
              <p:nvPr/>
            </p:nvSpPr>
            <p:spPr>
              <a:xfrm>
                <a:off x="1021496" y="4120326"/>
                <a:ext cx="4440767" cy="2585323"/>
              </a:xfrm>
              <a:prstGeom prst="rect">
                <a:avLst/>
              </a:prstGeom>
              <a:blipFill rotWithShape="1">
                <a:blip r:embed="rId2"/>
                <a:stretch>
                  <a:fillRect l="-9" t="-17" r="-372" b="2"/>
                </a:stretch>
              </a:blipFill>
            </p:spPr>
            <p:txBody>
              <a:bodyPr/>
              <a:lstStyle/>
              <a:p>
                <a:r>
                  <a:rPr lang="zh-CN" altLang="en-US">
                    <a:noFill/>
                  </a:rPr>
                  <a:t> </a:t>
                </a:r>
              </a:p>
            </p:txBody>
          </p:sp>
        </mc:Fallback>
      </mc:AlternateContent>
      <p:sp>
        <p:nvSpPr>
          <p:cNvPr id="2" name="标题 1"/>
          <p:cNvSpPr>
            <a:spLocks noGrp="1"/>
          </p:cNvSpPr>
          <p:nvPr>
            <p:ph type="title"/>
          </p:nvPr>
        </p:nvSpPr>
        <p:spPr/>
        <p:txBody>
          <a:bodyPr/>
          <a:lstStyle/>
          <a:p>
            <a:r>
              <a:rPr lang="zh-CN" altLang="en-US" dirty="0"/>
              <a:t>阴影效果</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a:bodyPr>
              <a:lstStyle/>
              <a:p>
                <a:r>
                  <a:rPr lang="zh-CN" altLang="en-US" dirty="0"/>
                  <a:t>透视投影矩阵：</a:t>
                </a:r>
                <a:endParaRPr lang="en-US" altLang="zh-CN" dirty="0"/>
              </a:p>
              <a:p>
                <a:pPr lvl="1">
                  <a:buClr>
                    <a:schemeClr val="tx1"/>
                  </a:buClr>
                </a:pPr>
                <a:r>
                  <a:rPr lang="zh-CN" altLang="en-US" dirty="0"/>
                  <a:t>投影中心在原点</a:t>
                </a:r>
                <a:endParaRPr lang="en-US" altLang="zh-CN" dirty="0"/>
              </a:p>
              <a:p>
                <a:pPr lvl="1">
                  <a:buClr>
                    <a:schemeClr val="tx1"/>
                  </a:buClr>
                </a:pPr>
                <a:r>
                  <a:rPr lang="zh-CN" altLang="en-US" dirty="0"/>
                  <a:t>投影平面为</a:t>
                </a:r>
                <a14:m>
                  <m:oMath xmlns:m="http://schemas.openxmlformats.org/officeDocument/2006/math">
                    <m:r>
                      <a:rPr lang="en-US" altLang="zh-CN" i="1" dirty="0">
                        <a:latin typeface="Cambria Math" panose="02040503050406030204" charset="0"/>
                      </a:rPr>
                      <m:t>𝑧</m:t>
                    </m:r>
                    <m:r>
                      <a:rPr lang="en-US" altLang="zh-CN" i="1" dirty="0">
                        <a:latin typeface="Cambria Math" panose="02040503050406030204" charset="0"/>
                      </a:rPr>
                      <m:t>=</m:t>
                    </m:r>
                    <m:r>
                      <a:rPr lang="en-US" altLang="zh-CN" i="1" dirty="0">
                        <a:latin typeface="Cambria Math" panose="02040503050406030204" charset="0"/>
                      </a:rPr>
                      <m:t>𝑑</m:t>
                    </m:r>
                    <m:r>
                      <a:rPr lang="en-US" altLang="zh-CN" i="1" dirty="0">
                        <a:latin typeface="Cambria Math" panose="02040503050406030204" charset="0"/>
                      </a:rPr>
                      <m:t>, </m:t>
                    </m:r>
                    <m:r>
                      <a:rPr lang="en-US" altLang="zh-CN" i="1" dirty="0">
                        <a:latin typeface="Cambria Math" panose="02040503050406030204" charset="0"/>
                      </a:rPr>
                      <m:t>𝑑</m:t>
                    </m:r>
                    <m:r>
                      <a:rPr lang="en-US" altLang="zh-CN" i="1" dirty="0">
                        <a:latin typeface="Cambria Math" panose="02040503050406030204" charset="0"/>
                      </a:rPr>
                      <m:t>&lt;0</m:t>
                    </m:r>
                  </m:oMath>
                </a14:m>
                <a:endParaRPr lang="en-US" altLang="zh-CN" dirty="0"/>
              </a:p>
              <a:p>
                <a:pPr lvl="1"/>
                <a:endParaRPr lang="en-US" altLang="zh-CN" dirty="0"/>
              </a:p>
              <a:p>
                <a:r>
                  <a:rPr lang="zh-CN" altLang="en-US" dirty="0"/>
                  <a:t>阴影投影矩阵：</a:t>
                </a:r>
                <a:endParaRPr lang="en-US" altLang="zh-CN" dirty="0"/>
              </a:p>
              <a:p>
                <a:pPr lvl="1"/>
                <a:r>
                  <a:rPr lang="zh-CN" altLang="en-US" dirty="0"/>
                  <a:t>投影中心在</a:t>
                </a:r>
                <a14:m>
                  <m:oMath xmlns:m="http://schemas.openxmlformats.org/officeDocument/2006/math">
                    <m:d>
                      <m:dPr>
                        <m:ctrlPr>
                          <a:rPr lang="en-US" altLang="zh-CN" i="1">
                            <a:latin typeface="Cambria Math" panose="02040503050406030204" pitchFamily="18" charset="0"/>
                            <a:sym typeface="Wingdings" panose="05000000000000000000"/>
                          </a:rPr>
                        </m:ctrlPr>
                      </m:dPr>
                      <m:e>
                        <m:sSub>
                          <m:sSubPr>
                            <m:ctrlPr>
                              <a:rPr lang="en-US" altLang="zh-CN" i="1">
                                <a:latin typeface="Cambria Math" panose="02040503050406030204" pitchFamily="18" charset="0"/>
                                <a:sym typeface="Wingdings" panose="05000000000000000000"/>
                              </a:rPr>
                            </m:ctrlPr>
                          </m:sSubPr>
                          <m:e>
                            <m:r>
                              <a:rPr lang="en-US" altLang="zh-CN" i="1">
                                <a:latin typeface="Cambria Math" panose="02040503050406030204" charset="0"/>
                                <a:sym typeface="Wingdings" panose="05000000000000000000"/>
                              </a:rPr>
                              <m:t>𝑥</m:t>
                            </m:r>
                          </m:e>
                          <m:sub>
                            <m:r>
                              <a:rPr lang="en-US" altLang="zh-CN" i="1">
                                <a:latin typeface="Cambria Math" panose="02040503050406030204" charset="0"/>
                                <a:sym typeface="Wingdings" panose="05000000000000000000"/>
                              </a:rPr>
                              <m:t>𝑙</m:t>
                            </m:r>
                          </m:sub>
                        </m:sSub>
                        <m:r>
                          <a:rPr lang="en-US" altLang="zh-CN" i="1">
                            <a:latin typeface="Cambria Math" panose="02040503050406030204" charset="0"/>
                            <a:sym typeface="Wingdings" panose="05000000000000000000"/>
                          </a:rPr>
                          <m:t>,</m:t>
                        </m:r>
                        <m:sSub>
                          <m:sSubPr>
                            <m:ctrlPr>
                              <a:rPr lang="en-US" altLang="zh-CN" i="1">
                                <a:latin typeface="Cambria Math" panose="02040503050406030204" pitchFamily="18" charset="0"/>
                                <a:sym typeface="Wingdings" panose="05000000000000000000"/>
                              </a:rPr>
                            </m:ctrlPr>
                          </m:sSubPr>
                          <m:e>
                            <m:r>
                              <a:rPr lang="en-US" altLang="zh-CN" i="1">
                                <a:latin typeface="Cambria Math" panose="02040503050406030204" charset="0"/>
                                <a:sym typeface="Wingdings" panose="05000000000000000000"/>
                              </a:rPr>
                              <m:t>𝑦</m:t>
                            </m:r>
                          </m:e>
                          <m:sub>
                            <m:r>
                              <a:rPr lang="en-US" altLang="zh-CN" i="1">
                                <a:latin typeface="Cambria Math" panose="02040503050406030204" charset="0"/>
                                <a:sym typeface="Wingdings" panose="05000000000000000000"/>
                              </a:rPr>
                              <m:t>𝑙</m:t>
                            </m:r>
                          </m:sub>
                        </m:sSub>
                        <m:r>
                          <a:rPr lang="en-US" altLang="zh-CN" i="1">
                            <a:latin typeface="Cambria Math" panose="02040503050406030204" charset="0"/>
                            <a:sym typeface="Wingdings" panose="05000000000000000000"/>
                          </a:rPr>
                          <m:t>,</m:t>
                        </m:r>
                        <m:r>
                          <a:rPr lang="zh-CN" altLang="en-US" i="1">
                            <a:latin typeface="Cambria Math" panose="02040503050406030204" charset="0"/>
                            <a:sym typeface="Wingdings" panose="05000000000000000000"/>
                          </a:rPr>
                          <m:t> </m:t>
                        </m:r>
                        <m:sSub>
                          <m:sSubPr>
                            <m:ctrlPr>
                              <a:rPr lang="en-US" altLang="zh-CN" i="1">
                                <a:latin typeface="Cambria Math" panose="02040503050406030204" pitchFamily="18" charset="0"/>
                                <a:sym typeface="Wingdings" panose="05000000000000000000"/>
                              </a:rPr>
                            </m:ctrlPr>
                          </m:sSubPr>
                          <m:e>
                            <m:r>
                              <a:rPr lang="en-US" altLang="zh-CN" i="1">
                                <a:latin typeface="Cambria Math" panose="02040503050406030204" charset="0"/>
                                <a:sym typeface="Wingdings" panose="05000000000000000000"/>
                              </a:rPr>
                              <m:t>𝑧</m:t>
                            </m:r>
                          </m:e>
                          <m:sub>
                            <m:r>
                              <a:rPr lang="en-US" altLang="zh-CN" i="1">
                                <a:latin typeface="Cambria Math" panose="02040503050406030204" charset="0"/>
                                <a:sym typeface="Wingdings" panose="05000000000000000000"/>
                              </a:rPr>
                              <m:t>𝑙</m:t>
                            </m:r>
                          </m:sub>
                        </m:sSub>
                      </m:e>
                    </m:d>
                  </m:oMath>
                </a14:m>
                <a:endParaRPr lang="en-US" dirty="0"/>
              </a:p>
              <a:p>
                <a:pPr lvl="1"/>
                <a:r>
                  <a:rPr lang="zh-CN" altLang="en-US" dirty="0">
                    <a:sym typeface="Wingdings" panose="05000000000000000000"/>
                  </a:rPr>
                  <a:t>投影平面为</a:t>
                </a:r>
                <a14:m>
                  <m:oMath xmlns:m="http://schemas.openxmlformats.org/officeDocument/2006/math">
                    <m:r>
                      <a:rPr lang="en-US" altLang="zh-CN" i="1" dirty="0">
                        <a:latin typeface="Cambria Math" panose="02040503050406030204" charset="0"/>
                        <a:sym typeface="Wingdings" panose="05000000000000000000"/>
                      </a:rPr>
                      <m:t>𝑦</m:t>
                    </m:r>
                    <m:r>
                      <a:rPr lang="en-US" altLang="zh-CN" i="1" dirty="0">
                        <a:latin typeface="Cambria Math" panose="02040503050406030204" charset="0"/>
                        <a:sym typeface="Wingdings" panose="05000000000000000000"/>
                      </a:rPr>
                      <m:t>=0</m:t>
                    </m:r>
                  </m:oMath>
                </a14:m>
                <a:endParaRPr lang="en-US" dirty="0"/>
              </a:p>
              <a:p>
                <a:pPr lvl="1"/>
                <a:endParaRPr lang="en-US" dirty="0"/>
              </a:p>
              <a:p>
                <a:pPr lvl="1"/>
                <a:endParaRPr lang="en-US" altLang="zh-CN" dirty="0"/>
              </a:p>
            </p:txBody>
          </p:sp>
        </mc:Choice>
        <mc:Fallback xmlns="">
          <p:sp>
            <p:nvSpPr>
              <p:cNvPr id="3" name="内容占位符 2"/>
              <p:cNvSpPr>
                <a:spLocks noRot="1" noChangeAspect="1" noMove="1" noResize="1" noEditPoints="1" noAdjustHandles="1" noChangeArrowheads="1" noChangeShapeType="1" noTextEdit="1"/>
              </p:cNvSpPr>
              <p:nvPr>
                <p:ph idx="1"/>
              </p:nvPr>
            </p:nvSpPr>
            <p:spPr>
              <a:blipFill rotWithShape="1">
                <a:blip r:embed="rId3"/>
                <a:stretch>
                  <a:fillRect t="-478" b="4"/>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66</a:t>
            </a:fld>
            <a:endParaRPr lang="zh-CN" altLang="en-US"/>
          </a:p>
        </p:txBody>
      </p:sp>
      <p:pic>
        <p:nvPicPr>
          <p:cNvPr id="7" name="图片 6"/>
          <p:cNvPicPr>
            <a:picLocks noChangeAspect="1"/>
          </p:cNvPicPr>
          <p:nvPr/>
        </p:nvPicPr>
        <p:blipFill>
          <a:blip r:embed="rId4"/>
          <a:stretch>
            <a:fillRect/>
          </a:stretch>
        </p:blipFill>
        <p:spPr>
          <a:xfrm>
            <a:off x="5855109" y="2753335"/>
            <a:ext cx="1562208" cy="1805743"/>
          </a:xfrm>
          <a:prstGeom prst="rect">
            <a:avLst/>
          </a:prstGeom>
        </p:spPr>
      </p:pic>
      <p:pic>
        <p:nvPicPr>
          <p:cNvPr id="8" name="图片 7"/>
          <p:cNvPicPr>
            <a:picLocks noChangeAspect="1"/>
          </p:cNvPicPr>
          <p:nvPr/>
        </p:nvPicPr>
        <p:blipFill>
          <a:blip r:embed="rId5"/>
          <a:stretch>
            <a:fillRect/>
          </a:stretch>
        </p:blipFill>
        <p:spPr>
          <a:xfrm>
            <a:off x="1473336" y="4888397"/>
            <a:ext cx="2143492" cy="1297918"/>
          </a:xfrm>
          <a:prstGeom prst="rect">
            <a:avLst/>
          </a:prstGeom>
        </p:spPr>
      </p:pic>
      <p:pic>
        <p:nvPicPr>
          <p:cNvPr id="10" name="图片 14"/>
          <p:cNvPicPr>
            <a:picLocks noChangeAspect="1"/>
          </p:cNvPicPr>
          <p:nvPr/>
        </p:nvPicPr>
        <p:blipFill>
          <a:blip r:embed="rId6"/>
          <a:stretch>
            <a:fillRect/>
          </a:stretch>
        </p:blipFill>
        <p:spPr>
          <a:xfrm>
            <a:off x="4223003" y="1145028"/>
            <a:ext cx="3600035" cy="1470535"/>
          </a:xfrm>
          <a:prstGeom prst="rect">
            <a:avLst/>
          </a:prstGeom>
        </p:spPr>
      </p:pic>
      <p:pic>
        <p:nvPicPr>
          <p:cNvPr id="11" name="图片 8"/>
          <p:cNvPicPr>
            <a:picLocks noChangeAspect="1"/>
          </p:cNvPicPr>
          <p:nvPr/>
        </p:nvPicPr>
        <p:blipFill>
          <a:blip r:embed="rId7"/>
          <a:stretch>
            <a:fillRect/>
          </a:stretch>
        </p:blipFill>
        <p:spPr>
          <a:xfrm>
            <a:off x="8156241" y="1581357"/>
            <a:ext cx="933264" cy="999461"/>
          </a:xfrm>
          <a:prstGeom prst="rect">
            <a:avLst/>
          </a:prstGeom>
        </p:spPr>
      </p:pic>
      <mc:AlternateContent xmlns:mc="http://schemas.openxmlformats.org/markup-compatibility/2006" xmlns:a14="http://schemas.microsoft.com/office/drawing/2010/main">
        <mc:Choice Requires="a14">
          <p:sp>
            <p:nvSpPr>
              <p:cNvPr id="6" name="TextBox 5"/>
              <p:cNvSpPr txBox="1"/>
              <p:nvPr/>
            </p:nvSpPr>
            <p:spPr>
              <a:xfrm>
                <a:off x="7845940" y="1963855"/>
                <a:ext cx="25327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charset="0"/>
                          <a:ea typeface="Cambria Math" panose="02040503050406030204" charset="0"/>
                          <a:cs typeface="Cambria Math" panose="02040503050406030204" charset="0"/>
                        </a:rPr>
                        <m:t>⇒</m:t>
                      </m:r>
                    </m:oMath>
                  </m:oMathPara>
                </a14:m>
                <a:endParaRPr lang="en-US" dirty="0"/>
              </a:p>
            </p:txBody>
          </p:sp>
        </mc:Choice>
        <mc:Fallback xmlns="">
          <p:sp>
            <p:nvSpPr>
              <p:cNvPr id="6" name="TextBox 5"/>
              <p:cNvSpPr txBox="1">
                <a:spLocks noRot="1" noChangeAspect="1" noMove="1" noResize="1" noEditPoints="1" noAdjustHandles="1" noChangeArrowheads="1" noChangeShapeType="1" noTextEdit="1"/>
              </p:cNvSpPr>
              <p:nvPr/>
            </p:nvSpPr>
            <p:spPr>
              <a:xfrm>
                <a:off x="7845940" y="1963855"/>
                <a:ext cx="253274" cy="276999"/>
              </a:xfrm>
              <a:prstGeom prst="rect">
                <a:avLst/>
              </a:prstGeom>
              <a:blipFill rotWithShape="1">
                <a:blip r:embed="rId8"/>
                <a:stretch>
                  <a:fillRect l="-203" t="-157" r="-9611" b="207"/>
                </a:stretch>
              </a:blipFill>
            </p:spPr>
            <p:txBody>
              <a:bodyPr/>
              <a:lstStyle/>
              <a:p>
                <a:r>
                  <a:rPr lang="zh-CN" altLang="en-US">
                    <a:noFill/>
                  </a:rPr>
                  <a:t> </a:t>
                </a:r>
              </a:p>
            </p:txBody>
          </p:sp>
        </mc:Fallback>
      </mc:AlternateContent>
      <p:sp>
        <p:nvSpPr>
          <p:cNvPr id="13" name="Right Arrow 12"/>
          <p:cNvSpPr/>
          <p:nvPr/>
        </p:nvSpPr>
        <p:spPr>
          <a:xfrm>
            <a:off x="673027" y="4194969"/>
            <a:ext cx="170120" cy="25518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Cross 17"/>
          <p:cNvSpPr/>
          <p:nvPr/>
        </p:nvSpPr>
        <p:spPr>
          <a:xfrm>
            <a:off x="3786525" y="5392358"/>
            <a:ext cx="282143" cy="282143"/>
          </a:xfrm>
          <a:prstGeom prst="plus">
            <a:avLst>
              <a:gd name="adj" fmla="val 4007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p:cNvSpPr/>
          <p:nvPr/>
        </p:nvSpPr>
        <p:spPr>
          <a:xfrm>
            <a:off x="4134623" y="5348763"/>
            <a:ext cx="1107996" cy="369332"/>
          </a:xfrm>
          <a:prstGeom prst="rect">
            <a:avLst/>
          </a:prstGeom>
        </p:spPr>
        <p:txBody>
          <a:bodyPr wrap="none">
            <a:spAutoFit/>
          </a:bodyPr>
          <a:lstStyle/>
          <a:p>
            <a:r>
              <a:rPr lang="zh-CN" altLang="en-US">
                <a:solidFill>
                  <a:srgbClr val="0000FF"/>
                </a:solidFill>
              </a:rPr>
              <a:t>透视除法</a:t>
            </a:r>
            <a:endParaRPr lang="zh-CN" altLang="en-US" dirty="0">
              <a:solidFill>
                <a:srgbClr val="0000FF"/>
              </a:solidFill>
            </a:endParaRPr>
          </a:p>
        </p:txBody>
      </p:sp>
      <p:sp>
        <p:nvSpPr>
          <p:cNvPr id="21" name="Right Brace 20"/>
          <p:cNvSpPr/>
          <p:nvPr/>
        </p:nvSpPr>
        <p:spPr>
          <a:xfrm>
            <a:off x="5383708" y="4322559"/>
            <a:ext cx="447767" cy="2199680"/>
          </a:xfrm>
          <a:prstGeom prst="righ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7" name="TextBox 26"/>
              <p:cNvSpPr txBox="1"/>
              <p:nvPr/>
            </p:nvSpPr>
            <p:spPr>
              <a:xfrm>
                <a:off x="6201577" y="4644980"/>
                <a:ext cx="1907382" cy="52168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charset="0"/>
                            </a:rPr>
                            <m:t>𝑥</m:t>
                          </m:r>
                        </m:e>
                        <m:sub>
                          <m:r>
                            <a:rPr lang="en-US" altLang="zh-CN" b="0" i="1" smtClean="0">
                              <a:latin typeface="Cambria Math" panose="02040503050406030204" charset="0"/>
                            </a:rPr>
                            <m:t>𝑝</m:t>
                          </m:r>
                        </m:sub>
                      </m:sSub>
                      <m:r>
                        <a:rPr lang="en-US" altLang="zh-CN" b="0" i="1" smtClean="0">
                          <a:latin typeface="Cambria Math" panose="02040503050406030204"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charset="0"/>
                            </a:rPr>
                            <m:t>𝑥</m:t>
                          </m:r>
                        </m:e>
                        <m:sub>
                          <m:r>
                            <a:rPr lang="en-US" altLang="zh-CN" b="0" i="1" smtClean="0">
                              <a:latin typeface="Cambria Math" panose="02040503050406030204" charset="0"/>
                            </a:rPr>
                            <m:t>𝑙</m:t>
                          </m:r>
                        </m:sub>
                      </m:sSub>
                      <m:r>
                        <a:rPr lang="en-US" altLang="zh-CN" b="0" i="1" smtClean="0">
                          <a:latin typeface="Cambria Math" panose="02040503050406030204"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charset="0"/>
                            </a:rPr>
                            <m:t>𝑥</m:t>
                          </m:r>
                          <m:r>
                            <a:rPr lang="en-US" altLang="zh-CN" b="0" i="1" smtClean="0">
                              <a:latin typeface="Cambria Math" panose="02040503050406030204"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charset="0"/>
                                </a:rPr>
                                <m:t>𝑥</m:t>
                              </m:r>
                            </m:e>
                            <m:sub>
                              <m:r>
                                <a:rPr lang="en-US" altLang="zh-CN" b="0" i="1" smtClean="0">
                                  <a:latin typeface="Cambria Math" panose="02040503050406030204" charset="0"/>
                                </a:rPr>
                                <m:t>𝑙</m:t>
                              </m:r>
                            </m:sub>
                          </m:sSub>
                        </m:num>
                        <m:den>
                          <m:r>
                            <a:rPr lang="en-US" altLang="zh-CN" b="0" i="1" smtClean="0">
                              <a:latin typeface="Cambria Math" panose="02040503050406030204" charset="0"/>
                            </a:rPr>
                            <m:t>𝑦</m:t>
                          </m:r>
                          <m:r>
                            <a:rPr lang="en-US" altLang="zh-CN" b="0" i="1" smtClean="0">
                              <a:latin typeface="Cambria Math" panose="02040503050406030204"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charset="0"/>
                                </a:rPr>
                                <m:t>𝑦</m:t>
                              </m:r>
                            </m:e>
                            <m:sub>
                              <m:r>
                                <a:rPr lang="en-US" altLang="zh-CN" b="0" i="1" smtClean="0">
                                  <a:latin typeface="Cambria Math" panose="02040503050406030204" charset="0"/>
                                </a:rPr>
                                <m:t>𝑙</m:t>
                              </m:r>
                            </m:sub>
                          </m:sSub>
                        </m:den>
                      </m:f>
                      <m:sSub>
                        <m:sSubPr>
                          <m:ctrlPr>
                            <a:rPr lang="en-US" altLang="zh-CN" b="0" i="1" smtClean="0">
                              <a:latin typeface="Cambria Math" panose="02040503050406030204" pitchFamily="18" charset="0"/>
                            </a:rPr>
                          </m:ctrlPr>
                        </m:sSubPr>
                        <m:e>
                          <m:r>
                            <a:rPr lang="en-US" altLang="zh-CN" b="0" i="1" smtClean="0">
                              <a:latin typeface="Cambria Math" panose="02040503050406030204" charset="0"/>
                            </a:rPr>
                            <m:t>𝑦</m:t>
                          </m:r>
                        </m:e>
                        <m:sub>
                          <m:r>
                            <a:rPr lang="en-US" altLang="zh-CN" b="0" i="1" smtClean="0">
                              <a:latin typeface="Cambria Math" panose="02040503050406030204" charset="0"/>
                            </a:rPr>
                            <m:t>𝑙</m:t>
                          </m:r>
                        </m:sub>
                      </m:sSub>
                    </m:oMath>
                  </m:oMathPara>
                </a14:m>
                <a:endParaRPr lang="en-US" altLang="zh-CN" b="0" dirty="0"/>
              </a:p>
            </p:txBody>
          </p:sp>
        </mc:Choice>
        <mc:Fallback xmlns="">
          <p:sp>
            <p:nvSpPr>
              <p:cNvPr id="27" name="TextBox 26"/>
              <p:cNvSpPr txBox="1">
                <a:spLocks noRot="1" noChangeAspect="1" noMove="1" noResize="1" noEditPoints="1" noAdjustHandles="1" noChangeArrowheads="1" noChangeShapeType="1" noTextEdit="1"/>
              </p:cNvSpPr>
              <p:nvPr/>
            </p:nvSpPr>
            <p:spPr>
              <a:xfrm>
                <a:off x="6201577" y="4644980"/>
                <a:ext cx="1907382" cy="521681"/>
              </a:xfrm>
              <a:prstGeom prst="rect">
                <a:avLst/>
              </a:prstGeom>
              <a:blipFill rotWithShape="1">
                <a:blip r:embed="rId9"/>
                <a:stretch>
                  <a:fillRect l="-9" t="-113" r="-532" b="5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TextBox 27"/>
              <p:cNvSpPr txBox="1"/>
              <p:nvPr/>
            </p:nvSpPr>
            <p:spPr>
              <a:xfrm>
                <a:off x="6235431" y="5267158"/>
                <a:ext cx="709489" cy="29841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charset="0"/>
                            </a:rPr>
                            <m:t>𝑦</m:t>
                          </m:r>
                        </m:e>
                        <m:sub>
                          <m:r>
                            <a:rPr lang="en-US" altLang="zh-CN" b="0" i="1" smtClean="0">
                              <a:latin typeface="Cambria Math" panose="02040503050406030204" charset="0"/>
                            </a:rPr>
                            <m:t>𝑝</m:t>
                          </m:r>
                        </m:sub>
                      </m:sSub>
                      <m:r>
                        <a:rPr lang="en-US" altLang="zh-CN" b="0" i="1" smtClean="0">
                          <a:latin typeface="Cambria Math" panose="02040503050406030204" charset="0"/>
                        </a:rPr>
                        <m:t>=0</m:t>
                      </m:r>
                    </m:oMath>
                  </m:oMathPara>
                </a14:m>
                <a:endParaRPr lang="en-US" altLang="zh-CN" b="0" dirty="0"/>
              </a:p>
            </p:txBody>
          </p:sp>
        </mc:Choice>
        <mc:Fallback xmlns="">
          <p:sp>
            <p:nvSpPr>
              <p:cNvPr id="28" name="TextBox 27"/>
              <p:cNvSpPr txBox="1">
                <a:spLocks noRot="1" noChangeAspect="1" noMove="1" noResize="1" noEditPoints="1" noAdjustHandles="1" noChangeArrowheads="1" noChangeShapeType="1" noTextEdit="1"/>
              </p:cNvSpPr>
              <p:nvPr/>
            </p:nvSpPr>
            <p:spPr>
              <a:xfrm>
                <a:off x="6235431" y="5267158"/>
                <a:ext cx="709489" cy="298415"/>
              </a:xfrm>
              <a:prstGeom prst="rect">
                <a:avLst/>
              </a:prstGeom>
              <a:blipFill rotWithShape="1">
                <a:blip r:embed="rId10"/>
                <a:stretch>
                  <a:fillRect l="-52" t="-157" r="-4217" b="14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 name="TextBox 28"/>
              <p:cNvSpPr txBox="1"/>
              <p:nvPr/>
            </p:nvSpPr>
            <p:spPr>
              <a:xfrm>
                <a:off x="6235431" y="5793512"/>
                <a:ext cx="1892762" cy="52168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charset="0"/>
                            </a:rPr>
                            <m:t>𝑧</m:t>
                          </m:r>
                        </m:e>
                        <m:sub>
                          <m:r>
                            <a:rPr lang="en-US" altLang="zh-CN" b="0" i="1" smtClean="0">
                              <a:latin typeface="Cambria Math" panose="02040503050406030204" charset="0"/>
                            </a:rPr>
                            <m:t>𝑝</m:t>
                          </m:r>
                        </m:sub>
                      </m:sSub>
                      <m:r>
                        <a:rPr lang="en-US" altLang="zh-CN" b="0" i="1" smtClean="0">
                          <a:latin typeface="Cambria Math" panose="02040503050406030204"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charset="0"/>
                            </a:rPr>
                            <m:t>𝑧</m:t>
                          </m:r>
                        </m:e>
                        <m:sub>
                          <m:r>
                            <a:rPr lang="en-US" altLang="zh-CN" b="0" i="1" smtClean="0">
                              <a:latin typeface="Cambria Math" panose="02040503050406030204" charset="0"/>
                            </a:rPr>
                            <m:t>𝑙</m:t>
                          </m:r>
                        </m:sub>
                      </m:sSub>
                      <m:r>
                        <a:rPr lang="en-US" altLang="zh-CN" b="0" i="1" smtClean="0">
                          <a:latin typeface="Cambria Math" panose="02040503050406030204"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charset="0"/>
                            </a:rPr>
                            <m:t>𝑧</m:t>
                          </m:r>
                          <m:r>
                            <a:rPr lang="en-US" altLang="zh-CN" b="0" i="1" smtClean="0">
                              <a:latin typeface="Cambria Math" panose="02040503050406030204"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charset="0"/>
                                </a:rPr>
                                <m:t>𝑧</m:t>
                              </m:r>
                            </m:e>
                            <m:sub>
                              <m:r>
                                <a:rPr lang="en-US" altLang="zh-CN" b="0" i="1" smtClean="0">
                                  <a:latin typeface="Cambria Math" panose="02040503050406030204" charset="0"/>
                                </a:rPr>
                                <m:t>𝑙</m:t>
                              </m:r>
                            </m:sub>
                          </m:sSub>
                        </m:num>
                        <m:den>
                          <m:r>
                            <a:rPr lang="en-US" altLang="zh-CN" b="0" i="1" smtClean="0">
                              <a:latin typeface="Cambria Math" panose="02040503050406030204" charset="0"/>
                            </a:rPr>
                            <m:t>𝑦</m:t>
                          </m:r>
                          <m:r>
                            <a:rPr lang="en-US" altLang="zh-CN" b="0" i="1" smtClean="0">
                              <a:latin typeface="Cambria Math" panose="02040503050406030204"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charset="0"/>
                                </a:rPr>
                                <m:t>𝑦</m:t>
                              </m:r>
                            </m:e>
                            <m:sub>
                              <m:r>
                                <a:rPr lang="en-US" altLang="zh-CN" b="0" i="1" smtClean="0">
                                  <a:latin typeface="Cambria Math" panose="02040503050406030204" charset="0"/>
                                </a:rPr>
                                <m:t>𝑙</m:t>
                              </m:r>
                            </m:sub>
                          </m:sSub>
                        </m:den>
                      </m:f>
                      <m:sSub>
                        <m:sSubPr>
                          <m:ctrlPr>
                            <a:rPr lang="en-US" altLang="zh-CN" b="0" i="1" smtClean="0">
                              <a:latin typeface="Cambria Math" panose="02040503050406030204" pitchFamily="18" charset="0"/>
                            </a:rPr>
                          </m:ctrlPr>
                        </m:sSubPr>
                        <m:e>
                          <m:r>
                            <a:rPr lang="en-US" altLang="zh-CN" b="0" i="1" smtClean="0">
                              <a:latin typeface="Cambria Math" panose="02040503050406030204" charset="0"/>
                            </a:rPr>
                            <m:t>𝑦</m:t>
                          </m:r>
                        </m:e>
                        <m:sub>
                          <m:r>
                            <a:rPr lang="en-US" altLang="zh-CN" b="0" i="1" smtClean="0">
                              <a:latin typeface="Cambria Math" panose="02040503050406030204" charset="0"/>
                            </a:rPr>
                            <m:t>𝑙</m:t>
                          </m:r>
                        </m:sub>
                      </m:sSub>
                    </m:oMath>
                  </m:oMathPara>
                </a14:m>
                <a:endParaRPr lang="en-US" altLang="zh-CN" b="0" dirty="0"/>
              </a:p>
            </p:txBody>
          </p:sp>
        </mc:Choice>
        <mc:Fallback xmlns="">
          <p:sp>
            <p:nvSpPr>
              <p:cNvPr id="29" name="TextBox 28"/>
              <p:cNvSpPr txBox="1">
                <a:spLocks noRot="1" noChangeAspect="1" noMove="1" noResize="1" noEditPoints="1" noAdjustHandles="1" noChangeArrowheads="1" noChangeShapeType="1" noTextEdit="1"/>
              </p:cNvSpPr>
              <p:nvPr/>
            </p:nvSpPr>
            <p:spPr>
              <a:xfrm>
                <a:off x="6235431" y="5793512"/>
                <a:ext cx="1892762" cy="521681"/>
              </a:xfrm>
              <a:prstGeom prst="rect">
                <a:avLst/>
              </a:prstGeom>
              <a:blipFill rotWithShape="1">
                <a:blip r:embed="rId11"/>
                <a:stretch>
                  <a:fillRect l="-19" t="-78" r="-292" b="23"/>
                </a:stretch>
              </a:blipFill>
            </p:spPr>
            <p:txBody>
              <a:bodyPr/>
              <a:lstStyle/>
              <a:p>
                <a:r>
                  <a:rPr lang="zh-CN" altLang="en-US">
                    <a:noFill/>
                  </a:rPr>
                  <a:t> </a:t>
                </a:r>
              </a:p>
            </p:txBody>
          </p:sp>
        </mc:Fallback>
      </mc:AlternateContent>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3200401" y="2094748"/>
            <a:ext cx="3032598" cy="796287"/>
          </a:xfrm>
          <a:prstGeom prst="roundRect">
            <a:avLst>
              <a:gd name="adj" fmla="val 50000"/>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角矩形 2"/>
          <p:cNvSpPr/>
          <p:nvPr/>
        </p:nvSpPr>
        <p:spPr>
          <a:xfrm>
            <a:off x="5418743" y="2115257"/>
            <a:ext cx="788833" cy="749851"/>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大纲</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67</a:t>
            </a:fld>
            <a:endParaRPr lang="zh-CN" altLang="en-US"/>
          </a:p>
        </p:txBody>
      </p:sp>
      <p:sp>
        <p:nvSpPr>
          <p:cNvPr id="8" name="文本框 7"/>
          <p:cNvSpPr txBox="1"/>
          <p:nvPr/>
        </p:nvSpPr>
        <p:spPr>
          <a:xfrm>
            <a:off x="3677998" y="3364107"/>
            <a:ext cx="2031325" cy="646331"/>
          </a:xfrm>
          <a:prstGeom prst="rect">
            <a:avLst/>
          </a:prstGeom>
          <a:noFill/>
        </p:spPr>
        <p:txBody>
          <a:bodyPr wrap="none" rtlCol="0">
            <a:spAutoFit/>
          </a:bodyPr>
          <a:lstStyle/>
          <a:p>
            <a:pPr algn="ctr"/>
            <a:r>
              <a:rPr lang="zh-CN" altLang="en-US" sz="3600" b="1" dirty="0">
                <a:latin typeface="微软雅黑" panose="020B0503020204020204" pitchFamily="34" charset="-122"/>
                <a:ea typeface="微软雅黑" panose="020B0503020204020204" pitchFamily="34" charset="-122"/>
              </a:rPr>
              <a:t>纹理映射</a:t>
            </a:r>
          </a:p>
        </p:txBody>
      </p:sp>
      <p:sp>
        <p:nvSpPr>
          <p:cNvPr id="11" name="文本框 10"/>
          <p:cNvSpPr txBox="1"/>
          <p:nvPr/>
        </p:nvSpPr>
        <p:spPr>
          <a:xfrm>
            <a:off x="3376147" y="2138948"/>
            <a:ext cx="1755609" cy="707886"/>
          </a:xfrm>
          <a:prstGeom prst="rect">
            <a:avLst/>
          </a:prstGeom>
          <a:noFill/>
        </p:spPr>
        <p:txBody>
          <a:bodyPr wrap="none" rtlCol="0">
            <a:spAutoFit/>
          </a:bodyPr>
          <a:lstStyle/>
          <a:p>
            <a:pPr algn="ctr"/>
            <a:r>
              <a:rPr lang="en-US" altLang="zh-CN" sz="4000" b="1" dirty="0">
                <a:solidFill>
                  <a:schemeClr val="bg1"/>
                </a:solidFill>
              </a:rPr>
              <a:t>Section</a:t>
            </a:r>
            <a:endParaRPr lang="zh-CN" altLang="en-US" sz="4000" b="1" dirty="0">
              <a:solidFill>
                <a:schemeClr val="bg1"/>
              </a:solidFill>
            </a:endParaRPr>
          </a:p>
        </p:txBody>
      </p:sp>
      <p:sp>
        <p:nvSpPr>
          <p:cNvPr id="12" name="文本框 11"/>
          <p:cNvSpPr txBox="1"/>
          <p:nvPr/>
        </p:nvSpPr>
        <p:spPr>
          <a:xfrm>
            <a:off x="5523180" y="1913900"/>
            <a:ext cx="614271" cy="1107996"/>
          </a:xfrm>
          <a:prstGeom prst="rect">
            <a:avLst/>
          </a:prstGeom>
          <a:noFill/>
        </p:spPr>
        <p:txBody>
          <a:bodyPr wrap="none" rtlCol="0">
            <a:spAutoFit/>
          </a:bodyPr>
          <a:lstStyle/>
          <a:p>
            <a:pPr algn="ctr"/>
            <a:r>
              <a:rPr lang="en-US" altLang="zh-CN" sz="6600" b="1" i="1" dirty="0">
                <a:solidFill>
                  <a:srgbClr val="94003F"/>
                </a:solidFill>
              </a:rPr>
              <a:t>4</a:t>
            </a:r>
            <a:endParaRPr lang="zh-CN" altLang="en-US" sz="6600" b="1" i="1" dirty="0">
              <a:solidFill>
                <a:srgbClr val="94003F"/>
              </a:solidFill>
            </a:endParaRPr>
          </a:p>
        </p:txBody>
      </p:sp>
      <p:sp>
        <p:nvSpPr>
          <p:cNvPr id="6" name="等腰三角形 5"/>
          <p:cNvSpPr/>
          <p:nvPr/>
        </p:nvSpPr>
        <p:spPr>
          <a:xfrm rot="10800000">
            <a:off x="4447572" y="2804325"/>
            <a:ext cx="492176" cy="321924"/>
          </a:xfrm>
          <a:prstGeom prst="triangl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几何建模的局限</a:t>
            </a:r>
          </a:p>
        </p:txBody>
      </p:sp>
      <p:sp>
        <p:nvSpPr>
          <p:cNvPr id="3" name="内容占位符 2"/>
          <p:cNvSpPr>
            <a:spLocks noGrp="1"/>
          </p:cNvSpPr>
          <p:nvPr>
            <p:ph idx="1"/>
          </p:nvPr>
        </p:nvSpPr>
        <p:spPr/>
        <p:txBody>
          <a:bodyPr/>
          <a:lstStyle/>
          <a:p>
            <a:pPr>
              <a:buClr>
                <a:srgbClr val="94003F"/>
              </a:buClr>
            </a:pPr>
            <a:r>
              <a:rPr lang="zh-CN" altLang="en-US" sz="2400" dirty="0"/>
              <a:t>虽然图形显示卡可以每秒钟显示多达一千万个多边形，但这个速度并不能满足模拟任何现象的要求</a:t>
            </a:r>
            <a:endParaRPr lang="en-US" altLang="zh-CN" sz="2400" dirty="0"/>
          </a:p>
          <a:p>
            <a:pPr lvl="1">
              <a:buClr>
                <a:srgbClr val="94003F"/>
              </a:buClr>
            </a:pPr>
            <a:r>
              <a:rPr lang="zh-CN" altLang="en-US" sz="1800" dirty="0"/>
              <a:t>云</a:t>
            </a:r>
            <a:endParaRPr lang="en-US" altLang="zh-CN" sz="1800" dirty="0"/>
          </a:p>
          <a:p>
            <a:pPr lvl="1">
              <a:buClr>
                <a:srgbClr val="94003F"/>
              </a:buClr>
            </a:pPr>
            <a:r>
              <a:rPr lang="zh-CN" altLang="en-US" sz="1800" dirty="0"/>
              <a:t>草</a:t>
            </a:r>
            <a:endParaRPr lang="en-US" altLang="zh-CN" sz="1800" dirty="0"/>
          </a:p>
          <a:p>
            <a:pPr lvl="1">
              <a:buClr>
                <a:srgbClr val="94003F"/>
              </a:buClr>
            </a:pPr>
            <a:r>
              <a:rPr lang="zh-CN" altLang="en-US" sz="1800" dirty="0"/>
              <a:t>地貌</a:t>
            </a:r>
            <a:endParaRPr lang="en-US" altLang="zh-CN" sz="1800" dirty="0"/>
          </a:p>
          <a:p>
            <a:pPr lvl="1">
              <a:buClr>
                <a:srgbClr val="94003F"/>
              </a:buClr>
            </a:pPr>
            <a:r>
              <a:rPr lang="zh-CN" altLang="en-US" sz="1800" dirty="0"/>
              <a:t>树皮</a:t>
            </a:r>
            <a:endParaRPr lang="en-US" altLang="zh-CN" sz="1800" dirty="0"/>
          </a:p>
          <a:p>
            <a:pPr lvl="1">
              <a:buClr>
                <a:srgbClr val="94003F"/>
              </a:buClr>
            </a:pPr>
            <a:r>
              <a:rPr lang="zh-CN" altLang="en-US" sz="1800" dirty="0"/>
              <a:t>毛发</a:t>
            </a:r>
            <a:endParaRPr lang="en-US" altLang="zh-CN" sz="1800" dirty="0"/>
          </a:p>
          <a:p>
            <a:pPr lvl="1">
              <a:buClr>
                <a:srgbClr val="94003F"/>
              </a:buClr>
            </a:pPr>
            <a:r>
              <a:rPr lang="zh-CN" altLang="en-US" sz="1800" dirty="0"/>
              <a:t>水波</a:t>
            </a:r>
            <a:endParaRPr lang="en-US" altLang="zh-CN" sz="1800" dirty="0"/>
          </a:p>
          <a:p>
            <a:pPr lvl="1">
              <a:buClr>
                <a:srgbClr val="94003F"/>
              </a:buClr>
            </a:pPr>
            <a:r>
              <a:rPr lang="zh-CN" altLang="en-US" sz="1800" dirty="0"/>
              <a:t>火焰</a:t>
            </a:r>
            <a:endParaRPr lang="en-US" altLang="zh-CN" sz="1800" dirty="0"/>
          </a:p>
          <a:p>
            <a:pPr lvl="1">
              <a:buClr>
                <a:srgbClr val="94003F"/>
              </a:buClr>
            </a:pPr>
            <a:r>
              <a:rPr lang="en-US" altLang="zh-CN" sz="1800" dirty="0"/>
              <a:t>…</a:t>
            </a:r>
            <a:endParaRPr lang="en-US" altLang="zh-CN" sz="28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68</a:t>
            </a:fld>
            <a:endParaRPr lang="zh-CN" altLang="en-US"/>
          </a:p>
        </p:txBody>
      </p:sp>
      <p:pic>
        <p:nvPicPr>
          <p:cNvPr id="6" name="Picture 6"/>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r="21084" b="29510"/>
          <a:stretch>
            <a:fillRect/>
          </a:stretch>
        </p:blipFill>
        <p:spPr bwMode="auto">
          <a:xfrm>
            <a:off x="2946285" y="2339472"/>
            <a:ext cx="2973025" cy="1771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03468" y="3003391"/>
            <a:ext cx="2281508" cy="23509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57418" y="4407840"/>
            <a:ext cx="2962885" cy="1734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三种映射方法</a:t>
            </a:r>
          </a:p>
        </p:txBody>
      </p:sp>
      <p:sp>
        <p:nvSpPr>
          <p:cNvPr id="3" name="内容占位符 2"/>
          <p:cNvSpPr>
            <a:spLocks noGrp="1"/>
          </p:cNvSpPr>
          <p:nvPr>
            <p:ph idx="1"/>
          </p:nvPr>
        </p:nvSpPr>
        <p:spPr/>
        <p:txBody>
          <a:bodyPr/>
          <a:lstStyle/>
          <a:p>
            <a:pPr>
              <a:buClr>
                <a:srgbClr val="94003F"/>
              </a:buClr>
            </a:pPr>
            <a:r>
              <a:rPr lang="zh-CN" altLang="en-US" sz="2400" dirty="0">
                <a:solidFill>
                  <a:srgbClr val="0000FF"/>
                </a:solidFill>
              </a:rPr>
              <a:t>纹理映射</a:t>
            </a:r>
            <a:endParaRPr lang="en-US" altLang="zh-CN" sz="2400" dirty="0">
              <a:solidFill>
                <a:srgbClr val="0000FF"/>
              </a:solidFill>
            </a:endParaRPr>
          </a:p>
          <a:p>
            <a:pPr lvl="1">
              <a:buClr>
                <a:srgbClr val="94003F"/>
              </a:buClr>
            </a:pPr>
            <a:r>
              <a:rPr lang="zh-CN" altLang="en-US" sz="1600" dirty="0"/>
              <a:t>把图像映射到光滑表面，从而给表面增加细节特征</a:t>
            </a:r>
            <a:endParaRPr lang="en-US" altLang="zh-CN" sz="1600" dirty="0"/>
          </a:p>
          <a:p>
            <a:pPr>
              <a:buClr>
                <a:srgbClr val="94003F"/>
              </a:buClr>
            </a:pPr>
            <a:r>
              <a:rPr lang="zh-CN" altLang="en-US" sz="2400" dirty="0"/>
              <a:t>环境映射（或叫反射映射）</a:t>
            </a:r>
            <a:endParaRPr lang="en-US" altLang="zh-CN" sz="2400" dirty="0"/>
          </a:p>
          <a:p>
            <a:pPr lvl="1">
              <a:buClr>
                <a:srgbClr val="94003F"/>
              </a:buClr>
            </a:pPr>
            <a:r>
              <a:rPr lang="zh-CN" altLang="en-US" sz="1600" dirty="0"/>
              <a:t>利用环境的图像进行纹理映射，可以模拟高度镜面曲面</a:t>
            </a:r>
            <a:endParaRPr lang="en-US" altLang="zh-CN" sz="2400" dirty="0"/>
          </a:p>
          <a:p>
            <a:pPr marL="228600" lvl="1" indent="-360045">
              <a:spcBef>
                <a:spcPts val="1000"/>
              </a:spcBef>
              <a:buClr>
                <a:srgbClr val="94003F"/>
              </a:buClr>
              <a:buSzPct val="70000"/>
              <a:buFont typeface="Wingdings" panose="05000000000000000000" pitchFamily="2" charset="2"/>
              <a:buChar char="u"/>
            </a:pPr>
            <a:r>
              <a:rPr lang="zh-CN" altLang="en-US" sz="2400" dirty="0"/>
              <a:t>凹凸映射</a:t>
            </a:r>
            <a:endParaRPr lang="en-US" altLang="zh-CN" sz="2400" dirty="0"/>
          </a:p>
          <a:p>
            <a:pPr lvl="1">
              <a:buClr>
                <a:srgbClr val="94003F"/>
              </a:buClr>
            </a:pPr>
            <a:r>
              <a:rPr lang="zh-CN" altLang="en-US" sz="1600" dirty="0"/>
              <a:t>对法向量进行了扰动，从而使表面看起来有微小的起伏变化</a:t>
            </a:r>
            <a:endParaRPr lang="en-US" altLang="zh-CN" sz="16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69</a:t>
            </a:fld>
            <a:endParaRPr lang="zh-CN" altLang="en-US"/>
          </a:p>
        </p:txBody>
      </p:sp>
      <p:pic>
        <p:nvPicPr>
          <p:cNvPr id="5" name="图片 3"/>
          <p:cNvPicPr>
            <a:picLocks noChangeAspect="1"/>
          </p:cNvPicPr>
          <p:nvPr/>
        </p:nvPicPr>
        <p:blipFill rotWithShape="1">
          <a:blip r:embed="rId2"/>
          <a:srcRect b="12188"/>
          <a:stretch>
            <a:fillRect/>
          </a:stretch>
        </p:blipFill>
        <p:spPr>
          <a:xfrm>
            <a:off x="289335" y="3857268"/>
            <a:ext cx="4513960" cy="2007953"/>
          </a:xfrm>
          <a:prstGeom prst="rect">
            <a:avLst/>
          </a:prstGeom>
        </p:spPr>
      </p:pic>
      <p:pic>
        <p:nvPicPr>
          <p:cNvPr id="6" name="图片 3"/>
          <p:cNvPicPr>
            <a:picLocks noChangeAspect="1"/>
          </p:cNvPicPr>
          <p:nvPr/>
        </p:nvPicPr>
        <p:blipFill>
          <a:blip r:embed="rId3"/>
          <a:stretch>
            <a:fillRect/>
          </a:stretch>
        </p:blipFill>
        <p:spPr>
          <a:xfrm>
            <a:off x="4613141" y="3695311"/>
            <a:ext cx="2375487" cy="2383234"/>
          </a:xfrm>
          <a:prstGeom prst="rect">
            <a:avLst/>
          </a:prstGeom>
        </p:spPr>
      </p:pic>
      <p:pic>
        <p:nvPicPr>
          <p:cNvPr id="7" name="图片 3"/>
          <p:cNvPicPr>
            <a:picLocks noChangeAspect="1"/>
          </p:cNvPicPr>
          <p:nvPr/>
        </p:nvPicPr>
        <p:blipFill>
          <a:blip r:embed="rId4"/>
          <a:stretch>
            <a:fillRect/>
          </a:stretch>
        </p:blipFill>
        <p:spPr>
          <a:xfrm>
            <a:off x="6888600" y="3883394"/>
            <a:ext cx="2230581" cy="2176245"/>
          </a:xfrm>
          <a:prstGeom prst="rect">
            <a:avLst/>
          </a:prstGeom>
        </p:spPr>
      </p:pic>
      <p:sp>
        <p:nvSpPr>
          <p:cNvPr id="8" name="TextBox 7"/>
          <p:cNvSpPr txBox="1"/>
          <p:nvPr/>
        </p:nvSpPr>
        <p:spPr>
          <a:xfrm>
            <a:off x="783771" y="5865221"/>
            <a:ext cx="1005403" cy="338554"/>
          </a:xfrm>
          <a:prstGeom prst="rect">
            <a:avLst/>
          </a:prstGeom>
          <a:noFill/>
        </p:spPr>
        <p:txBody>
          <a:bodyPr wrap="none" rtlCol="0">
            <a:spAutoFit/>
          </a:bodyPr>
          <a:lstStyle/>
          <a:p>
            <a:r>
              <a:rPr lang="zh-CN" altLang="en-US" sz="1600" b="1" dirty="0"/>
              <a:t>几何模型</a:t>
            </a:r>
            <a:endParaRPr lang="en-US" sz="1600" b="1" dirty="0"/>
          </a:p>
        </p:txBody>
      </p:sp>
      <p:sp>
        <p:nvSpPr>
          <p:cNvPr id="9" name="Rectangle 8"/>
          <p:cNvSpPr/>
          <p:nvPr/>
        </p:nvSpPr>
        <p:spPr>
          <a:xfrm>
            <a:off x="3053395" y="5865221"/>
            <a:ext cx="1005403" cy="338554"/>
          </a:xfrm>
          <a:prstGeom prst="rect">
            <a:avLst/>
          </a:prstGeom>
        </p:spPr>
        <p:txBody>
          <a:bodyPr wrap="none">
            <a:spAutoFit/>
          </a:bodyPr>
          <a:lstStyle/>
          <a:p>
            <a:r>
              <a:rPr lang="zh-CN" altLang="en-US" sz="1600" b="1" dirty="0"/>
              <a:t>纹理映射</a:t>
            </a:r>
            <a:endParaRPr lang="en-US" sz="1600" b="1" dirty="0"/>
          </a:p>
        </p:txBody>
      </p:sp>
      <p:sp>
        <p:nvSpPr>
          <p:cNvPr id="10" name="Rectangle 9"/>
          <p:cNvSpPr/>
          <p:nvPr/>
        </p:nvSpPr>
        <p:spPr>
          <a:xfrm>
            <a:off x="7451208" y="5865221"/>
            <a:ext cx="1005403" cy="338554"/>
          </a:xfrm>
          <a:prstGeom prst="rect">
            <a:avLst/>
          </a:prstGeom>
        </p:spPr>
        <p:txBody>
          <a:bodyPr wrap="none">
            <a:spAutoFit/>
          </a:bodyPr>
          <a:lstStyle/>
          <a:p>
            <a:r>
              <a:rPr lang="zh-CN" altLang="en-US" sz="1600" b="1"/>
              <a:t>凹凸映射</a:t>
            </a:r>
            <a:endParaRPr lang="en-US" sz="1600" b="1" dirty="0"/>
          </a:p>
        </p:txBody>
      </p:sp>
      <p:sp>
        <p:nvSpPr>
          <p:cNvPr id="11" name="Rectangle 10"/>
          <p:cNvSpPr/>
          <p:nvPr/>
        </p:nvSpPr>
        <p:spPr>
          <a:xfrm>
            <a:off x="5285923" y="5865221"/>
            <a:ext cx="1005403" cy="338554"/>
          </a:xfrm>
          <a:prstGeom prst="rect">
            <a:avLst/>
          </a:prstGeom>
        </p:spPr>
        <p:txBody>
          <a:bodyPr wrap="none">
            <a:spAutoFit/>
          </a:bodyPr>
          <a:lstStyle/>
          <a:p>
            <a:r>
              <a:rPr lang="zh-CN" altLang="en-US" sz="1600" b="1" dirty="0"/>
              <a:t>环境映射</a:t>
            </a:r>
            <a:endParaRPr lang="en-US" sz="1600" b="1"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纹理映射</a:t>
            </a:r>
            <a:endParaRPr lang="en-US" dirty="0"/>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t>70</a:t>
            </a:fld>
            <a:endParaRPr lang="zh-CN" altLang="en-US" dirty="0"/>
          </a:p>
        </p:txBody>
      </p:sp>
      <p:pic>
        <p:nvPicPr>
          <p:cNvPr id="5" name="Picture 4" descr="hippo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8912" y="1290401"/>
            <a:ext cx="8113776" cy="5136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如何实现？</a:t>
            </a:r>
          </a:p>
        </p:txBody>
      </p:sp>
      <p:sp>
        <p:nvSpPr>
          <p:cNvPr id="3" name="内容占位符 2"/>
          <p:cNvSpPr>
            <a:spLocks noGrp="1"/>
          </p:cNvSpPr>
          <p:nvPr>
            <p:ph idx="1"/>
          </p:nvPr>
        </p:nvSpPr>
        <p:spPr/>
        <p:txBody>
          <a:bodyPr/>
          <a:lstStyle/>
          <a:p>
            <a:pPr>
              <a:buClr>
                <a:srgbClr val="94003F"/>
              </a:buClr>
            </a:pPr>
            <a:r>
              <a:rPr lang="zh-CN" altLang="en-US" sz="2400" dirty="0"/>
              <a:t>虽然映射的想法很简单，即把图像映射到曲面上，但由于这时要用到三四个坐标系，因此实现起来并不容易</a:t>
            </a:r>
            <a:endParaRPr lang="en-US" altLang="zh-CN" sz="24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71</a:t>
            </a:fld>
            <a:endParaRPr lang="zh-CN" altLang="en-US"/>
          </a:p>
        </p:txBody>
      </p:sp>
      <p:pic>
        <p:nvPicPr>
          <p:cNvPr id="6" name="图片 5"/>
          <p:cNvPicPr>
            <a:picLocks noChangeAspect="1"/>
          </p:cNvPicPr>
          <p:nvPr/>
        </p:nvPicPr>
        <p:blipFill>
          <a:blip r:embed="rId2"/>
          <a:stretch>
            <a:fillRect/>
          </a:stretch>
        </p:blipFill>
        <p:spPr>
          <a:xfrm>
            <a:off x="1802295" y="2488572"/>
            <a:ext cx="5390390" cy="3359295"/>
          </a:xfrm>
          <a:prstGeom prst="rect">
            <a:avLst/>
          </a:prstGeom>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OpenGL</a:t>
            </a:r>
            <a:r>
              <a:rPr lang="zh-CN" altLang="en-US" dirty="0"/>
              <a:t>与纹理</a:t>
            </a:r>
          </a:p>
        </p:txBody>
      </p:sp>
      <p:sp>
        <p:nvSpPr>
          <p:cNvPr id="3" name="内容占位符 2"/>
          <p:cNvSpPr>
            <a:spLocks noGrp="1"/>
          </p:cNvSpPr>
          <p:nvPr>
            <p:ph idx="1"/>
          </p:nvPr>
        </p:nvSpPr>
        <p:spPr/>
        <p:txBody>
          <a:bodyPr/>
          <a:lstStyle/>
          <a:p>
            <a:pPr>
              <a:buClr>
                <a:srgbClr val="94003F"/>
              </a:buClr>
            </a:pPr>
            <a:r>
              <a:rPr lang="en-US" altLang="zh-CN" sz="2400" dirty="0"/>
              <a:t>OpenGL</a:t>
            </a:r>
            <a:r>
              <a:rPr lang="zh-CN" altLang="en-US" sz="2400" dirty="0"/>
              <a:t>支持许多纹理映射选项</a:t>
            </a:r>
          </a:p>
          <a:p>
            <a:pPr lvl="1">
              <a:buClr>
                <a:srgbClr val="94003F"/>
              </a:buClr>
            </a:pPr>
            <a:r>
              <a:rPr lang="en-US" altLang="zh-CN" sz="1600" dirty="0"/>
              <a:t>OpenGL</a:t>
            </a:r>
            <a:r>
              <a:rPr lang="zh-CN" altLang="en-US" sz="1600" dirty="0"/>
              <a:t> </a:t>
            </a:r>
            <a:r>
              <a:rPr lang="en-US" altLang="zh-CN" sz="1600" dirty="0"/>
              <a:t>1.0</a:t>
            </a:r>
            <a:r>
              <a:rPr lang="zh-CN" altLang="en-US" sz="1600" dirty="0"/>
              <a:t>能将一维和二维纹理映射到一维至四维的图形对象</a:t>
            </a:r>
            <a:endParaRPr lang="en-US" altLang="zh-CN" sz="1600" dirty="0"/>
          </a:p>
          <a:p>
            <a:pPr lvl="1">
              <a:buClr>
                <a:srgbClr val="94003F"/>
              </a:buClr>
            </a:pPr>
            <a:r>
              <a:rPr lang="zh-CN" altLang="en-US" sz="1600" dirty="0"/>
              <a:t>现在的版本提供了三维纹理映射，且得到大部分图形硬件的支持</a:t>
            </a:r>
            <a:endParaRPr lang="en-US" altLang="zh-CN" sz="2400" dirty="0"/>
          </a:p>
          <a:p>
            <a:pPr>
              <a:buClr>
                <a:srgbClr val="94003F"/>
              </a:buClr>
            </a:pPr>
            <a:r>
              <a:rPr lang="zh-CN" altLang="en-US" sz="2400" dirty="0"/>
              <a:t>本节只讨论从</a:t>
            </a:r>
            <a:r>
              <a:rPr lang="zh-CN" altLang="en-US" sz="2400" dirty="0">
                <a:solidFill>
                  <a:srgbClr val="0000FF"/>
                </a:solidFill>
              </a:rPr>
              <a:t>二维纹理</a:t>
            </a:r>
            <a:r>
              <a:rPr lang="zh-CN" altLang="en-US" sz="2400" dirty="0"/>
              <a:t>到</a:t>
            </a:r>
            <a:r>
              <a:rPr lang="zh-CN" altLang="en-US" sz="2400" dirty="0">
                <a:solidFill>
                  <a:srgbClr val="0000FF"/>
                </a:solidFill>
              </a:rPr>
              <a:t>曲面</a:t>
            </a:r>
            <a:r>
              <a:rPr lang="zh-CN" altLang="en-US" sz="2400" dirty="0"/>
              <a:t>的映射</a:t>
            </a:r>
            <a:endParaRPr lang="en-US" altLang="zh-CN" sz="2400" dirty="0"/>
          </a:p>
          <a:p>
            <a:pPr>
              <a:buClr>
                <a:srgbClr val="94003F"/>
              </a:buClr>
            </a:pPr>
            <a:r>
              <a:rPr lang="zh-CN" altLang="en-US" sz="2400" dirty="0"/>
              <a:t>图像与几何分别经过不同的流水线，在片元处理中汇合</a:t>
            </a:r>
            <a:endParaRPr lang="en-US" altLang="zh-CN" sz="2400" dirty="0"/>
          </a:p>
          <a:p>
            <a:pPr lvl="1">
              <a:buClr>
                <a:srgbClr val="94003F"/>
              </a:buClr>
            </a:pPr>
            <a:r>
              <a:rPr lang="zh-CN" altLang="en-US" sz="1800" dirty="0"/>
              <a:t>复杂纹理并不影响几何的复杂性</a:t>
            </a:r>
            <a:endParaRPr lang="en-US" altLang="zh-CN" sz="1800" dirty="0"/>
          </a:p>
          <a:p>
            <a:pPr lvl="1">
              <a:buClr>
                <a:srgbClr val="94003F"/>
              </a:buClr>
            </a:pPr>
            <a:r>
              <a:rPr lang="zh-CN" altLang="en-US" sz="1800" dirty="0"/>
              <a:t>非常有效，因为在经过所有的操作后，减少了许多不必要的映射</a:t>
            </a:r>
          </a:p>
          <a:p>
            <a:pPr lvl="1">
              <a:buClr>
                <a:srgbClr val="94003F"/>
              </a:buClr>
            </a:pPr>
            <a:endParaRPr lang="en-US" altLang="zh-CN" sz="1800" dirty="0"/>
          </a:p>
          <a:p>
            <a:pPr>
              <a:buClr>
                <a:srgbClr val="94003F"/>
              </a:buClr>
            </a:pPr>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72</a:t>
            </a:fld>
            <a:endParaRPr lang="zh-CN" altLang="en-US"/>
          </a:p>
        </p:txBody>
      </p:sp>
      <p:grpSp>
        <p:nvGrpSpPr>
          <p:cNvPr id="5" name="组合 40"/>
          <p:cNvGrpSpPr/>
          <p:nvPr/>
        </p:nvGrpSpPr>
        <p:grpSpPr>
          <a:xfrm>
            <a:off x="992416" y="4029368"/>
            <a:ext cx="7159167" cy="1930741"/>
            <a:chOff x="432754" y="3424328"/>
            <a:chExt cx="7884855" cy="2126450"/>
          </a:xfrm>
        </p:grpSpPr>
        <p:sp>
          <p:nvSpPr>
            <p:cNvPr id="6" name="矩形 5"/>
            <p:cNvSpPr/>
            <p:nvPr/>
          </p:nvSpPr>
          <p:spPr>
            <a:xfrm>
              <a:off x="1404376" y="3430577"/>
              <a:ext cx="1445868" cy="80083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600" dirty="0">
                  <a:latin typeface="华文楷体" panose="02010600040101010101" pitchFamily="2" charset="-122"/>
                  <a:ea typeface="华文楷体" panose="02010600040101010101" pitchFamily="2" charset="-122"/>
                </a:rPr>
                <a:t>几何处理</a:t>
              </a:r>
            </a:p>
          </p:txBody>
        </p:sp>
        <p:sp>
          <p:nvSpPr>
            <p:cNvPr id="7" name="矩形 6"/>
            <p:cNvSpPr/>
            <p:nvPr/>
          </p:nvSpPr>
          <p:spPr>
            <a:xfrm>
              <a:off x="3226831" y="3430577"/>
              <a:ext cx="1445868" cy="80083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600" dirty="0">
                  <a:latin typeface="华文楷体" panose="02010600040101010101" pitchFamily="2" charset="-122"/>
                  <a:ea typeface="华文楷体" panose="02010600040101010101" pitchFamily="2" charset="-122"/>
                </a:rPr>
                <a:t>光栅化</a:t>
              </a:r>
            </a:p>
          </p:txBody>
        </p:sp>
        <p:sp>
          <p:nvSpPr>
            <p:cNvPr id="8" name="矩形 7"/>
            <p:cNvSpPr/>
            <p:nvPr/>
          </p:nvSpPr>
          <p:spPr>
            <a:xfrm>
              <a:off x="5049286" y="3430577"/>
              <a:ext cx="1445868" cy="8008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华文楷体" panose="02010600040101010101" pitchFamily="2" charset="-122"/>
                  <a:ea typeface="华文楷体" panose="02010600040101010101" pitchFamily="2" charset="-122"/>
                </a:rPr>
                <a:t>片元处理</a:t>
              </a:r>
            </a:p>
          </p:txBody>
        </p:sp>
        <p:sp>
          <p:nvSpPr>
            <p:cNvPr id="9" name="矩形 8"/>
            <p:cNvSpPr/>
            <p:nvPr/>
          </p:nvSpPr>
          <p:spPr>
            <a:xfrm>
              <a:off x="6871741" y="3424328"/>
              <a:ext cx="1445868" cy="80083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600" dirty="0">
                  <a:latin typeface="华文楷体" panose="02010600040101010101" pitchFamily="2" charset="-122"/>
                  <a:ea typeface="华文楷体" panose="02010600040101010101" pitchFamily="2" charset="-122"/>
                </a:rPr>
                <a:t>帧缓存</a:t>
              </a:r>
            </a:p>
          </p:txBody>
        </p:sp>
        <p:sp>
          <p:nvSpPr>
            <p:cNvPr id="10" name="文本框 9"/>
            <p:cNvSpPr txBox="1"/>
            <p:nvPr/>
          </p:nvSpPr>
          <p:spPr>
            <a:xfrm>
              <a:off x="432754" y="3671403"/>
              <a:ext cx="595035" cy="338554"/>
            </a:xfrm>
            <a:prstGeom prst="rect">
              <a:avLst/>
            </a:prstGeom>
            <a:noFill/>
          </p:spPr>
          <p:txBody>
            <a:bodyPr wrap="none" rtlCol="0">
              <a:spAutoFit/>
            </a:bodyPr>
            <a:lstStyle/>
            <a:p>
              <a:r>
                <a:rPr lang="zh-CN" altLang="en-US" sz="1600" dirty="0">
                  <a:latin typeface="华文楷体" panose="02010600040101010101" pitchFamily="2" charset="-122"/>
                  <a:ea typeface="华文楷体" panose="02010600040101010101" pitchFamily="2" charset="-122"/>
                </a:rPr>
                <a:t>顶点</a:t>
              </a:r>
            </a:p>
          </p:txBody>
        </p:sp>
        <p:cxnSp>
          <p:nvCxnSpPr>
            <p:cNvPr id="11" name="直接箭头连接符 24"/>
            <p:cNvCxnSpPr/>
            <p:nvPr/>
          </p:nvCxnSpPr>
          <p:spPr>
            <a:xfrm flipV="1">
              <a:off x="1036506" y="3816325"/>
              <a:ext cx="376587" cy="1810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2" name="直接箭头连接符 25"/>
            <p:cNvCxnSpPr/>
            <p:nvPr/>
          </p:nvCxnSpPr>
          <p:spPr>
            <a:xfrm>
              <a:off x="2858961" y="3816325"/>
              <a:ext cx="37658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3" name="直接箭头连接符 26"/>
            <p:cNvCxnSpPr/>
            <p:nvPr/>
          </p:nvCxnSpPr>
          <p:spPr>
            <a:xfrm>
              <a:off x="4681416" y="3816325"/>
              <a:ext cx="37658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4" name="直接箭头连接符 27"/>
            <p:cNvCxnSpPr/>
            <p:nvPr/>
          </p:nvCxnSpPr>
          <p:spPr>
            <a:xfrm>
              <a:off x="6503871" y="3816325"/>
              <a:ext cx="37658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5" name="矩形 28"/>
            <p:cNvSpPr/>
            <p:nvPr/>
          </p:nvSpPr>
          <p:spPr>
            <a:xfrm>
              <a:off x="1413093" y="4749947"/>
              <a:ext cx="1445868" cy="80083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600" dirty="0">
                  <a:latin typeface="华文楷体" panose="02010600040101010101" pitchFamily="2" charset="-122"/>
                  <a:ea typeface="华文楷体" panose="02010600040101010101" pitchFamily="2" charset="-122"/>
                </a:rPr>
                <a:t>像素处理</a:t>
              </a:r>
            </a:p>
          </p:txBody>
        </p:sp>
        <p:sp>
          <p:nvSpPr>
            <p:cNvPr id="16" name="文本框 29"/>
            <p:cNvSpPr txBox="1"/>
            <p:nvPr/>
          </p:nvSpPr>
          <p:spPr>
            <a:xfrm>
              <a:off x="441471" y="4990773"/>
              <a:ext cx="595035" cy="338554"/>
            </a:xfrm>
            <a:prstGeom prst="rect">
              <a:avLst/>
            </a:prstGeom>
            <a:noFill/>
          </p:spPr>
          <p:txBody>
            <a:bodyPr wrap="none" rtlCol="0">
              <a:spAutoFit/>
            </a:bodyPr>
            <a:lstStyle/>
            <a:p>
              <a:r>
                <a:rPr lang="zh-CN" altLang="en-US" sz="1600" dirty="0">
                  <a:latin typeface="华文楷体" panose="02010600040101010101" pitchFamily="2" charset="-122"/>
                  <a:ea typeface="华文楷体" panose="02010600040101010101" pitchFamily="2" charset="-122"/>
                </a:rPr>
                <a:t>像素</a:t>
              </a:r>
            </a:p>
          </p:txBody>
        </p:sp>
        <p:cxnSp>
          <p:nvCxnSpPr>
            <p:cNvPr id="17" name="直接箭头连接符 30"/>
            <p:cNvCxnSpPr/>
            <p:nvPr/>
          </p:nvCxnSpPr>
          <p:spPr>
            <a:xfrm flipV="1">
              <a:off x="1045223" y="5135695"/>
              <a:ext cx="376587" cy="1810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8" name="直接连接符 32"/>
            <p:cNvCxnSpPr/>
            <p:nvPr/>
          </p:nvCxnSpPr>
          <p:spPr>
            <a:xfrm>
              <a:off x="2858961" y="5150363"/>
              <a:ext cx="2257784" cy="14666"/>
            </a:xfrm>
            <a:prstGeom prst="line">
              <a:avLst/>
            </a:prstGeom>
          </p:spPr>
          <p:style>
            <a:lnRef idx="2">
              <a:schemeClr val="dk1"/>
            </a:lnRef>
            <a:fillRef idx="0">
              <a:schemeClr val="dk1"/>
            </a:fillRef>
            <a:effectRef idx="1">
              <a:schemeClr val="dk1"/>
            </a:effectRef>
            <a:fontRef idx="minor">
              <a:schemeClr val="tx1"/>
            </a:fontRef>
          </p:style>
        </p:cxnSp>
        <p:cxnSp>
          <p:nvCxnSpPr>
            <p:cNvPr id="19" name="直接箭头连接符 33"/>
            <p:cNvCxnSpPr>
              <a:endCxn id="11" idx="2"/>
            </p:cNvCxnSpPr>
            <p:nvPr/>
          </p:nvCxnSpPr>
          <p:spPr>
            <a:xfrm flipV="1">
              <a:off x="5116745" y="4231408"/>
              <a:ext cx="655475" cy="93362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sp>
        <p:nvSpPr>
          <p:cNvPr id="20" name="Rectangle 19"/>
          <p:cNvSpPr/>
          <p:nvPr/>
        </p:nvSpPr>
        <p:spPr>
          <a:xfrm>
            <a:off x="3291794" y="5960109"/>
            <a:ext cx="2852063" cy="338554"/>
          </a:xfrm>
          <a:prstGeom prst="rect">
            <a:avLst/>
          </a:prstGeom>
        </p:spPr>
        <p:txBody>
          <a:bodyPr wrap="none">
            <a:spAutoFit/>
          </a:bodyPr>
          <a:lstStyle/>
          <a:p>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像素流水线和几何绘制流水线</a:t>
            </a:r>
            <a:endParaRPr lang="en-US" sz="160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基本策略</a:t>
            </a:r>
          </a:p>
        </p:txBody>
      </p:sp>
      <p:sp>
        <p:nvSpPr>
          <p:cNvPr id="3" name="内容占位符 2"/>
          <p:cNvSpPr>
            <a:spLocks noGrp="1"/>
          </p:cNvSpPr>
          <p:nvPr>
            <p:ph idx="1"/>
          </p:nvPr>
        </p:nvSpPr>
        <p:spPr/>
        <p:txBody>
          <a:bodyPr/>
          <a:lstStyle/>
          <a:p>
            <a:pPr>
              <a:buClr>
                <a:srgbClr val="94003F"/>
              </a:buClr>
            </a:pPr>
            <a:r>
              <a:rPr lang="zh-CN" altLang="en-US" sz="2400" dirty="0"/>
              <a:t>应用纹理需要下面三个基本步骤</a:t>
            </a:r>
            <a:endParaRPr lang="en-US" altLang="zh-CN" sz="2400" dirty="0"/>
          </a:p>
          <a:p>
            <a:pPr lvl="1">
              <a:buClr>
                <a:srgbClr val="94003F"/>
              </a:buClr>
            </a:pPr>
            <a:r>
              <a:rPr lang="zh-CN" altLang="en-US" sz="1800" dirty="0"/>
              <a:t>指定纹理</a:t>
            </a:r>
            <a:endParaRPr lang="en-US" altLang="zh-CN" sz="1800" dirty="0"/>
          </a:p>
          <a:p>
            <a:pPr lvl="2">
              <a:buClr>
                <a:srgbClr val="94003F"/>
              </a:buClr>
            </a:pPr>
            <a:r>
              <a:rPr lang="zh-CN" altLang="en-US" sz="1600" dirty="0"/>
              <a:t>创建纹理对象</a:t>
            </a:r>
            <a:endParaRPr lang="en-US" altLang="zh-CN" sz="1600" dirty="0"/>
          </a:p>
          <a:p>
            <a:pPr lvl="2">
              <a:buClr>
                <a:srgbClr val="94003F"/>
              </a:buClr>
            </a:pPr>
            <a:r>
              <a:rPr lang="zh-CN" altLang="en-US" sz="1600" dirty="0"/>
              <a:t>读入或生成纹理图像</a:t>
            </a:r>
            <a:endParaRPr lang="en-US" altLang="zh-CN" sz="1600" dirty="0"/>
          </a:p>
          <a:p>
            <a:pPr lvl="1">
              <a:buClr>
                <a:srgbClr val="94003F"/>
              </a:buClr>
            </a:pPr>
            <a:endParaRPr lang="en-US" altLang="zh-CN" sz="1800" dirty="0"/>
          </a:p>
          <a:p>
            <a:pPr lvl="1">
              <a:buClr>
                <a:srgbClr val="94003F"/>
              </a:buClr>
            </a:pPr>
            <a:r>
              <a:rPr lang="zh-CN" altLang="en-US" sz="1800" dirty="0"/>
              <a:t>建立纹理映射</a:t>
            </a:r>
            <a:endParaRPr lang="en-US" altLang="zh-CN" sz="1800" dirty="0"/>
          </a:p>
          <a:p>
            <a:pPr lvl="2">
              <a:buClr>
                <a:srgbClr val="94003F"/>
              </a:buClr>
            </a:pPr>
            <a:r>
              <a:rPr lang="zh-CN" altLang="en-US" sz="1600" dirty="0"/>
              <a:t>将纹理坐标赋给每个片元</a:t>
            </a:r>
            <a:endParaRPr lang="en-US" altLang="zh-CN" sz="1600" dirty="0"/>
          </a:p>
          <a:p>
            <a:pPr lvl="1">
              <a:buClr>
                <a:srgbClr val="94003F"/>
              </a:buClr>
            </a:pPr>
            <a:endParaRPr lang="en-US" altLang="zh-CN" sz="1800" dirty="0"/>
          </a:p>
          <a:p>
            <a:pPr lvl="1">
              <a:buClr>
                <a:srgbClr val="94003F"/>
              </a:buClr>
            </a:pPr>
            <a:r>
              <a:rPr lang="zh-CN" altLang="en-US" sz="1800" dirty="0"/>
              <a:t>将纹理施加给每个片元</a:t>
            </a:r>
            <a:endParaRPr lang="en-US" altLang="zh-CN" sz="1800" dirty="0"/>
          </a:p>
          <a:p>
            <a:pPr lvl="2">
              <a:buClr>
                <a:srgbClr val="94003F"/>
              </a:buClr>
            </a:pPr>
            <a:r>
              <a:rPr lang="zh-CN" altLang="en-US" sz="1600" dirty="0"/>
              <a:t>点采样，线性滤波</a:t>
            </a:r>
            <a:r>
              <a:rPr lang="en-US" altLang="zh-CN" sz="1600" dirty="0"/>
              <a:t>…</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solidFill>
                  <a:prstClr val="black"/>
                </a:solidFill>
              </a:rPr>
              <a:t>73</a:t>
            </a:fld>
            <a:endParaRPr lang="zh-CN" altLang="en-US">
              <a:solidFill>
                <a:prstClr val="black"/>
              </a:solidFill>
            </a:endParaRPr>
          </a:p>
        </p:txBody>
      </p:sp>
      <p:pic>
        <p:nvPicPr>
          <p:cNvPr id="5" name="图片 4"/>
          <p:cNvPicPr>
            <a:picLocks noChangeAspect="1"/>
          </p:cNvPicPr>
          <p:nvPr/>
        </p:nvPicPr>
        <p:blipFill>
          <a:blip r:embed="rId2"/>
          <a:stretch>
            <a:fillRect/>
          </a:stretch>
        </p:blipFill>
        <p:spPr>
          <a:xfrm>
            <a:off x="5889271" y="1429458"/>
            <a:ext cx="2270532" cy="3903318"/>
          </a:xfrm>
          <a:prstGeom prst="rect">
            <a:avLst/>
          </a:prstGeom>
        </p:spPr>
      </p:pic>
      <p:sp>
        <p:nvSpPr>
          <p:cNvPr id="6" name="Rectangle 5"/>
          <p:cNvSpPr/>
          <p:nvPr/>
        </p:nvSpPr>
        <p:spPr>
          <a:xfrm>
            <a:off x="4581485" y="5362893"/>
            <a:ext cx="4353517" cy="584775"/>
          </a:xfrm>
          <a:prstGeom prst="rect">
            <a:avLst/>
          </a:prstGeom>
        </p:spPr>
        <p:txBody>
          <a:bodyPr wrap="square">
            <a:spAutoFit/>
          </a:bodyPr>
          <a:lstStyle/>
          <a:p>
            <a:pPr>
              <a:buClr>
                <a:srgbClr val="94003F"/>
              </a:buClr>
            </a:pP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纹理（下方）是</a:t>
            </a: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rPr>
              <a:t>256×256</a:t>
            </a:r>
            <a:r>
              <a:rPr lang="zh-CN" altLang="en-US" sz="1600" dirty="0">
                <a:latin typeface="微软雅黑" panose="020B0503020204020204" pitchFamily="34" charset="-122"/>
                <a:ea typeface="微软雅黑" panose="020B0503020204020204" pitchFamily="34" charset="-122"/>
                <a:cs typeface="微软雅黑" panose="020B0503020204020204" pitchFamily="34" charset="-122"/>
              </a:rPr>
              <a:t>的图像，它被映射到一个矩形上，经透视投影后的结果显示在上方</a:t>
            </a:r>
            <a:endParaRPr lang="en-US" altLang="zh-CN" sz="160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纹理坐标</a:t>
            </a:r>
          </a:p>
        </p:txBody>
      </p:sp>
      <p:sp>
        <p:nvSpPr>
          <p:cNvPr id="3" name="内容占位符 2"/>
          <p:cNvSpPr>
            <a:spLocks noGrp="1"/>
          </p:cNvSpPr>
          <p:nvPr>
            <p:ph idx="1"/>
          </p:nvPr>
        </p:nvSpPr>
        <p:spPr/>
        <p:txBody>
          <a:bodyPr/>
          <a:lstStyle/>
          <a:p>
            <a:pPr>
              <a:buClr>
                <a:srgbClr val="94003F"/>
              </a:buClr>
            </a:pPr>
            <a:r>
              <a:rPr lang="zh-CN" altLang="en-US" sz="2400" dirty="0"/>
              <a:t>基于参数纹理坐标，把纹理坐标作为顶点的属性</a:t>
            </a:r>
            <a:endParaRPr lang="en-US" altLang="zh-CN" sz="2400" dirty="0"/>
          </a:p>
          <a:p>
            <a:pPr>
              <a:buClr>
                <a:srgbClr val="94003F"/>
              </a:buClr>
            </a:pPr>
            <a:r>
              <a:rPr lang="zh-CN" altLang="en-US" sz="2400" dirty="0"/>
              <a:t>将纹理坐标传送到顶点着色器中，</a:t>
            </a:r>
            <a:r>
              <a:rPr lang="zh-CN" altLang="en-US" sz="2400" dirty="0">
                <a:solidFill>
                  <a:srgbClr val="0000FF"/>
                </a:solidFill>
              </a:rPr>
              <a:t>顶点纹理坐标经过光栅化模块的插值计算得到片元的纹理坐标</a:t>
            </a:r>
            <a:endParaRPr lang="en-US" altLang="zh-CN" sz="2400" dirty="0">
              <a:solidFill>
                <a:srgbClr val="0000FF"/>
              </a:solidFill>
            </a:endParaRPr>
          </a:p>
        </p:txBody>
      </p:sp>
      <p:sp>
        <p:nvSpPr>
          <p:cNvPr id="4" name="灯片编号占位符 3"/>
          <p:cNvSpPr>
            <a:spLocks noGrp="1"/>
          </p:cNvSpPr>
          <p:nvPr>
            <p:ph type="sldNum" sz="quarter" idx="12"/>
          </p:nvPr>
        </p:nvSpPr>
        <p:spPr/>
        <p:txBody>
          <a:bodyPr/>
          <a:lstStyle/>
          <a:p>
            <a:fld id="{EB792F4E-54C0-4D36-B331-9C6FCFE9A340}" type="slidenum">
              <a:rPr lang="zh-CN" altLang="en-US" smtClean="0">
                <a:solidFill>
                  <a:prstClr val="black"/>
                </a:solidFill>
              </a:rPr>
              <a:t>74</a:t>
            </a:fld>
            <a:endParaRPr lang="zh-CN" altLang="en-US">
              <a:solidFill>
                <a:prstClr val="black"/>
              </a:solidFill>
            </a:endParaRPr>
          </a:p>
        </p:txBody>
      </p:sp>
      <p:pic>
        <p:nvPicPr>
          <p:cNvPr id="5" name="图片 4"/>
          <p:cNvPicPr>
            <a:picLocks noChangeAspect="1"/>
          </p:cNvPicPr>
          <p:nvPr/>
        </p:nvPicPr>
        <p:blipFill>
          <a:blip r:embed="rId2"/>
          <a:stretch>
            <a:fillRect/>
          </a:stretch>
        </p:blipFill>
        <p:spPr>
          <a:xfrm>
            <a:off x="724358" y="2594862"/>
            <a:ext cx="7583073" cy="3603677"/>
          </a:xfrm>
          <a:prstGeom prst="rect">
            <a:avLst/>
          </a:prstGeom>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指定纹理图像</a:t>
            </a:r>
          </a:p>
        </p:txBody>
      </p:sp>
      <p:sp>
        <p:nvSpPr>
          <p:cNvPr id="3" name="内容占位符 2"/>
          <p:cNvSpPr>
            <a:spLocks noGrp="1"/>
          </p:cNvSpPr>
          <p:nvPr>
            <p:ph idx="1"/>
          </p:nvPr>
        </p:nvSpPr>
        <p:spPr/>
        <p:txBody>
          <a:bodyPr/>
          <a:lstStyle/>
          <a:p>
            <a:pPr>
              <a:buClr>
                <a:srgbClr val="94003F"/>
              </a:buClr>
            </a:pPr>
            <a:r>
              <a:rPr lang="zh-CN" altLang="en-US" sz="2400" dirty="0"/>
              <a:t>利用</a:t>
            </a:r>
            <a:r>
              <a:rPr lang="en-US" altLang="zh-CN" sz="2400" dirty="0"/>
              <a:t>CPU</a:t>
            </a:r>
            <a:r>
              <a:rPr lang="zh-CN" altLang="en-US" sz="2400" dirty="0"/>
              <a:t>内存中的纹理元素数组定义纹理图像</a:t>
            </a:r>
            <a:endParaRPr lang="en-US" altLang="zh-CN" sz="1600" dirty="0"/>
          </a:p>
          <a:p>
            <a:pPr marL="228600" lvl="1" indent="-360045">
              <a:spcBef>
                <a:spcPts val="1000"/>
              </a:spcBef>
              <a:buClr>
                <a:srgbClr val="94003F"/>
              </a:buClr>
              <a:buSzPct val="70000"/>
              <a:buFont typeface="Wingdings" panose="05000000000000000000" pitchFamily="2" charset="2"/>
              <a:buChar char="u"/>
            </a:pPr>
            <a:endParaRPr lang="en-US" altLang="zh-CN" sz="2400" dirty="0"/>
          </a:p>
          <a:p>
            <a:pPr lvl="1">
              <a:buClr>
                <a:srgbClr val="94003F"/>
              </a:buClr>
            </a:pPr>
            <a:endParaRPr lang="en-US" altLang="zh-CN" sz="1600" dirty="0"/>
          </a:p>
          <a:p>
            <a:pPr lvl="1">
              <a:buClr>
                <a:srgbClr val="94003F"/>
              </a:buClr>
            </a:pPr>
            <a:endParaRPr lang="en-US" altLang="zh-CN" sz="1600" dirty="0"/>
          </a:p>
          <a:p>
            <a:pPr lvl="1">
              <a:buClr>
                <a:srgbClr val="94003F"/>
              </a:buClr>
            </a:pPr>
            <a:endParaRPr lang="en-US" altLang="zh-CN" sz="1600" dirty="0"/>
          </a:p>
          <a:p>
            <a:pPr lvl="1">
              <a:buClr>
                <a:srgbClr val="94003F"/>
              </a:buClr>
            </a:pPr>
            <a:endParaRPr lang="en-US" altLang="zh-CN" sz="1600" dirty="0"/>
          </a:p>
          <a:p>
            <a:pPr lvl="1">
              <a:buClr>
                <a:srgbClr val="94003F"/>
              </a:buClr>
            </a:pPr>
            <a:endParaRPr lang="en-US" altLang="zh-CN" sz="1600" dirty="0"/>
          </a:p>
          <a:p>
            <a:pPr>
              <a:buClr>
                <a:srgbClr val="94003F"/>
              </a:buClr>
            </a:pPr>
            <a:r>
              <a:rPr lang="zh-CN" altLang="en-US" sz="2200" dirty="0"/>
              <a:t>指定二维纹理</a:t>
            </a:r>
            <a:endParaRPr lang="en-US" altLang="zh-CN" sz="2200" dirty="0"/>
          </a:p>
          <a:p>
            <a:pPr lvl="1">
              <a:buClr>
                <a:srgbClr val="94003F"/>
              </a:buClr>
            </a:pPr>
            <a:endParaRPr lang="en-US" altLang="zh-CN" sz="14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solidFill>
                  <a:prstClr val="black"/>
                </a:solidFill>
              </a:rPr>
              <a:t>75</a:t>
            </a:fld>
            <a:endParaRPr lang="zh-CN" altLang="en-US">
              <a:solidFill>
                <a:prstClr val="black"/>
              </a:solidFill>
            </a:endParaRPr>
          </a:p>
        </p:txBody>
      </p:sp>
      <p:sp>
        <p:nvSpPr>
          <p:cNvPr id="6" name="矩形 6"/>
          <p:cNvSpPr/>
          <p:nvPr/>
        </p:nvSpPr>
        <p:spPr>
          <a:xfrm>
            <a:off x="1135017" y="4223625"/>
            <a:ext cx="7137446" cy="338554"/>
          </a:xfrm>
          <a:prstGeom prst="rect">
            <a:avLst/>
          </a:prstGeom>
          <a:solidFill>
            <a:srgbClr val="BDD7EE">
              <a:alpha val="52941"/>
            </a:srgbClr>
          </a:solidFill>
        </p:spPr>
        <p:txBody>
          <a:bodyPr wrap="square">
            <a:spAutoFit/>
          </a:bodyPr>
          <a:lstStyle/>
          <a:p>
            <a:pPr>
              <a:buClr>
                <a:srgbClr val="94003F"/>
              </a:buClr>
            </a:pPr>
            <a:r>
              <a:rPr lang="en-US" altLang="zh-CN" sz="1600" b="1" dirty="0"/>
              <a:t>glTexImage2D</a:t>
            </a:r>
            <a:r>
              <a:rPr lang="en-US" altLang="zh-CN" sz="1600" dirty="0"/>
              <a:t>(target,</a:t>
            </a:r>
            <a:r>
              <a:rPr lang="zh-CN" altLang="en-US" sz="1600" dirty="0"/>
              <a:t> </a:t>
            </a:r>
            <a:r>
              <a:rPr lang="en-US" altLang="zh-CN" sz="1600" dirty="0"/>
              <a:t>level,</a:t>
            </a:r>
            <a:r>
              <a:rPr lang="zh-CN" altLang="en-US" sz="1600" dirty="0"/>
              <a:t> </a:t>
            </a:r>
            <a:r>
              <a:rPr lang="en-US" altLang="zh-CN" sz="1600" dirty="0" err="1"/>
              <a:t>iformat</a:t>
            </a:r>
            <a:r>
              <a:rPr lang="en-US" altLang="zh-CN" sz="1600" dirty="0"/>
              <a:t>,</a:t>
            </a:r>
            <a:r>
              <a:rPr lang="zh-CN" altLang="en-US" sz="1600" dirty="0"/>
              <a:t> </a:t>
            </a:r>
            <a:r>
              <a:rPr lang="en-US" altLang="zh-CN" sz="1600" dirty="0"/>
              <a:t>w,</a:t>
            </a:r>
            <a:r>
              <a:rPr lang="zh-CN" altLang="en-US" sz="1600" dirty="0"/>
              <a:t> </a:t>
            </a:r>
            <a:r>
              <a:rPr lang="en-US" altLang="zh-CN" sz="1600" dirty="0"/>
              <a:t>h,</a:t>
            </a:r>
            <a:r>
              <a:rPr lang="zh-CN" altLang="en-US" sz="1600" dirty="0"/>
              <a:t> </a:t>
            </a:r>
            <a:r>
              <a:rPr lang="en-US" altLang="zh-CN" sz="1600" dirty="0"/>
              <a:t>border, format,</a:t>
            </a:r>
            <a:r>
              <a:rPr lang="zh-CN" altLang="en-US" sz="1600" dirty="0"/>
              <a:t> </a:t>
            </a:r>
            <a:r>
              <a:rPr lang="en-US" altLang="zh-CN" sz="1600" dirty="0"/>
              <a:t>type,</a:t>
            </a:r>
            <a:r>
              <a:rPr lang="zh-CN" altLang="en-US" sz="1600" dirty="0"/>
              <a:t> </a:t>
            </a:r>
            <a:r>
              <a:rPr lang="en-US" altLang="zh-CN" sz="1600" dirty="0" err="1"/>
              <a:t>texels</a:t>
            </a:r>
            <a:r>
              <a:rPr lang="en-US" altLang="zh-CN" sz="1600" dirty="0"/>
              <a:t>) ;</a:t>
            </a:r>
          </a:p>
        </p:txBody>
      </p:sp>
      <p:sp>
        <p:nvSpPr>
          <p:cNvPr id="8" name="矩形 6"/>
          <p:cNvSpPr/>
          <p:nvPr/>
        </p:nvSpPr>
        <p:spPr>
          <a:xfrm>
            <a:off x="3036772" y="3559899"/>
            <a:ext cx="5163866" cy="584775"/>
          </a:xfrm>
          <a:prstGeom prst="rect">
            <a:avLst/>
          </a:prstGeom>
          <a:solidFill>
            <a:srgbClr val="BDD7EE">
              <a:alpha val="52941"/>
            </a:srgbClr>
          </a:solidFill>
        </p:spPr>
        <p:txBody>
          <a:bodyPr wrap="square">
            <a:spAutoFit/>
          </a:bodyPr>
          <a:lstStyle/>
          <a:p>
            <a:pPr algn="r">
              <a:buClr>
                <a:srgbClr val="94003F"/>
              </a:buClr>
            </a:pPr>
            <a:r>
              <a:rPr lang="en-US" altLang="zh-CN" sz="1600" b="1" dirty="0"/>
              <a:t>glTexImage2D</a:t>
            </a:r>
            <a:r>
              <a:rPr lang="en-US" altLang="zh-CN" sz="1600" dirty="0"/>
              <a:t>(GL_TEXTURE_2D,</a:t>
            </a:r>
            <a:r>
              <a:rPr lang="zh-CN" altLang="en-US" sz="1600" dirty="0"/>
              <a:t> </a:t>
            </a:r>
            <a:r>
              <a:rPr lang="en-US" altLang="zh-CN" sz="1600" dirty="0"/>
              <a:t>0,</a:t>
            </a:r>
            <a:r>
              <a:rPr lang="zh-CN" altLang="en-US" sz="1600" dirty="0"/>
              <a:t> </a:t>
            </a:r>
            <a:r>
              <a:rPr lang="en-US" altLang="zh-CN" sz="1600" dirty="0"/>
              <a:t>GL_RGB,</a:t>
            </a:r>
            <a:r>
              <a:rPr lang="zh-CN" altLang="en-US" sz="1600" dirty="0"/>
              <a:t>  </a:t>
            </a:r>
            <a:r>
              <a:rPr lang="en-US" altLang="zh-CN" sz="1600" dirty="0"/>
              <a:t>width,</a:t>
            </a:r>
            <a:r>
              <a:rPr lang="zh-CN" altLang="en-US" sz="1600" dirty="0"/>
              <a:t>  </a:t>
            </a:r>
            <a:r>
              <a:rPr lang="en-US" altLang="zh-CN" sz="1600" dirty="0"/>
              <a:t>height,</a:t>
            </a:r>
            <a:r>
              <a:rPr lang="zh-CN" altLang="en-US" sz="1600" dirty="0"/>
              <a:t>  </a:t>
            </a:r>
            <a:r>
              <a:rPr lang="en-US" altLang="zh-CN" sz="1600" dirty="0"/>
              <a:t>0,</a:t>
            </a:r>
            <a:r>
              <a:rPr lang="zh-CN" altLang="en-US" sz="1600" dirty="0"/>
              <a:t> </a:t>
            </a:r>
            <a:r>
              <a:rPr lang="en-US" altLang="zh-CN" sz="1600" dirty="0"/>
              <a:t>GL_RGB,</a:t>
            </a:r>
            <a:r>
              <a:rPr lang="zh-CN" altLang="en-US" sz="1600" dirty="0"/>
              <a:t> </a:t>
            </a:r>
            <a:r>
              <a:rPr lang="en-US" altLang="zh-CN" sz="1600" dirty="0"/>
              <a:t>GL_UNSIGNED_BYTE,</a:t>
            </a:r>
            <a:r>
              <a:rPr lang="zh-CN" altLang="en-US" sz="1600" dirty="0"/>
              <a:t> </a:t>
            </a:r>
            <a:r>
              <a:rPr lang="en-US" altLang="zh-CN" sz="1600" dirty="0"/>
              <a:t>pixels) ;</a:t>
            </a:r>
            <a:r>
              <a:rPr lang="zh-CN" altLang="en-US" sz="1600" dirty="0"/>
              <a:t> </a:t>
            </a:r>
            <a:endParaRPr lang="en-US" altLang="zh-CN" sz="1600" dirty="0"/>
          </a:p>
        </p:txBody>
      </p:sp>
      <p:sp>
        <p:nvSpPr>
          <p:cNvPr id="9" name="矩形 6"/>
          <p:cNvSpPr/>
          <p:nvPr/>
        </p:nvSpPr>
        <p:spPr>
          <a:xfrm>
            <a:off x="1135017" y="4677495"/>
            <a:ext cx="7137446" cy="1815882"/>
          </a:xfrm>
          <a:prstGeom prst="rect">
            <a:avLst/>
          </a:prstGeom>
          <a:solidFill>
            <a:schemeClr val="accent2">
              <a:lumMod val="20000"/>
              <a:lumOff val="80000"/>
              <a:alpha val="52941"/>
            </a:schemeClr>
          </a:solidFill>
        </p:spPr>
        <p:txBody>
          <a:bodyPr wrap="square">
            <a:spAutoFit/>
          </a:bodyPr>
          <a:lstStyle/>
          <a:p>
            <a:pPr>
              <a:buClr>
                <a:srgbClr val="94003F"/>
              </a:buClr>
            </a:pPr>
            <a:r>
              <a:rPr lang="en-US" altLang="zh-CN" sz="1600" dirty="0"/>
              <a:t>target: </a:t>
            </a:r>
            <a:r>
              <a:rPr lang="zh-CN" altLang="en-US" sz="1600" dirty="0"/>
              <a:t>纹理的类型</a:t>
            </a:r>
            <a:endParaRPr lang="en-US" altLang="zh-CN" sz="1600" dirty="0"/>
          </a:p>
          <a:p>
            <a:pPr>
              <a:buClr>
                <a:srgbClr val="94003F"/>
              </a:buClr>
            </a:pPr>
            <a:r>
              <a:rPr lang="en-US" altLang="zh-CN" sz="1600" dirty="0"/>
              <a:t>level: </a:t>
            </a:r>
            <a:r>
              <a:rPr lang="zh-CN" altLang="en-US" sz="1600" dirty="0"/>
              <a:t>用于</a:t>
            </a:r>
            <a:r>
              <a:rPr lang="en-US" altLang="zh-CN" sz="1600" dirty="0" err="1"/>
              <a:t>mipmapping</a:t>
            </a:r>
            <a:r>
              <a:rPr lang="zh-CN" altLang="en-US" sz="1600" dirty="0"/>
              <a:t>映射，是否使用多分辨率纹理</a:t>
            </a:r>
            <a:r>
              <a:rPr lang="en-US" altLang="zh-CN" sz="1600" dirty="0"/>
              <a:t>(</a:t>
            </a:r>
            <a:r>
              <a:rPr lang="zh-CN" altLang="en-US" sz="1600" dirty="0"/>
              <a:t>稍后讨论</a:t>
            </a:r>
            <a:r>
              <a:rPr lang="en-US" altLang="zh-CN" sz="1600" dirty="0"/>
              <a:t>)</a:t>
            </a:r>
          </a:p>
          <a:p>
            <a:pPr>
              <a:buClr>
                <a:srgbClr val="94003F"/>
              </a:buClr>
            </a:pPr>
            <a:r>
              <a:rPr lang="en-US" altLang="zh-CN" sz="1600" dirty="0" err="1"/>
              <a:t>iformat</a:t>
            </a:r>
            <a:r>
              <a:rPr lang="en-US" altLang="zh-CN" sz="1600" dirty="0"/>
              <a:t>: </a:t>
            </a:r>
            <a:r>
              <a:rPr lang="zh-CN" altLang="en-US" sz="1600" dirty="0"/>
              <a:t>纹理在纹理内存中的存储方式</a:t>
            </a:r>
          </a:p>
          <a:p>
            <a:pPr>
              <a:buClr>
                <a:srgbClr val="94003F"/>
              </a:buClr>
            </a:pPr>
            <a:r>
              <a:rPr lang="en-US" altLang="zh-CN" sz="1600" dirty="0" err="1"/>
              <a:t>w,h</a:t>
            </a:r>
            <a:r>
              <a:rPr lang="en-US" altLang="zh-CN" sz="1600" dirty="0"/>
              <a:t>: </a:t>
            </a:r>
            <a:r>
              <a:rPr lang="zh-CN" altLang="en-US" sz="1600" dirty="0"/>
              <a:t>内存中纹理图像的大小</a:t>
            </a:r>
          </a:p>
          <a:p>
            <a:pPr>
              <a:buClr>
                <a:srgbClr val="94003F"/>
              </a:buClr>
            </a:pPr>
            <a:r>
              <a:rPr lang="en-US" altLang="zh-CN" sz="1600" dirty="0"/>
              <a:t>border: </a:t>
            </a:r>
            <a:r>
              <a:rPr lang="zh-CN" altLang="en-US" sz="1600" dirty="0"/>
              <a:t>用于光滑处理，不再使用，通常设置为</a:t>
            </a:r>
            <a:r>
              <a:rPr lang="en-US" altLang="zh-CN" sz="1600" dirty="0"/>
              <a:t>0</a:t>
            </a:r>
          </a:p>
          <a:p>
            <a:pPr>
              <a:buClr>
                <a:srgbClr val="94003F"/>
              </a:buClr>
            </a:pPr>
            <a:r>
              <a:rPr lang="en-US" altLang="zh-CN" sz="1600" dirty="0"/>
              <a:t>format</a:t>
            </a:r>
            <a:r>
              <a:rPr lang="zh-CN" altLang="en-US" sz="1600" dirty="0"/>
              <a:t>与</a:t>
            </a:r>
            <a:r>
              <a:rPr lang="en-US" altLang="zh-CN" sz="1600" dirty="0"/>
              <a:t>type: </a:t>
            </a:r>
            <a:r>
              <a:rPr lang="zh-CN" altLang="en-US" sz="1600" dirty="0"/>
              <a:t>描述图像的像素在处理器内存中的存储方式</a:t>
            </a:r>
            <a:endParaRPr lang="en-US" altLang="zh-CN" sz="1600" dirty="0"/>
          </a:p>
          <a:p>
            <a:pPr>
              <a:buClr>
                <a:srgbClr val="94003F"/>
              </a:buClr>
            </a:pPr>
            <a:r>
              <a:rPr lang="en-US" altLang="zh-CN" sz="1600" dirty="0" err="1"/>
              <a:t>texels</a:t>
            </a:r>
            <a:r>
              <a:rPr lang="en-US" altLang="zh-CN" sz="1600" dirty="0"/>
              <a:t>: </a:t>
            </a:r>
            <a:r>
              <a:rPr lang="zh-CN" altLang="en-US" sz="1600" dirty="0"/>
              <a:t>指向纹理元素数组的指针</a:t>
            </a:r>
          </a:p>
        </p:txBody>
      </p:sp>
      <p:sp>
        <p:nvSpPr>
          <p:cNvPr id="10" name="矩形 6"/>
          <p:cNvSpPr/>
          <p:nvPr/>
        </p:nvSpPr>
        <p:spPr>
          <a:xfrm>
            <a:off x="1063192" y="1838201"/>
            <a:ext cx="7137446" cy="1200329"/>
          </a:xfrm>
          <a:prstGeom prst="rect">
            <a:avLst/>
          </a:prstGeom>
          <a:solidFill>
            <a:srgbClr val="BDD7EE">
              <a:alpha val="52941"/>
            </a:srgbClr>
          </a:solidFill>
        </p:spPr>
        <p:txBody>
          <a:bodyPr wrap="square">
            <a:spAutoFit/>
          </a:bodyPr>
          <a:lstStyle/>
          <a:p>
            <a:r>
              <a:rPr lang="en-US" altLang="zh-CN" dirty="0">
                <a:solidFill>
                  <a:srgbClr val="0000FF"/>
                </a:solidFill>
              </a:rPr>
              <a:t>int</a:t>
            </a:r>
            <a:r>
              <a:rPr lang="en-US" altLang="zh-CN" dirty="0"/>
              <a:t> width, height, channels = 0;</a:t>
            </a:r>
          </a:p>
          <a:p>
            <a:r>
              <a:rPr lang="en-US" altLang="zh-CN" dirty="0">
                <a:solidFill>
                  <a:srgbClr val="0000FF"/>
                </a:solidFill>
              </a:rPr>
              <a:t>unsigned char </a:t>
            </a:r>
            <a:r>
              <a:rPr lang="en-US" altLang="zh-CN" dirty="0"/>
              <a:t>*pixels = NULL;</a:t>
            </a:r>
          </a:p>
          <a:p>
            <a:r>
              <a:rPr lang="en-US" altLang="zh-CN" b="1" dirty="0" err="1"/>
              <a:t>stbi_set_flip_vertically_on_load</a:t>
            </a:r>
            <a:r>
              <a:rPr lang="en-US" altLang="zh-CN" dirty="0"/>
              <a:t>(true);</a:t>
            </a:r>
          </a:p>
          <a:p>
            <a:r>
              <a:rPr lang="en-US" altLang="zh-CN" dirty="0"/>
              <a:t>pixels = </a:t>
            </a:r>
            <a:r>
              <a:rPr lang="en-US" altLang="zh-CN" b="1" dirty="0" err="1"/>
              <a:t>stbi_load</a:t>
            </a:r>
            <a:r>
              <a:rPr lang="en-US" altLang="zh-CN" dirty="0"/>
              <a:t>(</a:t>
            </a:r>
            <a:r>
              <a:rPr lang="en-US" altLang="zh-CN" dirty="0" err="1"/>
              <a:t>file_name.c_str</a:t>
            </a:r>
            <a:r>
              <a:rPr lang="en-US" altLang="zh-CN" dirty="0"/>
              <a:t>(), &amp;width, &amp;height, &amp;channels, 0);</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纹理参数</a:t>
            </a:r>
          </a:p>
        </p:txBody>
      </p:sp>
      <p:sp>
        <p:nvSpPr>
          <p:cNvPr id="3" name="内容占位符 2"/>
          <p:cNvSpPr>
            <a:spLocks noGrp="1"/>
          </p:cNvSpPr>
          <p:nvPr>
            <p:ph idx="1"/>
          </p:nvPr>
        </p:nvSpPr>
        <p:spPr>
          <a:xfrm>
            <a:off x="628650" y="1316831"/>
            <a:ext cx="7886700" cy="5379804"/>
          </a:xfrm>
        </p:spPr>
        <p:txBody>
          <a:bodyPr>
            <a:normAutofit/>
          </a:bodyPr>
          <a:lstStyle/>
          <a:p>
            <a:pPr>
              <a:buClr>
                <a:srgbClr val="94003F"/>
              </a:buClr>
            </a:pPr>
            <a:r>
              <a:rPr lang="en-US" altLang="zh-CN" sz="2400" dirty="0"/>
              <a:t>OpenGL</a:t>
            </a:r>
            <a:r>
              <a:rPr lang="zh-CN" altLang="en-US" sz="2400" dirty="0"/>
              <a:t>中有许多办法确定纹理的使用方式</a:t>
            </a:r>
            <a:endParaRPr lang="en-US" altLang="zh-CN" sz="2400" dirty="0"/>
          </a:p>
          <a:p>
            <a:pPr lvl="1">
              <a:buClr>
                <a:srgbClr val="94003F"/>
              </a:buClr>
            </a:pPr>
            <a:r>
              <a:rPr lang="en-US" altLang="zh-CN" sz="1800" dirty="0">
                <a:solidFill>
                  <a:srgbClr val="0000FF"/>
                </a:solidFill>
              </a:rPr>
              <a:t>Wrapping</a:t>
            </a:r>
            <a:r>
              <a:rPr lang="zh-CN" altLang="en-US" sz="1800" dirty="0">
                <a:solidFill>
                  <a:srgbClr val="0000FF"/>
                </a:solidFill>
              </a:rPr>
              <a:t>参数</a:t>
            </a:r>
            <a:r>
              <a:rPr lang="zh-CN" altLang="en-US" sz="1800" dirty="0"/>
              <a:t>确定当</a:t>
            </a:r>
            <a:r>
              <a:rPr lang="en-US" altLang="zh-CN" sz="1800" dirty="0"/>
              <a:t>s, t</a:t>
            </a:r>
            <a:r>
              <a:rPr lang="zh-CN" altLang="en-US" sz="1800" dirty="0"/>
              <a:t>的值超出</a:t>
            </a:r>
            <a:r>
              <a:rPr lang="en-US" altLang="zh-CN" sz="1800" dirty="0"/>
              <a:t>[0,1]</a:t>
            </a:r>
            <a:r>
              <a:rPr lang="zh-CN" altLang="en-US" sz="1800" dirty="0"/>
              <a:t>区间后的处理方法</a:t>
            </a:r>
            <a:endParaRPr lang="en-US" altLang="zh-CN" sz="1800" dirty="0"/>
          </a:p>
          <a:p>
            <a:pPr lvl="2">
              <a:buClr>
                <a:srgbClr val="94003F"/>
              </a:buClr>
            </a:pPr>
            <a:r>
              <a:rPr lang="zh-CN" altLang="en-US" sz="1600" dirty="0"/>
              <a:t>截断：若</a:t>
            </a:r>
            <a:r>
              <a:rPr lang="en-US" altLang="zh-CN" sz="1600" dirty="0"/>
              <a:t>s, t&gt;1</a:t>
            </a:r>
            <a:r>
              <a:rPr lang="zh-CN" altLang="en-US" sz="1600" dirty="0"/>
              <a:t>就取</a:t>
            </a:r>
            <a:r>
              <a:rPr lang="en-US" altLang="zh-CN" sz="1600" dirty="0"/>
              <a:t>1</a:t>
            </a:r>
            <a:r>
              <a:rPr lang="zh-CN" altLang="en-US" sz="1600" dirty="0"/>
              <a:t>，若</a:t>
            </a:r>
            <a:r>
              <a:rPr lang="en-US" altLang="zh-CN" sz="1600" dirty="0"/>
              <a:t>s, t&lt;0</a:t>
            </a:r>
            <a:r>
              <a:rPr lang="zh-CN" altLang="en-US" sz="1600" dirty="0"/>
              <a:t>就取</a:t>
            </a:r>
            <a:r>
              <a:rPr lang="en-US" altLang="zh-CN" sz="1600" dirty="0"/>
              <a:t>0</a:t>
            </a:r>
          </a:p>
          <a:p>
            <a:pPr lvl="2">
              <a:buClr>
                <a:srgbClr val="94003F"/>
              </a:buClr>
            </a:pPr>
            <a:r>
              <a:rPr lang="zh-CN" altLang="en-US" sz="1600" dirty="0"/>
              <a:t>重复：应用</a:t>
            </a:r>
            <a:r>
              <a:rPr lang="en-US" altLang="zh-CN" sz="1600" dirty="0"/>
              <a:t>s, t</a:t>
            </a:r>
            <a:r>
              <a:rPr lang="zh-CN" altLang="en-US" sz="1600" dirty="0"/>
              <a:t>模</a:t>
            </a:r>
            <a:r>
              <a:rPr lang="en-US" altLang="zh-CN" sz="1600" dirty="0"/>
              <a:t>1</a:t>
            </a:r>
            <a:r>
              <a:rPr lang="zh-CN" altLang="en-US" sz="1600" dirty="0"/>
              <a:t>的值</a:t>
            </a:r>
            <a:endParaRPr lang="en-US" altLang="zh-CN" sz="1600" dirty="0"/>
          </a:p>
          <a:p>
            <a:pPr lvl="1">
              <a:buClr>
                <a:srgbClr val="94003F"/>
              </a:buClr>
            </a:pPr>
            <a:endParaRPr lang="en-US" altLang="zh-CN" sz="1800" dirty="0"/>
          </a:p>
          <a:p>
            <a:pPr lvl="1">
              <a:buClr>
                <a:srgbClr val="94003F"/>
              </a:buClr>
            </a:pPr>
            <a:endParaRPr lang="en-US" altLang="zh-CN" sz="1800" dirty="0"/>
          </a:p>
          <a:p>
            <a:pPr lvl="1">
              <a:buClr>
                <a:srgbClr val="94003F"/>
              </a:buClr>
            </a:pPr>
            <a:endParaRPr lang="en-US" altLang="zh-CN" sz="1800" dirty="0"/>
          </a:p>
          <a:p>
            <a:pPr lvl="1">
              <a:buClr>
                <a:srgbClr val="94003F"/>
              </a:buClr>
            </a:pPr>
            <a:endParaRPr lang="en-US" altLang="zh-CN" sz="1800" dirty="0"/>
          </a:p>
          <a:p>
            <a:pPr lvl="1">
              <a:buClr>
                <a:srgbClr val="94003F"/>
              </a:buClr>
            </a:pPr>
            <a:endParaRPr lang="en-US" altLang="zh-CN" sz="1800" dirty="0"/>
          </a:p>
          <a:p>
            <a:pPr lvl="1">
              <a:buClr>
                <a:srgbClr val="94003F"/>
              </a:buClr>
            </a:pPr>
            <a:endParaRPr lang="en-US" altLang="zh-CN" sz="1800" dirty="0"/>
          </a:p>
          <a:p>
            <a:pPr lvl="1">
              <a:buClr>
                <a:srgbClr val="94003F"/>
              </a:buClr>
            </a:pPr>
            <a:endParaRPr lang="en-US" altLang="zh-CN" sz="1800" dirty="0"/>
          </a:p>
          <a:p>
            <a:pPr lvl="1">
              <a:buClr>
                <a:srgbClr val="94003F"/>
              </a:buClr>
            </a:pPr>
            <a:endParaRPr lang="en-US" altLang="zh-CN" sz="1800" dirty="0"/>
          </a:p>
          <a:p>
            <a:pPr lvl="1">
              <a:buClr>
                <a:srgbClr val="94003F"/>
              </a:buClr>
            </a:pPr>
            <a:endParaRPr lang="en-US" altLang="zh-CN" sz="1800" dirty="0"/>
          </a:p>
          <a:p>
            <a:pPr lvl="1">
              <a:buClr>
                <a:srgbClr val="94003F"/>
              </a:buClr>
            </a:pPr>
            <a:r>
              <a:rPr lang="en-US" altLang="zh-CN" sz="1800" dirty="0">
                <a:solidFill>
                  <a:srgbClr val="0000FF"/>
                </a:solidFill>
              </a:rPr>
              <a:t>Filter</a:t>
            </a:r>
            <a:r>
              <a:rPr lang="zh-CN" altLang="en-US" sz="1800" dirty="0">
                <a:solidFill>
                  <a:srgbClr val="0000FF"/>
                </a:solidFill>
              </a:rPr>
              <a:t>模式</a:t>
            </a:r>
            <a:r>
              <a:rPr lang="zh-CN" altLang="en-US" sz="1800" dirty="0"/>
              <a:t>决定了以何种方式对纹理进行采样</a:t>
            </a:r>
          </a:p>
          <a:p>
            <a:pPr lvl="1">
              <a:buClr>
                <a:srgbClr val="94003F"/>
              </a:buClr>
            </a:pPr>
            <a:r>
              <a:rPr lang="en-US" altLang="zh-CN" sz="1800" dirty="0" err="1">
                <a:solidFill>
                  <a:srgbClr val="0000FF"/>
                </a:solidFill>
              </a:rPr>
              <a:t>Mipmapping</a:t>
            </a:r>
            <a:r>
              <a:rPr lang="zh-CN" altLang="en-US" sz="1800" dirty="0">
                <a:solidFill>
                  <a:srgbClr val="0000FF"/>
                </a:solidFill>
              </a:rPr>
              <a:t>技术</a:t>
            </a:r>
            <a:r>
              <a:rPr lang="zh-CN" altLang="en-US" sz="1800" dirty="0"/>
              <a:t>使得能以不同的分辨率应用纹理</a:t>
            </a:r>
          </a:p>
          <a:p>
            <a:pPr lvl="1">
              <a:buClr>
                <a:srgbClr val="94003F"/>
              </a:buClr>
            </a:pPr>
            <a:r>
              <a:rPr lang="zh-CN" altLang="en-US" sz="1800" dirty="0">
                <a:solidFill>
                  <a:srgbClr val="0000FF"/>
                </a:solidFill>
              </a:rPr>
              <a:t>绘制模式</a:t>
            </a:r>
            <a:r>
              <a:rPr lang="zh-CN" altLang="en-US" sz="1800" dirty="0"/>
              <a:t>确定纹理映射与明暗处理的交互作用</a:t>
            </a:r>
            <a:endParaRPr lang="en-US" altLang="zh-CN" sz="1800" dirty="0"/>
          </a:p>
          <a:p>
            <a:pPr lvl="1">
              <a:buClr>
                <a:srgbClr val="94003F"/>
              </a:buClr>
            </a:pPr>
            <a:endParaRPr lang="en-US" altLang="zh-CN" sz="18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solidFill>
                  <a:prstClr val="black"/>
                </a:solidFill>
              </a:rPr>
              <a:t>76</a:t>
            </a:fld>
            <a:endParaRPr lang="zh-CN" altLang="en-US">
              <a:solidFill>
                <a:prstClr val="black"/>
              </a:solidFill>
            </a:endParaRPr>
          </a:p>
        </p:txBody>
      </p:sp>
      <p:sp>
        <p:nvSpPr>
          <p:cNvPr id="5" name="矩形 6"/>
          <p:cNvSpPr/>
          <p:nvPr/>
        </p:nvSpPr>
        <p:spPr>
          <a:xfrm>
            <a:off x="1233801" y="2729025"/>
            <a:ext cx="6395724" cy="338554"/>
          </a:xfrm>
          <a:prstGeom prst="rect">
            <a:avLst/>
          </a:prstGeom>
          <a:solidFill>
            <a:srgbClr val="BDD7EE">
              <a:alpha val="52941"/>
            </a:srgbClr>
          </a:solidFill>
        </p:spPr>
        <p:txBody>
          <a:bodyPr wrap="square">
            <a:spAutoFit/>
          </a:bodyPr>
          <a:lstStyle/>
          <a:p>
            <a:pPr>
              <a:buClr>
                <a:srgbClr val="94003F"/>
              </a:buClr>
            </a:pPr>
            <a:r>
              <a:rPr lang="en-US" altLang="zh-CN" sz="1600" b="1" dirty="0" err="1"/>
              <a:t>glTexParameteri</a:t>
            </a:r>
            <a:r>
              <a:rPr lang="en-US" altLang="zh-CN" sz="1600" dirty="0"/>
              <a:t>(GL_TEXTURE_2D,</a:t>
            </a:r>
            <a:r>
              <a:rPr lang="zh-CN" altLang="en-US" sz="1600" dirty="0"/>
              <a:t> </a:t>
            </a:r>
            <a:r>
              <a:rPr lang="en-US" altLang="zh-CN" sz="1600" dirty="0"/>
              <a:t>GL_TEXTURE_WRAP_S,</a:t>
            </a:r>
            <a:r>
              <a:rPr lang="zh-CN" altLang="en-US" sz="1600" dirty="0"/>
              <a:t> </a:t>
            </a:r>
            <a:r>
              <a:rPr lang="en-US" altLang="zh-CN" sz="1600" dirty="0"/>
              <a:t>GL_CLAMP)</a:t>
            </a:r>
          </a:p>
        </p:txBody>
      </p:sp>
      <p:sp>
        <p:nvSpPr>
          <p:cNvPr id="6" name="矩形 6"/>
          <p:cNvSpPr/>
          <p:nvPr/>
        </p:nvSpPr>
        <p:spPr>
          <a:xfrm>
            <a:off x="1233800" y="3144077"/>
            <a:ext cx="6395725" cy="338554"/>
          </a:xfrm>
          <a:prstGeom prst="rect">
            <a:avLst/>
          </a:prstGeom>
          <a:solidFill>
            <a:srgbClr val="BDD7EE">
              <a:alpha val="52941"/>
            </a:srgbClr>
          </a:solidFill>
        </p:spPr>
        <p:txBody>
          <a:bodyPr wrap="square">
            <a:spAutoFit/>
          </a:bodyPr>
          <a:lstStyle/>
          <a:p>
            <a:pPr>
              <a:buClr>
                <a:srgbClr val="94003F"/>
              </a:buClr>
            </a:pPr>
            <a:r>
              <a:rPr lang="en-US" altLang="zh-CN" sz="1600" b="1" dirty="0" err="1"/>
              <a:t>glTexParameteri</a:t>
            </a:r>
            <a:r>
              <a:rPr lang="en-US" altLang="zh-CN" sz="1600" dirty="0"/>
              <a:t>(GL_TEXTURE_2D,</a:t>
            </a:r>
            <a:r>
              <a:rPr lang="zh-CN" altLang="en-US" sz="1600" dirty="0"/>
              <a:t> </a:t>
            </a:r>
            <a:r>
              <a:rPr lang="en-US" altLang="zh-CN" sz="1600" dirty="0"/>
              <a:t>GL_TEXTURE_WRAP_T,</a:t>
            </a:r>
            <a:r>
              <a:rPr lang="zh-CN" altLang="en-US" sz="1600" dirty="0"/>
              <a:t> </a:t>
            </a:r>
            <a:r>
              <a:rPr lang="en-US" altLang="zh-CN" sz="1600" dirty="0"/>
              <a:t>GL_REPEAT)</a:t>
            </a:r>
            <a:endParaRPr lang="en-US" altLang="zh-CN" sz="2600" dirty="0"/>
          </a:p>
        </p:txBody>
      </p:sp>
      <p:pic>
        <p:nvPicPr>
          <p:cNvPr id="7" name="图片 4"/>
          <p:cNvPicPr>
            <a:picLocks noChangeAspect="1"/>
          </p:cNvPicPr>
          <p:nvPr/>
        </p:nvPicPr>
        <p:blipFill>
          <a:blip r:embed="rId2"/>
          <a:stretch>
            <a:fillRect/>
          </a:stretch>
        </p:blipFill>
        <p:spPr>
          <a:xfrm>
            <a:off x="1440581" y="3542567"/>
            <a:ext cx="5315780" cy="1874412"/>
          </a:xfrm>
          <a:prstGeom prst="rect">
            <a:avLst/>
          </a:prstGeom>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p:nvPr/>
        </p:nvPicPr>
        <p:blipFill rotWithShape="1">
          <a:blip r:embed="rId2"/>
          <a:srcRect l="11188" t="30756" r="6540" b="30756"/>
          <a:stretch>
            <a:fillRect/>
          </a:stretch>
        </p:blipFill>
        <p:spPr>
          <a:xfrm>
            <a:off x="3126267" y="5071261"/>
            <a:ext cx="2880852" cy="1426369"/>
          </a:xfrm>
          <a:prstGeom prst="rect">
            <a:avLst/>
          </a:prstGeom>
        </p:spPr>
      </p:pic>
      <p:sp>
        <p:nvSpPr>
          <p:cNvPr id="5" name="矩形 6"/>
          <p:cNvSpPr/>
          <p:nvPr/>
        </p:nvSpPr>
        <p:spPr>
          <a:xfrm>
            <a:off x="1416660" y="3635256"/>
            <a:ext cx="6274734" cy="338554"/>
          </a:xfrm>
          <a:prstGeom prst="rect">
            <a:avLst/>
          </a:prstGeom>
          <a:solidFill>
            <a:srgbClr val="BDD7EE">
              <a:alpha val="52941"/>
            </a:srgbClr>
          </a:solidFill>
        </p:spPr>
        <p:txBody>
          <a:bodyPr wrap="square">
            <a:spAutoFit/>
          </a:bodyPr>
          <a:lstStyle/>
          <a:p>
            <a:pPr>
              <a:buClr>
                <a:srgbClr val="94003F"/>
              </a:buClr>
            </a:pPr>
            <a:r>
              <a:rPr lang="en-US" altLang="zh-CN" sz="1600" dirty="0" err="1"/>
              <a:t>fColor</a:t>
            </a:r>
            <a:r>
              <a:rPr lang="en-US" altLang="zh-CN" sz="1600" b="1" dirty="0"/>
              <a:t> = texture</a:t>
            </a:r>
            <a:r>
              <a:rPr lang="en-US" altLang="zh-CN" sz="1600" dirty="0"/>
              <a:t>( texture1, </a:t>
            </a:r>
            <a:r>
              <a:rPr lang="en-US" altLang="zh-CN" sz="1600" dirty="0" err="1"/>
              <a:t>texCoord</a:t>
            </a:r>
            <a:r>
              <a:rPr lang="en-US" altLang="zh-CN" sz="1600" dirty="0"/>
              <a:t> );</a:t>
            </a:r>
          </a:p>
        </p:txBody>
      </p:sp>
      <p:pic>
        <p:nvPicPr>
          <p:cNvPr id="7" name="Picture 6"/>
          <p:cNvPicPr/>
          <p:nvPr/>
        </p:nvPicPr>
        <p:blipFill rotWithShape="1">
          <a:blip r:embed="rId3"/>
          <a:srcRect l="13423" t="34333" r="8799" b="30713"/>
          <a:stretch>
            <a:fillRect/>
          </a:stretch>
        </p:blipFill>
        <p:spPr>
          <a:xfrm>
            <a:off x="1191086" y="4050225"/>
            <a:ext cx="2723536" cy="1295400"/>
          </a:xfrm>
          <a:prstGeom prst="rect">
            <a:avLst/>
          </a:prstGeom>
        </p:spPr>
      </p:pic>
      <p:pic>
        <p:nvPicPr>
          <p:cNvPr id="8" name="Picture 7"/>
          <p:cNvPicPr/>
          <p:nvPr/>
        </p:nvPicPr>
        <p:blipFill rotWithShape="1">
          <a:blip r:embed="rId4"/>
          <a:srcRect l="11137" t="32523" r="10241" b="28989"/>
          <a:stretch>
            <a:fillRect/>
          </a:stretch>
        </p:blipFill>
        <p:spPr>
          <a:xfrm>
            <a:off x="4938362" y="4004295"/>
            <a:ext cx="2753032" cy="1426369"/>
          </a:xfrm>
          <a:prstGeom prst="rect">
            <a:avLst/>
          </a:prstGeom>
        </p:spPr>
      </p:pic>
      <p:sp>
        <p:nvSpPr>
          <p:cNvPr id="2" name="标题 1"/>
          <p:cNvSpPr>
            <a:spLocks noGrp="1"/>
          </p:cNvSpPr>
          <p:nvPr>
            <p:ph type="title"/>
          </p:nvPr>
        </p:nvSpPr>
        <p:spPr/>
        <p:txBody>
          <a:bodyPr/>
          <a:lstStyle/>
          <a:p>
            <a:r>
              <a:rPr lang="zh-CN" altLang="en-US" dirty="0"/>
              <a:t>最终绘制方式</a:t>
            </a:r>
          </a:p>
        </p:txBody>
      </p:sp>
      <p:sp>
        <p:nvSpPr>
          <p:cNvPr id="3" name="内容占位符 2"/>
          <p:cNvSpPr>
            <a:spLocks noGrp="1"/>
          </p:cNvSpPr>
          <p:nvPr>
            <p:ph idx="1"/>
          </p:nvPr>
        </p:nvSpPr>
        <p:spPr/>
        <p:txBody>
          <a:bodyPr/>
          <a:lstStyle/>
          <a:p>
            <a:pPr>
              <a:buClr>
                <a:srgbClr val="94003F"/>
              </a:buClr>
            </a:pPr>
            <a:r>
              <a:rPr lang="zh-CN" altLang="en-US" sz="2400" dirty="0"/>
              <a:t>在片元着色器中设置纹理和物体表面颜色处理方式</a:t>
            </a:r>
            <a:endParaRPr lang="en-US" altLang="zh-CN" sz="1600" dirty="0"/>
          </a:p>
          <a:p>
            <a:pPr lvl="1">
              <a:buClr>
                <a:srgbClr val="94003F"/>
              </a:buClr>
            </a:pPr>
            <a:r>
              <a:rPr lang="zh-CN" altLang="en-US" sz="1800" b="1" dirty="0"/>
              <a:t>融合</a:t>
            </a:r>
            <a:r>
              <a:rPr lang="zh-CN" altLang="en-US" sz="1800" dirty="0"/>
              <a:t>：将纹理的颜色与明暗值的颜色进行融合</a:t>
            </a:r>
            <a:endParaRPr lang="en-US" altLang="zh-CN" sz="1800" dirty="0"/>
          </a:p>
          <a:p>
            <a:pPr lvl="2">
              <a:buClr>
                <a:srgbClr val="94003F"/>
              </a:buClr>
            </a:pPr>
            <a:r>
              <a:rPr lang="zh-CN" altLang="en-US" sz="1800" dirty="0"/>
              <a:t>可以是对应分量相乘</a:t>
            </a:r>
            <a:endParaRPr lang="en-US" altLang="zh-CN" sz="1800" dirty="0"/>
          </a:p>
          <a:p>
            <a:pPr lvl="2">
              <a:buClr>
                <a:srgbClr val="94003F"/>
              </a:buClr>
            </a:pPr>
            <a:r>
              <a:rPr lang="zh-CN" altLang="en-US" sz="1800" dirty="0"/>
              <a:t>也可以是简单的线性组合</a:t>
            </a:r>
            <a:endParaRPr lang="en-US" altLang="zh-CN" sz="1800" dirty="0"/>
          </a:p>
          <a:p>
            <a:pPr lvl="2">
              <a:buClr>
                <a:srgbClr val="94003F"/>
              </a:buClr>
            </a:pPr>
            <a:endParaRPr lang="en-US" altLang="zh-CN" sz="1800" dirty="0"/>
          </a:p>
          <a:p>
            <a:pPr lvl="1">
              <a:buClr>
                <a:srgbClr val="94003F"/>
              </a:buClr>
            </a:pPr>
            <a:endParaRPr lang="en-US" altLang="zh-CN" sz="1800" dirty="0"/>
          </a:p>
          <a:p>
            <a:pPr lvl="1">
              <a:buClr>
                <a:srgbClr val="94003F"/>
              </a:buClr>
            </a:pPr>
            <a:r>
              <a:rPr lang="zh-CN" altLang="en-US" sz="1800" b="1" dirty="0"/>
              <a:t>贴图</a:t>
            </a:r>
            <a:r>
              <a:rPr lang="zh-CN" altLang="en-US" sz="1800" dirty="0"/>
              <a:t>：片元的颜色完全由纹理的颜色决定</a:t>
            </a:r>
            <a:endParaRPr lang="en-US" altLang="zh-CN" sz="18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solidFill>
                  <a:prstClr val="black"/>
                </a:solidFill>
              </a:rPr>
              <a:t>77</a:t>
            </a:fld>
            <a:endParaRPr lang="zh-CN" altLang="en-US">
              <a:solidFill>
                <a:prstClr val="black"/>
              </a:solidFill>
            </a:endParaRPr>
          </a:p>
        </p:txBody>
      </p:sp>
      <p:sp>
        <p:nvSpPr>
          <p:cNvPr id="6" name="矩形 6"/>
          <p:cNvSpPr/>
          <p:nvPr/>
        </p:nvSpPr>
        <p:spPr>
          <a:xfrm>
            <a:off x="1363196" y="2767025"/>
            <a:ext cx="6274734" cy="338554"/>
          </a:xfrm>
          <a:prstGeom prst="rect">
            <a:avLst/>
          </a:prstGeom>
          <a:solidFill>
            <a:srgbClr val="BDD7EE">
              <a:alpha val="52941"/>
            </a:srgbClr>
          </a:solidFill>
        </p:spPr>
        <p:txBody>
          <a:bodyPr wrap="square">
            <a:spAutoFit/>
          </a:bodyPr>
          <a:lstStyle/>
          <a:p>
            <a:pPr>
              <a:buClr>
                <a:srgbClr val="94003F"/>
              </a:buClr>
            </a:pPr>
            <a:r>
              <a:rPr lang="en-US" altLang="zh-CN" sz="1600" dirty="0" err="1"/>
              <a:t>fColor</a:t>
            </a:r>
            <a:r>
              <a:rPr lang="en-US" altLang="zh-CN" sz="1600" dirty="0"/>
              <a:t> = color *0.5</a:t>
            </a:r>
            <a:r>
              <a:rPr lang="zh-CN" altLang="en-US" sz="1600" dirty="0"/>
              <a:t> </a:t>
            </a:r>
            <a:r>
              <a:rPr lang="en-US" altLang="zh-CN" sz="1600" dirty="0"/>
              <a:t>+ </a:t>
            </a:r>
            <a:r>
              <a:rPr lang="en-US" altLang="zh-CN" sz="1600" b="1" dirty="0"/>
              <a:t>texture</a:t>
            </a:r>
            <a:r>
              <a:rPr lang="en-US" altLang="zh-CN" sz="1600" dirty="0"/>
              <a:t>( texture1, </a:t>
            </a:r>
            <a:r>
              <a:rPr lang="en-US" altLang="zh-CN" sz="1600" dirty="0" err="1"/>
              <a:t>texCoord</a:t>
            </a:r>
            <a:r>
              <a:rPr lang="en-US" altLang="zh-CN" sz="1600" dirty="0"/>
              <a:t>)</a:t>
            </a:r>
            <a:r>
              <a:rPr lang="zh-CN" altLang="en-US" sz="1600" dirty="0"/>
              <a:t> * </a:t>
            </a:r>
            <a:r>
              <a:rPr lang="en-US" altLang="zh-CN" sz="1600" dirty="0"/>
              <a:t>0.5;</a:t>
            </a:r>
          </a:p>
        </p:txBody>
      </p:sp>
      <p:sp>
        <p:nvSpPr>
          <p:cNvPr id="11" name="TextBox 10"/>
          <p:cNvSpPr txBox="1"/>
          <p:nvPr/>
        </p:nvSpPr>
        <p:spPr>
          <a:xfrm>
            <a:off x="2024830" y="5282914"/>
            <a:ext cx="1109599" cy="307777"/>
          </a:xfrm>
          <a:prstGeom prst="rect">
            <a:avLst/>
          </a:prstGeom>
          <a:noFill/>
        </p:spPr>
        <p:txBody>
          <a:bodyPr wrap="none" rtlCol="0">
            <a:spAutoFit/>
          </a:bodyPr>
          <a:lstStyle/>
          <a:p>
            <a:r>
              <a:rPr lang="zh-CN" altLang="en-US" sz="1400"/>
              <a:t>初始明暗值</a:t>
            </a:r>
            <a:endParaRPr lang="en-US" sz="1400" dirty="0"/>
          </a:p>
        </p:txBody>
      </p:sp>
      <p:sp>
        <p:nvSpPr>
          <p:cNvPr id="12" name="TextBox 11"/>
          <p:cNvSpPr txBox="1"/>
          <p:nvPr/>
        </p:nvSpPr>
        <p:spPr>
          <a:xfrm>
            <a:off x="5976238" y="5276776"/>
            <a:ext cx="931665" cy="307777"/>
          </a:xfrm>
          <a:prstGeom prst="rect">
            <a:avLst/>
          </a:prstGeom>
          <a:noFill/>
        </p:spPr>
        <p:txBody>
          <a:bodyPr wrap="none" rtlCol="0">
            <a:spAutoFit/>
          </a:bodyPr>
          <a:lstStyle/>
          <a:p>
            <a:r>
              <a:rPr lang="zh-CN" altLang="en-US" sz="1400" dirty="0"/>
              <a:t>纹理贴图</a:t>
            </a:r>
            <a:endParaRPr lang="en-US" sz="1400" dirty="0"/>
          </a:p>
        </p:txBody>
      </p:sp>
      <p:sp>
        <p:nvSpPr>
          <p:cNvPr id="13" name="TextBox 12"/>
          <p:cNvSpPr txBox="1"/>
          <p:nvPr/>
        </p:nvSpPr>
        <p:spPr>
          <a:xfrm>
            <a:off x="4294823" y="6438580"/>
            <a:ext cx="543739" cy="307777"/>
          </a:xfrm>
          <a:prstGeom prst="rect">
            <a:avLst/>
          </a:prstGeom>
          <a:noFill/>
        </p:spPr>
        <p:txBody>
          <a:bodyPr wrap="none" rtlCol="0">
            <a:spAutoFit/>
          </a:bodyPr>
          <a:lstStyle/>
          <a:p>
            <a:r>
              <a:rPr lang="zh-CN" altLang="en-US" sz="1400"/>
              <a:t>融合</a:t>
            </a:r>
            <a:endParaRPr lang="en-US" sz="14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3200401" y="2094748"/>
            <a:ext cx="3032598" cy="796287"/>
          </a:xfrm>
          <a:prstGeom prst="roundRect">
            <a:avLst>
              <a:gd name="adj" fmla="val 50000"/>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角矩形 2"/>
          <p:cNvSpPr/>
          <p:nvPr/>
        </p:nvSpPr>
        <p:spPr>
          <a:xfrm>
            <a:off x="5418743" y="2115257"/>
            <a:ext cx="788833" cy="749851"/>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大纲</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78</a:t>
            </a:fld>
            <a:endParaRPr lang="zh-CN" altLang="en-US"/>
          </a:p>
        </p:txBody>
      </p:sp>
      <p:sp>
        <p:nvSpPr>
          <p:cNvPr id="8" name="文本框 7"/>
          <p:cNvSpPr txBox="1"/>
          <p:nvPr/>
        </p:nvSpPr>
        <p:spPr>
          <a:xfrm>
            <a:off x="3678000" y="3364107"/>
            <a:ext cx="2031325" cy="646331"/>
          </a:xfrm>
          <a:prstGeom prst="rect">
            <a:avLst/>
          </a:prstGeom>
          <a:noFill/>
        </p:spPr>
        <p:txBody>
          <a:bodyPr wrap="none" rtlCol="0">
            <a:spAutoFit/>
          </a:bodyPr>
          <a:lstStyle/>
          <a:p>
            <a:pPr algn="ctr"/>
            <a:r>
              <a:rPr lang="zh-CN" altLang="en-US" sz="3600" b="1" dirty="0">
                <a:latin typeface="微软雅黑" panose="020B0503020204020204" pitchFamily="34" charset="-122"/>
                <a:ea typeface="微软雅黑" panose="020B0503020204020204" pitchFamily="34" charset="-122"/>
              </a:rPr>
              <a:t>层级建模</a:t>
            </a:r>
          </a:p>
        </p:txBody>
      </p:sp>
      <p:sp>
        <p:nvSpPr>
          <p:cNvPr id="11" name="文本框 10"/>
          <p:cNvSpPr txBox="1"/>
          <p:nvPr/>
        </p:nvSpPr>
        <p:spPr>
          <a:xfrm>
            <a:off x="3376147" y="2138948"/>
            <a:ext cx="1755609" cy="707886"/>
          </a:xfrm>
          <a:prstGeom prst="rect">
            <a:avLst/>
          </a:prstGeom>
          <a:noFill/>
        </p:spPr>
        <p:txBody>
          <a:bodyPr wrap="none" rtlCol="0">
            <a:spAutoFit/>
          </a:bodyPr>
          <a:lstStyle/>
          <a:p>
            <a:pPr algn="ctr"/>
            <a:r>
              <a:rPr lang="en-US" altLang="zh-CN" sz="4000" b="1" dirty="0">
                <a:solidFill>
                  <a:schemeClr val="bg1"/>
                </a:solidFill>
              </a:rPr>
              <a:t>Section</a:t>
            </a:r>
            <a:endParaRPr lang="zh-CN" altLang="en-US" sz="4000" b="1" dirty="0">
              <a:solidFill>
                <a:schemeClr val="bg1"/>
              </a:solidFill>
            </a:endParaRPr>
          </a:p>
        </p:txBody>
      </p:sp>
      <p:sp>
        <p:nvSpPr>
          <p:cNvPr id="12" name="文本框 11"/>
          <p:cNvSpPr txBox="1"/>
          <p:nvPr/>
        </p:nvSpPr>
        <p:spPr>
          <a:xfrm>
            <a:off x="5523180" y="1913900"/>
            <a:ext cx="614271" cy="1107996"/>
          </a:xfrm>
          <a:prstGeom prst="rect">
            <a:avLst/>
          </a:prstGeom>
          <a:noFill/>
        </p:spPr>
        <p:txBody>
          <a:bodyPr wrap="none" rtlCol="0">
            <a:spAutoFit/>
          </a:bodyPr>
          <a:lstStyle/>
          <a:p>
            <a:pPr algn="ctr"/>
            <a:r>
              <a:rPr lang="en-US" altLang="zh-CN" sz="6600" b="1" i="1" dirty="0">
                <a:solidFill>
                  <a:srgbClr val="94003F"/>
                </a:solidFill>
              </a:rPr>
              <a:t>5</a:t>
            </a:r>
            <a:endParaRPr lang="zh-CN" altLang="en-US" sz="6600" b="1" i="1" dirty="0">
              <a:solidFill>
                <a:srgbClr val="94003F"/>
              </a:solidFill>
            </a:endParaRPr>
          </a:p>
        </p:txBody>
      </p:sp>
      <p:sp>
        <p:nvSpPr>
          <p:cNvPr id="6" name="等腰三角形 5"/>
          <p:cNvSpPr/>
          <p:nvPr/>
        </p:nvSpPr>
        <p:spPr>
          <a:xfrm rot="10800000">
            <a:off x="4447572" y="2804325"/>
            <a:ext cx="492176" cy="321924"/>
          </a:xfrm>
          <a:prstGeom prst="triangl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图符</a:t>
            </a:r>
            <a:endParaRPr lang="en-US" dirty="0"/>
          </a:p>
        </p:txBody>
      </p:sp>
      <p:sp>
        <p:nvSpPr>
          <p:cNvPr id="3" name="Content Placeholder 2"/>
          <p:cNvSpPr>
            <a:spLocks noGrp="1"/>
          </p:cNvSpPr>
          <p:nvPr>
            <p:ph idx="1"/>
          </p:nvPr>
        </p:nvSpPr>
        <p:spPr>
          <a:xfrm>
            <a:off x="628650" y="1316831"/>
            <a:ext cx="7886700" cy="5176044"/>
          </a:xfrm>
        </p:spPr>
        <p:txBody>
          <a:bodyPr>
            <a:normAutofit/>
          </a:bodyPr>
          <a:lstStyle/>
          <a:p>
            <a:r>
              <a:rPr lang="zh-CN" altLang="en-US" sz="2400" dirty="0"/>
              <a:t>大多数图形</a:t>
            </a:r>
            <a:r>
              <a:rPr lang="en-US" altLang="zh-CN" sz="2400" dirty="0"/>
              <a:t>API</a:t>
            </a:r>
            <a:r>
              <a:rPr lang="zh-CN" altLang="en-US" sz="2400" dirty="0"/>
              <a:t>对图元采取</a:t>
            </a:r>
            <a:r>
              <a:rPr lang="zh-CN" altLang="en-US" sz="2400" dirty="0">
                <a:solidFill>
                  <a:srgbClr val="0000FF"/>
                </a:solidFill>
              </a:rPr>
              <a:t>最小完备</a:t>
            </a:r>
            <a:r>
              <a:rPr lang="zh-CN" altLang="en-US" sz="2400" dirty="0"/>
              <a:t>的观点：</a:t>
            </a:r>
            <a:endParaRPr lang="en-US" altLang="zh-CN" sz="2400" dirty="0"/>
          </a:p>
          <a:p>
            <a:pPr lvl="1"/>
            <a:r>
              <a:rPr lang="zh-CN" altLang="en-US" sz="1800" dirty="0"/>
              <a:t>他们只包含少数的基本图元</a:t>
            </a:r>
            <a:endParaRPr lang="en-US" altLang="zh-CN" sz="1800" dirty="0"/>
          </a:p>
          <a:p>
            <a:pPr lvl="1"/>
            <a:r>
              <a:rPr lang="zh-CN" altLang="en-US" sz="1800" dirty="0"/>
              <a:t>而让用户通过这些基本的图元来构建更复杂的对象</a:t>
            </a:r>
            <a:endParaRPr lang="en-US" altLang="zh-CN" sz="1800" dirty="0"/>
          </a:p>
          <a:p>
            <a:pPr lvl="1"/>
            <a:endParaRPr lang="en-US" sz="1800" dirty="0"/>
          </a:p>
          <a:p>
            <a:r>
              <a:rPr lang="zh-CN" altLang="en-US" sz="2600" dirty="0"/>
              <a:t>这些基本图元通常被视为一些</a:t>
            </a:r>
            <a:r>
              <a:rPr lang="zh-CN" altLang="en-US" sz="2600" dirty="0">
                <a:solidFill>
                  <a:srgbClr val="0000FF"/>
                </a:solidFill>
              </a:rPr>
              <a:t>图符</a:t>
            </a:r>
            <a:r>
              <a:rPr lang="zh-CN" altLang="en-US" sz="2600" dirty="0"/>
              <a:t>（</a:t>
            </a:r>
            <a:r>
              <a:rPr lang="en-US" altLang="zh-CN" sz="2600" dirty="0"/>
              <a:t>symbol</a:t>
            </a:r>
            <a:r>
              <a:rPr lang="zh-CN" altLang="en-US" sz="2600" dirty="0"/>
              <a:t>），所要建模的世界可以看成由这些离散的图符组成</a:t>
            </a:r>
            <a:endParaRPr lang="en-US" altLang="zh-CN" sz="2600" dirty="0"/>
          </a:p>
          <a:p>
            <a:endParaRPr lang="en-US" sz="2600" dirty="0"/>
          </a:p>
          <a:p>
            <a:r>
              <a:rPr lang="zh-CN" altLang="en-US" sz="2600" dirty="0"/>
              <a:t>通常根据自身的几何特征表示为合适的大小和方位：</a:t>
            </a:r>
            <a:endParaRPr lang="en-US" altLang="zh-CN" sz="2600" dirty="0"/>
          </a:p>
          <a:p>
            <a:pPr lvl="1"/>
            <a:r>
              <a:rPr lang="zh-CN" altLang="en-US" sz="1800" dirty="0"/>
              <a:t>圆柱体：</a:t>
            </a:r>
            <a:endParaRPr lang="en-US" altLang="zh-CN" sz="1800" dirty="0"/>
          </a:p>
          <a:p>
            <a:pPr lvl="2"/>
            <a:r>
              <a:rPr lang="zh-CN" altLang="en-US" sz="1800" dirty="0"/>
              <a:t>中心轴与坐标系的某个主轴平行</a:t>
            </a:r>
            <a:endParaRPr lang="en-US" altLang="zh-CN" sz="1800" dirty="0"/>
          </a:p>
          <a:p>
            <a:pPr lvl="2"/>
            <a:r>
              <a:rPr lang="zh-CN" altLang="en-US" sz="1800" dirty="0"/>
              <a:t>高度为</a:t>
            </a:r>
            <a:r>
              <a:rPr lang="en-US" altLang="zh-CN" sz="1800" dirty="0"/>
              <a:t>1</a:t>
            </a:r>
            <a:r>
              <a:rPr lang="zh-CN" altLang="en-US" sz="1800" dirty="0"/>
              <a:t>个单位</a:t>
            </a:r>
            <a:endParaRPr lang="en-US" altLang="zh-CN" sz="1800" dirty="0"/>
          </a:p>
          <a:p>
            <a:pPr lvl="2"/>
            <a:r>
              <a:rPr lang="zh-CN" altLang="en-US" sz="1800" dirty="0"/>
              <a:t>半径为</a:t>
            </a:r>
            <a:r>
              <a:rPr lang="en-US" altLang="zh-CN" sz="1800" dirty="0"/>
              <a:t>1</a:t>
            </a:r>
            <a:r>
              <a:rPr lang="zh-CN" altLang="en-US" sz="1800" dirty="0"/>
              <a:t>个单位</a:t>
            </a:r>
            <a:endParaRPr lang="en-US" altLang="zh-CN" sz="1800" dirty="0"/>
          </a:p>
          <a:p>
            <a:pPr lvl="2"/>
            <a:r>
              <a:rPr lang="zh-CN" altLang="en-US" sz="1800" dirty="0"/>
              <a:t>底面圆心与坐标系的原点重合</a:t>
            </a:r>
            <a:endParaRPr lang="en-US" sz="1800"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t>79</a:t>
            </a:fld>
            <a:endParaRPr lang="zh-CN" alt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12300" y="4510300"/>
            <a:ext cx="2091661" cy="2250198"/>
          </a:xfrm>
          <a:prstGeom prst="rect">
            <a:avLst/>
          </a:prstGeom>
        </p:spPr>
      </p:pic>
      <p:sp>
        <p:nvSpPr>
          <p:cNvPr id="6" name="TextBox 5"/>
          <p:cNvSpPr txBox="1"/>
          <p:nvPr/>
        </p:nvSpPr>
        <p:spPr>
          <a:xfrm>
            <a:off x="6740804" y="4954772"/>
            <a:ext cx="1415772" cy="584775"/>
          </a:xfrm>
          <a:prstGeom prst="rect">
            <a:avLst/>
          </a:prstGeom>
          <a:noFill/>
        </p:spPr>
        <p:txBody>
          <a:bodyPr wrap="none" rtlCol="0">
            <a:spAutoFit/>
          </a:bodyPr>
          <a:lstStyle/>
          <a:p>
            <a:pPr algn="ctr"/>
            <a:r>
              <a:rPr lang="zh-CN" altLang="en-US" sz="1600" dirty="0">
                <a:solidFill>
                  <a:srgbClr val="0000FF"/>
                </a:solidFill>
              </a:rPr>
              <a:t>建模标架</a:t>
            </a:r>
            <a:endParaRPr lang="en-US" altLang="zh-CN" sz="1600" dirty="0">
              <a:solidFill>
                <a:srgbClr val="0000FF"/>
              </a:solidFill>
            </a:endParaRPr>
          </a:p>
          <a:p>
            <a:pPr algn="ctr"/>
            <a:r>
              <a:rPr lang="zh-CN" altLang="en-US" sz="1600" dirty="0">
                <a:solidFill>
                  <a:srgbClr val="0000FF"/>
                </a:solidFill>
              </a:rPr>
              <a:t>（对象标架）</a:t>
            </a:r>
            <a:endParaRPr lang="en-US" sz="1600" dirty="0">
              <a:solidFill>
                <a:srgbClr val="0000FF"/>
              </a:solidFill>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实例变换</a:t>
            </a:r>
          </a:p>
        </p:txBody>
      </p:sp>
      <p:sp>
        <p:nvSpPr>
          <p:cNvPr id="6" name="Content Placeholder 5"/>
          <p:cNvSpPr>
            <a:spLocks noGrp="1"/>
          </p:cNvSpPr>
          <p:nvPr>
            <p:ph idx="1"/>
          </p:nvPr>
        </p:nvSpPr>
        <p:spPr>
          <a:xfrm>
            <a:off x="628650" y="1316830"/>
            <a:ext cx="7886700" cy="5381681"/>
          </a:xfrm>
        </p:spPr>
        <p:txBody>
          <a:bodyPr/>
          <a:lstStyle/>
          <a:p>
            <a:pPr>
              <a:buClr>
                <a:srgbClr val="94003F"/>
              </a:buClr>
            </a:pPr>
            <a:r>
              <a:rPr lang="zh-CN" altLang="en-US" sz="2400" dirty="0"/>
              <a:t>在</a:t>
            </a:r>
            <a:r>
              <a:rPr lang="en-US" altLang="zh-CN" sz="2400" dirty="0"/>
              <a:t>OpenGL</a:t>
            </a:r>
            <a:r>
              <a:rPr lang="zh-CN" altLang="en-US" sz="2400" dirty="0"/>
              <a:t>应用程序中，必须通过几何变换把图符从</a:t>
            </a:r>
            <a:r>
              <a:rPr lang="zh-CN" altLang="en-US" sz="2400" dirty="0">
                <a:solidFill>
                  <a:srgbClr val="0000FF"/>
                </a:solidFill>
              </a:rPr>
              <a:t>建模标架</a:t>
            </a:r>
            <a:r>
              <a:rPr lang="zh-CN" altLang="en-US" sz="2400" dirty="0"/>
              <a:t>变换到</a:t>
            </a:r>
            <a:r>
              <a:rPr lang="zh-CN" altLang="en-US" sz="2400" dirty="0">
                <a:solidFill>
                  <a:srgbClr val="0000FF"/>
                </a:solidFill>
              </a:rPr>
              <a:t>世界标架</a:t>
            </a:r>
            <a:r>
              <a:rPr lang="zh-CN" altLang="en-US" sz="2400" dirty="0"/>
              <a:t>，得到一个</a:t>
            </a:r>
            <a:r>
              <a:rPr lang="zh-CN" altLang="en-US" sz="2400" dirty="0">
                <a:solidFill>
                  <a:srgbClr val="0000FF"/>
                </a:solidFill>
              </a:rPr>
              <a:t>实例</a:t>
            </a:r>
            <a:r>
              <a:rPr lang="zh-CN" altLang="en-US" sz="2400" dirty="0"/>
              <a:t>（</a:t>
            </a:r>
            <a:r>
              <a:rPr lang="en-US" altLang="zh-CN" sz="2400" dirty="0"/>
              <a:t>instance</a:t>
            </a:r>
            <a:r>
              <a:rPr lang="zh-CN" altLang="en-US" sz="2400" dirty="0"/>
              <a:t>）</a:t>
            </a:r>
            <a:endParaRPr lang="en-US" altLang="zh-CN" sz="2400" dirty="0"/>
          </a:p>
          <a:p>
            <a:pPr>
              <a:buClr>
                <a:srgbClr val="94003F"/>
              </a:buClr>
            </a:pPr>
            <a:endParaRPr lang="en-US" altLang="zh-CN" sz="2400" dirty="0"/>
          </a:p>
          <a:p>
            <a:pPr>
              <a:buClr>
                <a:srgbClr val="94003F"/>
              </a:buClr>
            </a:pPr>
            <a:r>
              <a:rPr lang="zh-CN" altLang="en-US" sz="2400" dirty="0"/>
              <a:t>实例变化把每个图符实例按照所需的</a:t>
            </a:r>
            <a:r>
              <a:rPr lang="zh-CN" altLang="en-US" sz="2400" dirty="0">
                <a:solidFill>
                  <a:srgbClr val="0000FF"/>
                </a:solidFill>
              </a:rPr>
              <a:t>大小</a:t>
            </a:r>
            <a:r>
              <a:rPr lang="zh-CN" altLang="en-US" sz="2400" dirty="0"/>
              <a:t>，</a:t>
            </a:r>
            <a:r>
              <a:rPr lang="zh-CN" altLang="en-US" sz="2400" dirty="0">
                <a:solidFill>
                  <a:srgbClr val="0000FF"/>
                </a:solidFill>
              </a:rPr>
              <a:t>方向</a:t>
            </a:r>
            <a:r>
              <a:rPr lang="zh-CN" altLang="en-US" sz="2400" dirty="0"/>
              <a:t>和</a:t>
            </a:r>
            <a:r>
              <a:rPr lang="zh-CN" altLang="en-US" sz="2400" dirty="0">
                <a:solidFill>
                  <a:srgbClr val="0000FF"/>
                </a:solidFill>
              </a:rPr>
              <a:t>位置</a:t>
            </a:r>
            <a:r>
              <a:rPr lang="zh-CN" altLang="en-US" sz="2400" dirty="0"/>
              <a:t>放入到场景中：</a:t>
            </a:r>
            <a:endParaRPr lang="en-US" altLang="zh-CN" sz="2400" dirty="0">
              <a:solidFill>
                <a:srgbClr val="0000FF"/>
              </a:solidFill>
            </a:endParaRPr>
          </a:p>
          <a:p>
            <a:pPr>
              <a:buClr>
                <a:srgbClr val="94003F"/>
              </a:buClr>
            </a:pPr>
            <a:endParaRPr lang="en-US" altLang="zh-CN" sz="2400" dirty="0">
              <a:solidFill>
                <a:srgbClr val="0000FF"/>
              </a:solidFill>
            </a:endParaRPr>
          </a:p>
          <a:p>
            <a:pPr>
              <a:buClr>
                <a:srgbClr val="94003F"/>
              </a:buClr>
            </a:pPr>
            <a:endParaRPr lang="en-US" altLang="zh-CN" sz="2400" dirty="0">
              <a:solidFill>
                <a:srgbClr val="0000FF"/>
              </a:solidFill>
            </a:endParaRPr>
          </a:p>
          <a:p>
            <a:pPr>
              <a:buClr>
                <a:srgbClr val="94003F"/>
              </a:buClr>
            </a:pPr>
            <a:endParaRPr lang="en-US" altLang="zh-CN" sz="2400" dirty="0">
              <a:solidFill>
                <a:srgbClr val="0000FF"/>
              </a:solidFill>
            </a:endParaRPr>
          </a:p>
          <a:p>
            <a:pPr>
              <a:buClr>
                <a:srgbClr val="94003F"/>
              </a:buClr>
            </a:pPr>
            <a:endParaRPr lang="en-US" altLang="zh-CN" sz="2400" dirty="0">
              <a:solidFill>
                <a:srgbClr val="0000FF"/>
              </a:solidFill>
            </a:endParaRPr>
          </a:p>
          <a:p>
            <a:pPr>
              <a:buClr>
                <a:srgbClr val="94003F"/>
              </a:buClr>
            </a:pPr>
            <a:endParaRPr lang="en-US" altLang="zh-CN" sz="2400" dirty="0">
              <a:solidFill>
                <a:srgbClr val="0000FF"/>
              </a:solidFill>
            </a:endParaRPr>
          </a:p>
          <a:p>
            <a:pPr>
              <a:buClr>
                <a:srgbClr val="94003F"/>
              </a:buClr>
            </a:pPr>
            <a:endParaRPr lang="en-US" altLang="zh-CN" sz="2400" dirty="0">
              <a:solidFill>
                <a:srgbClr val="0000FF"/>
              </a:solidFill>
            </a:endParaRPr>
          </a:p>
          <a:p>
            <a:pPr>
              <a:buClr>
                <a:srgbClr val="94003F"/>
              </a:buClr>
            </a:pPr>
            <a:endParaRPr lang="en-US" altLang="zh-CN" sz="2400" dirty="0">
              <a:solidFill>
                <a:srgbClr val="0000FF"/>
              </a:solidFill>
            </a:endParaRPr>
          </a:p>
          <a:p>
            <a:endParaRPr lang="en-US" dirty="0"/>
          </a:p>
        </p:txBody>
      </p:sp>
      <p:sp>
        <p:nvSpPr>
          <p:cNvPr id="3" name="灯片编号占位符 2"/>
          <p:cNvSpPr>
            <a:spLocks noGrp="1"/>
          </p:cNvSpPr>
          <p:nvPr>
            <p:ph type="sldNum" sz="quarter" idx="12"/>
          </p:nvPr>
        </p:nvSpPr>
        <p:spPr/>
        <p:txBody>
          <a:bodyPr/>
          <a:lstStyle/>
          <a:p>
            <a:fld id="{EB792F4E-54C0-4D36-B331-9C6FCFE9A340}" type="slidenum">
              <a:rPr lang="zh-CN" altLang="en-US" smtClean="0"/>
              <a:t>80</a:t>
            </a:fld>
            <a:endParaRPr lang="zh-CN" altLang="en-US"/>
          </a:p>
        </p:txBody>
      </p:sp>
      <p:sp>
        <p:nvSpPr>
          <p:cNvPr id="4" name="灯片编号占位符 2"/>
          <p:cNvSpPr txBox="1"/>
          <p:nvPr/>
        </p:nvSpPr>
        <p:spPr>
          <a:xfrm>
            <a:off x="8451988" y="6492875"/>
            <a:ext cx="762828" cy="365125"/>
          </a:xfrm>
          <a:prstGeom prst="rect">
            <a:avLst/>
          </a:prstGeom>
        </p:spPr>
        <p:txBody>
          <a:bodyPr vert="horz" lIns="91440" tIns="45720" rIns="91440" bIns="45720" rtlCol="0" anchor="ctr"/>
          <a:lstStyle>
            <a:defPPr>
              <a:defRPr lang="zh-CN"/>
            </a:defPPr>
            <a:lvl1pPr marL="0" algn="ctr" defTabSz="914400" rtl="0" eaLnBrk="1" latinLnBrk="0" hangingPunct="1">
              <a:defRPr sz="1600" b="1" kern="1200">
                <a:solidFill>
                  <a:schemeClr val="tx1"/>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B792F4E-54C0-4D36-B331-9C6FCFE9A340}" type="slidenum">
              <a:rPr lang="zh-CN" altLang="en-US" smtClean="0"/>
              <a:t>80</a:t>
            </a:fld>
            <a:endParaRPr lang="zh-CN" altLang="en-US"/>
          </a:p>
        </p:txBody>
      </p:sp>
      <p:sp>
        <p:nvSpPr>
          <p:cNvPr id="5" name="内容占位符 2"/>
          <p:cNvSpPr txBox="1"/>
          <p:nvPr/>
        </p:nvSpPr>
        <p:spPr>
          <a:xfrm>
            <a:off x="565288" y="1494942"/>
            <a:ext cx="7886700" cy="4352925"/>
          </a:xfrm>
          <a:prstGeom prst="rect">
            <a:avLst/>
          </a:prstGeom>
        </p:spPr>
        <p:txBody>
          <a:bodyPr vert="horz" lIns="91440" tIns="45720" rIns="91440" bIns="45720" rtlCol="0">
            <a:normAutofit/>
          </a:bodyPr>
          <a:lstStyle>
            <a:lvl1pPr marL="228600" indent="-360045" algn="l" defTabSz="914400" rtl="0" eaLnBrk="1" latinLnBrk="0" hangingPunct="1">
              <a:lnSpc>
                <a:spcPct val="90000"/>
              </a:lnSpc>
              <a:spcBef>
                <a:spcPts val="1000"/>
              </a:spcBef>
              <a:buClr>
                <a:srgbClr val="002060"/>
              </a:buClr>
              <a:buSzPct val="70000"/>
              <a:buFont typeface="Wingdings" panose="05000000000000000000" pitchFamily="2" charset="2"/>
              <a:buChar char="u"/>
              <a:defRPr sz="2800" b="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04b" panose="00000400000000000000" pitchFamily="2"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rgbClr val="94003F"/>
              </a:buClr>
            </a:pPr>
            <a:endParaRPr lang="zh-CN" altLang="en-US" sz="1600" dirty="0"/>
          </a:p>
        </p:txBody>
      </p:sp>
      <p:pic>
        <p:nvPicPr>
          <p:cNvPr id="8" name="图片 7"/>
          <p:cNvPicPr>
            <a:picLocks noChangeAspect="1"/>
          </p:cNvPicPr>
          <p:nvPr/>
        </p:nvPicPr>
        <p:blipFill>
          <a:blip r:embed="rId2"/>
          <a:stretch>
            <a:fillRect/>
          </a:stretch>
        </p:blipFill>
        <p:spPr>
          <a:xfrm>
            <a:off x="628650" y="3717905"/>
            <a:ext cx="7673111" cy="2886075"/>
          </a:xfrm>
          <a:prstGeom prst="rect">
            <a:avLst/>
          </a:prstGeom>
        </p:spPr>
      </p:pic>
      <mc:AlternateContent xmlns:mc="http://schemas.openxmlformats.org/markup-compatibility/2006" xmlns:a14="http://schemas.microsoft.com/office/drawing/2010/main">
        <mc:Choice Requires="a14">
          <p:sp>
            <p:nvSpPr>
              <p:cNvPr id="7" name="TextBox 6"/>
              <p:cNvSpPr txBox="1"/>
              <p:nvPr/>
            </p:nvSpPr>
            <p:spPr>
              <a:xfrm>
                <a:off x="3809216" y="3393932"/>
                <a:ext cx="1398844"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charset="0"/>
                        </a:rPr>
                        <m:t>𝑴</m:t>
                      </m:r>
                      <m:r>
                        <a:rPr lang="en-US" altLang="zh-CN" sz="2400" b="1" i="1" smtClean="0">
                          <a:latin typeface="Cambria Math" panose="02040503050406030204" charset="0"/>
                        </a:rPr>
                        <m:t>= </m:t>
                      </m:r>
                      <m:r>
                        <a:rPr lang="en-US" altLang="zh-CN" sz="2400" b="1" i="1" smtClean="0">
                          <a:latin typeface="Cambria Math" panose="02040503050406030204" charset="0"/>
                        </a:rPr>
                        <m:t>𝑻𝑹𝑺</m:t>
                      </m:r>
                    </m:oMath>
                  </m:oMathPara>
                </a14:m>
                <a:endParaRPr lang="en-US" sz="2400" b="1" i="1" dirty="0"/>
              </a:p>
            </p:txBody>
          </p:sp>
        </mc:Choice>
        <mc:Fallback xmlns="">
          <p:sp>
            <p:nvSpPr>
              <p:cNvPr id="7" name="TextBox 6"/>
              <p:cNvSpPr txBox="1">
                <a:spLocks noRot="1" noChangeAspect="1" noMove="1" noResize="1" noEditPoints="1" noAdjustHandles="1" noChangeArrowheads="1" noChangeShapeType="1" noTextEdit="1"/>
              </p:cNvSpPr>
              <p:nvPr/>
            </p:nvSpPr>
            <p:spPr>
              <a:xfrm>
                <a:off x="3809216" y="3393932"/>
                <a:ext cx="1398844" cy="369332"/>
              </a:xfrm>
              <a:prstGeom prst="rect">
                <a:avLst/>
              </a:prstGeom>
              <a:blipFill rotWithShape="1">
                <a:blip r:embed="rId3"/>
                <a:stretch>
                  <a:fillRect l="-35" t="-133" r="-2421" b="69"/>
                </a:stretch>
              </a:blipFill>
            </p:spPr>
            <p:txBody>
              <a:bodyPr/>
              <a:lstStyle/>
              <a:p>
                <a:r>
                  <a:rPr lang="zh-CN" altLang="en-US">
                    <a:noFill/>
                  </a:rPr>
                  <a:t> </a:t>
                </a:r>
              </a:p>
            </p:txBody>
          </p:sp>
        </mc:Fallback>
      </mc:AlternateContent>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机器人手臂</a:t>
            </a:r>
          </a:p>
        </p:txBody>
      </p:sp>
      <p:sp>
        <p:nvSpPr>
          <p:cNvPr id="5" name="Content Placeholder 4"/>
          <p:cNvSpPr>
            <a:spLocks noGrp="1"/>
          </p:cNvSpPr>
          <p:nvPr>
            <p:ph idx="1"/>
          </p:nvPr>
        </p:nvSpPr>
        <p:spPr/>
        <p:txBody>
          <a:bodyPr/>
          <a:lstStyle/>
          <a:p>
            <a:r>
              <a:rPr lang="zh-CN" altLang="en-US" dirty="0"/>
              <a:t>整体模型和各个部件：</a:t>
            </a:r>
            <a:endParaRPr lang="en-US" dirty="0"/>
          </a:p>
        </p:txBody>
      </p:sp>
      <p:sp>
        <p:nvSpPr>
          <p:cNvPr id="3" name="灯片编号占位符 2"/>
          <p:cNvSpPr>
            <a:spLocks noGrp="1"/>
          </p:cNvSpPr>
          <p:nvPr>
            <p:ph type="sldNum" sz="quarter" idx="12"/>
          </p:nvPr>
        </p:nvSpPr>
        <p:spPr/>
        <p:txBody>
          <a:bodyPr/>
          <a:lstStyle/>
          <a:p>
            <a:fld id="{EB792F4E-54C0-4D36-B331-9C6FCFE9A340}" type="slidenum">
              <a:rPr lang="zh-CN" altLang="en-US" smtClean="0"/>
              <a:t>81</a:t>
            </a:fld>
            <a:endParaRPr lang="zh-CN" altLang="en-US"/>
          </a:p>
        </p:txBody>
      </p:sp>
      <p:pic>
        <p:nvPicPr>
          <p:cNvPr id="4" name="图片 3"/>
          <p:cNvPicPr>
            <a:picLocks noChangeAspect="1"/>
          </p:cNvPicPr>
          <p:nvPr/>
        </p:nvPicPr>
        <p:blipFill>
          <a:blip r:embed="rId2"/>
          <a:stretch>
            <a:fillRect/>
          </a:stretch>
        </p:blipFill>
        <p:spPr>
          <a:xfrm>
            <a:off x="733647" y="2262673"/>
            <a:ext cx="7963785" cy="3678136"/>
          </a:xfrm>
          <a:prstGeom prst="rect">
            <a:avLst/>
          </a:prstGeom>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关联模型</a:t>
            </a:r>
          </a:p>
        </p:txBody>
      </p:sp>
      <p:sp>
        <p:nvSpPr>
          <p:cNvPr id="3" name="内容占位符 2"/>
          <p:cNvSpPr>
            <a:spLocks noGrp="1"/>
          </p:cNvSpPr>
          <p:nvPr>
            <p:ph idx="1"/>
          </p:nvPr>
        </p:nvSpPr>
        <p:spPr/>
        <p:txBody>
          <a:bodyPr/>
          <a:lstStyle/>
          <a:p>
            <a:pPr>
              <a:buClr>
                <a:srgbClr val="94003F"/>
              </a:buClr>
            </a:pPr>
            <a:r>
              <a:rPr lang="zh-CN" altLang="en-US" sz="2400" dirty="0"/>
              <a:t>机器人手臂就是一个</a:t>
            </a:r>
            <a:r>
              <a:rPr lang="zh-CN" altLang="en-US" sz="2400" dirty="0">
                <a:solidFill>
                  <a:srgbClr val="0000FF"/>
                </a:solidFill>
              </a:rPr>
              <a:t>关联模型</a:t>
            </a:r>
            <a:r>
              <a:rPr lang="en-US" altLang="zh-CN" sz="2400" dirty="0">
                <a:solidFill>
                  <a:srgbClr val="0000FF"/>
                </a:solidFill>
              </a:rPr>
              <a:t>(articulated model) </a:t>
            </a:r>
          </a:p>
          <a:p>
            <a:pPr>
              <a:buClr>
                <a:srgbClr val="94003F"/>
              </a:buClr>
            </a:pPr>
            <a:r>
              <a:rPr lang="zh-CN" altLang="en-US" sz="2400" dirty="0"/>
              <a:t>部件之间在关节处连接在一起</a:t>
            </a:r>
          </a:p>
          <a:p>
            <a:pPr>
              <a:buClr>
                <a:srgbClr val="94003F"/>
              </a:buClr>
            </a:pPr>
            <a:r>
              <a:rPr lang="zh-CN" altLang="en-US" sz="2400" dirty="0"/>
              <a:t>可以通过给定</a:t>
            </a:r>
            <a:r>
              <a:rPr lang="zh-CN" altLang="en-US" sz="2400" dirty="0">
                <a:solidFill>
                  <a:srgbClr val="0000FF"/>
                </a:solidFill>
              </a:rPr>
              <a:t>关节角</a:t>
            </a:r>
            <a:r>
              <a:rPr lang="zh-CN" altLang="en-US" sz="2400" dirty="0"/>
              <a:t>指定模型的状态</a:t>
            </a:r>
            <a:endParaRPr lang="en-US" altLang="zh-CN" sz="2400" dirty="0"/>
          </a:p>
          <a:p>
            <a:pPr>
              <a:buClr>
                <a:srgbClr val="94003F"/>
              </a:buClr>
            </a:pPr>
            <a:endParaRPr lang="en-US" altLang="zh-CN" sz="16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82</a:t>
            </a:fld>
            <a:endParaRPr lang="zh-CN" altLang="en-US"/>
          </a:p>
        </p:txBody>
      </p:sp>
      <p:pic>
        <p:nvPicPr>
          <p:cNvPr id="6" name="图片 5"/>
          <p:cNvPicPr>
            <a:picLocks noChangeAspect="1"/>
          </p:cNvPicPr>
          <p:nvPr/>
        </p:nvPicPr>
        <p:blipFill>
          <a:blip r:embed="rId2"/>
          <a:stretch>
            <a:fillRect/>
          </a:stretch>
        </p:blipFill>
        <p:spPr>
          <a:xfrm>
            <a:off x="1548825" y="3020615"/>
            <a:ext cx="2215101" cy="3568591"/>
          </a:xfrm>
          <a:prstGeom prst="rect">
            <a:avLst/>
          </a:prstGeom>
        </p:spPr>
      </p:pic>
      <p:pic>
        <p:nvPicPr>
          <p:cNvPr id="7" name="图片 5"/>
          <p:cNvPicPr>
            <a:picLocks noChangeAspect="1"/>
          </p:cNvPicPr>
          <p:nvPr/>
        </p:nvPicPr>
        <p:blipFill>
          <a:blip r:embed="rId3"/>
          <a:stretch>
            <a:fillRect/>
          </a:stretch>
        </p:blipFill>
        <p:spPr>
          <a:xfrm>
            <a:off x="5257547" y="3017748"/>
            <a:ext cx="1687150" cy="3475127"/>
          </a:xfrm>
          <a:prstGeom prst="rect">
            <a:avLst/>
          </a:prstGeom>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变换矩阵</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a:bodyPr>
              <a:lstStyle/>
              <a:p>
                <a:pPr>
                  <a:buClr>
                    <a:srgbClr val="94003F"/>
                  </a:buClr>
                </a:pPr>
                <a:r>
                  <a:rPr lang="zh-CN" altLang="en-US" sz="2400" dirty="0"/>
                  <a:t>支架的旋转：</a:t>
                </a:r>
                <a14:m>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charset="0"/>
                          </a:rPr>
                          <m:t>𝑅</m:t>
                        </m:r>
                      </m:e>
                      <m:sub>
                        <m:r>
                          <m:rPr>
                            <m:sty m:val="p"/>
                          </m:rPr>
                          <a:rPr lang="en-US" altLang="zh-CN" sz="2400" i="1">
                            <a:latin typeface="Cambria Math" panose="02040503050406030204" charset="0"/>
                          </a:rPr>
                          <m:t>b</m:t>
                        </m:r>
                      </m:sub>
                    </m:sSub>
                  </m:oMath>
                </a14:m>
                <a:endParaRPr lang="en-US" altLang="zh-CN" sz="2400" dirty="0"/>
              </a:p>
              <a:p>
                <a:pPr lvl="1">
                  <a:lnSpc>
                    <a:spcPct val="100000"/>
                  </a:lnSpc>
                  <a:buClr>
                    <a:srgbClr val="94003F"/>
                  </a:buClr>
                </a:pPr>
                <a:r>
                  <a:rPr lang="zh-CN" altLang="en-US" sz="1600" dirty="0"/>
                  <a:t>把</a:t>
                </a:r>
                <a:r>
                  <a:rPr lang="en-US" altLang="zh-CN" sz="1600" dirty="0">
                    <a:solidFill>
                      <a:srgbClr val="0000FF"/>
                    </a:solidFill>
                  </a:rPr>
                  <a:t>M = </a:t>
                </a:r>
                <a14:m>
                  <m:oMath xmlns:m="http://schemas.openxmlformats.org/officeDocument/2006/math">
                    <m:sSub>
                      <m:sSubPr>
                        <m:ctrlPr>
                          <a:rPr lang="en-US" altLang="zh-CN" sz="1600" i="1">
                            <a:solidFill>
                              <a:srgbClr val="0000FF"/>
                            </a:solidFill>
                            <a:latin typeface="Cambria Math" panose="02040503050406030204" pitchFamily="18" charset="0"/>
                          </a:rPr>
                        </m:ctrlPr>
                      </m:sSubPr>
                      <m:e>
                        <m:r>
                          <a:rPr lang="en-US" altLang="zh-CN" sz="1600" b="0" i="1" smtClean="0">
                            <a:solidFill>
                              <a:srgbClr val="0000FF"/>
                            </a:solidFill>
                            <a:latin typeface="Cambria Math" panose="02040503050406030204" charset="0"/>
                          </a:rPr>
                          <m:t>𝑅</m:t>
                        </m:r>
                      </m:e>
                      <m:sub>
                        <m:r>
                          <a:rPr lang="en-US" altLang="zh-CN" sz="1600" b="0" i="1" smtClean="0">
                            <a:solidFill>
                              <a:srgbClr val="0000FF"/>
                            </a:solidFill>
                            <a:latin typeface="Cambria Math" panose="02040503050406030204" charset="0"/>
                          </a:rPr>
                          <m:t>𝑏</m:t>
                        </m:r>
                      </m:sub>
                    </m:sSub>
                  </m:oMath>
                </a14:m>
                <a:r>
                  <a:rPr lang="zh-CN" altLang="en-US" sz="1600" dirty="0"/>
                  <a:t>应用到支架上</a:t>
                </a:r>
              </a:p>
              <a:p>
                <a:pPr>
                  <a:buClr>
                    <a:srgbClr val="94003F"/>
                  </a:buClr>
                </a:pPr>
                <a:endParaRPr lang="en-US" altLang="zh-CN" sz="2400" dirty="0"/>
              </a:p>
              <a:p>
                <a:pPr>
                  <a:buClr>
                    <a:srgbClr val="94003F"/>
                  </a:buClr>
                </a:pPr>
                <a:r>
                  <a:rPr lang="zh-CN" altLang="en-US" sz="2400" dirty="0"/>
                  <a:t>下臂相对于支架部分部分平移：</a:t>
                </a:r>
                <a14:m>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charset="0"/>
                          </a:rPr>
                          <m:t>𝑇</m:t>
                        </m:r>
                      </m:e>
                      <m:sub>
                        <m:r>
                          <a:rPr lang="en-US" altLang="zh-CN" sz="2400" b="0" i="1" smtClean="0">
                            <a:latin typeface="Cambria Math" panose="02040503050406030204" charset="0"/>
                          </a:rPr>
                          <m:t>𝑙𝑎</m:t>
                        </m:r>
                      </m:sub>
                    </m:sSub>
                  </m:oMath>
                </a14:m>
                <a:endParaRPr lang="en-US" altLang="zh-CN" sz="2400" dirty="0"/>
              </a:p>
              <a:p>
                <a:pPr>
                  <a:buClr>
                    <a:srgbClr val="94003F"/>
                  </a:buClr>
                </a:pPr>
                <a:r>
                  <a:rPr lang="zh-CN" altLang="en-US" sz="2400" dirty="0"/>
                  <a:t>下臂绕关节旋转：</a:t>
                </a:r>
                <a14:m>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charset="0"/>
                          </a:rPr>
                          <m:t>𝑅</m:t>
                        </m:r>
                      </m:e>
                      <m:sub>
                        <m:r>
                          <a:rPr lang="en-US" altLang="zh-CN" sz="2400" b="0" i="1" smtClean="0">
                            <a:latin typeface="Cambria Math" panose="02040503050406030204" charset="0"/>
                          </a:rPr>
                          <m:t>𝑙𝑎</m:t>
                        </m:r>
                      </m:sub>
                    </m:sSub>
                  </m:oMath>
                </a14:m>
                <a:endParaRPr lang="en-US" altLang="zh-CN" sz="2400" dirty="0"/>
              </a:p>
              <a:p>
                <a:pPr lvl="1">
                  <a:lnSpc>
                    <a:spcPct val="100000"/>
                  </a:lnSpc>
                  <a:buClr>
                    <a:srgbClr val="94003F"/>
                  </a:buClr>
                </a:pPr>
                <a:r>
                  <a:rPr lang="zh-CN" altLang="en-US" sz="1600" dirty="0"/>
                  <a:t>把</a:t>
                </a:r>
                <a:r>
                  <a:rPr lang="en-US" altLang="zh-CN" sz="1600" dirty="0">
                    <a:solidFill>
                      <a:srgbClr val="0000FF"/>
                    </a:solidFill>
                  </a:rPr>
                  <a:t>M=</a:t>
                </a:r>
                <a14:m>
                  <m:oMath xmlns:m="http://schemas.openxmlformats.org/officeDocument/2006/math">
                    <m:sSub>
                      <m:sSubPr>
                        <m:ctrlPr>
                          <a:rPr lang="en-US" altLang="zh-CN" sz="1600" i="1" smtClean="0">
                            <a:solidFill>
                              <a:srgbClr val="0000FF"/>
                            </a:solidFill>
                            <a:latin typeface="Cambria Math" panose="02040503050406030204" pitchFamily="18" charset="0"/>
                          </a:rPr>
                        </m:ctrlPr>
                      </m:sSubPr>
                      <m:e>
                        <m:r>
                          <a:rPr lang="en-US" altLang="zh-CN" sz="1600" b="0" i="1" smtClean="0">
                            <a:solidFill>
                              <a:srgbClr val="0000FF"/>
                            </a:solidFill>
                            <a:latin typeface="Cambria Math" panose="02040503050406030204" charset="0"/>
                          </a:rPr>
                          <m:t>𝑅</m:t>
                        </m:r>
                      </m:e>
                      <m:sub>
                        <m:r>
                          <a:rPr lang="en-US" altLang="zh-CN" sz="1600" b="0" i="1" smtClean="0">
                            <a:solidFill>
                              <a:srgbClr val="0000FF"/>
                            </a:solidFill>
                            <a:latin typeface="Cambria Math" panose="02040503050406030204" charset="0"/>
                          </a:rPr>
                          <m:t>𝑏</m:t>
                        </m:r>
                      </m:sub>
                    </m:sSub>
                    <m:sSub>
                      <m:sSubPr>
                        <m:ctrlPr>
                          <a:rPr lang="en-US" altLang="zh-CN" sz="1600" i="1" smtClean="0">
                            <a:solidFill>
                              <a:srgbClr val="0000FF"/>
                            </a:solidFill>
                            <a:latin typeface="Cambria Math" panose="02040503050406030204" pitchFamily="18" charset="0"/>
                          </a:rPr>
                        </m:ctrlPr>
                      </m:sSubPr>
                      <m:e>
                        <m:r>
                          <a:rPr lang="en-US" altLang="zh-CN" sz="1600" b="0" i="1" smtClean="0">
                            <a:solidFill>
                              <a:srgbClr val="0000FF"/>
                            </a:solidFill>
                            <a:latin typeface="Cambria Math" panose="02040503050406030204" charset="0"/>
                          </a:rPr>
                          <m:t>𝑇</m:t>
                        </m:r>
                      </m:e>
                      <m:sub>
                        <m:r>
                          <a:rPr lang="en-US" altLang="zh-CN" sz="1600" b="0" i="1" smtClean="0">
                            <a:solidFill>
                              <a:srgbClr val="0000FF"/>
                            </a:solidFill>
                            <a:latin typeface="Cambria Math" panose="02040503050406030204" charset="0"/>
                          </a:rPr>
                          <m:t>𝑙𝑎</m:t>
                        </m:r>
                      </m:sub>
                    </m:sSub>
                    <m:sSub>
                      <m:sSubPr>
                        <m:ctrlPr>
                          <a:rPr lang="en-US" altLang="zh-CN" sz="1600" i="1" smtClean="0">
                            <a:solidFill>
                              <a:srgbClr val="0000FF"/>
                            </a:solidFill>
                            <a:latin typeface="Cambria Math" panose="02040503050406030204" pitchFamily="18" charset="0"/>
                          </a:rPr>
                        </m:ctrlPr>
                      </m:sSubPr>
                      <m:e>
                        <m:r>
                          <a:rPr lang="en-US" altLang="zh-CN" sz="1600" b="0" i="1" smtClean="0">
                            <a:solidFill>
                              <a:srgbClr val="0000FF"/>
                            </a:solidFill>
                            <a:latin typeface="Cambria Math" panose="02040503050406030204" charset="0"/>
                          </a:rPr>
                          <m:t>𝑅</m:t>
                        </m:r>
                      </m:e>
                      <m:sub>
                        <m:r>
                          <a:rPr lang="en-US" altLang="zh-CN" sz="1600" b="0" i="1" smtClean="0">
                            <a:solidFill>
                              <a:srgbClr val="0000FF"/>
                            </a:solidFill>
                            <a:latin typeface="Cambria Math" panose="02040503050406030204" charset="0"/>
                          </a:rPr>
                          <m:t>𝑙𝑎</m:t>
                        </m:r>
                      </m:sub>
                    </m:sSub>
                  </m:oMath>
                </a14:m>
                <a:r>
                  <a:rPr lang="zh-CN" altLang="en-US" sz="1600" dirty="0"/>
                  <a:t> 应用到下臂上</a:t>
                </a:r>
              </a:p>
              <a:p>
                <a:pPr>
                  <a:buClr>
                    <a:srgbClr val="94003F"/>
                  </a:buClr>
                </a:pPr>
                <a:endParaRPr lang="en-US" altLang="zh-CN" sz="2400" dirty="0"/>
              </a:p>
              <a:p>
                <a:pPr>
                  <a:buClr>
                    <a:srgbClr val="94003F"/>
                  </a:buClr>
                </a:pPr>
                <a:r>
                  <a:rPr lang="zh-CN" altLang="en-US" sz="2400" dirty="0"/>
                  <a:t>上臂相对于下臂平移：</a:t>
                </a:r>
                <a14:m>
                  <m:oMath xmlns:m="http://schemas.openxmlformats.org/officeDocument/2006/math">
                    <m:sSub>
                      <m:sSubPr>
                        <m:ctrlPr>
                          <a:rPr lang="en-US" altLang="zh-CN" sz="2400" i="1">
                            <a:latin typeface="Cambria Math" panose="02040503050406030204" pitchFamily="18" charset="0"/>
                          </a:rPr>
                        </m:ctrlPr>
                      </m:sSubPr>
                      <m:e>
                        <m:r>
                          <a:rPr lang="en-US" altLang="zh-CN" sz="2400" b="0" i="1" smtClean="0">
                            <a:latin typeface="Cambria Math" panose="02040503050406030204" charset="0"/>
                          </a:rPr>
                          <m:t>𝑇</m:t>
                        </m:r>
                      </m:e>
                      <m:sub>
                        <m:r>
                          <a:rPr lang="en-US" altLang="zh-CN" sz="2400" b="0" i="1" smtClean="0">
                            <a:latin typeface="Cambria Math" panose="02040503050406030204" charset="0"/>
                          </a:rPr>
                          <m:t>𝑢𝑎</m:t>
                        </m:r>
                      </m:sub>
                    </m:sSub>
                  </m:oMath>
                </a14:m>
                <a:endParaRPr lang="en-US" altLang="zh-CN" sz="2400" dirty="0"/>
              </a:p>
              <a:p>
                <a:pPr>
                  <a:buClr>
                    <a:srgbClr val="94003F"/>
                  </a:buClr>
                </a:pPr>
                <a:r>
                  <a:rPr lang="zh-CN" altLang="en-US" sz="2400" dirty="0"/>
                  <a:t>上臂绕关节旋转：</a:t>
                </a:r>
                <a14:m>
                  <m:oMath xmlns:m="http://schemas.openxmlformats.org/officeDocument/2006/math">
                    <m:sSub>
                      <m:sSubPr>
                        <m:ctrlPr>
                          <a:rPr lang="en-US" altLang="zh-CN" sz="2400" i="1">
                            <a:latin typeface="Cambria Math" panose="02040503050406030204" pitchFamily="18" charset="0"/>
                          </a:rPr>
                        </m:ctrlPr>
                      </m:sSubPr>
                      <m:e>
                        <m:r>
                          <a:rPr lang="en-US" altLang="zh-CN" sz="2400" b="0" i="1" smtClean="0">
                            <a:latin typeface="Cambria Math" panose="02040503050406030204" charset="0"/>
                          </a:rPr>
                          <m:t>𝑅</m:t>
                        </m:r>
                      </m:e>
                      <m:sub>
                        <m:r>
                          <a:rPr lang="en-US" altLang="zh-CN" sz="2400" b="0" i="1" smtClean="0">
                            <a:latin typeface="Cambria Math" panose="02040503050406030204" charset="0"/>
                          </a:rPr>
                          <m:t>𝑢𝑎</m:t>
                        </m:r>
                      </m:sub>
                    </m:sSub>
                  </m:oMath>
                </a14:m>
                <a:endParaRPr lang="en-US" altLang="zh-CN" sz="2400" dirty="0"/>
              </a:p>
              <a:p>
                <a:pPr lvl="1">
                  <a:lnSpc>
                    <a:spcPct val="100000"/>
                  </a:lnSpc>
                  <a:buClr>
                    <a:srgbClr val="94003F"/>
                  </a:buClr>
                </a:pPr>
                <a:r>
                  <a:rPr lang="zh-CN" altLang="en-US" sz="1600" dirty="0"/>
                  <a:t>把</a:t>
                </a:r>
                <a:r>
                  <a:rPr lang="en-US" altLang="zh-CN" sz="1600" dirty="0">
                    <a:solidFill>
                      <a:srgbClr val="0000FF"/>
                    </a:solidFill>
                  </a:rPr>
                  <a:t>M=</a:t>
                </a:r>
                <a14:m>
                  <m:oMath xmlns:m="http://schemas.openxmlformats.org/officeDocument/2006/math">
                    <m:sSub>
                      <m:sSubPr>
                        <m:ctrlPr>
                          <a:rPr lang="en-US" altLang="zh-CN" sz="1600" i="1" smtClean="0">
                            <a:solidFill>
                              <a:srgbClr val="0000FF"/>
                            </a:solidFill>
                            <a:latin typeface="Cambria Math" panose="02040503050406030204" pitchFamily="18" charset="0"/>
                          </a:rPr>
                        </m:ctrlPr>
                      </m:sSubPr>
                      <m:e>
                        <m:r>
                          <a:rPr lang="en-US" altLang="zh-CN" sz="1600" b="0" i="1" smtClean="0">
                            <a:solidFill>
                              <a:srgbClr val="0000FF"/>
                            </a:solidFill>
                            <a:latin typeface="Cambria Math" panose="02040503050406030204" charset="0"/>
                          </a:rPr>
                          <m:t>𝑅</m:t>
                        </m:r>
                      </m:e>
                      <m:sub>
                        <m:r>
                          <a:rPr lang="en-US" altLang="zh-CN" sz="1600" b="0" i="1" smtClean="0">
                            <a:solidFill>
                              <a:srgbClr val="0000FF"/>
                            </a:solidFill>
                            <a:latin typeface="Cambria Math" panose="02040503050406030204" charset="0"/>
                          </a:rPr>
                          <m:t>𝑏</m:t>
                        </m:r>
                      </m:sub>
                    </m:sSub>
                    <m:sSub>
                      <m:sSubPr>
                        <m:ctrlPr>
                          <a:rPr lang="en-US" altLang="zh-CN" sz="1600" i="1" smtClean="0">
                            <a:solidFill>
                              <a:srgbClr val="0000FF"/>
                            </a:solidFill>
                            <a:latin typeface="Cambria Math" panose="02040503050406030204" pitchFamily="18" charset="0"/>
                          </a:rPr>
                        </m:ctrlPr>
                      </m:sSubPr>
                      <m:e>
                        <m:r>
                          <a:rPr lang="en-US" altLang="zh-CN" sz="1600" b="0" i="1" smtClean="0">
                            <a:solidFill>
                              <a:srgbClr val="0000FF"/>
                            </a:solidFill>
                            <a:latin typeface="Cambria Math" panose="02040503050406030204" charset="0"/>
                          </a:rPr>
                          <m:t>𝑇</m:t>
                        </m:r>
                      </m:e>
                      <m:sub>
                        <m:r>
                          <a:rPr lang="en-US" altLang="zh-CN" sz="1600" b="0" i="1" smtClean="0">
                            <a:solidFill>
                              <a:srgbClr val="0000FF"/>
                            </a:solidFill>
                            <a:latin typeface="Cambria Math" panose="02040503050406030204" charset="0"/>
                          </a:rPr>
                          <m:t>𝑙𝑎</m:t>
                        </m:r>
                      </m:sub>
                    </m:sSub>
                    <m:sSub>
                      <m:sSubPr>
                        <m:ctrlPr>
                          <a:rPr lang="en-US" altLang="zh-CN" sz="1600" i="1" smtClean="0">
                            <a:solidFill>
                              <a:srgbClr val="0000FF"/>
                            </a:solidFill>
                            <a:latin typeface="Cambria Math" panose="02040503050406030204" pitchFamily="18" charset="0"/>
                          </a:rPr>
                        </m:ctrlPr>
                      </m:sSubPr>
                      <m:e>
                        <m:r>
                          <a:rPr lang="en-US" altLang="zh-CN" sz="1600" b="0" i="1" smtClean="0">
                            <a:solidFill>
                              <a:srgbClr val="0000FF"/>
                            </a:solidFill>
                            <a:latin typeface="Cambria Math" panose="02040503050406030204" charset="0"/>
                          </a:rPr>
                          <m:t>𝑅</m:t>
                        </m:r>
                      </m:e>
                      <m:sub>
                        <m:r>
                          <a:rPr lang="en-US" altLang="zh-CN" sz="1600" b="0" i="1" smtClean="0">
                            <a:solidFill>
                              <a:srgbClr val="0000FF"/>
                            </a:solidFill>
                            <a:latin typeface="Cambria Math" panose="02040503050406030204" charset="0"/>
                          </a:rPr>
                          <m:t>𝑙𝑎</m:t>
                        </m:r>
                      </m:sub>
                    </m:sSub>
                    <m:sSub>
                      <m:sSubPr>
                        <m:ctrlPr>
                          <a:rPr lang="en-US" altLang="zh-CN" sz="1600" i="1" smtClean="0">
                            <a:solidFill>
                              <a:srgbClr val="0000FF"/>
                            </a:solidFill>
                            <a:latin typeface="Cambria Math" panose="02040503050406030204" pitchFamily="18" charset="0"/>
                          </a:rPr>
                        </m:ctrlPr>
                      </m:sSubPr>
                      <m:e>
                        <m:r>
                          <a:rPr lang="en-US" altLang="zh-CN" sz="1600" b="0" i="1" smtClean="0">
                            <a:solidFill>
                              <a:srgbClr val="0000FF"/>
                            </a:solidFill>
                            <a:latin typeface="Cambria Math" panose="02040503050406030204" charset="0"/>
                          </a:rPr>
                          <m:t>𝑇</m:t>
                        </m:r>
                      </m:e>
                      <m:sub>
                        <m:r>
                          <a:rPr lang="en-US" altLang="zh-CN" sz="1600" b="0" i="1" smtClean="0">
                            <a:solidFill>
                              <a:srgbClr val="0000FF"/>
                            </a:solidFill>
                            <a:latin typeface="Cambria Math" panose="02040503050406030204" charset="0"/>
                          </a:rPr>
                          <m:t>𝑢𝑎</m:t>
                        </m:r>
                      </m:sub>
                    </m:sSub>
                    <m:sSub>
                      <m:sSubPr>
                        <m:ctrlPr>
                          <a:rPr lang="en-US" altLang="zh-CN" sz="1600" i="1" smtClean="0">
                            <a:solidFill>
                              <a:srgbClr val="0000FF"/>
                            </a:solidFill>
                            <a:latin typeface="Cambria Math" panose="02040503050406030204" pitchFamily="18" charset="0"/>
                          </a:rPr>
                        </m:ctrlPr>
                      </m:sSubPr>
                      <m:e>
                        <m:r>
                          <a:rPr lang="en-US" altLang="zh-CN" sz="1600" b="0" i="1" smtClean="0">
                            <a:solidFill>
                              <a:srgbClr val="0000FF"/>
                            </a:solidFill>
                            <a:latin typeface="Cambria Math" panose="02040503050406030204" charset="0"/>
                          </a:rPr>
                          <m:t>𝑅</m:t>
                        </m:r>
                      </m:e>
                      <m:sub>
                        <m:r>
                          <a:rPr lang="en-US" altLang="zh-CN" sz="1600" b="0" i="1" smtClean="0">
                            <a:solidFill>
                              <a:srgbClr val="0000FF"/>
                            </a:solidFill>
                            <a:latin typeface="Cambria Math" panose="02040503050406030204" charset="0"/>
                          </a:rPr>
                          <m:t>𝑢𝑎</m:t>
                        </m:r>
                      </m:sub>
                    </m:sSub>
                  </m:oMath>
                </a14:m>
                <a:r>
                  <a:rPr lang="zh-CN" altLang="en-US" sz="1600" dirty="0"/>
                  <a:t> 应用到上臂上</a:t>
                </a:r>
                <a:endParaRPr lang="en-US" altLang="zh-CN" sz="1600" dirty="0"/>
              </a:p>
            </p:txBody>
          </p:sp>
        </mc:Choice>
        <mc:Fallback xmlns="">
          <p:sp>
            <p:nvSpPr>
              <p:cNvPr id="3" name="内容占位符 2"/>
              <p:cNvSpPr>
                <a:spLocks noRot="1" noChangeAspect="1" noMove="1" noResize="1" noEditPoints="1" noAdjustHandles="1" noChangeArrowheads="1" noChangeShapeType="1" noTextEdit="1"/>
              </p:cNvSpPr>
              <p:nvPr>
                <p:ph idx="1"/>
              </p:nvPr>
            </p:nvSpPr>
            <p:spPr>
              <a:blipFill rotWithShape="1">
                <a:blip r:embed="rId2"/>
                <a:stretch>
                  <a:fillRect t="-259" b="4"/>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83</a:t>
            </a:fld>
            <a:endParaRPr lang="zh-CN" altLang="en-US"/>
          </a:p>
        </p:txBody>
      </p:sp>
      <p:pic>
        <p:nvPicPr>
          <p:cNvPr id="5" name="Picture 4"/>
          <p:cNvPicPr>
            <a:picLocks noChangeAspect="1"/>
          </p:cNvPicPr>
          <p:nvPr/>
        </p:nvPicPr>
        <p:blipFill rotWithShape="1">
          <a:blip r:embed="rId3" cstate="print">
            <a:extLst>
              <a:ext uri="{28A0092B-C50C-407E-A947-70E740481C1C}">
                <a14:useLocalDpi xmlns:a14="http://schemas.microsoft.com/office/drawing/2010/main" val="0"/>
              </a:ext>
            </a:extLst>
          </a:blip>
          <a:srcRect l="25892" r="49262"/>
          <a:stretch>
            <a:fillRect/>
          </a:stretch>
        </p:blipFill>
        <p:spPr>
          <a:xfrm>
            <a:off x="6154173" y="510565"/>
            <a:ext cx="1073888" cy="1694688"/>
          </a:xfrm>
          <a:prstGeom prst="rect">
            <a:avLst/>
          </a:prstGeom>
        </p:spPr>
      </p:pic>
      <p:pic>
        <p:nvPicPr>
          <p:cNvPr id="6" name="Picture 5"/>
          <p:cNvPicPr>
            <a:picLocks noChangeAspect="1"/>
          </p:cNvPicPr>
          <p:nvPr/>
        </p:nvPicPr>
        <p:blipFill rotWithShape="1">
          <a:blip r:embed="rId4" cstate="print">
            <a:extLst>
              <a:ext uri="{28A0092B-C50C-407E-A947-70E740481C1C}">
                <a14:useLocalDpi xmlns:a14="http://schemas.microsoft.com/office/drawing/2010/main" val="0"/>
              </a:ext>
            </a:extLst>
          </a:blip>
          <a:srcRect l="50411" r="24988" b="8993"/>
          <a:stretch>
            <a:fillRect/>
          </a:stretch>
        </p:blipFill>
        <p:spPr>
          <a:xfrm>
            <a:off x="6164805" y="2359246"/>
            <a:ext cx="1063256" cy="1542288"/>
          </a:xfrm>
          <a:prstGeom prst="rect">
            <a:avLst/>
          </a:prstGeom>
        </p:spPr>
      </p:pic>
      <p:pic>
        <p:nvPicPr>
          <p:cNvPr id="7" name="Picture 6"/>
          <p:cNvPicPr>
            <a:picLocks noChangeAspect="1"/>
          </p:cNvPicPr>
          <p:nvPr/>
        </p:nvPicPr>
        <p:blipFill rotWithShape="1">
          <a:blip r:embed="rId4" cstate="print">
            <a:extLst>
              <a:ext uri="{28A0092B-C50C-407E-A947-70E740481C1C}">
                <a14:useLocalDpi xmlns:a14="http://schemas.microsoft.com/office/drawing/2010/main" val="0"/>
              </a:ext>
            </a:extLst>
          </a:blip>
          <a:srcRect l="74683" b="8993"/>
          <a:stretch>
            <a:fillRect/>
          </a:stretch>
        </p:blipFill>
        <p:spPr>
          <a:xfrm>
            <a:off x="6154173" y="4055527"/>
            <a:ext cx="1094197" cy="1542288"/>
          </a:xfrm>
          <a:prstGeom prst="rect">
            <a:avLst/>
          </a:prstGeom>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机器人手臂的</a:t>
            </a:r>
            <a:r>
              <a:rPr lang="en-US" altLang="zh-CN" dirty="0"/>
              <a:t>OpenGL</a:t>
            </a:r>
            <a:r>
              <a:rPr lang="zh-CN" altLang="en-US" dirty="0"/>
              <a:t>实现</a:t>
            </a:r>
          </a:p>
        </p:txBody>
      </p:sp>
      <p:sp>
        <p:nvSpPr>
          <p:cNvPr id="5" name="Content Placeholder 4"/>
          <p:cNvSpPr>
            <a:spLocks noGrp="1"/>
          </p:cNvSpPr>
          <p:nvPr>
            <p:ph idx="1"/>
          </p:nvPr>
        </p:nvSpPr>
        <p:spPr/>
        <p:txBody>
          <a:bodyPr>
            <a:normAutofit/>
          </a:bodyPr>
          <a:lstStyle/>
          <a:p>
            <a:r>
              <a:rPr lang="zh-CN" altLang="en-US" sz="2400" dirty="0"/>
              <a:t>以增量的方式改变模</a:t>
            </a:r>
            <a:r>
              <a:rPr lang="en-US" altLang="zh-CN" sz="2400" dirty="0"/>
              <a:t>-</a:t>
            </a:r>
            <a:r>
              <a:rPr lang="zh-CN" altLang="en-US" sz="2400" dirty="0"/>
              <a:t>视矩阵以体现运动联动性：</a:t>
            </a:r>
            <a:endParaRPr lang="en-US" altLang="zh-CN" sz="2400" dirty="0"/>
          </a:p>
          <a:p>
            <a:pPr lvl="1"/>
            <a:r>
              <a:rPr lang="zh-CN" altLang="en-US" sz="1600" dirty="0"/>
              <a:t>假设给定了三个关节角：</a:t>
            </a:r>
            <a:r>
              <a:rPr lang="en-US" sz="1600" dirty="0"/>
              <a:t>Theta[Base]</a:t>
            </a:r>
            <a:r>
              <a:rPr lang="en-US" altLang="zh-CN" sz="1600" dirty="0"/>
              <a:t>,</a:t>
            </a:r>
            <a:r>
              <a:rPr lang="zh-CN" altLang="en-US" sz="1600" dirty="0"/>
              <a:t> </a:t>
            </a:r>
            <a:r>
              <a:rPr lang="en-US" sz="1600" dirty="0"/>
              <a:t>Theta[</a:t>
            </a:r>
            <a:r>
              <a:rPr lang="en-US" sz="1600" dirty="0" err="1"/>
              <a:t>LowerArm</a:t>
            </a:r>
            <a:r>
              <a:rPr lang="en-US" altLang="zh-CN" sz="1600" dirty="0"/>
              <a:t>],</a:t>
            </a:r>
            <a:r>
              <a:rPr lang="zh-CN" altLang="en-US" sz="1600" dirty="0"/>
              <a:t> </a:t>
            </a:r>
            <a:r>
              <a:rPr lang="en-US" sz="1600" dirty="0"/>
              <a:t>Theta[</a:t>
            </a:r>
            <a:r>
              <a:rPr lang="en-US" sz="1600" dirty="0" err="1"/>
              <a:t>UpperArm</a:t>
            </a:r>
            <a:r>
              <a:rPr lang="en-US" sz="1600" dirty="0"/>
              <a:t>]</a:t>
            </a:r>
            <a:r>
              <a:rPr lang="zh-CN" altLang="en-US" sz="1600" dirty="0"/>
              <a:t> </a:t>
            </a:r>
            <a:endParaRPr lang="en-US" sz="1600" dirty="0"/>
          </a:p>
        </p:txBody>
      </p:sp>
      <p:sp>
        <p:nvSpPr>
          <p:cNvPr id="3" name="灯片编号占位符 2"/>
          <p:cNvSpPr>
            <a:spLocks noGrp="1"/>
          </p:cNvSpPr>
          <p:nvPr>
            <p:ph type="sldNum" sz="quarter" idx="12"/>
          </p:nvPr>
        </p:nvSpPr>
        <p:spPr/>
        <p:txBody>
          <a:bodyPr/>
          <a:lstStyle/>
          <a:p>
            <a:fld id="{EB792F4E-54C0-4D36-B331-9C6FCFE9A340}" type="slidenum">
              <a:rPr lang="zh-CN" altLang="en-US" smtClean="0"/>
              <a:t>84</a:t>
            </a:fld>
            <a:endParaRPr lang="zh-CN" altLang="en-US"/>
          </a:p>
        </p:txBody>
      </p:sp>
      <p:sp>
        <p:nvSpPr>
          <p:cNvPr id="8" name="矩形 6"/>
          <p:cNvSpPr/>
          <p:nvPr/>
        </p:nvSpPr>
        <p:spPr>
          <a:xfrm>
            <a:off x="1010093" y="2188931"/>
            <a:ext cx="7634177" cy="2862322"/>
          </a:xfrm>
          <a:prstGeom prst="rect">
            <a:avLst/>
          </a:prstGeom>
          <a:solidFill>
            <a:srgbClr val="BDD7EE">
              <a:alpha val="52941"/>
            </a:srgbClr>
          </a:solidFill>
        </p:spPr>
        <p:txBody>
          <a:bodyPr wrap="square">
            <a:spAutoFit/>
          </a:bodyPr>
          <a:lstStyle/>
          <a:p>
            <a:r>
              <a:rPr lang="en-US" dirty="0" err="1"/>
              <a:t>model_view</a:t>
            </a:r>
            <a:r>
              <a:rPr lang="en-US" dirty="0"/>
              <a:t> = </a:t>
            </a:r>
            <a:r>
              <a:rPr lang="en-US" b="1" dirty="0" err="1"/>
              <a:t>RotateY</a:t>
            </a:r>
            <a:r>
              <a:rPr lang="en-US" dirty="0"/>
              <a:t>(Theta[Base] );</a:t>
            </a:r>
            <a:r>
              <a:rPr lang="zh-CN" altLang="en-US" dirty="0"/>
              <a:t>  </a:t>
            </a:r>
            <a:r>
              <a:rPr lang="en-US" dirty="0">
                <a:solidFill>
                  <a:schemeClr val="accent6"/>
                </a:solidFill>
              </a:rPr>
              <a:t>//</a:t>
            </a:r>
            <a:r>
              <a:rPr lang="zh-CN" altLang="en-US" dirty="0">
                <a:solidFill>
                  <a:schemeClr val="accent6"/>
                </a:solidFill>
              </a:rPr>
              <a:t>支架变换矩阵</a:t>
            </a:r>
            <a:endParaRPr lang="en-US" dirty="0">
              <a:solidFill>
                <a:schemeClr val="accent6"/>
              </a:solidFill>
            </a:endParaRPr>
          </a:p>
          <a:p>
            <a:r>
              <a:rPr lang="en-US" b="1" dirty="0"/>
              <a:t>base</a:t>
            </a:r>
            <a:r>
              <a:rPr lang="en-US" dirty="0"/>
              <a:t>();</a:t>
            </a:r>
            <a:r>
              <a:rPr lang="zh-CN" altLang="en-US" dirty="0"/>
              <a:t>   </a:t>
            </a:r>
            <a:r>
              <a:rPr lang="en-US" dirty="0">
                <a:solidFill>
                  <a:schemeClr val="accent6"/>
                </a:solidFill>
              </a:rPr>
              <a:t>//</a:t>
            </a:r>
            <a:r>
              <a:rPr lang="zh-CN" altLang="en-US" dirty="0">
                <a:solidFill>
                  <a:schemeClr val="accent6"/>
                </a:solidFill>
              </a:rPr>
              <a:t>绘制支架</a:t>
            </a:r>
            <a:endParaRPr lang="en-US" altLang="zh-CN" dirty="0">
              <a:solidFill>
                <a:schemeClr val="accent6"/>
              </a:solidFill>
            </a:endParaRPr>
          </a:p>
          <a:p>
            <a:r>
              <a:rPr lang="en-US" dirty="0"/>
              <a:t> </a:t>
            </a:r>
          </a:p>
          <a:p>
            <a:r>
              <a:rPr lang="en-US" dirty="0" err="1"/>
              <a:t>model_view</a:t>
            </a:r>
            <a:r>
              <a:rPr lang="en-US" dirty="0"/>
              <a:t> = </a:t>
            </a:r>
            <a:r>
              <a:rPr lang="en-US" dirty="0" err="1"/>
              <a:t>model_view</a:t>
            </a:r>
            <a:r>
              <a:rPr lang="zh-CN" altLang="en-US" dirty="0"/>
              <a:t> * </a:t>
            </a:r>
            <a:r>
              <a:rPr lang="en-US" b="1" dirty="0"/>
              <a:t>Translate</a:t>
            </a:r>
            <a:r>
              <a:rPr lang="en-US" dirty="0"/>
              <a:t>(0.0, BASE_HEIGHT, 0.0) </a:t>
            </a:r>
          </a:p>
          <a:p>
            <a:r>
              <a:rPr lang="en-US" dirty="0"/>
              <a:t>		    </a:t>
            </a:r>
            <a:r>
              <a:rPr lang="zh-CN" altLang="en-US" dirty="0"/>
              <a:t>          * </a:t>
            </a:r>
            <a:r>
              <a:rPr lang="en-US" b="1" dirty="0" err="1"/>
              <a:t>RotateZ</a:t>
            </a:r>
            <a:r>
              <a:rPr lang="en-US" dirty="0"/>
              <a:t>(Theta[</a:t>
            </a:r>
            <a:r>
              <a:rPr lang="en-US" dirty="0" err="1"/>
              <a:t>LowerArm</a:t>
            </a:r>
            <a:r>
              <a:rPr lang="en-US" dirty="0"/>
              <a:t>]);</a:t>
            </a:r>
            <a:r>
              <a:rPr lang="zh-CN" altLang="en-US" dirty="0"/>
              <a:t>  </a:t>
            </a:r>
            <a:r>
              <a:rPr lang="en-US" dirty="0">
                <a:solidFill>
                  <a:schemeClr val="accent6"/>
                </a:solidFill>
              </a:rPr>
              <a:t>//</a:t>
            </a:r>
            <a:r>
              <a:rPr lang="zh-CN" altLang="en-US" dirty="0">
                <a:solidFill>
                  <a:schemeClr val="accent6"/>
                </a:solidFill>
              </a:rPr>
              <a:t>下臂变换矩阵</a:t>
            </a:r>
            <a:endParaRPr lang="en-US" altLang="zh-CN" dirty="0">
              <a:solidFill>
                <a:schemeClr val="accent6"/>
              </a:solidFill>
            </a:endParaRPr>
          </a:p>
          <a:p>
            <a:r>
              <a:rPr lang="en-US" b="1" dirty="0" err="1"/>
              <a:t>lower_arm</a:t>
            </a:r>
            <a:r>
              <a:rPr lang="en-US" dirty="0"/>
              <a:t>();</a:t>
            </a:r>
            <a:r>
              <a:rPr lang="zh-CN" altLang="en-US" dirty="0"/>
              <a:t>  </a:t>
            </a:r>
            <a:r>
              <a:rPr lang="en-US" dirty="0">
                <a:solidFill>
                  <a:schemeClr val="accent6"/>
                </a:solidFill>
              </a:rPr>
              <a:t>//</a:t>
            </a:r>
            <a:r>
              <a:rPr lang="zh-CN" altLang="en-US" dirty="0">
                <a:solidFill>
                  <a:schemeClr val="accent6"/>
                </a:solidFill>
              </a:rPr>
              <a:t>绘制下臂</a:t>
            </a:r>
            <a:endParaRPr lang="en-US" dirty="0">
              <a:solidFill>
                <a:schemeClr val="accent6"/>
              </a:solidFill>
            </a:endParaRPr>
          </a:p>
          <a:p>
            <a:r>
              <a:rPr lang="en-US" dirty="0"/>
              <a:t> </a:t>
            </a:r>
          </a:p>
          <a:p>
            <a:r>
              <a:rPr lang="en-US" dirty="0" err="1"/>
              <a:t>model_view</a:t>
            </a:r>
            <a:r>
              <a:rPr lang="en-US" dirty="0"/>
              <a:t> = </a:t>
            </a:r>
            <a:r>
              <a:rPr lang="en-US" dirty="0" err="1"/>
              <a:t>model_view</a:t>
            </a:r>
            <a:r>
              <a:rPr lang="zh-CN" altLang="en-US" dirty="0"/>
              <a:t> * </a:t>
            </a:r>
            <a:r>
              <a:rPr lang="en-US" b="1" dirty="0"/>
              <a:t>Translate</a:t>
            </a:r>
            <a:r>
              <a:rPr lang="en-US" dirty="0"/>
              <a:t>(0.0, LOWER_ARM_HEIGHT, 0.0) </a:t>
            </a:r>
          </a:p>
          <a:p>
            <a:r>
              <a:rPr lang="en-US" dirty="0"/>
              <a:t>		    </a:t>
            </a:r>
            <a:r>
              <a:rPr lang="zh-CN" altLang="en-US" dirty="0"/>
              <a:t>          * </a:t>
            </a:r>
            <a:r>
              <a:rPr lang="en-US" b="1" dirty="0" err="1"/>
              <a:t>RotateZ</a:t>
            </a:r>
            <a:r>
              <a:rPr lang="en-US" dirty="0"/>
              <a:t>(Theta[</a:t>
            </a:r>
            <a:r>
              <a:rPr lang="en-US" dirty="0" err="1"/>
              <a:t>UpperArm</a:t>
            </a:r>
            <a:r>
              <a:rPr lang="en-US" dirty="0"/>
              <a:t>]);</a:t>
            </a:r>
            <a:r>
              <a:rPr lang="zh-CN" altLang="en-US" dirty="0"/>
              <a:t>  </a:t>
            </a:r>
            <a:r>
              <a:rPr lang="en-US" dirty="0">
                <a:solidFill>
                  <a:schemeClr val="accent6"/>
                </a:solidFill>
              </a:rPr>
              <a:t>//</a:t>
            </a:r>
            <a:r>
              <a:rPr lang="zh-CN" altLang="en-US" dirty="0">
                <a:solidFill>
                  <a:schemeClr val="accent6"/>
                </a:solidFill>
              </a:rPr>
              <a:t>上臂变换矩阵</a:t>
            </a:r>
            <a:endParaRPr lang="en-US" dirty="0">
              <a:solidFill>
                <a:schemeClr val="accent6"/>
              </a:solidFill>
            </a:endParaRPr>
          </a:p>
          <a:p>
            <a:r>
              <a:rPr lang="en-US" b="1" dirty="0" err="1"/>
              <a:t>upper_arm</a:t>
            </a:r>
            <a:r>
              <a:rPr lang="en-US" dirty="0"/>
              <a:t>();</a:t>
            </a:r>
            <a:r>
              <a:rPr lang="zh-CN" altLang="en-US" dirty="0"/>
              <a:t>  </a:t>
            </a:r>
            <a:r>
              <a:rPr lang="en-US" dirty="0">
                <a:solidFill>
                  <a:schemeClr val="accent6"/>
                </a:solidFill>
              </a:rPr>
              <a:t>//</a:t>
            </a:r>
            <a:r>
              <a:rPr lang="zh-CN" altLang="en-US" dirty="0">
                <a:solidFill>
                  <a:schemeClr val="accent6"/>
                </a:solidFill>
              </a:rPr>
              <a:t>绘制上臂</a:t>
            </a:r>
            <a:endParaRPr lang="en-US" altLang="zh-CN" dirty="0">
              <a:solidFill>
                <a:schemeClr val="accent6"/>
              </a:solidFill>
            </a:endParaRPr>
          </a:p>
        </p:txBody>
      </p:sp>
      <p:pic>
        <p:nvPicPr>
          <p:cNvPr id="6" name="Picture 5"/>
          <p:cNvPicPr>
            <a:picLocks noChangeAspect="1"/>
          </p:cNvPicPr>
          <p:nvPr/>
        </p:nvPicPr>
        <p:blipFill rotWithShape="1">
          <a:blip r:embed="rId3" cstate="print">
            <a:extLst>
              <a:ext uri="{28A0092B-C50C-407E-A947-70E740481C1C}">
                <a14:useLocalDpi xmlns:a14="http://schemas.microsoft.com/office/drawing/2010/main" val="0"/>
              </a:ext>
            </a:extLst>
          </a:blip>
          <a:srcRect b="9411"/>
          <a:stretch>
            <a:fillRect/>
          </a:stretch>
        </p:blipFill>
        <p:spPr>
          <a:xfrm>
            <a:off x="2283341" y="5237741"/>
            <a:ext cx="4322064" cy="1535200"/>
          </a:xfrm>
          <a:prstGeom prst="rect">
            <a:avLst/>
          </a:prstGeom>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机器人手臂的</a:t>
            </a:r>
            <a:r>
              <a:rPr lang="en-US" altLang="zh-CN" dirty="0"/>
              <a:t>OpenGL</a:t>
            </a:r>
            <a:r>
              <a:rPr lang="zh-CN" altLang="en-US" dirty="0"/>
              <a:t>实现</a:t>
            </a:r>
            <a:endParaRPr lang="en-US" dirty="0"/>
          </a:p>
        </p:txBody>
      </p:sp>
      <p:sp>
        <p:nvSpPr>
          <p:cNvPr id="3" name="Content Placeholder 2"/>
          <p:cNvSpPr>
            <a:spLocks noGrp="1"/>
          </p:cNvSpPr>
          <p:nvPr>
            <p:ph idx="1"/>
          </p:nvPr>
        </p:nvSpPr>
        <p:spPr/>
        <p:txBody>
          <a:bodyPr/>
          <a:lstStyle/>
          <a:p>
            <a:r>
              <a:rPr lang="zh-CN" altLang="en-US" dirty="0"/>
              <a:t>绘制每一个部件实例：</a:t>
            </a:r>
            <a:r>
              <a:rPr lang="zh-CN" altLang="en-US" dirty="0">
                <a:solidFill>
                  <a:srgbClr val="0000FF"/>
                </a:solidFill>
              </a:rPr>
              <a:t>图符</a:t>
            </a:r>
            <a:r>
              <a:rPr lang="zh-CN" altLang="en-US" dirty="0"/>
              <a:t> </a:t>
            </a:r>
            <a:r>
              <a:rPr lang="en-US" altLang="zh-CN" dirty="0"/>
              <a:t>+</a:t>
            </a:r>
            <a:r>
              <a:rPr lang="zh-CN" altLang="en-US" dirty="0"/>
              <a:t> </a:t>
            </a:r>
            <a:r>
              <a:rPr lang="zh-CN" altLang="en-US" dirty="0">
                <a:solidFill>
                  <a:srgbClr val="0000FF"/>
                </a:solidFill>
              </a:rPr>
              <a:t>实例变换矩阵</a:t>
            </a:r>
            <a:endParaRPr lang="en-US" altLang="zh-CN" dirty="0">
              <a:solidFill>
                <a:srgbClr val="0000FF"/>
              </a:solidFill>
            </a:endParaRPr>
          </a:p>
          <a:p>
            <a:pPr lvl="1"/>
            <a:r>
              <a:rPr lang="zh-CN" altLang="en-US" dirty="0"/>
              <a:t>实验补充</a:t>
            </a:r>
            <a:r>
              <a:rPr lang="en-US" altLang="zh-CN" dirty="0"/>
              <a:t>1</a:t>
            </a:r>
            <a:r>
              <a:rPr lang="zh-CN" altLang="en-US" dirty="0"/>
              <a:t>中以</a:t>
            </a:r>
            <a:r>
              <a:rPr lang="zh-CN" altLang="en-US" dirty="0">
                <a:solidFill>
                  <a:srgbClr val="0000FF"/>
                </a:solidFill>
              </a:rPr>
              <a:t>单位正方体</a:t>
            </a:r>
            <a:r>
              <a:rPr lang="zh-CN" altLang="en-US" dirty="0"/>
              <a:t>作为图符：中心在原点，边长为</a:t>
            </a:r>
            <a:r>
              <a:rPr lang="en-US" altLang="zh-CN" dirty="0"/>
              <a:t>1</a:t>
            </a:r>
          </a:p>
          <a:p>
            <a:pPr lvl="1"/>
            <a:r>
              <a:rPr lang="zh-CN" altLang="en-US" dirty="0"/>
              <a:t>以上臂为例：</a:t>
            </a:r>
            <a:endParaRPr lang="en-US" altLang="zh-CN" dirty="0"/>
          </a:p>
          <a:p>
            <a:pPr lvl="1"/>
            <a:endParaRPr lang="en-US" altLang="zh-CN"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t>85</a:t>
            </a:fld>
            <a:endParaRPr lang="zh-CN" altLang="en-US" dirty="0"/>
          </a:p>
        </p:txBody>
      </p:sp>
      <p:pic>
        <p:nvPicPr>
          <p:cNvPr id="7" name="图片 5"/>
          <p:cNvPicPr>
            <a:picLocks noChangeAspect="1"/>
          </p:cNvPicPr>
          <p:nvPr/>
        </p:nvPicPr>
        <p:blipFill rotWithShape="1">
          <a:blip r:embed="rId2"/>
          <a:srcRect r="48983"/>
          <a:stretch>
            <a:fillRect/>
          </a:stretch>
        </p:blipFill>
        <p:spPr>
          <a:xfrm>
            <a:off x="3279523" y="2139772"/>
            <a:ext cx="1676107" cy="1393941"/>
          </a:xfrm>
          <a:prstGeom prst="rect">
            <a:avLst/>
          </a:prstGeom>
        </p:spPr>
      </p:pic>
      <p:sp>
        <p:nvSpPr>
          <p:cNvPr id="8" name="Right Arrow 7"/>
          <p:cNvSpPr/>
          <p:nvPr/>
        </p:nvSpPr>
        <p:spPr>
          <a:xfrm>
            <a:off x="5366296" y="2722027"/>
            <a:ext cx="308344" cy="435935"/>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9" name="Picture 8"/>
          <p:cNvPicPr>
            <a:picLocks noChangeAspect="1"/>
          </p:cNvPicPr>
          <p:nvPr/>
        </p:nvPicPr>
        <p:blipFill rotWithShape="1">
          <a:blip r:embed="rId3" cstate="print">
            <a:extLst>
              <a:ext uri="{28A0092B-C50C-407E-A947-70E740481C1C}">
                <a14:useLocalDpi xmlns:a14="http://schemas.microsoft.com/office/drawing/2010/main" val="0"/>
              </a:ext>
            </a:extLst>
          </a:blip>
          <a:srcRect l="74683" t="7975" b="8993"/>
          <a:stretch>
            <a:fillRect/>
          </a:stretch>
        </p:blipFill>
        <p:spPr>
          <a:xfrm>
            <a:off x="6242263" y="2086891"/>
            <a:ext cx="1199106" cy="1542049"/>
          </a:xfrm>
          <a:prstGeom prst="rect">
            <a:avLst/>
          </a:prstGeom>
        </p:spPr>
      </p:pic>
      <p:sp>
        <p:nvSpPr>
          <p:cNvPr id="6" name="矩形 6"/>
          <p:cNvSpPr/>
          <p:nvPr/>
        </p:nvSpPr>
        <p:spPr>
          <a:xfrm>
            <a:off x="797442" y="3628940"/>
            <a:ext cx="7878725" cy="3139321"/>
          </a:xfrm>
          <a:prstGeom prst="rect">
            <a:avLst/>
          </a:prstGeom>
          <a:solidFill>
            <a:srgbClr val="BDD7EE">
              <a:alpha val="52941"/>
            </a:srgbClr>
          </a:solidFill>
        </p:spPr>
        <p:txBody>
          <a:bodyPr wrap="square">
            <a:spAutoFit/>
          </a:bodyPr>
          <a:lstStyle/>
          <a:p>
            <a:r>
              <a:rPr lang="en-US" dirty="0"/>
              <a:t>Void </a:t>
            </a:r>
            <a:r>
              <a:rPr lang="en-US" altLang="zh-CN" b="1" dirty="0" err="1"/>
              <a:t>upper_arm</a:t>
            </a:r>
            <a:r>
              <a:rPr lang="en-US" dirty="0"/>
              <a:t>()</a:t>
            </a:r>
          </a:p>
          <a:p>
            <a:r>
              <a:rPr lang="en-US" dirty="0"/>
              <a:t>{</a:t>
            </a:r>
          </a:p>
          <a:p>
            <a:pPr lvl="1"/>
            <a:r>
              <a:rPr lang="en-US" dirty="0"/>
              <a:t> </a:t>
            </a:r>
            <a:r>
              <a:rPr lang="en-US" i="1" dirty="0">
                <a:solidFill>
                  <a:srgbClr val="0000FF"/>
                </a:solidFill>
              </a:rPr>
              <a:t>mat4</a:t>
            </a:r>
            <a:r>
              <a:rPr lang="en-US" dirty="0">
                <a:solidFill>
                  <a:srgbClr val="0000FF"/>
                </a:solidFill>
              </a:rPr>
              <a:t> </a:t>
            </a:r>
            <a:r>
              <a:rPr lang="en-US" dirty="0"/>
              <a:t>instance =  </a:t>
            </a:r>
            <a:r>
              <a:rPr lang="en-US" b="1" dirty="0"/>
              <a:t>Translate</a:t>
            </a:r>
            <a:r>
              <a:rPr lang="en-US" dirty="0"/>
              <a:t>( 0.0, 0.5 * </a:t>
            </a:r>
            <a:r>
              <a:rPr lang="en-US" altLang="zh-CN" dirty="0"/>
              <a:t>UPPER</a:t>
            </a:r>
            <a:r>
              <a:rPr lang="en-US" dirty="0"/>
              <a:t>_</a:t>
            </a:r>
            <a:r>
              <a:rPr lang="en-US" altLang="zh-CN" dirty="0"/>
              <a:t>ARM_</a:t>
            </a:r>
            <a:r>
              <a:rPr lang="en-US" dirty="0"/>
              <a:t>HEIGHT, 0.0 ) </a:t>
            </a:r>
          </a:p>
          <a:p>
            <a:pPr lvl="1"/>
            <a:r>
              <a:rPr lang="zh-CN" altLang="en-US" dirty="0"/>
              <a:t>                            </a:t>
            </a:r>
            <a:r>
              <a:rPr lang="en-US" dirty="0"/>
              <a:t>* </a:t>
            </a:r>
            <a:r>
              <a:rPr lang="en-US" b="1" dirty="0"/>
              <a:t>Scale</a:t>
            </a:r>
            <a:r>
              <a:rPr lang="en-US" dirty="0"/>
              <a:t>(</a:t>
            </a:r>
            <a:r>
              <a:rPr lang="en-US" altLang="zh-CN" dirty="0"/>
              <a:t>UA_</a:t>
            </a:r>
            <a:r>
              <a:rPr lang="en-US" dirty="0"/>
              <a:t>WIDTH,</a:t>
            </a:r>
            <a:r>
              <a:rPr lang="zh-CN" altLang="en-US" dirty="0"/>
              <a:t> </a:t>
            </a:r>
            <a:r>
              <a:rPr lang="en-US" altLang="zh-CN" dirty="0"/>
              <a:t>UA_</a:t>
            </a:r>
            <a:r>
              <a:rPr lang="en-US" dirty="0"/>
              <a:t>HEIGHT,</a:t>
            </a:r>
            <a:r>
              <a:rPr lang="zh-CN" altLang="en-US" dirty="0"/>
              <a:t> </a:t>
            </a:r>
            <a:r>
              <a:rPr lang="en-US" altLang="zh-CN" dirty="0"/>
              <a:t>UA_</a:t>
            </a:r>
            <a:r>
              <a:rPr lang="en-US" dirty="0"/>
              <a:t>WIDTH ) ;</a:t>
            </a:r>
          </a:p>
          <a:p>
            <a:pPr lvl="1"/>
            <a:r>
              <a:rPr lang="zh-CN" altLang="en-US" dirty="0">
                <a:solidFill>
                  <a:schemeClr val="accent6"/>
                </a:solidFill>
              </a:rPr>
              <a:t>  </a:t>
            </a:r>
            <a:r>
              <a:rPr lang="en-US" dirty="0">
                <a:solidFill>
                  <a:schemeClr val="accent6"/>
                </a:solidFill>
              </a:rPr>
              <a:t>//</a:t>
            </a:r>
            <a:r>
              <a:rPr lang="zh-CN" altLang="en-US" dirty="0">
                <a:solidFill>
                  <a:schemeClr val="accent6"/>
                </a:solidFill>
              </a:rPr>
              <a:t>按长宽高缩放正方体，并且平移使得底面在</a:t>
            </a:r>
            <a:r>
              <a:rPr lang="en-US" altLang="zh-CN" dirty="0">
                <a:solidFill>
                  <a:schemeClr val="accent6"/>
                </a:solidFill>
              </a:rPr>
              <a:t>y=0</a:t>
            </a:r>
            <a:r>
              <a:rPr lang="zh-CN" altLang="en-US" dirty="0">
                <a:solidFill>
                  <a:schemeClr val="accent6"/>
                </a:solidFill>
              </a:rPr>
              <a:t>上</a:t>
            </a:r>
            <a:endParaRPr lang="en-US" altLang="zh-CN" dirty="0">
              <a:solidFill>
                <a:schemeClr val="accent6"/>
              </a:solidFill>
            </a:endParaRPr>
          </a:p>
          <a:p>
            <a:pPr lvl="1"/>
            <a:endParaRPr lang="en-US" dirty="0"/>
          </a:p>
          <a:p>
            <a:pPr lvl="1"/>
            <a:r>
              <a:rPr lang="en-US" dirty="0"/>
              <a:t> </a:t>
            </a:r>
            <a:r>
              <a:rPr lang="en-US" b="1" dirty="0"/>
              <a:t>glUniformMatrix4fv</a:t>
            </a:r>
            <a:r>
              <a:rPr lang="en-US" dirty="0"/>
              <a:t>(</a:t>
            </a:r>
            <a:r>
              <a:rPr lang="en-US" dirty="0" err="1"/>
              <a:t>ModelView</a:t>
            </a:r>
            <a:r>
              <a:rPr lang="en-US" dirty="0"/>
              <a:t>, 1, GL_TRUE, </a:t>
            </a:r>
            <a:r>
              <a:rPr lang="en-US" dirty="0" err="1">
                <a:solidFill>
                  <a:srgbClr val="FF0000"/>
                </a:solidFill>
              </a:rPr>
              <a:t>model_view</a:t>
            </a:r>
            <a:r>
              <a:rPr lang="en-US" dirty="0">
                <a:solidFill>
                  <a:srgbClr val="FF0000"/>
                </a:solidFill>
              </a:rPr>
              <a:t> * instance </a:t>
            </a:r>
            <a:r>
              <a:rPr lang="en-US" dirty="0"/>
              <a:t>);</a:t>
            </a:r>
            <a:r>
              <a:rPr lang="zh-CN" altLang="en-US" dirty="0"/>
              <a:t> </a:t>
            </a:r>
            <a:endParaRPr lang="en-US" altLang="zh-CN" dirty="0"/>
          </a:p>
          <a:p>
            <a:pPr lvl="1"/>
            <a:r>
              <a:rPr lang="zh-CN" altLang="en-US" dirty="0">
                <a:solidFill>
                  <a:schemeClr val="accent6"/>
                </a:solidFill>
              </a:rPr>
              <a:t> </a:t>
            </a:r>
            <a:r>
              <a:rPr lang="en-US" dirty="0">
                <a:solidFill>
                  <a:schemeClr val="accent6"/>
                </a:solidFill>
              </a:rPr>
              <a:t>//</a:t>
            </a:r>
            <a:r>
              <a:rPr lang="zh-CN" altLang="en-US" dirty="0">
                <a:solidFill>
                  <a:schemeClr val="accent6"/>
                </a:solidFill>
              </a:rPr>
              <a:t>将完整的模</a:t>
            </a:r>
            <a:r>
              <a:rPr lang="en-US" altLang="zh-CN" dirty="0">
                <a:solidFill>
                  <a:schemeClr val="accent6"/>
                </a:solidFill>
              </a:rPr>
              <a:t>-</a:t>
            </a:r>
            <a:r>
              <a:rPr lang="zh-CN" altLang="en-US" dirty="0">
                <a:solidFill>
                  <a:schemeClr val="accent6"/>
                </a:solidFill>
              </a:rPr>
              <a:t>视矩阵传给</a:t>
            </a:r>
            <a:r>
              <a:rPr lang="en-US" dirty="0" err="1">
                <a:solidFill>
                  <a:schemeClr val="accent6"/>
                </a:solidFill>
              </a:rPr>
              <a:t>shader</a:t>
            </a:r>
            <a:endParaRPr lang="en-US" dirty="0">
              <a:solidFill>
                <a:schemeClr val="accent6"/>
              </a:solidFill>
            </a:endParaRPr>
          </a:p>
          <a:p>
            <a:pPr lvl="1"/>
            <a:endParaRPr lang="en-US" i="1" dirty="0"/>
          </a:p>
          <a:p>
            <a:pPr lvl="1"/>
            <a:r>
              <a:rPr lang="zh-CN" altLang="en-US" i="1" dirty="0"/>
              <a:t> </a:t>
            </a:r>
            <a:r>
              <a:rPr lang="en-US" b="1" dirty="0" err="1"/>
              <a:t>glDrawArrays</a:t>
            </a:r>
            <a:r>
              <a:rPr lang="en-US" dirty="0"/>
              <a:t>( </a:t>
            </a:r>
            <a:r>
              <a:rPr lang="en-US" i="1" dirty="0"/>
              <a:t>GL_TRIANGLES</a:t>
            </a:r>
            <a:r>
              <a:rPr lang="en-US" dirty="0"/>
              <a:t>, 0, </a:t>
            </a:r>
            <a:r>
              <a:rPr lang="en-US" dirty="0" err="1"/>
              <a:t>NumVertices</a:t>
            </a:r>
            <a:r>
              <a:rPr lang="en-US" dirty="0"/>
              <a:t> );</a:t>
            </a:r>
            <a:r>
              <a:rPr lang="zh-CN" altLang="en-US" dirty="0"/>
              <a:t>  </a:t>
            </a:r>
            <a:r>
              <a:rPr lang="en-US" dirty="0">
                <a:solidFill>
                  <a:schemeClr val="accent6"/>
                </a:solidFill>
              </a:rPr>
              <a:t>//</a:t>
            </a:r>
            <a:r>
              <a:rPr lang="zh-CN" altLang="en-US" dirty="0">
                <a:solidFill>
                  <a:schemeClr val="accent6"/>
                </a:solidFill>
              </a:rPr>
              <a:t>绘制相应的三角面片</a:t>
            </a:r>
            <a:endParaRPr lang="en-US" dirty="0">
              <a:solidFill>
                <a:schemeClr val="accent6"/>
              </a:solidFill>
            </a:endParaRPr>
          </a:p>
          <a:p>
            <a:r>
              <a:rPr lang="en-US" dirty="0"/>
              <a:t>} </a:t>
            </a:r>
            <a:endParaRPr lang="en-US" altLang="zh-CN" dirty="0">
              <a:solidFill>
                <a:schemeClr val="accent6"/>
              </a:solidFill>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机器人的树结构</a:t>
            </a:r>
          </a:p>
        </p:txBody>
      </p:sp>
      <p:sp>
        <p:nvSpPr>
          <p:cNvPr id="5" name="Content Placeholder 4"/>
          <p:cNvSpPr>
            <a:spLocks noGrp="1"/>
          </p:cNvSpPr>
          <p:nvPr>
            <p:ph idx="1"/>
          </p:nvPr>
        </p:nvSpPr>
        <p:spPr/>
        <p:txBody>
          <a:bodyPr>
            <a:normAutofit/>
          </a:bodyPr>
          <a:lstStyle/>
          <a:p>
            <a:r>
              <a:rPr lang="zh-CN" altLang="en-US" sz="2400" dirty="0"/>
              <a:t>但是对于具有更复杂的结构的模型，通过树结构的遍历来确定部件的绘制顺序会使更加便捷：</a:t>
            </a:r>
            <a:endParaRPr lang="en-US" altLang="zh-CN" sz="2400" dirty="0"/>
          </a:p>
          <a:p>
            <a:pPr lvl="1"/>
            <a:r>
              <a:rPr lang="zh-CN" altLang="en-US" sz="1600" b="1" dirty="0">
                <a:solidFill>
                  <a:srgbClr val="0000FF"/>
                </a:solidFill>
              </a:rPr>
              <a:t>先序遍历</a:t>
            </a:r>
            <a:r>
              <a:rPr lang="zh-CN" altLang="en-US" sz="1600" dirty="0"/>
              <a:t>：沿着树左子树开始访问节点，一直遍历到树叶子节点，然后回溯到树上一层访问第一个右子树，照此一直递归下去</a:t>
            </a:r>
            <a:endParaRPr lang="en-US" sz="1600" dirty="0"/>
          </a:p>
        </p:txBody>
      </p:sp>
      <p:sp>
        <p:nvSpPr>
          <p:cNvPr id="3" name="灯片编号占位符 2"/>
          <p:cNvSpPr>
            <a:spLocks noGrp="1"/>
          </p:cNvSpPr>
          <p:nvPr>
            <p:ph type="sldNum" sz="quarter" idx="12"/>
          </p:nvPr>
        </p:nvSpPr>
        <p:spPr/>
        <p:txBody>
          <a:bodyPr/>
          <a:lstStyle/>
          <a:p>
            <a:fld id="{EB792F4E-54C0-4D36-B331-9C6FCFE9A340}" type="slidenum">
              <a:rPr lang="zh-CN" altLang="en-US" smtClean="0"/>
              <a:t>86</a:t>
            </a:fld>
            <a:endParaRPr lang="zh-CN" altLang="en-US"/>
          </a:p>
        </p:txBody>
      </p:sp>
      <p:pic>
        <p:nvPicPr>
          <p:cNvPr id="4" name="图片 3"/>
          <p:cNvPicPr>
            <a:picLocks noChangeAspect="1"/>
          </p:cNvPicPr>
          <p:nvPr/>
        </p:nvPicPr>
        <p:blipFill>
          <a:blip r:embed="rId2"/>
          <a:stretch>
            <a:fillRect/>
          </a:stretch>
        </p:blipFill>
        <p:spPr>
          <a:xfrm>
            <a:off x="968856" y="2982499"/>
            <a:ext cx="7469462" cy="3692938"/>
          </a:xfrm>
          <a:prstGeom prst="rect">
            <a:avLst/>
          </a:prstGeom>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遍历代码</a:t>
            </a:r>
          </a:p>
        </p:txBody>
      </p:sp>
      <p:sp>
        <p:nvSpPr>
          <p:cNvPr id="3" name="灯片编号占位符 2"/>
          <p:cNvSpPr>
            <a:spLocks noGrp="1"/>
          </p:cNvSpPr>
          <p:nvPr>
            <p:ph type="sldNum" sz="quarter" idx="12"/>
          </p:nvPr>
        </p:nvSpPr>
        <p:spPr/>
        <p:txBody>
          <a:bodyPr/>
          <a:lstStyle/>
          <a:p>
            <a:fld id="{EB792F4E-54C0-4D36-B331-9C6FCFE9A340}" type="slidenum">
              <a:rPr lang="zh-CN" altLang="en-US" smtClean="0"/>
              <a:t>87</a:t>
            </a:fld>
            <a:endParaRPr lang="zh-CN" altLang="en-US"/>
          </a:p>
        </p:txBody>
      </p:sp>
      <mc:AlternateContent xmlns:mc="http://schemas.openxmlformats.org/markup-compatibility/2006" xmlns:a14="http://schemas.microsoft.com/office/drawing/2010/main">
        <mc:Choice Requires="a14">
          <p:sp>
            <p:nvSpPr>
              <p:cNvPr id="6" name="矩形 6"/>
              <p:cNvSpPr/>
              <p:nvPr/>
            </p:nvSpPr>
            <p:spPr>
              <a:xfrm>
                <a:off x="616689" y="1130721"/>
                <a:ext cx="4950417" cy="5509200"/>
              </a:xfrm>
              <a:prstGeom prst="rect">
                <a:avLst/>
              </a:prstGeom>
              <a:solidFill>
                <a:srgbClr val="BDD7EE">
                  <a:alpha val="52941"/>
                </a:srgbClr>
              </a:solidFill>
            </p:spPr>
            <p:txBody>
              <a:bodyPr wrap="square">
                <a:spAutoFit/>
              </a:bodyPr>
              <a:lstStyle/>
              <a:p>
                <a:r>
                  <a:rPr lang="en-US" sz="1600" dirty="0" err="1"/>
                  <a:t>model_view</a:t>
                </a:r>
                <a:r>
                  <a:rPr lang="en-US" sz="1600" dirty="0"/>
                  <a:t> = </a:t>
                </a:r>
                <a:r>
                  <a:rPr lang="en-US" sz="1600" i="1" dirty="0" err="1"/>
                  <a:t>RotateY</a:t>
                </a:r>
                <a:r>
                  <a:rPr lang="en-US" sz="1600" dirty="0"/>
                  <a:t>( theta[Torso] );</a:t>
                </a:r>
                <a:r>
                  <a:rPr lang="zh-CN" altLang="en-US" sz="1600" dirty="0"/>
                  <a:t> </a:t>
                </a:r>
                <a:r>
                  <a:rPr lang="en-US" sz="1600" dirty="0">
                    <a:solidFill>
                      <a:schemeClr val="accent6"/>
                    </a:solidFill>
                  </a:rPr>
                  <a:t>//</a:t>
                </a:r>
                <a:r>
                  <a:rPr lang="zh-CN" altLang="en-US" sz="1600" dirty="0">
                    <a:solidFill>
                      <a:schemeClr val="accent6"/>
                    </a:solidFill>
                  </a:rPr>
                  <a:t>躯干变换矩阵</a:t>
                </a:r>
                <a:endParaRPr lang="en-US" sz="1600" dirty="0">
                  <a:solidFill>
                    <a:schemeClr val="accent6"/>
                  </a:solidFill>
                </a:endParaRPr>
              </a:p>
              <a:p>
                <a:r>
                  <a:rPr lang="en-US" sz="1600" dirty="0"/>
                  <a:t>torso();</a:t>
                </a:r>
                <a:r>
                  <a:rPr lang="zh-CN" altLang="en-US" sz="1600" dirty="0"/>
                  <a:t>   </a:t>
                </a:r>
                <a:r>
                  <a:rPr lang="en-US" sz="1600" dirty="0">
                    <a:solidFill>
                      <a:schemeClr val="accent6"/>
                    </a:solidFill>
                  </a:rPr>
                  <a:t>//</a:t>
                </a:r>
                <a:r>
                  <a:rPr lang="zh-CN" altLang="en-US" sz="1600" dirty="0">
                    <a:solidFill>
                      <a:schemeClr val="accent6"/>
                    </a:solidFill>
                  </a:rPr>
                  <a:t>躯干绘制</a:t>
                </a:r>
                <a:endParaRPr lang="en-US" sz="1600" dirty="0">
                  <a:solidFill>
                    <a:schemeClr val="accent6"/>
                  </a:solidFill>
                </a:endParaRPr>
              </a:p>
              <a:p>
                <a:r>
                  <a:rPr lang="en-US" sz="1600" dirty="0"/>
                  <a:t> </a:t>
                </a:r>
              </a:p>
              <a:p>
                <a:r>
                  <a:rPr lang="en-US" sz="1600" dirty="0" err="1">
                    <a:solidFill>
                      <a:srgbClr val="FF0000"/>
                    </a:solidFill>
                  </a:rPr>
                  <a:t>mvstack.push</a:t>
                </a:r>
                <a:r>
                  <a:rPr lang="en-US" sz="1600" dirty="0"/>
                  <a:t>( </a:t>
                </a:r>
                <a:r>
                  <a:rPr lang="en-US" sz="1600" dirty="0" err="1"/>
                  <a:t>model_view</a:t>
                </a:r>
                <a:r>
                  <a:rPr lang="en-US" sz="1600" dirty="0"/>
                  <a:t> );</a:t>
                </a:r>
                <a:r>
                  <a:rPr lang="zh-CN" altLang="en-US" sz="1600" dirty="0"/>
                  <a:t>  </a:t>
                </a:r>
                <a:r>
                  <a:rPr lang="en-US" sz="1600" dirty="0">
                    <a:solidFill>
                      <a:schemeClr val="accent6"/>
                    </a:solidFill>
                  </a:rPr>
                  <a:t>//</a:t>
                </a:r>
                <a:r>
                  <a:rPr lang="zh-CN" altLang="en-US" sz="1600" dirty="0">
                    <a:solidFill>
                      <a:schemeClr val="accent6"/>
                    </a:solidFill>
                  </a:rPr>
                  <a:t>保存躯干变换矩阵</a:t>
                </a:r>
                <a:endParaRPr lang="en-US" sz="1600" dirty="0">
                  <a:solidFill>
                    <a:schemeClr val="accent6"/>
                  </a:solidFill>
                </a:endParaRPr>
              </a:p>
              <a:p>
                <a:r>
                  <a:rPr lang="en-US" sz="1600" dirty="0" err="1"/>
                  <a:t>model_view</a:t>
                </a:r>
                <a:r>
                  <a:rPr lang="en-US" sz="1600" dirty="0"/>
                  <a:t> *= </a:t>
                </a:r>
                <a:r>
                  <a:rPr lang="zh-CN" altLang="en-US" sz="1600" dirty="0"/>
                  <a:t>头结点局部变换矩阵</a:t>
                </a:r>
                <a:r>
                  <a:rPr lang="en-US" sz="1600" dirty="0"/>
                  <a:t>;</a:t>
                </a:r>
              </a:p>
              <a:p>
                <a:r>
                  <a:rPr lang="en-US" sz="1600" dirty="0"/>
                  <a:t>head();</a:t>
                </a:r>
                <a:r>
                  <a:rPr lang="zh-CN" altLang="en-US" sz="1600" dirty="0"/>
                  <a:t>  </a:t>
                </a:r>
                <a:r>
                  <a:rPr lang="en-US" sz="1600" dirty="0">
                    <a:solidFill>
                      <a:schemeClr val="accent6"/>
                    </a:solidFill>
                  </a:rPr>
                  <a:t>//</a:t>
                </a:r>
                <a:r>
                  <a:rPr lang="zh-CN" altLang="en-US" sz="1600" dirty="0">
                    <a:solidFill>
                      <a:schemeClr val="accent6"/>
                    </a:solidFill>
                  </a:rPr>
                  <a:t>头部绘制</a:t>
                </a:r>
                <a:endParaRPr lang="en-US" sz="1600" dirty="0">
                  <a:solidFill>
                    <a:schemeClr val="accent6"/>
                  </a:solidFill>
                </a:endParaRPr>
              </a:p>
              <a:p>
                <a:r>
                  <a:rPr lang="en-US" sz="1600" dirty="0" err="1"/>
                  <a:t>model_view</a:t>
                </a:r>
                <a:r>
                  <a:rPr lang="en-US" sz="1600" dirty="0"/>
                  <a:t> = </a:t>
                </a:r>
                <a:r>
                  <a:rPr lang="en-US" sz="1600" dirty="0" err="1">
                    <a:solidFill>
                      <a:srgbClr val="FF0000"/>
                    </a:solidFill>
                  </a:rPr>
                  <a:t>mvstack.pop</a:t>
                </a:r>
                <a:r>
                  <a:rPr lang="en-US" sz="1600" dirty="0">
                    <a:solidFill>
                      <a:srgbClr val="FF0000"/>
                    </a:solidFill>
                  </a:rPr>
                  <a:t>()</a:t>
                </a:r>
                <a:r>
                  <a:rPr lang="en-US" sz="1600" dirty="0"/>
                  <a:t>;</a:t>
                </a:r>
                <a:r>
                  <a:rPr lang="zh-CN" altLang="en-US" sz="1600" dirty="0"/>
                  <a:t>  </a:t>
                </a:r>
                <a:r>
                  <a:rPr lang="en-US" sz="1600" dirty="0">
                    <a:solidFill>
                      <a:schemeClr val="accent6"/>
                    </a:solidFill>
                  </a:rPr>
                  <a:t>//</a:t>
                </a:r>
                <a:r>
                  <a:rPr lang="zh-CN" altLang="en-US" sz="1600" dirty="0">
                    <a:solidFill>
                      <a:schemeClr val="accent6"/>
                    </a:solidFill>
                  </a:rPr>
                  <a:t>恢复躯干变换矩阵</a:t>
                </a:r>
                <a:endParaRPr lang="en-US" sz="1600" dirty="0">
                  <a:solidFill>
                    <a:schemeClr val="accent6"/>
                  </a:solidFill>
                </a:endParaRPr>
              </a:p>
              <a:p>
                <a:r>
                  <a:rPr lang="en-US" sz="1600" dirty="0"/>
                  <a:t> </a:t>
                </a:r>
              </a:p>
              <a:p>
                <a:r>
                  <a:rPr lang="en-US" sz="1600" dirty="0" err="1">
                    <a:solidFill>
                      <a:srgbClr val="FF0000"/>
                    </a:solidFill>
                  </a:rPr>
                  <a:t>mvstack.push</a:t>
                </a:r>
                <a:r>
                  <a:rPr lang="en-US" sz="1600" dirty="0"/>
                  <a:t>( </a:t>
                </a:r>
                <a:r>
                  <a:rPr lang="en-US" sz="1600" dirty="0" err="1"/>
                  <a:t>model_view</a:t>
                </a:r>
                <a:r>
                  <a:rPr lang="en-US" sz="1600" dirty="0"/>
                  <a:t> ); </a:t>
                </a:r>
                <a:r>
                  <a:rPr lang="zh-CN" altLang="en-US" sz="1600" dirty="0"/>
                  <a:t> </a:t>
                </a:r>
                <a:r>
                  <a:rPr lang="en-US" sz="1600" dirty="0">
                    <a:solidFill>
                      <a:schemeClr val="accent6"/>
                    </a:solidFill>
                  </a:rPr>
                  <a:t>//</a:t>
                </a:r>
                <a:r>
                  <a:rPr lang="zh-CN" altLang="en-US" sz="1600" dirty="0">
                    <a:solidFill>
                      <a:schemeClr val="accent6"/>
                    </a:solidFill>
                  </a:rPr>
                  <a:t>保存躯干变换矩阵</a:t>
                </a:r>
                <a:endParaRPr lang="en-US" sz="1600" dirty="0">
                  <a:solidFill>
                    <a:schemeClr val="accent6"/>
                  </a:solidFill>
                </a:endParaRPr>
              </a:p>
              <a:p>
                <a:r>
                  <a:rPr lang="en-US" sz="1600" dirty="0" err="1"/>
                  <a:t>model_view</a:t>
                </a:r>
                <a:r>
                  <a:rPr lang="en-US" sz="1600" dirty="0"/>
                  <a:t> *= </a:t>
                </a:r>
                <a:r>
                  <a:rPr lang="zh-CN" altLang="en-US" sz="1600" dirty="0"/>
                  <a:t>左上臂局部变换矩阵</a:t>
                </a:r>
                <a:r>
                  <a:rPr lang="en-US" sz="1600" dirty="0"/>
                  <a:t>;</a:t>
                </a:r>
              </a:p>
              <a:p>
                <a:r>
                  <a:rPr lang="en-US" sz="1600" dirty="0" err="1"/>
                  <a:t>left_upper_arm</a:t>
                </a:r>
                <a:r>
                  <a:rPr lang="en-US" sz="1600" dirty="0"/>
                  <a:t>();</a:t>
                </a:r>
                <a:r>
                  <a:rPr lang="zh-CN" altLang="en-US" sz="1600" dirty="0"/>
                  <a:t>  </a:t>
                </a:r>
                <a:r>
                  <a:rPr lang="en-US" sz="1600" dirty="0">
                    <a:solidFill>
                      <a:schemeClr val="accent6"/>
                    </a:solidFill>
                  </a:rPr>
                  <a:t>//</a:t>
                </a:r>
                <a:r>
                  <a:rPr lang="zh-CN" altLang="en-US" sz="1600" dirty="0">
                    <a:solidFill>
                      <a:schemeClr val="accent6"/>
                    </a:solidFill>
                  </a:rPr>
                  <a:t>左上臂绘制</a:t>
                </a:r>
                <a:endParaRPr lang="en-US" sz="1600" dirty="0">
                  <a:solidFill>
                    <a:schemeClr val="accent6"/>
                  </a:solidFill>
                </a:endParaRPr>
              </a:p>
              <a:p>
                <a:r>
                  <a:rPr lang="en-US" sz="1600" dirty="0" err="1"/>
                  <a:t>model_view</a:t>
                </a:r>
                <a:r>
                  <a:rPr lang="en-US" sz="1600" dirty="0"/>
                  <a:t> *= </a:t>
                </a:r>
                <a:r>
                  <a:rPr lang="zh-CN" altLang="en-US" sz="1600" dirty="0"/>
                  <a:t>左下臂局部变换矩阵</a:t>
                </a:r>
                <a:r>
                  <a:rPr lang="en-US" sz="1600" dirty="0"/>
                  <a:t>;</a:t>
                </a:r>
              </a:p>
              <a:p>
                <a:r>
                  <a:rPr lang="en-US" sz="1600" dirty="0" err="1"/>
                  <a:t>left_lower_arm</a:t>
                </a:r>
                <a:r>
                  <a:rPr lang="en-US" sz="1600" dirty="0"/>
                  <a:t>();</a:t>
                </a:r>
                <a:r>
                  <a:rPr lang="zh-CN" altLang="en-US" sz="1600" dirty="0"/>
                  <a:t>  </a:t>
                </a:r>
                <a:r>
                  <a:rPr lang="en-US" sz="1600" dirty="0">
                    <a:solidFill>
                      <a:schemeClr val="accent6"/>
                    </a:solidFill>
                  </a:rPr>
                  <a:t>//</a:t>
                </a:r>
                <a:r>
                  <a:rPr lang="zh-CN" altLang="en-US" sz="1600" dirty="0">
                    <a:solidFill>
                      <a:schemeClr val="accent6"/>
                    </a:solidFill>
                  </a:rPr>
                  <a:t>左下臂绘制</a:t>
                </a:r>
                <a:endParaRPr lang="en-US" sz="1600" dirty="0">
                  <a:solidFill>
                    <a:schemeClr val="accent6"/>
                  </a:solidFill>
                </a:endParaRPr>
              </a:p>
              <a:p>
                <a:r>
                  <a:rPr lang="en-US" sz="1600" dirty="0" err="1"/>
                  <a:t>model_view</a:t>
                </a:r>
                <a:r>
                  <a:rPr lang="en-US" sz="1600" dirty="0"/>
                  <a:t> = </a:t>
                </a:r>
                <a:r>
                  <a:rPr lang="en-US" sz="1600" dirty="0" err="1">
                    <a:solidFill>
                      <a:srgbClr val="FF0000"/>
                    </a:solidFill>
                  </a:rPr>
                  <a:t>mvstack.pop</a:t>
                </a:r>
                <a:r>
                  <a:rPr lang="en-US" sz="1600" dirty="0"/>
                  <a:t>();</a:t>
                </a:r>
                <a:r>
                  <a:rPr lang="zh-CN" altLang="en-US" sz="1600" dirty="0"/>
                  <a:t>  </a:t>
                </a:r>
                <a:r>
                  <a:rPr lang="en-US" sz="1600" dirty="0">
                    <a:solidFill>
                      <a:schemeClr val="accent6"/>
                    </a:solidFill>
                  </a:rPr>
                  <a:t>//</a:t>
                </a:r>
                <a:r>
                  <a:rPr lang="zh-CN" altLang="en-US" sz="1600" dirty="0">
                    <a:solidFill>
                      <a:schemeClr val="accent6"/>
                    </a:solidFill>
                  </a:rPr>
                  <a:t>恢复躯干变换矩阵</a:t>
                </a:r>
                <a:endParaRPr lang="en-US" sz="1600" dirty="0">
                  <a:solidFill>
                    <a:schemeClr val="accent6"/>
                  </a:solidFill>
                </a:endParaRPr>
              </a:p>
              <a:p>
                <a:r>
                  <a:rPr lang="en-US" sz="1600" dirty="0"/>
                  <a:t> </a:t>
                </a:r>
              </a:p>
              <a:p>
                <a:r>
                  <a:rPr lang="en-US" sz="1600" dirty="0" err="1">
                    <a:solidFill>
                      <a:srgbClr val="FF0000"/>
                    </a:solidFill>
                  </a:rPr>
                  <a:t>mvstack.push</a:t>
                </a:r>
                <a:r>
                  <a:rPr lang="en-US" sz="1600" dirty="0"/>
                  <a:t>( </a:t>
                </a:r>
                <a:r>
                  <a:rPr lang="en-US" sz="1600" dirty="0" err="1"/>
                  <a:t>model_view</a:t>
                </a:r>
                <a:r>
                  <a:rPr lang="en-US" sz="1600" dirty="0"/>
                  <a:t> ); </a:t>
                </a:r>
                <a:r>
                  <a:rPr lang="zh-CN" altLang="en-US" sz="1600" dirty="0"/>
                  <a:t> </a:t>
                </a:r>
                <a:r>
                  <a:rPr lang="en-US" sz="1600" dirty="0">
                    <a:solidFill>
                      <a:schemeClr val="accent6"/>
                    </a:solidFill>
                  </a:rPr>
                  <a:t>//</a:t>
                </a:r>
                <a:r>
                  <a:rPr lang="zh-CN" altLang="en-US" sz="1600" dirty="0">
                    <a:solidFill>
                      <a:schemeClr val="accent6"/>
                    </a:solidFill>
                  </a:rPr>
                  <a:t>保存躯干变换矩阵</a:t>
                </a:r>
                <a:endParaRPr lang="en-US" sz="1600" dirty="0">
                  <a:solidFill>
                    <a:schemeClr val="accent6"/>
                  </a:solidFill>
                </a:endParaRPr>
              </a:p>
              <a:p>
                <a:r>
                  <a:rPr lang="en-US" sz="1600" dirty="0" err="1"/>
                  <a:t>model_view</a:t>
                </a:r>
                <a:r>
                  <a:rPr lang="en-US" sz="1600" dirty="0"/>
                  <a:t> *= </a:t>
                </a:r>
                <a:r>
                  <a:rPr lang="zh-CN" altLang="en-US" sz="1600" dirty="0"/>
                  <a:t>右上臂局部变换矩阵</a:t>
                </a:r>
                <a:r>
                  <a:rPr lang="en-US" sz="1600" dirty="0"/>
                  <a:t>;</a:t>
                </a:r>
              </a:p>
              <a:p>
                <a:r>
                  <a:rPr lang="en-US" sz="1600" dirty="0" err="1"/>
                  <a:t>right_upper_arm</a:t>
                </a:r>
                <a:r>
                  <a:rPr lang="en-US" sz="1600" dirty="0"/>
                  <a:t>();</a:t>
                </a:r>
                <a:r>
                  <a:rPr lang="zh-CN" altLang="en-US" sz="1600" dirty="0"/>
                  <a:t>  </a:t>
                </a:r>
                <a:r>
                  <a:rPr lang="en-US" sz="1600" dirty="0">
                    <a:solidFill>
                      <a:schemeClr val="accent6"/>
                    </a:solidFill>
                  </a:rPr>
                  <a:t>//</a:t>
                </a:r>
                <a:r>
                  <a:rPr lang="zh-CN" altLang="en-US" sz="1600" dirty="0">
                    <a:solidFill>
                      <a:schemeClr val="accent6"/>
                    </a:solidFill>
                  </a:rPr>
                  <a:t>右上臂绘制</a:t>
                </a:r>
                <a:endParaRPr lang="en-US" sz="1600" dirty="0">
                  <a:solidFill>
                    <a:schemeClr val="accent6"/>
                  </a:solidFill>
                </a:endParaRPr>
              </a:p>
              <a:p>
                <a:r>
                  <a:rPr lang="en-US" sz="1600" dirty="0" err="1"/>
                  <a:t>model_view</a:t>
                </a:r>
                <a:r>
                  <a:rPr lang="en-US" sz="1600" dirty="0"/>
                  <a:t> *= </a:t>
                </a:r>
                <a:r>
                  <a:rPr lang="zh-CN" altLang="en-US" sz="1600" dirty="0"/>
                  <a:t>右下臂局部变换矩阵</a:t>
                </a:r>
                <a:endParaRPr lang="en-US" sz="1600" dirty="0"/>
              </a:p>
              <a:p>
                <a:r>
                  <a:rPr lang="en-US" sz="1600" dirty="0" err="1"/>
                  <a:t>right_lower_arm</a:t>
                </a:r>
                <a:r>
                  <a:rPr lang="en-US" sz="1600" dirty="0"/>
                  <a:t>();</a:t>
                </a:r>
                <a:r>
                  <a:rPr lang="zh-CN" altLang="en-US" sz="1600" dirty="0"/>
                  <a:t>  </a:t>
                </a:r>
                <a:r>
                  <a:rPr lang="en-US" sz="1600" dirty="0">
                    <a:solidFill>
                      <a:schemeClr val="accent6"/>
                    </a:solidFill>
                  </a:rPr>
                  <a:t>//</a:t>
                </a:r>
                <a:r>
                  <a:rPr lang="zh-CN" altLang="en-US" sz="1600" dirty="0">
                    <a:solidFill>
                      <a:schemeClr val="accent6"/>
                    </a:solidFill>
                  </a:rPr>
                  <a:t>右下臂绘制</a:t>
                </a:r>
                <a:endParaRPr lang="en-US" sz="1600" dirty="0">
                  <a:solidFill>
                    <a:schemeClr val="accent6"/>
                  </a:solidFill>
                </a:endParaRPr>
              </a:p>
              <a:p>
                <a:r>
                  <a:rPr lang="en-US" sz="1600" dirty="0" err="1"/>
                  <a:t>model_view</a:t>
                </a:r>
                <a:r>
                  <a:rPr lang="en-US" sz="1600" dirty="0"/>
                  <a:t> = </a:t>
                </a:r>
                <a:r>
                  <a:rPr lang="en-US" sz="1600" dirty="0" err="1">
                    <a:solidFill>
                      <a:srgbClr val="FF0000"/>
                    </a:solidFill>
                  </a:rPr>
                  <a:t>mvstack.pop</a:t>
                </a:r>
                <a:r>
                  <a:rPr lang="en-US" sz="1600" dirty="0"/>
                  <a:t>();</a:t>
                </a:r>
                <a:r>
                  <a:rPr lang="zh-CN" altLang="en-US" sz="1600" dirty="0"/>
                  <a:t>  </a:t>
                </a:r>
                <a:r>
                  <a:rPr lang="en-US" sz="1600" dirty="0">
                    <a:solidFill>
                      <a:schemeClr val="accent6"/>
                    </a:solidFill>
                  </a:rPr>
                  <a:t>//</a:t>
                </a:r>
                <a:r>
                  <a:rPr lang="zh-CN" altLang="en-US" sz="1600" dirty="0">
                    <a:solidFill>
                      <a:schemeClr val="accent6"/>
                    </a:solidFill>
                  </a:rPr>
                  <a:t>恢复躯干变换矩阵</a:t>
                </a:r>
                <a:endParaRPr lang="en-US" altLang="zh-CN" sz="1600" dirty="0">
                  <a:solidFill>
                    <a:schemeClr val="accent6"/>
                  </a:solidFill>
                </a:endParaRPr>
              </a:p>
              <a:p>
                <a:pPr/>
                <a14:m>
                  <m:oMathPara xmlns:m="http://schemas.openxmlformats.org/officeDocument/2006/math">
                    <m:oMathParaPr>
                      <m:jc m:val="left"/>
                    </m:oMathParaPr>
                    <m:oMath xmlns:m="http://schemas.openxmlformats.org/officeDocument/2006/math">
                      <m:r>
                        <a:rPr lang="en-US" altLang="zh-CN" sz="1600" i="0" smtClean="0">
                          <a:solidFill>
                            <a:schemeClr val="tx1"/>
                          </a:solidFill>
                          <a:latin typeface="Cambria Math" panose="02040503050406030204" charset="0"/>
                        </a:rPr>
                        <m:t>⋮</m:t>
                      </m:r>
                    </m:oMath>
                  </m:oMathPara>
                </a14:m>
                <a:endParaRPr lang="en-US" altLang="zh-CN" sz="1600" dirty="0">
                  <a:solidFill>
                    <a:schemeClr val="tx1"/>
                  </a:solidFill>
                </a:endParaRPr>
              </a:p>
            </p:txBody>
          </p:sp>
        </mc:Choice>
        <mc:Fallback xmlns="">
          <p:sp>
            <p:nvSpPr>
              <p:cNvPr id="6" name="矩形 6"/>
              <p:cNvSpPr>
                <a:spLocks noRot="1" noChangeAspect="1" noMove="1" noResize="1" noEditPoints="1" noAdjustHandles="1" noChangeArrowheads="1" noChangeShapeType="1" noTextEdit="1"/>
              </p:cNvSpPr>
              <p:nvPr/>
            </p:nvSpPr>
            <p:spPr>
              <a:xfrm>
                <a:off x="616689" y="1130721"/>
                <a:ext cx="4950417" cy="5509200"/>
              </a:xfrm>
              <a:prstGeom prst="rect">
                <a:avLst/>
              </a:prstGeom>
              <a:blipFill rotWithShape="1">
                <a:blip r:embed="rId2"/>
                <a:stretch>
                  <a:fillRect l="-2" t="-8" r="1" b="7"/>
                </a:stretch>
              </a:blipFill>
            </p:spPr>
            <p:txBody>
              <a:bodyPr/>
              <a:lstStyle/>
              <a:p>
                <a:r>
                  <a:rPr lang="zh-CN" altLang="en-US">
                    <a:noFill/>
                  </a:rPr>
                  <a:t> </a:t>
                </a:r>
              </a:p>
            </p:txBody>
          </p:sp>
        </mc:Fallback>
      </mc:AlternateContent>
      <p:pic>
        <p:nvPicPr>
          <p:cNvPr id="8" name="图片 3"/>
          <p:cNvPicPr>
            <a:picLocks noChangeAspect="1"/>
          </p:cNvPicPr>
          <p:nvPr/>
        </p:nvPicPr>
        <p:blipFill rotWithShape="1">
          <a:blip r:embed="rId3"/>
          <a:srcRect r="75391"/>
          <a:stretch>
            <a:fillRect/>
          </a:stretch>
        </p:blipFill>
        <p:spPr>
          <a:xfrm>
            <a:off x="6453621" y="1258927"/>
            <a:ext cx="1606179" cy="3226915"/>
          </a:xfrm>
          <a:prstGeom prst="rect">
            <a:avLst/>
          </a:prstGeom>
        </p:spPr>
      </p:pic>
      <p:grpSp>
        <p:nvGrpSpPr>
          <p:cNvPr id="9" name="Group 8"/>
          <p:cNvGrpSpPr/>
          <p:nvPr/>
        </p:nvGrpSpPr>
        <p:grpSpPr>
          <a:xfrm>
            <a:off x="5567106" y="4614530"/>
            <a:ext cx="3379210" cy="1749657"/>
            <a:chOff x="891793" y="3030279"/>
            <a:chExt cx="7040095" cy="3645158"/>
          </a:xfrm>
        </p:grpSpPr>
        <p:pic>
          <p:nvPicPr>
            <p:cNvPr id="10" name="图片 3"/>
            <p:cNvPicPr>
              <a:picLocks noChangeAspect="1"/>
            </p:cNvPicPr>
            <p:nvPr/>
          </p:nvPicPr>
          <p:blipFill rotWithShape="1">
            <a:blip r:embed="rId4"/>
            <a:srcRect t="4789"/>
            <a:stretch>
              <a:fillRect/>
            </a:stretch>
          </p:blipFill>
          <p:spPr>
            <a:xfrm>
              <a:off x="891793" y="3030279"/>
              <a:ext cx="7040095" cy="3645158"/>
            </a:xfrm>
            <a:prstGeom prst="rect">
              <a:avLst/>
            </a:prstGeom>
          </p:spPr>
        </p:pic>
        <mc:AlternateContent xmlns:mc="http://schemas.openxmlformats.org/markup-compatibility/2006" xmlns:a14="http://schemas.microsoft.com/office/drawing/2010/main">
          <mc:Choice Requires="a14">
            <p:sp>
              <p:nvSpPr>
                <p:cNvPr id="11" name="TextBox 10"/>
                <p:cNvSpPr txBox="1"/>
                <p:nvPr/>
              </p:nvSpPr>
              <p:spPr>
                <a:xfrm>
                  <a:off x="5036865" y="3218749"/>
                  <a:ext cx="393786" cy="45624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CN" sz="1050" b="0" i="0" smtClean="0">
                            <a:latin typeface="Cambria Math" panose="02040503050406030204" charset="0"/>
                          </a:rPr>
                          <m:t>M</m:t>
                        </m:r>
                      </m:oMath>
                    </m:oMathPara>
                  </a14:m>
                  <a:endParaRPr lang="en-US" sz="1050" dirty="0"/>
                </a:p>
              </p:txBody>
            </p:sp>
          </mc:Choice>
          <mc:Fallback xmlns="">
            <p:sp>
              <p:nvSpPr>
                <p:cNvPr id="11" name="TextBox 10"/>
                <p:cNvSpPr txBox="1">
                  <a:spLocks noRot="1" noChangeAspect="1" noMove="1" noResize="1" noEditPoints="1" noAdjustHandles="1" noChangeArrowheads="1" noChangeShapeType="1" noTextEdit="1"/>
                </p:cNvSpPr>
                <p:nvPr/>
              </p:nvSpPr>
              <p:spPr>
                <a:xfrm>
                  <a:off x="5036865" y="3218749"/>
                  <a:ext cx="393786" cy="456248"/>
                </a:xfrm>
                <a:prstGeom prst="rect">
                  <a:avLst/>
                </a:prstGeom>
                <a:blipFill rotWithShape="1">
                  <a:blip r:embed="rId5"/>
                </a:blipFill>
              </p:spPr>
              <p:txBody>
                <a:bodyPr/>
                <a:lstStyle/>
                <a:p>
                  <a:r>
                    <a:rPr lang="zh-CN" altLang="en-US">
                      <a:noFill/>
                    </a:rPr>
                    <a:t> </a:t>
                  </a:r>
                </a:p>
              </p:txBody>
            </p:sp>
          </mc:Fallback>
        </mc:AlternateContent>
      </p:gr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部件绘制</a:t>
            </a:r>
          </a:p>
        </p:txBody>
      </p:sp>
      <p:sp>
        <p:nvSpPr>
          <p:cNvPr id="3" name="内容占位符 2"/>
          <p:cNvSpPr>
            <a:spLocks noGrp="1"/>
          </p:cNvSpPr>
          <p:nvPr>
            <p:ph idx="1"/>
          </p:nvPr>
        </p:nvSpPr>
        <p:spPr/>
        <p:txBody>
          <a:bodyPr/>
          <a:lstStyle/>
          <a:p>
            <a:pPr>
              <a:buClr>
                <a:srgbClr val="94003F"/>
              </a:buClr>
            </a:pPr>
            <a:r>
              <a:rPr lang="zh-CN" altLang="en-US" sz="2400" dirty="0"/>
              <a:t>在示例代码中没有对状态进行修改</a:t>
            </a:r>
            <a:endParaRPr lang="en-US" altLang="zh-CN" sz="2400" dirty="0"/>
          </a:p>
          <a:p>
            <a:pPr lvl="1">
              <a:buClr>
                <a:srgbClr val="94003F"/>
              </a:buClr>
            </a:pPr>
            <a:r>
              <a:rPr lang="zh-CN" altLang="en-US" sz="1800" dirty="0"/>
              <a:t>例如没有改变颜色，可以在各个部件绘制过程中分别赋色</a:t>
            </a:r>
            <a:endParaRPr lang="en-US" altLang="zh-CN" sz="1800" dirty="0"/>
          </a:p>
          <a:p>
            <a:pPr>
              <a:buClr>
                <a:srgbClr val="94003F"/>
              </a:buClr>
            </a:pPr>
            <a:r>
              <a:rPr lang="zh-CN" altLang="en-US" sz="2400" dirty="0"/>
              <a:t>对每一个部件，同样需要一个从</a:t>
            </a:r>
            <a:r>
              <a:rPr lang="zh-CN" altLang="en-US" sz="2400" dirty="0">
                <a:solidFill>
                  <a:srgbClr val="0000FF"/>
                </a:solidFill>
              </a:rPr>
              <a:t>图符</a:t>
            </a:r>
            <a:r>
              <a:rPr lang="zh-CN" altLang="en-US" sz="2400" dirty="0"/>
              <a:t>到</a:t>
            </a:r>
            <a:r>
              <a:rPr lang="zh-CN" altLang="en-US" sz="2400" dirty="0">
                <a:solidFill>
                  <a:srgbClr val="0000FF"/>
                </a:solidFill>
              </a:rPr>
              <a:t>实例</a:t>
            </a:r>
            <a:r>
              <a:rPr lang="zh-CN" altLang="en-US" sz="2400" dirty="0"/>
              <a:t>的变换：</a:t>
            </a:r>
            <a:endParaRPr lang="en-US" altLang="zh-CN" sz="2400" dirty="0"/>
          </a:p>
          <a:p>
            <a:pPr lvl="1">
              <a:buClr>
                <a:srgbClr val="94003F"/>
              </a:buClr>
            </a:pPr>
            <a:r>
              <a:rPr lang="en-US" altLang="zh-CN" sz="1600" dirty="0">
                <a:solidFill>
                  <a:srgbClr val="FF0000"/>
                </a:solidFill>
              </a:rPr>
              <a:t>push</a:t>
            </a:r>
            <a:r>
              <a:rPr lang="zh-CN" altLang="en-US" sz="1600" dirty="0"/>
              <a:t>和</a:t>
            </a:r>
            <a:r>
              <a:rPr lang="en-US" altLang="zh-CN" sz="1600" dirty="0">
                <a:solidFill>
                  <a:srgbClr val="FF0000"/>
                </a:solidFill>
              </a:rPr>
              <a:t>pop</a:t>
            </a:r>
            <a:r>
              <a:rPr lang="zh-CN" altLang="en-US" sz="1600" dirty="0"/>
              <a:t>操作起到代码隔离作用，防止误操作</a:t>
            </a:r>
            <a:endParaRPr lang="en-US" altLang="zh-CN" sz="16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a:p>
            <a:pPr>
              <a:buClr>
                <a:srgbClr val="94003F"/>
              </a:buClr>
            </a:pPr>
            <a:endParaRPr lang="en-US" altLang="zh-CN" sz="24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88</a:t>
            </a:fld>
            <a:endParaRPr lang="zh-CN" altLang="en-US"/>
          </a:p>
        </p:txBody>
      </p:sp>
      <p:pic>
        <p:nvPicPr>
          <p:cNvPr id="5" name="Picture 4"/>
          <p:cNvPicPr/>
          <p:nvPr/>
        </p:nvPicPr>
        <p:blipFill>
          <a:blip r:embed="rId2"/>
          <a:stretch>
            <a:fillRect/>
          </a:stretch>
        </p:blipFill>
        <p:spPr>
          <a:xfrm>
            <a:off x="8056808" y="816936"/>
            <a:ext cx="917084" cy="1946918"/>
          </a:xfrm>
          <a:prstGeom prst="rect">
            <a:avLst/>
          </a:prstGeom>
          <a:ln>
            <a:noFill/>
          </a:ln>
        </p:spPr>
      </p:pic>
      <p:pic>
        <p:nvPicPr>
          <p:cNvPr id="8" name="图片 5"/>
          <p:cNvPicPr>
            <a:picLocks noChangeAspect="1"/>
          </p:cNvPicPr>
          <p:nvPr/>
        </p:nvPicPr>
        <p:blipFill rotWithShape="1">
          <a:blip r:embed="rId3"/>
          <a:srcRect r="48983"/>
          <a:stretch>
            <a:fillRect/>
          </a:stretch>
        </p:blipFill>
        <p:spPr>
          <a:xfrm>
            <a:off x="7424976" y="2971743"/>
            <a:ext cx="1676107" cy="1393941"/>
          </a:xfrm>
          <a:prstGeom prst="rect">
            <a:avLst/>
          </a:prstGeom>
        </p:spPr>
      </p:pic>
      <p:sp>
        <p:nvSpPr>
          <p:cNvPr id="9" name="Right Arrow 8"/>
          <p:cNvSpPr/>
          <p:nvPr/>
        </p:nvSpPr>
        <p:spPr>
          <a:xfrm rot="5400000">
            <a:off x="8061714" y="4509778"/>
            <a:ext cx="308344" cy="435935"/>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0" name="Picture 9"/>
          <p:cNvPicPr>
            <a:picLocks noChangeAspect="1"/>
          </p:cNvPicPr>
          <p:nvPr/>
        </p:nvPicPr>
        <p:blipFill rotWithShape="1">
          <a:blip r:embed="rId4" cstate="print">
            <a:extLst>
              <a:ext uri="{28A0092B-C50C-407E-A947-70E740481C1C}">
                <a14:useLocalDpi xmlns:a14="http://schemas.microsoft.com/office/drawing/2010/main" val="0"/>
              </a:ext>
            </a:extLst>
          </a:blip>
          <a:srcRect l="74683" t="7975" b="8993"/>
          <a:stretch>
            <a:fillRect/>
          </a:stretch>
        </p:blipFill>
        <p:spPr>
          <a:xfrm>
            <a:off x="7763813" y="4897144"/>
            <a:ext cx="1199106" cy="1542049"/>
          </a:xfrm>
          <a:prstGeom prst="rect">
            <a:avLst/>
          </a:prstGeom>
        </p:spPr>
      </p:pic>
      <p:sp>
        <p:nvSpPr>
          <p:cNvPr id="11" name="矩形 6"/>
          <p:cNvSpPr/>
          <p:nvPr/>
        </p:nvSpPr>
        <p:spPr>
          <a:xfrm>
            <a:off x="1013410" y="2899763"/>
            <a:ext cx="6170122" cy="3539430"/>
          </a:xfrm>
          <a:prstGeom prst="rect">
            <a:avLst/>
          </a:prstGeom>
          <a:solidFill>
            <a:srgbClr val="BDD7EE">
              <a:alpha val="52941"/>
            </a:srgbClr>
          </a:solidFill>
        </p:spPr>
        <p:txBody>
          <a:bodyPr wrap="square">
            <a:spAutoFit/>
          </a:bodyPr>
          <a:lstStyle/>
          <a:p>
            <a:r>
              <a:rPr lang="en-US" sz="1400" dirty="0"/>
              <a:t>Void </a:t>
            </a:r>
            <a:r>
              <a:rPr lang="en-US" altLang="zh-CN" sz="1400" b="1" dirty="0" err="1"/>
              <a:t>upper_arm</a:t>
            </a:r>
            <a:r>
              <a:rPr lang="en-US" sz="1400" dirty="0"/>
              <a:t>()</a:t>
            </a:r>
          </a:p>
          <a:p>
            <a:r>
              <a:rPr lang="en-US" sz="1400" dirty="0"/>
              <a:t>{</a:t>
            </a:r>
          </a:p>
          <a:p>
            <a:r>
              <a:rPr lang="zh-CN" altLang="en-US" sz="1400" dirty="0">
                <a:solidFill>
                  <a:srgbClr val="FF0000"/>
                </a:solidFill>
              </a:rPr>
              <a:t>            </a:t>
            </a:r>
            <a:r>
              <a:rPr lang="en-US" sz="1400" dirty="0" err="1">
                <a:solidFill>
                  <a:srgbClr val="FF0000"/>
                </a:solidFill>
              </a:rPr>
              <a:t>mvstack.push</a:t>
            </a:r>
            <a:r>
              <a:rPr lang="en-US" sz="1400" dirty="0">
                <a:solidFill>
                  <a:srgbClr val="FF0000"/>
                </a:solidFill>
              </a:rPr>
              <a:t>( </a:t>
            </a:r>
            <a:r>
              <a:rPr lang="en-US" sz="1400" dirty="0" err="1">
                <a:solidFill>
                  <a:srgbClr val="FF0000"/>
                </a:solidFill>
              </a:rPr>
              <a:t>model_view</a:t>
            </a:r>
            <a:r>
              <a:rPr lang="en-US" sz="1400" dirty="0">
                <a:solidFill>
                  <a:srgbClr val="FF0000"/>
                </a:solidFill>
              </a:rPr>
              <a:t> ); </a:t>
            </a:r>
            <a:r>
              <a:rPr lang="zh-CN" altLang="en-US" sz="1400" dirty="0">
                <a:solidFill>
                  <a:srgbClr val="FF0000"/>
                </a:solidFill>
              </a:rPr>
              <a:t> </a:t>
            </a:r>
            <a:r>
              <a:rPr lang="en-US" sz="1400" dirty="0">
                <a:solidFill>
                  <a:srgbClr val="FF0000"/>
                </a:solidFill>
              </a:rPr>
              <a:t>//</a:t>
            </a:r>
            <a:r>
              <a:rPr lang="zh-CN" altLang="en-US" sz="1400" dirty="0">
                <a:solidFill>
                  <a:srgbClr val="FF0000"/>
                </a:solidFill>
              </a:rPr>
              <a:t>保存当前模</a:t>
            </a:r>
            <a:r>
              <a:rPr lang="en-US" altLang="zh-CN" sz="1400" dirty="0">
                <a:solidFill>
                  <a:srgbClr val="FF0000"/>
                </a:solidFill>
              </a:rPr>
              <a:t>-</a:t>
            </a:r>
            <a:r>
              <a:rPr lang="zh-CN" altLang="en-US" sz="1400" dirty="0">
                <a:solidFill>
                  <a:srgbClr val="FF0000"/>
                </a:solidFill>
              </a:rPr>
              <a:t>视变换矩阵</a:t>
            </a:r>
            <a:endParaRPr lang="en-US" sz="1400" dirty="0">
              <a:solidFill>
                <a:srgbClr val="FF0000"/>
              </a:solidFill>
            </a:endParaRPr>
          </a:p>
          <a:p>
            <a:endParaRPr lang="en-US" sz="1400" dirty="0"/>
          </a:p>
          <a:p>
            <a:pPr lvl="1"/>
            <a:r>
              <a:rPr lang="en-US" sz="1400" dirty="0"/>
              <a:t> </a:t>
            </a:r>
            <a:r>
              <a:rPr lang="en-US" sz="1400" i="1" dirty="0">
                <a:solidFill>
                  <a:srgbClr val="0000FF"/>
                </a:solidFill>
              </a:rPr>
              <a:t>mat4</a:t>
            </a:r>
            <a:r>
              <a:rPr lang="en-US" sz="1400" dirty="0">
                <a:solidFill>
                  <a:srgbClr val="0000FF"/>
                </a:solidFill>
              </a:rPr>
              <a:t> </a:t>
            </a:r>
            <a:r>
              <a:rPr lang="en-US" sz="1400" dirty="0"/>
              <a:t>instance =  </a:t>
            </a:r>
            <a:r>
              <a:rPr lang="en-US" sz="1400" b="1" dirty="0"/>
              <a:t>Translate</a:t>
            </a:r>
            <a:r>
              <a:rPr lang="en-US" sz="1400" dirty="0"/>
              <a:t>( 0.0, 0.5 * </a:t>
            </a:r>
            <a:r>
              <a:rPr lang="en-US" altLang="zh-CN" sz="1400" dirty="0"/>
              <a:t>UPPER</a:t>
            </a:r>
            <a:r>
              <a:rPr lang="en-US" sz="1400" dirty="0"/>
              <a:t>_</a:t>
            </a:r>
            <a:r>
              <a:rPr lang="en-US" altLang="zh-CN" sz="1400" dirty="0"/>
              <a:t>ARM_</a:t>
            </a:r>
            <a:r>
              <a:rPr lang="en-US" sz="1400" dirty="0"/>
              <a:t>HEIGHT, 0.0 ) </a:t>
            </a:r>
          </a:p>
          <a:p>
            <a:pPr lvl="1"/>
            <a:r>
              <a:rPr lang="zh-CN" altLang="en-US" sz="1400" dirty="0"/>
              <a:t>                             </a:t>
            </a:r>
            <a:r>
              <a:rPr lang="en-US" sz="1400" dirty="0"/>
              <a:t>*</a:t>
            </a:r>
            <a:r>
              <a:rPr lang="zh-CN" altLang="en-US" sz="1400" dirty="0"/>
              <a:t> </a:t>
            </a:r>
            <a:r>
              <a:rPr lang="en-US" sz="1400" b="1" dirty="0"/>
              <a:t>Scale</a:t>
            </a:r>
            <a:r>
              <a:rPr lang="en-US" sz="1400" dirty="0"/>
              <a:t>(</a:t>
            </a:r>
            <a:r>
              <a:rPr lang="en-US" altLang="zh-CN" sz="1400" dirty="0"/>
              <a:t>UA_</a:t>
            </a:r>
            <a:r>
              <a:rPr lang="en-US" sz="1400" dirty="0"/>
              <a:t>WIDTH,</a:t>
            </a:r>
            <a:r>
              <a:rPr lang="zh-CN" altLang="en-US" sz="1400" dirty="0"/>
              <a:t> </a:t>
            </a:r>
            <a:r>
              <a:rPr lang="en-US" altLang="zh-CN" sz="1400" dirty="0"/>
              <a:t>UA_</a:t>
            </a:r>
            <a:r>
              <a:rPr lang="en-US" sz="1400" dirty="0"/>
              <a:t>HEIGHT,</a:t>
            </a:r>
            <a:r>
              <a:rPr lang="zh-CN" altLang="en-US" sz="1400" dirty="0"/>
              <a:t> </a:t>
            </a:r>
            <a:r>
              <a:rPr lang="en-US" altLang="zh-CN" sz="1400" dirty="0"/>
              <a:t>UA_</a:t>
            </a:r>
            <a:r>
              <a:rPr lang="en-US" sz="1400" dirty="0"/>
              <a:t>WIDTH ) ;</a:t>
            </a:r>
          </a:p>
          <a:p>
            <a:pPr lvl="1"/>
            <a:r>
              <a:rPr lang="zh-CN" altLang="en-US" sz="1400" dirty="0">
                <a:solidFill>
                  <a:schemeClr val="accent6"/>
                </a:solidFill>
              </a:rPr>
              <a:t>  </a:t>
            </a:r>
            <a:r>
              <a:rPr lang="en-US" sz="1400" dirty="0">
                <a:solidFill>
                  <a:schemeClr val="accent6"/>
                </a:solidFill>
              </a:rPr>
              <a:t>//</a:t>
            </a:r>
            <a:r>
              <a:rPr lang="zh-CN" altLang="en-US" sz="1400" dirty="0">
                <a:solidFill>
                  <a:schemeClr val="accent6"/>
                </a:solidFill>
              </a:rPr>
              <a:t>按长宽高缩放正方体，并且平移使得底面在</a:t>
            </a:r>
            <a:r>
              <a:rPr lang="en-US" altLang="zh-CN" sz="1400" dirty="0">
                <a:solidFill>
                  <a:schemeClr val="accent6"/>
                </a:solidFill>
              </a:rPr>
              <a:t>y=0</a:t>
            </a:r>
            <a:r>
              <a:rPr lang="zh-CN" altLang="en-US" sz="1400" dirty="0">
                <a:solidFill>
                  <a:schemeClr val="accent6"/>
                </a:solidFill>
              </a:rPr>
              <a:t>上</a:t>
            </a:r>
            <a:endParaRPr lang="en-US" altLang="zh-CN" sz="1400" dirty="0">
              <a:solidFill>
                <a:schemeClr val="accent6"/>
              </a:solidFill>
            </a:endParaRPr>
          </a:p>
          <a:p>
            <a:pPr lvl="1"/>
            <a:endParaRPr lang="en-US" sz="1400" dirty="0"/>
          </a:p>
          <a:p>
            <a:pPr lvl="1"/>
            <a:r>
              <a:rPr lang="en-US" sz="1400" dirty="0"/>
              <a:t> </a:t>
            </a:r>
            <a:r>
              <a:rPr lang="en-US" sz="1400" b="1" dirty="0"/>
              <a:t>glUniformMatrix4fv</a:t>
            </a:r>
            <a:r>
              <a:rPr lang="en-US" sz="1400" dirty="0"/>
              <a:t>(</a:t>
            </a:r>
            <a:r>
              <a:rPr lang="en-US" sz="1400" dirty="0" err="1"/>
              <a:t>ModelView</a:t>
            </a:r>
            <a:r>
              <a:rPr lang="en-US" sz="1400" dirty="0"/>
              <a:t>, 1, GL_TRUE, </a:t>
            </a:r>
            <a:r>
              <a:rPr lang="en-US" sz="1400" dirty="0" err="1">
                <a:solidFill>
                  <a:srgbClr val="FF0000"/>
                </a:solidFill>
              </a:rPr>
              <a:t>model_view</a:t>
            </a:r>
            <a:r>
              <a:rPr lang="en-US" sz="1400" dirty="0">
                <a:solidFill>
                  <a:srgbClr val="FF0000"/>
                </a:solidFill>
              </a:rPr>
              <a:t> * instance </a:t>
            </a:r>
            <a:r>
              <a:rPr lang="en-US" sz="1400" dirty="0"/>
              <a:t>);</a:t>
            </a:r>
            <a:r>
              <a:rPr lang="zh-CN" altLang="en-US" sz="1400" dirty="0"/>
              <a:t> </a:t>
            </a:r>
            <a:endParaRPr lang="en-US" altLang="zh-CN" sz="1400" dirty="0"/>
          </a:p>
          <a:p>
            <a:pPr lvl="1"/>
            <a:r>
              <a:rPr lang="zh-CN" altLang="en-US" sz="1400" dirty="0">
                <a:solidFill>
                  <a:schemeClr val="accent6"/>
                </a:solidFill>
              </a:rPr>
              <a:t> </a:t>
            </a:r>
            <a:r>
              <a:rPr lang="en-US" sz="1400" dirty="0">
                <a:solidFill>
                  <a:schemeClr val="accent6"/>
                </a:solidFill>
              </a:rPr>
              <a:t>//</a:t>
            </a:r>
            <a:r>
              <a:rPr lang="zh-CN" altLang="en-US" sz="1400" dirty="0">
                <a:solidFill>
                  <a:schemeClr val="accent6"/>
                </a:solidFill>
              </a:rPr>
              <a:t>将完整的模</a:t>
            </a:r>
            <a:r>
              <a:rPr lang="en-US" altLang="zh-CN" sz="1400" dirty="0">
                <a:solidFill>
                  <a:schemeClr val="accent6"/>
                </a:solidFill>
              </a:rPr>
              <a:t>-</a:t>
            </a:r>
            <a:r>
              <a:rPr lang="zh-CN" altLang="en-US" sz="1400" dirty="0">
                <a:solidFill>
                  <a:schemeClr val="accent6"/>
                </a:solidFill>
              </a:rPr>
              <a:t>视矩阵传给</a:t>
            </a:r>
            <a:r>
              <a:rPr lang="en-US" sz="1400" dirty="0" err="1">
                <a:solidFill>
                  <a:schemeClr val="accent6"/>
                </a:solidFill>
              </a:rPr>
              <a:t>shader</a:t>
            </a:r>
            <a:endParaRPr lang="en-US" sz="1400" dirty="0">
              <a:solidFill>
                <a:schemeClr val="accent6"/>
              </a:solidFill>
            </a:endParaRPr>
          </a:p>
          <a:p>
            <a:pPr lvl="1"/>
            <a:endParaRPr lang="en-US" sz="1400" i="1" dirty="0"/>
          </a:p>
          <a:p>
            <a:pPr lvl="1"/>
            <a:r>
              <a:rPr lang="zh-CN" altLang="en-US" sz="1400" dirty="0">
                <a:solidFill>
                  <a:srgbClr val="FF0000"/>
                </a:solidFill>
              </a:rPr>
              <a:t> </a:t>
            </a:r>
            <a:r>
              <a:rPr lang="en-US" altLang="zh-CN" sz="1400" dirty="0" err="1">
                <a:solidFill>
                  <a:srgbClr val="FF0000"/>
                </a:solidFill>
              </a:rPr>
              <a:t>colorCube</a:t>
            </a:r>
            <a:r>
              <a:rPr lang="en-US" altLang="zh-CN" sz="1400" dirty="0">
                <a:solidFill>
                  <a:srgbClr val="FF0000"/>
                </a:solidFill>
              </a:rPr>
              <a:t>();</a:t>
            </a:r>
            <a:r>
              <a:rPr lang="zh-CN" altLang="en-US" sz="1400" dirty="0">
                <a:solidFill>
                  <a:srgbClr val="FF0000"/>
                </a:solidFill>
              </a:rPr>
              <a:t>  </a:t>
            </a:r>
            <a:r>
              <a:rPr lang="en-US" altLang="zh-CN" sz="1400" dirty="0">
                <a:solidFill>
                  <a:srgbClr val="FF0000"/>
                </a:solidFill>
              </a:rPr>
              <a:t>//</a:t>
            </a:r>
            <a:r>
              <a:rPr lang="zh-CN" altLang="en-US" sz="1400" dirty="0">
                <a:solidFill>
                  <a:srgbClr val="FF0000"/>
                </a:solidFill>
              </a:rPr>
              <a:t> 给部件赋色</a:t>
            </a:r>
            <a:endParaRPr lang="en-US" sz="1400" dirty="0">
              <a:solidFill>
                <a:srgbClr val="FF0000"/>
              </a:solidFill>
            </a:endParaRPr>
          </a:p>
          <a:p>
            <a:pPr lvl="1"/>
            <a:r>
              <a:rPr lang="zh-CN" altLang="en-US" sz="1400" i="1" dirty="0"/>
              <a:t> </a:t>
            </a:r>
            <a:r>
              <a:rPr lang="en-US" sz="1400" b="1" dirty="0" err="1"/>
              <a:t>glDrawArrays</a:t>
            </a:r>
            <a:r>
              <a:rPr lang="en-US" sz="1400" dirty="0"/>
              <a:t>( GL_TRIANGLES, 0, </a:t>
            </a:r>
            <a:r>
              <a:rPr lang="en-US" sz="1400" dirty="0" err="1"/>
              <a:t>NumVertices</a:t>
            </a:r>
            <a:r>
              <a:rPr lang="en-US" sz="1400" dirty="0"/>
              <a:t> );</a:t>
            </a:r>
            <a:r>
              <a:rPr lang="zh-CN" altLang="en-US" sz="1400" dirty="0"/>
              <a:t>  </a:t>
            </a:r>
            <a:r>
              <a:rPr lang="en-US" sz="1400" dirty="0">
                <a:solidFill>
                  <a:schemeClr val="accent6"/>
                </a:solidFill>
              </a:rPr>
              <a:t>//</a:t>
            </a:r>
            <a:r>
              <a:rPr lang="zh-CN" altLang="en-US" sz="1400" dirty="0">
                <a:solidFill>
                  <a:schemeClr val="accent6"/>
                </a:solidFill>
              </a:rPr>
              <a:t>绘制相应的三角面片</a:t>
            </a:r>
            <a:endParaRPr lang="en-US" altLang="zh-CN" sz="1400" dirty="0">
              <a:solidFill>
                <a:schemeClr val="accent6"/>
              </a:solidFill>
            </a:endParaRPr>
          </a:p>
          <a:p>
            <a:pPr lvl="1"/>
            <a:endParaRPr lang="en-US" sz="1400" dirty="0"/>
          </a:p>
          <a:p>
            <a:pPr lvl="1"/>
            <a:r>
              <a:rPr lang="en-US" sz="1400" dirty="0" err="1">
                <a:solidFill>
                  <a:srgbClr val="FF0000"/>
                </a:solidFill>
              </a:rPr>
              <a:t>model_view</a:t>
            </a:r>
            <a:r>
              <a:rPr lang="en-US" sz="1400" dirty="0">
                <a:solidFill>
                  <a:srgbClr val="FF0000"/>
                </a:solidFill>
              </a:rPr>
              <a:t> = </a:t>
            </a:r>
            <a:r>
              <a:rPr lang="en-US" sz="1400" dirty="0" err="1">
                <a:solidFill>
                  <a:srgbClr val="FF0000"/>
                </a:solidFill>
              </a:rPr>
              <a:t>mvstack.pop</a:t>
            </a:r>
            <a:r>
              <a:rPr lang="en-US" sz="1400" dirty="0">
                <a:solidFill>
                  <a:srgbClr val="FF0000"/>
                </a:solidFill>
              </a:rPr>
              <a:t>();</a:t>
            </a:r>
            <a:r>
              <a:rPr lang="zh-CN" altLang="en-US" sz="1400" dirty="0">
                <a:solidFill>
                  <a:srgbClr val="FF0000"/>
                </a:solidFill>
              </a:rPr>
              <a:t>  </a:t>
            </a:r>
            <a:r>
              <a:rPr lang="en-US" sz="1400" dirty="0">
                <a:solidFill>
                  <a:srgbClr val="FF0000"/>
                </a:solidFill>
              </a:rPr>
              <a:t>//</a:t>
            </a:r>
            <a:r>
              <a:rPr lang="zh-CN" altLang="en-US" sz="1400" dirty="0">
                <a:solidFill>
                  <a:srgbClr val="FF0000"/>
                </a:solidFill>
              </a:rPr>
              <a:t>恢复当前模</a:t>
            </a:r>
            <a:r>
              <a:rPr lang="en-US" altLang="zh-CN" sz="1400" dirty="0">
                <a:solidFill>
                  <a:srgbClr val="FF0000"/>
                </a:solidFill>
              </a:rPr>
              <a:t>-</a:t>
            </a:r>
            <a:r>
              <a:rPr lang="zh-CN" altLang="en-US" sz="1400" dirty="0">
                <a:solidFill>
                  <a:srgbClr val="FF0000"/>
                </a:solidFill>
              </a:rPr>
              <a:t>视变换矩阵</a:t>
            </a:r>
            <a:endParaRPr lang="en-US" sz="1400" dirty="0">
              <a:solidFill>
                <a:srgbClr val="FF0000"/>
              </a:solidFill>
            </a:endParaRPr>
          </a:p>
          <a:p>
            <a:r>
              <a:rPr lang="en-US" sz="1400" dirty="0"/>
              <a:t>} </a:t>
            </a:r>
            <a:endParaRPr lang="en-US" altLang="zh-CN" sz="1400" dirty="0">
              <a:solidFill>
                <a:schemeClr val="accent6"/>
              </a:solidFill>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期末大作业</a:t>
            </a:r>
            <a:endParaRPr lang="en-US" dirty="0"/>
          </a:p>
        </p:txBody>
      </p:sp>
      <p:sp>
        <p:nvSpPr>
          <p:cNvPr id="3" name="Content Placeholder 2"/>
          <p:cNvSpPr>
            <a:spLocks noGrp="1"/>
          </p:cNvSpPr>
          <p:nvPr>
            <p:ph idx="1"/>
          </p:nvPr>
        </p:nvSpPr>
        <p:spPr/>
        <p:txBody>
          <a:bodyPr/>
          <a:lstStyle/>
          <a:p>
            <a:r>
              <a:rPr lang="zh-CN" altLang="en-US" dirty="0"/>
              <a:t>虚拟场景建模</a:t>
            </a:r>
            <a:endParaRPr lang="en-US" altLang="en-US" dirty="0"/>
          </a:p>
          <a:p>
            <a:pPr lvl="1"/>
            <a:r>
              <a:rPr lang="zh-CN" altLang="en-US" dirty="0"/>
              <a:t>场景设计和显示；添加纹理；添加光照，材质，阴影效果</a:t>
            </a:r>
            <a:r>
              <a:rPr lang="en-US" dirty="0"/>
              <a:t>  </a:t>
            </a:r>
          </a:p>
          <a:p>
            <a:pPr lvl="1"/>
            <a:r>
              <a:rPr lang="zh-CN" altLang="en-US" dirty="0"/>
              <a:t>用户交互实现视角切换完成对场景的任意角度浏览</a:t>
            </a:r>
            <a:endParaRPr lang="en-US" altLang="zh-CN" dirty="0"/>
          </a:p>
          <a:p>
            <a:pPr lvl="1"/>
            <a:r>
              <a:rPr lang="zh-CN" altLang="en-US" dirty="0"/>
              <a:t>通过交互控制物体变换</a:t>
            </a:r>
            <a:endParaRPr lang="en-US" altLang="zh-CN" dirty="0"/>
          </a:p>
          <a:p>
            <a:pPr lvl="1"/>
            <a:r>
              <a:rPr lang="zh-CN" altLang="en-US" dirty="0"/>
              <a:t>截止时间：</a:t>
            </a:r>
            <a:r>
              <a:rPr lang="en-US" b="1" dirty="0"/>
              <a:t> </a:t>
            </a:r>
            <a:r>
              <a:rPr lang="en-US" b="1" dirty="0">
                <a:solidFill>
                  <a:srgbClr val="FF0000"/>
                </a:solidFill>
              </a:rPr>
              <a:t>202</a:t>
            </a:r>
            <a:r>
              <a:rPr lang="en-US" altLang="zh-CN" b="1" dirty="0">
                <a:solidFill>
                  <a:srgbClr val="FF0000"/>
                </a:solidFill>
              </a:rPr>
              <a:t>5</a:t>
            </a:r>
            <a:r>
              <a:rPr lang="zh-CN" altLang="en-US" b="1" dirty="0">
                <a:solidFill>
                  <a:srgbClr val="FF0000"/>
                </a:solidFill>
              </a:rPr>
              <a:t>年</a:t>
            </a:r>
            <a:r>
              <a:rPr lang="en-US" altLang="zh-CN" b="1" dirty="0">
                <a:solidFill>
                  <a:srgbClr val="FF0000"/>
                </a:solidFill>
              </a:rPr>
              <a:t>12</a:t>
            </a:r>
            <a:r>
              <a:rPr lang="zh-CN" altLang="en-US" b="1" dirty="0">
                <a:solidFill>
                  <a:srgbClr val="FF0000"/>
                </a:solidFill>
              </a:rPr>
              <a:t>月</a:t>
            </a:r>
            <a:r>
              <a:rPr lang="en-US" altLang="zh-CN" b="1" dirty="0">
                <a:solidFill>
                  <a:srgbClr val="FF0000"/>
                </a:solidFill>
              </a:rPr>
              <a:t>28</a:t>
            </a:r>
            <a:r>
              <a:rPr lang="zh-CN" altLang="en-US" b="1" dirty="0">
                <a:solidFill>
                  <a:srgbClr val="FF0000"/>
                </a:solidFill>
              </a:rPr>
              <a:t>日</a:t>
            </a:r>
            <a:r>
              <a:rPr lang="en-US" b="1" dirty="0">
                <a:solidFill>
                  <a:srgbClr val="FF0000"/>
                </a:solidFill>
              </a:rPr>
              <a:t> 23:59</a:t>
            </a:r>
            <a:r>
              <a:rPr lang="zh-CN" altLang="en-US" b="1" dirty="0">
                <a:solidFill>
                  <a:srgbClr val="FF0000"/>
                </a:solidFill>
              </a:rPr>
              <a:t>，逾期提交：</a:t>
            </a:r>
            <a:r>
              <a:rPr lang="en-US" altLang="zh-CN" b="1" dirty="0">
                <a:solidFill>
                  <a:srgbClr val="FF0000"/>
                </a:solidFill>
              </a:rPr>
              <a:t>0</a:t>
            </a:r>
            <a:r>
              <a:rPr lang="zh-CN" altLang="en-US" b="1" dirty="0">
                <a:solidFill>
                  <a:srgbClr val="FF0000"/>
                </a:solidFill>
              </a:rPr>
              <a:t>分</a:t>
            </a:r>
            <a:endParaRPr lang="en-US" altLang="zh-CN" b="1" dirty="0">
              <a:solidFill>
                <a:srgbClr val="FF0000"/>
              </a:solidFill>
            </a:endParaRPr>
          </a:p>
          <a:p>
            <a:pPr lvl="1"/>
            <a:r>
              <a:rPr lang="zh-CN" altLang="en-US" b="1" dirty="0">
                <a:solidFill>
                  <a:srgbClr val="FF0000"/>
                </a:solidFill>
              </a:rPr>
              <a:t>最后一周理论课和实验课（</a:t>
            </a:r>
            <a:r>
              <a:rPr lang="en-US" b="1" dirty="0">
                <a:solidFill>
                  <a:srgbClr val="FF0000"/>
                </a:solidFill>
              </a:rPr>
              <a:t> 202</a:t>
            </a:r>
            <a:r>
              <a:rPr lang="en-US" altLang="zh-CN" b="1" dirty="0">
                <a:solidFill>
                  <a:srgbClr val="FF0000"/>
                </a:solidFill>
              </a:rPr>
              <a:t>5</a:t>
            </a:r>
            <a:r>
              <a:rPr lang="zh-CN" altLang="en-US" b="1" dirty="0">
                <a:solidFill>
                  <a:srgbClr val="FF0000"/>
                </a:solidFill>
              </a:rPr>
              <a:t>年</a:t>
            </a:r>
            <a:r>
              <a:rPr lang="en-US" altLang="zh-CN" b="1" dirty="0">
                <a:solidFill>
                  <a:srgbClr val="FF0000"/>
                </a:solidFill>
              </a:rPr>
              <a:t>12</a:t>
            </a:r>
            <a:r>
              <a:rPr lang="zh-CN" altLang="en-US" b="1" dirty="0">
                <a:solidFill>
                  <a:srgbClr val="FF0000"/>
                </a:solidFill>
              </a:rPr>
              <a:t>月</a:t>
            </a:r>
            <a:r>
              <a:rPr lang="en-US" altLang="zh-CN" b="1" dirty="0">
                <a:solidFill>
                  <a:srgbClr val="FF0000"/>
                </a:solidFill>
              </a:rPr>
              <a:t>30</a:t>
            </a:r>
            <a:r>
              <a:rPr lang="zh-CN" altLang="en-US" b="1" dirty="0">
                <a:solidFill>
                  <a:srgbClr val="FF0000"/>
                </a:solidFill>
              </a:rPr>
              <a:t>日</a:t>
            </a:r>
            <a:r>
              <a:rPr lang="en-US" b="1" dirty="0">
                <a:solidFill>
                  <a:srgbClr val="FF0000"/>
                </a:solidFill>
              </a:rPr>
              <a:t> </a:t>
            </a:r>
            <a:r>
              <a:rPr lang="zh-CN" altLang="en-US" b="1" dirty="0">
                <a:solidFill>
                  <a:srgbClr val="FF0000"/>
                </a:solidFill>
              </a:rPr>
              <a:t>）将安排课程大作业答辩</a:t>
            </a:r>
            <a:r>
              <a:rPr lang="zh-CN" altLang="en-US" dirty="0"/>
              <a:t>，按照学号顺序，每人上台展示自己的期末大作业。</a:t>
            </a:r>
            <a:endParaRPr lang="en-US" dirty="0"/>
          </a:p>
          <a:p>
            <a:pPr lvl="1"/>
            <a:endParaRPr lang="en-US" b="1" dirty="0">
              <a:solidFill>
                <a:srgbClr val="FF0000"/>
              </a:solidFill>
            </a:endParaRPr>
          </a:p>
          <a:p>
            <a:pPr lvl="1"/>
            <a:endParaRPr lang="en-US" dirty="0"/>
          </a:p>
          <a:p>
            <a:pPr lvl="1"/>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t>89</a:t>
            </a:fld>
            <a:endParaRPr lang="zh-CN" altLang="en-US" dirty="0"/>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97636" y="4024880"/>
            <a:ext cx="2385992" cy="2467993"/>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809949" y="4036493"/>
            <a:ext cx="2456381" cy="2456381"/>
          </a:xfrm>
          <a:prstGeom prst="rect">
            <a:avLst/>
          </a:prstGeom>
        </p:spPr>
      </p:pic>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397220" y="4036494"/>
            <a:ext cx="2337189" cy="2456381"/>
          </a:xfrm>
          <a:prstGeom prst="rect">
            <a:avLst/>
          </a:prstGeom>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期末大作业</a:t>
            </a:r>
            <a:endParaRPr lang="en-US" dirty="0"/>
          </a:p>
        </p:txBody>
      </p:sp>
      <p:sp>
        <p:nvSpPr>
          <p:cNvPr id="3" name="Content Placeholder 2"/>
          <p:cNvSpPr>
            <a:spLocks noGrp="1"/>
          </p:cNvSpPr>
          <p:nvPr>
            <p:ph idx="1"/>
          </p:nvPr>
        </p:nvSpPr>
        <p:spPr>
          <a:xfrm>
            <a:off x="628650" y="1316830"/>
            <a:ext cx="7886700" cy="4860685"/>
          </a:xfrm>
        </p:spPr>
        <p:txBody>
          <a:bodyPr>
            <a:normAutofit/>
          </a:bodyPr>
          <a:lstStyle/>
          <a:p>
            <a:pPr lvl="0">
              <a:spcAft>
                <a:spcPts val="600"/>
              </a:spcAft>
            </a:pPr>
            <a:r>
              <a:rPr lang="zh-CN" altLang="en-US" sz="2400" dirty="0"/>
              <a:t>上传压缩包“</a:t>
            </a:r>
            <a:r>
              <a:rPr lang="zh-CN" altLang="en-US" sz="2400" b="1" dirty="0">
                <a:solidFill>
                  <a:srgbClr val="FF0000"/>
                </a:solidFill>
              </a:rPr>
              <a:t>学号</a:t>
            </a:r>
            <a:r>
              <a:rPr lang="en-US" altLang="en-US" sz="2400" b="1" dirty="0">
                <a:solidFill>
                  <a:srgbClr val="FF0000"/>
                </a:solidFill>
              </a:rPr>
              <a:t>_</a:t>
            </a:r>
            <a:r>
              <a:rPr lang="zh-CN" altLang="en-US" sz="2400" b="1" dirty="0">
                <a:solidFill>
                  <a:srgbClr val="FF0000"/>
                </a:solidFill>
              </a:rPr>
              <a:t>姓名</a:t>
            </a:r>
            <a:r>
              <a:rPr lang="en-US" altLang="en-US" sz="2400" b="1" dirty="0">
                <a:solidFill>
                  <a:srgbClr val="FF0000"/>
                </a:solidFill>
              </a:rPr>
              <a:t>_</a:t>
            </a:r>
            <a:r>
              <a:rPr lang="zh-CN" altLang="en-US" sz="2400" b="1" dirty="0">
                <a:solidFill>
                  <a:srgbClr val="FF0000"/>
                </a:solidFill>
              </a:rPr>
              <a:t>期末大作业</a:t>
            </a:r>
            <a:r>
              <a:rPr lang="zh-CN" altLang="en-US" sz="2400" dirty="0"/>
              <a:t>”，包括：</a:t>
            </a:r>
            <a:endParaRPr lang="en-US" altLang="zh-CN" sz="2400" dirty="0"/>
          </a:p>
          <a:p>
            <a:pPr lvl="1">
              <a:spcAft>
                <a:spcPts val="600"/>
              </a:spcAft>
            </a:pPr>
            <a:r>
              <a:rPr lang="zh-CN" altLang="en-US" sz="1800" dirty="0"/>
              <a:t>过程说明报告：</a:t>
            </a:r>
            <a:endParaRPr lang="en-US" altLang="zh-CN" sz="1800" dirty="0"/>
          </a:p>
          <a:p>
            <a:pPr lvl="2">
              <a:spcAft>
                <a:spcPts val="600"/>
              </a:spcAft>
            </a:pPr>
            <a:r>
              <a:rPr lang="zh-CN" altLang="en-US" sz="1600" dirty="0"/>
              <a:t>填写</a:t>
            </a:r>
            <a:r>
              <a:rPr lang="en-US" altLang="en-US" sz="1600" dirty="0"/>
              <a:t>“</a:t>
            </a:r>
            <a:r>
              <a:rPr lang="zh-CN" altLang="en-US" sz="1600" dirty="0"/>
              <a:t>以论文、报告等形式考核专用答题纸</a:t>
            </a:r>
            <a:r>
              <a:rPr lang="en-US" altLang="en-US" sz="1600" dirty="0"/>
              <a:t>.doc</a:t>
            </a:r>
            <a:r>
              <a:rPr lang="zh-CN" altLang="en-US" sz="1600" dirty="0"/>
              <a:t>”，并重命名为“</a:t>
            </a:r>
            <a:r>
              <a:rPr lang="zh-CN" altLang="en-US" sz="1600" dirty="0">
                <a:solidFill>
                  <a:srgbClr val="FF0000"/>
                </a:solidFill>
              </a:rPr>
              <a:t>学号</a:t>
            </a:r>
            <a:r>
              <a:rPr lang="en-US" altLang="zh-CN" sz="1600" dirty="0">
                <a:solidFill>
                  <a:srgbClr val="FF0000"/>
                </a:solidFill>
              </a:rPr>
              <a:t>_</a:t>
            </a:r>
            <a:r>
              <a:rPr lang="zh-CN" altLang="en-US" sz="1600" dirty="0">
                <a:solidFill>
                  <a:srgbClr val="FF0000"/>
                </a:solidFill>
              </a:rPr>
              <a:t>姓名</a:t>
            </a:r>
            <a:r>
              <a:rPr lang="en-US" altLang="zh-CN" sz="1600" dirty="0">
                <a:solidFill>
                  <a:srgbClr val="FF0000"/>
                </a:solidFill>
              </a:rPr>
              <a:t>_</a:t>
            </a:r>
            <a:r>
              <a:rPr lang="zh-CN" altLang="en-US" sz="1600" dirty="0">
                <a:solidFill>
                  <a:srgbClr val="FF0000"/>
                </a:solidFill>
              </a:rPr>
              <a:t>答题纸</a:t>
            </a:r>
            <a:r>
              <a:rPr lang="zh-CN" altLang="en-US" sz="1600" dirty="0"/>
              <a:t>”</a:t>
            </a:r>
            <a:endParaRPr lang="en-US" altLang="zh-CN" sz="1600" dirty="0"/>
          </a:p>
          <a:p>
            <a:pPr lvl="1">
              <a:spcAft>
                <a:spcPts val="600"/>
              </a:spcAft>
            </a:pPr>
            <a:r>
              <a:rPr lang="zh-CN" altLang="en-US" sz="1800" dirty="0"/>
              <a:t>使用说明书：</a:t>
            </a:r>
            <a:endParaRPr lang="en-US" altLang="zh-CN" sz="1800" dirty="0"/>
          </a:p>
          <a:p>
            <a:pPr lvl="2">
              <a:spcAft>
                <a:spcPts val="600"/>
              </a:spcAft>
            </a:pPr>
            <a:r>
              <a:rPr lang="zh-CN" altLang="en-US" sz="1600" dirty="0"/>
              <a:t>自行撰写一个</a:t>
            </a:r>
            <a:r>
              <a:rPr lang="en-US" altLang="en-US" sz="1600" dirty="0"/>
              <a:t>word</a:t>
            </a:r>
            <a:r>
              <a:rPr lang="zh-CN" altLang="en-US" sz="1600" dirty="0"/>
              <a:t>文档，命名为“</a:t>
            </a:r>
            <a:r>
              <a:rPr lang="zh-CN" altLang="en-US" sz="1600" dirty="0">
                <a:solidFill>
                  <a:srgbClr val="FF0000"/>
                </a:solidFill>
              </a:rPr>
              <a:t>学号</a:t>
            </a:r>
            <a:r>
              <a:rPr lang="en-US" altLang="zh-CN" sz="1600" dirty="0">
                <a:solidFill>
                  <a:srgbClr val="FF0000"/>
                </a:solidFill>
              </a:rPr>
              <a:t>_</a:t>
            </a:r>
            <a:r>
              <a:rPr lang="zh-CN" altLang="en-US" sz="1600" dirty="0">
                <a:solidFill>
                  <a:srgbClr val="FF0000"/>
                </a:solidFill>
              </a:rPr>
              <a:t>姓名</a:t>
            </a:r>
            <a:r>
              <a:rPr lang="en-US" altLang="zh-CN" sz="1600" dirty="0">
                <a:solidFill>
                  <a:srgbClr val="FF0000"/>
                </a:solidFill>
              </a:rPr>
              <a:t>_</a:t>
            </a:r>
            <a:r>
              <a:rPr lang="zh-CN" altLang="en-US" sz="1600" dirty="0">
                <a:solidFill>
                  <a:srgbClr val="FF0000"/>
                </a:solidFill>
              </a:rPr>
              <a:t>使用说明书</a:t>
            </a:r>
            <a:r>
              <a:rPr lang="zh-CN" altLang="en-US" sz="1600" dirty="0"/>
              <a:t>”</a:t>
            </a:r>
            <a:endParaRPr lang="en-US" altLang="zh-CN" sz="1600" dirty="0"/>
          </a:p>
          <a:p>
            <a:pPr lvl="2">
              <a:spcAft>
                <a:spcPts val="600"/>
              </a:spcAft>
            </a:pPr>
            <a:r>
              <a:rPr lang="zh-CN" altLang="en-US" sz="1600" dirty="0"/>
              <a:t>内容必须包含：</a:t>
            </a:r>
            <a:endParaRPr lang="en-US" altLang="zh-CN" sz="1600" dirty="0"/>
          </a:p>
          <a:p>
            <a:pPr lvl="3">
              <a:spcAft>
                <a:spcPts val="600"/>
              </a:spcAft>
            </a:pPr>
            <a:r>
              <a:rPr lang="zh-CN" altLang="en-US" sz="1400" dirty="0"/>
              <a:t>一张有代表性的场景绘制截图</a:t>
            </a:r>
            <a:endParaRPr lang="en-US" altLang="zh-CN" sz="1400" dirty="0"/>
          </a:p>
          <a:p>
            <a:pPr lvl="4">
              <a:spcAft>
                <a:spcPts val="600"/>
              </a:spcAft>
            </a:pPr>
            <a:r>
              <a:rPr lang="zh-CN" altLang="en-US" sz="1400" dirty="0"/>
              <a:t>将图片单独保存并一起上传，命名为“</a:t>
            </a:r>
            <a:r>
              <a:rPr lang="zh-CN" altLang="en-US" sz="1400" dirty="0">
                <a:solidFill>
                  <a:srgbClr val="FF0000"/>
                </a:solidFill>
              </a:rPr>
              <a:t>学号</a:t>
            </a:r>
            <a:r>
              <a:rPr lang="en-US" altLang="zh-CN" sz="1400" dirty="0">
                <a:solidFill>
                  <a:srgbClr val="FF0000"/>
                </a:solidFill>
              </a:rPr>
              <a:t>_</a:t>
            </a:r>
            <a:r>
              <a:rPr lang="zh-CN" altLang="en-US" sz="1400" dirty="0">
                <a:solidFill>
                  <a:srgbClr val="FF0000"/>
                </a:solidFill>
              </a:rPr>
              <a:t>姓名</a:t>
            </a:r>
            <a:r>
              <a:rPr lang="en-US" altLang="zh-CN" sz="1400" dirty="0">
                <a:solidFill>
                  <a:srgbClr val="FF0000"/>
                </a:solidFill>
              </a:rPr>
              <a:t>_</a:t>
            </a:r>
            <a:r>
              <a:rPr lang="zh-CN" altLang="en-US" sz="1400" dirty="0">
                <a:solidFill>
                  <a:srgbClr val="FF0000"/>
                </a:solidFill>
              </a:rPr>
              <a:t>场景截图</a:t>
            </a:r>
            <a:r>
              <a:rPr lang="zh-CN" altLang="en-US" sz="1400" dirty="0"/>
              <a:t>”</a:t>
            </a:r>
            <a:endParaRPr lang="en-US" altLang="zh-CN" sz="1400" dirty="0"/>
          </a:p>
          <a:p>
            <a:pPr lvl="3">
              <a:spcAft>
                <a:spcPts val="600"/>
              </a:spcAft>
            </a:pPr>
            <a:r>
              <a:rPr lang="zh-CN" altLang="en-US" sz="1400" dirty="0"/>
              <a:t>场景中模型的层次结构框图</a:t>
            </a:r>
            <a:endParaRPr lang="en-US" altLang="zh-CN" sz="1400" dirty="0"/>
          </a:p>
          <a:p>
            <a:pPr lvl="3">
              <a:spcAft>
                <a:spcPts val="600"/>
              </a:spcAft>
            </a:pPr>
            <a:r>
              <a:rPr lang="zh-CN" altLang="en-US" sz="1400" dirty="0"/>
              <a:t>鼠标和键盘的具体交互用法</a:t>
            </a:r>
            <a:endParaRPr lang="en-US" altLang="zh-CN" sz="1400" dirty="0"/>
          </a:p>
          <a:p>
            <a:pPr lvl="1">
              <a:spcAft>
                <a:spcPts val="600"/>
              </a:spcAft>
            </a:pPr>
            <a:r>
              <a:rPr lang="zh-CN" altLang="en-US" sz="1800" dirty="0"/>
              <a:t>源代码压缩包</a:t>
            </a:r>
            <a:r>
              <a:rPr lang="en-US" sz="1800" dirty="0"/>
              <a:t> </a:t>
            </a:r>
            <a:r>
              <a:rPr lang="zh-CN" altLang="en-US" sz="1800" dirty="0"/>
              <a:t>：</a:t>
            </a:r>
            <a:endParaRPr lang="en-US" sz="1800" dirty="0"/>
          </a:p>
          <a:p>
            <a:pPr lvl="2">
              <a:spcAft>
                <a:spcPts val="600"/>
              </a:spcAft>
            </a:pPr>
            <a:r>
              <a:rPr lang="zh-CN" altLang="en-US" sz="1600" dirty="0"/>
              <a:t>命名为“</a:t>
            </a:r>
            <a:r>
              <a:rPr lang="zh-CN" altLang="en-US" sz="1600" dirty="0">
                <a:solidFill>
                  <a:srgbClr val="FF0000"/>
                </a:solidFill>
              </a:rPr>
              <a:t>学号</a:t>
            </a:r>
            <a:r>
              <a:rPr lang="en-US" altLang="zh-CN" sz="1600" dirty="0">
                <a:solidFill>
                  <a:srgbClr val="FF0000"/>
                </a:solidFill>
              </a:rPr>
              <a:t>_</a:t>
            </a:r>
            <a:r>
              <a:rPr lang="zh-CN" altLang="en-US" sz="1600" dirty="0">
                <a:solidFill>
                  <a:srgbClr val="FF0000"/>
                </a:solidFill>
              </a:rPr>
              <a:t>姓名</a:t>
            </a:r>
            <a:r>
              <a:rPr lang="en-US" altLang="zh-CN" sz="1600" dirty="0">
                <a:solidFill>
                  <a:srgbClr val="FF0000"/>
                </a:solidFill>
              </a:rPr>
              <a:t>_</a:t>
            </a:r>
            <a:r>
              <a:rPr lang="zh-CN" altLang="en-US" sz="1600" dirty="0">
                <a:solidFill>
                  <a:srgbClr val="FF0000"/>
                </a:solidFill>
              </a:rPr>
              <a:t>源代码</a:t>
            </a:r>
            <a:r>
              <a:rPr lang="zh-CN" altLang="en-US" sz="1600" dirty="0"/>
              <a:t>”</a:t>
            </a:r>
            <a:endParaRPr lang="en-US" altLang="en-US" sz="1600" dirty="0"/>
          </a:p>
          <a:p>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t>90</a:t>
            </a:fld>
            <a:endParaRPr lang="zh-CN" altLang="en-US"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EB792F4E-54C0-4D36-B331-9C6FCFE9A340}" type="slidenum">
              <a:rPr lang="zh-CN" altLang="en-US" smtClean="0"/>
              <a:t>91</a:t>
            </a:fld>
            <a:endParaRPr lang="zh-CN" altLang="en-US"/>
          </a:p>
        </p:txBody>
      </p:sp>
      <p:sp>
        <p:nvSpPr>
          <p:cNvPr id="8" name="文本框 7"/>
          <p:cNvSpPr txBox="1"/>
          <p:nvPr/>
        </p:nvSpPr>
        <p:spPr>
          <a:xfrm>
            <a:off x="172542" y="1263466"/>
            <a:ext cx="8679815" cy="4399915"/>
          </a:xfrm>
          <a:prstGeom prst="rect">
            <a:avLst/>
          </a:prstGeom>
          <a:noFill/>
        </p:spPr>
        <p:txBody>
          <a:bodyPr wrap="none" rtlCol="0">
            <a:spAutoFit/>
          </a:bodyPr>
          <a:lstStyle/>
          <a:p>
            <a:pPr algn="ctr"/>
            <a:r>
              <a:rPr lang="zh-CN" altLang="en-US" sz="4800" b="1" dirty="0">
                <a:latin typeface="微软雅黑" panose="020B0503020204020204" pitchFamily="34" charset="-122"/>
                <a:ea typeface="微软雅黑" panose="020B0503020204020204" pitchFamily="34" charset="-122"/>
              </a:rPr>
              <a:t>笔试，闭卷</a:t>
            </a:r>
            <a:endParaRPr lang="en-US" altLang="zh-CN" sz="4800" b="1" dirty="0">
              <a:latin typeface="微软雅黑" panose="020B0503020204020204" pitchFamily="34" charset="-122"/>
              <a:ea typeface="微软雅黑" panose="020B0503020204020204" pitchFamily="34" charset="-122"/>
            </a:endParaRPr>
          </a:p>
          <a:p>
            <a:pPr algn="ctr"/>
            <a:endParaRPr lang="en-US" altLang="zh-CN" sz="4800" b="1" dirty="0">
              <a:latin typeface="微软雅黑" panose="020B0503020204020204" pitchFamily="34" charset="-122"/>
              <a:ea typeface="微软雅黑" panose="020B0503020204020204" pitchFamily="34" charset="-122"/>
            </a:endParaRPr>
          </a:p>
          <a:p>
            <a:pPr algn="ctr"/>
            <a:r>
              <a:rPr lang="zh-CN" altLang="en-US" sz="4800" b="1" dirty="0">
                <a:latin typeface="微软雅黑" panose="020B0503020204020204" pitchFamily="34" charset="-122"/>
                <a:ea typeface="微软雅黑" panose="020B0503020204020204" pitchFamily="34" charset="-122"/>
              </a:rPr>
              <a:t>致理楼</a:t>
            </a:r>
            <a:r>
              <a:rPr lang="en-US" altLang="zh-CN" sz="4800" b="1" dirty="0">
                <a:latin typeface="微软雅黑" panose="020B0503020204020204" pitchFamily="34" charset="-122"/>
                <a:ea typeface="微软雅黑" panose="020B0503020204020204" pitchFamily="34" charset="-122"/>
              </a:rPr>
              <a:t> L1-205</a:t>
            </a:r>
          </a:p>
          <a:p>
            <a:pPr algn="ctr"/>
            <a:endParaRPr lang="en-US" altLang="zh-CN" sz="4800" b="1" dirty="0">
              <a:latin typeface="微软雅黑" panose="020B0503020204020204" pitchFamily="34" charset="-122"/>
              <a:ea typeface="微软雅黑" panose="020B0503020204020204" pitchFamily="34" charset="-122"/>
            </a:endParaRPr>
          </a:p>
          <a:p>
            <a:pPr algn="ctr"/>
            <a:r>
              <a:rPr lang="en-US" altLang="zh-CN" sz="4800" b="1" dirty="0">
                <a:latin typeface="微软雅黑" panose="020B0503020204020204" pitchFamily="34" charset="-122"/>
                <a:ea typeface="微软雅黑" panose="020B0503020204020204" pitchFamily="34" charset="-122"/>
              </a:rPr>
              <a:t>2026.1.3</a:t>
            </a:r>
            <a:r>
              <a:rPr lang="zh-CN" altLang="en-US" sz="4800" b="1" dirty="0">
                <a:latin typeface="微软雅黑" panose="020B0503020204020204" pitchFamily="34" charset="-122"/>
                <a:ea typeface="微软雅黑" panose="020B0503020204020204" pitchFamily="34" charset="-122"/>
              </a:rPr>
              <a:t>周六</a:t>
            </a:r>
            <a:r>
              <a:rPr lang="en-US" altLang="zh-CN" sz="4800" b="1" dirty="0">
                <a:latin typeface="微软雅黑" panose="020B0503020204020204" pitchFamily="34" charset="-122"/>
                <a:ea typeface="微软雅黑" panose="020B0503020204020204" pitchFamily="34" charset="-122"/>
              </a:rPr>
              <a:t>10</a:t>
            </a:r>
            <a:r>
              <a:rPr lang="zh-CN" altLang="en-US" sz="4800" b="1" dirty="0">
                <a:latin typeface="微软雅黑" panose="020B0503020204020204" pitchFamily="34" charset="-122"/>
                <a:ea typeface="微软雅黑" panose="020B0503020204020204" pitchFamily="34" charset="-122"/>
              </a:rPr>
              <a:t>：</a:t>
            </a:r>
            <a:r>
              <a:rPr lang="en-US" altLang="zh-CN" sz="4800" b="1" dirty="0">
                <a:latin typeface="微软雅黑" panose="020B0503020204020204" pitchFamily="34" charset="-122"/>
                <a:ea typeface="微软雅黑" panose="020B0503020204020204" pitchFamily="34" charset="-122"/>
              </a:rPr>
              <a:t>00-11</a:t>
            </a:r>
            <a:r>
              <a:rPr lang="zh-CN" altLang="en-US" sz="4800" b="1" dirty="0">
                <a:latin typeface="微软雅黑" panose="020B0503020204020204" pitchFamily="34" charset="-122"/>
                <a:ea typeface="微软雅黑" panose="020B0503020204020204" pitchFamily="34" charset="-122"/>
              </a:rPr>
              <a:t>：</a:t>
            </a:r>
            <a:r>
              <a:rPr lang="en-US" altLang="zh-CN" sz="4800" b="1" dirty="0">
                <a:latin typeface="微软雅黑" panose="020B0503020204020204" pitchFamily="34" charset="-122"/>
                <a:ea typeface="微软雅黑" panose="020B0503020204020204" pitchFamily="34" charset="-122"/>
              </a:rPr>
              <a:t>30</a:t>
            </a:r>
            <a:r>
              <a:rPr lang="zh-CN" altLang="en-US" sz="4800" b="1" dirty="0">
                <a:latin typeface="微软雅黑" panose="020B0503020204020204" pitchFamily="34" charset="-122"/>
                <a:ea typeface="微软雅黑" panose="020B0503020204020204" pitchFamily="34" charset="-122"/>
              </a:rPr>
              <a:t> </a:t>
            </a:r>
            <a:endParaRPr lang="en-US" altLang="zh-CN" sz="4800" b="1" dirty="0">
              <a:latin typeface="微软雅黑" panose="020B0503020204020204" pitchFamily="34" charset="-122"/>
              <a:ea typeface="微软雅黑" panose="020B0503020204020204" pitchFamily="34" charset="-122"/>
            </a:endParaRPr>
          </a:p>
          <a:p>
            <a:pPr algn="ctr"/>
            <a:r>
              <a:rPr lang="zh-CN" altLang="en-US" sz="4000" b="1" dirty="0">
                <a:latin typeface="微软雅黑" panose="020B0503020204020204" pitchFamily="34" charset="-122"/>
                <a:ea typeface="微软雅黑" panose="020B0503020204020204" pitchFamily="34" charset="-122"/>
              </a:rPr>
              <a:t>（携带校园卡提前</a:t>
            </a:r>
            <a:r>
              <a:rPr lang="en-US" altLang="zh-CN" sz="4000" b="1" dirty="0">
                <a:latin typeface="微软雅黑" panose="020B0503020204020204" pitchFamily="34" charset="-122"/>
                <a:ea typeface="微软雅黑" panose="020B0503020204020204" pitchFamily="34" charset="-122"/>
              </a:rPr>
              <a:t>20</a:t>
            </a:r>
            <a:r>
              <a:rPr lang="zh-CN" altLang="en-US" sz="4000" b="1" dirty="0">
                <a:latin typeface="微软雅黑" panose="020B0503020204020204" pitchFamily="34" charset="-122"/>
                <a:ea typeface="微软雅黑" panose="020B0503020204020204" pitchFamily="34" charset="-122"/>
              </a:rPr>
              <a:t>分钟到场）</a:t>
            </a:r>
          </a:p>
        </p:txBody>
      </p:sp>
      <p:sp>
        <p:nvSpPr>
          <p:cNvPr id="7" name="Title 6"/>
          <p:cNvSpPr>
            <a:spLocks noGrp="1"/>
          </p:cNvSpPr>
          <p:nvPr>
            <p:ph type="title"/>
          </p:nvPr>
        </p:nvSpPr>
        <p:spPr/>
        <p:txBody>
          <a:bodyPr/>
          <a:lstStyle/>
          <a:p>
            <a:r>
              <a:rPr lang="zh-CN" altLang="en-US" dirty="0"/>
              <a:t>期末测试</a:t>
            </a:r>
            <a:br>
              <a:rPr lang="en-US" altLang="zh-CN" dirty="0"/>
            </a:br>
            <a:endParaRPr lang="en-US"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矩形 1"/>
          <p:cNvSpPr/>
          <p:nvPr/>
        </p:nvSpPr>
        <p:spPr>
          <a:xfrm>
            <a:off x="0" y="0"/>
            <a:ext cx="9144000" cy="126227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7"/>
          <p:cNvSpPr/>
          <p:nvPr/>
        </p:nvSpPr>
        <p:spPr>
          <a:xfrm>
            <a:off x="2951204" y="149764"/>
            <a:ext cx="3241592" cy="1569660"/>
          </a:xfrm>
          <a:prstGeom prst="rect">
            <a:avLst/>
          </a:prstGeom>
        </p:spPr>
        <p:txBody>
          <a:bodyPr wrap="none">
            <a:spAutoFit/>
          </a:bodyPr>
          <a:lstStyle/>
          <a:p>
            <a:pPr algn="ctr"/>
            <a:r>
              <a:rPr lang="en-US" altLang="zh-CN" sz="9600" b="1" dirty="0">
                <a:solidFill>
                  <a:srgbClr val="94003F"/>
                </a:solidFill>
                <a:latin typeface="微软雅黑" panose="020B0503020204020204" pitchFamily="34" charset="-122"/>
                <a:ea typeface="微软雅黑" panose="020B0503020204020204" pitchFamily="34" charset="-122"/>
              </a:rPr>
              <a:t>Q&amp;A</a:t>
            </a:r>
            <a:endParaRPr lang="zh-CN" altLang="en-US" sz="9600" b="1" dirty="0">
              <a:solidFill>
                <a:srgbClr val="94003F"/>
              </a:solidFill>
              <a:latin typeface="微软雅黑" panose="020B0503020204020204" pitchFamily="34" charset="-122"/>
              <a:ea typeface="微软雅黑" panose="020B0503020204020204" pitchFamily="34" charset="-122"/>
            </a:endParaRPr>
          </a:p>
        </p:txBody>
      </p:sp>
      <p:pic>
        <p:nvPicPr>
          <p:cNvPr id="13" name="图片 11"/>
          <p:cNvPicPr>
            <a:picLocks noChangeAspect="1"/>
          </p:cNvPicPr>
          <p:nvPr/>
        </p:nvPicPr>
        <p:blipFill>
          <a:blip r:embed="rId3"/>
          <a:stretch>
            <a:fillRect/>
          </a:stretch>
        </p:blipFill>
        <p:spPr>
          <a:xfrm>
            <a:off x="1787450" y="1991082"/>
            <a:ext cx="1112742" cy="1112742"/>
          </a:xfrm>
          <a:prstGeom prst="rect">
            <a:avLst/>
          </a:prstGeom>
        </p:spPr>
      </p:pic>
      <p:sp>
        <p:nvSpPr>
          <p:cNvPr id="14" name="圆角矩形 13"/>
          <p:cNvSpPr/>
          <p:nvPr/>
        </p:nvSpPr>
        <p:spPr>
          <a:xfrm>
            <a:off x="5780902" y="3127217"/>
            <a:ext cx="2109764" cy="387627"/>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rPr>
              <a:t>vcc.szu.edu.cn</a:t>
            </a:r>
            <a:endPar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5" name="圆角矩形 14"/>
          <p:cNvSpPr/>
          <p:nvPr/>
        </p:nvSpPr>
        <p:spPr>
          <a:xfrm>
            <a:off x="1182455" y="3127217"/>
            <a:ext cx="2387218" cy="387627"/>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rPr>
              <a:t>www.szu.edu.cn</a:t>
            </a:r>
            <a:endPar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6" name="矩形 6"/>
          <p:cNvSpPr/>
          <p:nvPr/>
        </p:nvSpPr>
        <p:spPr>
          <a:xfrm>
            <a:off x="3633282" y="3621719"/>
            <a:ext cx="1877437" cy="769441"/>
          </a:xfrm>
          <a:prstGeom prst="rect">
            <a:avLst/>
          </a:prstGeom>
        </p:spPr>
        <p:txBody>
          <a:bodyPr wrap="none">
            <a:spAutoFit/>
          </a:bodyPr>
          <a:lstStyle/>
          <a:p>
            <a:pPr algn="ctr"/>
            <a:r>
              <a:rPr lang="zh-CN" altLang="en-US" sz="4400" dirty="0">
                <a:latin typeface="叶根友刀锋黑草" panose="02010601030101010101" pitchFamily="2" charset="-122"/>
                <a:ea typeface="叶根友刀锋黑草" panose="02010601030101010101" pitchFamily="2" charset="-122"/>
              </a:rPr>
              <a:t>胡瑞珍</a:t>
            </a:r>
          </a:p>
        </p:txBody>
      </p:sp>
      <p:sp>
        <p:nvSpPr>
          <p:cNvPr id="17" name="圆角矩形 12"/>
          <p:cNvSpPr/>
          <p:nvPr/>
        </p:nvSpPr>
        <p:spPr>
          <a:xfrm>
            <a:off x="2350083" y="4391160"/>
            <a:ext cx="4443833" cy="387627"/>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lumMod val="65000"/>
                    <a:lumOff val="35000"/>
                  </a:schemeClr>
                </a:solidFill>
                <a:hlinkClick r:id="rId4"/>
              </a:rPr>
              <a:t>http://</a:t>
            </a:r>
            <a:r>
              <a:rPr lang="en-US" altLang="zh-CN" sz="2000" b="1" dirty="0" err="1">
                <a:solidFill>
                  <a:schemeClr val="tx1">
                    <a:lumMod val="65000"/>
                    <a:lumOff val="35000"/>
                  </a:schemeClr>
                </a:solidFill>
                <a:hlinkClick r:id="rId4"/>
              </a:rPr>
              <a:t>csse.szu.edu.cn</a:t>
            </a:r>
            <a:r>
              <a:rPr lang="en-US" altLang="zh-CN" sz="2000" b="1" dirty="0">
                <a:solidFill>
                  <a:schemeClr val="tx1">
                    <a:lumMod val="65000"/>
                    <a:lumOff val="35000"/>
                  </a:schemeClr>
                </a:solidFill>
                <a:hlinkClick r:id="rId4"/>
              </a:rPr>
              <a:t>/staff/</a:t>
            </a:r>
            <a:r>
              <a:rPr lang="en-US" altLang="zh-CN" sz="2000" b="1" dirty="0" err="1">
                <a:solidFill>
                  <a:schemeClr val="tx1">
                    <a:lumMod val="65000"/>
                    <a:lumOff val="35000"/>
                  </a:schemeClr>
                </a:solidFill>
                <a:hlinkClick r:id="rId4"/>
              </a:rPr>
              <a:t>ruizhenhu</a:t>
            </a:r>
            <a:r>
              <a:rPr lang="en-US" altLang="zh-CN" sz="2000" b="1" dirty="0">
                <a:solidFill>
                  <a:schemeClr val="tx1">
                    <a:lumMod val="65000"/>
                    <a:lumOff val="35000"/>
                  </a:schemeClr>
                </a:solidFill>
                <a:hlinkClick r:id="rId4"/>
              </a:rPr>
              <a:t>/</a:t>
            </a:r>
            <a:endParaRPr lang="zh-CN" altLang="en-US" sz="2000" b="1" dirty="0">
              <a:solidFill>
                <a:schemeClr val="tx1">
                  <a:lumMod val="65000"/>
                  <a:lumOff val="35000"/>
                </a:schemeClr>
              </a:solidFill>
            </a:endParaRPr>
          </a:p>
        </p:txBody>
      </p:sp>
      <p:pic>
        <p:nvPicPr>
          <p:cNvPr id="18" name="Picture 1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69751" y="2004825"/>
            <a:ext cx="1132065" cy="1132065"/>
          </a:xfrm>
          <a:prstGeom prst="rect">
            <a:avLst/>
          </a:prstGeom>
        </p:spPr>
      </p:pic>
      <p:pic>
        <p:nvPicPr>
          <p:cNvPr id="19" name="Picture 18"/>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765821" y="1851421"/>
            <a:ext cx="1638300" cy="1638300"/>
          </a:xfrm>
          <a:prstGeom prst="rect">
            <a:avLst/>
          </a:prstGeom>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Njk2YWIzNGVhMjgyOGNkZDM0ZWMyNGRkYjhmMTU1YmMifQ=="/>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2047</TotalTime>
  <Words>6324</Words>
  <Application>Microsoft Macintosh PowerPoint</Application>
  <PresentationFormat>全屏显示(4:3)</PresentationFormat>
  <Paragraphs>1084</Paragraphs>
  <Slides>92</Slides>
  <Notes>4</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2</vt:i4>
      </vt:variant>
      <vt:variant>
        <vt:lpstr>幻灯片标题</vt:lpstr>
      </vt:variant>
      <vt:variant>
        <vt:i4>92</vt:i4>
      </vt:variant>
    </vt:vector>
  </HeadingPairs>
  <TitlesOfParts>
    <vt:vector size="106" baseType="lpstr">
      <vt:lpstr>04b</vt:lpstr>
      <vt:lpstr>华文楷体</vt:lpstr>
      <vt:lpstr>华文新魏</vt:lpstr>
      <vt:lpstr>微软雅黑</vt:lpstr>
      <vt:lpstr>叶根友刀锋黑草</vt:lpstr>
      <vt:lpstr>ZztexMono-Regular</vt:lpstr>
      <vt:lpstr>Arial</vt:lpstr>
      <vt:lpstr>Calibri</vt:lpstr>
      <vt:lpstr>Cambria Math</vt:lpstr>
      <vt:lpstr>Times New Roman</vt:lpstr>
      <vt:lpstr>Wingdings</vt:lpstr>
      <vt:lpstr>Office 主题</vt:lpstr>
      <vt:lpstr>Equation</vt:lpstr>
      <vt:lpstr>Image</vt:lpstr>
      <vt:lpstr>PowerPoint 演示文稿</vt:lpstr>
      <vt:lpstr>期末测试 </vt:lpstr>
      <vt:lpstr>大纲</vt:lpstr>
      <vt:lpstr>Hello World to OpenGL</vt:lpstr>
      <vt:lpstr>Hello World to OpenGL</vt:lpstr>
      <vt:lpstr>Hello World to OpenGL</vt:lpstr>
      <vt:lpstr>图形绘制原理</vt:lpstr>
      <vt:lpstr>主要任务</vt:lpstr>
      <vt:lpstr>主要任务</vt:lpstr>
      <vt:lpstr>大纲</vt:lpstr>
      <vt:lpstr>模-视变换</vt:lpstr>
      <vt:lpstr>OpenGL中的标架</vt:lpstr>
      <vt:lpstr>点与向量的混淆 </vt:lpstr>
      <vt:lpstr>齐次坐标</vt:lpstr>
      <vt:lpstr>仿射变换</vt:lpstr>
      <vt:lpstr>相机坐标系</vt:lpstr>
      <vt:lpstr>LookAt函数</vt:lpstr>
      <vt:lpstr>坐标系变换</vt:lpstr>
      <vt:lpstr>坐标系变换</vt:lpstr>
      <vt:lpstr>缩放变换</vt:lpstr>
      <vt:lpstr>平移变换</vt:lpstr>
      <vt:lpstr>旋转变换</vt:lpstr>
      <vt:lpstr>绕z轴的旋转</vt:lpstr>
      <vt:lpstr>绕x和y轴的旋转</vt:lpstr>
      <vt:lpstr>变换的级联</vt:lpstr>
      <vt:lpstr>绕原点的一般旋转</vt:lpstr>
      <vt:lpstr>绕任意轴旋转</vt:lpstr>
      <vt:lpstr>模型视图矩阵的计算</vt:lpstr>
      <vt:lpstr>大纲</vt:lpstr>
      <vt:lpstr>平面几何投影的分类</vt:lpstr>
      <vt:lpstr>透视投影</vt:lpstr>
      <vt:lpstr>三点透视</vt:lpstr>
      <vt:lpstr>两点透视 </vt:lpstr>
      <vt:lpstr>单点透视</vt:lpstr>
      <vt:lpstr>平行投影</vt:lpstr>
      <vt:lpstr>正交投影</vt:lpstr>
      <vt:lpstr>计算机视图原理</vt:lpstr>
      <vt:lpstr>投影规范化</vt:lpstr>
      <vt:lpstr>投影规范化</vt:lpstr>
      <vt:lpstr>透视除法</vt:lpstr>
      <vt:lpstr>简单透视</vt:lpstr>
      <vt:lpstr>正交投影</vt:lpstr>
      <vt:lpstr>正交投影函数</vt:lpstr>
      <vt:lpstr>正交投影矩阵</vt:lpstr>
      <vt:lpstr>透视投影函数</vt:lpstr>
      <vt:lpstr>视见体函数矩阵</vt:lpstr>
      <vt:lpstr>透视规范化</vt:lpstr>
      <vt:lpstr>透视投影矩阵</vt:lpstr>
      <vt:lpstr>透视函数矩阵</vt:lpstr>
      <vt:lpstr>大纲</vt:lpstr>
      <vt:lpstr>明暗绘制</vt:lpstr>
      <vt:lpstr>光线与材质</vt:lpstr>
      <vt:lpstr>简单光源模型</vt:lpstr>
      <vt:lpstr>光源模型</vt:lpstr>
      <vt:lpstr>光照计算</vt:lpstr>
      <vt:lpstr>Phong光照模型</vt:lpstr>
      <vt:lpstr>改进的Phong模型</vt:lpstr>
      <vt:lpstr>光照模型的程序实现</vt:lpstr>
      <vt:lpstr>光照模型的顶点着色器实现</vt:lpstr>
      <vt:lpstr>多边形着色</vt:lpstr>
      <vt:lpstr>均匀着色</vt:lpstr>
      <vt:lpstr>光滑着色（Gouraud 着色）</vt:lpstr>
      <vt:lpstr>Phong 着色</vt:lpstr>
      <vt:lpstr>Phong 着色</vt:lpstr>
      <vt:lpstr>阴影效果</vt:lpstr>
      <vt:lpstr>阴影效果</vt:lpstr>
      <vt:lpstr>大纲</vt:lpstr>
      <vt:lpstr>几何建模的局限</vt:lpstr>
      <vt:lpstr>三种映射方法</vt:lpstr>
      <vt:lpstr>纹理映射</vt:lpstr>
      <vt:lpstr>如何实现？</vt:lpstr>
      <vt:lpstr>OpenGL与纹理</vt:lpstr>
      <vt:lpstr>基本策略</vt:lpstr>
      <vt:lpstr>纹理坐标</vt:lpstr>
      <vt:lpstr>指定纹理图像</vt:lpstr>
      <vt:lpstr>纹理参数</vt:lpstr>
      <vt:lpstr>最终绘制方式</vt:lpstr>
      <vt:lpstr>大纲</vt:lpstr>
      <vt:lpstr>图符</vt:lpstr>
      <vt:lpstr>实例变换</vt:lpstr>
      <vt:lpstr>机器人手臂</vt:lpstr>
      <vt:lpstr>关联模型</vt:lpstr>
      <vt:lpstr>变换矩阵</vt:lpstr>
      <vt:lpstr>机器人手臂的OpenGL实现</vt:lpstr>
      <vt:lpstr>机器人手臂的OpenGL实现</vt:lpstr>
      <vt:lpstr>机器人的树结构</vt:lpstr>
      <vt:lpstr>遍历代码</vt:lpstr>
      <vt:lpstr>部件绘制</vt:lpstr>
      <vt:lpstr>期末大作业</vt:lpstr>
      <vt:lpstr>期末大作业</vt:lpstr>
      <vt:lpstr>期末测试 </vt:lpstr>
      <vt:lpstr>PowerPoint 演示文稿</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Ruizhen Hu</dc:creator>
  <cp:lastModifiedBy>Wenjun Lee</cp:lastModifiedBy>
  <cp:revision>459</cp:revision>
  <dcterms:created xsi:type="dcterms:W3CDTF">2016-08-04T07:29:00Z</dcterms:created>
  <dcterms:modified xsi:type="dcterms:W3CDTF">2025-12-30T01:40:42Z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C39BF671ECC24487BED3B1E9C25C5422_13</vt:lpwstr>
  </property>
  <property fmtid="{D5CDD505-2E9C-101B-9397-08002B2CF9AE}" pid="3" name="KSOProductBuildVer">
    <vt:lpwstr>2052-12.1.0.16388</vt:lpwstr>
  </property>
</Properties>
</file>