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9"/>
  </p:notesMasterIdLst>
  <p:sldIdLst>
    <p:sldId id="256" r:id="rId2"/>
    <p:sldId id="415" r:id="rId3"/>
    <p:sldId id="383" r:id="rId4"/>
    <p:sldId id="382" r:id="rId5"/>
    <p:sldId id="387" r:id="rId6"/>
    <p:sldId id="332" r:id="rId7"/>
    <p:sldId id="313" r:id="rId8"/>
    <p:sldId id="279" r:id="rId9"/>
    <p:sldId id="315" r:id="rId10"/>
    <p:sldId id="390" r:id="rId11"/>
    <p:sldId id="391" r:id="rId12"/>
    <p:sldId id="377" r:id="rId13"/>
    <p:sldId id="335" r:id="rId14"/>
    <p:sldId id="317" r:id="rId15"/>
    <p:sldId id="318" r:id="rId16"/>
    <p:sldId id="319" r:id="rId17"/>
    <p:sldId id="336" r:id="rId18"/>
    <p:sldId id="320" r:id="rId19"/>
    <p:sldId id="388" r:id="rId20"/>
    <p:sldId id="389" r:id="rId21"/>
    <p:sldId id="337" r:id="rId22"/>
    <p:sldId id="409" r:id="rId23"/>
    <p:sldId id="410" r:id="rId24"/>
    <p:sldId id="411" r:id="rId25"/>
    <p:sldId id="414" r:id="rId26"/>
    <p:sldId id="393" r:id="rId27"/>
    <p:sldId id="263"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B1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42" autoAdjust="0"/>
    <p:restoredTop sz="93883" autoAdjust="0"/>
  </p:normalViewPr>
  <p:slideViewPr>
    <p:cSldViewPr snapToGrid="0">
      <p:cViewPr varScale="1">
        <p:scale>
          <a:sx n="134" d="100"/>
          <a:sy n="134" d="100"/>
        </p:scale>
        <p:origin x="1142" y="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2025/10/21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extLst>
      <p:ext uri="{BB962C8B-B14F-4D97-AF65-F5344CB8AC3E}">
        <p14:creationId xmlns:p14="http://schemas.microsoft.com/office/powerpoint/2010/main" val="364888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22</a:t>
            </a:fld>
            <a:endParaRPr lang="zh-CN" altLang="en-US"/>
          </a:p>
        </p:txBody>
      </p:sp>
    </p:spTree>
    <p:extLst>
      <p:ext uri="{BB962C8B-B14F-4D97-AF65-F5344CB8AC3E}">
        <p14:creationId xmlns:p14="http://schemas.microsoft.com/office/powerpoint/2010/main" val="3091005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2025/10/21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2025/10/21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2025/10/21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2025/10/21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2025/10/21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2025/10/21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2025/10/21</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9.emf"/></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emf"/><Relationship Id="rId4" Type="http://schemas.openxmlformats.org/officeDocument/2006/relationships/image" Target="../media/image17.emf"/></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emf"/><Relationship Id="rId1" Type="http://schemas.openxmlformats.org/officeDocument/2006/relationships/slideLayout" Target="../slideLayouts/slideLayout2.xml"/><Relationship Id="rId5" Type="http://schemas.openxmlformats.org/officeDocument/2006/relationships/image" Target="../media/image25.emf"/><Relationship Id="rId4" Type="http://schemas.openxmlformats.org/officeDocument/2006/relationships/image" Target="../media/image24.emf"/></Relationships>
</file>

<file path=ppt/slides/_rels/slide1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8.emf"/><Relationship Id="rId4" Type="http://schemas.openxmlformats.org/officeDocument/2006/relationships/image" Target="../media/image27.emf"/></Relationships>
</file>

<file path=ppt/slides/_rels/slide1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49.png"/></Relationships>
</file>

<file path=ppt/slides/_rels/slide18.xml.rels><?xml version="1.0" encoding="UTF-8" standalone="yes"?>
<Relationships xmlns="http://schemas.openxmlformats.org/package/2006/relationships"><Relationship Id="rId8" Type="http://schemas.openxmlformats.org/officeDocument/2006/relationships/image" Target="../media/image36.emf"/><Relationship Id="rId13" Type="http://schemas.openxmlformats.org/officeDocument/2006/relationships/image" Target="../media/image46.png"/><Relationship Id="rId3" Type="http://schemas.openxmlformats.org/officeDocument/2006/relationships/image" Target="../media/image37.emf"/><Relationship Id="rId7" Type="http://schemas.openxmlformats.org/officeDocument/2006/relationships/image" Target="../media/image35.emf"/><Relationship Id="rId12" Type="http://schemas.openxmlformats.org/officeDocument/2006/relationships/image" Target="../media/image44.png"/><Relationship Id="rId2" Type="http://schemas.openxmlformats.org/officeDocument/2006/relationships/image" Target="../media/image34.emf"/><Relationship Id="rId16" Type="http://schemas.openxmlformats.org/officeDocument/2006/relationships/image" Target="../media/image460.png"/><Relationship Id="rId1" Type="http://schemas.openxmlformats.org/officeDocument/2006/relationships/slideLayout" Target="../slideLayouts/slideLayout2.xml"/><Relationship Id="rId6" Type="http://schemas.openxmlformats.org/officeDocument/2006/relationships/image" Target="../media/image40.emf"/><Relationship Id="rId11" Type="http://schemas.openxmlformats.org/officeDocument/2006/relationships/image" Target="../media/image43.png"/><Relationship Id="rId5" Type="http://schemas.openxmlformats.org/officeDocument/2006/relationships/image" Target="../media/image39.emf"/><Relationship Id="rId15" Type="http://schemas.openxmlformats.org/officeDocument/2006/relationships/image" Target="../media/image440.png"/><Relationship Id="rId10" Type="http://schemas.openxmlformats.org/officeDocument/2006/relationships/image" Target="../media/image42.png"/><Relationship Id="rId4" Type="http://schemas.openxmlformats.org/officeDocument/2006/relationships/image" Target="../media/image38.emf"/><Relationship Id="rId1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0.emf"/><Relationship Id="rId5" Type="http://schemas.openxmlformats.org/officeDocument/2006/relationships/image" Target="../media/image49.emf"/><Relationship Id="rId4" Type="http://schemas.openxmlformats.org/officeDocument/2006/relationships/image" Target="../media/image48.emf"/></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emf"/></Relationships>
</file>

<file path=ppt/slides/_rels/slide24.xml.rels><?xml version="1.0" encoding="UTF-8" standalone="yes"?>
<Relationships xmlns="http://schemas.openxmlformats.org/package/2006/relationships"><Relationship Id="rId8" Type="http://schemas.openxmlformats.org/officeDocument/2006/relationships/image" Target="../media/image640.png"/><Relationship Id="rId3" Type="http://schemas.openxmlformats.org/officeDocument/2006/relationships/image" Target="../media/image620.png"/><Relationship Id="rId7" Type="http://schemas.openxmlformats.org/officeDocument/2006/relationships/image" Target="../media/image28.emf"/><Relationship Id="rId2" Type="http://schemas.openxmlformats.org/officeDocument/2006/relationships/image" Target="../media/image610.png"/><Relationship Id="rId1" Type="http://schemas.openxmlformats.org/officeDocument/2006/relationships/slideLayout" Target="../slideLayouts/slideLayout2.xml"/><Relationship Id="rId6" Type="http://schemas.openxmlformats.org/officeDocument/2006/relationships/image" Target="../media/image25.emf"/><Relationship Id="rId11" Type="http://schemas.openxmlformats.org/officeDocument/2006/relationships/image" Target="../media/image67.png"/><Relationship Id="rId5" Type="http://schemas.openxmlformats.org/officeDocument/2006/relationships/image" Target="../media/image54.emf"/><Relationship Id="rId10" Type="http://schemas.openxmlformats.org/officeDocument/2006/relationships/image" Target="../media/image660.png"/><Relationship Id="rId4" Type="http://schemas.openxmlformats.org/officeDocument/2006/relationships/image" Target="../media/image53.emf"/><Relationship Id="rId9" Type="http://schemas.openxmlformats.org/officeDocument/2006/relationships/image" Target="../media/image650.png"/></Relationships>
</file>

<file path=ppt/slides/_rels/slide2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55.wmf"/><Relationship Id="rId3" Type="http://schemas.openxmlformats.org/officeDocument/2006/relationships/image" Target="../media/image620.png"/><Relationship Id="rId1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28.emf"/><Relationship Id="rId11" Type="http://schemas.openxmlformats.org/officeDocument/2006/relationships/image" Target="../media/image67.png"/><Relationship Id="rId5" Type="http://schemas.openxmlformats.org/officeDocument/2006/relationships/image" Target="../media/image25.emf"/><Relationship Id="rId15" Type="http://schemas.openxmlformats.org/officeDocument/2006/relationships/image" Target="../media/image56.wmf"/><Relationship Id="rId10" Type="http://schemas.openxmlformats.org/officeDocument/2006/relationships/image" Target="../media/image660.png"/><Relationship Id="rId4" Type="http://schemas.openxmlformats.org/officeDocument/2006/relationships/image" Target="../media/image53.emf"/><Relationship Id="rId9" Type="http://schemas.openxmlformats.org/officeDocument/2006/relationships/image" Target="../media/image650.png"/><Relationship Id="rId1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2" Type="http://schemas.openxmlformats.org/officeDocument/2006/relationships/image" Target="../media/image57.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8.jpg"/><Relationship Id="rId1" Type="http://schemas.openxmlformats.org/officeDocument/2006/relationships/slideLayout" Target="../slideLayouts/slideLayout1.xml"/><Relationship Id="rId6" Type="http://schemas.openxmlformats.org/officeDocument/2006/relationships/image" Target="../media/image60.jpg"/><Relationship Id="rId5" Type="http://schemas.openxmlformats.org/officeDocument/2006/relationships/image" Target="../media/image59.png"/><Relationship Id="rId4" Type="http://schemas.openxmlformats.org/officeDocument/2006/relationships/hyperlink" Target="http://csse.szu.edu.cn/staff/ruizhenh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7" name="图片 10">
            <a:extLst>
              <a:ext uri="{FF2B5EF4-FFF2-40B4-BE49-F238E27FC236}">
                <a16:creationId xmlns:a16="http://schemas.microsoft.com/office/drawing/2014/main" id="{B5847F25-C9F5-E64A-9C98-54F138A28D30}"/>
              </a:ext>
            </a:extLst>
          </p:cNvPr>
          <p:cNvPicPr>
            <a:picLocks noChangeAspect="1"/>
          </p:cNvPicPr>
          <p:nvPr/>
        </p:nvPicPr>
        <p:blipFill>
          <a:blip r:embed="rId4"/>
          <a:stretch>
            <a:fillRect/>
          </a:stretch>
        </p:blipFill>
        <p:spPr>
          <a:xfrm>
            <a:off x="199988" y="207807"/>
            <a:ext cx="972064" cy="972064"/>
          </a:xfrm>
          <a:prstGeom prst="rect">
            <a:avLst/>
          </a:prstGeom>
        </p:spPr>
      </p:pic>
      <p:pic>
        <p:nvPicPr>
          <p:cNvPr id="9" name="图片 2">
            <a:extLst>
              <a:ext uri="{FF2B5EF4-FFF2-40B4-BE49-F238E27FC236}">
                <a16:creationId xmlns:a16="http://schemas.microsoft.com/office/drawing/2014/main" id="{E566E20D-708A-A247-8D04-2B2323BBB665}"/>
              </a:ext>
            </a:extLst>
          </p:cNvPr>
          <p:cNvPicPr>
            <a:picLocks noChangeAspect="1"/>
          </p:cNvPicPr>
          <p:nvPr/>
        </p:nvPicPr>
        <p:blipFill>
          <a:blip r:embed="rId5"/>
          <a:stretch>
            <a:fillRect/>
          </a:stretch>
        </p:blipFill>
        <p:spPr>
          <a:xfrm>
            <a:off x="1155576" y="3086551"/>
            <a:ext cx="7156402" cy="539088"/>
          </a:xfrm>
          <a:prstGeom prst="rect">
            <a:avLst/>
          </a:prstGeom>
        </p:spPr>
      </p:pic>
      <p:sp>
        <p:nvSpPr>
          <p:cNvPr id="12" name="文本框 3">
            <a:extLst>
              <a:ext uri="{FF2B5EF4-FFF2-40B4-BE49-F238E27FC236}">
                <a16:creationId xmlns:a16="http://schemas.microsoft.com/office/drawing/2014/main" id="{43894605-6A4B-8F44-86DA-E54D701515F5}"/>
              </a:ext>
            </a:extLst>
          </p:cNvPr>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sp>
        <p:nvSpPr>
          <p:cNvPr id="13" name="矩形 6">
            <a:extLst>
              <a:ext uri="{FF2B5EF4-FFF2-40B4-BE49-F238E27FC236}">
                <a16:creationId xmlns:a16="http://schemas.microsoft.com/office/drawing/2014/main" id="{0DB61C3F-9BE2-1A4C-9B70-E595F422D523}"/>
              </a:ext>
            </a:extLst>
          </p:cNvPr>
          <p:cNvSpPr/>
          <p:nvPr/>
        </p:nvSpPr>
        <p:spPr>
          <a:xfrm>
            <a:off x="3711120" y="4100410"/>
            <a:ext cx="2262158" cy="923330"/>
          </a:xfrm>
          <a:prstGeom prst="rect">
            <a:avLst/>
          </a:prstGeom>
        </p:spPr>
        <p:txBody>
          <a:bodyPr wrap="none">
            <a:spAutoFit/>
          </a:bodyPr>
          <a:lstStyle/>
          <a:p>
            <a:pPr algn="ctr"/>
            <a:r>
              <a:rPr lang="zh-CN" altLang="en-US" sz="5400" dirty="0">
                <a:latin typeface="叶根友刀锋黑草" panose="02010601030101010101" pitchFamily="2" charset="-122"/>
                <a:ea typeface="叶根友刀锋黑草" panose="02010601030101010101" pitchFamily="2" charset="-122"/>
              </a:rPr>
              <a:t>胡瑞珍</a:t>
            </a:r>
          </a:p>
        </p:txBody>
      </p:sp>
      <p:pic>
        <p:nvPicPr>
          <p:cNvPr id="14" name="Picture 13">
            <a:extLst>
              <a:ext uri="{FF2B5EF4-FFF2-40B4-BE49-F238E27FC236}">
                <a16:creationId xmlns:a16="http://schemas.microsoft.com/office/drawing/2014/main" id="{FE6CB636-CDC4-BA4C-BCAA-09491DBAF02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791188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10B98E-8864-42B4-B920-54C03D088CE0}"/>
              </a:ext>
            </a:extLst>
          </p:cNvPr>
          <p:cNvSpPr>
            <a:spLocks noGrp="1"/>
          </p:cNvSpPr>
          <p:nvPr>
            <p:ph type="title"/>
          </p:nvPr>
        </p:nvSpPr>
        <p:spPr/>
        <p:txBody>
          <a:bodyPr/>
          <a:lstStyle/>
          <a:p>
            <a:r>
              <a:rPr lang="zh-CN" altLang="en-US" dirty="0"/>
              <a:t>实验常见问题</a:t>
            </a:r>
          </a:p>
        </p:txBody>
      </p:sp>
      <p:sp>
        <p:nvSpPr>
          <p:cNvPr id="3" name="内容占位符 2">
            <a:extLst>
              <a:ext uri="{FF2B5EF4-FFF2-40B4-BE49-F238E27FC236}">
                <a16:creationId xmlns:a16="http://schemas.microsoft.com/office/drawing/2014/main" id="{8534AC94-8B9C-4615-B634-2F13BF7C78F3}"/>
              </a:ext>
            </a:extLst>
          </p:cNvPr>
          <p:cNvSpPr>
            <a:spLocks noGrp="1"/>
          </p:cNvSpPr>
          <p:nvPr>
            <p:ph idx="1"/>
          </p:nvPr>
        </p:nvSpPr>
        <p:spPr/>
        <p:txBody>
          <a:bodyPr/>
          <a:lstStyle/>
          <a:p>
            <a:r>
              <a:rPr lang="en-US" altLang="zh-CN" dirty="0" err="1"/>
              <a:t>glm</a:t>
            </a:r>
            <a:r>
              <a:rPr lang="en-US" altLang="zh-CN" dirty="0"/>
              <a:t>::mat4</a:t>
            </a:r>
            <a:r>
              <a:rPr lang="zh-CN" altLang="en-US" dirty="0"/>
              <a:t>的转置</a:t>
            </a:r>
          </a:p>
        </p:txBody>
      </p:sp>
      <p:sp>
        <p:nvSpPr>
          <p:cNvPr id="4" name="灯片编号占位符 3">
            <a:extLst>
              <a:ext uri="{FF2B5EF4-FFF2-40B4-BE49-F238E27FC236}">
                <a16:creationId xmlns:a16="http://schemas.microsoft.com/office/drawing/2014/main" id="{4D3149B2-0DEF-467E-8ED6-3CE1CACB8335}"/>
              </a:ext>
            </a:extLst>
          </p:cNvPr>
          <p:cNvSpPr>
            <a:spLocks noGrp="1"/>
          </p:cNvSpPr>
          <p:nvPr>
            <p:ph type="sldNum" sz="quarter" idx="12"/>
          </p:nvPr>
        </p:nvSpPr>
        <p:spPr/>
        <p:txBody>
          <a:bodyPr/>
          <a:lstStyle/>
          <a:p>
            <a:fld id="{EB792F4E-54C0-4D36-B331-9C6FCFE9A340}" type="slidenum">
              <a:rPr lang="zh-CN" altLang="en-US" smtClean="0"/>
              <a:pPr/>
              <a:t>2</a:t>
            </a:fld>
            <a:endParaRPr lang="zh-CN" altLang="en-US" dirty="0"/>
          </a:p>
        </p:txBody>
      </p:sp>
      <p:pic>
        <p:nvPicPr>
          <p:cNvPr id="6" name="图片 5">
            <a:extLst>
              <a:ext uri="{FF2B5EF4-FFF2-40B4-BE49-F238E27FC236}">
                <a16:creationId xmlns:a16="http://schemas.microsoft.com/office/drawing/2014/main" id="{336EDD33-CAC7-4F03-A9A1-F0135C9A993C}"/>
              </a:ext>
            </a:extLst>
          </p:cNvPr>
          <p:cNvPicPr>
            <a:picLocks noChangeAspect="1"/>
          </p:cNvPicPr>
          <p:nvPr/>
        </p:nvPicPr>
        <p:blipFill>
          <a:blip r:embed="rId2"/>
          <a:stretch>
            <a:fillRect/>
          </a:stretch>
        </p:blipFill>
        <p:spPr>
          <a:xfrm>
            <a:off x="1056785" y="2335045"/>
            <a:ext cx="4635426" cy="1452301"/>
          </a:xfrm>
          <a:prstGeom prst="rect">
            <a:avLst/>
          </a:prstGeom>
        </p:spPr>
      </p:pic>
      <p:sp>
        <p:nvSpPr>
          <p:cNvPr id="8" name="文本框 7">
            <a:extLst>
              <a:ext uri="{FF2B5EF4-FFF2-40B4-BE49-F238E27FC236}">
                <a16:creationId xmlns:a16="http://schemas.microsoft.com/office/drawing/2014/main" id="{1AC0B72D-AD71-4DBA-82DE-3278A839E689}"/>
              </a:ext>
            </a:extLst>
          </p:cNvPr>
          <p:cNvSpPr txBox="1"/>
          <p:nvPr/>
        </p:nvSpPr>
        <p:spPr>
          <a:xfrm>
            <a:off x="4017870" y="2535194"/>
            <a:ext cx="1444636" cy="276999"/>
          </a:xfrm>
          <a:prstGeom prst="rect">
            <a:avLst/>
          </a:prstGeom>
          <a:noFill/>
        </p:spPr>
        <p:txBody>
          <a:bodyPr wrap="square" rtlCol="0">
            <a:spAutoFit/>
          </a:bodyPr>
          <a:lstStyle/>
          <a:p>
            <a:r>
              <a:rPr lang="zh-CN" altLang="en-US" sz="1200" dirty="0"/>
              <a:t>第 </a:t>
            </a:r>
            <a:r>
              <a:rPr lang="en-US" altLang="zh-CN" sz="1200" dirty="0"/>
              <a:t>1 </a:t>
            </a:r>
            <a:r>
              <a:rPr lang="zh-CN" altLang="en-US" sz="1200" dirty="0"/>
              <a:t>列</a:t>
            </a:r>
          </a:p>
        </p:txBody>
      </p:sp>
      <p:sp>
        <p:nvSpPr>
          <p:cNvPr id="14" name="文本框 13">
            <a:extLst>
              <a:ext uri="{FF2B5EF4-FFF2-40B4-BE49-F238E27FC236}">
                <a16:creationId xmlns:a16="http://schemas.microsoft.com/office/drawing/2014/main" id="{235DEFFB-5CA8-4898-81D3-9E160AFCFE19}"/>
              </a:ext>
            </a:extLst>
          </p:cNvPr>
          <p:cNvSpPr txBox="1"/>
          <p:nvPr/>
        </p:nvSpPr>
        <p:spPr>
          <a:xfrm>
            <a:off x="4017870" y="2785556"/>
            <a:ext cx="1444636" cy="276999"/>
          </a:xfrm>
          <a:prstGeom prst="rect">
            <a:avLst/>
          </a:prstGeom>
          <a:noFill/>
        </p:spPr>
        <p:txBody>
          <a:bodyPr wrap="square" rtlCol="0">
            <a:spAutoFit/>
          </a:bodyPr>
          <a:lstStyle/>
          <a:p>
            <a:r>
              <a:rPr lang="zh-CN" altLang="en-US" sz="1200" dirty="0"/>
              <a:t>第 </a:t>
            </a:r>
            <a:r>
              <a:rPr lang="en-US" altLang="zh-CN" sz="1200" dirty="0"/>
              <a:t>2 </a:t>
            </a:r>
            <a:r>
              <a:rPr lang="zh-CN" altLang="en-US" sz="1200" dirty="0"/>
              <a:t>列</a:t>
            </a:r>
          </a:p>
        </p:txBody>
      </p:sp>
      <p:sp>
        <p:nvSpPr>
          <p:cNvPr id="15" name="文本框 14">
            <a:extLst>
              <a:ext uri="{FF2B5EF4-FFF2-40B4-BE49-F238E27FC236}">
                <a16:creationId xmlns:a16="http://schemas.microsoft.com/office/drawing/2014/main" id="{519917BC-8ED5-4F90-B451-315B3DE5B5C4}"/>
              </a:ext>
            </a:extLst>
          </p:cNvPr>
          <p:cNvSpPr txBox="1"/>
          <p:nvPr/>
        </p:nvSpPr>
        <p:spPr>
          <a:xfrm>
            <a:off x="4017870" y="3033371"/>
            <a:ext cx="1444636" cy="276999"/>
          </a:xfrm>
          <a:prstGeom prst="rect">
            <a:avLst/>
          </a:prstGeom>
          <a:noFill/>
        </p:spPr>
        <p:txBody>
          <a:bodyPr wrap="square" rtlCol="0">
            <a:spAutoFit/>
          </a:bodyPr>
          <a:lstStyle/>
          <a:p>
            <a:r>
              <a:rPr lang="zh-CN" altLang="en-US" sz="1200" dirty="0"/>
              <a:t>第 </a:t>
            </a:r>
            <a:r>
              <a:rPr lang="en-US" altLang="zh-CN" sz="1200" dirty="0"/>
              <a:t>3 </a:t>
            </a:r>
            <a:r>
              <a:rPr lang="zh-CN" altLang="en-US" sz="1200" dirty="0"/>
              <a:t>列</a:t>
            </a:r>
          </a:p>
        </p:txBody>
      </p:sp>
      <p:sp>
        <p:nvSpPr>
          <p:cNvPr id="16" name="文本框 15">
            <a:extLst>
              <a:ext uri="{FF2B5EF4-FFF2-40B4-BE49-F238E27FC236}">
                <a16:creationId xmlns:a16="http://schemas.microsoft.com/office/drawing/2014/main" id="{63520BAA-1FC2-408C-A838-AAAA2184C4F2}"/>
              </a:ext>
            </a:extLst>
          </p:cNvPr>
          <p:cNvSpPr txBox="1"/>
          <p:nvPr/>
        </p:nvSpPr>
        <p:spPr>
          <a:xfrm>
            <a:off x="4017870" y="3271458"/>
            <a:ext cx="1444636" cy="276999"/>
          </a:xfrm>
          <a:prstGeom prst="rect">
            <a:avLst/>
          </a:prstGeom>
          <a:noFill/>
        </p:spPr>
        <p:txBody>
          <a:bodyPr wrap="square" rtlCol="0">
            <a:spAutoFit/>
          </a:bodyPr>
          <a:lstStyle/>
          <a:p>
            <a:r>
              <a:rPr lang="zh-CN" altLang="en-US" sz="1200" dirty="0"/>
              <a:t>第 </a:t>
            </a:r>
            <a:r>
              <a:rPr lang="en-US" altLang="zh-CN" sz="1200" dirty="0"/>
              <a:t>4 </a:t>
            </a:r>
            <a:r>
              <a:rPr lang="zh-CN" altLang="en-US" sz="1200" dirty="0"/>
              <a:t>列</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43C102A-8A9C-4115-BDD9-A1BEC5D794BE}"/>
                  </a:ext>
                </a:extLst>
              </p:cNvPr>
              <p:cNvSpPr txBox="1"/>
              <p:nvPr/>
            </p:nvSpPr>
            <p:spPr>
              <a:xfrm>
                <a:off x="6277231" y="2477138"/>
                <a:ext cx="1853392" cy="10346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m>
                            <m:mPr>
                              <m:mcs>
                                <m:mc>
                                  <m:mcPr>
                                    <m:count m:val="2"/>
                                    <m:mcJc m:val="center"/>
                                  </m:mcPr>
                                </m:mc>
                              </m:mcs>
                              <m:ctrlPr>
                                <a:rPr lang="en-US" altLang="zh-CN" i="1" smtClean="0">
                                  <a:latin typeface="Cambria Math" panose="02040503050406030204" pitchFamily="18" charset="0"/>
                                </a:rPr>
                              </m:ctrlPr>
                            </m:mPr>
                            <m:mr>
                              <m:e>
                                <m:m>
                                  <m:mPr>
                                    <m:mcs>
                                      <m:mc>
                                        <m:mcPr>
                                          <m:count m:val="2"/>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5</m:t>
                                      </m:r>
                                    </m:e>
                                  </m:mr>
                                  <m:mr>
                                    <m:e>
                                      <m:r>
                                        <a:rPr lang="en-US" altLang="zh-CN" i="1">
                                          <a:latin typeface="Cambria Math" panose="02040503050406030204" pitchFamily="18" charset="0"/>
                                        </a:rPr>
                                        <m:t>2</m:t>
                                      </m:r>
                                    </m:e>
                                    <m:e>
                                      <m:r>
                                        <a:rPr lang="en-US" altLang="zh-CN" i="1">
                                          <a:latin typeface="Cambria Math" panose="02040503050406030204" pitchFamily="18" charset="0"/>
                                        </a:rPr>
                                        <m:t>6</m:t>
                                      </m:r>
                                    </m:e>
                                  </m:mr>
                                </m:m>
                              </m:e>
                              <m:e>
                                <m:m>
                                  <m:mPr>
                                    <m:mcs>
                                      <m:mc>
                                        <m:mcPr>
                                          <m:count m:val="2"/>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9</m:t>
                                      </m:r>
                                    </m:e>
                                    <m:e>
                                      <m:r>
                                        <a:rPr lang="en-US" altLang="zh-CN" i="1">
                                          <a:latin typeface="Cambria Math" panose="02040503050406030204" pitchFamily="18" charset="0"/>
                                        </a:rPr>
                                        <m:t>1</m:t>
                                      </m:r>
                                      <m:r>
                                        <a:rPr lang="en-US" altLang="zh-CN" i="1" smtClean="0">
                                          <a:latin typeface="Cambria Math" panose="02040503050406030204" pitchFamily="18" charset="0"/>
                                        </a:rPr>
                                        <m:t>3</m:t>
                                      </m:r>
                                    </m:e>
                                  </m:mr>
                                  <m:mr>
                                    <m:e>
                                      <m:r>
                                        <a:rPr lang="en-US" altLang="zh-CN" i="1">
                                          <a:latin typeface="Cambria Math" panose="02040503050406030204" pitchFamily="18" charset="0"/>
                                        </a:rPr>
                                        <m:t>1</m:t>
                                      </m:r>
                                      <m:r>
                                        <a:rPr lang="en-US" altLang="zh-CN" i="1" smtClean="0">
                                          <a:latin typeface="Cambria Math" panose="02040503050406030204" pitchFamily="18" charset="0"/>
                                        </a:rPr>
                                        <m:t>0</m:t>
                                      </m:r>
                                    </m:e>
                                    <m:e>
                                      <m:r>
                                        <a:rPr lang="en-US" altLang="zh-CN" i="1">
                                          <a:latin typeface="Cambria Math" panose="02040503050406030204" pitchFamily="18" charset="0"/>
                                        </a:rPr>
                                        <m:t>1</m:t>
                                      </m:r>
                                      <m:r>
                                        <a:rPr lang="en-US" altLang="zh-CN" i="1" smtClean="0">
                                          <a:latin typeface="Cambria Math" panose="02040503050406030204" pitchFamily="18" charset="0"/>
                                        </a:rPr>
                                        <m:t>4</m:t>
                                      </m:r>
                                    </m:e>
                                  </m:mr>
                                </m:m>
                              </m:e>
                            </m:mr>
                            <m:mr>
                              <m:e>
                                <m:m>
                                  <m:mPr>
                                    <m:mcs>
                                      <m:mc>
                                        <m:mcPr>
                                          <m:count m:val="2"/>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3</m:t>
                                      </m:r>
                                    </m:e>
                                    <m:e>
                                      <m:r>
                                        <a:rPr lang="en-US" altLang="zh-CN" i="1">
                                          <a:latin typeface="Cambria Math" panose="02040503050406030204" pitchFamily="18" charset="0"/>
                                        </a:rPr>
                                        <m:t>7</m:t>
                                      </m:r>
                                    </m:e>
                                  </m:mr>
                                  <m:mr>
                                    <m:e>
                                      <m:r>
                                        <a:rPr lang="en-US" altLang="zh-CN" i="1">
                                          <a:latin typeface="Cambria Math" panose="02040503050406030204" pitchFamily="18" charset="0"/>
                                        </a:rPr>
                                        <m:t>4</m:t>
                                      </m:r>
                                    </m:e>
                                    <m:e>
                                      <m:r>
                                        <a:rPr lang="en-US" altLang="zh-CN" i="1">
                                          <a:latin typeface="Cambria Math" panose="02040503050406030204" pitchFamily="18" charset="0"/>
                                        </a:rPr>
                                        <m:t>8</m:t>
                                      </m:r>
                                    </m:e>
                                  </m:mr>
                                </m:m>
                              </m:e>
                              <m:e>
                                <m:m>
                                  <m:mPr>
                                    <m:mcs>
                                      <m:mc>
                                        <m:mcPr>
                                          <m:count m:val="2"/>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1</m:t>
                                      </m:r>
                                      <m:r>
                                        <a:rPr lang="en-US" altLang="zh-CN" i="1" smtClean="0">
                                          <a:latin typeface="Cambria Math" panose="02040503050406030204" pitchFamily="18" charset="0"/>
                                        </a:rPr>
                                        <m:t>1</m:t>
                                      </m:r>
                                    </m:e>
                                    <m:e>
                                      <m:r>
                                        <a:rPr lang="en-US" altLang="zh-CN" i="1">
                                          <a:latin typeface="Cambria Math" panose="02040503050406030204" pitchFamily="18" charset="0"/>
                                        </a:rPr>
                                        <m:t>1</m:t>
                                      </m:r>
                                      <m:r>
                                        <a:rPr lang="en-US" altLang="zh-CN" i="1" smtClean="0">
                                          <a:latin typeface="Cambria Math" panose="02040503050406030204" pitchFamily="18" charset="0"/>
                                        </a:rPr>
                                        <m:t>5</m:t>
                                      </m:r>
                                    </m:e>
                                  </m:mr>
                                  <m:mr>
                                    <m:e>
                                      <m:r>
                                        <a:rPr lang="en-US" altLang="zh-CN" i="1">
                                          <a:latin typeface="Cambria Math" panose="02040503050406030204" pitchFamily="18" charset="0"/>
                                        </a:rPr>
                                        <m:t>1</m:t>
                                      </m:r>
                                      <m:r>
                                        <a:rPr lang="en-US" altLang="zh-CN" i="1" smtClean="0">
                                          <a:latin typeface="Cambria Math" panose="02040503050406030204" pitchFamily="18" charset="0"/>
                                        </a:rPr>
                                        <m:t>2</m:t>
                                      </m:r>
                                    </m:e>
                                    <m:e>
                                      <m:r>
                                        <a:rPr lang="en-US" altLang="zh-CN" i="1">
                                          <a:latin typeface="Cambria Math" panose="02040503050406030204" pitchFamily="18" charset="0"/>
                                        </a:rPr>
                                        <m:t>1</m:t>
                                      </m:r>
                                      <m:r>
                                        <a:rPr lang="en-US" altLang="zh-CN" i="1" smtClean="0">
                                          <a:latin typeface="Cambria Math" panose="02040503050406030204" pitchFamily="18" charset="0"/>
                                        </a:rPr>
                                        <m:t>6</m:t>
                                      </m:r>
                                    </m:e>
                                  </m:mr>
                                </m:m>
                              </m:e>
                            </m:mr>
                          </m:m>
                        </m:e>
                      </m:d>
                    </m:oMath>
                  </m:oMathPara>
                </a14:m>
                <a:endParaRPr lang="zh-CN" altLang="en-US" dirty="0"/>
              </a:p>
            </p:txBody>
          </p:sp>
        </mc:Choice>
        <mc:Fallback xmlns="">
          <p:sp>
            <p:nvSpPr>
              <p:cNvPr id="17" name="文本框 16">
                <a:extLst>
                  <a:ext uri="{FF2B5EF4-FFF2-40B4-BE49-F238E27FC236}">
                    <a16:creationId xmlns:a16="http://schemas.microsoft.com/office/drawing/2014/main" id="{E43C102A-8A9C-4115-BDD9-A1BEC5D794BE}"/>
                  </a:ext>
                </a:extLst>
              </p:cNvPr>
              <p:cNvSpPr txBox="1">
                <a:spLocks noRot="1" noChangeAspect="1" noMove="1" noResize="1" noEditPoints="1" noAdjustHandles="1" noChangeArrowheads="1" noChangeShapeType="1" noTextEdit="1"/>
              </p:cNvSpPr>
              <p:nvPr/>
            </p:nvSpPr>
            <p:spPr>
              <a:xfrm>
                <a:off x="6277231" y="2477138"/>
                <a:ext cx="1853392" cy="1034642"/>
              </a:xfrm>
              <a:prstGeom prst="rect">
                <a:avLst/>
              </a:prstGeom>
              <a:blipFill>
                <a:blip r:embed="rId3"/>
                <a:stretch>
                  <a:fillRect/>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4F82D081-0BF6-4FF2-AA6C-11E498F99673}"/>
              </a:ext>
            </a:extLst>
          </p:cNvPr>
          <p:cNvSpPr txBox="1"/>
          <p:nvPr/>
        </p:nvSpPr>
        <p:spPr>
          <a:xfrm>
            <a:off x="1056785" y="4311289"/>
            <a:ext cx="2248930" cy="369332"/>
          </a:xfrm>
          <a:prstGeom prst="rect">
            <a:avLst/>
          </a:prstGeom>
          <a:noFill/>
        </p:spPr>
        <p:txBody>
          <a:bodyPr wrap="square" rtlCol="0">
            <a:spAutoFit/>
          </a:bodyPr>
          <a:lstStyle/>
          <a:p>
            <a:r>
              <a:rPr lang="en-US" altLang="zh-CN" dirty="0"/>
              <a:t>matrix[2][3]</a:t>
            </a:r>
            <a:endParaRPr lang="zh-CN" altLang="en-US" dirty="0"/>
          </a:p>
        </p:txBody>
      </p:sp>
      <p:sp>
        <p:nvSpPr>
          <p:cNvPr id="19" name="文本框 18">
            <a:extLst>
              <a:ext uri="{FF2B5EF4-FFF2-40B4-BE49-F238E27FC236}">
                <a16:creationId xmlns:a16="http://schemas.microsoft.com/office/drawing/2014/main" id="{0F2B2CF6-C445-4FEC-B477-F13AD3E75CFF}"/>
              </a:ext>
            </a:extLst>
          </p:cNvPr>
          <p:cNvSpPr txBox="1"/>
          <p:nvPr/>
        </p:nvSpPr>
        <p:spPr>
          <a:xfrm>
            <a:off x="1056785" y="1888408"/>
            <a:ext cx="2038865" cy="369332"/>
          </a:xfrm>
          <a:prstGeom prst="rect">
            <a:avLst/>
          </a:prstGeom>
          <a:noFill/>
        </p:spPr>
        <p:txBody>
          <a:bodyPr wrap="square" rtlCol="0">
            <a:spAutoFit/>
          </a:bodyPr>
          <a:lstStyle/>
          <a:p>
            <a:r>
              <a:rPr lang="zh-CN" altLang="en-US" dirty="0"/>
              <a:t>矩阵（按列存储）：</a:t>
            </a:r>
          </a:p>
        </p:txBody>
      </p:sp>
      <p:sp>
        <p:nvSpPr>
          <p:cNvPr id="20" name="文本框 19">
            <a:extLst>
              <a:ext uri="{FF2B5EF4-FFF2-40B4-BE49-F238E27FC236}">
                <a16:creationId xmlns:a16="http://schemas.microsoft.com/office/drawing/2014/main" id="{0949E176-1009-40BE-9350-797976A2A05B}"/>
              </a:ext>
            </a:extLst>
          </p:cNvPr>
          <p:cNvSpPr txBox="1"/>
          <p:nvPr/>
        </p:nvSpPr>
        <p:spPr>
          <a:xfrm>
            <a:off x="1056785" y="3994322"/>
            <a:ext cx="2038865" cy="369332"/>
          </a:xfrm>
          <a:prstGeom prst="rect">
            <a:avLst/>
          </a:prstGeom>
          <a:noFill/>
        </p:spPr>
        <p:txBody>
          <a:bodyPr wrap="square" rtlCol="0">
            <a:spAutoFit/>
          </a:bodyPr>
          <a:lstStyle/>
          <a:p>
            <a:r>
              <a:rPr lang="zh-CN" altLang="en-US" dirty="0"/>
              <a:t>矩阵下标访问：</a:t>
            </a:r>
          </a:p>
        </p:txBody>
      </p:sp>
      <p:sp>
        <p:nvSpPr>
          <p:cNvPr id="22" name="文本框 21">
            <a:extLst>
              <a:ext uri="{FF2B5EF4-FFF2-40B4-BE49-F238E27FC236}">
                <a16:creationId xmlns:a16="http://schemas.microsoft.com/office/drawing/2014/main" id="{CE336F1C-A002-415B-864D-8F98853646D1}"/>
              </a:ext>
            </a:extLst>
          </p:cNvPr>
          <p:cNvSpPr txBox="1"/>
          <p:nvPr/>
        </p:nvSpPr>
        <p:spPr>
          <a:xfrm>
            <a:off x="2708380" y="4363654"/>
            <a:ext cx="1630809" cy="307777"/>
          </a:xfrm>
          <a:prstGeom prst="rect">
            <a:avLst/>
          </a:prstGeom>
          <a:noFill/>
        </p:spPr>
        <p:txBody>
          <a:bodyPr wrap="square" rtlCol="0">
            <a:spAutoFit/>
          </a:bodyPr>
          <a:lstStyle/>
          <a:p>
            <a:r>
              <a:rPr lang="zh-CN" altLang="en-US" sz="1400" dirty="0"/>
              <a:t>第 </a:t>
            </a:r>
            <a:r>
              <a:rPr lang="en-US" altLang="zh-CN" sz="1400" dirty="0"/>
              <a:t>3 </a:t>
            </a:r>
            <a:r>
              <a:rPr lang="zh-CN" altLang="en-US" sz="1400" dirty="0"/>
              <a:t>列</a:t>
            </a:r>
            <a:r>
              <a:rPr lang="en-US" altLang="zh-CN" sz="1400" dirty="0"/>
              <a:t>,</a:t>
            </a:r>
            <a:r>
              <a:rPr lang="zh-CN" altLang="en-US" sz="1400" dirty="0"/>
              <a:t>第 </a:t>
            </a:r>
            <a:r>
              <a:rPr lang="en-US" altLang="zh-CN" sz="1400" dirty="0"/>
              <a:t>4 </a:t>
            </a:r>
            <a:r>
              <a:rPr lang="zh-CN" altLang="en-US" sz="1400" dirty="0"/>
              <a:t>行</a:t>
            </a:r>
          </a:p>
        </p:txBody>
      </p:sp>
      <p:sp>
        <p:nvSpPr>
          <p:cNvPr id="23" name="矩形 22">
            <a:extLst>
              <a:ext uri="{FF2B5EF4-FFF2-40B4-BE49-F238E27FC236}">
                <a16:creationId xmlns:a16="http://schemas.microsoft.com/office/drawing/2014/main" id="{FF07CA47-15D5-4B69-AFAC-43D4980FF271}"/>
              </a:ext>
            </a:extLst>
          </p:cNvPr>
          <p:cNvSpPr/>
          <p:nvPr/>
        </p:nvSpPr>
        <p:spPr>
          <a:xfrm>
            <a:off x="2708380" y="2335045"/>
            <a:ext cx="213993" cy="239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36B002D-A62B-4894-A6E4-83D7F83604BF}"/>
                  </a:ext>
                </a:extLst>
              </p:cNvPr>
              <p:cNvSpPr txBox="1"/>
              <p:nvPr/>
            </p:nvSpPr>
            <p:spPr>
              <a:xfrm>
                <a:off x="1016277" y="5103012"/>
                <a:ext cx="7809668" cy="668645"/>
              </a:xfrm>
              <a:prstGeom prst="rect">
                <a:avLst/>
              </a:prstGeom>
              <a:noFill/>
            </p:spPr>
            <p:txBody>
              <a:bodyPr wrap="square" rtlCol="0">
                <a:spAutoFit/>
              </a:bodyPr>
              <a:lstStyle/>
              <a:p>
                <a:r>
                  <a:rPr lang="zh-CN" altLang="en-US" dirty="0"/>
                  <a:t>当我们将矩阵中的</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𝑖𝑗</m:t>
                        </m:r>
                      </m:sub>
                    </m:sSub>
                  </m:oMath>
                </a14:m>
                <a:r>
                  <a:rPr lang="en-US" altLang="zh-CN" dirty="0"/>
                  <a:t>(</a:t>
                </a:r>
                <a:r>
                  <a:rPr lang="zh-CN" altLang="en-US" dirty="0"/>
                  <a:t>第</a:t>
                </a:r>
                <a14:m>
                  <m:oMath xmlns:m="http://schemas.openxmlformats.org/officeDocument/2006/math">
                    <m:r>
                      <a:rPr lang="en-US" altLang="zh-CN" b="0" i="1" smtClean="0">
                        <a:latin typeface="Cambria Math" panose="02040503050406030204" pitchFamily="18" charset="0"/>
                      </a:rPr>
                      <m:t>𝑖</m:t>
                    </m:r>
                    <m:r>
                      <a:rPr lang="zh-CN" altLang="en-US" i="1">
                        <a:latin typeface="Cambria Math" panose="02040503050406030204" pitchFamily="18" charset="0"/>
                      </a:rPr>
                      <m:t>行</m:t>
                    </m:r>
                  </m:oMath>
                </a14:m>
                <a:r>
                  <a:rPr lang="zh-CN" altLang="en-US" dirty="0"/>
                  <a:t>，第</a:t>
                </a:r>
                <a14:m>
                  <m:oMath xmlns:m="http://schemas.openxmlformats.org/officeDocument/2006/math">
                    <m:r>
                      <a:rPr lang="en-US" altLang="zh-CN" b="0" i="1" smtClean="0">
                        <a:latin typeface="Cambria Math" panose="02040503050406030204" pitchFamily="18" charset="0"/>
                      </a:rPr>
                      <m:t>𝑗</m:t>
                    </m:r>
                  </m:oMath>
                </a14:m>
                <a:r>
                  <a:rPr lang="zh-CN" altLang="en-US" dirty="0"/>
                  <a:t>列</a:t>
                </a:r>
                <a:r>
                  <a:rPr lang="en-US" altLang="zh-CN" dirty="0"/>
                  <a:t>)</a:t>
                </a:r>
                <a:r>
                  <a:rPr lang="zh-CN" altLang="en-US" dirty="0"/>
                  <a:t>赋值给 </a:t>
                </a:r>
                <a:r>
                  <a:rPr lang="en-US" altLang="zh-CN" dirty="0" err="1"/>
                  <a:t>glm</a:t>
                </a:r>
                <a:r>
                  <a:rPr lang="en-US" altLang="zh-CN" dirty="0"/>
                  <a:t>::mat4 </a:t>
                </a:r>
                <a:r>
                  <a:rPr lang="zh-CN" altLang="en-US" dirty="0"/>
                  <a:t>的 </a:t>
                </a:r>
                <a:r>
                  <a:rPr lang="en-US" altLang="zh-CN" dirty="0" err="1"/>
                  <a:t>matirx</a:t>
                </a:r>
                <a:r>
                  <a:rPr lang="en-US" altLang="zh-CN" dirty="0"/>
                  <a:t>[</a:t>
                </a:r>
                <a:r>
                  <a:rPr lang="en-US" altLang="zh-CN" dirty="0" err="1"/>
                  <a:t>i</a:t>
                </a:r>
                <a:r>
                  <a:rPr lang="en-US" altLang="zh-CN" dirty="0"/>
                  <a:t>][j] </a:t>
                </a:r>
                <a:r>
                  <a:rPr lang="zh-CN" altLang="en-US" dirty="0"/>
                  <a:t>来进行矩阵的初始化（按行存储），那么就需要对结果进行转置</a:t>
                </a:r>
                <a:r>
                  <a:rPr lang="en-US" altLang="zh-CN" dirty="0"/>
                  <a:t> </a:t>
                </a:r>
                <a:r>
                  <a:rPr lang="en-US" altLang="zh-CN" dirty="0" err="1"/>
                  <a:t>glm</a:t>
                </a:r>
                <a:r>
                  <a:rPr lang="en-US" altLang="zh-CN" dirty="0"/>
                  <a:t>::transpose(matrix)</a:t>
                </a:r>
                <a:endParaRPr lang="zh-CN" altLang="en-US" dirty="0"/>
              </a:p>
            </p:txBody>
          </p:sp>
        </mc:Choice>
        <mc:Fallback xmlns="">
          <p:sp>
            <p:nvSpPr>
              <p:cNvPr id="24" name="文本框 23">
                <a:extLst>
                  <a:ext uri="{FF2B5EF4-FFF2-40B4-BE49-F238E27FC236}">
                    <a16:creationId xmlns:a16="http://schemas.microsoft.com/office/drawing/2014/main" id="{036B002D-A62B-4894-A6E4-83D7F83604BF}"/>
                  </a:ext>
                </a:extLst>
              </p:cNvPr>
              <p:cNvSpPr txBox="1">
                <a:spLocks noRot="1" noChangeAspect="1" noMove="1" noResize="1" noEditPoints="1" noAdjustHandles="1" noChangeArrowheads="1" noChangeShapeType="1" noTextEdit="1"/>
              </p:cNvSpPr>
              <p:nvPr/>
            </p:nvSpPr>
            <p:spPr>
              <a:xfrm>
                <a:off x="1016277" y="5103012"/>
                <a:ext cx="7809668" cy="668645"/>
              </a:xfrm>
              <a:prstGeom prst="rect">
                <a:avLst/>
              </a:prstGeom>
              <a:blipFill>
                <a:blip r:embed="rId4"/>
                <a:stretch>
                  <a:fillRect l="-812" t="-7407" r="-974" b="-14815"/>
                </a:stretch>
              </a:blipFill>
            </p:spPr>
            <p:txBody>
              <a:bodyPr/>
              <a:lstStyle/>
              <a:p>
                <a:r>
                  <a:rPr lang="en-CN">
                    <a:noFill/>
                  </a:rPr>
                  <a:t> </a:t>
                </a:r>
              </a:p>
            </p:txBody>
          </p:sp>
        </mc:Fallback>
      </mc:AlternateContent>
    </p:spTree>
    <p:extLst>
      <p:ext uri="{BB962C8B-B14F-4D97-AF65-F5344CB8AC3E}">
        <p14:creationId xmlns:p14="http://schemas.microsoft.com/office/powerpoint/2010/main" val="547827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183719" y="3440364"/>
            <a:ext cx="4928254" cy="3286538"/>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err="1"/>
              <a:t>LookAt</a:t>
            </a:r>
            <a:r>
              <a:rPr lang="zh-CN" altLang="en-US" dirty="0"/>
              <a:t>函数</a:t>
            </a:r>
          </a:p>
        </p:txBody>
      </p:sp>
      <p:sp>
        <p:nvSpPr>
          <p:cNvPr id="3" name="内容占位符 2"/>
          <p:cNvSpPr>
            <a:spLocks noGrp="1"/>
          </p:cNvSpPr>
          <p:nvPr>
            <p:ph idx="1"/>
          </p:nvPr>
        </p:nvSpPr>
        <p:spPr/>
        <p:txBody>
          <a:bodyPr>
            <a:normAutofit/>
          </a:bodyPr>
          <a:lstStyle/>
          <a:p>
            <a:r>
              <a:rPr lang="en-US" altLang="zh-CN" sz="2400" dirty="0" err="1"/>
              <a:t>LookAt</a:t>
            </a:r>
            <a:r>
              <a:rPr lang="zh-CN" altLang="en-US" sz="2400" dirty="0"/>
              <a:t>函数：</a:t>
            </a:r>
          </a:p>
          <a:p>
            <a:endParaRPr lang="en-US" altLang="zh-CN" sz="2400" dirty="0"/>
          </a:p>
          <a:p>
            <a:endParaRPr lang="en-US" altLang="zh-CN" sz="2400" dirty="0"/>
          </a:p>
          <a:p>
            <a:pPr marL="0" indent="0">
              <a:buNone/>
            </a:pPr>
            <a:endParaRPr lang="en-US" altLang="zh-CN" sz="2400" dirty="0"/>
          </a:p>
          <a:p>
            <a:endParaRPr lang="en-US" altLang="zh-CN" sz="2400" dirty="0"/>
          </a:p>
          <a:p>
            <a:r>
              <a:rPr lang="zh-CN" altLang="en-US" sz="2400" dirty="0"/>
              <a:t>函数解读：</a:t>
            </a:r>
            <a:endParaRPr lang="zh-CN" altLang="en-US" sz="1800" dirty="0"/>
          </a:p>
          <a:p>
            <a:pPr lvl="1">
              <a:buClr>
                <a:schemeClr val="tx1"/>
              </a:buClr>
            </a:pPr>
            <a:r>
              <a:rPr lang="en-US" altLang="zh-CN" sz="1800" b="1" dirty="0"/>
              <a:t>eye</a:t>
            </a:r>
            <a:r>
              <a:rPr lang="en-US" altLang="zh-CN" sz="1800" dirty="0"/>
              <a:t> point</a:t>
            </a:r>
            <a:r>
              <a:rPr lang="zh-CN" altLang="en-US" sz="1800" dirty="0"/>
              <a:t>：视点</a:t>
            </a:r>
            <a:endParaRPr lang="en-US" altLang="zh-CN" sz="1800" dirty="0"/>
          </a:p>
          <a:p>
            <a:pPr lvl="1">
              <a:buClr>
                <a:schemeClr val="tx1"/>
              </a:buClr>
            </a:pPr>
            <a:r>
              <a:rPr lang="en-US" altLang="zh-CN" sz="1800" b="1" dirty="0"/>
              <a:t>at</a:t>
            </a:r>
            <a:r>
              <a:rPr lang="en-US" altLang="zh-CN" sz="1800" dirty="0"/>
              <a:t> point</a:t>
            </a:r>
            <a:r>
              <a:rPr lang="zh-CN" altLang="en-US" sz="1800" dirty="0"/>
              <a:t>：参考点</a:t>
            </a:r>
            <a:endParaRPr lang="en-US" altLang="zh-CN" sz="1800" dirty="0"/>
          </a:p>
          <a:p>
            <a:pPr lvl="1">
              <a:buClr>
                <a:schemeClr val="tx1"/>
              </a:buClr>
            </a:pPr>
            <a:r>
              <a:rPr lang="en-US" altLang="zh-CN" sz="1800" b="1" dirty="0" err="1">
                <a:solidFill>
                  <a:srgbClr val="FF0000"/>
                </a:solidFill>
              </a:rPr>
              <a:t>vpn</a:t>
            </a:r>
            <a:r>
              <a:rPr lang="en-US" altLang="zh-CN" sz="1800" dirty="0">
                <a:solidFill>
                  <a:srgbClr val="FF0000"/>
                </a:solidFill>
              </a:rPr>
              <a:t> = </a:t>
            </a:r>
            <a:r>
              <a:rPr lang="en-US" altLang="zh-CN" sz="1800" b="1" dirty="0">
                <a:solidFill>
                  <a:srgbClr val="FF0000"/>
                </a:solidFill>
              </a:rPr>
              <a:t>eye</a:t>
            </a:r>
            <a:r>
              <a:rPr lang="zh-CN" altLang="en-US" sz="1800" b="1" dirty="0">
                <a:solidFill>
                  <a:srgbClr val="FF0000"/>
                </a:solidFill>
              </a:rPr>
              <a:t> </a:t>
            </a:r>
            <a:r>
              <a:rPr lang="mr-IN" altLang="zh-CN" sz="1800" b="1" dirty="0">
                <a:solidFill>
                  <a:srgbClr val="FF0000"/>
                </a:solidFill>
              </a:rPr>
              <a:t>–</a:t>
            </a:r>
            <a:r>
              <a:rPr lang="zh-CN" altLang="en-US" sz="1800" b="1" dirty="0">
                <a:solidFill>
                  <a:srgbClr val="FF0000"/>
                </a:solidFill>
              </a:rPr>
              <a:t> </a:t>
            </a:r>
            <a:r>
              <a:rPr lang="en-US" altLang="zh-CN" sz="1800" b="1" dirty="0">
                <a:solidFill>
                  <a:srgbClr val="FF0000"/>
                </a:solidFill>
              </a:rPr>
              <a:t>at</a:t>
            </a:r>
            <a:endParaRPr lang="en-US" altLang="zh-CN" sz="2400" b="1" dirty="0">
              <a:solidFill>
                <a:srgbClr val="FF0000"/>
              </a:solidFill>
            </a:endParaRPr>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a:t>
            </a:fld>
            <a:endParaRPr lang="zh-CN" altLang="en-US"/>
          </a:p>
        </p:txBody>
      </p:sp>
      <p:sp>
        <p:nvSpPr>
          <p:cNvPr id="10" name="矩形 9"/>
          <p:cNvSpPr/>
          <p:nvPr/>
        </p:nvSpPr>
        <p:spPr>
          <a:xfrm>
            <a:off x="1076756" y="1849788"/>
            <a:ext cx="6344879" cy="1477328"/>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err="1">
                <a:latin typeface="ZztexMono-Regular"/>
              </a:rPr>
              <a:t>LookAt</a:t>
            </a:r>
            <a:r>
              <a:rPr lang="en-US" altLang="zh-CN" b="1" dirty="0">
                <a:latin typeface="ZztexMono-Regular"/>
              </a:rPr>
              <a:t>(</a:t>
            </a:r>
            <a:r>
              <a:rPr lang="en-US" altLang="zh-CN" b="1" dirty="0">
                <a:solidFill>
                  <a:srgbClr val="0000FF"/>
                </a:solidFill>
                <a:latin typeface="ZztexMono-Regular"/>
              </a:rPr>
              <a:t>point4 </a:t>
            </a:r>
            <a:r>
              <a:rPr lang="en-US" altLang="zh-CN" b="1" dirty="0">
                <a:latin typeface="ZztexMono-Regular"/>
              </a:rPr>
              <a:t>eye,</a:t>
            </a:r>
            <a:r>
              <a:rPr lang="en-US" altLang="zh-CN" b="1" dirty="0">
                <a:solidFill>
                  <a:srgbClr val="0000FF"/>
                </a:solidFill>
                <a:latin typeface="ZztexMono-Regular"/>
              </a:rPr>
              <a:t> point4 </a:t>
            </a:r>
            <a:r>
              <a:rPr lang="en-US" altLang="zh-CN" b="1" dirty="0">
                <a:latin typeface="ZztexMono-Regular"/>
              </a:rPr>
              <a:t>at,</a:t>
            </a:r>
            <a:r>
              <a:rPr lang="en-US" altLang="zh-CN" b="1" dirty="0">
                <a:solidFill>
                  <a:srgbClr val="0000FF"/>
                </a:solidFill>
                <a:latin typeface="ZztexMono-Regular"/>
              </a:rPr>
              <a:t> vec4 </a:t>
            </a:r>
            <a:r>
              <a:rPr lang="en-US" altLang="zh-CN" b="1" dirty="0" err="1">
                <a:latin typeface="ZztexMono-Regular"/>
              </a:rPr>
              <a:t>v</a:t>
            </a:r>
            <a:r>
              <a:rPr lang="en-US" altLang="zh-CN" b="1" baseline="-25000" dirty="0" err="1">
                <a:latin typeface="ZztexMono-Regular"/>
              </a:rPr>
              <a:t>up</a:t>
            </a:r>
            <a:r>
              <a:rPr lang="en-US" altLang="zh-CN" b="1" dirty="0">
                <a:latin typeface="ZztexMono-Regular"/>
              </a:rPr>
              <a:t>)</a:t>
            </a:r>
          </a:p>
          <a:p>
            <a:endParaRPr lang="en-US" altLang="zh-CN" b="1" dirty="0">
              <a:latin typeface="ZztexMono-Regular"/>
            </a:endParaRPr>
          </a:p>
          <a:p>
            <a:r>
              <a:rPr lang="en-US" altLang="zh-CN" b="1" dirty="0">
                <a:solidFill>
                  <a:srgbClr val="0000FF"/>
                </a:solidFill>
                <a:latin typeface="ZztexMono-Regular"/>
              </a:rPr>
              <a:t>mat4</a:t>
            </a:r>
            <a:r>
              <a:rPr lang="en-US" altLang="zh-CN" b="1" dirty="0">
                <a:latin typeface="ZztexMono-Regular"/>
              </a:rPr>
              <a:t> </a:t>
            </a:r>
            <a:r>
              <a:rPr lang="en-US" altLang="zh-CN" b="1" dirty="0" err="1">
                <a:latin typeface="ZztexMono-Regular"/>
              </a:rPr>
              <a:t>LookAt</a:t>
            </a:r>
            <a:r>
              <a:rPr lang="en-US" altLang="zh-CN" b="1" dirty="0">
                <a:latin typeface="ZztexMono-Regular"/>
              </a:rPr>
              <a:t>(</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eyey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atx</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aty</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atz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upy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upz</a:t>
            </a:r>
            <a:r>
              <a:rPr lang="en-US" altLang="zh-CN" b="1" dirty="0">
                <a:latin typeface="ZztexMono-Regular"/>
              </a:rPr>
              <a:t>)</a:t>
            </a:r>
            <a:endParaRPr lang="zh-CN" altLang="en-US" dirty="0"/>
          </a:p>
        </p:txBody>
      </p:sp>
      <p:pic>
        <p:nvPicPr>
          <p:cNvPr id="13" name="图片 12"/>
          <p:cNvPicPr>
            <a:picLocks noChangeAspect="1"/>
          </p:cNvPicPr>
          <p:nvPr/>
        </p:nvPicPr>
        <p:blipFill>
          <a:blip r:embed="rId3"/>
          <a:stretch>
            <a:fillRect/>
          </a:stretch>
        </p:blipFill>
        <p:spPr>
          <a:xfrm>
            <a:off x="1271324" y="5135769"/>
            <a:ext cx="1109759" cy="555920"/>
          </a:xfrm>
          <a:prstGeom prst="rect">
            <a:avLst/>
          </a:prstGeom>
        </p:spPr>
      </p:pic>
      <p:pic>
        <p:nvPicPr>
          <p:cNvPr id="15" name="图片 14"/>
          <p:cNvPicPr>
            <a:picLocks noChangeAspect="1"/>
          </p:cNvPicPr>
          <p:nvPr/>
        </p:nvPicPr>
        <p:blipFill>
          <a:blip r:embed="rId4"/>
          <a:stretch>
            <a:fillRect/>
          </a:stretch>
        </p:blipFill>
        <p:spPr>
          <a:xfrm>
            <a:off x="2506390" y="5083633"/>
            <a:ext cx="1272542" cy="60539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146018" y="5924462"/>
                <a:ext cx="1360372" cy="6219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0" dirty="0" smtClean="0">
                          <a:latin typeface="Cambria Math" charset="0"/>
                        </a:rPr>
                        <m:t>𝐯</m:t>
                      </m:r>
                      <m:r>
                        <a:rPr lang="zh-CN" altLang="en-US" b="1" i="0" dirty="0" smtClean="0">
                          <a:latin typeface="Cambria Math" charset="0"/>
                        </a:rPr>
                        <m:t> </m:t>
                      </m:r>
                      <m:r>
                        <a:rPr lang="en-US" altLang="zh-CN" b="1" i="0" dirty="0" smtClean="0">
                          <a:latin typeface="Cambria Math" charset="0"/>
                        </a:rPr>
                        <m:t>=</m:t>
                      </m:r>
                      <m:r>
                        <a:rPr lang="zh-CN" altLang="en-US" b="1" i="0" dirty="0" smtClean="0">
                          <a:latin typeface="Cambria Math" charset="0"/>
                        </a:rPr>
                        <m:t> </m:t>
                      </m:r>
                      <m:f>
                        <m:fPr>
                          <m:ctrlPr>
                            <a:rPr lang="mr-IN" altLang="zh-CN" b="1" i="1" dirty="0" smtClean="0">
                              <a:latin typeface="Cambria Math" panose="02040503050406030204" pitchFamily="18" charset="0"/>
                            </a:rPr>
                          </m:ctrlPr>
                        </m:fPr>
                        <m:num>
                          <m:r>
                            <a:rPr lang="en-US" altLang="zh-CN" b="1" i="0" dirty="0" smtClean="0">
                              <a:latin typeface="Cambria Math" charset="0"/>
                            </a:rPr>
                            <m:t>𝐧</m:t>
                          </m:r>
                          <m:r>
                            <a:rPr lang="en-US" altLang="zh-CN" b="1" i="0" dirty="0" smtClean="0">
                              <a:latin typeface="Cambria Math" charset="0"/>
                              <a:ea typeface="Cambria Math" charset="0"/>
                              <a:cs typeface="Cambria Math" charset="0"/>
                            </a:rPr>
                            <m:t>×</m:t>
                          </m:r>
                          <m:r>
                            <a:rPr lang="en-US" altLang="zh-CN" b="1" i="0" dirty="0" smtClean="0">
                              <a:latin typeface="Cambria Math" charset="0"/>
                              <a:ea typeface="Cambria Math" charset="0"/>
                              <a:cs typeface="Cambria Math" charset="0"/>
                            </a:rPr>
                            <m:t>𝐮</m:t>
                          </m:r>
                        </m:num>
                        <m:den>
                          <m:d>
                            <m:dPr>
                              <m:begChr m:val="|"/>
                              <m:endChr m:val="|"/>
                              <m:ctrlPr>
                                <a:rPr lang="hr-HR" altLang="zh-CN" b="1" i="1" dirty="0" smtClean="0">
                                  <a:latin typeface="Cambria Math" panose="02040503050406030204" pitchFamily="18" charset="0"/>
                                </a:rPr>
                              </m:ctrlPr>
                            </m:dPr>
                            <m:e>
                              <m:r>
                                <a:rPr lang="en-US" altLang="zh-CN" b="1" i="0" dirty="0">
                                  <a:latin typeface="Cambria Math" charset="0"/>
                                </a:rPr>
                                <m:t>𝐧</m:t>
                              </m:r>
                              <m:r>
                                <a:rPr lang="en-US" altLang="zh-CN" b="1" i="0" dirty="0">
                                  <a:latin typeface="Cambria Math" charset="0"/>
                                  <a:ea typeface="Cambria Math" charset="0"/>
                                  <a:cs typeface="Cambria Math" charset="0"/>
                                </a:rPr>
                                <m:t>×</m:t>
                              </m:r>
                              <m:r>
                                <a:rPr lang="en-US" altLang="zh-CN" b="1" i="0" dirty="0">
                                  <a:latin typeface="Cambria Math" charset="0"/>
                                  <a:ea typeface="Cambria Math" charset="0"/>
                                  <a:cs typeface="Cambria Math" charset="0"/>
                                </a:rPr>
                                <m:t>𝐮</m:t>
                              </m:r>
                            </m:e>
                          </m:d>
                        </m:den>
                      </m:f>
                    </m:oMath>
                  </m:oMathPara>
                </a14:m>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1146018" y="5924462"/>
                <a:ext cx="1360372" cy="621965"/>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5794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模型视图矩阵的计算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设</a:t>
                </a:r>
                <a:r>
                  <a:rPr lang="en-US" altLang="zh-CN" sz="2400" dirty="0"/>
                  <a:t>VRP</a:t>
                </a:r>
                <a:r>
                  <a:rPr lang="zh-CN" altLang="en-US" sz="2400" dirty="0"/>
                  <a:t>点</a:t>
                </a:r>
                <a14:m>
                  <m:oMath xmlns:m="http://schemas.openxmlformats.org/officeDocument/2006/math">
                    <m:r>
                      <a:rPr lang="en-US" altLang="zh-CN" sz="2400" b="1" i="1" dirty="0" smtClean="0">
                        <a:latin typeface="Cambria Math" charset="0"/>
                      </a:rPr>
                      <m:t>𝒑</m:t>
                    </m:r>
                    <m:r>
                      <a:rPr lang="en-US" altLang="zh-CN" sz="2400" i="1" dirty="0">
                        <a:latin typeface="Cambria Math" charset="0"/>
                      </a:rPr>
                      <m:t>=[</m:t>
                    </m:r>
                    <m:r>
                      <a:rPr lang="en-US" altLang="zh-CN" sz="2400" i="1" dirty="0">
                        <a:latin typeface="Cambria Math" charset="0"/>
                      </a:rPr>
                      <m:t>𝑥</m:t>
                    </m:r>
                    <m:r>
                      <a:rPr lang="en-US" altLang="zh-CN" sz="2400" i="1" dirty="0">
                        <a:latin typeface="Cambria Math" charset="0"/>
                      </a:rPr>
                      <m:t>,</m:t>
                    </m:r>
                    <m:r>
                      <a:rPr lang="en-US" altLang="zh-CN" sz="2400" i="1" dirty="0">
                        <a:latin typeface="Cambria Math" charset="0"/>
                      </a:rPr>
                      <m:t>𝑦</m:t>
                    </m:r>
                    <m:r>
                      <a:rPr lang="en-US" altLang="zh-CN" sz="2400" i="1" dirty="0">
                        <a:latin typeface="Cambria Math" charset="0"/>
                      </a:rPr>
                      <m:t>,</m:t>
                    </m:r>
                    <m:r>
                      <a:rPr lang="en-US" altLang="zh-CN" sz="2400" i="1" dirty="0">
                        <a:latin typeface="Cambria Math" charset="0"/>
                      </a:rPr>
                      <m:t>𝑧</m:t>
                    </m:r>
                    <m:r>
                      <a:rPr lang="en-US" altLang="zh-CN" sz="2400" i="1" dirty="0">
                        <a:latin typeface="Cambria Math" charset="0"/>
                      </a:rPr>
                      <m:t>,1]</m:t>
                    </m:r>
                    <m:r>
                      <a:rPr lang="en-US" altLang="zh-CN" sz="2400" i="1" baseline="30000" dirty="0">
                        <a:latin typeface="Cambria Math" charset="0"/>
                      </a:rPr>
                      <m:t>𝑇</m:t>
                    </m:r>
                  </m:oMath>
                </a14:m>
                <a:r>
                  <a:rPr lang="en-US" altLang="zh-CN" sz="2400" dirty="0"/>
                  <a:t>, </a:t>
                </a:r>
                <a:r>
                  <a:rPr lang="zh-CN" altLang="en-US" sz="2400" dirty="0"/>
                  <a:t>视平面法向</a:t>
                </a:r>
                <a14:m>
                  <m:oMath xmlns:m="http://schemas.openxmlformats.org/officeDocument/2006/math">
                    <m:r>
                      <a:rPr lang="en-US" altLang="zh-CN" sz="2400" b="1" i="1" dirty="0" smtClean="0">
                        <a:latin typeface="Cambria Math" charset="0"/>
                      </a:rPr>
                      <m:t>𝒏</m:t>
                    </m:r>
                    <m:r>
                      <a:rPr lang="en-US" altLang="zh-CN" sz="2400" i="1" dirty="0">
                        <a:latin typeface="Cambria Math" charset="0"/>
                      </a:rPr>
                      <m:t>=[</m:t>
                    </m:r>
                    <m:r>
                      <a:rPr lang="en-US" altLang="zh-CN" sz="2400" i="1" dirty="0">
                        <a:latin typeface="Cambria Math" charset="0"/>
                      </a:rPr>
                      <m:t>𝑛𝑥</m:t>
                    </m:r>
                    <m:r>
                      <a:rPr lang="en-US" altLang="zh-CN" sz="2400" i="1" dirty="0">
                        <a:latin typeface="Cambria Math" charset="0"/>
                      </a:rPr>
                      <m:t>,</m:t>
                    </m:r>
                    <m:r>
                      <a:rPr lang="en-US" altLang="zh-CN" sz="2400" i="1" dirty="0">
                        <a:latin typeface="Cambria Math" charset="0"/>
                      </a:rPr>
                      <m:t>𝑛𝑦</m:t>
                    </m:r>
                    <m:r>
                      <a:rPr lang="en-US" altLang="zh-CN" sz="2400" i="1" dirty="0">
                        <a:latin typeface="Cambria Math" charset="0"/>
                      </a:rPr>
                      <m:t>,</m:t>
                    </m:r>
                    <m:r>
                      <a:rPr lang="en-US" altLang="zh-CN" sz="2400" i="1" dirty="0">
                        <a:latin typeface="Cambria Math" charset="0"/>
                      </a:rPr>
                      <m:t>𝑛𝑧</m:t>
                    </m:r>
                    <m:r>
                      <a:rPr lang="en-US" altLang="zh-CN" sz="2400" i="1" dirty="0">
                        <a:latin typeface="Cambria Math" charset="0"/>
                      </a:rPr>
                      <m:t>,0]</m:t>
                    </m:r>
                    <m:r>
                      <a:rPr lang="en-US" altLang="zh-CN" sz="2400" i="1" baseline="30000" dirty="0">
                        <a:latin typeface="Cambria Math" charset="0"/>
                      </a:rPr>
                      <m:t>𝑇</m:t>
                    </m:r>
                  </m:oMath>
                </a14:m>
                <a:r>
                  <a:rPr lang="en-US" altLang="zh-CN" sz="2400" dirty="0"/>
                  <a:t>,</a:t>
                </a:r>
              </a:p>
              <a:p>
                <a:pPr marL="0" indent="0">
                  <a:buNone/>
                </a:pPr>
                <a:r>
                  <a:rPr lang="zh-CN" altLang="en-US" sz="2400" dirty="0"/>
                  <a:t>    上方向量为</a:t>
                </a:r>
                <a14:m>
                  <m:oMath xmlns:m="http://schemas.openxmlformats.org/officeDocument/2006/math">
                    <m:r>
                      <a:rPr lang="en-US" altLang="zh-CN" sz="2400" b="1" i="1" dirty="0" smtClean="0">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i="1" dirty="0" err="1">
                        <a:latin typeface="Cambria Math" charset="0"/>
                      </a:rPr>
                      <m:t>𝑣</m:t>
                    </m:r>
                    <m:r>
                      <a:rPr lang="en-US" altLang="zh-CN" sz="2400" i="1" baseline="-25000" dirty="0" err="1">
                        <a:latin typeface="Cambria Math" charset="0"/>
                      </a:rPr>
                      <m:t>𝑢𝑝𝑥</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𝑢𝑝𝑦</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𝑢𝑝𝑧</m:t>
                    </m:r>
                    <m:r>
                      <a:rPr lang="en-US" altLang="zh-CN" sz="2400" i="1" dirty="0">
                        <a:latin typeface="Cambria Math" charset="0"/>
                      </a:rPr>
                      <m:t>, 0]</m:t>
                    </m:r>
                    <m:r>
                      <a:rPr lang="en-US" altLang="zh-CN" sz="2400" i="1" baseline="30000" dirty="0">
                        <a:latin typeface="Cambria Math" charset="0"/>
                      </a:rPr>
                      <m:t>𝑇</m:t>
                    </m:r>
                  </m:oMath>
                </a14:m>
                <a:endParaRPr lang="en-US" altLang="zh-CN" sz="2400" dirty="0"/>
              </a:p>
              <a:p>
                <a14:m>
                  <m:oMath xmlns:m="http://schemas.openxmlformats.org/officeDocument/2006/math">
                    <m:r>
                      <a:rPr lang="en-US" altLang="zh-CN" sz="2400" b="1" i="1" dirty="0" smtClean="0">
                        <a:latin typeface="Cambria Math" charset="0"/>
                      </a:rPr>
                      <m:t>𝒗</m:t>
                    </m:r>
                    <m:r>
                      <a:rPr lang="en-US" altLang="zh-CN" sz="2400" i="1" dirty="0">
                        <a:latin typeface="Cambria Math" charset="0"/>
                      </a:rPr>
                      <m:t> = </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err="1">
                        <a:latin typeface="Cambria Math" charset="0"/>
                      </a:rPr>
                      <m:t>⋅</m:t>
                    </m:r>
                    <m:r>
                      <a:rPr lang="en-US" altLang="zh-CN" sz="2400" b="1" i="1" dirty="0" err="1">
                        <a:latin typeface="Cambria Math" charset="0"/>
                      </a:rPr>
                      <m:t>𝒏</m:t>
                    </m:r>
                    <m:r>
                      <a:rPr lang="en-US" altLang="zh-CN" sz="2400" i="1" dirty="0">
                        <a:latin typeface="Cambria Math" charset="0"/>
                      </a:rPr>
                      <m:t>)/(</m:t>
                    </m:r>
                    <m:r>
                      <a:rPr lang="en-US" altLang="zh-CN" sz="2400" b="1" i="1" dirty="0" err="1">
                        <a:latin typeface="Cambria Math" charset="0"/>
                      </a:rPr>
                      <m:t>𝒏</m:t>
                    </m:r>
                    <m:r>
                      <a:rPr lang="en-US" altLang="zh-CN" sz="2400" i="1" dirty="0" err="1">
                        <a:latin typeface="Cambria Math" charset="0"/>
                      </a:rPr>
                      <m:t>⋅</m:t>
                    </m:r>
                    <m:r>
                      <a:rPr lang="en-US" altLang="zh-CN" sz="2400" b="1" i="1" dirty="0" err="1">
                        <a:latin typeface="Cambria Math" charset="0"/>
                      </a:rPr>
                      <m:t>𝒏</m:t>
                    </m:r>
                    <m:r>
                      <a:rPr lang="en-US" altLang="zh-CN" sz="2400" i="1" dirty="0">
                        <a:latin typeface="Cambria Math" charset="0"/>
                      </a:rPr>
                      <m:t>)</m:t>
                    </m:r>
                    <m:r>
                      <a:rPr lang="en-US" altLang="zh-CN" sz="2400" b="1" i="1" dirty="0">
                        <a:latin typeface="Cambria Math" charset="0"/>
                      </a:rPr>
                      <m:t>𝒏</m:t>
                    </m:r>
                  </m:oMath>
                </a14:m>
                <a:r>
                  <a:rPr lang="en-US" altLang="zh-CN" sz="2400" dirty="0"/>
                  <a:t>, </a:t>
                </a:r>
                <a:r>
                  <a:rPr lang="zh-CN" altLang="en-US" sz="2400" dirty="0"/>
                  <a:t>把</a:t>
                </a:r>
                <a14:m>
                  <m:oMath xmlns:m="http://schemas.openxmlformats.org/officeDocument/2006/math">
                    <m:r>
                      <a:rPr lang="en-US" altLang="zh-CN" sz="2400" b="1" i="1" dirty="0" smtClean="0">
                        <a:latin typeface="Cambria Math" charset="0"/>
                      </a:rPr>
                      <m:t>𝒗</m:t>
                    </m:r>
                    <m:r>
                      <a:rPr lang="en-US" altLang="zh-CN" sz="2400" i="1" dirty="0">
                        <a:latin typeface="Cambria Math" charset="0"/>
                      </a:rPr>
                      <m:t>, </m:t>
                    </m:r>
                    <m:r>
                      <a:rPr lang="en-US" altLang="zh-CN" sz="2400" b="1" i="1" dirty="0">
                        <a:latin typeface="Cambria Math" charset="0"/>
                      </a:rPr>
                      <m:t>𝒏</m:t>
                    </m:r>
                  </m:oMath>
                </a14:m>
                <a:r>
                  <a:rPr lang="zh-CN" altLang="en-US" sz="2400" dirty="0"/>
                  <a:t>单位化</a:t>
                </a:r>
                <a:endParaRPr lang="en-US" altLang="zh-CN" sz="2400" dirty="0"/>
              </a:p>
              <a:p>
                <a14:m>
                  <m:oMath xmlns:m="http://schemas.openxmlformats.org/officeDocument/2006/math">
                    <m:r>
                      <a:rPr lang="en-US" altLang="zh-CN" sz="2400" b="1" i="1" dirty="0" smtClean="0">
                        <a:latin typeface="Cambria Math" charset="0"/>
                      </a:rPr>
                      <m:t>𝒖</m:t>
                    </m:r>
                    <m:r>
                      <a:rPr lang="en-US" altLang="zh-CN" sz="2400" i="1" dirty="0">
                        <a:latin typeface="Cambria Math" charset="0"/>
                      </a:rPr>
                      <m:t> = </m:t>
                    </m:r>
                    <m:r>
                      <a:rPr lang="en-US" altLang="zh-CN" sz="2400" b="1" i="1" dirty="0">
                        <a:latin typeface="Cambria Math" charset="0"/>
                      </a:rPr>
                      <m:t>𝒗</m:t>
                    </m:r>
                    <m:r>
                      <a:rPr lang="en-US" altLang="zh-CN" sz="2400" i="1" dirty="0">
                        <a:latin typeface="Cambria Math" charset="0"/>
                      </a:rPr>
                      <m:t> </m:t>
                    </m:r>
                    <m:r>
                      <a:rPr lang="en-US" altLang="zh-CN" sz="2400" i="1" dirty="0">
                        <a:latin typeface="Cambria Math" charset="0"/>
                      </a:rPr>
                      <m:t>𝑥</m:t>
                    </m:r>
                    <m:r>
                      <a:rPr lang="en-US" altLang="zh-CN" sz="2400" i="1" dirty="0">
                        <a:latin typeface="Cambria Math" charset="0"/>
                      </a:rPr>
                      <m:t> </m:t>
                    </m:r>
                    <m:r>
                      <a:rPr lang="en-US" altLang="zh-CN" sz="2400" b="1" i="1" dirty="0">
                        <a:latin typeface="Cambria Math" charset="0"/>
                      </a:rPr>
                      <m:t>𝒏</m:t>
                    </m:r>
                  </m:oMath>
                </a14:m>
                <a:endParaRPr lang="en-US" altLang="zh-CN" sz="2400" b="1" dirty="0"/>
              </a:p>
              <a:p>
                <a:r>
                  <a:rPr lang="zh-CN" altLang="en-US" sz="2400" dirty="0"/>
                  <a:t>模型视图矩阵为：</a:t>
                </a:r>
                <a:endParaRPr lang="en-US" altLang="zh-CN" sz="2400"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pic>
        <p:nvPicPr>
          <p:cNvPr id="6" name="图片 5"/>
          <p:cNvPicPr>
            <a:picLocks noChangeAspect="1"/>
          </p:cNvPicPr>
          <p:nvPr/>
        </p:nvPicPr>
        <p:blipFill>
          <a:blip r:embed="rId3"/>
          <a:stretch>
            <a:fillRect/>
          </a:stretch>
        </p:blipFill>
        <p:spPr>
          <a:xfrm>
            <a:off x="1956198" y="3878293"/>
            <a:ext cx="5018953" cy="2202229"/>
          </a:xfrm>
          <a:prstGeom prst="rect">
            <a:avLst/>
          </a:prstGeom>
        </p:spPr>
      </p:pic>
    </p:spTree>
    <p:extLst>
      <p:ext uri="{BB962C8B-B14F-4D97-AF65-F5344CB8AC3E}">
        <p14:creationId xmlns:p14="http://schemas.microsoft.com/office/powerpoint/2010/main" val="1060107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en-US" altLang="zh-CN" dirty="0"/>
              <a:t>-</a:t>
            </a:r>
            <a:r>
              <a:rPr lang="zh-CN" altLang="en-US" dirty="0"/>
              <a:t> 对投影的理解</a:t>
            </a:r>
            <a:endParaRPr lang="en-US" dirty="0"/>
          </a:p>
        </p:txBody>
      </p:sp>
      <p:sp>
        <p:nvSpPr>
          <p:cNvPr id="3" name="Content Placeholder 2"/>
          <p:cNvSpPr>
            <a:spLocks noGrp="1"/>
          </p:cNvSpPr>
          <p:nvPr>
            <p:ph idx="1"/>
          </p:nvPr>
        </p:nvSpPr>
        <p:spPr/>
        <p:txBody>
          <a:bodyPr/>
          <a:lstStyle/>
          <a:p>
            <a:r>
              <a:rPr lang="zh-CN" altLang="en-US" dirty="0"/>
              <a:t>经典投影</a:t>
            </a:r>
            <a:endParaRPr lang="en-US" altLang="zh-CN" dirty="0"/>
          </a:p>
          <a:p>
            <a:pPr lvl="1">
              <a:buClr>
                <a:schemeClr val="tx1"/>
              </a:buClr>
            </a:pPr>
            <a:r>
              <a:rPr lang="zh-CN" altLang="en-US" dirty="0"/>
              <a:t>射影变换，三维到二维的映射</a:t>
            </a:r>
            <a:endParaRPr lang="en-US" altLang="zh-CN" dirty="0"/>
          </a:p>
          <a:p>
            <a:pPr lvl="1">
              <a:buClr>
                <a:schemeClr val="tx1"/>
              </a:buClr>
            </a:pPr>
            <a:r>
              <a:rPr lang="zh-CN" altLang="en-US" dirty="0"/>
              <a:t>不可逆，将同一直线上的点映射为像平面上的一个点</a:t>
            </a:r>
            <a:endParaRPr lang="en-US" altLang="zh-CN" dirty="0"/>
          </a:p>
          <a:p>
            <a:pPr lvl="1"/>
            <a:endParaRPr lang="en-US" dirty="0"/>
          </a:p>
          <a:p>
            <a:r>
              <a:rPr lang="zh-CN" altLang="en-US" dirty="0"/>
              <a:t>计算机投影</a:t>
            </a:r>
            <a:endParaRPr lang="en-US" altLang="zh-CN" dirty="0"/>
          </a:p>
          <a:p>
            <a:pPr lvl="1"/>
            <a:r>
              <a:rPr lang="zh-CN" altLang="en-US" dirty="0"/>
              <a:t>在思维空间里使用</a:t>
            </a:r>
            <a:r>
              <a:rPr lang="zh-CN" altLang="en-US" dirty="0">
                <a:solidFill>
                  <a:srgbClr val="0000FF"/>
                </a:solidFill>
              </a:rPr>
              <a:t>齐次坐标</a:t>
            </a:r>
            <a:r>
              <a:rPr lang="zh-CN" altLang="en-US" dirty="0"/>
              <a:t>来计算投影</a:t>
            </a:r>
            <a:endParaRPr lang="en-US" altLang="zh-CN" dirty="0"/>
          </a:p>
          <a:p>
            <a:pPr lvl="1"/>
            <a:r>
              <a:rPr lang="zh-CN" altLang="en-US" dirty="0"/>
              <a:t>尽量</a:t>
            </a:r>
            <a:r>
              <a:rPr lang="zh-CN" altLang="en-US" dirty="0">
                <a:solidFill>
                  <a:srgbClr val="0000FF"/>
                </a:solidFill>
              </a:rPr>
              <a:t>保留深度信息</a:t>
            </a:r>
            <a:r>
              <a:rPr lang="zh-CN" altLang="en-US" dirty="0"/>
              <a:t>，进行隐藏面消除</a:t>
            </a:r>
            <a:endParaRPr lang="en-US" altLang="zh-CN" dirty="0"/>
          </a:p>
          <a:p>
            <a:pPr lvl="1"/>
            <a:r>
              <a:rPr lang="zh-CN" altLang="en-US" dirty="0"/>
              <a:t>使用</a:t>
            </a:r>
            <a:r>
              <a:rPr lang="zh-CN" altLang="en-US" dirty="0">
                <a:solidFill>
                  <a:srgbClr val="0000FF"/>
                </a:solidFill>
              </a:rPr>
              <a:t>投影规范化技术</a:t>
            </a:r>
            <a:endParaRPr lang="en-US" dirty="0">
              <a:solidFill>
                <a:srgbClr val="0000FF"/>
              </a:solidFill>
            </a:endParaRP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spTree>
    <p:extLst>
      <p:ext uri="{BB962C8B-B14F-4D97-AF65-F5344CB8AC3E}">
        <p14:creationId xmlns:p14="http://schemas.microsoft.com/office/powerpoint/2010/main" val="1407084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投影规范化</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b="1" dirty="0"/>
                  <a:t>投影规范化</a:t>
                </a:r>
                <a:r>
                  <a:rPr lang="zh-CN" altLang="en-US" sz="2400" dirty="0"/>
                  <a:t>：先把对象变形，使得变形后的对象的正交投影图与原来想要得到的对象的投影图相同，这样就</a:t>
                </a:r>
                <a:r>
                  <a:rPr lang="zh-CN" altLang="en-US" sz="2400" dirty="0">
                    <a:solidFill>
                      <a:srgbClr val="0000FF"/>
                    </a:solidFill>
                  </a:rPr>
                  <a:t>把所有的投影都转化为正交投影</a:t>
                </a:r>
                <a:endParaRPr lang="zh-CN" altLang="en-US" sz="1800" dirty="0">
                  <a:solidFill>
                    <a:srgbClr val="0000FF"/>
                  </a:solidFill>
                </a:endParaRPr>
              </a:p>
              <a:p>
                <a:pPr lvl="1">
                  <a:buClr>
                    <a:schemeClr val="tx1"/>
                  </a:buClr>
                </a:pPr>
                <a:r>
                  <a:rPr lang="zh-CN" altLang="en-US" sz="1800" dirty="0"/>
                  <a:t>适用于图形管线的另外一种处理方式：</a:t>
                </a:r>
                <a:r>
                  <a:rPr lang="zh-CN" altLang="en-US" sz="1800" b="1" dirty="0">
                    <a:solidFill>
                      <a:srgbClr val="00B050"/>
                    </a:solidFill>
                  </a:rPr>
                  <a:t>射影畸变</a:t>
                </a:r>
                <a:r>
                  <a:rPr lang="en-US" altLang="zh-CN" sz="1800" b="1" dirty="0">
                    <a:solidFill>
                      <a:srgbClr val="00B050"/>
                    </a:solidFill>
                  </a:rPr>
                  <a:t>+</a:t>
                </a:r>
                <a:r>
                  <a:rPr lang="zh-CN" altLang="en-US" sz="1800" b="1" dirty="0">
                    <a:solidFill>
                      <a:srgbClr val="00B050"/>
                    </a:solidFill>
                  </a:rPr>
                  <a:t>正交投影</a:t>
                </a:r>
                <a:endParaRPr lang="en-US" altLang="zh-CN" sz="1800" b="1" dirty="0">
                  <a:solidFill>
                    <a:srgbClr val="00B050"/>
                  </a:solidFill>
                </a:endParaRPr>
              </a:p>
              <a:p>
                <a:pPr lvl="1">
                  <a:buClr>
                    <a:schemeClr val="tx1"/>
                  </a:buClr>
                </a:pPr>
                <a:r>
                  <a:rPr lang="zh-CN" altLang="en-US" sz="1800" dirty="0"/>
                  <a:t>不想为每种类型的投影设计不同的投影矩阵，所以把所有的投影转化为具有默认视见体的正交投影：</a:t>
                </a:r>
                <a:r>
                  <a:rPr lang="zh-CN" altLang="en-US" sz="1800" dirty="0">
                    <a:solidFill>
                      <a:srgbClr val="0000FF"/>
                    </a:solidFill>
                  </a:rPr>
                  <a:t>规范视见体 </a:t>
                </a:r>
                <a14:m>
                  <m:oMath xmlns:m="http://schemas.openxmlformats.org/officeDocument/2006/math">
                    <m:r>
                      <a:rPr lang="en-US" altLang="zh-CN" sz="1800" b="0" i="1" smtClean="0">
                        <a:solidFill>
                          <a:srgbClr val="0000FF"/>
                        </a:solidFill>
                        <a:latin typeface="Cambria Math" charset="0"/>
                      </a:rPr>
                      <m:t>𝑥</m:t>
                    </m:r>
                    <m:r>
                      <a:rPr lang="en-US" altLang="zh-CN" sz="1800" b="0" i="1" smtClean="0">
                        <a:solidFill>
                          <a:srgbClr val="0000FF"/>
                        </a:solidFill>
                        <a:latin typeface="Cambria Math" charset="0"/>
                      </a:rPr>
                      <m:t>=±1,</m:t>
                    </m:r>
                    <m:r>
                      <a:rPr lang="en-US" altLang="zh-CN" sz="1800" b="0" i="1" smtClean="0">
                        <a:solidFill>
                          <a:srgbClr val="0000FF"/>
                        </a:solidFill>
                        <a:latin typeface="Cambria Math" charset="0"/>
                      </a:rPr>
                      <m:t>𝑦</m:t>
                    </m:r>
                    <m:r>
                      <a:rPr lang="en-US" altLang="zh-CN" sz="1800" i="1">
                        <a:solidFill>
                          <a:srgbClr val="0000FF"/>
                        </a:solidFill>
                        <a:latin typeface="Cambria Math" charset="0"/>
                      </a:rPr>
                      <m:t>=±1</m:t>
                    </m:r>
                    <m:r>
                      <a:rPr lang="en-US" altLang="zh-CN" sz="1800" b="0" i="1" smtClean="0">
                        <a:solidFill>
                          <a:srgbClr val="0000FF"/>
                        </a:solidFill>
                        <a:latin typeface="Cambria Math" charset="0"/>
                      </a:rPr>
                      <m:t>,</m:t>
                    </m:r>
                    <m:r>
                      <a:rPr lang="en-US" altLang="zh-CN" sz="1800" b="0" i="1" smtClean="0">
                        <a:solidFill>
                          <a:srgbClr val="0000FF"/>
                        </a:solidFill>
                        <a:latin typeface="Cambria Math" charset="0"/>
                      </a:rPr>
                      <m:t>𝑧</m:t>
                    </m:r>
                    <m:r>
                      <a:rPr lang="en-US" altLang="zh-CN" sz="1800" i="1">
                        <a:solidFill>
                          <a:srgbClr val="0000FF"/>
                        </a:solidFill>
                        <a:latin typeface="Cambria Math" charset="0"/>
                      </a:rPr>
                      <m:t>=±1</m:t>
                    </m:r>
                  </m:oMath>
                </a14:m>
                <a:endParaRPr lang="en-US" altLang="zh-CN" sz="1800" dirty="0">
                  <a:solidFill>
                    <a:srgbClr val="0000FF"/>
                  </a:solidFill>
                </a:endParaRPr>
              </a:p>
              <a:p>
                <a:pPr lvl="1">
                  <a:buClr>
                    <a:schemeClr val="tx1"/>
                  </a:buClr>
                </a:pPr>
                <a:r>
                  <a:rPr lang="zh-CN" altLang="en-US" sz="1800" dirty="0"/>
                  <a:t>这种策略可以使我们在流水线中应用标准变换，同样的绘制流水线可以既支持透视投影又支持平行投影</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8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5" name="图片 4"/>
          <p:cNvPicPr>
            <a:picLocks noChangeAspect="1"/>
          </p:cNvPicPr>
          <p:nvPr/>
        </p:nvPicPr>
        <p:blipFill>
          <a:blip r:embed="rId3"/>
          <a:stretch>
            <a:fillRect/>
          </a:stretch>
        </p:blipFill>
        <p:spPr>
          <a:xfrm>
            <a:off x="821070" y="3949060"/>
            <a:ext cx="2943205" cy="2131462"/>
          </a:xfrm>
          <a:prstGeom prst="rect">
            <a:avLst/>
          </a:prstGeom>
        </p:spPr>
      </p:pic>
      <p:pic>
        <p:nvPicPr>
          <p:cNvPr id="6" name="图片 5"/>
          <p:cNvPicPr>
            <a:picLocks noChangeAspect="1"/>
          </p:cNvPicPr>
          <p:nvPr/>
        </p:nvPicPr>
        <p:blipFill>
          <a:blip r:embed="rId4"/>
          <a:stretch>
            <a:fillRect/>
          </a:stretch>
        </p:blipFill>
        <p:spPr>
          <a:xfrm>
            <a:off x="3956694" y="4559774"/>
            <a:ext cx="4621795" cy="745243"/>
          </a:xfrm>
          <a:prstGeom prst="rect">
            <a:avLst/>
          </a:prstGeom>
        </p:spPr>
      </p:pic>
    </p:spTree>
    <p:extLst>
      <p:ext uri="{BB962C8B-B14F-4D97-AF65-F5344CB8AC3E}">
        <p14:creationId xmlns:p14="http://schemas.microsoft.com/office/powerpoint/2010/main" val="199913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535010" y="1729840"/>
            <a:ext cx="3916978" cy="3000223"/>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正交投影</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buClr>
                    <a:srgbClr val="94003F"/>
                  </a:buClr>
                </a:pPr>
                <a:r>
                  <a:rPr lang="zh-CN" altLang="en-US" sz="2400" dirty="0"/>
                  <a:t>正交投影原理</a:t>
                </a:r>
              </a:p>
              <a:p>
                <a:pPr lvl="1">
                  <a:buClr>
                    <a:schemeClr val="tx1"/>
                  </a:buClr>
                </a:pPr>
                <a:r>
                  <a:rPr lang="zh-CN" altLang="en-US" sz="1800" dirty="0"/>
                  <a:t>平行投影的特殊情况</a:t>
                </a:r>
                <a:endParaRPr lang="en-US" altLang="zh-CN" sz="1800" dirty="0"/>
              </a:p>
              <a:p>
                <a:pPr lvl="1">
                  <a:buClr>
                    <a:schemeClr val="tx1"/>
                  </a:buClr>
                </a:pPr>
                <a:r>
                  <a:rPr lang="zh-CN" altLang="en-US" sz="1800" dirty="0"/>
                  <a:t>投影方向与投影平面垂直</a:t>
                </a:r>
                <a:endParaRPr lang="en-US" altLang="zh-CN" sz="1800" dirty="0"/>
              </a:p>
              <a:p>
                <a:pPr lvl="1">
                  <a:buClr>
                    <a:schemeClr val="tx1"/>
                  </a:buClr>
                </a:pPr>
                <a:r>
                  <a:rPr lang="zh-CN" altLang="en-US" sz="1800" dirty="0"/>
                  <a:t>投影矩阵（投影平面为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=0</m:t>
                    </m:r>
                  </m:oMath>
                </a14:m>
                <a:r>
                  <a:rPr lang="zh-CN" altLang="en-US" sz="1800" dirty="0"/>
                  <a:t>）：</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r>
                  <a:rPr lang="zh-CN" altLang="en-US" sz="2400" dirty="0"/>
                  <a:t>特点：</a:t>
                </a:r>
              </a:p>
              <a:p>
                <a:pPr lvl="1">
                  <a:buClr>
                    <a:schemeClr val="tx1"/>
                  </a:buClr>
                </a:pPr>
                <a:r>
                  <a:rPr lang="zh-CN" altLang="en-US" sz="1800" dirty="0"/>
                  <a:t>保持</a:t>
                </a:r>
                <a:r>
                  <a:rPr lang="en-US" altLang="zh-CN" sz="1800" dirty="0"/>
                  <a:t>x</a:t>
                </a:r>
                <a:r>
                  <a:rPr lang="zh-CN" altLang="en-US" sz="1800" dirty="0"/>
                  <a:t>，</a:t>
                </a:r>
                <a:r>
                  <a:rPr lang="en-US" altLang="zh-CN" sz="1800" dirty="0"/>
                  <a:t>y</a:t>
                </a:r>
                <a:r>
                  <a:rPr lang="zh-CN" altLang="en-US" sz="1800" dirty="0"/>
                  <a:t>方向上尺寸不变</a:t>
                </a:r>
                <a:endParaRPr lang="en-US" altLang="zh-CN" sz="1800" dirty="0"/>
              </a:p>
              <a:p>
                <a:pPr lvl="1">
                  <a:buClr>
                    <a:schemeClr val="tx1"/>
                  </a:buClr>
                </a:pPr>
                <a:r>
                  <a:rPr lang="zh-CN" altLang="en-US" sz="1800" dirty="0"/>
                  <a:t>默认观察范围是以原点为中心，变长为</a:t>
                </a:r>
                <a:r>
                  <a:rPr lang="en-US" altLang="zh-CN" sz="1800" dirty="0"/>
                  <a:t>2</a:t>
                </a:r>
                <a:r>
                  <a:rPr lang="zh-CN" altLang="en-US" sz="1800" dirty="0"/>
                  <a:t>的立方体区域</a:t>
                </a:r>
                <a:endParaRPr lang="en-US" altLang="zh-CN" sz="1800" dirty="0"/>
              </a:p>
              <a:p>
                <a:pPr lvl="1">
                  <a:buClr>
                    <a:schemeClr val="tx1"/>
                  </a:buClr>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309" t="-1961" b="-84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pic>
        <p:nvPicPr>
          <p:cNvPr id="7" name="图片 6"/>
          <p:cNvPicPr>
            <a:picLocks noChangeAspect="1"/>
          </p:cNvPicPr>
          <p:nvPr/>
        </p:nvPicPr>
        <p:blipFill>
          <a:blip r:embed="rId4"/>
          <a:stretch>
            <a:fillRect/>
          </a:stretch>
        </p:blipFill>
        <p:spPr>
          <a:xfrm>
            <a:off x="1439792" y="2829260"/>
            <a:ext cx="2658679" cy="1644916"/>
          </a:xfrm>
          <a:prstGeom prst="rect">
            <a:avLst/>
          </a:prstGeom>
        </p:spPr>
      </p:pic>
    </p:spTree>
    <p:extLst>
      <p:ext uri="{BB962C8B-B14F-4D97-AF65-F5344CB8AC3E}">
        <p14:creationId xmlns:p14="http://schemas.microsoft.com/office/powerpoint/2010/main" val="1661888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a:t>OpenGL</a:t>
            </a:r>
            <a:r>
              <a:rPr lang="zh-CN" altLang="en-US" dirty="0"/>
              <a:t>中的正交投影</a:t>
            </a:r>
          </a:p>
        </p:txBody>
      </p:sp>
      <p:sp>
        <p:nvSpPr>
          <p:cNvPr id="3" name="内容占位符 2"/>
          <p:cNvSpPr>
            <a:spLocks noGrp="1"/>
          </p:cNvSpPr>
          <p:nvPr>
            <p:ph idx="1"/>
          </p:nvPr>
        </p:nvSpPr>
        <p:spPr/>
        <p:txBody>
          <a:bodyPr/>
          <a:lstStyle/>
          <a:p>
            <a:pPr>
              <a:buClr>
                <a:srgbClr val="94003F"/>
              </a:buClr>
            </a:pPr>
            <a:r>
              <a:rPr lang="zh-CN" altLang="en-US" sz="2400" dirty="0"/>
              <a:t>在</a:t>
            </a:r>
            <a:r>
              <a:rPr lang="en-US" altLang="zh-CN" sz="2400" dirty="0"/>
              <a:t>OpenGL</a:t>
            </a:r>
            <a:r>
              <a:rPr lang="zh-CN" altLang="en-US" sz="2400" dirty="0"/>
              <a:t>中采用下述函数指定正交投影：</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正交投影的视见体：</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pic>
        <p:nvPicPr>
          <p:cNvPr id="7" name="图片 6"/>
          <p:cNvPicPr>
            <a:picLocks noChangeAspect="1"/>
          </p:cNvPicPr>
          <p:nvPr/>
        </p:nvPicPr>
        <p:blipFill>
          <a:blip r:embed="rId2"/>
          <a:stretch>
            <a:fillRect/>
          </a:stretch>
        </p:blipFill>
        <p:spPr>
          <a:xfrm>
            <a:off x="2041758" y="3581311"/>
            <a:ext cx="4705685" cy="2911564"/>
          </a:xfrm>
          <a:prstGeom prst="rect">
            <a:avLst/>
          </a:prstGeom>
        </p:spPr>
      </p:pic>
      <p:sp>
        <p:nvSpPr>
          <p:cNvPr id="8" name="矩形 7"/>
          <p:cNvSpPr/>
          <p:nvPr/>
        </p:nvSpPr>
        <p:spPr>
          <a:xfrm>
            <a:off x="1029727" y="1892522"/>
            <a:ext cx="6459094" cy="646331"/>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Ortho(</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left,</a:t>
            </a:r>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right,</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bottom,</a:t>
            </a:r>
            <a:r>
              <a:rPr lang="en-US" altLang="zh-CN" b="1" dirty="0">
                <a:solidFill>
                  <a:srgbClr val="0000FF"/>
                </a:solidFill>
                <a:latin typeface="ZztexMono-Regular"/>
              </a:rPr>
              <a:t>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top,</a:t>
            </a:r>
            <a:r>
              <a:rPr lang="zh-CN" altLang="en-US"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near,</a:t>
            </a:r>
            <a:r>
              <a:rPr lang="en-US" altLang="zh-CN" dirty="0">
                <a:solidFill>
                  <a:srgbClr val="0000FF"/>
                </a:solidFill>
                <a:latin typeface="ZztexMono-Regular"/>
              </a:rPr>
              <a:t> </a:t>
            </a:r>
            <a:r>
              <a:rPr lang="zh-CN" altLang="en-US"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far)</a:t>
            </a:r>
            <a:endParaRPr lang="zh-CN" altLang="en-US" dirty="0"/>
          </a:p>
        </p:txBody>
      </p:sp>
    </p:spTree>
    <p:extLst>
      <p:ext uri="{BB962C8B-B14F-4D97-AF65-F5344CB8AC3E}">
        <p14:creationId xmlns:p14="http://schemas.microsoft.com/office/powerpoint/2010/main" val="532737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正交投影矩阵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endParaRPr lang="en-US" altLang="zh-CN" sz="2400" dirty="0"/>
              </a:p>
              <a:p>
                <a:r>
                  <a:rPr lang="zh-CN" altLang="en-US" sz="2400" dirty="0"/>
                  <a:t>正交矩阵的构造：</a:t>
                </a:r>
                <a:endParaRPr lang="en-US" altLang="zh-CN" sz="2400" dirty="0"/>
              </a:p>
              <a:p>
                <a:endParaRPr lang="en-US" altLang="zh-CN" sz="2400" dirty="0"/>
              </a:p>
              <a:p>
                <a:pPr lvl="1">
                  <a:buClr>
                    <a:schemeClr val="tx1"/>
                  </a:buClr>
                </a:pPr>
                <a:endParaRPr lang="en-US" altLang="zh-CN" sz="1800" dirty="0"/>
              </a:p>
              <a:p>
                <a:pPr lvl="1">
                  <a:buClr>
                    <a:schemeClr val="tx1"/>
                  </a:buClr>
                </a:pPr>
                <a:r>
                  <a:rPr lang="zh-CN" altLang="en-US" sz="1800" dirty="0"/>
                  <a:t>把中心移到原点，对应的变换为：</a:t>
                </a:r>
                <a:endParaRPr lang="en-US" altLang="zh-CN" sz="1800" dirty="0"/>
              </a:p>
              <a:p>
                <a:pPr marL="457200" lvl="1" indent="0">
                  <a:buClr>
                    <a:schemeClr val="tx1"/>
                  </a:buClr>
                  <a:buNone/>
                </a:pPr>
                <a14:m>
                  <m:oMathPara xmlns:m="http://schemas.openxmlformats.org/officeDocument/2006/math">
                    <m:oMathParaPr>
                      <m:jc m:val="left"/>
                    </m:oMathParaPr>
                    <m:oMath xmlns:m="http://schemas.openxmlformats.org/officeDocument/2006/math">
                      <m:r>
                        <a:rPr lang="en-US" altLang="zh-CN" sz="1800" b="1" i="1" dirty="0">
                          <a:latin typeface="Cambria Math" charset="0"/>
                        </a:rPr>
                        <m:t>	</m:t>
                      </m:r>
                      <m:r>
                        <a:rPr lang="en-US" altLang="zh-CN" sz="1800" b="1" i="1" dirty="0" smtClean="0">
                          <a:latin typeface="Cambria Math" charset="0"/>
                        </a:rPr>
                        <m:t>𝑻</m:t>
                      </m:r>
                      <m:r>
                        <a:rPr lang="en-US" altLang="zh-CN" sz="1800" i="1" dirty="0" smtClean="0">
                          <a:latin typeface="Cambria Math" charset="0"/>
                        </a:rPr>
                        <m:t>(−</m:t>
                      </m:r>
                      <m:f>
                        <m:fPr>
                          <m:ctrlPr>
                            <a:rPr lang="en-US" altLang="zh-CN" sz="1800" b="1" i="1" dirty="0" smtClean="0">
                              <a:latin typeface="Cambria Math" panose="02040503050406030204" pitchFamily="18" charset="0"/>
                            </a:rPr>
                          </m:ctrlPr>
                        </m:fPr>
                        <m:num>
                          <m:r>
                            <a:rPr lang="en-US" altLang="zh-CN" sz="1800" i="1" dirty="0" smtClean="0">
                              <a:latin typeface="Cambria Math" charset="0"/>
                            </a:rPr>
                            <m:t>𝑙𝑒𝑓𝑡</m:t>
                          </m:r>
                          <m:r>
                            <a:rPr lang="en-US" altLang="zh-CN" sz="1800" i="1" dirty="0" smtClean="0">
                              <a:latin typeface="Cambria Math" charset="0"/>
                            </a:rPr>
                            <m:t>+</m:t>
                          </m:r>
                          <m:r>
                            <a:rPr lang="en-US" altLang="zh-CN" sz="1800" i="1" dirty="0" smtClean="0">
                              <a:latin typeface="Cambria Math" charset="0"/>
                            </a:rPr>
                            <m:t>𝑟𝑖𝑔h𝑡</m:t>
                          </m:r>
                        </m:num>
                        <m:den>
                          <m:r>
                            <a:rPr lang="en-US" altLang="zh-CN" sz="1800" i="1" dirty="0" smtClean="0">
                              <a:latin typeface="Cambria Math" charset="0"/>
                            </a:rPr>
                            <m:t>2</m:t>
                          </m:r>
                        </m:den>
                      </m:f>
                      <m:r>
                        <a:rPr lang="en-US" altLang="zh-CN" sz="1800" i="1" dirty="0" smtClean="0">
                          <a:latin typeface="Cambria Math" charset="0"/>
                        </a:rPr>
                        <m:t>, −</m:t>
                      </m:r>
                      <m:f>
                        <m:fPr>
                          <m:ctrlPr>
                            <a:rPr lang="en-US" altLang="zh-CN" sz="1800" i="1" dirty="0" smtClean="0">
                              <a:latin typeface="Cambria Math" panose="02040503050406030204" pitchFamily="18" charset="0"/>
                            </a:rPr>
                          </m:ctrlPr>
                        </m:fPr>
                        <m:num>
                          <m:r>
                            <a:rPr lang="en-US" altLang="zh-CN" sz="1800" i="1" dirty="0" smtClean="0">
                              <a:latin typeface="Cambria Math" charset="0"/>
                            </a:rPr>
                            <m:t>𝑏𝑜𝑡𝑡𝑜𝑚</m:t>
                          </m:r>
                          <m:r>
                            <a:rPr lang="en-US" altLang="zh-CN" sz="1800" i="1" dirty="0" smtClean="0">
                              <a:latin typeface="Cambria Math" charset="0"/>
                            </a:rPr>
                            <m:t>+</m:t>
                          </m:r>
                          <m:r>
                            <a:rPr lang="en-US" altLang="zh-CN" sz="1800" i="1" dirty="0" smtClean="0">
                              <a:latin typeface="Cambria Math" charset="0"/>
                            </a:rPr>
                            <m:t>𝑡𝑜𝑝</m:t>
                          </m:r>
                        </m:num>
                        <m:den>
                          <m:r>
                            <a:rPr lang="en-US" altLang="zh-CN" sz="1800" i="1" dirty="0" smtClean="0">
                              <a:latin typeface="Cambria Math" charset="0"/>
                            </a:rPr>
                            <m:t>2</m:t>
                          </m:r>
                        </m:den>
                      </m:f>
                      <m:r>
                        <a:rPr lang="en-US" altLang="zh-CN" sz="1800" i="1" dirty="0" smtClean="0">
                          <a:latin typeface="Cambria Math" charset="0"/>
                        </a:rPr>
                        <m:t>,</m:t>
                      </m:r>
                      <m:f>
                        <m:fPr>
                          <m:ctrlPr>
                            <a:rPr lang="en-US" altLang="zh-CN" sz="1800" i="1" dirty="0" smtClean="0">
                              <a:latin typeface="Cambria Math" panose="02040503050406030204" pitchFamily="18" charset="0"/>
                            </a:rPr>
                          </m:ctrlPr>
                        </m:fPr>
                        <m:num>
                          <m:r>
                            <a:rPr lang="en-US" altLang="zh-CN" sz="1800" i="1" dirty="0" smtClean="0">
                              <a:latin typeface="Cambria Math" charset="0"/>
                            </a:rPr>
                            <m:t>𝑛𝑒𝑎𝑟</m:t>
                          </m:r>
                          <m:r>
                            <a:rPr lang="en-US" altLang="zh-CN" sz="1800" i="1" dirty="0" smtClean="0">
                              <a:latin typeface="Cambria Math" charset="0"/>
                            </a:rPr>
                            <m:t>+</m:t>
                          </m:r>
                          <m:r>
                            <a:rPr lang="en-US" altLang="zh-CN" sz="1800" i="1" dirty="0" smtClean="0">
                              <a:latin typeface="Cambria Math" charset="0"/>
                            </a:rPr>
                            <m:t>𝑓𝑎𝑟</m:t>
                          </m:r>
                        </m:num>
                        <m:den>
                          <m:r>
                            <a:rPr lang="en-US" altLang="zh-CN" sz="1800" i="1" dirty="0" smtClean="0">
                              <a:latin typeface="Cambria Math" charset="0"/>
                            </a:rPr>
                            <m:t>2</m:t>
                          </m:r>
                        </m:den>
                      </m:f>
                      <m:r>
                        <a:rPr lang="en-US" altLang="zh-CN" sz="1800" i="1" dirty="0" smtClean="0">
                          <a:latin typeface="Cambria Math" charset="0"/>
                        </a:rPr>
                        <m:t>)</m:t>
                      </m:r>
                    </m:oMath>
                  </m:oMathPara>
                </a14:m>
                <a:endParaRPr lang="en-US" altLang="zh-CN" sz="1800" dirty="0"/>
              </a:p>
              <a:p>
                <a:pPr lvl="1">
                  <a:buClr>
                    <a:schemeClr val="tx1"/>
                  </a:buClr>
                </a:pPr>
                <a:r>
                  <a:rPr lang="zh-CN" altLang="en-US" sz="1800" dirty="0"/>
                  <a:t>进行放缩从而使视见体的边长为</a:t>
                </a:r>
                <a:r>
                  <a:rPr lang="en-US" altLang="zh-CN" sz="1800" dirty="0"/>
                  <a:t>2</a:t>
                </a:r>
                <a:r>
                  <a:rPr lang="zh-CN" altLang="en-US" sz="1800" dirty="0"/>
                  <a:t>：</a:t>
                </a:r>
                <a:endParaRPr lang="en-US" altLang="zh-CN" sz="1800" dirty="0"/>
              </a:p>
              <a:p>
                <a:pPr marL="457200" lvl="1" indent="0">
                  <a:buClr>
                    <a:schemeClr val="tx1"/>
                  </a:buClr>
                  <a:buNone/>
                </a:pPr>
                <a:r>
                  <a:rPr lang="en-US" altLang="zh-CN" sz="1800" dirty="0"/>
                  <a:t> </a:t>
                </a:r>
                <a14:m>
                  <m:oMath xmlns:m="http://schemas.openxmlformats.org/officeDocument/2006/math">
                    <m:r>
                      <a:rPr lang="en-US" altLang="zh-CN" sz="1800" b="1" i="1" dirty="0">
                        <a:latin typeface="Cambria Math" charset="0"/>
                      </a:rPr>
                      <m:t>𝑺</m:t>
                    </m:r>
                    <m:d>
                      <m:dPr>
                        <m:ctrlPr>
                          <a:rPr lang="en-US" altLang="zh-CN" sz="1800" b="1" i="1" dirty="0">
                            <a:latin typeface="Cambria Math" panose="02040503050406030204" pitchFamily="18" charset="0"/>
                          </a:rPr>
                        </m:ctrlPr>
                      </m:dPr>
                      <m:e>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𝑟𝑖𝑔h𝑡</m:t>
                            </m:r>
                            <m:r>
                              <a:rPr lang="en-US" altLang="zh-CN" sz="1800" b="1" i="1" dirty="0">
                                <a:latin typeface="Cambria Math" charset="0"/>
                              </a:rPr>
                              <m:t>−</m:t>
                            </m:r>
                            <m:r>
                              <a:rPr lang="en-US" altLang="zh-CN" sz="1800" b="1" i="1" dirty="0">
                                <a:latin typeface="Cambria Math" charset="0"/>
                              </a:rPr>
                              <m:t>𝑙𝑒𝑓𝑡</m:t>
                            </m:r>
                          </m:den>
                        </m:f>
                        <m:r>
                          <a:rPr lang="en-US" altLang="zh-CN" sz="1800" b="1" i="1" dirty="0">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𝑡𝑜𝑝</m:t>
                            </m:r>
                            <m:r>
                              <a:rPr lang="en-US" altLang="zh-CN" sz="1800" b="1" i="1" dirty="0">
                                <a:latin typeface="Cambria Math" charset="0"/>
                              </a:rPr>
                              <m:t> − </m:t>
                            </m:r>
                            <m:r>
                              <a:rPr lang="en-US" altLang="zh-CN" sz="1800" b="1" i="1" dirty="0">
                                <a:latin typeface="Cambria Math" charset="0"/>
                              </a:rPr>
                              <m:t>𝑏𝑜𝑡𝑡𝑜𝑚</m:t>
                            </m:r>
                          </m:den>
                        </m:f>
                        <m:r>
                          <a:rPr lang="en-US" altLang="zh-CN" sz="1800" b="1" i="1" dirty="0">
                            <a:latin typeface="Cambria Math" charset="0"/>
                          </a:rPr>
                          <m:t>, </m:t>
                        </m:r>
                        <m:r>
                          <a:rPr lang="en-US" altLang="zh-CN" sz="1800" b="1" i="1" dirty="0" smtClean="0">
                            <a:solidFill>
                              <a:schemeClr val="tx1"/>
                            </a:solidFill>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𝑓𝑎𝑟</m:t>
                            </m:r>
                            <m:r>
                              <a:rPr lang="en-US" altLang="zh-CN" sz="1800" b="1" i="1" dirty="0">
                                <a:latin typeface="Cambria Math" charset="0"/>
                              </a:rPr>
                              <m:t>−</m:t>
                            </m:r>
                            <m:r>
                              <a:rPr lang="en-US" altLang="zh-CN" sz="1800" b="1" i="1" dirty="0">
                                <a:latin typeface="Cambria Math" charset="0"/>
                              </a:rPr>
                              <m:t>𝑛𝑒𝑎𝑟</m:t>
                            </m:r>
                          </m:den>
                        </m:f>
                      </m:e>
                    </m:d>
                  </m:oMath>
                </a14:m>
                <a:endParaRPr lang="en-US" altLang="zh-CN" sz="1800" b="1" i="1" dirty="0">
                  <a:latin typeface="Cambria Math" charset="0"/>
                </a:endParaRPr>
              </a:p>
              <a:p>
                <a:pPr marL="457200" lvl="1" indent="0">
                  <a:buClr>
                    <a:schemeClr val="tx1"/>
                  </a:buClr>
                  <a:buNone/>
                </a:pPr>
                <a:endParaRPr lang="en-US" altLang="zh-CN" sz="1800" dirty="0"/>
              </a:p>
              <a:p>
                <a:pPr lvl="1">
                  <a:buClr>
                    <a:schemeClr val="tx1"/>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a:p>
        </p:txBody>
      </p:sp>
      <p:sp>
        <p:nvSpPr>
          <p:cNvPr id="7" name="矩形 6"/>
          <p:cNvSpPr/>
          <p:nvPr/>
        </p:nvSpPr>
        <p:spPr>
          <a:xfrm>
            <a:off x="1002591" y="1197679"/>
            <a:ext cx="4941009" cy="369332"/>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N = Ortho</a:t>
            </a:r>
            <a:r>
              <a:rPr lang="en-US" altLang="zh-CN" dirty="0">
                <a:latin typeface="ZztexMono-Regular"/>
              </a:rPr>
              <a:t>(left, right, bottom, top, near, far);</a:t>
            </a:r>
            <a:endParaRPr lang="zh-CN" altLang="en-US" dirty="0"/>
          </a:p>
        </p:txBody>
      </p:sp>
      <p:pic>
        <p:nvPicPr>
          <p:cNvPr id="8" name="图片 7"/>
          <p:cNvPicPr>
            <a:picLocks noChangeAspect="1"/>
          </p:cNvPicPr>
          <p:nvPr/>
        </p:nvPicPr>
        <p:blipFill>
          <a:blip r:embed="rId3"/>
          <a:stretch>
            <a:fillRect/>
          </a:stretch>
        </p:blipFill>
        <p:spPr>
          <a:xfrm>
            <a:off x="4847232" y="1559098"/>
            <a:ext cx="3756025" cy="1392188"/>
          </a:xfrm>
          <a:prstGeom prst="rect">
            <a:avLst/>
          </a:prstGeom>
        </p:spPr>
      </p:pic>
      <p:pic>
        <p:nvPicPr>
          <p:cNvPr id="9" name="图片 8"/>
          <p:cNvPicPr>
            <a:picLocks noChangeAspect="1"/>
          </p:cNvPicPr>
          <p:nvPr/>
        </p:nvPicPr>
        <p:blipFill>
          <a:blip r:embed="rId4"/>
          <a:stretch>
            <a:fillRect/>
          </a:stretch>
        </p:blipFill>
        <p:spPr>
          <a:xfrm>
            <a:off x="5380389" y="3967246"/>
            <a:ext cx="3057929" cy="506441"/>
          </a:xfrm>
          <a:prstGeom prst="rect">
            <a:avLst/>
          </a:prstGeom>
        </p:spPr>
      </p:pic>
      <p:pic>
        <p:nvPicPr>
          <p:cNvPr id="10" name="图片 9"/>
          <p:cNvPicPr>
            <a:picLocks noChangeAspect="1"/>
          </p:cNvPicPr>
          <p:nvPr/>
        </p:nvPicPr>
        <p:blipFill>
          <a:blip r:embed="rId5"/>
          <a:stretch>
            <a:fillRect/>
          </a:stretch>
        </p:blipFill>
        <p:spPr>
          <a:xfrm>
            <a:off x="2040042" y="4896192"/>
            <a:ext cx="4798275" cy="1543954"/>
          </a:xfrm>
          <a:prstGeom prst="rect">
            <a:avLst/>
          </a:prstGeom>
        </p:spPr>
      </p:pic>
      <p:sp>
        <p:nvSpPr>
          <p:cNvPr id="5" name="Rectangle 4"/>
          <p:cNvSpPr/>
          <p:nvPr/>
        </p:nvSpPr>
        <p:spPr>
          <a:xfrm>
            <a:off x="4643233" y="5865620"/>
            <a:ext cx="203999" cy="129159"/>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60706" y="5865619"/>
            <a:ext cx="182894" cy="12916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723828" y="4186694"/>
            <a:ext cx="199585" cy="130124"/>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0308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隐藏面消除</a:t>
            </a:r>
          </a:p>
        </p:txBody>
      </p:sp>
      <p:sp>
        <p:nvSpPr>
          <p:cNvPr id="3" name="内容占位符 2"/>
          <p:cNvSpPr>
            <a:spLocks noGrp="1"/>
          </p:cNvSpPr>
          <p:nvPr>
            <p:ph idx="1"/>
          </p:nvPr>
        </p:nvSpPr>
        <p:spPr/>
        <p:txBody>
          <a:bodyPr>
            <a:normAutofit lnSpcReduction="10000"/>
          </a:bodyPr>
          <a:lstStyle/>
          <a:p>
            <a:r>
              <a:rPr lang="zh-CN" altLang="en-US" dirty="0"/>
              <a:t>仅绘制那些位于其它面前面的曲面或平面片</a:t>
            </a:r>
            <a:endParaRPr lang="en-US" altLang="zh-CN" sz="2400" dirty="0"/>
          </a:p>
          <a:p>
            <a:endParaRPr lang="en-US" altLang="zh-CN" sz="2400" dirty="0"/>
          </a:p>
          <a:p>
            <a:pPr marL="0" indent="0">
              <a:buNone/>
            </a:pPr>
            <a:endParaRPr lang="en-US" altLang="zh-CN" dirty="0"/>
          </a:p>
          <a:p>
            <a:r>
              <a:rPr lang="en-US" altLang="zh-CN" dirty="0"/>
              <a:t>OpenGL</a:t>
            </a:r>
            <a:r>
              <a:rPr lang="zh-CN" altLang="en-US" dirty="0"/>
              <a:t>采用称为</a:t>
            </a:r>
            <a:endParaRPr lang="en-US" altLang="zh-CN" dirty="0"/>
          </a:p>
          <a:p>
            <a:pPr marL="0" indent="0">
              <a:buNone/>
            </a:pPr>
            <a:r>
              <a:rPr lang="en-US" altLang="zh-CN" dirty="0"/>
              <a:t>   </a:t>
            </a:r>
            <a:r>
              <a:rPr lang="en-US" altLang="zh-CN" dirty="0">
                <a:solidFill>
                  <a:srgbClr val="00B050"/>
                </a:solidFill>
              </a:rPr>
              <a:t>z</a:t>
            </a:r>
            <a:r>
              <a:rPr lang="zh-CN" altLang="en-US" dirty="0">
                <a:solidFill>
                  <a:srgbClr val="00B050"/>
                </a:solidFill>
              </a:rPr>
              <a:t>缓冲区</a:t>
            </a:r>
            <a:r>
              <a:rPr lang="zh-CN" altLang="en-US" dirty="0"/>
              <a:t>的算法进行</a:t>
            </a:r>
            <a:endParaRPr lang="en-US" altLang="zh-CN" dirty="0"/>
          </a:p>
          <a:p>
            <a:pPr marL="0" indent="0">
              <a:buNone/>
            </a:pPr>
            <a:r>
              <a:rPr lang="en-US" altLang="zh-CN" dirty="0"/>
              <a:t>   </a:t>
            </a:r>
            <a:r>
              <a:rPr lang="zh-CN" altLang="en-US" dirty="0"/>
              <a:t>隐藏面消除，在</a:t>
            </a:r>
            <a:r>
              <a:rPr lang="en-US" altLang="zh-CN" dirty="0"/>
              <a:t>z</a:t>
            </a:r>
            <a:r>
              <a:rPr lang="zh-CN" altLang="en-US" dirty="0"/>
              <a:t>缓冲</a:t>
            </a:r>
            <a:endParaRPr lang="en-US" altLang="zh-CN" dirty="0"/>
          </a:p>
          <a:p>
            <a:pPr marL="0" indent="0">
              <a:buNone/>
            </a:pPr>
            <a:r>
              <a:rPr lang="en-US" altLang="zh-CN" dirty="0"/>
              <a:t>   </a:t>
            </a:r>
            <a:r>
              <a:rPr lang="zh-CN" altLang="en-US" dirty="0"/>
              <a:t>区中存贮着当前像素的</a:t>
            </a:r>
            <a:endParaRPr lang="en-US" altLang="zh-CN" dirty="0"/>
          </a:p>
          <a:p>
            <a:pPr marL="0" indent="0">
              <a:buNone/>
            </a:pPr>
            <a:r>
              <a:rPr lang="en-US" altLang="zh-CN" dirty="0"/>
              <a:t>   </a:t>
            </a:r>
            <a:r>
              <a:rPr lang="zh-CN" altLang="en-US" dirty="0"/>
              <a:t>深度信息，从而只有</a:t>
            </a:r>
            <a:endParaRPr lang="en-US" altLang="zh-CN" dirty="0"/>
          </a:p>
          <a:p>
            <a:pPr marL="0" indent="0">
              <a:buNone/>
            </a:pPr>
            <a:r>
              <a:rPr lang="zh-CN" altLang="en-US" dirty="0"/>
              <a:t>   前面的对象出现在图像中</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pic>
        <p:nvPicPr>
          <p:cNvPr id="5" name="图片 4"/>
          <p:cNvPicPr>
            <a:picLocks noChangeAspect="1"/>
          </p:cNvPicPr>
          <p:nvPr/>
        </p:nvPicPr>
        <p:blipFill>
          <a:blip r:embed="rId2"/>
          <a:stretch>
            <a:fillRect/>
          </a:stretch>
        </p:blipFill>
        <p:spPr>
          <a:xfrm>
            <a:off x="5248196" y="1892539"/>
            <a:ext cx="2793625" cy="2044290"/>
          </a:xfrm>
          <a:prstGeom prst="rect">
            <a:avLst/>
          </a:prstGeom>
        </p:spPr>
      </p:pic>
      <p:pic>
        <p:nvPicPr>
          <p:cNvPr id="6" name="图片 5"/>
          <p:cNvPicPr>
            <a:picLocks noChangeAspect="1"/>
          </p:cNvPicPr>
          <p:nvPr/>
        </p:nvPicPr>
        <p:blipFill>
          <a:blip r:embed="rId3"/>
          <a:stretch>
            <a:fillRect/>
          </a:stretch>
        </p:blipFill>
        <p:spPr>
          <a:xfrm>
            <a:off x="5468103" y="4104515"/>
            <a:ext cx="3222019" cy="2753485"/>
          </a:xfrm>
          <a:prstGeom prst="rect">
            <a:avLst/>
          </a:prstGeom>
        </p:spPr>
      </p:pic>
    </p:spTree>
    <p:extLst>
      <p:ext uri="{BB962C8B-B14F-4D97-AF65-F5344CB8AC3E}">
        <p14:creationId xmlns:p14="http://schemas.microsoft.com/office/powerpoint/2010/main" val="272128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隐藏面消除算法</a:t>
            </a:r>
          </a:p>
        </p:txBody>
      </p:sp>
      <p:sp>
        <p:nvSpPr>
          <p:cNvPr id="3" name="内容占位符 2"/>
          <p:cNvSpPr>
            <a:spLocks noGrp="1"/>
          </p:cNvSpPr>
          <p:nvPr>
            <p:ph idx="1"/>
          </p:nvPr>
        </p:nvSpPr>
        <p:spPr>
          <a:xfrm>
            <a:off x="628650" y="1316830"/>
            <a:ext cx="7886700" cy="5024009"/>
          </a:xfrm>
        </p:spPr>
        <p:txBody>
          <a:bodyPr>
            <a:normAutofit/>
          </a:bodyPr>
          <a:lstStyle/>
          <a:p>
            <a:r>
              <a:rPr lang="zh-CN" altLang="en-US" dirty="0"/>
              <a:t>算法分类</a:t>
            </a:r>
            <a:endParaRPr lang="en-US" altLang="zh-CN" dirty="0"/>
          </a:p>
          <a:p>
            <a:pPr lvl="1">
              <a:buClr>
                <a:schemeClr val="tx1"/>
              </a:buClr>
            </a:pPr>
            <a:r>
              <a:rPr lang="zh-CN" altLang="en-US" dirty="0"/>
              <a:t>对象空间算法</a:t>
            </a:r>
            <a:endParaRPr lang="en-US" altLang="zh-CN" dirty="0"/>
          </a:p>
          <a:p>
            <a:pPr lvl="1">
              <a:buClr>
                <a:schemeClr val="tx1"/>
              </a:buClr>
            </a:pPr>
            <a:r>
              <a:rPr lang="zh-CN" altLang="en-US" dirty="0"/>
              <a:t>图像空间算法</a:t>
            </a:r>
            <a:endParaRPr lang="en-US" altLang="zh-CN" dirty="0"/>
          </a:p>
          <a:p>
            <a:pPr marL="0" indent="0">
              <a:buNone/>
            </a:pPr>
            <a:endParaRPr lang="en-US" altLang="zh-CN" dirty="0"/>
          </a:p>
          <a:p>
            <a:pPr marL="0" indent="0">
              <a:buNone/>
            </a:pPr>
            <a:endParaRPr lang="en-US" altLang="zh-CN" dirty="0"/>
          </a:p>
          <a:p>
            <a:r>
              <a:rPr lang="en-US" altLang="zh-CN" dirty="0">
                <a:solidFill>
                  <a:srgbClr val="00B050"/>
                </a:solidFill>
              </a:rPr>
              <a:t>z</a:t>
            </a:r>
            <a:r>
              <a:rPr lang="zh-CN" altLang="en-US" dirty="0">
                <a:solidFill>
                  <a:srgbClr val="00B050"/>
                </a:solidFill>
              </a:rPr>
              <a:t>缓冲区</a:t>
            </a:r>
            <a:r>
              <a:rPr lang="zh-CN" altLang="en-US" dirty="0"/>
              <a:t>的算法</a:t>
            </a:r>
            <a:endParaRPr lang="en-US" altLang="zh-CN" dirty="0"/>
          </a:p>
          <a:p>
            <a:pPr lvl="1">
              <a:buClr>
                <a:schemeClr val="tx1"/>
              </a:buClr>
            </a:pPr>
            <a:r>
              <a:rPr lang="zh-CN" altLang="en-US" dirty="0"/>
              <a:t>该算法创建专门的缓冲区（称为</a:t>
            </a:r>
            <a:r>
              <a:rPr lang="en-US" altLang="zh-CN" dirty="0"/>
              <a:t>z</a:t>
            </a:r>
            <a:r>
              <a:rPr lang="zh-CN" altLang="en-US" dirty="0"/>
              <a:t>缓冲区）</a:t>
            </a:r>
            <a:endParaRPr lang="en-US" altLang="zh-CN" dirty="0"/>
          </a:p>
          <a:p>
            <a:pPr lvl="1">
              <a:buClr>
                <a:schemeClr val="tx1"/>
              </a:buClr>
            </a:pPr>
            <a:r>
              <a:rPr lang="zh-CN" altLang="en-US" dirty="0"/>
              <a:t>当几何体经过流水线各步骤时，存贮着该几何体的深度信息</a:t>
            </a:r>
            <a:endParaRPr lang="en-US" altLang="zh-CN" dirty="0"/>
          </a:p>
          <a:p>
            <a:pPr marL="457200" lvl="1" indent="0">
              <a:buClr>
                <a:schemeClr val="tx1"/>
              </a:buClr>
              <a:buNone/>
            </a:pPr>
            <a:r>
              <a:rPr lang="zh-CN" altLang="en-US" dirty="0"/>
              <a:t>   </a:t>
            </a:r>
            <a:endParaRPr lang="zh-CN" altLang="en-US" b="1"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a:p>
        </p:txBody>
      </p:sp>
      <p:pic>
        <p:nvPicPr>
          <p:cNvPr id="6" name="图片 5"/>
          <p:cNvPicPr>
            <a:picLocks noChangeAspect="1"/>
          </p:cNvPicPr>
          <p:nvPr/>
        </p:nvPicPr>
        <p:blipFill>
          <a:blip r:embed="rId2"/>
          <a:stretch>
            <a:fillRect/>
          </a:stretch>
        </p:blipFill>
        <p:spPr>
          <a:xfrm>
            <a:off x="5004800" y="875426"/>
            <a:ext cx="3222019" cy="2753485"/>
          </a:xfrm>
          <a:prstGeom prst="rect">
            <a:avLst/>
          </a:prstGeom>
        </p:spPr>
      </p:pic>
    </p:spTree>
    <p:extLst>
      <p:ext uri="{BB962C8B-B14F-4D97-AF65-F5344CB8AC3E}">
        <p14:creationId xmlns:p14="http://schemas.microsoft.com/office/powerpoint/2010/main" val="1664056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en-US" altLang="zh-CN" dirty="0"/>
              <a:t>-</a:t>
            </a:r>
            <a:r>
              <a:rPr lang="zh-CN" altLang="en-US" dirty="0"/>
              <a:t> 隐藏面消除算法</a:t>
            </a:r>
            <a:endParaRPr lang="en-US" dirty="0"/>
          </a:p>
        </p:txBody>
      </p:sp>
      <p:sp>
        <p:nvSpPr>
          <p:cNvPr id="3" name="Content Placeholder 2"/>
          <p:cNvSpPr>
            <a:spLocks noGrp="1"/>
          </p:cNvSpPr>
          <p:nvPr>
            <p:ph idx="1"/>
          </p:nvPr>
        </p:nvSpPr>
        <p:spPr>
          <a:xfrm>
            <a:off x="628650" y="1316831"/>
            <a:ext cx="8515350" cy="4351338"/>
          </a:xfrm>
        </p:spPr>
        <p:txBody>
          <a:bodyPr/>
          <a:lstStyle/>
          <a:p>
            <a:r>
              <a:rPr lang="zh-CN" altLang="en-US" dirty="0"/>
              <a:t>启用该算法的要素</a:t>
            </a:r>
          </a:p>
          <a:p>
            <a:pPr lvl="1">
              <a:buClr>
                <a:schemeClr val="tx1"/>
              </a:buClr>
            </a:pPr>
            <a:r>
              <a:rPr lang="zh-CN" altLang="en-US" dirty="0"/>
              <a:t>在</a:t>
            </a:r>
            <a:r>
              <a:rPr lang="en-US" altLang="zh-CN" dirty="0" err="1"/>
              <a:t>init</a:t>
            </a:r>
            <a:r>
              <a:rPr lang="en-US" altLang="zh-CN" dirty="0"/>
              <a:t>()</a:t>
            </a:r>
            <a:r>
              <a:rPr lang="zh-CN" altLang="en-US" dirty="0"/>
              <a:t>中激活</a:t>
            </a:r>
            <a:r>
              <a:rPr lang="en-US" altLang="zh-CN" dirty="0"/>
              <a:t>Z-Buffer</a:t>
            </a:r>
            <a:r>
              <a:rPr lang="zh-CN" altLang="en-US" dirty="0"/>
              <a:t>隐藏面消除算法</a:t>
            </a:r>
          </a:p>
          <a:p>
            <a:pPr marL="457200" lvl="1" indent="0">
              <a:buClr>
                <a:schemeClr val="tx1"/>
              </a:buClr>
              <a:buNone/>
            </a:pPr>
            <a:r>
              <a:rPr lang="en-US" altLang="zh-CN" dirty="0"/>
              <a:t>    </a:t>
            </a:r>
            <a:r>
              <a:rPr lang="en-US" altLang="zh-CN" dirty="0" err="1"/>
              <a:t>glEnable</a:t>
            </a:r>
            <a:r>
              <a:rPr lang="en-US" altLang="zh-CN" dirty="0"/>
              <a:t>(GL_DEPTH_TEST);</a:t>
            </a:r>
          </a:p>
          <a:p>
            <a:pPr lvl="1">
              <a:buClr>
                <a:schemeClr val="tx1"/>
              </a:buClr>
            </a:pPr>
            <a:r>
              <a:rPr lang="zh-CN" altLang="en-US" dirty="0"/>
              <a:t>在显示回调函数中清空深度缓冲区</a:t>
            </a:r>
          </a:p>
          <a:p>
            <a:pPr marL="457200" lvl="1" indent="0">
              <a:buClr>
                <a:schemeClr val="tx1"/>
              </a:buClr>
              <a:buNone/>
            </a:pPr>
            <a:r>
              <a:rPr lang="en-US" altLang="zh-CN" dirty="0"/>
              <a:t>    </a:t>
            </a:r>
            <a:r>
              <a:rPr lang="en-US" altLang="zh-CN" dirty="0" err="1"/>
              <a:t>glClear</a:t>
            </a:r>
            <a:r>
              <a:rPr lang="en-US" altLang="zh-CN" dirty="0"/>
              <a:t>(GL_COLOR_BUFFER_BIT|GL_DEPTH_BUFFER_BIT);</a:t>
            </a:r>
            <a:endParaRPr lang="zh-CN" alt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12</a:t>
            </a:fld>
            <a:endParaRPr lang="zh-CN" altLang="en-US" dirty="0"/>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6"/>
          <p:cNvSpPr/>
          <p:nvPr/>
        </p:nvSpPr>
        <p:spPr>
          <a:xfrm>
            <a:off x="1476182" y="5038209"/>
            <a:ext cx="1134262" cy="369332"/>
          </a:xfrm>
          <a:prstGeom prst="rect">
            <a:avLst/>
          </a:prstGeom>
        </p:spPr>
        <p:txBody>
          <a:bodyPr wrap="square">
            <a:spAutoFit/>
          </a:bodyPr>
          <a:lstStyle/>
          <a:p>
            <a:r>
              <a:rPr lang="zh-CN" altLang="en-US" b="1" dirty="0"/>
              <a:t>实验 </a:t>
            </a:r>
            <a:r>
              <a:rPr lang="en-US" altLang="zh-CN" b="1" dirty="0"/>
              <a:t>2.2:</a:t>
            </a:r>
          </a:p>
        </p:txBody>
      </p:sp>
      <p:pic>
        <p:nvPicPr>
          <p:cNvPr id="9" name="Picture 8">
            <a:extLst>
              <a:ext uri="{FF2B5EF4-FFF2-40B4-BE49-F238E27FC236}">
                <a16:creationId xmlns:a16="http://schemas.microsoft.com/office/drawing/2014/main" id="{F971CA51-7701-E84B-86A9-17E77CE9AD13}"/>
              </a:ext>
            </a:extLst>
          </p:cNvPr>
          <p:cNvPicPr>
            <a:picLocks noChangeAspect="1"/>
          </p:cNvPicPr>
          <p:nvPr/>
        </p:nvPicPr>
        <p:blipFill>
          <a:blip r:embed="rId2"/>
          <a:stretch>
            <a:fillRect/>
          </a:stretch>
        </p:blipFill>
        <p:spPr>
          <a:xfrm>
            <a:off x="3062695" y="3898689"/>
            <a:ext cx="2520981" cy="2648371"/>
          </a:xfrm>
          <a:prstGeom prst="rect">
            <a:avLst/>
          </a:prstGeom>
        </p:spPr>
      </p:pic>
      <p:pic>
        <p:nvPicPr>
          <p:cNvPr id="10" name="Picture 9">
            <a:extLst>
              <a:ext uri="{FF2B5EF4-FFF2-40B4-BE49-F238E27FC236}">
                <a16:creationId xmlns:a16="http://schemas.microsoft.com/office/drawing/2014/main" id="{3FA80269-F079-F24A-AFD6-B357AAB77251}"/>
              </a:ext>
            </a:extLst>
          </p:cNvPr>
          <p:cNvPicPr>
            <a:picLocks noChangeAspect="1"/>
          </p:cNvPicPr>
          <p:nvPr/>
        </p:nvPicPr>
        <p:blipFill>
          <a:blip r:embed="rId3"/>
          <a:stretch>
            <a:fillRect/>
          </a:stretch>
        </p:blipFill>
        <p:spPr>
          <a:xfrm>
            <a:off x="5833415" y="3877681"/>
            <a:ext cx="2522645" cy="2650119"/>
          </a:xfrm>
          <a:prstGeom prst="rect">
            <a:avLst/>
          </a:prstGeom>
        </p:spPr>
      </p:pic>
    </p:spTree>
    <p:extLst>
      <p:ext uri="{BB962C8B-B14F-4D97-AF65-F5344CB8AC3E}">
        <p14:creationId xmlns:p14="http://schemas.microsoft.com/office/powerpoint/2010/main" val="744243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97869" y="2589750"/>
            <a:ext cx="6599652" cy="1780997"/>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简单透视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透视投影的概念</a:t>
                </a:r>
                <a:endParaRPr lang="en-US" altLang="zh-CN" sz="2400" dirty="0"/>
              </a:p>
              <a:p>
                <a:pPr lvl="1">
                  <a:buClr>
                    <a:schemeClr val="tx1"/>
                  </a:buClr>
                </a:pPr>
                <a:r>
                  <a:rPr lang="zh-CN" altLang="en-US" sz="1800" dirty="0"/>
                  <a:t>投影中心在原点</a:t>
                </a:r>
                <a:endParaRPr lang="en-US" altLang="zh-CN" sz="1800" dirty="0"/>
              </a:p>
              <a:p>
                <a:pPr lvl="1">
                  <a:buClr>
                    <a:schemeClr val="tx1"/>
                  </a:buClr>
                </a:pPr>
                <a:r>
                  <a:rPr lang="zh-CN" altLang="en-US" sz="1800" dirty="0"/>
                  <a:t>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m:t>
                    </m:r>
                    <m:r>
                      <a:rPr lang="en-US" altLang="zh-CN" sz="1800" i="1" dirty="0" smtClean="0">
                        <a:latin typeface="Cambria Math" charset="0"/>
                      </a:rPr>
                      <m:t>𝑑</m:t>
                    </m:r>
                    <m:r>
                      <a:rPr lang="en-US" altLang="zh-CN" sz="1800" i="1" dirty="0" smtClean="0">
                        <a:latin typeface="Cambria Math" charset="0"/>
                      </a:rPr>
                      <m:t>, </m:t>
                    </m:r>
                    <m:r>
                      <a:rPr lang="en-US" altLang="zh-CN" sz="1800" i="1" dirty="0" smtClean="0">
                        <a:latin typeface="Cambria Math" charset="0"/>
                      </a:rPr>
                      <m:t>𝑑</m:t>
                    </m:r>
                    <m:r>
                      <a:rPr lang="en-US" altLang="zh-CN" sz="1800" i="1" dirty="0" smtClean="0">
                        <a:latin typeface="Cambria Math" charset="0"/>
                      </a:rPr>
                      <m:t>&lt;0</m:t>
                    </m:r>
                  </m:oMath>
                </a14:m>
                <a:endParaRPr lang="en-US" altLang="zh-CN" sz="1800" dirty="0"/>
              </a:p>
              <a:p>
                <a:pPr lvl="1">
                  <a:buClr>
                    <a:schemeClr val="tx1"/>
                  </a:buClr>
                </a:pPr>
                <a:r>
                  <a:rPr lang="zh-CN" altLang="en-US" sz="1800" dirty="0"/>
                  <a:t>近大远小</a:t>
                </a: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r>
                  <a:rPr lang="zh-CN" altLang="en-US" sz="2400" dirty="0"/>
                  <a:t>透视方程：</a:t>
                </a:r>
                <a:endParaRPr lang="en-US" altLang="zh-CN"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pic>
        <p:nvPicPr>
          <p:cNvPr id="14" name="图片 13"/>
          <p:cNvPicPr>
            <a:picLocks noChangeAspect="1"/>
          </p:cNvPicPr>
          <p:nvPr/>
        </p:nvPicPr>
        <p:blipFill>
          <a:blip r:embed="rId4"/>
          <a:stretch>
            <a:fillRect/>
          </a:stretch>
        </p:blipFill>
        <p:spPr>
          <a:xfrm>
            <a:off x="1592948" y="5010661"/>
            <a:ext cx="1284362" cy="1679578"/>
          </a:xfrm>
          <a:prstGeom prst="rect">
            <a:avLst/>
          </a:prstGeom>
        </p:spPr>
      </p:pic>
      <p:pic>
        <p:nvPicPr>
          <p:cNvPr id="15" name="图片 14"/>
          <p:cNvPicPr>
            <a:picLocks noChangeAspect="1"/>
          </p:cNvPicPr>
          <p:nvPr/>
        </p:nvPicPr>
        <p:blipFill>
          <a:blip r:embed="rId5"/>
          <a:stretch>
            <a:fillRect/>
          </a:stretch>
        </p:blipFill>
        <p:spPr>
          <a:xfrm>
            <a:off x="3419988" y="4986851"/>
            <a:ext cx="3975600" cy="1623945"/>
          </a:xfrm>
          <a:prstGeom prst="rect">
            <a:avLst/>
          </a:prstGeom>
        </p:spPr>
      </p:pic>
      <p:sp>
        <p:nvSpPr>
          <p:cNvPr id="16" name="文本框 15"/>
          <p:cNvSpPr txBox="1"/>
          <p:nvPr/>
        </p:nvSpPr>
        <p:spPr>
          <a:xfrm>
            <a:off x="5121773" y="4617519"/>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齐次坐标表达</a:t>
            </a:r>
          </a:p>
        </p:txBody>
      </p:sp>
      <p:sp>
        <p:nvSpPr>
          <p:cNvPr id="9" name="Rectangle 8"/>
          <p:cNvSpPr/>
          <p:nvPr/>
        </p:nvSpPr>
        <p:spPr>
          <a:xfrm>
            <a:off x="6962184" y="6335084"/>
            <a:ext cx="342383" cy="21065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2999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透视除法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如果</a:t>
                </a:r>
                <a14:m>
                  <m:oMath xmlns:m="http://schemas.openxmlformats.org/officeDocument/2006/math">
                    <m:r>
                      <a:rPr lang="en-US" altLang="zh-CN" sz="2400" i="1" dirty="0" smtClean="0">
                        <a:latin typeface="Cambria Math" charset="0"/>
                      </a:rPr>
                      <m:t>𝑤</m:t>
                    </m:r>
                    <m:r>
                      <a:rPr lang="en-US" altLang="zh-CN" sz="2400" i="1" dirty="0" smtClean="0">
                        <a:latin typeface="Cambria Math" charset="0"/>
                      </a:rPr>
                      <m:t>≠1</m:t>
                    </m:r>
                  </m:oMath>
                </a14:m>
                <a:r>
                  <a:rPr lang="en-US" altLang="zh-CN" sz="2400" dirty="0"/>
                  <a:t>, </a:t>
                </a:r>
                <a:r>
                  <a:rPr lang="zh-CN" altLang="en-US" sz="2400" dirty="0"/>
                  <a:t>那么必须从齐次坐标中除以</a:t>
                </a:r>
                <a14:m>
                  <m:oMath xmlns:m="http://schemas.openxmlformats.org/officeDocument/2006/math">
                    <m:r>
                      <a:rPr lang="en-US" altLang="zh-CN" sz="2400" i="1" dirty="0" smtClean="0">
                        <a:latin typeface="Cambria Math" charset="0"/>
                      </a:rPr>
                      <m:t>𝑤</m:t>
                    </m:r>
                  </m:oMath>
                </a14:m>
                <a:r>
                  <a:rPr lang="zh-CN" altLang="en-US" sz="2400" dirty="0"/>
                  <a:t>而得到所表示</a:t>
                </a:r>
                <a:endParaRPr lang="en-US" altLang="zh-CN" sz="2400" dirty="0"/>
              </a:p>
              <a:p>
                <a:pPr marL="0" indent="0">
                  <a:buNone/>
                </a:pPr>
                <a:r>
                  <a:rPr lang="en-US" altLang="zh-CN" sz="2400" dirty="0"/>
                  <a:t>    </a:t>
                </a:r>
                <a:r>
                  <a:rPr lang="zh-CN" altLang="en-US" sz="2400" dirty="0"/>
                  <a:t>的点，这就是</a:t>
                </a:r>
                <a:r>
                  <a:rPr lang="zh-CN" altLang="en-US" sz="2400" dirty="0">
                    <a:solidFill>
                      <a:srgbClr val="0000FF"/>
                    </a:solidFill>
                  </a:rPr>
                  <a:t>透视除法</a:t>
                </a:r>
                <a:endParaRPr lang="zh-CN" altLang="en-US"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54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pic>
        <p:nvPicPr>
          <p:cNvPr id="6" name="图片 5"/>
          <p:cNvPicPr>
            <a:picLocks noChangeAspect="1"/>
          </p:cNvPicPr>
          <p:nvPr/>
        </p:nvPicPr>
        <p:blipFill>
          <a:blip r:embed="rId3"/>
          <a:stretch>
            <a:fillRect/>
          </a:stretch>
        </p:blipFill>
        <p:spPr>
          <a:xfrm>
            <a:off x="746159" y="2593612"/>
            <a:ext cx="7940701" cy="963533"/>
          </a:xfrm>
          <a:prstGeom prst="rect">
            <a:avLst/>
          </a:prstGeom>
        </p:spPr>
      </p:pic>
      <p:pic>
        <p:nvPicPr>
          <p:cNvPr id="8" name="图片 7"/>
          <p:cNvPicPr>
            <a:picLocks noChangeAspect="1"/>
          </p:cNvPicPr>
          <p:nvPr/>
        </p:nvPicPr>
        <p:blipFill>
          <a:blip r:embed="rId4"/>
          <a:stretch>
            <a:fillRect/>
          </a:stretch>
        </p:blipFill>
        <p:spPr>
          <a:xfrm>
            <a:off x="1561941" y="4046957"/>
            <a:ext cx="2095658" cy="2280860"/>
          </a:xfrm>
          <a:prstGeom prst="rect">
            <a:avLst/>
          </a:prstGeom>
        </p:spPr>
      </p:pic>
      <p:pic>
        <p:nvPicPr>
          <p:cNvPr id="9" name="图片 8"/>
          <p:cNvPicPr>
            <a:picLocks noChangeAspect="1"/>
          </p:cNvPicPr>
          <p:nvPr/>
        </p:nvPicPr>
        <p:blipFill>
          <a:blip r:embed="rId5"/>
          <a:stretch>
            <a:fillRect/>
          </a:stretch>
        </p:blipFill>
        <p:spPr>
          <a:xfrm>
            <a:off x="5395078" y="3969498"/>
            <a:ext cx="2274450" cy="2435778"/>
          </a:xfrm>
          <a:prstGeom prst="rect">
            <a:avLst/>
          </a:prstGeom>
        </p:spPr>
      </p:pic>
      <p:sp>
        <p:nvSpPr>
          <p:cNvPr id="10" name="箭头: 右 9"/>
          <p:cNvSpPr/>
          <p:nvPr/>
        </p:nvSpPr>
        <p:spPr>
          <a:xfrm>
            <a:off x="4327451" y="4986670"/>
            <a:ext cx="529223" cy="475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3502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390127" y="3533666"/>
            <a:ext cx="5219828" cy="3141771"/>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a:t>OpenGL</a:t>
            </a:r>
            <a:r>
              <a:rPr lang="zh-CN" altLang="en-US" dirty="0"/>
              <a:t>的透视投影</a:t>
            </a:r>
          </a:p>
        </p:txBody>
      </p:sp>
      <p:sp>
        <p:nvSpPr>
          <p:cNvPr id="3" name="内容占位符 2"/>
          <p:cNvSpPr>
            <a:spLocks noGrp="1"/>
          </p:cNvSpPr>
          <p:nvPr>
            <p:ph idx="1"/>
          </p:nvPr>
        </p:nvSpPr>
        <p:spPr/>
        <p:txBody>
          <a:bodyPr>
            <a:normAutofit/>
          </a:bodyPr>
          <a:lstStyle/>
          <a:p>
            <a:r>
              <a:rPr lang="zh-CN" altLang="en-US" dirty="0"/>
              <a:t>可视范围</a:t>
            </a:r>
            <a:endParaRPr lang="en-US" altLang="zh-CN" sz="2400" dirty="0"/>
          </a:p>
          <a:p>
            <a:pPr lvl="1">
              <a:buClr>
                <a:schemeClr val="tx1"/>
              </a:buClr>
            </a:pPr>
            <a:r>
              <a:rPr lang="zh-CN" altLang="en-US" sz="1800" dirty="0"/>
              <a:t>只有位于视角内的对象才会出</a:t>
            </a:r>
          </a:p>
          <a:p>
            <a:pPr marL="457200" lvl="1" indent="0">
              <a:buClr>
                <a:schemeClr val="tx1"/>
              </a:buClr>
              <a:buNone/>
            </a:pPr>
            <a:r>
              <a:rPr lang="zh-CN" altLang="en-US" sz="1800" dirty="0"/>
              <a:t>   现在视图中</a:t>
            </a:r>
            <a:endParaRPr lang="en-US" altLang="zh-CN" dirty="0"/>
          </a:p>
          <a:p>
            <a:endParaRPr lang="en-US" altLang="zh-CN" sz="3000" dirty="0"/>
          </a:p>
          <a:p>
            <a:r>
              <a:rPr lang="zh-CN" altLang="en-US" dirty="0"/>
              <a:t>视见体</a:t>
            </a:r>
            <a:endParaRPr lang="en-US" altLang="zh-CN" dirty="0"/>
          </a:p>
          <a:p>
            <a:pPr lvl="1">
              <a:buClr>
                <a:schemeClr val="tx1"/>
              </a:buClr>
            </a:pPr>
            <a:r>
              <a:rPr lang="zh-CN" altLang="en-US" sz="1800" dirty="0"/>
              <a:t>若胶卷是矩形的，那么由视角张成</a:t>
            </a:r>
            <a:endParaRPr lang="en-US" altLang="zh-CN" sz="1800" dirty="0"/>
          </a:p>
          <a:p>
            <a:pPr marL="457200" lvl="1" indent="0">
              <a:buClr>
                <a:schemeClr val="tx1"/>
              </a:buClr>
              <a:buNone/>
            </a:pPr>
            <a:r>
              <a:rPr lang="zh-CN" altLang="en-US" sz="1800" dirty="0"/>
              <a:t>    一个半无穷的棱台，这称为视见体</a:t>
            </a:r>
          </a:p>
          <a:p>
            <a:pPr lvl="1">
              <a:buClr>
                <a:schemeClr val="tx1"/>
              </a:buClr>
            </a:pPr>
            <a:r>
              <a:rPr lang="zh-CN" altLang="en-US" sz="1800" dirty="0"/>
              <a:t>其顶点就是</a:t>
            </a:r>
            <a:r>
              <a:rPr lang="en-US" altLang="zh-CN" sz="1800" dirty="0"/>
              <a:t>COP</a:t>
            </a:r>
          </a:p>
          <a:p>
            <a:pPr lvl="1">
              <a:buClr>
                <a:schemeClr val="tx1"/>
              </a:buClr>
            </a:pPr>
            <a:r>
              <a:rPr lang="zh-CN" altLang="en-US" sz="1800" dirty="0"/>
              <a:t>但实际的视景体通常有前后裁剪面</a:t>
            </a:r>
          </a:p>
          <a:p>
            <a:pPr lvl="1">
              <a:buClr>
                <a:schemeClr val="tx1"/>
              </a:buClr>
            </a:pPr>
            <a:r>
              <a:rPr lang="zh-CN" altLang="en-US" sz="1800" dirty="0"/>
              <a:t>不在视景体内的物体被裁剪掉</a:t>
            </a:r>
            <a:endParaRPr lang="en-US" altLang="zh-CN" dirty="0"/>
          </a:p>
          <a:p>
            <a:pPr lvl="1">
              <a:buClr>
                <a:schemeClr val="tx1"/>
              </a:buClr>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5" name="图片 4"/>
          <p:cNvPicPr>
            <a:picLocks noChangeAspect="1"/>
          </p:cNvPicPr>
          <p:nvPr/>
        </p:nvPicPr>
        <p:blipFill>
          <a:blip r:embed="rId3"/>
          <a:stretch>
            <a:fillRect/>
          </a:stretch>
        </p:blipFill>
        <p:spPr>
          <a:xfrm>
            <a:off x="5379883" y="628650"/>
            <a:ext cx="3230072" cy="2877273"/>
          </a:xfrm>
          <a:prstGeom prst="rect">
            <a:avLst/>
          </a:prstGeom>
        </p:spPr>
      </p:pic>
    </p:spTree>
    <p:extLst>
      <p:ext uri="{BB962C8B-B14F-4D97-AF65-F5344CB8AC3E}">
        <p14:creationId xmlns:p14="http://schemas.microsoft.com/office/powerpoint/2010/main" val="3171541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368921" y="905208"/>
            <a:ext cx="4775079" cy="2567054"/>
          </a:xfrm>
          <a:prstGeom prst="rect">
            <a:avLst/>
          </a:prstGeom>
        </p:spPr>
      </p:pic>
      <p:pic>
        <p:nvPicPr>
          <p:cNvPr id="8" name="图片 7"/>
          <p:cNvPicPr>
            <a:picLocks noChangeAspect="1"/>
          </p:cNvPicPr>
          <p:nvPr/>
        </p:nvPicPr>
        <p:blipFill>
          <a:blip r:embed="rId3"/>
          <a:stretch>
            <a:fillRect/>
          </a:stretch>
        </p:blipFill>
        <p:spPr>
          <a:xfrm>
            <a:off x="4186981" y="3434628"/>
            <a:ext cx="4171455" cy="3181546"/>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a:t>OpenGL</a:t>
            </a:r>
            <a:r>
              <a:rPr lang="zh-CN" altLang="en-US" dirty="0"/>
              <a:t>的透视投影函数</a:t>
            </a:r>
          </a:p>
        </p:txBody>
      </p:sp>
      <p:sp>
        <p:nvSpPr>
          <p:cNvPr id="3" name="内容占位符 2"/>
          <p:cNvSpPr>
            <a:spLocks noGrp="1"/>
          </p:cNvSpPr>
          <p:nvPr>
            <p:ph idx="1"/>
          </p:nvPr>
        </p:nvSpPr>
        <p:spPr/>
        <p:txBody>
          <a:bodyPr>
            <a:normAutofit/>
          </a:bodyPr>
          <a:lstStyle/>
          <a:p>
            <a:r>
              <a:rPr lang="zh-CN" altLang="en-US" dirty="0"/>
              <a:t>视见体函数</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透视函数：</a:t>
            </a:r>
            <a:r>
              <a:rPr lang="en-US" altLang="zh-CN" dirty="0"/>
              <a:t>  </a:t>
            </a:r>
          </a:p>
          <a:p>
            <a:endParaRPr lang="en-US" altLang="zh-CN" dirty="0"/>
          </a:p>
          <a:p>
            <a:pPr marL="457200" lvl="1" indent="0">
              <a:buClr>
                <a:schemeClr val="tx1"/>
              </a:buClr>
              <a:buNone/>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sp>
        <p:nvSpPr>
          <p:cNvPr id="5" name="矩形 4"/>
          <p:cNvSpPr/>
          <p:nvPr/>
        </p:nvSpPr>
        <p:spPr>
          <a:xfrm>
            <a:off x="764750" y="1934757"/>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7" name="矩形 6"/>
          <p:cNvSpPr/>
          <p:nvPr/>
        </p:nvSpPr>
        <p:spPr>
          <a:xfrm>
            <a:off x="764750" y="4941842"/>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Tree>
    <p:extLst>
      <p:ext uri="{BB962C8B-B14F-4D97-AF65-F5344CB8AC3E}">
        <p14:creationId xmlns:p14="http://schemas.microsoft.com/office/powerpoint/2010/main" val="3140251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a:t>OpenGL</a:t>
            </a:r>
            <a:r>
              <a:rPr lang="zh-CN" altLang="en-US" dirty="0"/>
              <a:t>的透视变换</a:t>
            </a:r>
          </a:p>
        </p:txBody>
      </p:sp>
      <p:sp>
        <p:nvSpPr>
          <p:cNvPr id="3" name="内容占位符 2"/>
          <p:cNvSpPr>
            <a:spLocks noGrp="1"/>
          </p:cNvSpPr>
          <p:nvPr>
            <p:ph idx="1"/>
          </p:nvPr>
        </p:nvSpPr>
        <p:spPr/>
        <p:txBody>
          <a:bodyPr/>
          <a:lstStyle/>
          <a:p>
            <a:pPr>
              <a:buClr>
                <a:srgbClr val="94003F"/>
              </a:buClr>
            </a:pPr>
            <a:r>
              <a:rPr lang="zh-CN" altLang="en-US" dirty="0"/>
              <a:t>视见体函数的矩阵</a:t>
            </a:r>
            <a:r>
              <a:rPr lang="en-US" altLang="zh-CN" dirty="0"/>
              <a:t>?</a:t>
            </a:r>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sp>
        <p:nvSpPr>
          <p:cNvPr id="24" name="矩形 23"/>
          <p:cNvSpPr/>
          <p:nvPr/>
        </p:nvSpPr>
        <p:spPr>
          <a:xfrm>
            <a:off x="847302" y="1907578"/>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pic>
        <p:nvPicPr>
          <p:cNvPr id="9" name="图片 8"/>
          <p:cNvPicPr>
            <a:picLocks noChangeAspect="1"/>
          </p:cNvPicPr>
          <p:nvPr/>
        </p:nvPicPr>
        <p:blipFill>
          <a:blip r:embed="rId2"/>
          <a:stretch>
            <a:fillRect/>
          </a:stretch>
        </p:blipFill>
        <p:spPr>
          <a:xfrm>
            <a:off x="4572000" y="1519986"/>
            <a:ext cx="4167667" cy="1764239"/>
          </a:xfrm>
          <a:prstGeom prst="rect">
            <a:avLst/>
          </a:prstGeom>
        </p:spPr>
      </p:pic>
      <p:pic>
        <p:nvPicPr>
          <p:cNvPr id="14" name="图片 5"/>
          <p:cNvPicPr>
            <a:picLocks noChangeAspect="1"/>
          </p:cNvPicPr>
          <p:nvPr/>
        </p:nvPicPr>
        <p:blipFill>
          <a:blip r:embed="rId3"/>
          <a:stretch>
            <a:fillRect/>
          </a:stretch>
        </p:blipFill>
        <p:spPr>
          <a:xfrm>
            <a:off x="5715151" y="3742070"/>
            <a:ext cx="2460224" cy="200565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847302" y="3829955"/>
                <a:ext cx="3862921" cy="1477328"/>
              </a:xfrm>
              <a:prstGeom prst="rect">
                <a:avLst/>
              </a:prstGeom>
              <a:noFill/>
            </p:spPr>
            <p:txBody>
              <a:bodyPr wrap="square" rtlCol="0">
                <a:spAutoFit/>
              </a:bodyPr>
              <a:lstStyle/>
              <a:p>
                <a:r>
                  <a:rPr lang="zh-CN" altLang="en-US" b="1" dirty="0"/>
                  <a:t>注意：</a:t>
                </a:r>
                <a:r>
                  <a:rPr lang="en-US" altLang="zh-CN" b="1" dirty="0">
                    <a:latin typeface="ZztexMono-Regular"/>
                  </a:rPr>
                  <a:t>Frustum</a:t>
                </a:r>
                <a:r>
                  <a:rPr lang="zh-CN" altLang="en-US" b="1" dirty="0">
                    <a:latin typeface="ZztexMono-Regular"/>
                  </a:rPr>
                  <a:t>函数没有限制视见体一定是对称的棱台！</a:t>
                </a:r>
                <a:endParaRPr lang="en-US" altLang="zh-CN" b="1" dirty="0">
                  <a:latin typeface="ZztexMono-Regular"/>
                </a:endParaRPr>
              </a:p>
              <a:p>
                <a:endParaRPr lang="en-US" b="1" dirty="0">
                  <a:latin typeface="ZztexMono-Regular"/>
                </a:endParaRPr>
              </a:p>
              <a:p>
                <a14:m>
                  <m:oMath xmlns:m="http://schemas.openxmlformats.org/officeDocument/2006/math">
                    <m:r>
                      <a:rPr lang="en-US" b="1" i="1" smtClean="0">
                        <a:latin typeface="Cambria Math" charset="0"/>
                        <a:ea typeface="Cambria Math" charset="0"/>
                        <a:cs typeface="Cambria Math" charset="0"/>
                      </a:rPr>
                      <m:t>⇒</m:t>
                    </m:r>
                  </m:oMath>
                </a14:m>
                <a:r>
                  <a:rPr lang="zh-CN" altLang="en-US" b="1" dirty="0"/>
                  <a:t> 需要先将棱台变为对称标准的棱台，再做透视归一化变换</a:t>
                </a:r>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847302" y="3829955"/>
                <a:ext cx="3862921" cy="1477328"/>
              </a:xfrm>
              <a:prstGeom prst="rect">
                <a:avLst/>
              </a:prstGeom>
              <a:blipFill rotWithShape="0">
                <a:blip r:embed="rId4"/>
                <a:stretch>
                  <a:fillRect l="-1420" t="-2881" r="-7098" b="-4115"/>
                </a:stretch>
              </a:blipFill>
            </p:spPr>
            <p:txBody>
              <a:bodyPr/>
              <a:lstStyle/>
              <a:p>
                <a:r>
                  <a:rPr lang="en-US">
                    <a:noFill/>
                  </a:rPr>
                  <a:t> </a:t>
                </a:r>
              </a:p>
            </p:txBody>
          </p:sp>
        </mc:Fallback>
      </mc:AlternateContent>
      <p:grpSp>
        <p:nvGrpSpPr>
          <p:cNvPr id="17" name="组合 21"/>
          <p:cNvGrpSpPr/>
          <p:nvPr/>
        </p:nvGrpSpPr>
        <p:grpSpPr>
          <a:xfrm>
            <a:off x="954487" y="5428255"/>
            <a:ext cx="4774477" cy="1429743"/>
            <a:chOff x="565288" y="3342928"/>
            <a:chExt cx="4950338" cy="1482406"/>
          </a:xfrm>
        </p:grpSpPr>
        <p:pic>
          <p:nvPicPr>
            <p:cNvPr id="18" name="图片 6"/>
            <p:cNvPicPr>
              <a:picLocks noChangeAspect="1"/>
            </p:cNvPicPr>
            <p:nvPr/>
          </p:nvPicPr>
          <p:blipFill>
            <a:blip r:embed="rId5"/>
            <a:stretch>
              <a:fillRect/>
            </a:stretch>
          </p:blipFill>
          <p:spPr>
            <a:xfrm>
              <a:off x="565288" y="3342928"/>
              <a:ext cx="4950338" cy="1482406"/>
            </a:xfrm>
            <a:prstGeom prst="rect">
              <a:avLst/>
            </a:prstGeom>
          </p:spPr>
        </p:pic>
        <p:pic>
          <p:nvPicPr>
            <p:cNvPr id="19" name="图片 17"/>
            <p:cNvPicPr>
              <a:picLocks noChangeAspect="1"/>
            </p:cNvPicPr>
            <p:nvPr/>
          </p:nvPicPr>
          <p:blipFill>
            <a:blip r:embed="rId6"/>
            <a:stretch>
              <a:fillRect/>
            </a:stretch>
          </p:blipFill>
          <p:spPr>
            <a:xfrm>
              <a:off x="4546508" y="3460160"/>
              <a:ext cx="97792" cy="97478"/>
            </a:xfrm>
            <a:prstGeom prst="rect">
              <a:avLst/>
            </a:prstGeom>
          </p:spPr>
        </p:pic>
        <p:pic>
          <p:nvPicPr>
            <p:cNvPr id="20" name="图片 18"/>
            <p:cNvPicPr>
              <a:picLocks noChangeAspect="1"/>
            </p:cNvPicPr>
            <p:nvPr/>
          </p:nvPicPr>
          <p:blipFill>
            <a:blip r:embed="rId6"/>
            <a:stretch>
              <a:fillRect/>
            </a:stretch>
          </p:blipFill>
          <p:spPr>
            <a:xfrm>
              <a:off x="4497612" y="4628267"/>
              <a:ext cx="97792" cy="97478"/>
            </a:xfrm>
            <a:prstGeom prst="rect">
              <a:avLst/>
            </a:prstGeom>
          </p:spPr>
        </p:pic>
        <p:pic>
          <p:nvPicPr>
            <p:cNvPr id="21" name="图片 19"/>
            <p:cNvPicPr>
              <a:picLocks noChangeAspect="1"/>
            </p:cNvPicPr>
            <p:nvPr/>
          </p:nvPicPr>
          <p:blipFill>
            <a:blip r:embed="rId6"/>
            <a:stretch>
              <a:fillRect/>
            </a:stretch>
          </p:blipFill>
          <p:spPr>
            <a:xfrm>
              <a:off x="5238875" y="4034332"/>
              <a:ext cx="97792" cy="97478"/>
            </a:xfrm>
            <a:prstGeom prst="rect">
              <a:avLst/>
            </a:prstGeom>
          </p:spPr>
        </p:pic>
        <p:pic>
          <p:nvPicPr>
            <p:cNvPr id="22" name="图片 20"/>
            <p:cNvPicPr>
              <a:picLocks noChangeAspect="1"/>
            </p:cNvPicPr>
            <p:nvPr/>
          </p:nvPicPr>
          <p:blipFill>
            <a:blip r:embed="rId6"/>
            <a:stretch>
              <a:fillRect/>
            </a:stretch>
          </p:blipFill>
          <p:spPr>
            <a:xfrm>
              <a:off x="3763618" y="4041307"/>
              <a:ext cx="97792" cy="97478"/>
            </a:xfrm>
            <a:prstGeom prst="rect">
              <a:avLst/>
            </a:prstGeom>
          </p:spPr>
        </p:pic>
      </p:grpSp>
      <p:cxnSp>
        <p:nvCxnSpPr>
          <p:cNvPr id="8" name="Elbow Connector 7"/>
          <p:cNvCxnSpPr/>
          <p:nvPr/>
        </p:nvCxnSpPr>
        <p:spPr>
          <a:xfrm rot="10800000" flipV="1">
            <a:off x="6277563" y="5906081"/>
            <a:ext cx="844593" cy="391485"/>
          </a:xfrm>
          <a:prstGeom prst="bentConnector3">
            <a:avLst>
              <a:gd name="adj1" fmla="val -6651"/>
            </a:avLst>
          </a:prstGeom>
          <a:ln w="1047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122156" y="3162891"/>
            <a:ext cx="0" cy="579179"/>
          </a:xfrm>
          <a:prstGeom prst="straightConnector1">
            <a:avLst/>
          </a:prstGeom>
          <a:ln w="1047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1560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5162842" y="1506818"/>
            <a:ext cx="2460224" cy="2005651"/>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透视规范化</a:t>
            </a:r>
          </a:p>
        </p:txBody>
      </p:sp>
      <p:sp>
        <p:nvSpPr>
          <p:cNvPr id="3" name="内容占位符 2"/>
          <p:cNvSpPr>
            <a:spLocks noGrp="1"/>
          </p:cNvSpPr>
          <p:nvPr>
            <p:ph idx="1"/>
          </p:nvPr>
        </p:nvSpPr>
        <p:spPr/>
        <p:txBody>
          <a:bodyPr/>
          <a:lstStyle/>
          <a:p>
            <a:r>
              <a:rPr lang="zh-CN" altLang="en-US" dirty="0"/>
              <a:t>导出透视规范化矩阵：</a:t>
            </a:r>
            <a:endParaRPr lang="en-US" altLang="zh-CN" sz="12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pic>
        <p:nvPicPr>
          <p:cNvPr id="10" name="图片 9"/>
          <p:cNvPicPr>
            <a:picLocks noChangeAspect="1"/>
          </p:cNvPicPr>
          <p:nvPr/>
        </p:nvPicPr>
        <p:blipFill>
          <a:blip r:embed="rId3"/>
          <a:stretch>
            <a:fillRect/>
          </a:stretch>
        </p:blipFill>
        <p:spPr>
          <a:xfrm>
            <a:off x="5848548" y="3846920"/>
            <a:ext cx="1774518" cy="1027317"/>
          </a:xfrm>
          <a:prstGeom prst="rect">
            <a:avLst/>
          </a:prstGeom>
        </p:spPr>
      </p:pic>
      <p:pic>
        <p:nvPicPr>
          <p:cNvPr id="11" name="图片 10"/>
          <p:cNvPicPr>
            <a:picLocks noChangeAspect="1"/>
          </p:cNvPicPr>
          <p:nvPr/>
        </p:nvPicPr>
        <p:blipFill>
          <a:blip r:embed="rId4"/>
          <a:stretch>
            <a:fillRect/>
          </a:stretch>
        </p:blipFill>
        <p:spPr>
          <a:xfrm>
            <a:off x="7851086" y="3705239"/>
            <a:ext cx="1174463" cy="1284131"/>
          </a:xfrm>
          <a:prstGeom prst="rect">
            <a:avLst/>
          </a:prstGeom>
        </p:spPr>
      </p:pic>
      <p:grpSp>
        <p:nvGrpSpPr>
          <p:cNvPr id="23" name="组合 22"/>
          <p:cNvGrpSpPr/>
          <p:nvPr/>
        </p:nvGrpSpPr>
        <p:grpSpPr>
          <a:xfrm>
            <a:off x="1048327" y="5290348"/>
            <a:ext cx="1982621" cy="1394346"/>
            <a:chOff x="1492905" y="4961378"/>
            <a:chExt cx="1982621" cy="1394346"/>
          </a:xfrm>
        </p:grpSpPr>
        <p:pic>
          <p:nvPicPr>
            <p:cNvPr id="12" name="图片 11"/>
            <p:cNvPicPr>
              <a:picLocks noChangeAspect="1"/>
            </p:cNvPicPr>
            <p:nvPr/>
          </p:nvPicPr>
          <p:blipFill>
            <a:blip r:embed="rId5"/>
            <a:stretch>
              <a:fillRect/>
            </a:stretch>
          </p:blipFill>
          <p:spPr>
            <a:xfrm>
              <a:off x="1492905" y="4961378"/>
              <a:ext cx="1982621" cy="676800"/>
            </a:xfrm>
            <a:prstGeom prst="rect">
              <a:avLst/>
            </a:prstGeom>
          </p:spPr>
        </p:pic>
        <p:pic>
          <p:nvPicPr>
            <p:cNvPr id="13" name="图片 12"/>
            <p:cNvPicPr>
              <a:picLocks noChangeAspect="1"/>
            </p:cNvPicPr>
            <p:nvPr/>
          </p:nvPicPr>
          <p:blipFill>
            <a:blip r:embed="rId6"/>
            <a:stretch>
              <a:fillRect/>
            </a:stretch>
          </p:blipFill>
          <p:spPr>
            <a:xfrm>
              <a:off x="1492905" y="5680686"/>
              <a:ext cx="1962087" cy="675038"/>
            </a:xfrm>
            <a:prstGeom prst="rect">
              <a:avLst/>
            </a:prstGeom>
          </p:spPr>
        </p:pic>
      </p:grpSp>
      <p:grpSp>
        <p:nvGrpSpPr>
          <p:cNvPr id="22" name="组合 21"/>
          <p:cNvGrpSpPr/>
          <p:nvPr/>
        </p:nvGrpSpPr>
        <p:grpSpPr>
          <a:xfrm>
            <a:off x="825098" y="3599722"/>
            <a:ext cx="4774477" cy="1429743"/>
            <a:chOff x="565288" y="3342928"/>
            <a:chExt cx="4950338" cy="1482406"/>
          </a:xfrm>
        </p:grpSpPr>
        <p:pic>
          <p:nvPicPr>
            <p:cNvPr id="7" name="图片 6"/>
            <p:cNvPicPr>
              <a:picLocks noChangeAspect="1"/>
            </p:cNvPicPr>
            <p:nvPr/>
          </p:nvPicPr>
          <p:blipFill>
            <a:blip r:embed="rId7"/>
            <a:stretch>
              <a:fillRect/>
            </a:stretch>
          </p:blipFill>
          <p:spPr>
            <a:xfrm>
              <a:off x="565288" y="3342928"/>
              <a:ext cx="4950338" cy="1482406"/>
            </a:xfrm>
            <a:prstGeom prst="rect">
              <a:avLst/>
            </a:prstGeom>
          </p:spPr>
        </p:pic>
        <p:pic>
          <p:nvPicPr>
            <p:cNvPr id="18" name="图片 17"/>
            <p:cNvPicPr>
              <a:picLocks noChangeAspect="1"/>
            </p:cNvPicPr>
            <p:nvPr/>
          </p:nvPicPr>
          <p:blipFill>
            <a:blip r:embed="rId8"/>
            <a:stretch>
              <a:fillRect/>
            </a:stretch>
          </p:blipFill>
          <p:spPr>
            <a:xfrm>
              <a:off x="4546508" y="3460160"/>
              <a:ext cx="97792" cy="97478"/>
            </a:xfrm>
            <a:prstGeom prst="rect">
              <a:avLst/>
            </a:prstGeom>
          </p:spPr>
        </p:pic>
        <p:pic>
          <p:nvPicPr>
            <p:cNvPr id="19" name="图片 18"/>
            <p:cNvPicPr>
              <a:picLocks noChangeAspect="1"/>
            </p:cNvPicPr>
            <p:nvPr/>
          </p:nvPicPr>
          <p:blipFill>
            <a:blip r:embed="rId8"/>
            <a:stretch>
              <a:fillRect/>
            </a:stretch>
          </p:blipFill>
          <p:spPr>
            <a:xfrm>
              <a:off x="4497612" y="4628267"/>
              <a:ext cx="97792" cy="97478"/>
            </a:xfrm>
            <a:prstGeom prst="rect">
              <a:avLst/>
            </a:prstGeom>
          </p:spPr>
        </p:pic>
        <p:pic>
          <p:nvPicPr>
            <p:cNvPr id="20" name="图片 19"/>
            <p:cNvPicPr>
              <a:picLocks noChangeAspect="1"/>
            </p:cNvPicPr>
            <p:nvPr/>
          </p:nvPicPr>
          <p:blipFill>
            <a:blip r:embed="rId8"/>
            <a:stretch>
              <a:fillRect/>
            </a:stretch>
          </p:blipFill>
          <p:spPr>
            <a:xfrm>
              <a:off x="5238875" y="4034332"/>
              <a:ext cx="97792" cy="97478"/>
            </a:xfrm>
            <a:prstGeom prst="rect">
              <a:avLst/>
            </a:prstGeom>
          </p:spPr>
        </p:pic>
        <p:pic>
          <p:nvPicPr>
            <p:cNvPr id="21" name="图片 20"/>
            <p:cNvPicPr>
              <a:picLocks noChangeAspect="1"/>
            </p:cNvPicPr>
            <p:nvPr/>
          </p:nvPicPr>
          <p:blipFill>
            <a:blip r:embed="rId8"/>
            <a:stretch>
              <a:fillRect/>
            </a:stretch>
          </p:blipFill>
          <p:spPr>
            <a:xfrm>
              <a:off x="3763618" y="4041307"/>
              <a:ext cx="97792" cy="97478"/>
            </a:xfrm>
            <a:prstGeom prst="rect">
              <a:avLst/>
            </a:prstGeom>
          </p:spPr>
        </p:pic>
      </p:grpSp>
      <p:sp>
        <p:nvSpPr>
          <p:cNvPr id="24" name="Rectangle 23"/>
          <p:cNvSpPr/>
          <p:nvPr/>
        </p:nvSpPr>
        <p:spPr>
          <a:xfrm>
            <a:off x="6966208" y="4398379"/>
            <a:ext cx="568919" cy="237261"/>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p:cNvSpPr txBox="1"/>
              <p:nvPr/>
            </p:nvSpPr>
            <p:spPr>
              <a:xfrm>
                <a:off x="2072289" y="2622732"/>
                <a:ext cx="9586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𝑥</m:t>
                      </m:r>
                      <m:r>
                        <a:rPr lang="en-US" altLang="zh-CN" b="0" i="1" smtClean="0">
                          <a:latin typeface="Cambria Math" charset="0"/>
                        </a:rPr>
                        <m:t>=±</m:t>
                      </m:r>
                      <m:r>
                        <a:rPr lang="en-US" altLang="zh-CN" b="0" i="1" smtClean="0">
                          <a:latin typeface="Cambria Math" charset="0"/>
                          <a:ea typeface="Cambria Math" charset="0"/>
                          <a:cs typeface="Cambria Math" charset="0"/>
                        </a:rPr>
                        <m:t>𝑧</m:t>
                      </m:r>
                    </m:oMath>
                  </m:oMathPara>
                </a14:m>
                <a:endParaRPr lang="en-US" altLang="zh-CN" b="0" dirty="0">
                  <a:ea typeface="Cambria Math" charset="0"/>
                  <a:cs typeface="Cambria Math"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072289" y="2622732"/>
                <a:ext cx="958659" cy="369332"/>
              </a:xfrm>
              <a:prstGeom prst="rect">
                <a:avLst/>
              </a:prstGeom>
              <a:blipFill rotWithShape="0">
                <a:blip r:embed="rId10"/>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072289" y="2980307"/>
                <a:ext cx="9586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𝑦</m:t>
                      </m:r>
                      <m:r>
                        <a:rPr lang="en-US" altLang="zh-CN" b="0" i="1" smtClean="0">
                          <a:latin typeface="Cambria Math" charset="0"/>
                        </a:rPr>
                        <m:t>=±</m:t>
                      </m:r>
                      <m:r>
                        <a:rPr lang="en-US" altLang="zh-CN" b="0" i="1" smtClean="0">
                          <a:latin typeface="Cambria Math" charset="0"/>
                          <a:ea typeface="Cambria Math" charset="0"/>
                          <a:cs typeface="Cambria Math" charset="0"/>
                        </a:rPr>
                        <m:t>𝑧</m:t>
                      </m:r>
                    </m:oMath>
                  </m:oMathPara>
                </a14:m>
                <a:endParaRPr lang="en-US" altLang="zh-CN" b="0" dirty="0">
                  <a:ea typeface="Cambria Math" charset="0"/>
                  <a:cs typeface="Cambria Math" charset="0"/>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2072289" y="2980307"/>
                <a:ext cx="958659" cy="369332"/>
              </a:xfrm>
              <a:prstGeom prst="rect">
                <a:avLst/>
              </a:prstGeom>
              <a:blipFill rotWithShape="0">
                <a:blip r:embed="rId11"/>
                <a:stretch>
                  <a:fillRect b="-6667"/>
                </a:stretch>
              </a:blipFill>
            </p:spPr>
            <p:txBody>
              <a:bodyPr/>
              <a:lstStyle/>
              <a:p>
                <a:r>
                  <a:rPr lang="en-US">
                    <a:noFill/>
                  </a:rPr>
                  <a:t> </a:t>
                </a:r>
              </a:p>
            </p:txBody>
          </p:sp>
        </mc:Fallback>
      </mc:AlternateContent>
      <p:sp>
        <p:nvSpPr>
          <p:cNvPr id="9" name="TextBox 8"/>
          <p:cNvSpPr txBox="1"/>
          <p:nvPr/>
        </p:nvSpPr>
        <p:spPr>
          <a:xfrm>
            <a:off x="1318135" y="2988042"/>
            <a:ext cx="184731" cy="338554"/>
          </a:xfrm>
          <a:prstGeom prst="rect">
            <a:avLst/>
          </a:prstGeom>
          <a:noFill/>
        </p:spPr>
        <p:txBody>
          <a:bodyPr wrap="none" rtlCol="0">
            <a:spAutoFit/>
          </a:bodyPr>
          <a:lstStyle/>
          <a:p>
            <a:endParaRPr lang="en-US" sz="1600" dirty="0"/>
          </a:p>
        </p:txBody>
      </p:sp>
      <p:sp>
        <p:nvSpPr>
          <p:cNvPr id="28" name="Left-Right Arrow 27"/>
          <p:cNvSpPr/>
          <p:nvPr/>
        </p:nvSpPr>
        <p:spPr>
          <a:xfrm>
            <a:off x="3306726" y="5539563"/>
            <a:ext cx="322728" cy="12860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p:cNvPicPr>
            <a:picLocks noChangeAspect="1"/>
          </p:cNvPicPr>
          <p:nvPr/>
        </p:nvPicPr>
        <p:blipFill>
          <a:blip r:embed="rId12"/>
          <a:stretch>
            <a:fillRect/>
          </a:stretch>
        </p:blipFill>
        <p:spPr>
          <a:xfrm>
            <a:off x="3909807" y="6177590"/>
            <a:ext cx="558800" cy="292100"/>
          </a:xfrm>
          <a:prstGeom prst="rect">
            <a:avLst/>
          </a:prstGeom>
        </p:spPr>
      </p:pic>
      <p:pic>
        <p:nvPicPr>
          <p:cNvPr id="36" name="Picture 35"/>
          <p:cNvPicPr>
            <a:picLocks noChangeAspect="1"/>
          </p:cNvPicPr>
          <p:nvPr/>
        </p:nvPicPr>
        <p:blipFill>
          <a:blip r:embed="rId13"/>
          <a:stretch>
            <a:fillRect/>
          </a:stretch>
        </p:blipFill>
        <p:spPr>
          <a:xfrm>
            <a:off x="3949529" y="5495398"/>
            <a:ext cx="609600" cy="266700"/>
          </a:xfrm>
          <a:prstGeom prst="rect">
            <a:avLst/>
          </a:prstGeom>
        </p:spPr>
      </p:pic>
      <p:sp>
        <p:nvSpPr>
          <p:cNvPr id="37" name="Left-Right Arrow 36"/>
          <p:cNvSpPr/>
          <p:nvPr/>
        </p:nvSpPr>
        <p:spPr>
          <a:xfrm>
            <a:off x="3306606" y="6292047"/>
            <a:ext cx="322728" cy="12860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Arrow 37"/>
          <p:cNvSpPr/>
          <p:nvPr/>
        </p:nvSpPr>
        <p:spPr>
          <a:xfrm>
            <a:off x="5192540" y="5773183"/>
            <a:ext cx="350920" cy="4729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p:cNvSpPr txBox="1"/>
              <p:nvPr/>
            </p:nvSpPr>
            <p:spPr>
              <a:xfrm>
                <a:off x="1022097" y="1919305"/>
                <a:ext cx="3776996" cy="584775"/>
              </a:xfrm>
              <a:prstGeom prst="rect">
                <a:avLst/>
              </a:prstGeom>
              <a:noFill/>
            </p:spPr>
            <p:txBody>
              <a:bodyPr wrap="none" rtlCol="0">
                <a:spAutoFit/>
              </a:bodyPr>
              <a:lstStyle/>
              <a:p>
                <a:r>
                  <a:rPr lang="zh-CN" altLang="en-US" sz="1600" dirty="0"/>
                  <a:t>给定由下面</a:t>
                </a:r>
                <a:r>
                  <a:rPr lang="en-US" altLang="zh-CN" sz="1600" dirty="0"/>
                  <a:t>4</a:t>
                </a:r>
                <a:r>
                  <a:rPr lang="zh-CN" altLang="en-US" sz="1600" dirty="0"/>
                  <a:t>个平面构成的半无穷棱锥：</a:t>
                </a:r>
                <a:endParaRPr lang="en-US" altLang="zh-CN" sz="1600" dirty="0"/>
              </a:p>
              <a:p>
                <a:r>
                  <a:rPr lang="zh-CN" altLang="en-US" sz="1600" dirty="0"/>
                  <a:t>（侧面与投影平面夹角 </a:t>
                </a:r>
                <a:r>
                  <a:rPr lang="en-US" altLang="zh-CN" sz="1600" dirty="0"/>
                  <a:t>=</a:t>
                </a:r>
                <a:r>
                  <a:rPr lang="zh-CN" altLang="en-US" sz="1600" dirty="0"/>
                  <a:t> </a:t>
                </a:r>
                <a:r>
                  <a:rPr lang="en-US" altLang="zh-CN" sz="1600" dirty="0"/>
                  <a:t>45</a:t>
                </a:r>
                <a14:m>
                  <m:oMath xmlns:m="http://schemas.openxmlformats.org/officeDocument/2006/math">
                    <m:r>
                      <a:rPr lang="it-IT" altLang="zh-CN" sz="1600" i="1">
                        <a:latin typeface="Cambria Math" charset="0"/>
                        <a:ea typeface="Cambria Math" charset="0"/>
                        <a:cs typeface="Cambria Math" charset="0"/>
                      </a:rPr>
                      <m:t>°</m:t>
                    </m:r>
                    <m:r>
                      <a:rPr lang="zh-CN" altLang="en-US" sz="1600" i="1">
                        <a:latin typeface="Cambria Math" charset="0"/>
                        <a:ea typeface="Cambria Math" charset="0"/>
                        <a:cs typeface="Cambria Math" charset="0"/>
                      </a:rPr>
                      <m:t>）</m:t>
                    </m:r>
                  </m:oMath>
                </a14:m>
                <a:endParaRPr lang="en-US" sz="1600" dirty="0"/>
              </a:p>
            </p:txBody>
          </p:sp>
        </mc:Choice>
        <mc:Fallback xmlns="">
          <p:sp>
            <p:nvSpPr>
              <p:cNvPr id="39" name="TextBox 38"/>
              <p:cNvSpPr txBox="1">
                <a:spLocks noRot="1" noChangeAspect="1" noMove="1" noResize="1" noEditPoints="1" noAdjustHandles="1" noChangeArrowheads="1" noChangeShapeType="1" noTextEdit="1"/>
              </p:cNvSpPr>
              <p:nvPr/>
            </p:nvSpPr>
            <p:spPr>
              <a:xfrm>
                <a:off x="1022097" y="1919305"/>
                <a:ext cx="3776996" cy="584775"/>
              </a:xfrm>
              <a:prstGeom prst="rect">
                <a:avLst/>
              </a:prstGeom>
              <a:blipFill rotWithShape="0">
                <a:blip r:embed="rId14"/>
                <a:stretch>
                  <a:fillRect l="-969" t="-5208" b="-13542"/>
                </a:stretch>
              </a:blipFill>
            </p:spPr>
            <p:txBody>
              <a:bodyPr/>
              <a:lstStyle/>
              <a:p>
                <a:r>
                  <a:rPr lang="en-US">
                    <a:noFill/>
                  </a:rPr>
                  <a:t> </a:t>
                </a:r>
              </a:p>
            </p:txBody>
          </p:sp>
        </mc:Fallback>
      </mc:AlternateContent>
      <p:sp>
        <p:nvSpPr>
          <p:cNvPr id="29" name="Rectangle 28">
            <a:extLst>
              <a:ext uri="{FF2B5EF4-FFF2-40B4-BE49-F238E27FC236}">
                <a16:creationId xmlns:a16="http://schemas.microsoft.com/office/drawing/2014/main" id="{50E14459-16A6-5646-A187-73A615056319}"/>
              </a:ext>
            </a:extLst>
          </p:cNvPr>
          <p:cNvSpPr/>
          <p:nvPr/>
        </p:nvSpPr>
        <p:spPr>
          <a:xfrm>
            <a:off x="6010563" y="5322470"/>
            <a:ext cx="2158582" cy="1385763"/>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AED35A5-2F18-034B-A1F7-1A747AD17691}"/>
                  </a:ext>
                </a:extLst>
              </p:cNvPr>
              <p:cNvSpPr txBox="1"/>
              <p:nvPr/>
            </p:nvSpPr>
            <p:spPr>
              <a:xfrm>
                <a:off x="6042579" y="6063656"/>
                <a:ext cx="2046008" cy="526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2</m:t>
                          </m:r>
                          <m:r>
                            <a:rPr lang="zh-CN" altLang="en-US" b="0"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far</m:t>
                          </m:r>
                          <m:r>
                            <a:rPr lang="zh-CN" altLang="en-US" b="0"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near</m:t>
                          </m:r>
                        </m:num>
                        <m:den>
                          <m:r>
                            <m:rPr>
                              <m:sty m:val="p"/>
                            </m:rPr>
                            <a:rPr lang="en-US" altLang="zh-CN" b="0" i="0" smtClean="0">
                              <a:latin typeface="Cambria Math" panose="02040503050406030204" pitchFamily="18" charset="0"/>
                              <a:ea typeface="Cambria Math" panose="02040503050406030204" pitchFamily="18" charset="0"/>
                            </a:rPr>
                            <m:t>far</m:t>
                          </m:r>
                          <m:r>
                            <a:rPr lang="zh-CN" altLang="en-US"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r>
                            <m:rPr>
                              <m:sty m:val="p"/>
                            </m:rPr>
                            <a:rPr lang="en-US" altLang="zh-CN" i="0">
                              <a:latin typeface="Cambria Math" panose="02040503050406030204" pitchFamily="18" charset="0"/>
                              <a:ea typeface="Cambria Math" panose="02040503050406030204" pitchFamily="18" charset="0"/>
                            </a:rPr>
                            <m:t>near</m:t>
                          </m:r>
                        </m:den>
                      </m:f>
                    </m:oMath>
                  </m:oMathPara>
                </a14:m>
                <a:endParaRPr lang="en-US" dirty="0"/>
              </a:p>
            </p:txBody>
          </p:sp>
        </mc:Choice>
        <mc:Fallback xmlns="">
          <p:sp>
            <p:nvSpPr>
              <p:cNvPr id="30" name="TextBox 29">
                <a:extLst>
                  <a:ext uri="{FF2B5EF4-FFF2-40B4-BE49-F238E27FC236}">
                    <a16:creationId xmlns:a16="http://schemas.microsoft.com/office/drawing/2014/main" id="{6AED35A5-2F18-034B-A1F7-1A747AD17691}"/>
                  </a:ext>
                </a:extLst>
              </p:cNvPr>
              <p:cNvSpPr txBox="1">
                <a:spLocks noRot="1" noChangeAspect="1" noMove="1" noResize="1" noEditPoints="1" noAdjustHandles="1" noChangeArrowheads="1" noChangeShapeType="1" noTextEdit="1"/>
              </p:cNvSpPr>
              <p:nvPr/>
            </p:nvSpPr>
            <p:spPr>
              <a:xfrm>
                <a:off x="6042579" y="6063656"/>
                <a:ext cx="2046008" cy="526554"/>
              </a:xfrm>
              <a:prstGeom prst="rect">
                <a:avLst/>
              </a:prstGeom>
              <a:blipFill>
                <a:blip r:embed="rId15"/>
                <a:stretch>
                  <a:fillRect l="-3704" r="-617" b="-279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228F1D8E-6798-FB4B-BB69-2F3143142F15}"/>
                  </a:ext>
                </a:extLst>
              </p:cNvPr>
              <p:cNvSpPr/>
              <p:nvPr/>
            </p:nvSpPr>
            <p:spPr>
              <a:xfrm>
                <a:off x="6001525" y="5351168"/>
                <a:ext cx="1987275" cy="61888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ea typeface="Cambria Math" panose="02040503050406030204" pitchFamily="18" charset="0"/>
                        </a:rPr>
                        <m:t>𝛼</m:t>
                      </m:r>
                      <m:r>
                        <a:rPr lang="en-US" altLang="zh-CN" i="1">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Cambria Math" panose="02040503050406030204" pitchFamily="18" charset="0"/>
                        </a:rPr>
                        <m:t> </m:t>
                      </m:r>
                      <m:f>
                        <m:fPr>
                          <m:ctrlPr>
                            <a:rPr lang="en-US" altLang="zh-CN" i="1">
                              <a:latin typeface="Cambria Math" panose="02040503050406030204" pitchFamily="18" charset="0"/>
                              <a:ea typeface="Cambria Math" panose="02040503050406030204" pitchFamily="18" charset="0"/>
                            </a:rPr>
                          </m:ctrlPr>
                        </m:fPr>
                        <m:num>
                          <m:r>
                            <m:rPr>
                              <m:sty m:val="p"/>
                            </m:rPr>
                            <a:rPr lang="en-US" altLang="zh-CN" i="0">
                              <a:latin typeface="Cambria Math" panose="02040503050406030204" pitchFamily="18" charset="0"/>
                              <a:ea typeface="Cambria Math" panose="02040503050406030204" pitchFamily="18" charset="0"/>
                            </a:rPr>
                            <m:t>far</m:t>
                          </m:r>
                          <m:r>
                            <a:rPr lang="en-US" altLang="zh-CN" i="1">
                              <a:latin typeface="Cambria Math" panose="02040503050406030204" pitchFamily="18" charset="0"/>
                              <a:ea typeface="Cambria Math" panose="02040503050406030204" pitchFamily="18" charset="0"/>
                            </a:rPr>
                            <m:t>+</m:t>
                          </m:r>
                          <m:r>
                            <m:rPr>
                              <m:sty m:val="p"/>
                            </m:rPr>
                            <a:rPr lang="en-US" altLang="zh-CN" i="0">
                              <a:latin typeface="Cambria Math" panose="02040503050406030204" pitchFamily="18" charset="0"/>
                              <a:ea typeface="Cambria Math" panose="02040503050406030204" pitchFamily="18" charset="0"/>
                            </a:rPr>
                            <m:t>near</m:t>
                          </m:r>
                        </m:num>
                        <m:den>
                          <m:r>
                            <m:rPr>
                              <m:sty m:val="p"/>
                            </m:rPr>
                            <a:rPr lang="en-US" altLang="zh-CN" i="1">
                              <a:latin typeface="Cambria Math" panose="02040503050406030204" pitchFamily="18" charset="0"/>
                              <a:ea typeface="Cambria Math" panose="02040503050406030204" pitchFamily="18" charset="0"/>
                            </a:rPr>
                            <m:t>far</m:t>
                          </m:r>
                          <m:r>
                            <a:rPr lang="en-US" altLang="zh-CN" i="1">
                              <a:latin typeface="Cambria Math" panose="02040503050406030204" pitchFamily="18" charset="0"/>
                              <a:ea typeface="Cambria Math" panose="02040503050406030204" pitchFamily="18" charset="0"/>
                            </a:rPr>
                            <m:t>−</m:t>
                          </m:r>
                          <m:r>
                            <m:rPr>
                              <m:sty m:val="p"/>
                            </m:rPr>
                            <a:rPr lang="en-US" altLang="zh-CN" i="0">
                              <a:latin typeface="Cambria Math" panose="02040503050406030204" pitchFamily="18" charset="0"/>
                              <a:ea typeface="Cambria Math" panose="02040503050406030204" pitchFamily="18" charset="0"/>
                            </a:rPr>
                            <m:t>near</m:t>
                          </m:r>
                        </m:den>
                      </m:f>
                    </m:oMath>
                  </m:oMathPara>
                </a14:m>
                <a:endParaRPr lang="en-US" dirty="0"/>
              </a:p>
            </p:txBody>
          </p:sp>
        </mc:Choice>
        <mc:Fallback xmlns="">
          <p:sp>
            <p:nvSpPr>
              <p:cNvPr id="31" name="Rectangle 30">
                <a:extLst>
                  <a:ext uri="{FF2B5EF4-FFF2-40B4-BE49-F238E27FC236}">
                    <a16:creationId xmlns:a16="http://schemas.microsoft.com/office/drawing/2014/main" id="{228F1D8E-6798-FB4B-BB69-2F3143142F15}"/>
                  </a:ext>
                </a:extLst>
              </p:cNvPr>
              <p:cNvSpPr>
                <a:spLocks noRot="1" noChangeAspect="1" noMove="1" noResize="1" noEditPoints="1" noAdjustHandles="1" noChangeArrowheads="1" noChangeShapeType="1" noTextEdit="1"/>
              </p:cNvSpPr>
              <p:nvPr/>
            </p:nvSpPr>
            <p:spPr>
              <a:xfrm>
                <a:off x="6001525" y="5351168"/>
                <a:ext cx="1987275" cy="618887"/>
              </a:xfrm>
              <a:prstGeom prst="rect">
                <a:avLst/>
              </a:prstGeom>
              <a:blipFill>
                <a:blip r:embed="rId16"/>
                <a:stretch>
                  <a:fillRect b="-4000"/>
                </a:stretch>
              </a:blipFill>
            </p:spPr>
            <p:txBody>
              <a:bodyPr/>
              <a:lstStyle/>
              <a:p>
                <a:r>
                  <a:rPr lang="en-US">
                    <a:noFill/>
                  </a:rPr>
                  <a:t> </a:t>
                </a:r>
              </a:p>
            </p:txBody>
          </p:sp>
        </mc:Fallback>
      </mc:AlternateContent>
    </p:spTree>
    <p:extLst>
      <p:ext uri="{BB962C8B-B14F-4D97-AF65-F5344CB8AC3E}">
        <p14:creationId xmlns:p14="http://schemas.microsoft.com/office/powerpoint/2010/main" val="2184602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a:t>OpenGL</a:t>
            </a:r>
            <a:r>
              <a:rPr lang="zh-CN" altLang="en-US" dirty="0"/>
              <a:t>的透视变换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dirty="0"/>
                  <a:t>视见体函数的矩阵</a:t>
                </a:r>
                <a:r>
                  <a:rPr lang="en-US" altLang="zh-CN" dirty="0"/>
                  <a:t>?</a:t>
                </a:r>
              </a:p>
              <a:p>
                <a:pPr lvl="1">
                  <a:buClr>
                    <a:schemeClr val="tx1"/>
                  </a:buClr>
                </a:pPr>
                <a:r>
                  <a:rPr lang="zh-CN" altLang="en-US" dirty="0">
                    <a:solidFill>
                      <a:srgbClr val="0000FF"/>
                    </a:solidFill>
                  </a:rPr>
                  <a:t>错切变换</a:t>
                </a:r>
                <a:r>
                  <a:rPr lang="zh-CN" altLang="en-US" dirty="0"/>
                  <a:t>：把不对称棱台变成对称</a:t>
                </a:r>
                <a:r>
                  <a:rPr lang="en-US" altLang="zh-CN" dirty="0"/>
                  <a:t>+</a:t>
                </a:r>
                <a:r>
                  <a:rPr lang="zh-CN" altLang="en-US" dirty="0"/>
                  <a:t>对称平面过原点</a:t>
                </a: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缩放变换</a:t>
                </a:r>
                <a:r>
                  <a:rPr lang="zh-CN" altLang="en-US" dirty="0"/>
                  <a:t>：把棱台的侧面变成</a:t>
                </a:r>
                <a14:m>
                  <m:oMath xmlns:m="http://schemas.openxmlformats.org/officeDocument/2006/math">
                    <m:r>
                      <a:rPr lang="en-US" altLang="zh-CN" i="1">
                        <a:latin typeface="Cambria Math" charset="0"/>
                      </a:rPr>
                      <m:t>𝑥</m:t>
                    </m:r>
                    <m:r>
                      <a:rPr lang="en-US" altLang="zh-CN" i="1">
                        <a:latin typeface="Cambria Math" charset="0"/>
                      </a:rPr>
                      <m:t>=±</m:t>
                    </m:r>
                    <m:r>
                      <a:rPr lang="en-US" altLang="zh-CN" i="1">
                        <a:latin typeface="Cambria Math" charset="0"/>
                        <a:ea typeface="Cambria Math" charset="0"/>
                        <a:cs typeface="Cambria Math" charset="0"/>
                      </a:rPr>
                      <m:t>𝑧</m:t>
                    </m:r>
                  </m:oMath>
                </a14:m>
                <a:r>
                  <a:rPr lang="zh-CN" altLang="en-US" dirty="0">
                    <a:ea typeface="Cambria Math" charset="0"/>
                    <a:cs typeface="Cambria Math" charset="0"/>
                  </a:rPr>
                  <a:t>和</a:t>
                </a:r>
                <a14:m>
                  <m:oMath xmlns:m="http://schemas.openxmlformats.org/officeDocument/2006/math">
                    <m:r>
                      <a:rPr lang="en-US" altLang="zh-CN" b="0" i="1" dirty="0" smtClean="0">
                        <a:latin typeface="Cambria Math" charset="0"/>
                        <a:ea typeface="Cambria Math" charset="0"/>
                        <a:cs typeface="Cambria Math" charset="0"/>
                      </a:rPr>
                      <m:t>𝑦</m:t>
                    </m:r>
                    <m:r>
                      <a:rPr lang="en-US" altLang="zh-CN" i="1">
                        <a:latin typeface="Cambria Math" charset="0"/>
                      </a:rPr>
                      <m:t>=±</m:t>
                    </m:r>
                    <m:r>
                      <a:rPr lang="en-US" altLang="zh-CN" i="1">
                        <a:latin typeface="Cambria Math" charset="0"/>
                        <a:ea typeface="Cambria Math" charset="0"/>
                        <a:cs typeface="Cambria Math" charset="0"/>
                      </a:rPr>
                      <m:t>𝑧</m:t>
                    </m:r>
                  </m:oMath>
                </a14:m>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透视归一化变换</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15" name="图片 14"/>
          <p:cNvPicPr>
            <a:picLocks noChangeAspect="1"/>
          </p:cNvPicPr>
          <p:nvPr/>
        </p:nvPicPr>
        <p:blipFill>
          <a:blip r:embed="rId3"/>
          <a:stretch>
            <a:fillRect/>
          </a:stretch>
        </p:blipFill>
        <p:spPr>
          <a:xfrm>
            <a:off x="1378547" y="2144635"/>
            <a:ext cx="5439846" cy="580969"/>
          </a:xfrm>
          <a:prstGeom prst="rect">
            <a:avLst/>
          </a:prstGeom>
        </p:spPr>
      </p:pic>
      <p:pic>
        <p:nvPicPr>
          <p:cNvPr id="25" name="图片 24"/>
          <p:cNvPicPr>
            <a:picLocks noChangeAspect="1"/>
          </p:cNvPicPr>
          <p:nvPr/>
        </p:nvPicPr>
        <p:blipFill>
          <a:blip r:embed="rId4"/>
          <a:stretch>
            <a:fillRect/>
          </a:stretch>
        </p:blipFill>
        <p:spPr>
          <a:xfrm>
            <a:off x="1342934" y="3278860"/>
            <a:ext cx="5511073" cy="306737"/>
          </a:xfrm>
          <a:prstGeom prst="rect">
            <a:avLst/>
          </a:prstGeom>
        </p:spPr>
      </p:pic>
      <p:pic>
        <p:nvPicPr>
          <p:cNvPr id="26" name="图片 25"/>
          <p:cNvPicPr>
            <a:picLocks noChangeAspect="1"/>
          </p:cNvPicPr>
          <p:nvPr/>
        </p:nvPicPr>
        <p:blipFill>
          <a:blip r:embed="rId5"/>
          <a:stretch>
            <a:fillRect/>
          </a:stretch>
        </p:blipFill>
        <p:spPr>
          <a:xfrm>
            <a:off x="1378547" y="4440070"/>
            <a:ext cx="2137283" cy="1226457"/>
          </a:xfrm>
          <a:prstGeom prst="rect">
            <a:avLst/>
          </a:prstGeom>
        </p:spPr>
      </p:pic>
      <p:pic>
        <p:nvPicPr>
          <p:cNvPr id="27" name="图片 26"/>
          <p:cNvPicPr>
            <a:picLocks noChangeAspect="1"/>
          </p:cNvPicPr>
          <p:nvPr/>
        </p:nvPicPr>
        <p:blipFill>
          <a:blip r:embed="rId6"/>
          <a:stretch>
            <a:fillRect/>
          </a:stretch>
        </p:blipFill>
        <p:spPr>
          <a:xfrm>
            <a:off x="4044963" y="4281148"/>
            <a:ext cx="5095442" cy="1417313"/>
          </a:xfrm>
          <a:prstGeom prst="rect">
            <a:avLst/>
          </a:prstGeom>
        </p:spPr>
      </p:pic>
      <p:sp>
        <p:nvSpPr>
          <p:cNvPr id="6" name="Right Arrow 5"/>
          <p:cNvSpPr/>
          <p:nvPr/>
        </p:nvSpPr>
        <p:spPr>
          <a:xfrm>
            <a:off x="3646406" y="4866148"/>
            <a:ext cx="296272" cy="247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1148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a:t>OpenGL</a:t>
            </a:r>
            <a:r>
              <a:rPr lang="zh-CN" altLang="en-US" dirty="0"/>
              <a:t>的透视变换</a:t>
            </a:r>
          </a:p>
        </p:txBody>
      </p:sp>
      <p:sp>
        <p:nvSpPr>
          <p:cNvPr id="3" name="内容占位符 2"/>
          <p:cNvSpPr>
            <a:spLocks noGrp="1"/>
          </p:cNvSpPr>
          <p:nvPr>
            <p:ph idx="1"/>
          </p:nvPr>
        </p:nvSpPr>
        <p:spPr/>
        <p:txBody>
          <a:bodyPr>
            <a:normAutofit/>
          </a:bodyPr>
          <a:lstStyle/>
          <a:p>
            <a:pPr>
              <a:buClr>
                <a:srgbClr val="94003F"/>
              </a:buClr>
            </a:pPr>
            <a:r>
              <a:rPr lang="zh-CN" altLang="en-US" dirty="0"/>
              <a:t>透视函数的矩阵</a:t>
            </a:r>
            <a:r>
              <a:rPr lang="en-US" altLang="zh-CN" dirty="0"/>
              <a:t>?</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
        <p:nvSpPr>
          <p:cNvPr id="10" name="矩形 6"/>
          <p:cNvSpPr/>
          <p:nvPr/>
        </p:nvSpPr>
        <p:spPr>
          <a:xfrm>
            <a:off x="1073094" y="2081684"/>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5" name="Right Arrow 4"/>
          <p:cNvSpPr/>
          <p:nvPr/>
        </p:nvSpPr>
        <p:spPr>
          <a:xfrm>
            <a:off x="5380074" y="2509284"/>
            <a:ext cx="180754" cy="276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5890438" y="2046333"/>
            <a:ext cx="1274003" cy="369332"/>
          </a:xfrm>
          <a:prstGeom prst="rect">
            <a:avLst/>
          </a:prstGeom>
          <a:noFill/>
        </p:spPr>
        <p:txBody>
          <a:bodyPr wrap="none" rtlCol="0">
            <a:spAutoFit/>
          </a:bodyPr>
          <a:lstStyle/>
          <a:p>
            <a:r>
              <a:rPr lang="en-US" altLang="zh-CN" dirty="0"/>
              <a:t>left</a:t>
            </a:r>
            <a:r>
              <a:rPr lang="zh-CN" altLang="en-US" dirty="0"/>
              <a:t> </a:t>
            </a:r>
            <a:r>
              <a:rPr lang="en-US" altLang="zh-CN" dirty="0"/>
              <a:t>=</a:t>
            </a:r>
            <a:r>
              <a:rPr lang="zh-CN" altLang="en-US" dirty="0"/>
              <a:t> </a:t>
            </a:r>
            <a:r>
              <a:rPr lang="en-US" altLang="zh-CN" dirty="0"/>
              <a:t>-right</a:t>
            </a:r>
            <a:endParaRPr lang="en-US" dirty="0"/>
          </a:p>
        </p:txBody>
      </p:sp>
      <p:sp>
        <p:nvSpPr>
          <p:cNvPr id="13" name="TextBox 12"/>
          <p:cNvSpPr txBox="1"/>
          <p:nvPr/>
        </p:nvSpPr>
        <p:spPr>
          <a:xfrm>
            <a:off x="7303673" y="2046333"/>
            <a:ext cx="1496628" cy="369332"/>
          </a:xfrm>
          <a:prstGeom prst="rect">
            <a:avLst/>
          </a:prstGeom>
          <a:noFill/>
        </p:spPr>
        <p:txBody>
          <a:bodyPr wrap="none" rtlCol="0">
            <a:spAutoFit/>
          </a:bodyPr>
          <a:lstStyle/>
          <a:p>
            <a:r>
              <a:rPr lang="en-US" altLang="zh-CN" dirty="0"/>
              <a:t>bottom</a:t>
            </a:r>
            <a:r>
              <a:rPr lang="zh-CN" altLang="en-US" dirty="0"/>
              <a:t> </a:t>
            </a:r>
            <a:r>
              <a:rPr lang="en-US" altLang="zh-CN" dirty="0"/>
              <a:t>=</a:t>
            </a:r>
            <a:r>
              <a:rPr lang="zh-CN" altLang="en-US" dirty="0"/>
              <a:t> </a:t>
            </a:r>
            <a:r>
              <a:rPr lang="en-US" altLang="zh-CN" dirty="0"/>
              <a:t>-top</a:t>
            </a:r>
            <a:endParaRPr lang="en-US" dirty="0"/>
          </a:p>
        </p:txBody>
      </p:sp>
      <p:sp>
        <p:nvSpPr>
          <p:cNvPr id="8" name="TextBox 7"/>
          <p:cNvSpPr txBox="1"/>
          <p:nvPr/>
        </p:nvSpPr>
        <p:spPr>
          <a:xfrm>
            <a:off x="5890438" y="2504852"/>
            <a:ext cx="2111925" cy="369332"/>
          </a:xfrm>
          <a:prstGeom prst="rect">
            <a:avLst/>
          </a:prstGeom>
          <a:noFill/>
        </p:spPr>
        <p:txBody>
          <a:bodyPr wrap="none" rtlCol="0">
            <a:spAutoFit/>
          </a:bodyPr>
          <a:lstStyle/>
          <a:p>
            <a:r>
              <a:rPr lang="en-US" altLang="zh-CN" dirty="0"/>
              <a:t>top</a:t>
            </a:r>
            <a:r>
              <a:rPr lang="zh-CN" altLang="en-US" dirty="0"/>
              <a:t> </a:t>
            </a:r>
            <a:r>
              <a:rPr lang="en-US" altLang="zh-CN" dirty="0"/>
              <a:t>=</a:t>
            </a:r>
            <a:r>
              <a:rPr lang="zh-CN" altLang="en-US" dirty="0"/>
              <a:t> </a:t>
            </a:r>
            <a:r>
              <a:rPr lang="en-US" altLang="zh-CN" dirty="0"/>
              <a:t>near</a:t>
            </a:r>
            <a:r>
              <a:rPr lang="zh-CN" altLang="en-US" dirty="0"/>
              <a:t>*</a:t>
            </a:r>
            <a:r>
              <a:rPr lang="en-US" altLang="zh-CN" dirty="0"/>
              <a:t>tan(</a:t>
            </a:r>
            <a:r>
              <a:rPr lang="en-US" altLang="zh-CN" dirty="0" err="1"/>
              <a:t>fovy</a:t>
            </a:r>
            <a:r>
              <a:rPr lang="en-US" altLang="zh-CN" dirty="0"/>
              <a:t>)</a:t>
            </a:r>
          </a:p>
        </p:txBody>
      </p:sp>
      <p:sp>
        <p:nvSpPr>
          <p:cNvPr id="9" name="Rectangle 8"/>
          <p:cNvSpPr/>
          <p:nvPr/>
        </p:nvSpPr>
        <p:spPr>
          <a:xfrm>
            <a:off x="5897234" y="2913267"/>
            <a:ext cx="1890967" cy="369332"/>
          </a:xfrm>
          <a:prstGeom prst="rect">
            <a:avLst/>
          </a:prstGeom>
        </p:spPr>
        <p:txBody>
          <a:bodyPr wrap="none">
            <a:spAutoFit/>
          </a:bodyPr>
          <a:lstStyle/>
          <a:p>
            <a:r>
              <a:rPr lang="en-US" altLang="zh-CN"/>
              <a:t>right</a:t>
            </a:r>
            <a:r>
              <a:rPr lang="zh-CN" altLang="en-US" dirty="0"/>
              <a:t> </a:t>
            </a:r>
            <a:r>
              <a:rPr lang="en-US" altLang="zh-CN" dirty="0"/>
              <a:t>=</a:t>
            </a:r>
            <a:r>
              <a:rPr lang="zh-CN" altLang="en-US" dirty="0"/>
              <a:t> </a:t>
            </a:r>
            <a:r>
              <a:rPr lang="en-US" altLang="zh-CN" dirty="0"/>
              <a:t>top</a:t>
            </a:r>
            <a:r>
              <a:rPr lang="zh-CN" altLang="en-US" dirty="0"/>
              <a:t>*</a:t>
            </a:r>
            <a:r>
              <a:rPr lang="en-US" altLang="zh-CN" dirty="0"/>
              <a:t>aspect</a:t>
            </a:r>
            <a:endParaRPr lang="en-US" dirty="0"/>
          </a:p>
        </p:txBody>
      </p:sp>
      <p:pic>
        <p:nvPicPr>
          <p:cNvPr id="16" name="图片 26"/>
          <p:cNvPicPr>
            <a:picLocks noChangeAspect="1"/>
          </p:cNvPicPr>
          <p:nvPr/>
        </p:nvPicPr>
        <p:blipFill rotWithShape="1">
          <a:blip r:embed="rId2"/>
          <a:srcRect l="19946"/>
          <a:stretch/>
        </p:blipFill>
        <p:spPr>
          <a:xfrm>
            <a:off x="874741" y="4062205"/>
            <a:ext cx="4079067" cy="1417313"/>
          </a:xfrm>
          <a:prstGeom prst="rect">
            <a:avLst/>
          </a:prstGeom>
        </p:spPr>
      </p:pic>
      <p:sp>
        <p:nvSpPr>
          <p:cNvPr id="11" name="Right Arrow 10"/>
          <p:cNvSpPr/>
          <p:nvPr/>
        </p:nvSpPr>
        <p:spPr>
          <a:xfrm>
            <a:off x="5231797" y="4514025"/>
            <a:ext cx="164805" cy="2977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rotWithShape="1">
          <a:blip r:embed="rId3"/>
          <a:srcRect l="8827"/>
          <a:stretch/>
        </p:blipFill>
        <p:spPr>
          <a:xfrm>
            <a:off x="5746859" y="3974137"/>
            <a:ext cx="2835164" cy="1505381"/>
          </a:xfrm>
          <a:prstGeom prst="rect">
            <a:avLst/>
          </a:prstGeom>
        </p:spPr>
      </p:pic>
    </p:spTree>
    <p:extLst>
      <p:ext uri="{BB962C8B-B14F-4D97-AF65-F5344CB8AC3E}">
        <p14:creationId xmlns:p14="http://schemas.microsoft.com/office/powerpoint/2010/main" val="452204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投影变换总结</a:t>
            </a:r>
          </a:p>
        </p:txBody>
      </p:sp>
      <p:sp>
        <p:nvSpPr>
          <p:cNvPr id="3" name="内容占位符 2"/>
          <p:cNvSpPr>
            <a:spLocks noGrp="1"/>
          </p:cNvSpPr>
          <p:nvPr>
            <p:ph idx="1"/>
          </p:nvPr>
        </p:nvSpPr>
        <p:spPr/>
        <p:txBody>
          <a:bodyPr>
            <a:normAutofit/>
          </a:bodyPr>
          <a:lstStyle/>
          <a:p>
            <a:r>
              <a:rPr lang="zh-CN" altLang="en-US" dirty="0"/>
              <a:t>采用上述变换方式的优势：</a:t>
            </a:r>
            <a:endParaRPr lang="en-US" altLang="zh-CN" dirty="0"/>
          </a:p>
          <a:p>
            <a:pPr lvl="1">
              <a:buClr>
                <a:schemeClr val="tx1"/>
              </a:buClr>
            </a:pPr>
            <a:endParaRPr lang="en-US" altLang="zh-CN" dirty="0"/>
          </a:p>
          <a:p>
            <a:pPr lvl="1">
              <a:buClr>
                <a:schemeClr val="tx1"/>
              </a:buClr>
            </a:pPr>
            <a:r>
              <a:rPr lang="zh-CN" altLang="en-US" sz="2400" dirty="0"/>
              <a:t>规范化使得只需要一个流水线体系就可以进行透视投影和正交投影</a:t>
            </a:r>
          </a:p>
          <a:p>
            <a:pPr lvl="1">
              <a:buClr>
                <a:schemeClr val="tx1"/>
              </a:buClr>
            </a:pPr>
            <a:endParaRPr lang="en-US" altLang="zh-CN" sz="2400" dirty="0"/>
          </a:p>
          <a:p>
            <a:pPr lvl="1">
              <a:buClr>
                <a:schemeClr val="tx1"/>
              </a:buClr>
            </a:pPr>
            <a:r>
              <a:rPr lang="zh-CN" altLang="en-US" sz="2400" dirty="0"/>
              <a:t>尽可能位于四维齐次空间中，以便保持隐藏面消除和明暗处理所需要的三维信息</a:t>
            </a:r>
          </a:p>
          <a:p>
            <a:pPr lvl="1">
              <a:buClr>
                <a:schemeClr val="tx1"/>
              </a:buClr>
            </a:pPr>
            <a:endParaRPr lang="en-US" altLang="zh-CN" sz="2400" dirty="0"/>
          </a:p>
          <a:p>
            <a:pPr lvl="1">
              <a:buClr>
                <a:schemeClr val="tx1"/>
              </a:buClr>
            </a:pPr>
            <a:r>
              <a:rPr lang="zh-CN" altLang="en-US" sz="2400" dirty="0"/>
              <a:t>简化了裁剪的操作</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spTree>
    <p:extLst>
      <p:ext uri="{BB962C8B-B14F-4D97-AF65-F5344CB8AC3E}">
        <p14:creationId xmlns:p14="http://schemas.microsoft.com/office/powerpoint/2010/main" val="2012823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sp>
        <p:nvSpPr>
          <p:cNvPr id="8" name="文本框 7"/>
          <p:cNvSpPr txBox="1"/>
          <p:nvPr/>
        </p:nvSpPr>
        <p:spPr>
          <a:xfrm>
            <a:off x="3308481" y="3389111"/>
            <a:ext cx="2534668"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投影和阴影</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8" y="1913900"/>
            <a:ext cx="614272" cy="1107996"/>
          </a:xfrm>
          <a:prstGeom prst="rect">
            <a:avLst/>
          </a:prstGeom>
          <a:noFill/>
        </p:spPr>
        <p:txBody>
          <a:bodyPr wrap="none" rtlCol="0">
            <a:spAutoFit/>
          </a:bodyPr>
          <a:lstStyle/>
          <a:p>
            <a:pPr algn="ctr"/>
            <a:r>
              <a:rPr lang="en-US" altLang="zh-CN" sz="6600" b="1" i="1" dirty="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09025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阴影效果</a:t>
            </a:r>
          </a:p>
        </p:txBody>
      </p:sp>
      <p:sp>
        <p:nvSpPr>
          <p:cNvPr id="3" name="内容占位符 2"/>
          <p:cNvSpPr>
            <a:spLocks noGrp="1"/>
          </p:cNvSpPr>
          <p:nvPr>
            <p:ph idx="1"/>
          </p:nvPr>
        </p:nvSpPr>
        <p:spPr/>
        <p:txBody>
          <a:bodyPr>
            <a:normAutofit/>
          </a:bodyPr>
          <a:lstStyle/>
          <a:p>
            <a:r>
              <a:rPr lang="zh-CN" altLang="en-US" dirty="0"/>
              <a:t>计算机产生的阴影</a:t>
            </a:r>
            <a:endParaRPr lang="en-US" altLang="zh-CN" dirty="0"/>
          </a:p>
          <a:p>
            <a:pPr lvl="1">
              <a:buClr>
                <a:schemeClr val="tx1"/>
              </a:buClr>
            </a:pPr>
            <a:r>
              <a:rPr lang="zh-CN" altLang="en-US" dirty="0"/>
              <a:t>光源照射不到</a:t>
            </a:r>
            <a:endParaRPr lang="en-US" altLang="zh-CN" dirty="0"/>
          </a:p>
          <a:p>
            <a:pPr lvl="1">
              <a:buClr>
                <a:schemeClr val="tx1"/>
              </a:buClr>
            </a:pPr>
            <a:r>
              <a:rPr lang="zh-CN" altLang="en-US" dirty="0"/>
              <a:t>视角观察不到</a:t>
            </a:r>
            <a:endParaRPr lang="en-US" altLang="zh-CN" dirty="0"/>
          </a:p>
          <a:p>
            <a:pPr marL="0" indent="0">
              <a:buNone/>
            </a:pPr>
            <a:endParaRPr lang="en-US" altLang="zh-CN" dirty="0"/>
          </a:p>
          <a:p>
            <a:r>
              <a:rPr lang="zh-CN" altLang="en-US" dirty="0"/>
              <a:t>阴影的投影矩阵</a:t>
            </a:r>
            <a:endParaRPr lang="en-US" altLang="zh-CN" dirty="0"/>
          </a:p>
          <a:p>
            <a:pPr lvl="1">
              <a:buClr>
                <a:schemeClr val="tx1"/>
              </a:buClr>
            </a:pPr>
            <a:r>
              <a:rPr lang="zh-CN" altLang="en-US" dirty="0"/>
              <a:t>向三维空间中的平面投影</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5" name="图片 4"/>
          <p:cNvPicPr>
            <a:picLocks noChangeAspect="1"/>
          </p:cNvPicPr>
          <p:nvPr/>
        </p:nvPicPr>
        <p:blipFill>
          <a:blip r:embed="rId2"/>
          <a:stretch>
            <a:fillRect/>
          </a:stretch>
        </p:blipFill>
        <p:spPr>
          <a:xfrm>
            <a:off x="5205803" y="708383"/>
            <a:ext cx="3246185" cy="31445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图片 6"/>
          <p:cNvPicPr>
            <a:picLocks noChangeAspect="1"/>
          </p:cNvPicPr>
          <p:nvPr/>
        </p:nvPicPr>
        <p:blipFill>
          <a:blip r:embed="rId3"/>
          <a:stretch>
            <a:fillRect/>
          </a:stretch>
        </p:blipFill>
        <p:spPr>
          <a:xfrm>
            <a:off x="5670525" y="3972079"/>
            <a:ext cx="2393621" cy="2766767"/>
          </a:xfrm>
          <a:prstGeom prst="rect">
            <a:avLst/>
          </a:prstGeom>
        </p:spPr>
      </p:pic>
      <p:pic>
        <p:nvPicPr>
          <p:cNvPr id="8" name="图片 7"/>
          <p:cNvPicPr>
            <a:picLocks noChangeAspect="1"/>
          </p:cNvPicPr>
          <p:nvPr/>
        </p:nvPicPr>
        <p:blipFill>
          <a:blip r:embed="rId4"/>
          <a:stretch>
            <a:fillRect/>
          </a:stretch>
        </p:blipFill>
        <p:spPr>
          <a:xfrm>
            <a:off x="1025010" y="4190035"/>
            <a:ext cx="3577637" cy="2166315"/>
          </a:xfrm>
          <a:prstGeom prst="rect">
            <a:avLst/>
          </a:prstGeom>
        </p:spPr>
      </p:pic>
    </p:spTree>
    <p:extLst>
      <p:ext uri="{BB962C8B-B14F-4D97-AF65-F5344CB8AC3E}">
        <p14:creationId xmlns:p14="http://schemas.microsoft.com/office/powerpoint/2010/main" val="331278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p:cNvSpPr txBox="1"/>
              <p:nvPr/>
            </p:nvSpPr>
            <p:spPr>
              <a:xfrm>
                <a:off x="1021496" y="4120326"/>
                <a:ext cx="4440767" cy="2585323"/>
              </a:xfrm>
              <a:prstGeom prst="rect">
                <a:avLst/>
              </a:prstGeom>
              <a:noFill/>
            </p:spPr>
            <p:txBody>
              <a:bodyPr wrap="none" rtlCol="0">
                <a:spAutoFit/>
              </a:bodyPr>
              <a:lstStyle/>
              <a:p>
                <a:pPr marL="342900" indent="-342900">
                  <a:buAutoNum type="arabicPeriod"/>
                </a:pPr>
                <a:r>
                  <a:rPr lang="zh-CN" altLang="en-US" dirty="0"/>
                  <a:t>将投影中心移至原点：</a:t>
                </a:r>
                <a14:m>
                  <m:oMath xmlns:m="http://schemas.openxmlformats.org/officeDocument/2006/math">
                    <m:r>
                      <a:rPr lang="en-US" altLang="zh-CN" b="0" i="1" smtClean="0">
                        <a:latin typeface="Cambria Math" charset="0"/>
                      </a:rPr>
                      <m:t>𝑇</m:t>
                    </m:r>
                    <m:d>
                      <m:dPr>
                        <m:ctrlPr>
                          <a:rPr lang="mr-IN" altLang="zh-CN" b="0" i="1" smtClean="0">
                            <a:latin typeface="Cambria Math" panose="02040503050406030204" pitchFamily="18" charset="0"/>
                          </a:rPr>
                        </m:ctrlPr>
                      </m:dPr>
                      <m:e>
                        <m:sSub>
                          <m:sSubPr>
                            <m:ctrlPr>
                              <a:rPr lang="en-US" altLang="zh-CN" i="1">
                                <a:latin typeface="Cambria Math" panose="02040503050406030204" pitchFamily="18" charset="0"/>
                                <a:sym typeface="Wingdings"/>
                              </a:rPr>
                            </m:ctrlPr>
                          </m:sSubPr>
                          <m:e>
                            <m:r>
                              <a:rPr lang="en-US" altLang="zh-CN" b="0" i="1" smtClean="0">
                                <a:latin typeface="Cambria Math" charset="0"/>
                                <a:sym typeface="Wingdings"/>
                              </a:rPr>
                              <m:t>−</m:t>
                            </m:r>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r>
                          <a:rPr lang="en-US" altLang="zh-CN" b="0" i="1" smtClean="0">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b="0" i="1" smtClean="0">
                                <a:latin typeface="Cambria Math" charset="0"/>
                                <a:sym typeface="Wingdings"/>
                              </a:rPr>
                              <m:t>−</m:t>
                            </m:r>
                            <m:r>
                              <a:rPr lang="en-US" altLang="zh-CN" i="1">
                                <a:latin typeface="Cambria Math" charset="0"/>
                                <a:sym typeface="Wingdings"/>
                              </a:rPr>
                              <m:t>𝑧</m:t>
                            </m:r>
                          </m:e>
                          <m:sub>
                            <m:r>
                              <a:rPr lang="en-US" altLang="zh-CN" i="1">
                                <a:latin typeface="Cambria Math" charset="0"/>
                                <a:sym typeface="Wingdings"/>
                              </a:rPr>
                              <m:t>𝑙</m:t>
                            </m:r>
                          </m:sub>
                        </m:sSub>
                      </m:e>
                    </m:d>
                  </m:oMath>
                </a14:m>
                <a:endParaRPr lang="en-US" altLang="zh-CN" dirty="0"/>
              </a:p>
              <a:p>
                <a:pPr marL="342900" indent="-342900">
                  <a:buAutoNum type="arabicPeriod"/>
                </a:pPr>
                <a:r>
                  <a:rPr lang="zh-CN" altLang="en-US" dirty="0"/>
                  <a:t>投影至平面</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oMath>
                </a14:m>
                <a:r>
                  <a:rPr lang="en-US" altLang="zh-CN" dirty="0"/>
                  <a:t>:</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r>
                  <a:rPr lang="zh-CN" altLang="en-US" dirty="0"/>
                  <a:t>将投影中心移回</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r>
                  <a:rPr lang="en-US" altLang="zh-CN" dirty="0"/>
                  <a:t>: </a:t>
                </a:r>
                <a14:m>
                  <m:oMath xmlns:m="http://schemas.openxmlformats.org/officeDocument/2006/math">
                    <m:r>
                      <a:rPr lang="en-US" altLang="zh-CN" i="1">
                        <a:latin typeface="Cambria Math" charset="0"/>
                      </a:rPr>
                      <m:t>𝑇</m:t>
                    </m:r>
                    <m:d>
                      <m:dPr>
                        <m:ctrlPr>
                          <a:rPr lang="mr-IN" altLang="zh-CN" i="1">
                            <a:latin typeface="Cambria Math" panose="02040503050406030204" pitchFamily="18" charset="0"/>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1021496" y="4120326"/>
                <a:ext cx="4440767" cy="2585323"/>
              </a:xfrm>
              <a:prstGeom prst="rect">
                <a:avLst/>
              </a:prstGeom>
              <a:blipFill rotWithShape="0">
                <a:blip r:embed="rId2"/>
                <a:stretch>
                  <a:fillRect l="-1236" t="-2123" b="-3066"/>
                </a:stretch>
              </a:blipFill>
            </p:spPr>
            <p:txBody>
              <a:bodyPr/>
              <a:lstStyle/>
              <a:p>
                <a:r>
                  <a:rPr lang="en-US">
                    <a:noFill/>
                  </a:rPr>
                  <a:t> </a:t>
                </a:r>
              </a:p>
            </p:txBody>
          </p:sp>
        </mc:Fallback>
      </mc:AlternateContent>
      <p:sp>
        <p:nvSpPr>
          <p:cNvPr id="2" name="标题 1"/>
          <p:cNvSpPr>
            <a:spLocks noGrp="1"/>
          </p:cNvSpPr>
          <p:nvPr>
            <p:ph type="title"/>
          </p:nvPr>
        </p:nvSpPr>
        <p:spPr/>
        <p:txBody>
          <a:bodyPr/>
          <a:lstStyle/>
          <a:p>
            <a:r>
              <a:rPr lang="zh-CN" altLang="en-US" dirty="0"/>
              <a:t>阴影效果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透视投影矩阵：</a:t>
                </a:r>
                <a:endParaRPr lang="en-US" altLang="zh-CN" dirty="0"/>
              </a:p>
              <a:p>
                <a:pPr lvl="1">
                  <a:buClr>
                    <a:schemeClr val="tx1"/>
                  </a:buClr>
                </a:pPr>
                <a:r>
                  <a:rPr lang="zh-CN" altLang="en-US" dirty="0"/>
                  <a:t>投影中心在原点</a:t>
                </a:r>
                <a:endParaRPr lang="en-US" altLang="zh-CN" dirty="0"/>
              </a:p>
              <a:p>
                <a:pPr lvl="1">
                  <a:buClr>
                    <a:schemeClr val="tx1"/>
                  </a:buClr>
                </a:pPr>
                <a:r>
                  <a:rPr lang="zh-CN" altLang="en-US" dirty="0"/>
                  <a:t>投影平面为</a:t>
                </a:r>
                <a14:m>
                  <m:oMath xmlns:m="http://schemas.openxmlformats.org/officeDocument/2006/math">
                    <m:r>
                      <a:rPr lang="en-US" altLang="zh-CN" i="1" dirty="0">
                        <a:latin typeface="Cambria Math" charset="0"/>
                      </a:rPr>
                      <m:t>𝑧</m:t>
                    </m:r>
                    <m:r>
                      <a:rPr lang="en-US" altLang="zh-CN" i="1" dirty="0">
                        <a:latin typeface="Cambria Math" charset="0"/>
                      </a:rPr>
                      <m:t>=</m:t>
                    </m:r>
                    <m:r>
                      <a:rPr lang="en-US" altLang="zh-CN" i="1" dirty="0">
                        <a:latin typeface="Cambria Math" charset="0"/>
                      </a:rPr>
                      <m:t>𝑑</m:t>
                    </m:r>
                    <m:r>
                      <a:rPr lang="en-US" altLang="zh-CN" i="1" dirty="0">
                        <a:latin typeface="Cambria Math" charset="0"/>
                      </a:rPr>
                      <m:t>, </m:t>
                    </m:r>
                    <m:r>
                      <a:rPr lang="en-US" altLang="zh-CN" i="1" dirty="0">
                        <a:latin typeface="Cambria Math" charset="0"/>
                      </a:rPr>
                      <m:t>𝑑</m:t>
                    </m:r>
                    <m:r>
                      <a:rPr lang="en-US" altLang="zh-CN" i="1" dirty="0">
                        <a:latin typeface="Cambria Math" charset="0"/>
                      </a:rPr>
                      <m:t>&lt;0</m:t>
                    </m:r>
                  </m:oMath>
                </a14:m>
                <a:endParaRPr lang="en-US" altLang="zh-CN" dirty="0"/>
              </a:p>
              <a:p>
                <a:pPr lvl="1"/>
                <a:endParaRPr lang="en-US" altLang="zh-CN" dirty="0"/>
              </a:p>
              <a:p>
                <a:r>
                  <a:rPr lang="zh-CN" altLang="en-US" dirty="0"/>
                  <a:t>阴影投影矩阵：</a:t>
                </a:r>
                <a:endParaRPr lang="en-US" altLang="zh-CN" dirty="0"/>
              </a:p>
              <a:p>
                <a:pPr lvl="1"/>
                <a:r>
                  <a:rPr lang="zh-CN" altLang="en-US" dirty="0"/>
                  <a:t>投影中心在</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a:p>
                <a:pPr lvl="1"/>
                <a:r>
                  <a:rPr lang="zh-CN" altLang="en-US" dirty="0">
                    <a:sym typeface="Wingdings"/>
                  </a:rPr>
                  <a:t>投影平面为</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=0</m:t>
                    </m:r>
                  </m:oMath>
                </a14:m>
                <a:endParaRPr lang="en-US" dirty="0"/>
              </a:p>
              <a:p>
                <a:pPr lvl="1"/>
                <a:endParaRPr lang="en-US" dirty="0"/>
              </a:p>
              <a:p>
                <a:pPr lvl="1"/>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pic>
        <p:nvPicPr>
          <p:cNvPr id="7" name="图片 6"/>
          <p:cNvPicPr>
            <a:picLocks noChangeAspect="1"/>
          </p:cNvPicPr>
          <p:nvPr/>
        </p:nvPicPr>
        <p:blipFill>
          <a:blip r:embed="rId4"/>
          <a:stretch>
            <a:fillRect/>
          </a:stretch>
        </p:blipFill>
        <p:spPr>
          <a:xfrm>
            <a:off x="5855109" y="2673043"/>
            <a:ext cx="1562208" cy="1805743"/>
          </a:xfrm>
          <a:prstGeom prst="rect">
            <a:avLst/>
          </a:prstGeom>
        </p:spPr>
      </p:pic>
      <p:pic>
        <p:nvPicPr>
          <p:cNvPr id="8" name="图片 7"/>
          <p:cNvPicPr>
            <a:picLocks noChangeAspect="1"/>
          </p:cNvPicPr>
          <p:nvPr/>
        </p:nvPicPr>
        <p:blipFill>
          <a:blip r:embed="rId5"/>
          <a:stretch>
            <a:fillRect/>
          </a:stretch>
        </p:blipFill>
        <p:spPr>
          <a:xfrm>
            <a:off x="1473336" y="4888397"/>
            <a:ext cx="2143492" cy="1297918"/>
          </a:xfrm>
          <a:prstGeom prst="rect">
            <a:avLst/>
          </a:prstGeom>
        </p:spPr>
      </p:pic>
      <p:pic>
        <p:nvPicPr>
          <p:cNvPr id="10" name="图片 14"/>
          <p:cNvPicPr>
            <a:picLocks noChangeAspect="1"/>
          </p:cNvPicPr>
          <p:nvPr/>
        </p:nvPicPr>
        <p:blipFill>
          <a:blip r:embed="rId6"/>
          <a:stretch>
            <a:fillRect/>
          </a:stretch>
        </p:blipFill>
        <p:spPr>
          <a:xfrm>
            <a:off x="4223003" y="1145028"/>
            <a:ext cx="3600035" cy="1470535"/>
          </a:xfrm>
          <a:prstGeom prst="rect">
            <a:avLst/>
          </a:prstGeom>
        </p:spPr>
      </p:pic>
      <p:pic>
        <p:nvPicPr>
          <p:cNvPr id="11" name="图片 8"/>
          <p:cNvPicPr>
            <a:picLocks noChangeAspect="1"/>
          </p:cNvPicPr>
          <p:nvPr/>
        </p:nvPicPr>
        <p:blipFill>
          <a:blip r:embed="rId7"/>
          <a:stretch>
            <a:fillRect/>
          </a:stretch>
        </p:blipFill>
        <p:spPr>
          <a:xfrm>
            <a:off x="8156241" y="1581357"/>
            <a:ext cx="933264" cy="99946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7845940" y="1963855"/>
                <a:ext cx="2532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charset="0"/>
                          <a:ea typeface="Cambria Math" charset="0"/>
                          <a:cs typeface="Cambria Math" charset="0"/>
                        </a:rPr>
                        <m:t>⇒</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845940" y="1963855"/>
                <a:ext cx="253274" cy="276999"/>
              </a:xfrm>
              <a:prstGeom prst="rect">
                <a:avLst/>
              </a:prstGeom>
              <a:blipFill rotWithShape="0">
                <a:blip r:embed="rId8"/>
                <a:stretch>
                  <a:fillRect l="-16667" r="-14286"/>
                </a:stretch>
              </a:blipFill>
            </p:spPr>
            <p:txBody>
              <a:bodyPr/>
              <a:lstStyle/>
              <a:p>
                <a:r>
                  <a:rPr lang="en-US">
                    <a:noFill/>
                  </a:rPr>
                  <a:t> </a:t>
                </a:r>
              </a:p>
            </p:txBody>
          </p:sp>
        </mc:Fallback>
      </mc:AlternateContent>
      <p:sp>
        <p:nvSpPr>
          <p:cNvPr id="13" name="Right Arrow 12"/>
          <p:cNvSpPr/>
          <p:nvPr/>
        </p:nvSpPr>
        <p:spPr>
          <a:xfrm>
            <a:off x="673027" y="4194969"/>
            <a:ext cx="170120"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ross 17"/>
          <p:cNvSpPr/>
          <p:nvPr/>
        </p:nvSpPr>
        <p:spPr>
          <a:xfrm>
            <a:off x="3786525" y="5392358"/>
            <a:ext cx="282143" cy="282143"/>
          </a:xfrm>
          <a:prstGeom prst="plus">
            <a:avLst>
              <a:gd name="adj" fmla="val 400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134623" y="5348763"/>
            <a:ext cx="1107996" cy="369332"/>
          </a:xfrm>
          <a:prstGeom prst="rect">
            <a:avLst/>
          </a:prstGeom>
        </p:spPr>
        <p:txBody>
          <a:bodyPr wrap="none">
            <a:spAutoFit/>
          </a:bodyPr>
          <a:lstStyle/>
          <a:p>
            <a:r>
              <a:rPr lang="zh-CN" altLang="en-US">
                <a:solidFill>
                  <a:srgbClr val="0000FF"/>
                </a:solidFill>
              </a:rPr>
              <a:t>透视除法</a:t>
            </a:r>
            <a:endParaRPr lang="zh-CN" altLang="en-US" dirty="0">
              <a:solidFill>
                <a:srgbClr val="0000FF"/>
              </a:solidFill>
            </a:endParaRPr>
          </a:p>
        </p:txBody>
      </p:sp>
      <p:sp>
        <p:nvSpPr>
          <p:cNvPr id="21" name="Right Brace 20"/>
          <p:cNvSpPr/>
          <p:nvPr/>
        </p:nvSpPr>
        <p:spPr>
          <a:xfrm>
            <a:off x="5383708" y="4322559"/>
            <a:ext cx="447767" cy="219968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201577" y="4644980"/>
                <a:ext cx="190738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𝑝</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𝑥</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7" name="TextBox 26"/>
              <p:cNvSpPr txBox="1">
                <a:spLocks noRot="1" noChangeAspect="1" noMove="1" noResize="1" noEditPoints="1" noAdjustHandles="1" noChangeArrowheads="1" noChangeShapeType="1" noTextEdit="1"/>
              </p:cNvSpPr>
              <p:nvPr/>
            </p:nvSpPr>
            <p:spPr>
              <a:xfrm>
                <a:off x="6201577" y="4644980"/>
                <a:ext cx="1907382" cy="521681"/>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35431" y="5267158"/>
                <a:ext cx="709489"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𝑝</m:t>
                          </m:r>
                        </m:sub>
                      </m:sSub>
                      <m:r>
                        <a:rPr lang="en-US" altLang="zh-CN" b="0" i="1" smtClean="0">
                          <a:latin typeface="Cambria Math" charset="0"/>
                        </a:rPr>
                        <m:t>=0</m:t>
                      </m:r>
                    </m:oMath>
                  </m:oMathPara>
                </a14:m>
                <a:endParaRPr lang="en-US" altLang="zh-CN" b="0" dirty="0"/>
              </a:p>
            </p:txBody>
          </p:sp>
        </mc:Choice>
        <mc:Fallback xmlns="">
          <p:sp>
            <p:nvSpPr>
              <p:cNvPr id="28" name="TextBox 27"/>
              <p:cNvSpPr txBox="1">
                <a:spLocks noRot="1" noChangeAspect="1" noMove="1" noResize="1" noEditPoints="1" noAdjustHandles="1" noChangeArrowheads="1" noChangeShapeType="1" noTextEdit="1"/>
              </p:cNvSpPr>
              <p:nvPr/>
            </p:nvSpPr>
            <p:spPr>
              <a:xfrm>
                <a:off x="6235431" y="5267158"/>
                <a:ext cx="709489" cy="298415"/>
              </a:xfrm>
              <a:prstGeom prst="rect">
                <a:avLst/>
              </a:prstGeom>
              <a:blipFill rotWithShape="0">
                <a:blip r:embed="rId10"/>
                <a:stretch>
                  <a:fillRect l="-7759" r="-7759" b="-20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235431" y="5793512"/>
                <a:ext cx="189276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𝑝</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𝑧</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9" name="TextBox 28"/>
              <p:cNvSpPr txBox="1">
                <a:spLocks noRot="1" noChangeAspect="1" noMove="1" noResize="1" noEditPoints="1" noAdjustHandles="1" noChangeArrowheads="1" noChangeShapeType="1" noTextEdit="1"/>
              </p:cNvSpPr>
              <p:nvPr/>
            </p:nvSpPr>
            <p:spPr>
              <a:xfrm>
                <a:off x="6235431" y="5793512"/>
                <a:ext cx="1892762" cy="521681"/>
              </a:xfrm>
              <a:prstGeom prst="rect">
                <a:avLst/>
              </a:prstGeom>
              <a:blipFill rotWithShape="0">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242938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阴影效果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透视投影矩阵：</a:t>
                </a:r>
                <a:endParaRPr lang="en-US" altLang="zh-CN" dirty="0"/>
              </a:p>
              <a:p>
                <a:pPr lvl="1">
                  <a:buClr>
                    <a:schemeClr val="tx1"/>
                  </a:buClr>
                </a:pPr>
                <a:r>
                  <a:rPr lang="zh-CN" altLang="en-US" dirty="0"/>
                  <a:t>投影中心在原点</a:t>
                </a:r>
                <a:endParaRPr lang="en-US" altLang="zh-CN" dirty="0"/>
              </a:p>
              <a:p>
                <a:pPr lvl="1">
                  <a:buClr>
                    <a:schemeClr val="tx1"/>
                  </a:buClr>
                </a:pPr>
                <a:r>
                  <a:rPr lang="zh-CN" altLang="en-US" dirty="0"/>
                  <a:t>投影平面为</a:t>
                </a:r>
                <a14:m>
                  <m:oMath xmlns:m="http://schemas.openxmlformats.org/officeDocument/2006/math">
                    <m:r>
                      <a:rPr lang="en-US" altLang="zh-CN" i="1" dirty="0">
                        <a:latin typeface="Cambria Math" charset="0"/>
                      </a:rPr>
                      <m:t>𝑧</m:t>
                    </m:r>
                    <m:r>
                      <a:rPr lang="en-US" altLang="zh-CN" i="1" dirty="0">
                        <a:latin typeface="Cambria Math" charset="0"/>
                      </a:rPr>
                      <m:t>=</m:t>
                    </m:r>
                    <m:r>
                      <a:rPr lang="en-US" altLang="zh-CN" i="1" dirty="0">
                        <a:latin typeface="Cambria Math" charset="0"/>
                      </a:rPr>
                      <m:t>𝑑</m:t>
                    </m:r>
                    <m:r>
                      <a:rPr lang="en-US" altLang="zh-CN" i="1" dirty="0">
                        <a:latin typeface="Cambria Math" charset="0"/>
                      </a:rPr>
                      <m:t>, </m:t>
                    </m:r>
                    <m:r>
                      <a:rPr lang="en-US" altLang="zh-CN" i="1" dirty="0">
                        <a:latin typeface="Cambria Math" charset="0"/>
                      </a:rPr>
                      <m:t>𝑑</m:t>
                    </m:r>
                    <m:r>
                      <a:rPr lang="en-US" altLang="zh-CN" i="1" dirty="0">
                        <a:latin typeface="Cambria Math" charset="0"/>
                      </a:rPr>
                      <m:t>&lt;0</m:t>
                    </m:r>
                  </m:oMath>
                </a14:m>
                <a:endParaRPr lang="en-US" altLang="zh-CN" dirty="0"/>
              </a:p>
              <a:p>
                <a:pPr lvl="1"/>
                <a:endParaRPr lang="en-US" altLang="zh-CN" dirty="0"/>
              </a:p>
              <a:p>
                <a:r>
                  <a:rPr lang="zh-CN" altLang="en-US" dirty="0"/>
                  <a:t>阴影投影矩阵：</a:t>
                </a:r>
                <a:endParaRPr lang="en-US" altLang="zh-CN" dirty="0"/>
              </a:p>
              <a:p>
                <a:pPr lvl="1"/>
                <a:r>
                  <a:rPr lang="zh-CN" altLang="en-US" dirty="0"/>
                  <a:t>投影中心在</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a:p>
                <a:pPr lvl="1"/>
                <a:r>
                  <a:rPr lang="zh-CN" altLang="en-US" dirty="0">
                    <a:sym typeface="Wingdings"/>
                  </a:rPr>
                  <a:t>投影平面为</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=0</m:t>
                    </m:r>
                  </m:oMath>
                </a14:m>
                <a:endParaRPr lang="en-US" dirty="0"/>
              </a:p>
              <a:p>
                <a:pPr lvl="1"/>
                <a:endParaRPr lang="en-US" dirty="0"/>
              </a:p>
              <a:p>
                <a:pPr lvl="1"/>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pic>
        <p:nvPicPr>
          <p:cNvPr id="7" name="图片 6"/>
          <p:cNvPicPr>
            <a:picLocks noChangeAspect="1"/>
          </p:cNvPicPr>
          <p:nvPr/>
        </p:nvPicPr>
        <p:blipFill>
          <a:blip r:embed="rId4"/>
          <a:stretch>
            <a:fillRect/>
          </a:stretch>
        </p:blipFill>
        <p:spPr>
          <a:xfrm>
            <a:off x="5855109" y="2673043"/>
            <a:ext cx="1562208" cy="1805743"/>
          </a:xfrm>
          <a:prstGeom prst="rect">
            <a:avLst/>
          </a:prstGeom>
        </p:spPr>
      </p:pic>
      <p:pic>
        <p:nvPicPr>
          <p:cNvPr id="10" name="图片 14"/>
          <p:cNvPicPr>
            <a:picLocks noChangeAspect="1"/>
          </p:cNvPicPr>
          <p:nvPr/>
        </p:nvPicPr>
        <p:blipFill>
          <a:blip r:embed="rId5"/>
          <a:stretch>
            <a:fillRect/>
          </a:stretch>
        </p:blipFill>
        <p:spPr>
          <a:xfrm>
            <a:off x="4223003" y="1145028"/>
            <a:ext cx="3600035" cy="1470535"/>
          </a:xfrm>
          <a:prstGeom prst="rect">
            <a:avLst/>
          </a:prstGeom>
        </p:spPr>
      </p:pic>
      <p:pic>
        <p:nvPicPr>
          <p:cNvPr id="11" name="图片 8"/>
          <p:cNvPicPr>
            <a:picLocks noChangeAspect="1"/>
          </p:cNvPicPr>
          <p:nvPr/>
        </p:nvPicPr>
        <p:blipFill>
          <a:blip r:embed="rId6"/>
          <a:stretch>
            <a:fillRect/>
          </a:stretch>
        </p:blipFill>
        <p:spPr>
          <a:xfrm>
            <a:off x="8156241" y="1581357"/>
            <a:ext cx="933264" cy="99946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7845940" y="1963855"/>
                <a:ext cx="2532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charset="0"/>
                          <a:ea typeface="Cambria Math" charset="0"/>
                          <a:cs typeface="Cambria Math" charset="0"/>
                        </a:rPr>
                        <m:t>⇒</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845940" y="1963855"/>
                <a:ext cx="253274" cy="276999"/>
              </a:xfrm>
              <a:prstGeom prst="rect">
                <a:avLst/>
              </a:prstGeom>
              <a:blipFill rotWithShape="0">
                <a:blip r:embed="rId8"/>
                <a:stretch>
                  <a:fillRect l="-16667" r="-14286"/>
                </a:stretch>
              </a:blipFill>
            </p:spPr>
            <p:txBody>
              <a:bodyPr/>
              <a:lstStyle/>
              <a:p>
                <a:r>
                  <a:rPr lang="en-US">
                    <a:noFill/>
                  </a:rPr>
                  <a:t> </a:t>
                </a:r>
              </a:p>
            </p:txBody>
          </p:sp>
        </mc:Fallback>
      </mc:AlternateContent>
      <p:sp>
        <p:nvSpPr>
          <p:cNvPr id="13" name="Right Arrow 12"/>
          <p:cNvSpPr/>
          <p:nvPr/>
        </p:nvSpPr>
        <p:spPr>
          <a:xfrm flipH="1">
            <a:off x="5661850" y="5475659"/>
            <a:ext cx="170120"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201577" y="4644980"/>
                <a:ext cx="190738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𝑝</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𝑥</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7" name="TextBox 26"/>
              <p:cNvSpPr txBox="1">
                <a:spLocks noRot="1" noChangeAspect="1" noMove="1" noResize="1" noEditPoints="1" noAdjustHandles="1" noChangeArrowheads="1" noChangeShapeType="1" noTextEdit="1"/>
              </p:cNvSpPr>
              <p:nvPr/>
            </p:nvSpPr>
            <p:spPr>
              <a:xfrm>
                <a:off x="6201577" y="4644980"/>
                <a:ext cx="1907382" cy="521681"/>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35431" y="5267158"/>
                <a:ext cx="709489"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𝑝</m:t>
                          </m:r>
                        </m:sub>
                      </m:sSub>
                      <m:r>
                        <a:rPr lang="en-US" altLang="zh-CN" b="0" i="1" smtClean="0">
                          <a:latin typeface="Cambria Math" charset="0"/>
                        </a:rPr>
                        <m:t>=0</m:t>
                      </m:r>
                    </m:oMath>
                  </m:oMathPara>
                </a14:m>
                <a:endParaRPr lang="en-US" altLang="zh-CN" b="0" dirty="0"/>
              </a:p>
            </p:txBody>
          </p:sp>
        </mc:Choice>
        <mc:Fallback xmlns="">
          <p:sp>
            <p:nvSpPr>
              <p:cNvPr id="28" name="TextBox 27"/>
              <p:cNvSpPr txBox="1">
                <a:spLocks noRot="1" noChangeAspect="1" noMove="1" noResize="1" noEditPoints="1" noAdjustHandles="1" noChangeArrowheads="1" noChangeShapeType="1" noTextEdit="1"/>
              </p:cNvSpPr>
              <p:nvPr/>
            </p:nvSpPr>
            <p:spPr>
              <a:xfrm>
                <a:off x="6235431" y="5267158"/>
                <a:ext cx="709489" cy="298415"/>
              </a:xfrm>
              <a:prstGeom prst="rect">
                <a:avLst/>
              </a:prstGeom>
              <a:blipFill rotWithShape="0">
                <a:blip r:embed="rId10"/>
                <a:stretch>
                  <a:fillRect l="-7759" r="-7759" b="-20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235431" y="5793512"/>
                <a:ext cx="189276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𝑝</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𝑧</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9" name="TextBox 28"/>
              <p:cNvSpPr txBox="1">
                <a:spLocks noRot="1" noChangeAspect="1" noMove="1" noResize="1" noEditPoints="1" noAdjustHandles="1" noChangeArrowheads="1" noChangeShapeType="1" noTextEdit="1"/>
              </p:cNvSpPr>
              <p:nvPr/>
            </p:nvSpPr>
            <p:spPr>
              <a:xfrm>
                <a:off x="6235431" y="5793512"/>
                <a:ext cx="1892762" cy="521681"/>
              </a:xfrm>
              <a:prstGeom prst="rect">
                <a:avLst/>
              </a:prstGeom>
              <a:blipFill rotWithShape="0">
                <a:blip r:embed="rId11"/>
                <a:stretch>
                  <a:fillRect/>
                </a:stretch>
              </a:blipFill>
            </p:spPr>
            <p:txBody>
              <a:bodyPr/>
              <a:lstStyle/>
              <a:p>
                <a:r>
                  <a:rPr lang="en-US">
                    <a:noFill/>
                  </a:rPr>
                  <a:t> </a:t>
                </a:r>
              </a:p>
            </p:txBody>
          </p:sp>
        </mc:Fallback>
      </mc:AlternateContent>
      <p:graphicFrame>
        <p:nvGraphicFramePr>
          <p:cNvPr id="20" name="Object 18">
            <a:extLst>
              <a:ext uri="{FF2B5EF4-FFF2-40B4-BE49-F238E27FC236}">
                <a16:creationId xmlns:a16="http://schemas.microsoft.com/office/drawing/2014/main" id="{113A3349-FE32-4E35-80AB-1B161C7C530A}"/>
              </a:ext>
            </a:extLst>
          </p:cNvPr>
          <p:cNvGraphicFramePr>
            <a:graphicFrameLocks noChangeAspect="1"/>
          </p:cNvGraphicFramePr>
          <p:nvPr>
            <p:extLst>
              <p:ext uri="{D42A27DB-BD31-4B8C-83A1-F6EECF244321}">
                <p14:modId xmlns:p14="http://schemas.microsoft.com/office/powerpoint/2010/main" val="3357840241"/>
              </p:ext>
            </p:extLst>
          </p:nvPr>
        </p:nvGraphicFramePr>
        <p:xfrm>
          <a:off x="1126120" y="4516556"/>
          <a:ext cx="4005695" cy="1300209"/>
        </p:xfrm>
        <a:graphic>
          <a:graphicData uri="http://schemas.openxmlformats.org/presentationml/2006/ole">
            <mc:AlternateContent xmlns:mc="http://schemas.openxmlformats.org/markup-compatibility/2006">
              <mc:Choice xmlns:v="urn:schemas-microsoft-com:vml" Requires="v">
                <p:oleObj name="Equation" r:id="rId12" imgW="2908300" imgH="939800" progId="Equation.DSMT4">
                  <p:embed/>
                </p:oleObj>
              </mc:Choice>
              <mc:Fallback>
                <p:oleObj name="Equation" r:id="rId12" imgW="2908300" imgH="939800" progId="Equation.DSMT4">
                  <p:embed/>
                  <p:pic>
                    <p:nvPicPr>
                      <p:cNvPr id="11" name="Object 18">
                        <a:extLst>
                          <a:ext uri="{FF2B5EF4-FFF2-40B4-BE49-F238E27FC236}">
                            <a16:creationId xmlns:a16="http://schemas.microsoft.com/office/drawing/2014/main" id="{726EEAB6-976F-4710-88CA-4767D31F9E9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26120" y="4516556"/>
                        <a:ext cx="4005695" cy="1300209"/>
                      </a:xfrm>
                      <a:prstGeom prst="rect">
                        <a:avLst/>
                      </a:prstGeom>
                      <a:noFill/>
                    </p:spPr>
                  </p:pic>
                </p:oleObj>
              </mc:Fallback>
            </mc:AlternateContent>
          </a:graphicData>
        </a:graphic>
      </p:graphicFrame>
      <p:sp>
        <p:nvSpPr>
          <p:cNvPr id="22" name="Rounded Rectangle 23">
            <a:extLst>
              <a:ext uri="{FF2B5EF4-FFF2-40B4-BE49-F238E27FC236}">
                <a16:creationId xmlns:a16="http://schemas.microsoft.com/office/drawing/2014/main" id="{556F2B58-27BF-412C-9DC7-E25A19C678B0}"/>
              </a:ext>
            </a:extLst>
          </p:cNvPr>
          <p:cNvSpPr/>
          <p:nvPr/>
        </p:nvSpPr>
        <p:spPr>
          <a:xfrm>
            <a:off x="2909935" y="4507871"/>
            <a:ext cx="1833909" cy="1265072"/>
          </a:xfrm>
          <a:prstGeom prst="roundRect">
            <a:avLst>
              <a:gd name="adj" fmla="val 14431"/>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ounded Rectangular Callout 25">
            <a:extLst>
              <a:ext uri="{FF2B5EF4-FFF2-40B4-BE49-F238E27FC236}">
                <a16:creationId xmlns:a16="http://schemas.microsoft.com/office/drawing/2014/main" id="{0C9715B8-F486-486C-B094-FF791E00E569}"/>
              </a:ext>
            </a:extLst>
          </p:cNvPr>
          <p:cNvSpPr/>
          <p:nvPr/>
        </p:nvSpPr>
        <p:spPr>
          <a:xfrm>
            <a:off x="3826889" y="5917033"/>
            <a:ext cx="1644650" cy="360579"/>
          </a:xfrm>
          <a:prstGeom prst="wedgeRoundRectCallout">
            <a:avLst>
              <a:gd name="adj1" fmla="val -28053"/>
              <a:gd name="adj2" fmla="val -813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楷体" panose="02010609060101010101" pitchFamily="49" charset="-122"/>
                <a:ea typeface="楷体" panose="02010609060101010101" pitchFamily="49" charset="-122"/>
                <a:cs typeface="+mj-cs"/>
              </a:rPr>
              <a:t>阴影投影矩阵</a:t>
            </a:r>
            <a:endParaRPr lang="zh-CN" altLang="en-US" b="1" dirty="0">
              <a:solidFill>
                <a:srgbClr val="FF0000"/>
              </a:solidFill>
              <a:latin typeface="楷体" panose="02010609060101010101" pitchFamily="49" charset="-122"/>
              <a:ea typeface="楷体" panose="02010609060101010101" pitchFamily="49" charset="-122"/>
              <a:cs typeface="+mj-cs"/>
            </a:endParaRPr>
          </a:p>
        </p:txBody>
      </p:sp>
      <p:graphicFrame>
        <p:nvGraphicFramePr>
          <p:cNvPr id="24" name="对象 23">
            <a:extLst>
              <a:ext uri="{FF2B5EF4-FFF2-40B4-BE49-F238E27FC236}">
                <a16:creationId xmlns:a16="http://schemas.microsoft.com/office/drawing/2014/main" id="{02D941DF-C7E3-42F1-B20F-A4424684EB56}"/>
              </a:ext>
            </a:extLst>
          </p:cNvPr>
          <p:cNvGraphicFramePr>
            <a:graphicFrameLocks noChangeAspect="1"/>
          </p:cNvGraphicFramePr>
          <p:nvPr>
            <p:extLst>
              <p:ext uri="{D42A27DB-BD31-4B8C-83A1-F6EECF244321}">
                <p14:modId xmlns:p14="http://schemas.microsoft.com/office/powerpoint/2010/main" val="3073799592"/>
              </p:ext>
            </p:extLst>
          </p:nvPr>
        </p:nvGraphicFramePr>
        <p:xfrm>
          <a:off x="1126120" y="6133988"/>
          <a:ext cx="2418259" cy="604565"/>
        </p:xfrm>
        <a:graphic>
          <a:graphicData uri="http://schemas.openxmlformats.org/presentationml/2006/ole">
            <mc:AlternateContent xmlns:mc="http://schemas.openxmlformats.org/markup-compatibility/2006">
              <mc:Choice xmlns:v="urn:schemas-microsoft-com:vml" Requires="v">
                <p:oleObj r:id="rId14" imgW="1676400" imgH="431800" progId="Equation.DSMT4">
                  <p:embed/>
                </p:oleObj>
              </mc:Choice>
              <mc:Fallback>
                <p:oleObj r:id="rId14" imgW="1676400" imgH="431800" progId="Equation.DSMT4">
                  <p:embed/>
                  <p:pic>
                    <p:nvPicPr>
                      <p:cNvPr id="15" name="对象 14">
                        <a:extLst>
                          <a:ext uri="{FF2B5EF4-FFF2-40B4-BE49-F238E27FC236}">
                            <a16:creationId xmlns:a16="http://schemas.microsoft.com/office/drawing/2014/main" id="{09254AE1-FC3F-4FD1-BB92-E527D27DCC6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26120" y="6133988"/>
                        <a:ext cx="2418259" cy="604565"/>
                      </a:xfrm>
                      <a:prstGeom prst="rect">
                        <a:avLst/>
                      </a:prstGeom>
                      <a:noFill/>
                    </p:spPr>
                  </p:pic>
                </p:oleObj>
              </mc:Fallback>
            </mc:AlternateContent>
          </a:graphicData>
        </a:graphic>
      </p:graphicFrame>
    </p:spTree>
    <p:extLst>
      <p:ext uri="{BB962C8B-B14F-4D97-AF65-F5344CB8AC3E}">
        <p14:creationId xmlns:p14="http://schemas.microsoft.com/office/powerpoint/2010/main" val="1449502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实验</a:t>
            </a:r>
            <a:r>
              <a:rPr lang="en-US" altLang="zh-CN"/>
              <a:t>3.2</a:t>
            </a:r>
            <a:endParaRPr lang="en-US" dirty="0"/>
          </a:p>
        </p:txBody>
      </p:sp>
      <p:sp>
        <p:nvSpPr>
          <p:cNvPr id="3" name="Content Placeholder 2"/>
          <p:cNvSpPr>
            <a:spLocks noGrp="1"/>
          </p:cNvSpPr>
          <p:nvPr>
            <p:ph idx="1"/>
          </p:nvPr>
        </p:nvSpPr>
        <p:spPr>
          <a:xfrm>
            <a:off x="628650" y="1304639"/>
            <a:ext cx="7886700" cy="4351338"/>
          </a:xfrm>
        </p:spPr>
        <p:txBody>
          <a:bodyPr/>
          <a:lstStyle/>
          <a:p>
            <a:r>
              <a:rPr lang="zh-CN" altLang="en-US" dirty="0"/>
              <a:t>阴影</a:t>
            </a:r>
            <a:endParaRPr lang="en-US" altLang="zh-CN" dirty="0"/>
          </a:p>
          <a:p>
            <a:pPr lvl="1"/>
            <a:r>
              <a:rPr lang="zh-CN" altLang="en-US" dirty="0"/>
              <a:t>了解使用投影变换实现场景的硬阴影效果</a:t>
            </a:r>
            <a:endParaRPr 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26</a:t>
            </a:fld>
            <a:endParaRPr lang="zh-CN" altLang="en-US" dirty="0"/>
          </a:p>
        </p:txBody>
      </p:sp>
      <p:pic>
        <p:nvPicPr>
          <p:cNvPr id="7" name="图片 6" descr="图片包含 图形用户界面&#10;&#10;描述已自动生成">
            <a:extLst>
              <a:ext uri="{FF2B5EF4-FFF2-40B4-BE49-F238E27FC236}">
                <a16:creationId xmlns:a16="http://schemas.microsoft.com/office/drawing/2014/main" id="{85066155-5EEC-4C8F-A9AD-BB536B4191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7548" y="2439091"/>
            <a:ext cx="4544909" cy="4323204"/>
          </a:xfrm>
          <a:prstGeom prst="rect">
            <a:avLst/>
          </a:prstGeom>
        </p:spPr>
      </p:pic>
    </p:spTree>
    <p:extLst>
      <p:ext uri="{BB962C8B-B14F-4D97-AF65-F5344CB8AC3E}">
        <p14:creationId xmlns:p14="http://schemas.microsoft.com/office/powerpoint/2010/main" val="1530234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矩形 1">
            <a:extLst>
              <a:ext uri="{FF2B5EF4-FFF2-40B4-BE49-F238E27FC236}">
                <a16:creationId xmlns:a16="http://schemas.microsoft.com/office/drawing/2014/main" id="{7BA185D1-9D12-B248-B94C-567587182147}"/>
              </a:ext>
            </a:extLst>
          </p:cNvPr>
          <p:cNvSpPr/>
          <p:nvPr/>
        </p:nvSpPr>
        <p:spPr>
          <a:xfrm>
            <a:off x="0" y="0"/>
            <a:ext cx="9144000" cy="1262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7">
            <a:extLst>
              <a:ext uri="{FF2B5EF4-FFF2-40B4-BE49-F238E27FC236}">
                <a16:creationId xmlns:a16="http://schemas.microsoft.com/office/drawing/2014/main" id="{87D1C220-973A-3F44-9DC0-FF87BEBED0B3}"/>
              </a:ext>
            </a:extLst>
          </p:cNvPr>
          <p:cNvSpPr/>
          <p:nvPr/>
        </p:nvSpPr>
        <p:spPr>
          <a:xfrm>
            <a:off x="2951204" y="149764"/>
            <a:ext cx="3241592" cy="1569660"/>
          </a:xfrm>
          <a:prstGeom prst="rect">
            <a:avLst/>
          </a:prstGeom>
        </p:spPr>
        <p:txBody>
          <a:bodyPr wrap="none">
            <a:spAutoFit/>
          </a:bodyPr>
          <a:lstStyle/>
          <a:p>
            <a:pPr algn="ctr"/>
            <a:r>
              <a:rPr lang="en-US" altLang="zh-CN" sz="9600" b="1" dirty="0">
                <a:solidFill>
                  <a:srgbClr val="94003F"/>
                </a:solidFill>
                <a:latin typeface="微软雅黑" panose="020B0503020204020204" pitchFamily="34" charset="-122"/>
                <a:ea typeface="微软雅黑" panose="020B0503020204020204" pitchFamily="34" charset="-122"/>
              </a:rPr>
              <a:t>Q&amp;A</a:t>
            </a:r>
            <a:endParaRPr lang="zh-CN" altLang="en-US" sz="9600" b="1" dirty="0">
              <a:solidFill>
                <a:srgbClr val="94003F"/>
              </a:solidFill>
              <a:latin typeface="微软雅黑" panose="020B0503020204020204" pitchFamily="34" charset="-122"/>
              <a:ea typeface="微软雅黑" panose="020B0503020204020204" pitchFamily="34" charset="-122"/>
            </a:endParaRPr>
          </a:p>
        </p:txBody>
      </p:sp>
      <p:pic>
        <p:nvPicPr>
          <p:cNvPr id="14" name="图片 11">
            <a:extLst>
              <a:ext uri="{FF2B5EF4-FFF2-40B4-BE49-F238E27FC236}">
                <a16:creationId xmlns:a16="http://schemas.microsoft.com/office/drawing/2014/main" id="{793813C9-14E8-6F4B-9CE5-B988AB77AEE8}"/>
              </a:ext>
            </a:extLst>
          </p:cNvPr>
          <p:cNvPicPr>
            <a:picLocks noChangeAspect="1"/>
          </p:cNvPicPr>
          <p:nvPr/>
        </p:nvPicPr>
        <p:blipFill>
          <a:blip r:embed="rId3"/>
          <a:stretch>
            <a:fillRect/>
          </a:stretch>
        </p:blipFill>
        <p:spPr>
          <a:xfrm>
            <a:off x="1787450" y="1991082"/>
            <a:ext cx="1112742" cy="1112742"/>
          </a:xfrm>
          <a:prstGeom prst="rect">
            <a:avLst/>
          </a:prstGeom>
        </p:spPr>
      </p:pic>
      <p:sp>
        <p:nvSpPr>
          <p:cNvPr id="15" name="圆角矩形 13">
            <a:extLst>
              <a:ext uri="{FF2B5EF4-FFF2-40B4-BE49-F238E27FC236}">
                <a16:creationId xmlns:a16="http://schemas.microsoft.com/office/drawing/2014/main" id="{84715595-6D88-0F41-9C11-BF166C8A2EE9}"/>
              </a:ext>
            </a:extLst>
          </p:cNvPr>
          <p:cNvSpPr/>
          <p:nvPr/>
        </p:nvSpPr>
        <p:spPr>
          <a:xfrm>
            <a:off x="5780902" y="3127217"/>
            <a:ext cx="2109764"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vcc.szu.edu.cn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圆角矩形 14">
            <a:extLst>
              <a:ext uri="{FF2B5EF4-FFF2-40B4-BE49-F238E27FC236}">
                <a16:creationId xmlns:a16="http://schemas.microsoft.com/office/drawing/2014/main" id="{3B8A8A15-29BE-154B-A49F-C6ED0154E7CB}"/>
              </a:ext>
            </a:extLst>
          </p:cNvPr>
          <p:cNvSpPr/>
          <p:nvPr/>
        </p:nvSpPr>
        <p:spPr>
          <a:xfrm>
            <a:off x="1182455" y="3127217"/>
            <a:ext cx="2387218"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www.szu.edu.cn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矩形 6">
            <a:extLst>
              <a:ext uri="{FF2B5EF4-FFF2-40B4-BE49-F238E27FC236}">
                <a16:creationId xmlns:a16="http://schemas.microsoft.com/office/drawing/2014/main" id="{08013E64-A115-D249-861B-2F1E8B61D586}"/>
              </a:ext>
            </a:extLst>
          </p:cNvPr>
          <p:cNvSpPr/>
          <p:nvPr/>
        </p:nvSpPr>
        <p:spPr>
          <a:xfrm>
            <a:off x="3633282" y="3621719"/>
            <a:ext cx="1877437" cy="769441"/>
          </a:xfrm>
          <a:prstGeom prst="rect">
            <a:avLst/>
          </a:prstGeom>
        </p:spPr>
        <p:txBody>
          <a:bodyPr wrap="none">
            <a:spAutoFit/>
          </a:bodyPr>
          <a:lstStyle/>
          <a:p>
            <a:pPr algn="ctr"/>
            <a:r>
              <a:rPr lang="zh-CN" altLang="en-US" sz="4400" dirty="0">
                <a:latin typeface="叶根友刀锋黑草" panose="02010601030101010101" pitchFamily="2" charset="-122"/>
                <a:ea typeface="叶根友刀锋黑草" panose="02010601030101010101" pitchFamily="2" charset="-122"/>
              </a:rPr>
              <a:t>胡瑞珍</a:t>
            </a:r>
          </a:p>
        </p:txBody>
      </p:sp>
      <p:sp>
        <p:nvSpPr>
          <p:cNvPr id="18" name="圆角矩形 12">
            <a:extLst>
              <a:ext uri="{FF2B5EF4-FFF2-40B4-BE49-F238E27FC236}">
                <a16:creationId xmlns:a16="http://schemas.microsoft.com/office/drawing/2014/main" id="{1E99E76C-030D-9048-A93B-3ACF2D6ADD3D}"/>
              </a:ext>
            </a:extLst>
          </p:cNvPr>
          <p:cNvSpPr/>
          <p:nvPr/>
        </p:nvSpPr>
        <p:spPr>
          <a:xfrm>
            <a:off x="2350083" y="4391160"/>
            <a:ext cx="4443833"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hlinkClick r:id="rId4"/>
              </a:rPr>
              <a:t>http://</a:t>
            </a:r>
            <a:r>
              <a:rPr lang="en-US" altLang="zh-CN" sz="2000" b="1" dirty="0" err="1">
                <a:solidFill>
                  <a:schemeClr val="tx1">
                    <a:lumMod val="65000"/>
                    <a:lumOff val="35000"/>
                  </a:schemeClr>
                </a:solidFill>
                <a:hlinkClick r:id="rId4"/>
              </a:rPr>
              <a:t>csse.szu.edu.cn</a:t>
            </a:r>
            <a:r>
              <a:rPr lang="en-US" altLang="zh-CN" sz="2000" b="1" dirty="0">
                <a:solidFill>
                  <a:schemeClr val="tx1">
                    <a:lumMod val="65000"/>
                    <a:lumOff val="35000"/>
                  </a:schemeClr>
                </a:solidFill>
                <a:hlinkClick r:id="rId4"/>
              </a:rPr>
              <a:t>/staff/</a:t>
            </a:r>
            <a:r>
              <a:rPr lang="en-US" altLang="zh-CN" sz="2000" b="1" dirty="0" err="1">
                <a:solidFill>
                  <a:schemeClr val="tx1">
                    <a:lumMod val="65000"/>
                    <a:lumOff val="35000"/>
                  </a:schemeClr>
                </a:solidFill>
                <a:hlinkClick r:id="rId4"/>
              </a:rPr>
              <a:t>ruizhenhu</a:t>
            </a:r>
            <a:r>
              <a:rPr lang="en-US" altLang="zh-CN" sz="2000" b="1" dirty="0">
                <a:solidFill>
                  <a:schemeClr val="tx1">
                    <a:lumMod val="65000"/>
                    <a:lumOff val="35000"/>
                  </a:schemeClr>
                </a:solidFill>
                <a:hlinkClick r:id="rId4"/>
              </a:rPr>
              <a:t>/</a:t>
            </a:r>
            <a:endParaRPr lang="zh-CN" altLang="en-US" sz="2000" b="1" dirty="0">
              <a:solidFill>
                <a:schemeClr val="tx1">
                  <a:lumMod val="65000"/>
                  <a:lumOff val="35000"/>
                </a:schemeClr>
              </a:solidFill>
            </a:endParaRPr>
          </a:p>
        </p:txBody>
      </p:sp>
      <p:pic>
        <p:nvPicPr>
          <p:cNvPr id="19" name="Picture 18">
            <a:extLst>
              <a:ext uri="{FF2B5EF4-FFF2-40B4-BE49-F238E27FC236}">
                <a16:creationId xmlns:a16="http://schemas.microsoft.com/office/drawing/2014/main" id="{F3FA53EE-4B53-124B-9010-B34BD8A0C05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9751" y="2004825"/>
            <a:ext cx="1132065" cy="1132065"/>
          </a:xfrm>
          <a:prstGeom prst="rect">
            <a:avLst/>
          </a:prstGeom>
        </p:spPr>
      </p:pic>
      <p:pic>
        <p:nvPicPr>
          <p:cNvPr id="28" name="Picture 27">
            <a:extLst>
              <a:ext uri="{FF2B5EF4-FFF2-40B4-BE49-F238E27FC236}">
                <a16:creationId xmlns:a16="http://schemas.microsoft.com/office/drawing/2014/main" id="{DCA28245-BD41-3047-A525-18FD3A9C74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5821" y="1851421"/>
            <a:ext cx="1638300" cy="1638300"/>
          </a:xfrm>
          <a:prstGeom prst="rect">
            <a:avLst/>
          </a:prstGeom>
        </p:spPr>
      </p:pic>
    </p:spTree>
    <p:extLst>
      <p:ext uri="{BB962C8B-B14F-4D97-AF65-F5344CB8AC3E}">
        <p14:creationId xmlns:p14="http://schemas.microsoft.com/office/powerpoint/2010/main" val="158670330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5761</TotalTime>
  <Words>1463</Words>
  <Application>Microsoft Office PowerPoint</Application>
  <PresentationFormat>全屏显示(4:3)</PresentationFormat>
  <Paragraphs>290</Paragraphs>
  <Slides>27</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27</vt:i4>
      </vt:variant>
    </vt:vector>
  </HeadingPairs>
  <TitlesOfParts>
    <vt:vector size="39" baseType="lpstr">
      <vt:lpstr>04b</vt:lpstr>
      <vt:lpstr>ZztexMono-Regular</vt:lpstr>
      <vt:lpstr>楷体</vt:lpstr>
      <vt:lpstr>微软雅黑</vt:lpstr>
      <vt:lpstr>叶根友刀锋黑草</vt:lpstr>
      <vt:lpstr>Arial</vt:lpstr>
      <vt:lpstr>Calibri</vt:lpstr>
      <vt:lpstr>Cambria Math</vt:lpstr>
      <vt:lpstr>Wingdings</vt:lpstr>
      <vt:lpstr>Office 主题</vt:lpstr>
      <vt:lpstr>Equation</vt:lpstr>
      <vt:lpstr>Equation.DSMT4</vt:lpstr>
      <vt:lpstr>PowerPoint 演示文稿</vt:lpstr>
      <vt:lpstr>实验常见问题</vt:lpstr>
      <vt:lpstr>知识点回顾 - LookAt函数</vt:lpstr>
      <vt:lpstr>知识点回顾 - 模型视图矩阵的计算</vt:lpstr>
      <vt:lpstr>知识点回顾 - 对投影的理解</vt:lpstr>
      <vt:lpstr>知识点回顾 - 投影规范化</vt:lpstr>
      <vt:lpstr>知识点回顾 - 正交投影</vt:lpstr>
      <vt:lpstr>知识点回顾 - OpenGL中的正交投影</vt:lpstr>
      <vt:lpstr>知识点回顾 - 正交投影矩阵</vt:lpstr>
      <vt:lpstr>知识点回顾 - 隐藏面消除</vt:lpstr>
      <vt:lpstr>知识点回顾 - 隐藏面消除算法</vt:lpstr>
      <vt:lpstr>知识点回顾 - 隐藏面消除算法</vt:lpstr>
      <vt:lpstr>知识点回顾 - 简单透视</vt:lpstr>
      <vt:lpstr>知识点回顾 - 透视除法</vt:lpstr>
      <vt:lpstr>知识点回顾 - OpenGL的透视投影</vt:lpstr>
      <vt:lpstr>知识点回顾 - OpenGL的透视投影函数</vt:lpstr>
      <vt:lpstr>知识点回顾 - OpenGL的透视变换</vt:lpstr>
      <vt:lpstr>知识点回顾 - 透视规范化</vt:lpstr>
      <vt:lpstr>知识点回顾 - OpenGL的透视变换</vt:lpstr>
      <vt:lpstr>知识点回顾 - OpenGL的透视变换</vt:lpstr>
      <vt:lpstr>知识点回顾 - 投影变换总结</vt:lpstr>
      <vt:lpstr>大纲</vt:lpstr>
      <vt:lpstr>阴影效果</vt:lpstr>
      <vt:lpstr>阴影效果</vt:lpstr>
      <vt:lpstr>阴影效果</vt:lpstr>
      <vt:lpstr>实验3.2</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tkw</cp:lastModifiedBy>
  <cp:revision>571</cp:revision>
  <dcterms:created xsi:type="dcterms:W3CDTF">2016-08-04T07:29:19Z</dcterms:created>
  <dcterms:modified xsi:type="dcterms:W3CDTF">2025-10-21T02:38:36Z</dcterms:modified>
</cp:coreProperties>
</file>