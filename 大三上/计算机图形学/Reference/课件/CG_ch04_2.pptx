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1"/>
  </p:notesMasterIdLst>
  <p:sldIdLst>
    <p:sldId id="390" r:id="rId2"/>
    <p:sldId id="379" r:id="rId3"/>
    <p:sldId id="380" r:id="rId4"/>
    <p:sldId id="381" r:id="rId5"/>
    <p:sldId id="382" r:id="rId6"/>
    <p:sldId id="389" r:id="rId7"/>
    <p:sldId id="383" r:id="rId8"/>
    <p:sldId id="258" r:id="rId9"/>
    <p:sldId id="298" r:id="rId10"/>
    <p:sldId id="277" r:id="rId11"/>
    <p:sldId id="313" r:id="rId12"/>
    <p:sldId id="279" r:id="rId13"/>
    <p:sldId id="378" r:id="rId14"/>
    <p:sldId id="332" r:id="rId15"/>
    <p:sldId id="314" r:id="rId16"/>
    <p:sldId id="315" r:id="rId17"/>
    <p:sldId id="333" r:id="rId18"/>
    <p:sldId id="334" r:id="rId19"/>
    <p:sldId id="280" r:id="rId20"/>
    <p:sldId id="316" r:id="rId21"/>
    <p:sldId id="335" r:id="rId22"/>
    <p:sldId id="399" r:id="rId23"/>
    <p:sldId id="317" r:id="rId24"/>
    <p:sldId id="318" r:id="rId25"/>
    <p:sldId id="319" r:id="rId26"/>
    <p:sldId id="320" r:id="rId27"/>
    <p:sldId id="397" r:id="rId28"/>
    <p:sldId id="336" r:id="rId29"/>
    <p:sldId id="398" r:id="rId30"/>
    <p:sldId id="400" r:id="rId31"/>
    <p:sldId id="401" r:id="rId32"/>
    <p:sldId id="402" r:id="rId33"/>
    <p:sldId id="403" r:id="rId34"/>
    <p:sldId id="337" r:id="rId35"/>
    <p:sldId id="370" r:id="rId36"/>
    <p:sldId id="371" r:id="rId37"/>
    <p:sldId id="372" r:id="rId38"/>
    <p:sldId id="377" r:id="rId39"/>
    <p:sldId id="373" r:id="rId40"/>
    <p:sldId id="374" r:id="rId41"/>
    <p:sldId id="375" r:id="rId42"/>
    <p:sldId id="376" r:id="rId43"/>
    <p:sldId id="292" r:id="rId44"/>
    <p:sldId id="348" r:id="rId45"/>
    <p:sldId id="395" r:id="rId46"/>
    <p:sldId id="396" r:id="rId47"/>
    <p:sldId id="393" r:id="rId48"/>
    <p:sldId id="384" r:id="rId49"/>
    <p:sldId id="394" r:id="rId5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B1F0"/>
    <a:srgbClr val="464DD9"/>
    <a:srgbClr val="BDD7EE"/>
    <a:srgbClr val="A50021"/>
    <a:srgbClr val="7030A0"/>
    <a:srgbClr val="5B9BD5"/>
    <a:srgbClr val="D5A6DF"/>
    <a:srgbClr val="FF91C8"/>
    <a:srgbClr val="99CC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188" autoAdjust="0"/>
    <p:restoredTop sz="92997" autoAdjust="0"/>
  </p:normalViewPr>
  <p:slideViewPr>
    <p:cSldViewPr snapToGrid="0">
      <p:cViewPr varScale="1">
        <p:scale>
          <a:sx n="148" d="100"/>
          <a:sy n="148" d="100"/>
        </p:scale>
        <p:origin x="84"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264AA-669E-4804-A1D5-94FA36B6DCCD}" type="datetimeFigureOut">
              <a:rPr lang="zh-CN" altLang="en-US" smtClean="0"/>
              <a:t>2023/10/25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C56F0-BEE5-4715-8E33-DABC78619DE8}" type="slidenum">
              <a:rPr lang="zh-CN" altLang="en-US" smtClean="0"/>
              <a:t>‹#›</a:t>
            </a:fld>
            <a:endParaRPr lang="zh-CN" altLang="en-US"/>
          </a:p>
        </p:txBody>
      </p:sp>
    </p:spTree>
    <p:extLst>
      <p:ext uri="{BB962C8B-B14F-4D97-AF65-F5344CB8AC3E}">
        <p14:creationId xmlns:p14="http://schemas.microsoft.com/office/powerpoint/2010/main" val="1767748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DC56F0-BEE5-4715-8E33-DABC78619DE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6458384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2.6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10</a:t>
            </a:fld>
            <a:endParaRPr lang="zh-CN" altLang="en-US"/>
          </a:p>
        </p:txBody>
      </p:sp>
    </p:spTree>
    <p:extLst>
      <p:ext uri="{BB962C8B-B14F-4D97-AF65-F5344CB8AC3E}">
        <p14:creationId xmlns:p14="http://schemas.microsoft.com/office/powerpoint/2010/main" val="3071669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2.6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19</a:t>
            </a:fld>
            <a:endParaRPr lang="zh-CN" altLang="en-US"/>
          </a:p>
        </p:txBody>
      </p:sp>
    </p:spTree>
    <p:extLst>
      <p:ext uri="{BB962C8B-B14F-4D97-AF65-F5344CB8AC3E}">
        <p14:creationId xmlns:p14="http://schemas.microsoft.com/office/powerpoint/2010/main" val="143380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22</a:t>
            </a:fld>
            <a:endParaRPr lang="zh-CN" altLang="en-US"/>
          </a:p>
        </p:txBody>
      </p:sp>
    </p:spTree>
    <p:extLst>
      <p:ext uri="{BB962C8B-B14F-4D97-AF65-F5344CB8AC3E}">
        <p14:creationId xmlns:p14="http://schemas.microsoft.com/office/powerpoint/2010/main" val="1540662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2.7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35</a:t>
            </a:fld>
            <a:endParaRPr lang="zh-CN" altLang="en-US"/>
          </a:p>
        </p:txBody>
      </p:sp>
    </p:spTree>
    <p:extLst>
      <p:ext uri="{BB962C8B-B14F-4D97-AF65-F5344CB8AC3E}">
        <p14:creationId xmlns:p14="http://schemas.microsoft.com/office/powerpoint/2010/main" val="10722529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2.7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39</a:t>
            </a:fld>
            <a:endParaRPr lang="zh-CN" altLang="en-US"/>
          </a:p>
        </p:txBody>
      </p:sp>
    </p:spTree>
    <p:extLst>
      <p:ext uri="{BB962C8B-B14F-4D97-AF65-F5344CB8AC3E}">
        <p14:creationId xmlns:p14="http://schemas.microsoft.com/office/powerpoint/2010/main" val="11204725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2.7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43</a:t>
            </a:fld>
            <a:endParaRPr lang="zh-CN" altLang="en-US"/>
          </a:p>
        </p:txBody>
      </p:sp>
    </p:spTree>
    <p:extLst>
      <p:ext uri="{BB962C8B-B14F-4D97-AF65-F5344CB8AC3E}">
        <p14:creationId xmlns:p14="http://schemas.microsoft.com/office/powerpoint/2010/main" val="3149890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CEBE31F-852E-4C21-A5BF-45A621D063B7}" type="datetime1">
              <a:rPr lang="zh-CN" altLang="en-US" smtClean="0"/>
              <a:t>2023/10/25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80746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A2D8B5D-A758-4441-AB52-89DDE7AF36E5}" type="datetime1">
              <a:rPr lang="zh-CN" altLang="en-US" smtClean="0"/>
              <a:t>2023/10/25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fld id="{EB792F4E-54C0-4D36-B331-9C6FCFE9A340}" type="slidenum">
              <a:rPr lang="zh-CN" altLang="en-US" smtClean="0"/>
              <a:pPr/>
              <a:t>‹#›</a:t>
            </a:fld>
            <a:endParaRPr lang="zh-CN" altLang="en-US" dirty="0"/>
          </a:p>
        </p:txBody>
      </p:sp>
    </p:spTree>
    <p:extLst>
      <p:ext uri="{BB962C8B-B14F-4D97-AF65-F5344CB8AC3E}">
        <p14:creationId xmlns:p14="http://schemas.microsoft.com/office/powerpoint/2010/main" val="245115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CD77614-659B-42BB-94D6-453193BCDAC9}" type="datetime1">
              <a:rPr lang="zh-CN" altLang="en-US" smtClean="0"/>
              <a:t>2023/10/25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111727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6079A146-8CD6-4CAA-B3D3-2C21DC42388C}" type="datetime1">
              <a:rPr lang="zh-CN" altLang="en-US" smtClean="0"/>
              <a:t>2023/10/25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715320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9636B5B9-9CF5-47F0-9553-3F68E4080617}" type="datetime1">
              <a:rPr lang="zh-CN" altLang="en-US" smtClean="0"/>
              <a:t>2023/10/25</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4105259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CA754A2-9B8A-4D21-BA10-2D4311C5CCE9}" type="datetime1">
              <a:rPr lang="zh-CN" altLang="en-US" smtClean="0"/>
              <a:t>2023/10/25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793511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081895-D564-41D2-A6FC-FB534A168770}" type="datetime1">
              <a:rPr lang="zh-CN" altLang="en-US" smtClean="0"/>
              <a:t>2023/10/25</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55501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2D9337D-A0CC-4C7E-87C9-35D7F76F26E6}" type="datetime1">
              <a:rPr lang="zh-CN" altLang="en-US" smtClean="0"/>
              <a:t>2023/10/25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47949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A811D75-C662-4506-9923-F360C490CD83}" type="datetime1">
              <a:rPr lang="zh-CN" altLang="en-US" smtClean="0"/>
              <a:t>2023/10/25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985827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92DDD6D4-6C22-42E4-BD00-B5AB433AEB75}" type="datetime1">
              <a:rPr lang="zh-CN" altLang="en-US" smtClean="0"/>
              <a:t>2023/10/25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186778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D0094D1-277E-4F0D-A9D3-6C723ED9405F}" type="datetime1">
              <a:rPr lang="zh-CN" altLang="en-US" smtClean="0"/>
              <a:t>2023/10/25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2979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4204977B-C4EC-482F-96C1-0349DC329330}" type="datetime1">
              <a:rPr lang="zh-CN" altLang="en-US" smtClean="0"/>
              <a:t>2023/10/25</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微软雅黑" panose="020B0503020204020204" pitchFamily="34" charset="-122"/>
                <a:ea typeface="微软雅黑" panose="020B0503020204020204" pitchFamily="34" charset="-122"/>
              </a:defRPr>
            </a:lvl1pPr>
          </a:lstStyle>
          <a:p>
            <a:fld id="{EB792F4E-54C0-4D36-B331-9C6FCFE9A340}" type="slidenum">
              <a:rPr lang="zh-CN" altLang="en-US" smtClean="0"/>
              <a:pPr/>
              <a:t>‹#›</a:t>
            </a:fld>
            <a:endParaRPr lang="zh-CN" altLang="en-US"/>
          </a:p>
        </p:txBody>
      </p:sp>
      <p:sp>
        <p:nvSpPr>
          <p:cNvPr id="8" name="矩形 7"/>
          <p:cNvSpPr/>
          <p:nvPr userDrawn="1"/>
        </p:nvSpPr>
        <p:spPr>
          <a:xfrm>
            <a:off x="7835710" y="144689"/>
            <a:ext cx="1355499" cy="369332"/>
          </a:xfrm>
          <a:prstGeom prst="rect">
            <a:avLst/>
          </a:prstGeom>
        </p:spPr>
        <p:txBody>
          <a:bodyPr wrap="none">
            <a:spAutoFit/>
          </a:bodyPr>
          <a:lstStyle/>
          <a:p>
            <a:pPr algn="ctr"/>
            <a:r>
              <a:rPr lang="zh-CN" altLang="en-US" sz="1800" b="1" dirty="0">
                <a:solidFill>
                  <a:schemeClr val="bg1"/>
                </a:solidFill>
                <a:latin typeface="微软雅黑" panose="020B0503020204020204" pitchFamily="34" charset="-122"/>
                <a:ea typeface="微软雅黑" panose="020B0503020204020204" pitchFamily="34" charset="-122"/>
              </a:rPr>
              <a:t>VCC@SZU</a:t>
            </a:r>
          </a:p>
        </p:txBody>
      </p:sp>
    </p:spTree>
    <p:extLst>
      <p:ext uri="{BB962C8B-B14F-4D97-AF65-F5344CB8AC3E}">
        <p14:creationId xmlns:p14="http://schemas.microsoft.com/office/powerpoint/2010/main" val="2333284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j-cs"/>
        </a:defRPr>
      </a:lvl1pPr>
    </p:titleStyle>
    <p:bodyStyle>
      <a:lvl1pPr marL="360000" indent="-360000"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jpeg"/><Relationship Id="rId1" Type="http://schemas.openxmlformats.org/officeDocument/2006/relationships/slideLayout" Target="../slideLayouts/slideLayout6.xml"/><Relationship Id="rId4" Type="http://schemas.openxmlformats.org/officeDocument/2006/relationships/image" Target="../media/image9.emf"/></Relationships>
</file>

<file path=ppt/slides/_rels/slide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76.pn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14.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emf"/><Relationship Id="rId1" Type="http://schemas.openxmlformats.org/officeDocument/2006/relationships/slideLayout" Target="../slideLayouts/slideLayout2.xml"/><Relationship Id="rId4" Type="http://schemas.openxmlformats.org/officeDocument/2006/relationships/image" Target="../media/image16.emf"/></Relationships>
</file>

<file path=ppt/slides/_rels/slide12.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15.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4.emf"/><Relationship Id="rId5" Type="http://schemas.openxmlformats.org/officeDocument/2006/relationships/image" Target="../media/image23.emf"/><Relationship Id="rId4" Type="http://schemas.openxmlformats.org/officeDocument/2006/relationships/image" Target="../media/image22.emf"/></Relationships>
</file>

<file path=ppt/slides/_rels/slide1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emf"/></Relationships>
</file>

<file path=ppt/slides/_rels/slide18.xml.rels><?xml version="1.0" encoding="UTF-8" standalone="yes"?>
<Relationships xmlns="http://schemas.openxmlformats.org/package/2006/relationships"><Relationship Id="rId8" Type="http://schemas.openxmlformats.org/officeDocument/2006/relationships/image" Target="../media/image220.png"/><Relationship Id="rId3" Type="http://schemas.openxmlformats.org/officeDocument/2006/relationships/image" Target="../media/image29.emf"/><Relationship Id="rId7" Type="http://schemas.openxmlformats.org/officeDocument/2006/relationships/image" Target="../media/image32.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25.png"/><Relationship Id="rId4" Type="http://schemas.openxmlformats.org/officeDocument/2006/relationships/image" Target="../media/image30.emf"/><Relationship Id="rId9" Type="http://schemas.openxmlformats.org/officeDocument/2006/relationships/image" Target="../media/image24.e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slideLayout" Target="../slideLayouts/slideLayout2.xml"/><Relationship Id="rId5" Type="http://schemas.openxmlformats.org/officeDocument/2006/relationships/image" Target="../media/image34.emf"/><Relationship Id="rId4" Type="http://schemas.openxmlformats.org/officeDocument/2006/relationships/image" Target="../media/image33.emf"/></Relationships>
</file>

<file path=ppt/slides/_rels/slide21.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6.emf"/></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6.emf"/><Relationship Id="rId5" Type="http://schemas.openxmlformats.org/officeDocument/2006/relationships/image" Target="../media/image35.emf"/><Relationship Id="rId4" Type="http://schemas.openxmlformats.org/officeDocument/2006/relationships/image" Target="../media/image37.emf"/></Relationships>
</file>

<file path=ppt/slides/_rels/slide23.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40.emf"/><Relationship Id="rId4" Type="http://schemas.openxmlformats.org/officeDocument/2006/relationships/image" Target="../media/image39.emf"/></Relationships>
</file>

<file path=ppt/slides/_rels/slide24.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6.emf"/><Relationship Id="rId7" Type="http://schemas.openxmlformats.org/officeDocument/2006/relationships/image" Target="../media/image51.png"/><Relationship Id="rId12" Type="http://schemas.openxmlformats.org/officeDocument/2006/relationships/image" Target="../media/image55.png"/><Relationship Id="rId2" Type="http://schemas.openxmlformats.org/officeDocument/2006/relationships/image" Target="../media/image45.emf"/><Relationship Id="rId1" Type="http://schemas.openxmlformats.org/officeDocument/2006/relationships/slideLayout" Target="../slideLayouts/slideLayout2.xml"/><Relationship Id="rId6" Type="http://schemas.openxmlformats.org/officeDocument/2006/relationships/image" Target="../media/image50.png"/><Relationship Id="rId11" Type="http://schemas.openxmlformats.org/officeDocument/2006/relationships/image" Target="../media/image54.png"/><Relationship Id="rId5" Type="http://schemas.openxmlformats.org/officeDocument/2006/relationships/image" Target="../media/image48.emf"/><Relationship Id="rId10" Type="http://schemas.openxmlformats.org/officeDocument/2006/relationships/image" Target="../media/image49.png"/><Relationship Id="rId4" Type="http://schemas.openxmlformats.org/officeDocument/2006/relationships/image" Target="../media/image47.emf"/><Relationship Id="rId9" Type="http://schemas.openxmlformats.org/officeDocument/2006/relationships/image" Target="../media/image53.png"/></Relationships>
</file>

<file path=ppt/slides/_rels/slide27.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48.emf"/><Relationship Id="rId7" Type="http://schemas.openxmlformats.org/officeDocument/2006/relationships/image" Target="../media/image52.emf"/><Relationship Id="rId2" Type="http://schemas.openxmlformats.org/officeDocument/2006/relationships/image" Target="../media/image47.emf"/><Relationship Id="rId1" Type="http://schemas.openxmlformats.org/officeDocument/2006/relationships/slideLayout" Target="../slideLayouts/slideLayout2.xml"/><Relationship Id="rId6" Type="http://schemas.openxmlformats.org/officeDocument/2006/relationships/image" Target="../media/image51.emf"/><Relationship Id="rId11" Type="http://schemas.openxmlformats.org/officeDocument/2006/relationships/image" Target="../media/image64.png"/><Relationship Id="rId5" Type="http://schemas.openxmlformats.org/officeDocument/2006/relationships/image" Target="../media/image50.emf"/><Relationship Id="rId10" Type="http://schemas.openxmlformats.org/officeDocument/2006/relationships/image" Target="../media/image63.png"/><Relationship Id="rId4" Type="http://schemas.openxmlformats.org/officeDocument/2006/relationships/image" Target="../media/image49.emf"/><Relationship Id="rId9" Type="http://schemas.openxmlformats.org/officeDocument/2006/relationships/image" Target="../media/image53.emf"/></Relationships>
</file>

<file path=ppt/slides/_rels/slide28.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emf"/><Relationship Id="rId1" Type="http://schemas.openxmlformats.org/officeDocument/2006/relationships/slideLayout" Target="../slideLayouts/slideLayout2.xml"/><Relationship Id="rId6" Type="http://schemas.openxmlformats.org/officeDocument/2006/relationships/image" Target="../media/image58.emf"/><Relationship Id="rId5" Type="http://schemas.openxmlformats.org/officeDocument/2006/relationships/image" Target="../media/image57.emf"/><Relationship Id="rId4" Type="http://schemas.openxmlformats.org/officeDocument/2006/relationships/image" Target="../media/image56.emf"/></Relationships>
</file>

<file path=ppt/slides/_rels/slide29.xml.rels><?xml version="1.0" encoding="UTF-8" standalone="yes"?>
<Relationships xmlns="http://schemas.openxmlformats.org/package/2006/relationships"><Relationship Id="rId3" Type="http://schemas.openxmlformats.org/officeDocument/2006/relationships/image" Target="../media/image611.png"/><Relationship Id="rId7"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591.png"/><Relationship Id="rId5" Type="http://schemas.openxmlformats.org/officeDocument/2006/relationships/image" Target="../media/image57.emf"/><Relationship Id="rId4" Type="http://schemas.openxmlformats.org/officeDocument/2006/relationships/image" Target="../media/image59.png"/></Relationships>
</file>

<file path=ppt/slides/_rels/slide30.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47.emf"/><Relationship Id="rId7" Type="http://schemas.openxmlformats.org/officeDocument/2006/relationships/image" Target="../media/image78.png"/><Relationship Id="rId2" Type="http://schemas.openxmlformats.org/officeDocument/2006/relationships/image" Target="../media/image58.emf"/><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74.png"/><Relationship Id="rId4" Type="http://schemas.openxmlformats.org/officeDocument/2006/relationships/image" Target="../media/image73.png"/><Relationship Id="rId9" Type="http://schemas.openxmlformats.org/officeDocument/2006/relationships/image" Target="../media/image65.png"/></Relationships>
</file>

<file path=ppt/slides/_rels/slide31.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54.emf"/><Relationship Id="rId1" Type="http://schemas.openxmlformats.org/officeDocument/2006/relationships/slideLayout" Target="../slideLayouts/slideLayout2.xml"/><Relationship Id="rId6" Type="http://schemas.openxmlformats.org/officeDocument/2006/relationships/image" Target="../media/image48.emf"/><Relationship Id="rId5" Type="http://schemas.openxmlformats.org/officeDocument/2006/relationships/image" Target="../media/image47.emf"/><Relationship Id="rId4" Type="http://schemas.openxmlformats.org/officeDocument/2006/relationships/image" Target="../media/image490.png"/></Relationships>
</file>

<file path=ppt/slides/_rels/slide32.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661.png"/><Relationship Id="rId1" Type="http://schemas.openxmlformats.org/officeDocument/2006/relationships/slideLayout" Target="../slideLayouts/slideLayout2.xml"/><Relationship Id="rId6" Type="http://schemas.openxmlformats.org/officeDocument/2006/relationships/image" Target="../media/image57.emf"/><Relationship Id="rId5" Type="http://schemas.openxmlformats.org/officeDocument/2006/relationships/image" Target="../media/image58.emf"/><Relationship Id="rId4" Type="http://schemas.openxmlformats.org/officeDocument/2006/relationships/image" Target="../media/image56.emf"/></Relationships>
</file>

<file path=ppt/slides/_rels/slide3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56.emf"/><Relationship Id="rId1" Type="http://schemas.openxmlformats.org/officeDocument/2006/relationships/slideLayout" Target="../slideLayouts/slideLayout2.xml"/><Relationship Id="rId4" Type="http://schemas.openxmlformats.org/officeDocument/2006/relationships/image" Target="../media/image44.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68.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9.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73.emf"/><Relationship Id="rId7" Type="http://schemas.openxmlformats.org/officeDocument/2006/relationships/image" Target="../media/image80.png"/><Relationship Id="rId2" Type="http://schemas.openxmlformats.org/officeDocument/2006/relationships/image" Target="../media/image72.emf"/><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75.png"/><Relationship Id="rId4" Type="http://schemas.openxmlformats.org/officeDocument/2006/relationships/image" Target="../media/image74.emf"/></Relationships>
</file>

<file path=ppt/slides/_rels/slide41.xml.rels><?xml version="1.0" encoding="UTF-8" standalone="yes"?>
<Relationships xmlns="http://schemas.openxmlformats.org/package/2006/relationships"><Relationship Id="rId3" Type="http://schemas.openxmlformats.org/officeDocument/2006/relationships/image" Target="../media/image74.emf"/><Relationship Id="rId2" Type="http://schemas.openxmlformats.org/officeDocument/2006/relationships/image" Target="../media/image81.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image" Target="../media/image82.png"/><Relationship Id="rId1" Type="http://schemas.openxmlformats.org/officeDocument/2006/relationships/slideLayout" Target="../slideLayouts/slideLayout2.xml"/><Relationship Id="rId4" Type="http://schemas.openxmlformats.org/officeDocument/2006/relationships/image" Target="../media/image84.emf"/></Relationships>
</file>

<file path=ppt/slides/_rels/slide45.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image" Target="../media/image82.png"/><Relationship Id="rId1" Type="http://schemas.openxmlformats.org/officeDocument/2006/relationships/slideLayout" Target="../slideLayouts/slideLayout2.xml"/><Relationship Id="rId6" Type="http://schemas.openxmlformats.org/officeDocument/2006/relationships/image" Target="../media/image600.png"/><Relationship Id="rId5" Type="http://schemas.openxmlformats.org/officeDocument/2006/relationships/image" Target="../media/image590.png"/><Relationship Id="rId4" Type="http://schemas.openxmlformats.org/officeDocument/2006/relationships/image" Target="../media/image58.png"/></Relationships>
</file>

<file path=ppt/slides/_rels/slide46.xml.rels><?xml version="1.0" encoding="UTF-8" standalone="yes"?>
<Relationships xmlns="http://schemas.openxmlformats.org/package/2006/relationships"><Relationship Id="rId8" Type="http://schemas.openxmlformats.org/officeDocument/2006/relationships/image" Target="../media/image640.png"/><Relationship Id="rId3" Type="http://schemas.openxmlformats.org/officeDocument/2006/relationships/image" Target="../media/image620.png"/><Relationship Id="rId7" Type="http://schemas.openxmlformats.org/officeDocument/2006/relationships/image" Target="../media/image40.emf"/><Relationship Id="rId2" Type="http://schemas.openxmlformats.org/officeDocument/2006/relationships/image" Target="../media/image610.png"/><Relationship Id="rId1" Type="http://schemas.openxmlformats.org/officeDocument/2006/relationships/slideLayout" Target="../slideLayouts/slideLayout2.xml"/><Relationship Id="rId6" Type="http://schemas.openxmlformats.org/officeDocument/2006/relationships/image" Target="../media/image37.emf"/><Relationship Id="rId11" Type="http://schemas.openxmlformats.org/officeDocument/2006/relationships/image" Target="../media/image670.png"/><Relationship Id="rId5" Type="http://schemas.openxmlformats.org/officeDocument/2006/relationships/image" Target="../media/image84.emf"/><Relationship Id="rId10" Type="http://schemas.openxmlformats.org/officeDocument/2006/relationships/image" Target="../media/image660.png"/><Relationship Id="rId4" Type="http://schemas.openxmlformats.org/officeDocument/2006/relationships/image" Target="../media/image83.emf"/><Relationship Id="rId9" Type="http://schemas.openxmlformats.org/officeDocument/2006/relationships/image" Target="../media/image650.png"/></Relationships>
</file>

<file path=ppt/slides/_rels/slide47.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87.tiff"/><Relationship Id="rId2" Type="http://schemas.openxmlformats.org/officeDocument/2006/relationships/image" Target="../media/image86.tif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4"/>
          <a:stretch>
            <a:fillRect/>
          </a:stretch>
        </p:blipFill>
        <p:spPr>
          <a:xfrm>
            <a:off x="199988" y="207807"/>
            <a:ext cx="972064" cy="972064"/>
          </a:xfrm>
          <a:prstGeom prst="rect">
            <a:avLst/>
          </a:prstGeom>
        </p:spPr>
      </p:pic>
      <p:pic>
        <p:nvPicPr>
          <p:cNvPr id="3" name="图片 2"/>
          <p:cNvPicPr>
            <a:picLocks noChangeAspect="1"/>
          </p:cNvPicPr>
          <p:nvPr/>
        </p:nvPicPr>
        <p:blipFill>
          <a:blip r:embed="rId5"/>
          <a:stretch>
            <a:fillRect/>
          </a:stretch>
        </p:blipFill>
        <p:spPr>
          <a:xfrm>
            <a:off x="1155576" y="3086551"/>
            <a:ext cx="7156402" cy="539088"/>
          </a:xfrm>
          <a:prstGeom prst="rect">
            <a:avLst/>
          </a:prstGeom>
        </p:spPr>
      </p:pic>
      <p:sp>
        <p:nvSpPr>
          <p:cNvPr id="4" name="文本框 3"/>
          <p:cNvSpPr txBox="1"/>
          <p:nvPr/>
        </p:nvSpPr>
        <p:spPr>
          <a:xfrm>
            <a:off x="1287380" y="1688450"/>
            <a:ext cx="7109639" cy="147732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9000" b="1" i="0" u="none" strike="noStrike" kern="1200" cap="none" spc="0" normalizeH="0" baseline="0" noProof="0" dirty="0">
                <a:ln>
                  <a:noFill/>
                </a:ln>
                <a:solidFill>
                  <a:srgbClr val="94003F"/>
                </a:solidFill>
                <a:effectLst/>
                <a:uLnTx/>
                <a:uFillTx/>
                <a:latin typeface="微软雅黑" panose="020B0503020204020204" pitchFamily="34" charset="-122"/>
                <a:ea typeface="微软雅黑" panose="020B0503020204020204" pitchFamily="34" charset="-122"/>
                <a:cs typeface="+mn-cs"/>
              </a:rPr>
              <a:t>计算机图形学</a:t>
            </a:r>
          </a:p>
        </p:txBody>
      </p:sp>
      <p:pic>
        <p:nvPicPr>
          <p:cNvPr id="7" name="Picture 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46282" y="207808"/>
            <a:ext cx="972064" cy="972064"/>
          </a:xfrm>
          <a:prstGeom prst="rect">
            <a:avLst/>
          </a:prstGeom>
        </p:spPr>
      </p:pic>
    </p:spTree>
    <p:extLst>
      <p:ext uri="{BB962C8B-B14F-4D97-AF65-F5344CB8AC3E}">
        <p14:creationId xmlns:p14="http://schemas.microsoft.com/office/powerpoint/2010/main" val="260622598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知识点回顾 </a:t>
            </a:r>
            <a:r>
              <a:rPr lang="en-US" altLang="zh-CN" dirty="0" smtClean="0"/>
              <a:t>-</a:t>
            </a:r>
            <a:r>
              <a:rPr lang="zh-CN" altLang="en-US" dirty="0" smtClean="0"/>
              <a:t> 平面</a:t>
            </a:r>
            <a:r>
              <a:rPr lang="zh-CN" altLang="en-US" dirty="0"/>
              <a:t>几何投影的分类</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a:t>
            </a:fld>
            <a:endParaRPr lang="zh-CN" altLang="en-US"/>
          </a:p>
        </p:txBody>
      </p:sp>
      <p:pic>
        <p:nvPicPr>
          <p:cNvPr id="5" name="图片 4"/>
          <p:cNvPicPr>
            <a:picLocks noChangeAspect="1"/>
          </p:cNvPicPr>
          <p:nvPr/>
        </p:nvPicPr>
        <p:blipFill>
          <a:blip r:embed="rId2"/>
          <a:stretch>
            <a:fillRect/>
          </a:stretch>
        </p:blipFill>
        <p:spPr>
          <a:xfrm>
            <a:off x="155121" y="1347144"/>
            <a:ext cx="8693251" cy="4804734"/>
          </a:xfrm>
          <a:prstGeom prst="rect">
            <a:avLst/>
          </a:prstGeom>
        </p:spPr>
      </p:pic>
    </p:spTree>
    <p:extLst>
      <p:ext uri="{BB962C8B-B14F-4D97-AF65-F5344CB8AC3E}">
        <p14:creationId xmlns:p14="http://schemas.microsoft.com/office/powerpoint/2010/main" val="14587762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11"/>
          <p:cNvGrpSpPr>
            <a:grpSpLocks/>
          </p:cNvGrpSpPr>
          <p:nvPr/>
        </p:nvGrpSpPr>
        <p:grpSpPr bwMode="auto">
          <a:xfrm>
            <a:off x="1158803" y="1279986"/>
            <a:ext cx="7429500" cy="4354513"/>
            <a:chOff x="446" y="1230"/>
            <a:chExt cx="4680" cy="2743"/>
          </a:xfrm>
        </p:grpSpPr>
        <p:pic>
          <p:nvPicPr>
            <p:cNvPr id="10" name="Picture 4" descr="an05f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5" y="1230"/>
              <a:ext cx="3726" cy="2667"/>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9"/>
            <p:cNvSpPr txBox="1">
              <a:spLocks noChangeArrowheads="1"/>
            </p:cNvSpPr>
            <p:nvPr/>
          </p:nvSpPr>
          <p:spPr bwMode="auto">
            <a:xfrm>
              <a:off x="3080" y="3022"/>
              <a:ext cx="1388"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dirty="0">
                  <a:solidFill>
                    <a:schemeClr val="tx1"/>
                  </a:solidFill>
                  <a:latin typeface="Arial" charset="0"/>
                  <a:ea typeface="楷体_GB2312" charset="0"/>
                </a:rPr>
                <a:t>投影平面</a:t>
              </a:r>
            </a:p>
          </p:txBody>
        </p:sp>
        <p:sp>
          <p:nvSpPr>
            <p:cNvPr id="12" name="Text Box 11"/>
            <p:cNvSpPr txBox="1">
              <a:spLocks noChangeArrowheads="1"/>
            </p:cNvSpPr>
            <p:nvPr/>
          </p:nvSpPr>
          <p:spPr bwMode="auto">
            <a:xfrm>
              <a:off x="1568" y="1781"/>
              <a:ext cx="931"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r" eaLnBrk="1" hangingPunct="1">
                <a:spcBef>
                  <a:spcPct val="50000"/>
                </a:spcBef>
              </a:pPr>
              <a:r>
                <a:rPr lang="zh-CN" altLang="en-US" sz="2400" dirty="0">
                  <a:solidFill>
                    <a:schemeClr val="tx1"/>
                  </a:solidFill>
                  <a:latin typeface="Arial" charset="0"/>
                  <a:ea typeface="楷体_GB2312" charset="0"/>
                </a:rPr>
                <a:t>投影线</a:t>
              </a:r>
            </a:p>
          </p:txBody>
        </p:sp>
        <p:sp>
          <p:nvSpPr>
            <p:cNvPr id="13" name="Text Box 12"/>
            <p:cNvSpPr txBox="1">
              <a:spLocks noChangeArrowheads="1"/>
            </p:cNvSpPr>
            <p:nvPr/>
          </p:nvSpPr>
          <p:spPr bwMode="auto">
            <a:xfrm>
              <a:off x="4195" y="1344"/>
              <a:ext cx="931"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a:solidFill>
                    <a:schemeClr val="tx1"/>
                  </a:solidFill>
                  <a:latin typeface="Arial" charset="0"/>
                  <a:ea typeface="楷体_GB2312" charset="0"/>
                </a:rPr>
                <a:t>对象</a:t>
              </a:r>
            </a:p>
          </p:txBody>
        </p:sp>
        <p:sp>
          <p:nvSpPr>
            <p:cNvPr id="14" name="Text Box 9"/>
            <p:cNvSpPr txBox="1">
              <a:spLocks noChangeArrowheads="1"/>
            </p:cNvSpPr>
            <p:nvPr/>
          </p:nvSpPr>
          <p:spPr bwMode="auto">
            <a:xfrm>
              <a:off x="446" y="3685"/>
              <a:ext cx="953"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a:solidFill>
                    <a:schemeClr val="tx1"/>
                  </a:solidFill>
                  <a:latin typeface="Arial" charset="0"/>
                  <a:ea typeface="楷体_GB2312" charset="0"/>
                </a:rPr>
                <a:t>投影中心</a:t>
              </a:r>
            </a:p>
          </p:txBody>
        </p:sp>
      </p:grpSp>
      <p:sp>
        <p:nvSpPr>
          <p:cNvPr id="2" name="标题 1"/>
          <p:cNvSpPr>
            <a:spLocks noGrp="1"/>
          </p:cNvSpPr>
          <p:nvPr>
            <p:ph type="title"/>
          </p:nvPr>
        </p:nvSpPr>
        <p:spPr/>
        <p:txBody>
          <a:bodyPr/>
          <a:lstStyle/>
          <a:p>
            <a:r>
              <a:rPr lang="zh-CN" altLang="en-US" dirty="0" smtClean="0"/>
              <a:t>知识点回顾 </a:t>
            </a:r>
            <a:r>
              <a:rPr lang="en-US" altLang="zh-CN" dirty="0" smtClean="0"/>
              <a:t>-</a:t>
            </a:r>
            <a:r>
              <a:rPr lang="zh-CN" altLang="en-US" dirty="0" smtClean="0"/>
              <a:t> 透视</a:t>
            </a:r>
            <a:r>
              <a:rPr lang="zh-CN" altLang="en-US" dirty="0"/>
              <a:t>投影</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3</a:t>
            </a:fld>
            <a:endParaRPr lang="zh-CN" altLang="en-US"/>
          </a:p>
        </p:txBody>
      </p:sp>
      <p:pic>
        <p:nvPicPr>
          <p:cNvPr id="7" name="图片 6"/>
          <p:cNvPicPr>
            <a:picLocks noChangeAspect="1"/>
          </p:cNvPicPr>
          <p:nvPr/>
        </p:nvPicPr>
        <p:blipFill>
          <a:blip r:embed="rId3"/>
          <a:stretch>
            <a:fillRect/>
          </a:stretch>
        </p:blipFill>
        <p:spPr>
          <a:xfrm>
            <a:off x="277573" y="1253763"/>
            <a:ext cx="2876295" cy="30448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图片 7"/>
          <p:cNvPicPr>
            <a:picLocks noChangeAspect="1"/>
          </p:cNvPicPr>
          <p:nvPr/>
        </p:nvPicPr>
        <p:blipFill>
          <a:blip r:embed="rId4"/>
          <a:stretch>
            <a:fillRect/>
          </a:stretch>
        </p:blipFill>
        <p:spPr>
          <a:xfrm>
            <a:off x="7017467" y="3046141"/>
            <a:ext cx="1557000" cy="344673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7662705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Content Placeholder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9340" y="1273126"/>
            <a:ext cx="6532368" cy="4361373"/>
          </a:xfrm>
          <a:prstGeom prst="rect">
            <a:avLst/>
          </a:prstGeom>
        </p:spPr>
      </p:pic>
      <p:grpSp>
        <p:nvGrpSpPr>
          <p:cNvPr id="9" name="Group 11"/>
          <p:cNvGrpSpPr>
            <a:grpSpLocks/>
          </p:cNvGrpSpPr>
          <p:nvPr/>
        </p:nvGrpSpPr>
        <p:grpSpPr bwMode="auto">
          <a:xfrm>
            <a:off x="1158803" y="1573673"/>
            <a:ext cx="7593013" cy="3603625"/>
            <a:chOff x="446" y="1415"/>
            <a:chExt cx="4783" cy="2270"/>
          </a:xfrm>
        </p:grpSpPr>
        <p:sp>
          <p:nvSpPr>
            <p:cNvPr id="11" name="Text Box 9"/>
            <p:cNvSpPr txBox="1">
              <a:spLocks noChangeArrowheads="1"/>
            </p:cNvSpPr>
            <p:nvPr/>
          </p:nvSpPr>
          <p:spPr bwMode="auto">
            <a:xfrm>
              <a:off x="3175" y="3397"/>
              <a:ext cx="1523"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dirty="0">
                  <a:solidFill>
                    <a:schemeClr val="tx1"/>
                  </a:solidFill>
                  <a:latin typeface="Arial" charset="0"/>
                  <a:ea typeface="楷体_GB2312" charset="0"/>
                </a:rPr>
                <a:t>投影平面</a:t>
              </a:r>
            </a:p>
          </p:txBody>
        </p:sp>
        <p:sp>
          <p:nvSpPr>
            <p:cNvPr id="12" name="Text Box 11"/>
            <p:cNvSpPr txBox="1">
              <a:spLocks noChangeArrowheads="1"/>
            </p:cNvSpPr>
            <p:nvPr/>
          </p:nvSpPr>
          <p:spPr bwMode="auto">
            <a:xfrm>
              <a:off x="3628" y="2762"/>
              <a:ext cx="956"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eaLnBrk="1" hangingPunct="1">
                <a:spcBef>
                  <a:spcPct val="50000"/>
                </a:spcBef>
              </a:pPr>
              <a:r>
                <a:rPr lang="zh-CN" altLang="en-US" sz="2400" dirty="0">
                  <a:solidFill>
                    <a:schemeClr val="tx1"/>
                  </a:solidFill>
                  <a:latin typeface="Arial" charset="0"/>
                  <a:ea typeface="楷体_GB2312" charset="0"/>
                </a:rPr>
                <a:t>投影线</a:t>
              </a:r>
            </a:p>
          </p:txBody>
        </p:sp>
        <p:sp>
          <p:nvSpPr>
            <p:cNvPr id="13" name="Text Box 12"/>
            <p:cNvSpPr txBox="1">
              <a:spLocks noChangeArrowheads="1"/>
            </p:cNvSpPr>
            <p:nvPr/>
          </p:nvSpPr>
          <p:spPr bwMode="auto">
            <a:xfrm>
              <a:off x="4298" y="1415"/>
              <a:ext cx="931"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a:solidFill>
                    <a:schemeClr val="tx1"/>
                  </a:solidFill>
                  <a:latin typeface="Arial" charset="0"/>
                  <a:ea typeface="楷体_GB2312" charset="0"/>
                </a:rPr>
                <a:t>对象</a:t>
              </a:r>
            </a:p>
          </p:txBody>
        </p:sp>
        <p:sp>
          <p:nvSpPr>
            <p:cNvPr id="14" name="Text Box 9"/>
            <p:cNvSpPr txBox="1">
              <a:spLocks noChangeArrowheads="1"/>
            </p:cNvSpPr>
            <p:nvPr/>
          </p:nvSpPr>
          <p:spPr bwMode="auto">
            <a:xfrm>
              <a:off x="446" y="3271"/>
              <a:ext cx="953" cy="29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dirty="0" smtClean="0">
                  <a:solidFill>
                    <a:schemeClr val="tx1"/>
                  </a:solidFill>
                  <a:latin typeface="Arial" charset="0"/>
                  <a:ea typeface="楷体_GB2312" charset="0"/>
                </a:rPr>
                <a:t>投影方向</a:t>
              </a:r>
              <a:endParaRPr lang="zh-CN" altLang="en-US" sz="2400" dirty="0">
                <a:solidFill>
                  <a:schemeClr val="tx1"/>
                </a:solidFill>
                <a:latin typeface="Arial" charset="0"/>
                <a:ea typeface="楷体_GB2312" charset="0"/>
              </a:endParaRPr>
            </a:p>
          </p:txBody>
        </p:sp>
      </p:grpSp>
      <p:sp>
        <p:nvSpPr>
          <p:cNvPr id="2" name="标题 1"/>
          <p:cNvSpPr>
            <a:spLocks noGrp="1"/>
          </p:cNvSpPr>
          <p:nvPr>
            <p:ph type="title"/>
          </p:nvPr>
        </p:nvSpPr>
        <p:spPr/>
        <p:txBody>
          <a:bodyPr/>
          <a:lstStyle/>
          <a:p>
            <a:r>
              <a:rPr lang="zh-CN" altLang="en-US" dirty="0" smtClean="0"/>
              <a:t>知识点回顾 </a:t>
            </a:r>
            <a:r>
              <a:rPr lang="en-US" altLang="zh-CN" dirty="0" smtClean="0"/>
              <a:t>-</a:t>
            </a:r>
            <a:r>
              <a:rPr lang="zh-CN" altLang="en-US" dirty="0" smtClean="0"/>
              <a:t> 平行投影</a:t>
            </a:r>
            <a:endParaRPr lang="zh-CN" altLang="en-US" dirty="0"/>
          </a:p>
        </p:txBody>
      </p:sp>
      <p:sp>
        <p:nvSpPr>
          <p:cNvPr id="3" name="Content Placeholder 2"/>
          <p:cNvSpPr>
            <a:spLocks noGrp="1"/>
          </p:cNvSpPr>
          <p:nvPr>
            <p:ph idx="1"/>
          </p:nvPr>
        </p:nvSpPr>
        <p:spPr/>
        <p:txBody>
          <a:bodyPr/>
          <a:lstStyle/>
          <a:p>
            <a:r>
              <a:rPr lang="zh-CN" altLang="en-US" dirty="0" smtClean="0"/>
              <a:t>投影中心在无穷远处</a:t>
            </a:r>
            <a:endParaRPr lang="en-US" altLang="zh-CN" dirty="0" smtClean="0"/>
          </a:p>
          <a:p>
            <a:r>
              <a:rPr lang="zh-CN" altLang="en-US" dirty="0" smtClean="0"/>
              <a:t>投影方向平行</a:t>
            </a:r>
            <a:endParaRPr 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a:t>
            </a:fld>
            <a:endParaRPr lang="zh-CN" altLang="en-US"/>
          </a:p>
        </p:txBody>
      </p:sp>
    </p:spTree>
    <p:extLst>
      <p:ext uri="{BB962C8B-B14F-4D97-AF65-F5344CB8AC3E}">
        <p14:creationId xmlns:p14="http://schemas.microsoft.com/office/powerpoint/2010/main" val="9103677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知识点回顾 </a:t>
            </a:r>
            <a:r>
              <a:rPr lang="en-US" altLang="zh-CN" dirty="0" smtClean="0"/>
              <a:t>-</a:t>
            </a:r>
            <a:r>
              <a:rPr lang="zh-CN" altLang="en-US" dirty="0" smtClean="0"/>
              <a:t> 模型</a:t>
            </a:r>
            <a:r>
              <a:rPr lang="zh-CN" altLang="en-US" dirty="0"/>
              <a:t>视图矩阵的计算</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a:t>设</a:t>
                </a:r>
                <a:r>
                  <a:rPr lang="en-US" altLang="zh-CN" sz="2400" dirty="0"/>
                  <a:t>VRP</a:t>
                </a:r>
                <a:r>
                  <a:rPr lang="zh-CN" altLang="en-US" sz="2400" dirty="0"/>
                  <a:t>点</a:t>
                </a:r>
                <a14:m>
                  <m:oMath xmlns:m="http://schemas.openxmlformats.org/officeDocument/2006/math">
                    <m:r>
                      <a:rPr lang="en-US" altLang="zh-CN" sz="2400" b="1" i="1" dirty="0" smtClean="0">
                        <a:latin typeface="Cambria Math" charset="0"/>
                      </a:rPr>
                      <m:t>𝒑</m:t>
                    </m:r>
                    <m:r>
                      <a:rPr lang="en-US" altLang="zh-CN" sz="2400" i="1" dirty="0">
                        <a:latin typeface="Cambria Math" charset="0"/>
                      </a:rPr>
                      <m:t>=[</m:t>
                    </m:r>
                    <m:r>
                      <a:rPr lang="en-US" altLang="zh-CN" sz="2400" i="1" dirty="0">
                        <a:latin typeface="Cambria Math" charset="0"/>
                      </a:rPr>
                      <m:t>𝑥</m:t>
                    </m:r>
                    <m:r>
                      <a:rPr lang="en-US" altLang="zh-CN" sz="2400" i="1" dirty="0">
                        <a:latin typeface="Cambria Math" charset="0"/>
                      </a:rPr>
                      <m:t>,</m:t>
                    </m:r>
                    <m:r>
                      <a:rPr lang="en-US" altLang="zh-CN" sz="2400" i="1" dirty="0">
                        <a:latin typeface="Cambria Math" charset="0"/>
                      </a:rPr>
                      <m:t>𝑦</m:t>
                    </m:r>
                    <m:r>
                      <a:rPr lang="en-US" altLang="zh-CN" sz="2400" i="1" dirty="0">
                        <a:latin typeface="Cambria Math" charset="0"/>
                      </a:rPr>
                      <m:t>,</m:t>
                    </m:r>
                    <m:r>
                      <a:rPr lang="en-US" altLang="zh-CN" sz="2400" i="1" dirty="0">
                        <a:latin typeface="Cambria Math" charset="0"/>
                      </a:rPr>
                      <m:t>𝑧</m:t>
                    </m:r>
                    <m:r>
                      <a:rPr lang="en-US" altLang="zh-CN" sz="2400" i="1" dirty="0">
                        <a:latin typeface="Cambria Math" charset="0"/>
                      </a:rPr>
                      <m:t>,1]</m:t>
                    </m:r>
                    <m:r>
                      <a:rPr lang="en-US" altLang="zh-CN" sz="2400" i="1" baseline="30000" dirty="0">
                        <a:latin typeface="Cambria Math" charset="0"/>
                      </a:rPr>
                      <m:t>𝑇</m:t>
                    </m:r>
                  </m:oMath>
                </a14:m>
                <a:r>
                  <a:rPr lang="en-US" altLang="zh-CN" sz="2400" dirty="0"/>
                  <a:t>, </a:t>
                </a:r>
                <a:r>
                  <a:rPr lang="zh-CN" altLang="en-US" sz="2400" dirty="0"/>
                  <a:t>视平面法向</a:t>
                </a:r>
                <a14:m>
                  <m:oMath xmlns:m="http://schemas.openxmlformats.org/officeDocument/2006/math">
                    <m:r>
                      <a:rPr lang="en-US" altLang="zh-CN" sz="2400" b="1" i="1" dirty="0" smtClean="0">
                        <a:latin typeface="Cambria Math" charset="0"/>
                      </a:rPr>
                      <m:t>𝒏</m:t>
                    </m:r>
                    <m:r>
                      <a:rPr lang="en-US" altLang="zh-CN" sz="2400" i="1" dirty="0">
                        <a:latin typeface="Cambria Math" charset="0"/>
                      </a:rPr>
                      <m:t>=[</m:t>
                    </m:r>
                    <m:r>
                      <a:rPr lang="en-US" altLang="zh-CN" sz="2400" i="1" dirty="0">
                        <a:latin typeface="Cambria Math" charset="0"/>
                      </a:rPr>
                      <m:t>𝑛𝑥</m:t>
                    </m:r>
                    <m:r>
                      <a:rPr lang="en-US" altLang="zh-CN" sz="2400" i="1" dirty="0">
                        <a:latin typeface="Cambria Math" charset="0"/>
                      </a:rPr>
                      <m:t>,</m:t>
                    </m:r>
                    <m:r>
                      <a:rPr lang="en-US" altLang="zh-CN" sz="2400" i="1" dirty="0">
                        <a:latin typeface="Cambria Math" charset="0"/>
                      </a:rPr>
                      <m:t>𝑛𝑦</m:t>
                    </m:r>
                    <m:r>
                      <a:rPr lang="en-US" altLang="zh-CN" sz="2400" i="1" dirty="0">
                        <a:latin typeface="Cambria Math" charset="0"/>
                      </a:rPr>
                      <m:t>,</m:t>
                    </m:r>
                    <m:r>
                      <a:rPr lang="en-US" altLang="zh-CN" sz="2400" i="1" dirty="0">
                        <a:latin typeface="Cambria Math" charset="0"/>
                      </a:rPr>
                      <m:t>𝑛𝑧</m:t>
                    </m:r>
                    <m:r>
                      <a:rPr lang="en-US" altLang="zh-CN" sz="2400" i="1" dirty="0">
                        <a:latin typeface="Cambria Math" charset="0"/>
                      </a:rPr>
                      <m:t>,0]</m:t>
                    </m:r>
                    <m:r>
                      <a:rPr lang="en-US" altLang="zh-CN" sz="2400" i="1" baseline="30000" dirty="0">
                        <a:latin typeface="Cambria Math" charset="0"/>
                      </a:rPr>
                      <m:t>𝑇</m:t>
                    </m:r>
                  </m:oMath>
                </a14:m>
                <a:r>
                  <a:rPr lang="en-US" altLang="zh-CN" sz="2400" dirty="0"/>
                  <a:t>,</a:t>
                </a:r>
              </a:p>
              <a:p>
                <a:pPr marL="0" indent="0">
                  <a:buNone/>
                </a:pPr>
                <a:r>
                  <a:rPr lang="zh-CN" altLang="en-US" sz="2400" dirty="0"/>
                  <a:t>    上方向量为</a:t>
                </a:r>
                <a14:m>
                  <m:oMath xmlns:m="http://schemas.openxmlformats.org/officeDocument/2006/math">
                    <m:r>
                      <a:rPr lang="en-US" altLang="zh-CN" sz="2400" b="1" i="1" dirty="0" smtClean="0">
                        <a:latin typeface="Cambria Math" charset="0"/>
                      </a:rPr>
                      <m:t>𝒗</m:t>
                    </m:r>
                    <m:r>
                      <a:rPr lang="en-US" altLang="zh-CN" sz="2400" i="1" baseline="-25000" dirty="0" err="1">
                        <a:latin typeface="Cambria Math" charset="0"/>
                      </a:rPr>
                      <m:t>𝑢𝑝</m:t>
                    </m:r>
                    <m:r>
                      <a:rPr lang="en-US" altLang="zh-CN" sz="2400" i="1" dirty="0">
                        <a:latin typeface="Cambria Math" charset="0"/>
                      </a:rPr>
                      <m:t>=[</m:t>
                    </m:r>
                    <m:r>
                      <a:rPr lang="en-US" altLang="zh-CN" sz="2400" i="1" dirty="0" err="1">
                        <a:latin typeface="Cambria Math" charset="0"/>
                      </a:rPr>
                      <m:t>𝑣</m:t>
                    </m:r>
                    <m:r>
                      <a:rPr lang="en-US" altLang="zh-CN" sz="2400" i="1" baseline="-25000" dirty="0" err="1">
                        <a:latin typeface="Cambria Math" charset="0"/>
                      </a:rPr>
                      <m:t>𝑢𝑝𝑥</m:t>
                    </m:r>
                    <m:r>
                      <a:rPr lang="en-US" altLang="zh-CN" sz="2400" i="1" dirty="0">
                        <a:latin typeface="Cambria Math" charset="0"/>
                      </a:rPr>
                      <m:t>, </m:t>
                    </m:r>
                    <m:r>
                      <a:rPr lang="en-US" altLang="zh-CN" sz="2400" i="1" dirty="0" err="1">
                        <a:latin typeface="Cambria Math" charset="0"/>
                      </a:rPr>
                      <m:t>𝑣</m:t>
                    </m:r>
                    <m:r>
                      <a:rPr lang="en-US" altLang="zh-CN" sz="2400" i="1" baseline="-25000" dirty="0" err="1">
                        <a:latin typeface="Cambria Math" charset="0"/>
                      </a:rPr>
                      <m:t>𝑢𝑝𝑦</m:t>
                    </m:r>
                    <m:r>
                      <a:rPr lang="en-US" altLang="zh-CN" sz="2400" i="1" dirty="0">
                        <a:latin typeface="Cambria Math" charset="0"/>
                      </a:rPr>
                      <m:t>, </m:t>
                    </m:r>
                    <m:r>
                      <a:rPr lang="en-US" altLang="zh-CN" sz="2400" i="1" dirty="0" err="1">
                        <a:latin typeface="Cambria Math" charset="0"/>
                      </a:rPr>
                      <m:t>𝑣</m:t>
                    </m:r>
                    <m:r>
                      <a:rPr lang="en-US" altLang="zh-CN" sz="2400" i="1" baseline="-25000" dirty="0" err="1">
                        <a:latin typeface="Cambria Math" charset="0"/>
                      </a:rPr>
                      <m:t>𝑢𝑝𝑧</m:t>
                    </m:r>
                    <m:r>
                      <a:rPr lang="en-US" altLang="zh-CN" sz="2400" i="1" dirty="0">
                        <a:latin typeface="Cambria Math" charset="0"/>
                      </a:rPr>
                      <m:t>, 0]</m:t>
                    </m:r>
                    <m:r>
                      <a:rPr lang="en-US" altLang="zh-CN" sz="2400" i="1" baseline="30000" dirty="0">
                        <a:latin typeface="Cambria Math" charset="0"/>
                      </a:rPr>
                      <m:t>𝑇</m:t>
                    </m:r>
                  </m:oMath>
                </a14:m>
                <a:endParaRPr lang="en-US" altLang="zh-CN" sz="2400" dirty="0"/>
              </a:p>
              <a:p>
                <a14:m>
                  <m:oMath xmlns:m="http://schemas.openxmlformats.org/officeDocument/2006/math">
                    <m:r>
                      <a:rPr lang="en-US" altLang="zh-CN" sz="2400" b="1" i="1" dirty="0" smtClean="0">
                        <a:latin typeface="Cambria Math" charset="0"/>
                      </a:rPr>
                      <m:t>𝒗</m:t>
                    </m:r>
                    <m:r>
                      <a:rPr lang="en-US" altLang="zh-CN" sz="2400" i="1" dirty="0">
                        <a:latin typeface="Cambria Math" charset="0"/>
                      </a:rPr>
                      <m:t> = </m:t>
                    </m:r>
                    <m:r>
                      <a:rPr lang="en-US" altLang="zh-CN" sz="2400" b="1" i="1" dirty="0" err="1">
                        <a:latin typeface="Cambria Math" charset="0"/>
                      </a:rPr>
                      <m:t>𝒗</m:t>
                    </m:r>
                    <m:r>
                      <a:rPr lang="en-US" altLang="zh-CN" sz="2400" i="1" baseline="-25000" dirty="0" err="1">
                        <a:latin typeface="Cambria Math" charset="0"/>
                      </a:rPr>
                      <m:t>𝑢𝑝</m:t>
                    </m:r>
                    <m:r>
                      <a:rPr lang="en-US" altLang="zh-CN" sz="2400" i="1" dirty="0">
                        <a:latin typeface="Cambria Math" charset="0"/>
                      </a:rPr>
                      <m:t>−(</m:t>
                    </m:r>
                    <m:r>
                      <a:rPr lang="en-US" altLang="zh-CN" sz="2400" b="1" i="1" dirty="0" err="1">
                        <a:latin typeface="Cambria Math" charset="0"/>
                      </a:rPr>
                      <m:t>𝒗</m:t>
                    </m:r>
                    <m:r>
                      <a:rPr lang="en-US" altLang="zh-CN" sz="2400" i="1" baseline="-25000" dirty="0" err="1">
                        <a:latin typeface="Cambria Math" charset="0"/>
                      </a:rPr>
                      <m:t>𝑢𝑝</m:t>
                    </m:r>
                    <m:r>
                      <a:rPr lang="en-US" altLang="zh-CN" sz="2400" i="1" dirty="0" err="1">
                        <a:latin typeface="Cambria Math" charset="0"/>
                      </a:rPr>
                      <m:t>⋅</m:t>
                    </m:r>
                    <m:r>
                      <a:rPr lang="en-US" altLang="zh-CN" sz="2400" b="1" i="1" dirty="0" err="1">
                        <a:latin typeface="Cambria Math" charset="0"/>
                      </a:rPr>
                      <m:t>𝒏</m:t>
                    </m:r>
                    <m:r>
                      <a:rPr lang="en-US" altLang="zh-CN" sz="2400" i="1" dirty="0">
                        <a:latin typeface="Cambria Math" charset="0"/>
                      </a:rPr>
                      <m:t>)/(</m:t>
                    </m:r>
                    <m:r>
                      <a:rPr lang="en-US" altLang="zh-CN" sz="2400" b="1" i="1" dirty="0" err="1">
                        <a:latin typeface="Cambria Math" charset="0"/>
                      </a:rPr>
                      <m:t>𝒏</m:t>
                    </m:r>
                    <m:r>
                      <a:rPr lang="en-US" altLang="zh-CN" sz="2400" i="1" dirty="0" err="1">
                        <a:latin typeface="Cambria Math" charset="0"/>
                      </a:rPr>
                      <m:t>⋅</m:t>
                    </m:r>
                    <m:r>
                      <a:rPr lang="en-US" altLang="zh-CN" sz="2400" b="1" i="1" dirty="0" err="1">
                        <a:latin typeface="Cambria Math" charset="0"/>
                      </a:rPr>
                      <m:t>𝒏</m:t>
                    </m:r>
                    <m:r>
                      <a:rPr lang="en-US" altLang="zh-CN" sz="2400" i="1" dirty="0">
                        <a:latin typeface="Cambria Math" charset="0"/>
                      </a:rPr>
                      <m:t>)</m:t>
                    </m:r>
                    <m:r>
                      <a:rPr lang="en-US" altLang="zh-CN" sz="2400" b="1" i="1" dirty="0">
                        <a:latin typeface="Cambria Math" charset="0"/>
                      </a:rPr>
                      <m:t>𝒏</m:t>
                    </m:r>
                  </m:oMath>
                </a14:m>
                <a:r>
                  <a:rPr lang="en-US" altLang="zh-CN" sz="2400" dirty="0"/>
                  <a:t>, </a:t>
                </a:r>
                <a:r>
                  <a:rPr lang="zh-CN" altLang="en-US" sz="2400" dirty="0"/>
                  <a:t>把</a:t>
                </a:r>
                <a14:m>
                  <m:oMath xmlns:m="http://schemas.openxmlformats.org/officeDocument/2006/math">
                    <m:r>
                      <a:rPr lang="en-US" altLang="zh-CN" sz="2400" b="1" i="1" dirty="0" smtClean="0">
                        <a:latin typeface="Cambria Math" charset="0"/>
                      </a:rPr>
                      <m:t>𝒗</m:t>
                    </m:r>
                    <m:r>
                      <a:rPr lang="en-US" altLang="zh-CN" sz="2400" i="1" dirty="0">
                        <a:latin typeface="Cambria Math" charset="0"/>
                      </a:rPr>
                      <m:t>, </m:t>
                    </m:r>
                    <m:r>
                      <a:rPr lang="en-US" altLang="zh-CN" sz="2400" b="1" i="1" dirty="0">
                        <a:latin typeface="Cambria Math" charset="0"/>
                      </a:rPr>
                      <m:t>𝒏</m:t>
                    </m:r>
                  </m:oMath>
                </a14:m>
                <a:r>
                  <a:rPr lang="zh-CN" altLang="en-US" sz="2400" dirty="0"/>
                  <a:t>单位化</a:t>
                </a:r>
                <a:endParaRPr lang="en-US" altLang="zh-CN" sz="2400" dirty="0"/>
              </a:p>
              <a:p>
                <a14:m>
                  <m:oMath xmlns:m="http://schemas.openxmlformats.org/officeDocument/2006/math">
                    <m:r>
                      <a:rPr lang="en-US" altLang="zh-CN" sz="2400" b="1" i="1" dirty="0" smtClean="0">
                        <a:latin typeface="Cambria Math" charset="0"/>
                      </a:rPr>
                      <m:t>𝒖</m:t>
                    </m:r>
                    <m:r>
                      <a:rPr lang="en-US" altLang="zh-CN" sz="2400" i="1" dirty="0">
                        <a:latin typeface="Cambria Math" charset="0"/>
                      </a:rPr>
                      <m:t> = </m:t>
                    </m:r>
                    <m:r>
                      <a:rPr lang="en-US" altLang="zh-CN" sz="2400" b="1" i="1" dirty="0">
                        <a:latin typeface="Cambria Math" charset="0"/>
                      </a:rPr>
                      <m:t>𝒗</m:t>
                    </m:r>
                    <m:r>
                      <a:rPr lang="en-US" altLang="zh-CN" sz="2400" i="1" dirty="0">
                        <a:latin typeface="Cambria Math" charset="0"/>
                      </a:rPr>
                      <m:t> </m:t>
                    </m:r>
                    <m:r>
                      <a:rPr lang="en-US" altLang="zh-CN" sz="2400" i="1" dirty="0" smtClean="0">
                        <a:latin typeface="Cambria Math" panose="02040503050406030204" pitchFamily="18" charset="0"/>
                        <a:ea typeface="Cambria Math" panose="02040503050406030204" pitchFamily="18" charset="0"/>
                      </a:rPr>
                      <m:t>×</m:t>
                    </m:r>
                    <m:r>
                      <a:rPr lang="en-US" altLang="zh-CN" sz="2400" i="1" dirty="0">
                        <a:latin typeface="Cambria Math" charset="0"/>
                      </a:rPr>
                      <m:t> </m:t>
                    </m:r>
                    <m:r>
                      <a:rPr lang="en-US" altLang="zh-CN" sz="2400" b="1" i="1" dirty="0">
                        <a:latin typeface="Cambria Math" charset="0"/>
                      </a:rPr>
                      <m:t>𝒏</m:t>
                    </m:r>
                  </m:oMath>
                </a14:m>
                <a:endParaRPr lang="en-US" altLang="zh-CN" sz="2400" b="1" dirty="0"/>
              </a:p>
              <a:p>
                <a:r>
                  <a:rPr lang="zh-CN" altLang="en-US" sz="2400" dirty="0"/>
                  <a:t>模型视图矩阵为：</a:t>
                </a:r>
                <a:endParaRPr lang="en-US" altLang="zh-CN" sz="2400" dirty="0"/>
              </a:p>
              <a:p>
                <a:endParaRPr lang="en-US" altLang="zh-CN" sz="24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9" t="-1961" r="-2164"/>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5</a:t>
            </a:fld>
            <a:endParaRPr lang="zh-CN" altLang="en-US"/>
          </a:p>
        </p:txBody>
      </p:sp>
      <p:pic>
        <p:nvPicPr>
          <p:cNvPr id="6" name="图片 5"/>
          <p:cNvPicPr>
            <a:picLocks noChangeAspect="1"/>
          </p:cNvPicPr>
          <p:nvPr/>
        </p:nvPicPr>
        <p:blipFill>
          <a:blip r:embed="rId3"/>
          <a:stretch>
            <a:fillRect/>
          </a:stretch>
        </p:blipFill>
        <p:spPr>
          <a:xfrm>
            <a:off x="1977230" y="3878293"/>
            <a:ext cx="5018953" cy="2202229"/>
          </a:xfrm>
          <a:prstGeom prst="rect">
            <a:avLst/>
          </a:prstGeom>
        </p:spPr>
      </p:pic>
    </p:spTree>
    <p:extLst>
      <p:ext uri="{BB962C8B-B14F-4D97-AF65-F5344CB8AC3E}">
        <p14:creationId xmlns:p14="http://schemas.microsoft.com/office/powerpoint/2010/main" val="10601074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模型视图矩阵的计算</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14:m>
                  <m:oMath xmlns:m="http://schemas.openxmlformats.org/officeDocument/2006/math">
                    <m:sSup>
                      <m:sSupPr>
                        <m:ctrlPr>
                          <a:rPr lang="en-US" altLang="zh-CN" i="1" smtClean="0">
                            <a:latin typeface="Cambria Math" panose="02040503050406030204" pitchFamily="18" charset="0"/>
                          </a:rPr>
                        </m:ctrlPr>
                      </m:sSupPr>
                      <m:e>
                        <m:r>
                          <a:rPr lang="en-US" altLang="zh-CN" i="1">
                            <a:latin typeface="Cambria Math" panose="02040503050406030204" pitchFamily="18" charset="0"/>
                          </a:rPr>
                          <m:t>𝑀</m:t>
                        </m:r>
                      </m:e>
                      <m:sup>
                        <m:r>
                          <a:rPr lang="en-US" altLang="zh-CN" i="1">
                            <a:latin typeface="Cambria Math" panose="02040503050406030204" pitchFamily="18" charset="0"/>
                          </a:rPr>
                          <m:t>𝑇</m:t>
                        </m:r>
                      </m:sup>
                    </m:sSup>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𝑢</m:t>
                        </m:r>
                        <m:r>
                          <a:rPr lang="en-US" altLang="zh-CN" i="1">
                            <a:latin typeface="Cambria Math" panose="02040503050406030204" pitchFamily="18" charset="0"/>
                          </a:rPr>
                          <m:t>, </m:t>
                        </m:r>
                        <m:r>
                          <a:rPr lang="en-US" altLang="zh-CN" i="1">
                            <a:latin typeface="Cambria Math" panose="02040503050406030204" pitchFamily="18" charset="0"/>
                          </a:rPr>
                          <m:t>𝑣</m:t>
                        </m:r>
                        <m:r>
                          <a:rPr lang="en-US" altLang="zh-CN" i="1">
                            <a:latin typeface="Cambria Math" panose="02040503050406030204" pitchFamily="18" charset="0"/>
                          </a:rPr>
                          <m:t>, </m:t>
                        </m:r>
                        <m:r>
                          <a:rPr lang="en-US" altLang="zh-CN" i="1">
                            <a:latin typeface="Cambria Math" panose="02040503050406030204" pitchFamily="18" charset="0"/>
                          </a:rPr>
                          <m:t>𝑛</m:t>
                        </m:r>
                        <m:r>
                          <a:rPr lang="en-US" altLang="zh-CN" i="1">
                            <a:latin typeface="Cambria Math" panose="02040503050406030204" pitchFamily="18" charset="0"/>
                          </a:rPr>
                          <m:t>, </m:t>
                        </m:r>
                        <m:r>
                          <a:rPr lang="en-US" altLang="zh-CN" i="1">
                            <a:latin typeface="Cambria Math" panose="02040503050406030204" pitchFamily="18" charset="0"/>
                          </a:rPr>
                          <m:t>𝑝</m:t>
                        </m:r>
                      </m:e>
                    </m:d>
                  </m:oMath>
                </a14:m>
                <a:endParaRPr lang="en-US" altLang="zh-CN" dirty="0" smtClean="0"/>
              </a:p>
              <a:p>
                <a14:m>
                  <m:oMath xmlns:m="http://schemas.openxmlformats.org/officeDocument/2006/math">
                    <m:r>
                      <a:rPr lang="en-US" altLang="zh-CN" b="0" i="1" smtClean="0">
                        <a:latin typeface="Cambria Math" panose="02040503050406030204" pitchFamily="18" charset="0"/>
                      </a:rPr>
                      <m:t>𝑎</m:t>
                    </m:r>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𝑀</m:t>
                        </m:r>
                      </m:e>
                      <m:sup>
                        <m:r>
                          <a:rPr lang="en-US" altLang="zh-CN" i="1">
                            <a:latin typeface="Cambria Math" panose="02040503050406030204" pitchFamily="18" charset="0"/>
                          </a:rPr>
                          <m:t>𝑇</m:t>
                        </m:r>
                      </m:sup>
                    </m:sSup>
                    <m:r>
                      <a:rPr lang="en-US" altLang="zh-CN" b="0" i="1" smtClean="0">
                        <a:latin typeface="Cambria Math" panose="02040503050406030204" pitchFamily="18" charset="0"/>
                      </a:rPr>
                      <m:t>𝑏</m:t>
                    </m:r>
                  </m:oMath>
                </a14:m>
                <a:r>
                  <a:rPr lang="en-US" altLang="zh-CN" dirty="0" smtClean="0"/>
                  <a:t>, </a:t>
                </a:r>
                <a14:m>
                  <m:oMath xmlns:m="http://schemas.openxmlformats.org/officeDocument/2006/math">
                    <m:r>
                      <a:rPr lang="en-US" altLang="zh-CN" b="0" i="1" smtClean="0">
                        <a:latin typeface="Cambria Math" panose="02040503050406030204" pitchFamily="18" charset="0"/>
                      </a:rPr>
                      <m:t>𝑏</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𝑀</m:t>
                            </m:r>
                          </m:e>
                          <m:sup>
                            <m:r>
                              <a:rPr lang="en-US" altLang="zh-CN" i="1">
                                <a:latin typeface="Cambria Math" panose="02040503050406030204" pitchFamily="18" charset="0"/>
                              </a:rPr>
                              <m:t>𝑇</m:t>
                            </m:r>
                          </m:sup>
                        </m:sSup>
                        <m:r>
                          <a:rPr lang="en-US" altLang="zh-CN" i="1">
                            <a:latin typeface="Cambria Math" panose="02040503050406030204" pitchFamily="18" charset="0"/>
                          </a:rPr>
                          <m:t>)</m:t>
                        </m:r>
                      </m:e>
                      <m:sup>
                        <m:r>
                          <a:rPr lang="en-US" altLang="zh-CN" b="0" i="1" smtClean="0">
                            <a:latin typeface="Cambria Math" panose="02040503050406030204" pitchFamily="18" charset="0"/>
                          </a:rPr>
                          <m:t>−1</m:t>
                        </m:r>
                      </m:sup>
                    </m:sSup>
                    <m:r>
                      <a:rPr lang="en-US" altLang="zh-CN" b="0" i="1" smtClean="0">
                        <a:latin typeface="Cambria Math" panose="02040503050406030204" pitchFamily="18" charset="0"/>
                      </a:rPr>
                      <m:t>𝑎</m:t>
                    </m:r>
                  </m:oMath>
                </a14:m>
                <a:endParaRPr lang="en-US" altLang="zh-CN" dirty="0" smtClean="0"/>
              </a:p>
              <a:p>
                <a14:m>
                  <m:oMath xmlns:m="http://schemas.openxmlformats.org/officeDocument/2006/math">
                    <m:r>
                      <a:rPr lang="en-US" altLang="zh-CN" i="1">
                        <a:latin typeface="Cambria Math" panose="02040503050406030204" pitchFamily="18" charset="0"/>
                      </a:rPr>
                      <m:t>𝑎</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𝑀</m:t>
                        </m:r>
                      </m:e>
                      <m:sup>
                        <m:r>
                          <a:rPr lang="en-US" altLang="zh-CN" i="1">
                            <a:latin typeface="Cambria Math" panose="02040503050406030204" pitchFamily="18" charset="0"/>
                          </a:rPr>
                          <m:t>𝑇</m:t>
                        </m:r>
                      </m:sup>
                    </m:sSup>
                    <m:r>
                      <a:rPr lang="en-US" altLang="zh-CN" i="1">
                        <a:latin typeface="Cambria Math" panose="02040503050406030204" pitchFamily="18" charset="0"/>
                      </a:rPr>
                      <m:t>𝑏</m:t>
                    </m:r>
                    <m:r>
                      <a:rPr lang="en-US" altLang="zh-CN" b="0" i="1" smtClean="0">
                        <a:latin typeface="Cambria Math" panose="02040503050406030204" pitchFamily="18" charset="0"/>
                      </a:rPr>
                      <m:t>=</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𝑢</m:t>
                        </m:r>
                        <m:r>
                          <a:rPr lang="en-US" altLang="zh-CN" i="1">
                            <a:latin typeface="Cambria Math" panose="02040503050406030204" pitchFamily="18" charset="0"/>
                          </a:rPr>
                          <m:t>, </m:t>
                        </m:r>
                        <m:r>
                          <a:rPr lang="en-US" altLang="zh-CN" i="1">
                            <a:latin typeface="Cambria Math" panose="02040503050406030204" pitchFamily="18" charset="0"/>
                          </a:rPr>
                          <m:t>𝑣</m:t>
                        </m:r>
                        <m:r>
                          <a:rPr lang="en-US" altLang="zh-CN" i="1">
                            <a:latin typeface="Cambria Math" panose="02040503050406030204" pitchFamily="18" charset="0"/>
                          </a:rPr>
                          <m:t>, </m:t>
                        </m:r>
                        <m:r>
                          <a:rPr lang="en-US" altLang="zh-CN" i="1">
                            <a:latin typeface="Cambria Math" panose="02040503050406030204" pitchFamily="18" charset="0"/>
                          </a:rPr>
                          <m:t>𝑛</m:t>
                        </m:r>
                        <m:r>
                          <a:rPr lang="en-US" altLang="zh-CN" i="1">
                            <a:latin typeface="Cambria Math" panose="02040503050406030204" pitchFamily="18" charset="0"/>
                          </a:rPr>
                          <m:t>, </m:t>
                        </m:r>
                        <m:r>
                          <a:rPr lang="en-US" altLang="zh-CN" i="1">
                            <a:latin typeface="Cambria Math" panose="02040503050406030204" pitchFamily="18" charset="0"/>
                          </a:rPr>
                          <m:t>𝑝</m:t>
                        </m:r>
                      </m:e>
                    </m:d>
                    <m:r>
                      <a:rPr lang="en-US" altLang="zh-CN" b="0" i="1" smtClean="0">
                        <a:latin typeface="Cambria Math" panose="02040503050406030204" pitchFamily="18" charset="0"/>
                      </a:rPr>
                      <m:t>𝑏</m:t>
                    </m:r>
                    <m:r>
                      <a:rPr lang="en-US" altLang="zh-CN" b="0" i="1" smtClean="0">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b="0" i="1" smtClean="0">
                                  <a:latin typeface="Cambria Math" panose="02040503050406030204" pitchFamily="18" charset="0"/>
                                </a:rPr>
                                <m:t>𝑅</m:t>
                              </m:r>
                            </m:e>
                            <m:e>
                              <m:r>
                                <a:rPr lang="en-US" altLang="zh-CN" i="1">
                                  <a:latin typeface="Cambria Math" panose="02040503050406030204" pitchFamily="18" charset="0"/>
                                </a:rPr>
                                <m:t>𝑡</m:t>
                              </m:r>
                            </m:e>
                          </m:mr>
                          <m:mr>
                            <m:e>
                              <m:r>
                                <a:rPr lang="en-US" altLang="zh-CN" i="1">
                                  <a:latin typeface="Cambria Math" panose="02040503050406030204" pitchFamily="18" charset="0"/>
                                </a:rPr>
                                <m:t>0</m:t>
                              </m:r>
                            </m:e>
                            <m:e>
                              <m:r>
                                <a:rPr lang="en-US" altLang="zh-CN" i="1">
                                  <a:latin typeface="Cambria Math" panose="02040503050406030204" pitchFamily="18" charset="0"/>
                                </a:rPr>
                                <m:t>1</m:t>
                              </m:r>
                            </m:e>
                          </m:mr>
                        </m:m>
                      </m:e>
                    </m:d>
                    <m:r>
                      <a:rPr lang="en-US" altLang="zh-CN" b="0" i="1" smtClean="0">
                        <a:latin typeface="Cambria Math" panose="02040503050406030204" pitchFamily="18" charset="0"/>
                      </a:rPr>
                      <m:t>𝑏</m:t>
                    </m:r>
                  </m:oMath>
                </a14:m>
                <a:endParaRPr lang="en-US" altLang="zh-CN" dirty="0" smtClean="0"/>
              </a:p>
              <a:p>
                <a14:m>
                  <m:oMath xmlns:m="http://schemas.openxmlformats.org/officeDocument/2006/math">
                    <m:r>
                      <a:rPr lang="en-US" altLang="zh-CN" b="0" i="1" smtClean="0">
                        <a:latin typeface="Cambria Math" panose="02040503050406030204" pitchFamily="18" charset="0"/>
                      </a:rPr>
                      <m:t>𝑏</m:t>
                    </m:r>
                    <m:r>
                      <a:rPr lang="en-US" altLang="zh-CN" b="0" i="1" smtClean="0">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𝑇</m:t>
                                  </m:r>
                                </m:sup>
                              </m:sSup>
                            </m:e>
                            <m:e>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𝑇</m:t>
                                  </m:r>
                                </m:sup>
                              </m:sSup>
                              <m:r>
                                <a:rPr lang="zh-CN" altLang="en-US" i="1">
                                  <a:latin typeface="Cambria Math" panose="02040503050406030204" pitchFamily="18" charset="0"/>
                                </a:rPr>
                                <m:t>∗</m:t>
                              </m:r>
                              <m:r>
                                <a:rPr lang="en-US" altLang="zh-CN" i="1">
                                  <a:latin typeface="Cambria Math" panose="02040503050406030204" pitchFamily="18" charset="0"/>
                                </a:rPr>
                                <m:t>𝑡</m:t>
                              </m:r>
                            </m:e>
                          </m:mr>
                          <m:mr>
                            <m:e>
                              <m:r>
                                <a:rPr lang="en-US" altLang="zh-CN" i="1">
                                  <a:latin typeface="Cambria Math" panose="02040503050406030204" pitchFamily="18" charset="0"/>
                                </a:rPr>
                                <m:t>0</m:t>
                              </m:r>
                            </m:e>
                            <m:e>
                              <m:r>
                                <a:rPr lang="en-US" altLang="zh-CN" i="1">
                                  <a:latin typeface="Cambria Math" panose="02040503050406030204" pitchFamily="18" charset="0"/>
                                </a:rPr>
                                <m:t>1</m:t>
                              </m:r>
                            </m:e>
                          </m:mr>
                        </m:m>
                      </m:e>
                    </m:d>
                    <m:r>
                      <a:rPr lang="en-US" altLang="zh-CN" b="0" i="1" smtClean="0">
                        <a:latin typeface="Cambria Math" panose="02040503050406030204" pitchFamily="18" charset="0"/>
                      </a:rPr>
                      <m:t>𝑎</m:t>
                    </m:r>
                  </m:oMath>
                </a14:m>
                <a:endParaRPr lang="zh-CN" altLang="en-US" dirty="0"/>
              </a:p>
              <a:p>
                <a:endParaRPr lang="zh-CN" altLang="en-US" dirty="0"/>
              </a:p>
              <a:p>
                <a:endParaRPr lang="zh-CN" altLang="en-US"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7" name="图片 6"/>
          <p:cNvPicPr>
            <a:picLocks noChangeAspect="1"/>
          </p:cNvPicPr>
          <p:nvPr/>
        </p:nvPicPr>
        <p:blipFill>
          <a:blip r:embed="rId3"/>
          <a:stretch>
            <a:fillRect/>
          </a:stretch>
        </p:blipFill>
        <p:spPr>
          <a:xfrm>
            <a:off x="2062523" y="4236144"/>
            <a:ext cx="5018953" cy="2202229"/>
          </a:xfrm>
          <a:prstGeom prst="rect">
            <a:avLst/>
          </a:prstGeom>
        </p:spPr>
      </p:pic>
      <mc:AlternateContent xmlns:mc="http://schemas.openxmlformats.org/markup-compatibility/2006" xmlns:a14="http://schemas.microsoft.com/office/drawing/2010/main">
        <mc:Choice Requires="a14">
          <p:sp>
            <p:nvSpPr>
              <p:cNvPr id="9" name="文本框 8"/>
              <p:cNvSpPr txBox="1"/>
              <p:nvPr/>
            </p:nvSpPr>
            <p:spPr>
              <a:xfrm>
                <a:off x="5295512" y="3362126"/>
                <a:ext cx="3370093" cy="461665"/>
              </a:xfrm>
              <a:prstGeom prst="rect">
                <a:avLst/>
              </a:prstGeom>
              <a:solidFill>
                <a:srgbClr val="BDD7EE">
                  <a:alpha val="52941"/>
                </a:srgbClr>
              </a:solidFill>
            </p:spPr>
            <p:txBody>
              <a:bodyPr wrap="square">
                <a:spAutoFit/>
              </a:bodyPr>
              <a:lstStyle>
                <a:defPPr>
                  <a:defRPr lang="zh-CN"/>
                </a:defPPr>
                <a:lvl1pPr>
                  <a:defRPr>
                    <a:solidFill>
                      <a:srgbClr val="0000FF"/>
                    </a:solidFill>
                    <a:latin typeface="ZztexMono-Regula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smtClean="0">
                    <a:ln>
                      <a:noFill/>
                    </a:ln>
                    <a:solidFill>
                      <a:srgbClr val="0000FF"/>
                    </a:solidFill>
                    <a:effectLst/>
                    <a:uLnTx/>
                    <a:uFillTx/>
                    <a:latin typeface="ZztexMono-Regular"/>
                    <a:ea typeface="宋体" panose="02010600030101010101" pitchFamily="2" charset="-122"/>
                    <a:cs typeface="+mn-cs"/>
                  </a:rPr>
                  <a:t>注意</a:t>
                </a:r>
                <a14:m>
                  <m:oMath xmlns:m="http://schemas.openxmlformats.org/officeDocument/2006/math">
                    <m:r>
                      <m:rPr>
                        <m:brk m:alnAt="7"/>
                      </m:rPr>
                      <a:rPr kumimoji="0" lang="en-US" altLang="zh-CN" sz="2400" b="1" i="1" u="none" strike="noStrike" kern="1200" cap="none" spc="0" normalizeH="0" baseline="0" noProof="0">
                        <a:ln>
                          <a:noFill/>
                        </a:ln>
                        <a:solidFill>
                          <a:srgbClr val="0000FF"/>
                        </a:solidFill>
                        <a:effectLst/>
                        <a:uLnTx/>
                        <a:uFillTx/>
                        <a:latin typeface="Cambria Math" panose="02040503050406030204" pitchFamily="18" charset="0"/>
                        <a:cs typeface="+mn-cs"/>
                      </a:rPr>
                      <m:t>𝑹</m:t>
                    </m:r>
                  </m:oMath>
                </a14:m>
                <a:r>
                  <a:rPr kumimoji="0" lang="zh-CN" altLang="en-US" sz="2400" b="1" i="0" u="none" strike="noStrike" kern="1200" cap="none" spc="0" normalizeH="0" baseline="0" noProof="0" dirty="0">
                    <a:ln>
                      <a:noFill/>
                    </a:ln>
                    <a:solidFill>
                      <a:srgbClr val="0000FF"/>
                    </a:solidFill>
                    <a:effectLst/>
                    <a:uLnTx/>
                    <a:uFillTx/>
                    <a:latin typeface="ZztexMono-Regular"/>
                    <a:ea typeface="宋体" panose="02010600030101010101" pitchFamily="2" charset="-122"/>
                    <a:cs typeface="+mn-cs"/>
                  </a:rPr>
                  <a:t>必须为</a:t>
                </a:r>
                <a:r>
                  <a:rPr kumimoji="0" lang="zh-CN" altLang="en-US" sz="2400" b="1" i="0" u="none" strike="noStrike" kern="1200" cap="none" spc="0" normalizeH="0" baseline="0" noProof="0" dirty="0" smtClean="0">
                    <a:ln>
                      <a:noFill/>
                    </a:ln>
                    <a:solidFill>
                      <a:srgbClr val="FF0000"/>
                    </a:solidFill>
                    <a:effectLst/>
                    <a:uLnTx/>
                    <a:uFillTx/>
                    <a:latin typeface="ZztexMono-Regular"/>
                    <a:ea typeface="宋体" panose="02010600030101010101" pitchFamily="2" charset="-122"/>
                    <a:cs typeface="+mn-cs"/>
                  </a:rPr>
                  <a:t>正交</a:t>
                </a:r>
                <a:r>
                  <a:rPr kumimoji="0" lang="zh-CN" altLang="en-US" sz="2400" b="1" i="0" u="none" strike="noStrike" kern="1200" cap="none" spc="0" normalizeH="0" baseline="0" noProof="0" dirty="0" smtClean="0">
                    <a:ln>
                      <a:noFill/>
                    </a:ln>
                    <a:solidFill>
                      <a:srgbClr val="0000FF"/>
                    </a:solidFill>
                    <a:effectLst/>
                    <a:uLnTx/>
                    <a:uFillTx/>
                    <a:latin typeface="ZztexMono-Regular"/>
                    <a:ea typeface="宋体" panose="02010600030101010101" pitchFamily="2" charset="-122"/>
                    <a:cs typeface="+mn-cs"/>
                  </a:rPr>
                  <a:t>矩阵</a:t>
                </a:r>
                <a:endParaRPr kumimoji="0" lang="zh-CN" altLang="en-US" sz="2400" b="1" i="0" u="none" strike="noStrike" kern="1200" cap="none" spc="0" normalizeH="0" baseline="0" noProof="0" dirty="0">
                  <a:ln>
                    <a:noFill/>
                  </a:ln>
                  <a:solidFill>
                    <a:srgbClr val="0000FF"/>
                  </a:solidFill>
                  <a:effectLst/>
                  <a:uLnTx/>
                  <a:uFillTx/>
                  <a:latin typeface="ZztexMono-Regular"/>
                  <a:ea typeface="宋体" panose="02010600030101010101" pitchFamily="2" charset="-122"/>
                  <a:cs typeface="+mn-cs"/>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5295512" y="3362126"/>
                <a:ext cx="3370093" cy="461665"/>
              </a:xfrm>
              <a:prstGeom prst="rect">
                <a:avLst/>
              </a:prstGeom>
              <a:blipFill>
                <a:blip r:embed="rId4"/>
                <a:stretch>
                  <a:fillRect l="-2893" t="-14667" b="-2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967416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知识点回顾 </a:t>
            </a:r>
            <a:r>
              <a:rPr lang="en-US" altLang="zh-CN" dirty="0" smtClean="0"/>
              <a:t>-</a:t>
            </a:r>
            <a:r>
              <a:rPr lang="zh-CN" altLang="en-US" dirty="0" smtClean="0"/>
              <a:t> </a:t>
            </a:r>
            <a:r>
              <a:rPr lang="en-US" altLang="zh-CN" dirty="0" err="1" smtClean="0"/>
              <a:t>LookAt</a:t>
            </a:r>
            <a:r>
              <a:rPr lang="zh-CN" altLang="en-US" dirty="0"/>
              <a:t>函数</a:t>
            </a:r>
          </a:p>
        </p:txBody>
      </p:sp>
      <p:sp>
        <p:nvSpPr>
          <p:cNvPr id="3" name="内容占位符 2"/>
          <p:cNvSpPr>
            <a:spLocks noGrp="1"/>
          </p:cNvSpPr>
          <p:nvPr>
            <p:ph idx="1"/>
          </p:nvPr>
        </p:nvSpPr>
        <p:spPr/>
        <p:txBody>
          <a:bodyPr>
            <a:normAutofit/>
          </a:bodyPr>
          <a:lstStyle/>
          <a:p>
            <a:r>
              <a:rPr lang="en-US" altLang="zh-CN" sz="2400" dirty="0" err="1"/>
              <a:t>LookAt</a:t>
            </a:r>
            <a:r>
              <a:rPr lang="zh-CN" altLang="en-US" sz="2400" dirty="0"/>
              <a:t>函数：</a:t>
            </a:r>
          </a:p>
          <a:p>
            <a:endParaRPr lang="en-US" altLang="zh-CN" sz="2400" dirty="0"/>
          </a:p>
          <a:p>
            <a:endParaRPr lang="en-US" altLang="zh-CN" sz="2400" dirty="0"/>
          </a:p>
          <a:p>
            <a:pPr marL="0" indent="0">
              <a:buNone/>
            </a:pPr>
            <a:endParaRPr lang="en-US" altLang="zh-CN" sz="2400" dirty="0"/>
          </a:p>
          <a:p>
            <a:endParaRPr lang="en-US" altLang="zh-CN" sz="2400" dirty="0"/>
          </a:p>
          <a:p>
            <a:r>
              <a:rPr lang="zh-CN" altLang="en-US" sz="2400" dirty="0"/>
              <a:t>函数解读：</a:t>
            </a:r>
            <a:endParaRPr lang="zh-CN" altLang="en-US" sz="1800" dirty="0"/>
          </a:p>
          <a:p>
            <a:pPr lvl="1">
              <a:buClr>
                <a:schemeClr val="tx1"/>
              </a:buClr>
            </a:pPr>
            <a:r>
              <a:rPr lang="en-US" altLang="zh-CN" sz="1800" b="1" dirty="0"/>
              <a:t>eye</a:t>
            </a:r>
            <a:r>
              <a:rPr lang="en-US" altLang="zh-CN" sz="1800" dirty="0"/>
              <a:t> </a:t>
            </a:r>
            <a:r>
              <a:rPr lang="en-US" altLang="zh-CN" sz="1800" dirty="0" smtClean="0"/>
              <a:t>point</a:t>
            </a:r>
            <a:r>
              <a:rPr lang="zh-CN" altLang="en-US" sz="1800" dirty="0" smtClean="0"/>
              <a:t>：视点</a:t>
            </a:r>
            <a:endParaRPr lang="en-US" altLang="zh-CN" sz="1800" dirty="0"/>
          </a:p>
          <a:p>
            <a:pPr lvl="1">
              <a:buClr>
                <a:schemeClr val="tx1"/>
              </a:buClr>
            </a:pPr>
            <a:r>
              <a:rPr lang="en-US" altLang="zh-CN" sz="1800" b="1" dirty="0"/>
              <a:t>at</a:t>
            </a:r>
            <a:r>
              <a:rPr lang="en-US" altLang="zh-CN" sz="1800" dirty="0"/>
              <a:t> </a:t>
            </a:r>
            <a:r>
              <a:rPr lang="en-US" altLang="zh-CN" sz="1800" dirty="0" smtClean="0"/>
              <a:t>point</a:t>
            </a:r>
            <a:r>
              <a:rPr lang="zh-CN" altLang="en-US" sz="1800" dirty="0" smtClean="0"/>
              <a:t>：参考点</a:t>
            </a:r>
            <a:endParaRPr lang="en-US" altLang="zh-CN" sz="1800" dirty="0"/>
          </a:p>
          <a:p>
            <a:pPr lvl="1">
              <a:buClr>
                <a:schemeClr val="tx1"/>
              </a:buClr>
            </a:pPr>
            <a:r>
              <a:rPr lang="en-US" altLang="zh-CN" sz="1800" b="1" dirty="0" err="1" smtClean="0"/>
              <a:t>vpn</a:t>
            </a:r>
            <a:r>
              <a:rPr lang="en-US" altLang="zh-CN" sz="1800" dirty="0" smtClean="0"/>
              <a:t> = </a:t>
            </a:r>
            <a:r>
              <a:rPr lang="en-US" altLang="zh-CN" sz="1800" b="1" dirty="0" smtClean="0">
                <a:solidFill>
                  <a:srgbClr val="FF0000"/>
                </a:solidFill>
              </a:rPr>
              <a:t>eye - at</a:t>
            </a:r>
            <a:endParaRPr lang="en-US" altLang="zh-CN" sz="2400" b="1" dirty="0" smtClean="0">
              <a:solidFill>
                <a:srgbClr val="FF0000"/>
              </a:solidFill>
            </a:endParaRPr>
          </a:p>
          <a:p>
            <a:endParaRPr lang="en-US" altLang="zh-CN" sz="2400" dirty="0" smtClean="0"/>
          </a:p>
          <a:p>
            <a:endParaRPr lang="en-US" altLang="zh-CN" sz="24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7</a:t>
            </a:fld>
            <a:endParaRPr lang="zh-CN" altLang="en-US"/>
          </a:p>
        </p:txBody>
      </p:sp>
      <p:pic>
        <p:nvPicPr>
          <p:cNvPr id="5" name="图片 4"/>
          <p:cNvPicPr>
            <a:picLocks noChangeAspect="1"/>
          </p:cNvPicPr>
          <p:nvPr/>
        </p:nvPicPr>
        <p:blipFill>
          <a:blip r:embed="rId2"/>
          <a:stretch>
            <a:fillRect/>
          </a:stretch>
        </p:blipFill>
        <p:spPr>
          <a:xfrm>
            <a:off x="3778932" y="3492500"/>
            <a:ext cx="4928254" cy="3286538"/>
          </a:xfrm>
          <a:prstGeom prst="rect">
            <a:avLst/>
          </a:prstGeom>
        </p:spPr>
      </p:pic>
      <p:sp>
        <p:nvSpPr>
          <p:cNvPr id="10" name="矩形 9"/>
          <p:cNvSpPr/>
          <p:nvPr/>
        </p:nvSpPr>
        <p:spPr>
          <a:xfrm>
            <a:off x="1076756" y="1849788"/>
            <a:ext cx="6344879" cy="1477328"/>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err="1">
                <a:latin typeface="ZztexMono-Regular"/>
              </a:rPr>
              <a:t>LookAt</a:t>
            </a:r>
            <a:r>
              <a:rPr lang="en-US" altLang="zh-CN" b="1" dirty="0">
                <a:latin typeface="ZztexMono-Regular"/>
              </a:rPr>
              <a:t>(</a:t>
            </a:r>
            <a:r>
              <a:rPr lang="en-US" altLang="zh-CN" b="1" dirty="0">
                <a:solidFill>
                  <a:srgbClr val="0000FF"/>
                </a:solidFill>
                <a:latin typeface="ZztexMono-Regular"/>
              </a:rPr>
              <a:t>point4 </a:t>
            </a:r>
            <a:r>
              <a:rPr lang="en-US" altLang="zh-CN" b="1" dirty="0">
                <a:latin typeface="ZztexMono-Regular"/>
              </a:rPr>
              <a:t>eye,</a:t>
            </a:r>
            <a:r>
              <a:rPr lang="en-US" altLang="zh-CN" b="1" dirty="0">
                <a:solidFill>
                  <a:srgbClr val="0000FF"/>
                </a:solidFill>
                <a:latin typeface="ZztexMono-Regular"/>
              </a:rPr>
              <a:t> point4 </a:t>
            </a:r>
            <a:r>
              <a:rPr lang="en-US" altLang="zh-CN" b="1" dirty="0">
                <a:latin typeface="ZztexMono-Regular"/>
              </a:rPr>
              <a:t>at,</a:t>
            </a:r>
            <a:r>
              <a:rPr lang="en-US" altLang="zh-CN" b="1" dirty="0">
                <a:solidFill>
                  <a:srgbClr val="0000FF"/>
                </a:solidFill>
                <a:latin typeface="ZztexMono-Regular"/>
              </a:rPr>
              <a:t> vec4 </a:t>
            </a:r>
            <a:r>
              <a:rPr lang="en-US" altLang="zh-CN" b="1" dirty="0" err="1">
                <a:latin typeface="ZztexMono-Regular"/>
              </a:rPr>
              <a:t>v</a:t>
            </a:r>
            <a:r>
              <a:rPr lang="en-US" altLang="zh-CN" b="1" baseline="-25000" dirty="0" err="1">
                <a:latin typeface="ZztexMono-Regular"/>
              </a:rPr>
              <a:t>up</a:t>
            </a:r>
            <a:r>
              <a:rPr lang="en-US" altLang="zh-CN" b="1" dirty="0">
                <a:latin typeface="ZztexMono-Regular"/>
              </a:rPr>
              <a:t>)</a:t>
            </a:r>
          </a:p>
          <a:p>
            <a:endParaRPr lang="en-US" altLang="zh-CN" b="1" dirty="0">
              <a:latin typeface="ZztexMono-Regular"/>
            </a:endParaRPr>
          </a:p>
          <a:p>
            <a:r>
              <a:rPr lang="en-US" altLang="zh-CN" b="1" dirty="0">
                <a:solidFill>
                  <a:srgbClr val="0000FF"/>
                </a:solidFill>
                <a:latin typeface="ZztexMono-Regular"/>
              </a:rPr>
              <a:t>mat4</a:t>
            </a:r>
            <a:r>
              <a:rPr lang="en-US" altLang="zh-CN" b="1" dirty="0">
                <a:latin typeface="ZztexMono-Regular"/>
              </a:rPr>
              <a:t> </a:t>
            </a:r>
            <a:r>
              <a:rPr lang="en-US" altLang="zh-CN" b="1" dirty="0" err="1">
                <a:latin typeface="ZztexMono-Regular"/>
              </a:rPr>
              <a:t>LookAt</a:t>
            </a:r>
            <a:r>
              <a:rPr lang="en-US" altLang="zh-CN" b="1" dirty="0">
                <a:latin typeface="ZztexMono-Regular"/>
              </a:rPr>
              <a:t>(</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eyex</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eyey</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eyez</a:t>
            </a:r>
            <a:r>
              <a:rPr lang="en-US" altLang="zh-CN" b="1" dirty="0">
                <a:latin typeface="ZztexMono-Regular"/>
              </a:rPr>
              <a:t>,</a:t>
            </a:r>
          </a:p>
          <a:p>
            <a:pPr lvl="3"/>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atx</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aty</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atz</a:t>
            </a:r>
            <a:r>
              <a:rPr lang="en-US" altLang="zh-CN" b="1" dirty="0">
                <a:latin typeface="ZztexMono-Regular"/>
              </a:rPr>
              <a:t>,</a:t>
            </a:r>
          </a:p>
          <a:p>
            <a:pPr lvl="3"/>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upx</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upy</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upz</a:t>
            </a:r>
            <a:r>
              <a:rPr lang="en-US" altLang="zh-CN" b="1" dirty="0">
                <a:latin typeface="ZztexMono-Regular"/>
              </a:rPr>
              <a:t>)</a:t>
            </a:r>
            <a:endParaRPr lang="zh-CN" altLang="en-US" dirty="0"/>
          </a:p>
        </p:txBody>
      </p:sp>
      <p:pic>
        <p:nvPicPr>
          <p:cNvPr id="13" name="图片 12"/>
          <p:cNvPicPr>
            <a:picLocks noChangeAspect="1"/>
          </p:cNvPicPr>
          <p:nvPr/>
        </p:nvPicPr>
        <p:blipFill>
          <a:blip r:embed="rId3"/>
          <a:stretch>
            <a:fillRect/>
          </a:stretch>
        </p:blipFill>
        <p:spPr>
          <a:xfrm>
            <a:off x="1271324" y="5135769"/>
            <a:ext cx="1109759" cy="555920"/>
          </a:xfrm>
          <a:prstGeom prst="rect">
            <a:avLst/>
          </a:prstGeom>
        </p:spPr>
      </p:pic>
      <p:pic>
        <p:nvPicPr>
          <p:cNvPr id="15" name="图片 14"/>
          <p:cNvPicPr>
            <a:picLocks noChangeAspect="1"/>
          </p:cNvPicPr>
          <p:nvPr/>
        </p:nvPicPr>
        <p:blipFill>
          <a:blip r:embed="rId4"/>
          <a:stretch>
            <a:fillRect/>
          </a:stretch>
        </p:blipFill>
        <p:spPr>
          <a:xfrm>
            <a:off x="2506390" y="5083633"/>
            <a:ext cx="1272542" cy="605399"/>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1146018" y="5924462"/>
                <a:ext cx="1360372" cy="6219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0" dirty="0" smtClean="0">
                          <a:latin typeface="Cambria Math" charset="0"/>
                        </a:rPr>
                        <m:t>𝐯</m:t>
                      </m:r>
                      <m:r>
                        <a:rPr lang="zh-CN" altLang="en-US" b="1" i="0" dirty="0" smtClean="0">
                          <a:latin typeface="Cambria Math" charset="0"/>
                        </a:rPr>
                        <m:t> </m:t>
                      </m:r>
                      <m:r>
                        <a:rPr lang="en-US" altLang="zh-CN" b="1" i="0" dirty="0" smtClean="0">
                          <a:latin typeface="Cambria Math" charset="0"/>
                        </a:rPr>
                        <m:t>=</m:t>
                      </m:r>
                      <m:r>
                        <a:rPr lang="zh-CN" altLang="en-US" b="1" i="0" dirty="0" smtClean="0">
                          <a:latin typeface="Cambria Math" charset="0"/>
                        </a:rPr>
                        <m:t> </m:t>
                      </m:r>
                      <m:f>
                        <m:fPr>
                          <m:ctrlPr>
                            <a:rPr lang="mr-IN" altLang="zh-CN" b="1" i="1" dirty="0" smtClean="0">
                              <a:latin typeface="Cambria Math" panose="02040503050406030204" pitchFamily="18" charset="0"/>
                            </a:rPr>
                          </m:ctrlPr>
                        </m:fPr>
                        <m:num>
                          <m:r>
                            <a:rPr lang="en-US" altLang="zh-CN" b="1" i="0" dirty="0" smtClean="0">
                              <a:latin typeface="Cambria Math" charset="0"/>
                            </a:rPr>
                            <m:t>𝐧</m:t>
                          </m:r>
                          <m:r>
                            <a:rPr lang="en-US" altLang="zh-CN" b="1" i="0" dirty="0" smtClean="0">
                              <a:latin typeface="Cambria Math" charset="0"/>
                              <a:ea typeface="Cambria Math" charset="0"/>
                              <a:cs typeface="Cambria Math" charset="0"/>
                            </a:rPr>
                            <m:t>×</m:t>
                          </m:r>
                          <m:r>
                            <a:rPr lang="en-US" altLang="zh-CN" b="1" i="0" dirty="0" smtClean="0">
                              <a:latin typeface="Cambria Math" charset="0"/>
                              <a:ea typeface="Cambria Math" charset="0"/>
                              <a:cs typeface="Cambria Math" charset="0"/>
                            </a:rPr>
                            <m:t>𝐮</m:t>
                          </m:r>
                        </m:num>
                        <m:den>
                          <m:d>
                            <m:dPr>
                              <m:begChr m:val="|"/>
                              <m:endChr m:val="|"/>
                              <m:ctrlPr>
                                <a:rPr lang="hr-HR" altLang="zh-CN" b="1" i="1" dirty="0" smtClean="0">
                                  <a:latin typeface="Cambria Math" panose="02040503050406030204" pitchFamily="18" charset="0"/>
                                </a:rPr>
                              </m:ctrlPr>
                            </m:dPr>
                            <m:e>
                              <m:r>
                                <a:rPr lang="en-US" altLang="zh-CN" b="1" i="0" dirty="0">
                                  <a:latin typeface="Cambria Math" charset="0"/>
                                </a:rPr>
                                <m:t>𝐧</m:t>
                              </m:r>
                              <m:r>
                                <a:rPr lang="en-US" altLang="zh-CN" b="1" i="0" dirty="0">
                                  <a:latin typeface="Cambria Math" charset="0"/>
                                  <a:ea typeface="Cambria Math" charset="0"/>
                                  <a:cs typeface="Cambria Math" charset="0"/>
                                </a:rPr>
                                <m:t>×</m:t>
                              </m:r>
                              <m:r>
                                <a:rPr lang="en-US" altLang="zh-CN" b="1" i="0" dirty="0">
                                  <a:latin typeface="Cambria Math" charset="0"/>
                                  <a:ea typeface="Cambria Math" charset="0"/>
                                  <a:cs typeface="Cambria Math" charset="0"/>
                                </a:rPr>
                                <m:t>𝐮</m:t>
                              </m:r>
                            </m:e>
                          </m:d>
                        </m:den>
                      </m:f>
                    </m:oMath>
                  </m:oMathPara>
                </a14:m>
                <a:endParaRPr lang="en-US" b="1" dirty="0"/>
              </a:p>
            </p:txBody>
          </p:sp>
        </mc:Choice>
        <mc:Fallback xmlns="">
          <p:sp>
            <p:nvSpPr>
              <p:cNvPr id="6" name="TextBox 5"/>
              <p:cNvSpPr txBox="1">
                <a:spLocks noRot="1" noChangeAspect="1" noMove="1" noResize="1" noEditPoints="1" noAdjustHandles="1" noChangeArrowheads="1" noChangeShapeType="1" noTextEdit="1"/>
              </p:cNvSpPr>
              <p:nvPr/>
            </p:nvSpPr>
            <p:spPr>
              <a:xfrm>
                <a:off x="1146018" y="5924462"/>
                <a:ext cx="1360372" cy="621965"/>
              </a:xfrm>
              <a:prstGeom prst="rect">
                <a:avLst/>
              </a:prstGeom>
              <a:blipFill rotWithShape="0">
                <a:blip r:embed="rId5"/>
                <a:stretch>
                  <a:fillRect/>
                </a:stretch>
              </a:blipFill>
            </p:spPr>
            <p:txBody>
              <a:bodyPr/>
              <a:lstStyle/>
              <a:p>
                <a:r>
                  <a:rPr lang="en-US">
                    <a:noFill/>
                  </a:rPr>
                  <a:t> </a:t>
                </a:r>
              </a:p>
            </p:txBody>
          </p:sp>
        </mc:Fallback>
      </mc:AlternateContent>
      <p:cxnSp>
        <p:nvCxnSpPr>
          <p:cNvPr id="11" name="直接箭头连接符 10"/>
          <p:cNvCxnSpPr/>
          <p:nvPr/>
        </p:nvCxnSpPr>
        <p:spPr>
          <a:xfrm flipH="1">
            <a:off x="4258823" y="5227153"/>
            <a:ext cx="500098" cy="10675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794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righ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3650349" y="1520687"/>
            <a:ext cx="2177274" cy="2177274"/>
          </a:xfrm>
          <a:prstGeom prst="ellips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8</a:t>
            </a:fld>
            <a:endParaRPr lang="zh-CN" altLang="en-US"/>
          </a:p>
        </p:txBody>
      </p:sp>
      <p:sp>
        <p:nvSpPr>
          <p:cNvPr id="8" name="文本框 7"/>
          <p:cNvSpPr txBox="1"/>
          <p:nvPr/>
        </p:nvSpPr>
        <p:spPr>
          <a:xfrm>
            <a:off x="4180792" y="3850885"/>
            <a:ext cx="1107996"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观察</a:t>
            </a:r>
          </a:p>
        </p:txBody>
      </p:sp>
      <p:sp>
        <p:nvSpPr>
          <p:cNvPr id="14" name="文本框 13"/>
          <p:cNvSpPr txBox="1"/>
          <p:nvPr/>
        </p:nvSpPr>
        <p:spPr>
          <a:xfrm>
            <a:off x="4028428" y="2780384"/>
            <a:ext cx="1532599" cy="584775"/>
          </a:xfrm>
          <a:prstGeom prst="rect">
            <a:avLst/>
          </a:prstGeom>
          <a:noFill/>
        </p:spPr>
        <p:txBody>
          <a:bodyPr wrap="none" rtlCol="0">
            <a:spAutoFit/>
          </a:bodyPr>
          <a:lstStyle/>
          <a:p>
            <a:pPr algn="ctr"/>
            <a:r>
              <a:rPr lang="en-US" altLang="zh-CN" sz="3200" b="1" dirty="0">
                <a:solidFill>
                  <a:schemeClr val="bg1"/>
                </a:solidFill>
              </a:rPr>
              <a:t>Chapter</a:t>
            </a:r>
            <a:endParaRPr lang="zh-CN" altLang="en-US" sz="3200" b="1" dirty="0">
              <a:solidFill>
                <a:schemeClr val="bg1"/>
              </a:solidFill>
            </a:endParaRPr>
          </a:p>
        </p:txBody>
      </p:sp>
      <p:sp>
        <p:nvSpPr>
          <p:cNvPr id="15" name="文本框 14"/>
          <p:cNvSpPr txBox="1"/>
          <p:nvPr/>
        </p:nvSpPr>
        <p:spPr>
          <a:xfrm>
            <a:off x="4328896" y="1367763"/>
            <a:ext cx="931665" cy="1862048"/>
          </a:xfrm>
          <a:prstGeom prst="rect">
            <a:avLst/>
          </a:prstGeom>
          <a:noFill/>
        </p:spPr>
        <p:txBody>
          <a:bodyPr wrap="none" rtlCol="0">
            <a:spAutoFit/>
          </a:bodyPr>
          <a:lstStyle/>
          <a:p>
            <a:r>
              <a:rPr lang="en-US" altLang="zh-CN" sz="11500" b="1" dirty="0">
                <a:solidFill>
                  <a:schemeClr val="bg1"/>
                </a:solidFill>
              </a:rPr>
              <a:t>4</a:t>
            </a:r>
            <a:endParaRPr lang="zh-CN" altLang="en-US" sz="11500" b="1" dirty="0">
              <a:solidFill>
                <a:schemeClr val="bg1"/>
              </a:solidFill>
            </a:endParaRPr>
          </a:p>
        </p:txBody>
      </p:sp>
    </p:spTree>
    <p:extLst>
      <p:ext uri="{BB962C8B-B14F-4D97-AF65-F5344CB8AC3E}">
        <p14:creationId xmlns:p14="http://schemas.microsoft.com/office/powerpoint/2010/main" val="387266364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内容提要</a:t>
            </a:r>
          </a:p>
        </p:txBody>
      </p:sp>
      <p:sp>
        <p:nvSpPr>
          <p:cNvPr id="7" name="内容占位符 6"/>
          <p:cNvSpPr>
            <a:spLocks noGrp="1"/>
          </p:cNvSpPr>
          <p:nvPr>
            <p:ph idx="1"/>
          </p:nvPr>
        </p:nvSpPr>
        <p:spPr>
          <a:xfrm>
            <a:off x="628650" y="1316830"/>
            <a:ext cx="7886700" cy="5338493"/>
          </a:xfrm>
        </p:spPr>
        <p:txBody>
          <a:bodyPr>
            <a:normAutofit/>
          </a:bodyPr>
          <a:lstStyle/>
          <a:p>
            <a:pPr>
              <a:buClr>
                <a:srgbClr val="94003F"/>
              </a:buClr>
            </a:pPr>
            <a:r>
              <a:rPr lang="zh-CN" altLang="en-US" dirty="0"/>
              <a:t>经典视图</a:t>
            </a:r>
            <a:endParaRPr lang="en-US" altLang="zh-CN" dirty="0"/>
          </a:p>
          <a:p>
            <a:pPr>
              <a:buClr>
                <a:srgbClr val="94003F"/>
              </a:buClr>
            </a:pPr>
            <a:r>
              <a:rPr lang="zh-CN" altLang="en-US" dirty="0"/>
              <a:t>计算机视图</a:t>
            </a:r>
            <a:endParaRPr lang="en-US" altLang="zh-CN" dirty="0"/>
          </a:p>
          <a:p>
            <a:endParaRPr lang="en-US" altLang="zh-CN" dirty="0"/>
          </a:p>
          <a:p>
            <a:r>
              <a:rPr lang="en-US" altLang="zh-CN" dirty="0">
                <a:solidFill>
                  <a:srgbClr val="00B0F0"/>
                </a:solidFill>
              </a:rPr>
              <a:t>Ope</a:t>
            </a:r>
            <a:r>
              <a:rPr lang="en-US" altLang="zh-CN" dirty="0">
                <a:solidFill>
                  <a:srgbClr val="00B1F0"/>
                </a:solidFill>
              </a:rPr>
              <a:t>nGL</a:t>
            </a:r>
            <a:r>
              <a:rPr lang="zh-CN" altLang="en-US" dirty="0" smtClean="0"/>
              <a:t>的平行</a:t>
            </a:r>
            <a:r>
              <a:rPr lang="zh-CN" altLang="en-US" dirty="0"/>
              <a:t>投影</a:t>
            </a:r>
            <a:endParaRPr lang="en-US" altLang="zh-CN" dirty="0"/>
          </a:p>
          <a:p>
            <a:r>
              <a:rPr lang="en-US" altLang="zh-CN" dirty="0">
                <a:solidFill>
                  <a:srgbClr val="00B0F0"/>
                </a:solidFill>
              </a:rPr>
              <a:t>OpenGL</a:t>
            </a:r>
            <a:r>
              <a:rPr lang="zh-CN" altLang="en-US" dirty="0"/>
              <a:t>的透视</a:t>
            </a:r>
            <a:r>
              <a:rPr lang="zh-CN" altLang="en-US" dirty="0" smtClean="0"/>
              <a:t>投影</a:t>
            </a:r>
            <a:endParaRPr lang="en-US" altLang="zh-CN" dirty="0"/>
          </a:p>
          <a:p>
            <a:r>
              <a:rPr lang="zh-CN" altLang="en-US" dirty="0"/>
              <a:t>隐藏面消除</a:t>
            </a:r>
            <a:endParaRPr lang="en-US" altLang="zh-CN" dirty="0"/>
          </a:p>
          <a:p>
            <a:r>
              <a:rPr lang="zh-CN" altLang="en-US" dirty="0"/>
              <a:t>网格曲面的绘制</a:t>
            </a:r>
            <a:endParaRPr lang="en-US" altLang="zh-CN" dirty="0"/>
          </a:p>
          <a:p>
            <a:r>
              <a:rPr lang="zh-CN" altLang="en-US" dirty="0"/>
              <a:t>投影和阴影</a:t>
            </a:r>
          </a:p>
        </p:txBody>
      </p:sp>
      <p:sp>
        <p:nvSpPr>
          <p:cNvPr id="3" name="灯片编号占位符 2"/>
          <p:cNvSpPr>
            <a:spLocks noGrp="1"/>
          </p:cNvSpPr>
          <p:nvPr>
            <p:ph type="sldNum" sz="quarter" idx="12"/>
          </p:nvPr>
        </p:nvSpPr>
        <p:spPr/>
        <p:txBody>
          <a:bodyPr/>
          <a:lstStyle/>
          <a:p>
            <a:fld id="{EB792F4E-54C0-4D36-B331-9C6FCFE9A340}" type="slidenum">
              <a:rPr lang="zh-CN" altLang="en-US" smtClean="0"/>
              <a:t>9</a:t>
            </a:fld>
            <a:endParaRPr lang="zh-CN" altLang="en-US"/>
          </a:p>
        </p:txBody>
      </p:sp>
      <p:sp>
        <p:nvSpPr>
          <p:cNvPr id="5" name="Rectangle 4"/>
          <p:cNvSpPr/>
          <p:nvPr/>
        </p:nvSpPr>
        <p:spPr>
          <a:xfrm>
            <a:off x="501328" y="1114153"/>
            <a:ext cx="7722704" cy="1423685"/>
          </a:xfrm>
          <a:prstGeom prst="rect">
            <a:avLst/>
          </a:prstGeom>
          <a:solidFill>
            <a:schemeClr val="bg1">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3464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10</a:t>
            </a:fld>
            <a:endParaRPr lang="zh-CN" altLang="en-US"/>
          </a:p>
        </p:txBody>
      </p:sp>
      <p:sp>
        <p:nvSpPr>
          <p:cNvPr id="8" name="文本框 7"/>
          <p:cNvSpPr txBox="1"/>
          <p:nvPr/>
        </p:nvSpPr>
        <p:spPr>
          <a:xfrm>
            <a:off x="2398754" y="3389111"/>
            <a:ext cx="4354077" cy="646331"/>
          </a:xfrm>
          <a:prstGeom prst="rect">
            <a:avLst/>
          </a:prstGeom>
          <a:noFill/>
        </p:spPr>
        <p:txBody>
          <a:bodyPr wrap="none" rtlCol="0">
            <a:spAutoFit/>
          </a:bodyPr>
          <a:lstStyle/>
          <a:p>
            <a:pPr algn="ctr"/>
            <a:r>
              <a:rPr lang="en-US" altLang="zh-CN" sz="3600" b="1" dirty="0">
                <a:solidFill>
                  <a:srgbClr val="00B1F0"/>
                </a:solidFill>
                <a:latin typeface="微软雅黑" panose="020B0503020204020204" pitchFamily="34" charset="-122"/>
                <a:ea typeface="微软雅黑" panose="020B0503020204020204" pitchFamily="34" charset="-122"/>
              </a:rPr>
              <a:t>OpenGL</a:t>
            </a:r>
            <a:r>
              <a:rPr lang="zh-CN" altLang="en-US" sz="3600" b="1" dirty="0">
                <a:latin typeface="微软雅黑" panose="020B0503020204020204" pitchFamily="34" charset="-122"/>
                <a:ea typeface="微软雅黑" panose="020B0503020204020204" pitchFamily="34" charset="-122"/>
              </a:rPr>
              <a:t>的平行投影</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smtClean="0">
                <a:solidFill>
                  <a:srgbClr val="94003F"/>
                </a:solidFill>
              </a:rPr>
              <a:t>1</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436010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4535010" y="1729840"/>
            <a:ext cx="3916978" cy="3000223"/>
          </a:xfrm>
          <a:prstGeom prst="rect">
            <a:avLst/>
          </a:prstGeom>
        </p:spPr>
      </p:pic>
      <p:sp>
        <p:nvSpPr>
          <p:cNvPr id="2" name="标题 1"/>
          <p:cNvSpPr>
            <a:spLocks noGrp="1"/>
          </p:cNvSpPr>
          <p:nvPr>
            <p:ph type="title"/>
          </p:nvPr>
        </p:nvSpPr>
        <p:spPr/>
        <p:txBody>
          <a:bodyPr/>
          <a:lstStyle/>
          <a:p>
            <a:r>
              <a:rPr lang="zh-CN" altLang="en-US" dirty="0"/>
              <a:t>正交投影</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a:buClr>
                    <a:srgbClr val="94003F"/>
                  </a:buClr>
                </a:pPr>
                <a:r>
                  <a:rPr lang="zh-CN" altLang="en-US" sz="2400" dirty="0"/>
                  <a:t>正交投影原理</a:t>
                </a:r>
              </a:p>
              <a:p>
                <a:pPr lvl="1">
                  <a:buClr>
                    <a:schemeClr val="tx1"/>
                  </a:buClr>
                </a:pPr>
                <a:r>
                  <a:rPr lang="zh-CN" altLang="en-US" sz="1800" dirty="0"/>
                  <a:t>平行投影的特殊情况</a:t>
                </a:r>
                <a:endParaRPr lang="en-US" altLang="zh-CN" sz="1800" dirty="0"/>
              </a:p>
              <a:p>
                <a:pPr lvl="1">
                  <a:buClr>
                    <a:schemeClr val="tx1"/>
                  </a:buClr>
                </a:pPr>
                <a:r>
                  <a:rPr lang="zh-CN" altLang="en-US" sz="1800" dirty="0"/>
                  <a:t>投影方向</a:t>
                </a:r>
                <a:r>
                  <a:rPr lang="zh-CN" altLang="en-US" sz="1800" dirty="0" smtClean="0"/>
                  <a:t>与投影平面</a:t>
                </a:r>
                <a:r>
                  <a:rPr lang="zh-CN" altLang="en-US" sz="1800" dirty="0"/>
                  <a:t>垂直</a:t>
                </a:r>
                <a:endParaRPr lang="en-US" altLang="zh-CN" sz="1800" dirty="0"/>
              </a:p>
              <a:p>
                <a:pPr lvl="1">
                  <a:buClr>
                    <a:schemeClr val="tx1"/>
                  </a:buClr>
                </a:pPr>
                <a:r>
                  <a:rPr lang="zh-CN" altLang="en-US" sz="1800" dirty="0"/>
                  <a:t>投影</a:t>
                </a:r>
                <a:r>
                  <a:rPr lang="zh-CN" altLang="en-US" sz="1800" dirty="0" smtClean="0"/>
                  <a:t>矩阵（投影平面为</a:t>
                </a:r>
                <a14:m>
                  <m:oMath xmlns:m="http://schemas.openxmlformats.org/officeDocument/2006/math">
                    <m:r>
                      <a:rPr lang="en-US" altLang="zh-CN" sz="1800" i="1" dirty="0" smtClean="0">
                        <a:latin typeface="Cambria Math" charset="0"/>
                      </a:rPr>
                      <m:t>𝑧</m:t>
                    </m:r>
                    <m:r>
                      <a:rPr lang="en-US" altLang="zh-CN" sz="1800" i="1" dirty="0" smtClean="0">
                        <a:latin typeface="Cambria Math" charset="0"/>
                      </a:rPr>
                      <m:t>=0</m:t>
                    </m:r>
                  </m:oMath>
                </a14:m>
                <a:r>
                  <a:rPr lang="zh-CN" altLang="en-US" sz="1800" dirty="0" smtClean="0"/>
                  <a:t>）：</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r>
                  <a:rPr lang="zh-CN" altLang="en-US" sz="2400" dirty="0"/>
                  <a:t>特点：</a:t>
                </a:r>
              </a:p>
              <a:p>
                <a:pPr lvl="1">
                  <a:buClr>
                    <a:schemeClr val="tx1"/>
                  </a:buClr>
                </a:pPr>
                <a:r>
                  <a:rPr lang="zh-CN" altLang="en-US" sz="1800" dirty="0"/>
                  <a:t>保持</a:t>
                </a:r>
                <a:r>
                  <a:rPr lang="en-US" altLang="zh-CN" sz="1800" dirty="0"/>
                  <a:t>x</a:t>
                </a:r>
                <a:r>
                  <a:rPr lang="zh-CN" altLang="en-US" sz="1800" dirty="0"/>
                  <a:t>，</a:t>
                </a:r>
                <a:r>
                  <a:rPr lang="en-US" altLang="zh-CN" sz="1800" dirty="0"/>
                  <a:t>y</a:t>
                </a:r>
                <a:r>
                  <a:rPr lang="zh-CN" altLang="en-US" sz="1800" dirty="0"/>
                  <a:t>方向上尺寸不变</a:t>
                </a:r>
                <a:endParaRPr lang="en-US" altLang="zh-CN" sz="1800" dirty="0"/>
              </a:p>
              <a:p>
                <a:pPr lvl="1">
                  <a:buClr>
                    <a:schemeClr val="tx1"/>
                  </a:buClr>
                </a:pPr>
                <a:r>
                  <a:rPr lang="zh-CN" altLang="en-US" sz="1800" dirty="0"/>
                  <a:t>默认观察范围是以原点为中心</a:t>
                </a:r>
                <a:r>
                  <a:rPr lang="zh-CN" altLang="en-US" sz="1800" dirty="0" smtClean="0"/>
                  <a:t>，边长</a:t>
                </a:r>
                <a:r>
                  <a:rPr lang="zh-CN" altLang="en-US" sz="1800" dirty="0"/>
                  <a:t>为</a:t>
                </a:r>
                <a:r>
                  <a:rPr lang="en-US" altLang="zh-CN" sz="1800" dirty="0"/>
                  <a:t>2</a:t>
                </a:r>
                <a:r>
                  <a:rPr lang="zh-CN" altLang="en-US" sz="1800" dirty="0"/>
                  <a:t>的立方体区域</a:t>
                </a:r>
                <a:endParaRPr lang="en-US" altLang="zh-CN" sz="1800" dirty="0"/>
              </a:p>
              <a:p>
                <a:pPr lvl="1">
                  <a:buClr>
                    <a:schemeClr val="tx1"/>
                  </a:buClr>
                </a:pPr>
                <a:endParaRPr lang="zh-CN" altLang="en-US" sz="18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3"/>
                <a:stretch>
                  <a:fillRect l="-309" t="-1961" b="-980"/>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11</a:t>
            </a:fld>
            <a:endParaRPr lang="zh-CN" altLang="en-US"/>
          </a:p>
        </p:txBody>
      </p:sp>
      <p:pic>
        <p:nvPicPr>
          <p:cNvPr id="7" name="图片 6"/>
          <p:cNvPicPr>
            <a:picLocks noChangeAspect="1"/>
          </p:cNvPicPr>
          <p:nvPr/>
        </p:nvPicPr>
        <p:blipFill>
          <a:blip r:embed="rId4"/>
          <a:stretch>
            <a:fillRect/>
          </a:stretch>
        </p:blipFill>
        <p:spPr>
          <a:xfrm>
            <a:off x="1439792" y="2829260"/>
            <a:ext cx="2658679" cy="1644916"/>
          </a:xfrm>
          <a:prstGeom prst="rect">
            <a:avLst/>
          </a:prstGeom>
        </p:spPr>
      </p:pic>
    </p:spTree>
    <p:extLst>
      <p:ext uri="{BB962C8B-B14F-4D97-AF65-F5344CB8AC3E}">
        <p14:creationId xmlns:p14="http://schemas.microsoft.com/office/powerpoint/2010/main" val="16618886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中的正交投影</a:t>
            </a:r>
          </a:p>
        </p:txBody>
      </p:sp>
      <p:sp>
        <p:nvSpPr>
          <p:cNvPr id="3" name="内容占位符 2"/>
          <p:cNvSpPr>
            <a:spLocks noGrp="1"/>
          </p:cNvSpPr>
          <p:nvPr>
            <p:ph idx="1"/>
          </p:nvPr>
        </p:nvSpPr>
        <p:spPr/>
        <p:txBody>
          <a:bodyPr/>
          <a:lstStyle/>
          <a:p>
            <a:pPr>
              <a:buClr>
                <a:srgbClr val="94003F"/>
              </a:buClr>
            </a:pPr>
            <a:r>
              <a:rPr lang="zh-CN" altLang="en-US" sz="2400" dirty="0"/>
              <a:t>在</a:t>
            </a:r>
            <a:r>
              <a:rPr lang="en-US" altLang="zh-CN" sz="2400" dirty="0"/>
              <a:t>OpenGL</a:t>
            </a:r>
            <a:r>
              <a:rPr lang="zh-CN" altLang="en-US" sz="2400" dirty="0"/>
              <a:t>中采用下述函数指定正交投影：</a:t>
            </a: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smtClean="0"/>
          </a:p>
          <a:p>
            <a:pPr>
              <a:buClr>
                <a:srgbClr val="94003F"/>
              </a:buClr>
            </a:pPr>
            <a:r>
              <a:rPr lang="zh-CN" altLang="en-US" sz="2400" dirty="0" smtClean="0"/>
              <a:t>正交投影的视见体</a:t>
            </a:r>
            <a:r>
              <a:rPr lang="zh-CN" altLang="en-US" sz="2400" dirty="0"/>
              <a:t>：</a:t>
            </a:r>
            <a:endParaRPr lang="en-US" altLang="zh-CN" sz="2400" dirty="0"/>
          </a:p>
          <a:p>
            <a:pPr lvl="1">
              <a:buClr>
                <a:schemeClr val="tx1"/>
              </a:buClr>
            </a:pPr>
            <a:endParaRPr lang="zh-CN" altLang="en-US"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12</a:t>
            </a:fld>
            <a:endParaRPr lang="zh-CN" altLang="en-US"/>
          </a:p>
        </p:txBody>
      </p:sp>
      <p:pic>
        <p:nvPicPr>
          <p:cNvPr id="7" name="图片 6"/>
          <p:cNvPicPr>
            <a:picLocks noChangeAspect="1"/>
          </p:cNvPicPr>
          <p:nvPr/>
        </p:nvPicPr>
        <p:blipFill>
          <a:blip r:embed="rId2"/>
          <a:stretch>
            <a:fillRect/>
          </a:stretch>
        </p:blipFill>
        <p:spPr>
          <a:xfrm>
            <a:off x="2041758" y="3581311"/>
            <a:ext cx="4705685" cy="2911564"/>
          </a:xfrm>
          <a:prstGeom prst="rect">
            <a:avLst/>
          </a:prstGeom>
        </p:spPr>
      </p:pic>
      <p:sp>
        <p:nvSpPr>
          <p:cNvPr id="8" name="矩形 7"/>
          <p:cNvSpPr/>
          <p:nvPr/>
        </p:nvSpPr>
        <p:spPr>
          <a:xfrm>
            <a:off x="1029727" y="1892522"/>
            <a:ext cx="6685145" cy="646331"/>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Ortho(</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left,</a:t>
            </a:r>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right,</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bottom,</a:t>
            </a:r>
            <a:r>
              <a:rPr lang="en-US" altLang="zh-CN" b="1" dirty="0">
                <a:solidFill>
                  <a:srgbClr val="0000FF"/>
                </a:solidFill>
                <a:latin typeface="ZztexMono-Regular"/>
              </a:rPr>
              <a:t>     </a:t>
            </a:r>
          </a:p>
          <a:p>
            <a:r>
              <a:rPr lang="en-US" altLang="zh-CN" b="1" dirty="0">
                <a:solidFill>
                  <a:srgbClr val="0000FF"/>
                </a:solidFill>
                <a:latin typeface="ZztexMono-Regular"/>
              </a:rPr>
              <a:t>           </a:t>
            </a:r>
            <a:r>
              <a:rPr lang="en-US" altLang="zh-CN" b="1" dirty="0" err="1" smtClean="0">
                <a:solidFill>
                  <a:srgbClr val="0000FF"/>
                </a:solidFill>
                <a:latin typeface="ZztexMono-Regular"/>
              </a:rPr>
              <a:t>GLfloat</a:t>
            </a:r>
            <a:r>
              <a:rPr lang="en-US" altLang="zh-CN" b="1" dirty="0" smtClean="0">
                <a:solidFill>
                  <a:srgbClr val="0000FF"/>
                </a:solidFill>
                <a:latin typeface="ZztexMono-Regular"/>
              </a:rPr>
              <a:t> </a:t>
            </a:r>
            <a:r>
              <a:rPr lang="en-US" altLang="zh-CN" dirty="0">
                <a:latin typeface="ZztexMono-Regular"/>
              </a:rPr>
              <a:t>top</a:t>
            </a:r>
            <a:r>
              <a:rPr lang="en-US" altLang="zh-CN" dirty="0" smtClean="0">
                <a:latin typeface="ZztexMono-Regular"/>
              </a:rPr>
              <a:t>,</a:t>
            </a:r>
            <a:r>
              <a:rPr lang="zh-CN" altLang="en-US" dirty="0" smtClean="0">
                <a:latin typeface="ZztexMono-Regular"/>
              </a:rPr>
              <a:t>  </a:t>
            </a:r>
            <a:r>
              <a:rPr lang="en-US" altLang="zh-CN" b="1" dirty="0" err="1" smtClean="0">
                <a:solidFill>
                  <a:srgbClr val="0000FF"/>
                </a:solidFill>
                <a:latin typeface="ZztexMono-Regular"/>
              </a:rPr>
              <a:t>GLfloat</a:t>
            </a:r>
            <a:r>
              <a:rPr lang="en-US" altLang="zh-CN" b="1" dirty="0" smtClean="0">
                <a:solidFill>
                  <a:srgbClr val="0000FF"/>
                </a:solidFill>
                <a:latin typeface="ZztexMono-Regular"/>
              </a:rPr>
              <a:t> </a:t>
            </a:r>
            <a:r>
              <a:rPr lang="en-US" altLang="zh-CN" dirty="0">
                <a:latin typeface="ZztexMono-Regular"/>
              </a:rPr>
              <a:t>near,</a:t>
            </a:r>
            <a:r>
              <a:rPr lang="en-US" altLang="zh-CN" dirty="0">
                <a:solidFill>
                  <a:srgbClr val="0000FF"/>
                </a:solidFill>
                <a:latin typeface="ZztexMono-Regular"/>
              </a:rPr>
              <a:t> </a:t>
            </a:r>
            <a:r>
              <a:rPr lang="zh-CN" altLang="en-US" dirty="0" smtClean="0">
                <a:solidFill>
                  <a:srgbClr val="0000FF"/>
                </a:solidFill>
                <a:latin typeface="ZztexMono-Regular"/>
              </a:rPr>
              <a:t> </a:t>
            </a:r>
            <a:r>
              <a:rPr lang="en-US" altLang="zh-CN" b="1" dirty="0" err="1" smtClean="0">
                <a:solidFill>
                  <a:srgbClr val="0000FF"/>
                </a:solidFill>
                <a:latin typeface="ZztexMono-Regular"/>
              </a:rPr>
              <a:t>GLfloat</a:t>
            </a:r>
            <a:r>
              <a:rPr lang="en-US" altLang="zh-CN" b="1" dirty="0" smtClean="0">
                <a:solidFill>
                  <a:srgbClr val="0000FF"/>
                </a:solidFill>
                <a:latin typeface="ZztexMono-Regular"/>
              </a:rPr>
              <a:t> </a:t>
            </a:r>
            <a:r>
              <a:rPr lang="en-US" altLang="zh-CN" dirty="0">
                <a:latin typeface="ZztexMono-Regular"/>
              </a:rPr>
              <a:t>far)</a:t>
            </a:r>
            <a:endParaRPr lang="zh-CN" altLang="en-US" dirty="0"/>
          </a:p>
        </p:txBody>
      </p:sp>
    </p:spTree>
    <p:extLst>
      <p:ext uri="{BB962C8B-B14F-4D97-AF65-F5344CB8AC3E}">
        <p14:creationId xmlns:p14="http://schemas.microsoft.com/office/powerpoint/2010/main" val="53273730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对投影的理解</a:t>
            </a:r>
            <a:endParaRPr lang="en-US" dirty="0"/>
          </a:p>
        </p:txBody>
      </p:sp>
      <p:sp>
        <p:nvSpPr>
          <p:cNvPr id="3" name="Content Placeholder 2"/>
          <p:cNvSpPr>
            <a:spLocks noGrp="1"/>
          </p:cNvSpPr>
          <p:nvPr>
            <p:ph idx="1"/>
          </p:nvPr>
        </p:nvSpPr>
        <p:spPr/>
        <p:txBody>
          <a:bodyPr/>
          <a:lstStyle/>
          <a:p>
            <a:r>
              <a:rPr lang="zh-CN" altLang="en-US" dirty="0" smtClean="0"/>
              <a:t>经典投影</a:t>
            </a:r>
            <a:endParaRPr lang="en-US" altLang="zh-CN" dirty="0" smtClean="0"/>
          </a:p>
          <a:p>
            <a:pPr lvl="1">
              <a:buClr>
                <a:schemeClr val="tx1"/>
              </a:buClr>
            </a:pPr>
            <a:r>
              <a:rPr lang="zh-CN" altLang="en-US" dirty="0"/>
              <a:t>射影变换，三维到二维的映射</a:t>
            </a:r>
            <a:endParaRPr lang="en-US" altLang="zh-CN" dirty="0"/>
          </a:p>
          <a:p>
            <a:pPr lvl="1">
              <a:buClr>
                <a:schemeClr val="tx1"/>
              </a:buClr>
            </a:pPr>
            <a:r>
              <a:rPr lang="zh-CN" altLang="en-US" dirty="0"/>
              <a:t>不可逆，将同一直线上的点映射为像平面上的一个点</a:t>
            </a:r>
            <a:endParaRPr lang="en-US" altLang="zh-CN" dirty="0"/>
          </a:p>
          <a:p>
            <a:pPr lvl="1"/>
            <a:endParaRPr lang="en-US" dirty="0" smtClean="0"/>
          </a:p>
          <a:p>
            <a:r>
              <a:rPr lang="zh-CN" altLang="en-US" dirty="0" smtClean="0"/>
              <a:t>计算机投影</a:t>
            </a:r>
            <a:endParaRPr lang="en-US" altLang="zh-CN" dirty="0" smtClean="0"/>
          </a:p>
          <a:p>
            <a:pPr lvl="1"/>
            <a:r>
              <a:rPr lang="zh-CN" altLang="en-US" dirty="0" smtClean="0"/>
              <a:t>在</a:t>
            </a:r>
            <a:r>
              <a:rPr lang="en-US" altLang="zh-CN" dirty="0" smtClean="0"/>
              <a:t>4</a:t>
            </a:r>
            <a:r>
              <a:rPr lang="zh-CN" altLang="en-US" dirty="0" smtClean="0"/>
              <a:t>维空间里使用齐次坐标来计算投影</a:t>
            </a:r>
            <a:endParaRPr lang="en-US" altLang="zh-CN" dirty="0" smtClean="0"/>
          </a:p>
          <a:p>
            <a:pPr lvl="1"/>
            <a:r>
              <a:rPr lang="zh-CN" altLang="en-US" dirty="0" smtClean="0"/>
              <a:t>尽量保留深度信息，进行隐藏面消除</a:t>
            </a:r>
            <a:endParaRPr lang="en-US" altLang="zh-CN" dirty="0" smtClean="0"/>
          </a:p>
          <a:p>
            <a:pPr lvl="1"/>
            <a:r>
              <a:rPr lang="zh-CN" altLang="en-US" dirty="0" smtClean="0"/>
              <a:t>使用</a:t>
            </a:r>
            <a:r>
              <a:rPr lang="zh-CN" altLang="en-US" b="1" dirty="0" smtClean="0"/>
              <a:t>投影规范化技术</a:t>
            </a:r>
            <a:endParaRPr lang="en-US" b="1"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13</a:t>
            </a:fld>
            <a:endParaRPr lang="zh-CN" altLang="en-US" dirty="0"/>
          </a:p>
        </p:txBody>
      </p:sp>
    </p:spTree>
    <p:extLst>
      <p:ext uri="{BB962C8B-B14F-4D97-AF65-F5344CB8AC3E}">
        <p14:creationId xmlns:p14="http://schemas.microsoft.com/office/powerpoint/2010/main" val="142275788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投影规范化</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2400" b="1" dirty="0" smtClean="0">
                    <a:solidFill>
                      <a:srgbClr val="C00000"/>
                    </a:solidFill>
                  </a:rPr>
                  <a:t>投影规范化</a:t>
                </a:r>
                <a:r>
                  <a:rPr lang="zh-CN" altLang="en-US" sz="2400" dirty="0" smtClean="0"/>
                  <a:t>：先把对象</a:t>
                </a:r>
                <a:r>
                  <a:rPr lang="zh-CN" altLang="en-US" sz="2400" dirty="0" smtClean="0">
                    <a:solidFill>
                      <a:srgbClr val="0000FF"/>
                    </a:solidFill>
                  </a:rPr>
                  <a:t>变形</a:t>
                </a:r>
                <a:r>
                  <a:rPr lang="zh-CN" altLang="en-US" sz="2400" dirty="0" smtClean="0"/>
                  <a:t>，使得变形后的对象的正交投影图与原来想要得到的对象的投影图相同，这样就</a:t>
                </a:r>
                <a:r>
                  <a:rPr lang="zh-CN" altLang="en-US" sz="2400" dirty="0" smtClean="0">
                    <a:solidFill>
                      <a:srgbClr val="0000FF"/>
                    </a:solidFill>
                  </a:rPr>
                  <a:t>把所有的投影都转化为正交投影</a:t>
                </a:r>
                <a:endParaRPr lang="zh-CN" altLang="en-US" sz="1800" dirty="0">
                  <a:solidFill>
                    <a:srgbClr val="0000FF"/>
                  </a:solidFill>
                </a:endParaRPr>
              </a:p>
              <a:p>
                <a:pPr lvl="1">
                  <a:buClr>
                    <a:schemeClr val="tx1"/>
                  </a:buClr>
                </a:pPr>
                <a:r>
                  <a:rPr lang="zh-CN" altLang="en-US" sz="1800" dirty="0" smtClean="0"/>
                  <a:t>适用</a:t>
                </a:r>
                <a:r>
                  <a:rPr lang="zh-CN" altLang="en-US" sz="1800" dirty="0"/>
                  <a:t>于图形管线的另外一种处理方式：</a:t>
                </a:r>
                <a:r>
                  <a:rPr lang="zh-CN" altLang="en-US" sz="1800" b="1" dirty="0">
                    <a:solidFill>
                      <a:srgbClr val="00B050"/>
                    </a:solidFill>
                  </a:rPr>
                  <a:t>射影畸变</a:t>
                </a:r>
                <a:r>
                  <a:rPr lang="en-US" altLang="zh-CN" sz="1800" b="1" dirty="0">
                    <a:solidFill>
                      <a:srgbClr val="00B050"/>
                    </a:solidFill>
                  </a:rPr>
                  <a:t>+</a:t>
                </a:r>
                <a:r>
                  <a:rPr lang="zh-CN" altLang="en-US" sz="1800" b="1" dirty="0">
                    <a:solidFill>
                      <a:srgbClr val="00B050"/>
                    </a:solidFill>
                  </a:rPr>
                  <a:t>正交投影</a:t>
                </a:r>
                <a:endParaRPr lang="en-US" altLang="zh-CN" sz="1800" b="1" dirty="0">
                  <a:solidFill>
                    <a:srgbClr val="00B050"/>
                  </a:solidFill>
                </a:endParaRPr>
              </a:p>
              <a:p>
                <a:pPr lvl="1">
                  <a:buClr>
                    <a:schemeClr val="tx1"/>
                  </a:buClr>
                </a:pPr>
                <a:r>
                  <a:rPr lang="zh-CN" altLang="en-US" sz="1800" dirty="0"/>
                  <a:t>不想为每种类型的投影设计不同的投影矩阵，所以把所有的投影转化为具有默认视见体的正交</a:t>
                </a:r>
                <a:r>
                  <a:rPr lang="zh-CN" altLang="en-US" sz="1800" dirty="0" smtClean="0"/>
                  <a:t>投影：</a:t>
                </a:r>
                <a:r>
                  <a:rPr lang="zh-CN" altLang="en-US" sz="1800" b="1" dirty="0" smtClean="0">
                    <a:solidFill>
                      <a:srgbClr val="0000FF"/>
                    </a:solidFill>
                  </a:rPr>
                  <a:t>规范视见体 </a:t>
                </a:r>
                <a14:m>
                  <m:oMath xmlns:m="http://schemas.openxmlformats.org/officeDocument/2006/math">
                    <m:r>
                      <a:rPr lang="en-US" altLang="zh-CN" sz="1800" b="1" i="1" smtClean="0">
                        <a:solidFill>
                          <a:srgbClr val="0000FF"/>
                        </a:solidFill>
                        <a:latin typeface="Cambria Math" charset="0"/>
                      </a:rPr>
                      <m:t>𝒙</m:t>
                    </m:r>
                    <m:r>
                      <a:rPr lang="en-US" altLang="zh-CN" sz="1800" b="1" i="1" smtClean="0">
                        <a:solidFill>
                          <a:srgbClr val="0000FF"/>
                        </a:solidFill>
                        <a:latin typeface="Cambria Math" charset="0"/>
                      </a:rPr>
                      <m:t>=±</m:t>
                    </m:r>
                    <m:r>
                      <a:rPr lang="en-US" altLang="zh-CN" sz="1800" b="1" i="1" smtClean="0">
                        <a:solidFill>
                          <a:srgbClr val="0000FF"/>
                        </a:solidFill>
                        <a:latin typeface="Cambria Math" charset="0"/>
                      </a:rPr>
                      <m:t>𝟏</m:t>
                    </m:r>
                    <m:r>
                      <a:rPr lang="en-US" altLang="zh-CN" sz="1800" b="1" i="1" smtClean="0">
                        <a:solidFill>
                          <a:srgbClr val="0000FF"/>
                        </a:solidFill>
                        <a:latin typeface="Cambria Math" charset="0"/>
                      </a:rPr>
                      <m:t>,</m:t>
                    </m:r>
                    <m:r>
                      <a:rPr lang="en-US" altLang="zh-CN" sz="1800" b="1" i="1" smtClean="0">
                        <a:solidFill>
                          <a:srgbClr val="0000FF"/>
                        </a:solidFill>
                        <a:latin typeface="Cambria Math" charset="0"/>
                      </a:rPr>
                      <m:t>𝒚</m:t>
                    </m:r>
                    <m:r>
                      <a:rPr lang="en-US" altLang="zh-CN" sz="1800" b="1" i="1">
                        <a:solidFill>
                          <a:srgbClr val="0000FF"/>
                        </a:solidFill>
                        <a:latin typeface="Cambria Math" charset="0"/>
                      </a:rPr>
                      <m:t>=±</m:t>
                    </m:r>
                    <m:r>
                      <a:rPr lang="en-US" altLang="zh-CN" sz="1800" b="1" i="1">
                        <a:solidFill>
                          <a:srgbClr val="0000FF"/>
                        </a:solidFill>
                        <a:latin typeface="Cambria Math" charset="0"/>
                      </a:rPr>
                      <m:t>𝟏</m:t>
                    </m:r>
                    <m:r>
                      <a:rPr lang="en-US" altLang="zh-CN" sz="1800" b="1" i="1" smtClean="0">
                        <a:solidFill>
                          <a:srgbClr val="0000FF"/>
                        </a:solidFill>
                        <a:latin typeface="Cambria Math" charset="0"/>
                      </a:rPr>
                      <m:t>,</m:t>
                    </m:r>
                    <m:r>
                      <a:rPr lang="en-US" altLang="zh-CN" sz="1800" b="1" i="1" smtClean="0">
                        <a:solidFill>
                          <a:srgbClr val="0000FF"/>
                        </a:solidFill>
                        <a:latin typeface="Cambria Math" charset="0"/>
                      </a:rPr>
                      <m:t>𝒛</m:t>
                    </m:r>
                    <m:r>
                      <a:rPr lang="en-US" altLang="zh-CN" sz="1800" b="1" i="1">
                        <a:solidFill>
                          <a:srgbClr val="0000FF"/>
                        </a:solidFill>
                        <a:latin typeface="Cambria Math" charset="0"/>
                      </a:rPr>
                      <m:t>=±</m:t>
                    </m:r>
                    <m:r>
                      <a:rPr lang="en-US" altLang="zh-CN" sz="1800" b="1" i="1">
                        <a:solidFill>
                          <a:srgbClr val="0000FF"/>
                        </a:solidFill>
                        <a:latin typeface="Cambria Math" charset="0"/>
                      </a:rPr>
                      <m:t>𝟏</m:t>
                    </m:r>
                  </m:oMath>
                </a14:m>
                <a:endParaRPr lang="en-US" altLang="zh-CN" sz="1800" b="1" dirty="0">
                  <a:solidFill>
                    <a:srgbClr val="0000FF"/>
                  </a:solidFill>
                </a:endParaRPr>
              </a:p>
              <a:p>
                <a:pPr lvl="1">
                  <a:buClr>
                    <a:schemeClr val="tx1"/>
                  </a:buClr>
                </a:pPr>
                <a:r>
                  <a:rPr lang="zh-CN" altLang="en-US" sz="1800" dirty="0"/>
                  <a:t>这种策略可以使我们在流水线中应用标准变换</a:t>
                </a:r>
                <a:r>
                  <a:rPr lang="zh-CN" altLang="en-US" sz="1800" dirty="0" smtClean="0"/>
                  <a:t>，</a:t>
                </a:r>
                <a:r>
                  <a:rPr lang="zh-CN" altLang="en-US" sz="1800" b="1" dirty="0" smtClean="0"/>
                  <a:t>同样的绘制流水线可以既支持透视投影又支持平行投影</a:t>
                </a:r>
                <a:endParaRPr lang="zh-CN" altLang="en-US" b="1"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9" t="-1961" r="-850"/>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14</a:t>
            </a:fld>
            <a:endParaRPr lang="zh-CN" altLang="en-US"/>
          </a:p>
        </p:txBody>
      </p:sp>
      <p:pic>
        <p:nvPicPr>
          <p:cNvPr id="5" name="图片 4"/>
          <p:cNvPicPr>
            <a:picLocks noChangeAspect="1"/>
          </p:cNvPicPr>
          <p:nvPr/>
        </p:nvPicPr>
        <p:blipFill>
          <a:blip r:embed="rId3"/>
          <a:stretch>
            <a:fillRect/>
          </a:stretch>
        </p:blipFill>
        <p:spPr>
          <a:xfrm>
            <a:off x="821070" y="3949060"/>
            <a:ext cx="2943205" cy="2131462"/>
          </a:xfrm>
          <a:prstGeom prst="rect">
            <a:avLst/>
          </a:prstGeom>
        </p:spPr>
      </p:pic>
      <p:pic>
        <p:nvPicPr>
          <p:cNvPr id="6" name="图片 5"/>
          <p:cNvPicPr>
            <a:picLocks noChangeAspect="1"/>
          </p:cNvPicPr>
          <p:nvPr/>
        </p:nvPicPr>
        <p:blipFill>
          <a:blip r:embed="rId4"/>
          <a:stretch>
            <a:fillRect/>
          </a:stretch>
        </p:blipFill>
        <p:spPr>
          <a:xfrm>
            <a:off x="3956694" y="4559774"/>
            <a:ext cx="4621795" cy="745243"/>
          </a:xfrm>
          <a:prstGeom prst="rect">
            <a:avLst/>
          </a:prstGeom>
        </p:spPr>
      </p:pic>
    </p:spTree>
    <p:extLst>
      <p:ext uri="{BB962C8B-B14F-4D97-AF65-F5344CB8AC3E}">
        <p14:creationId xmlns:p14="http://schemas.microsoft.com/office/powerpoint/2010/main" val="19991342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投影规范化</a:t>
            </a:r>
            <a:endParaRPr lang="zh-CN" altLang="en-US" dirty="0"/>
          </a:p>
        </p:txBody>
      </p:sp>
      <p:sp>
        <p:nvSpPr>
          <p:cNvPr id="3" name="内容占位符 2"/>
          <p:cNvSpPr>
            <a:spLocks noGrp="1"/>
          </p:cNvSpPr>
          <p:nvPr>
            <p:ph idx="1"/>
          </p:nvPr>
        </p:nvSpPr>
        <p:spPr/>
        <p:txBody>
          <a:bodyPr/>
          <a:lstStyle/>
          <a:p>
            <a:r>
              <a:rPr lang="zh-CN" altLang="en-US" sz="2400" dirty="0"/>
              <a:t>在模型－视图变换和投影变换的过程中，始终使用</a:t>
            </a:r>
            <a:r>
              <a:rPr lang="zh-CN" altLang="en-US" sz="2400" dirty="0" smtClean="0"/>
              <a:t>四维齐次坐标系：</a:t>
            </a:r>
            <a:endParaRPr lang="en-US" altLang="zh-CN" sz="2400" dirty="0" smtClean="0"/>
          </a:p>
          <a:p>
            <a:pPr lvl="1">
              <a:buClr>
                <a:schemeClr val="tx1"/>
              </a:buClr>
            </a:pPr>
            <a:r>
              <a:rPr lang="zh-CN" altLang="en-US" sz="1800" dirty="0" smtClean="0"/>
              <a:t>这些</a:t>
            </a:r>
            <a:r>
              <a:rPr lang="zh-CN" altLang="en-US" sz="1800" dirty="0"/>
              <a:t>变换都是非奇异</a:t>
            </a:r>
            <a:r>
              <a:rPr lang="zh-CN" altLang="en-US" sz="1800" dirty="0" smtClean="0"/>
              <a:t>的，即</a:t>
            </a:r>
            <a:r>
              <a:rPr lang="zh-CN" altLang="en-US" sz="1800" b="1" dirty="0" smtClean="0">
                <a:solidFill>
                  <a:srgbClr val="FF0000"/>
                </a:solidFill>
              </a:rPr>
              <a:t>可逆</a:t>
            </a:r>
            <a:r>
              <a:rPr lang="zh-CN" altLang="en-US" sz="1800" dirty="0"/>
              <a:t>的</a:t>
            </a:r>
          </a:p>
          <a:p>
            <a:pPr lvl="1">
              <a:buClr>
                <a:schemeClr val="tx1"/>
              </a:buClr>
            </a:pPr>
            <a:r>
              <a:rPr lang="zh-CN" altLang="en-US" sz="1800" dirty="0"/>
              <a:t>默认值为单位阵（正交视图）</a:t>
            </a:r>
          </a:p>
          <a:p>
            <a:r>
              <a:rPr lang="zh-CN" altLang="en-US" sz="2400" dirty="0"/>
              <a:t>规范化使得任意投影类型，都相对于默认立方体</a:t>
            </a:r>
            <a:r>
              <a:rPr lang="zh-CN" altLang="en-US" sz="2400" dirty="0" smtClean="0"/>
              <a:t>裁剪</a:t>
            </a:r>
            <a:endParaRPr lang="en-US" altLang="zh-CN" sz="2400" dirty="0"/>
          </a:p>
          <a:p>
            <a:pPr lvl="1">
              <a:buClr>
                <a:schemeClr val="tx1"/>
              </a:buClr>
            </a:pPr>
            <a:r>
              <a:rPr lang="zh-CN" altLang="en-US" sz="1800" dirty="0"/>
              <a:t>投影直到最后时刻才进行</a:t>
            </a:r>
          </a:p>
          <a:p>
            <a:pPr lvl="1">
              <a:buClr>
                <a:schemeClr val="tx1"/>
              </a:buClr>
            </a:pPr>
            <a:r>
              <a:rPr lang="zh-CN" altLang="en-US" sz="1800" dirty="0"/>
              <a:t>从而可以尽可能的保留深度信息，这对隐藏面消除是非常重要的</a:t>
            </a: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15</a:t>
            </a:fld>
            <a:endParaRPr lang="zh-CN" altLang="en-US"/>
          </a:p>
        </p:txBody>
      </p:sp>
      <p:pic>
        <p:nvPicPr>
          <p:cNvPr id="8" name="图片 7"/>
          <p:cNvPicPr>
            <a:picLocks noChangeAspect="1"/>
          </p:cNvPicPr>
          <p:nvPr/>
        </p:nvPicPr>
        <p:blipFill>
          <a:blip r:embed="rId2"/>
          <a:stretch>
            <a:fillRect/>
          </a:stretch>
        </p:blipFill>
        <p:spPr>
          <a:xfrm>
            <a:off x="1988552" y="4012520"/>
            <a:ext cx="5663169" cy="2662917"/>
          </a:xfrm>
          <a:prstGeom prst="rect">
            <a:avLst/>
          </a:prstGeom>
        </p:spPr>
      </p:pic>
    </p:spTree>
    <p:extLst>
      <p:ext uri="{BB962C8B-B14F-4D97-AF65-F5344CB8AC3E}">
        <p14:creationId xmlns:p14="http://schemas.microsoft.com/office/powerpoint/2010/main" val="278401942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7332138" y="2118038"/>
            <a:ext cx="1307543" cy="1035795"/>
          </a:xfrm>
          <a:prstGeom prst="rect">
            <a:avLst/>
          </a:prstGeom>
        </p:spPr>
      </p:pic>
      <p:sp>
        <p:nvSpPr>
          <p:cNvPr id="2" name="标题 1"/>
          <p:cNvSpPr>
            <a:spLocks noGrp="1"/>
          </p:cNvSpPr>
          <p:nvPr>
            <p:ph type="title"/>
          </p:nvPr>
        </p:nvSpPr>
        <p:spPr/>
        <p:txBody>
          <a:bodyPr/>
          <a:lstStyle/>
          <a:p>
            <a:r>
              <a:rPr lang="zh-CN" altLang="en-US" dirty="0"/>
              <a:t>正交投影矩阵</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endParaRPr lang="en-US" altLang="zh-CN" sz="2400" dirty="0" smtClean="0"/>
              </a:p>
              <a:p>
                <a:r>
                  <a:rPr lang="zh-CN" altLang="en-US" sz="2400" dirty="0" smtClean="0"/>
                  <a:t>正交</a:t>
                </a:r>
                <a:r>
                  <a:rPr lang="zh-CN" altLang="en-US" sz="2400" dirty="0"/>
                  <a:t>矩阵的构造：</a:t>
                </a:r>
                <a:endParaRPr lang="en-US" altLang="zh-CN" sz="2400" dirty="0"/>
              </a:p>
              <a:p>
                <a:endParaRPr lang="en-US" altLang="zh-CN" sz="2400" dirty="0"/>
              </a:p>
              <a:p>
                <a:pPr marL="0" indent="0">
                  <a:buNone/>
                </a:pPr>
                <a:endParaRPr lang="en-US" altLang="zh-CN" sz="2400" dirty="0"/>
              </a:p>
              <a:p>
                <a:pPr lvl="1">
                  <a:buClr>
                    <a:schemeClr val="tx1"/>
                  </a:buClr>
                </a:pPr>
                <a:endParaRPr lang="en-US" altLang="zh-CN" sz="1800" dirty="0"/>
              </a:p>
              <a:p>
                <a:pPr lvl="1">
                  <a:buClr>
                    <a:schemeClr val="tx1"/>
                  </a:buClr>
                </a:pPr>
                <a:r>
                  <a:rPr lang="zh-CN" altLang="en-US" sz="1800" dirty="0"/>
                  <a:t>把中心移到原点，对应的变换为：</a:t>
                </a:r>
                <a:endParaRPr lang="en-US" altLang="zh-CN" sz="1800" dirty="0"/>
              </a:p>
              <a:p>
                <a:pPr marL="457200" lvl="1" indent="0">
                  <a:buClr>
                    <a:schemeClr val="tx1"/>
                  </a:buClr>
                  <a:buNone/>
                </a:pPr>
                <a14:m>
                  <m:oMathPara xmlns:m="http://schemas.openxmlformats.org/officeDocument/2006/math">
                    <m:oMathParaPr>
                      <m:jc m:val="centerGroup"/>
                    </m:oMathParaPr>
                    <m:oMath xmlns:m="http://schemas.openxmlformats.org/officeDocument/2006/math">
                      <m:r>
                        <a:rPr lang="en-US" altLang="zh-CN" sz="1800" i="1" dirty="0" smtClean="0">
                          <a:latin typeface="Cambria Math" charset="0"/>
                        </a:rPr>
                        <m:t>    </m:t>
                      </m:r>
                      <m:r>
                        <a:rPr lang="en-US" altLang="zh-CN" sz="1800" b="1" i="1" dirty="0" smtClean="0">
                          <a:latin typeface="Cambria Math" charset="0"/>
                        </a:rPr>
                        <m:t>𝑻</m:t>
                      </m:r>
                      <m:r>
                        <a:rPr lang="en-US" altLang="zh-CN" sz="1800" i="1" dirty="0" smtClean="0">
                          <a:latin typeface="Cambria Math" charset="0"/>
                        </a:rPr>
                        <m:t>(−(</m:t>
                      </m:r>
                      <m:r>
                        <a:rPr lang="en-US" altLang="zh-CN" sz="1800" i="1" dirty="0" smtClean="0">
                          <a:latin typeface="Cambria Math" charset="0"/>
                        </a:rPr>
                        <m:t>𝑙𝑒𝑓𝑡</m:t>
                      </m:r>
                      <m:r>
                        <a:rPr lang="en-US" altLang="zh-CN" sz="1800" i="1" dirty="0" smtClean="0">
                          <a:latin typeface="Cambria Math" charset="0"/>
                        </a:rPr>
                        <m:t>+</m:t>
                      </m:r>
                      <m:r>
                        <a:rPr lang="en-US" altLang="zh-CN" sz="1800" i="1" dirty="0" smtClean="0">
                          <a:latin typeface="Cambria Math" charset="0"/>
                        </a:rPr>
                        <m:t>𝑟𝑖𝑔h𝑡</m:t>
                      </m:r>
                      <m:r>
                        <a:rPr lang="en-US" altLang="zh-CN" sz="1800" i="1" dirty="0" smtClean="0">
                          <a:latin typeface="Cambria Math" charset="0"/>
                        </a:rPr>
                        <m:t>)/2, −(</m:t>
                      </m:r>
                      <m:r>
                        <a:rPr lang="en-US" altLang="zh-CN" sz="1800" i="1" dirty="0" smtClean="0">
                          <a:latin typeface="Cambria Math" charset="0"/>
                        </a:rPr>
                        <m:t>𝑏𝑜𝑡𝑡𝑜𝑚</m:t>
                      </m:r>
                      <m:r>
                        <a:rPr lang="en-US" altLang="zh-CN" sz="1800" i="1" dirty="0" smtClean="0">
                          <a:latin typeface="Cambria Math" charset="0"/>
                        </a:rPr>
                        <m:t>+</m:t>
                      </m:r>
                      <m:r>
                        <a:rPr lang="en-US" altLang="zh-CN" sz="1800" i="1" dirty="0" smtClean="0">
                          <a:latin typeface="Cambria Math" charset="0"/>
                        </a:rPr>
                        <m:t>𝑡𝑜𝑝</m:t>
                      </m:r>
                      <m:r>
                        <a:rPr lang="en-US" altLang="zh-CN" sz="1800" i="1" dirty="0" smtClean="0">
                          <a:latin typeface="Cambria Math" charset="0"/>
                        </a:rPr>
                        <m:t>)/2, (</m:t>
                      </m:r>
                      <m:r>
                        <a:rPr lang="en-US" altLang="zh-CN" sz="1800" i="1" dirty="0" smtClean="0">
                          <a:latin typeface="Cambria Math" charset="0"/>
                        </a:rPr>
                        <m:t>𝑛𝑒𝑎𝑟</m:t>
                      </m:r>
                      <m:r>
                        <a:rPr lang="en-US" altLang="zh-CN" sz="1800" i="1" dirty="0" smtClean="0">
                          <a:latin typeface="Cambria Math" charset="0"/>
                        </a:rPr>
                        <m:t>+</m:t>
                      </m:r>
                      <m:r>
                        <a:rPr lang="en-US" altLang="zh-CN" sz="1800" i="1" dirty="0" smtClean="0">
                          <a:latin typeface="Cambria Math" charset="0"/>
                        </a:rPr>
                        <m:t>𝑓𝑎𝑟</m:t>
                      </m:r>
                      <m:r>
                        <a:rPr lang="en-US" altLang="zh-CN" sz="1800" i="1" dirty="0" smtClean="0">
                          <a:latin typeface="Cambria Math" charset="0"/>
                        </a:rPr>
                        <m:t>)/2))</m:t>
                      </m:r>
                    </m:oMath>
                  </m:oMathPara>
                </a14:m>
                <a:endParaRPr lang="en-US" altLang="zh-CN" sz="1800" dirty="0"/>
              </a:p>
              <a:p>
                <a:pPr lvl="1">
                  <a:buClr>
                    <a:schemeClr val="tx1"/>
                  </a:buClr>
                </a:pPr>
                <a:r>
                  <a:rPr lang="zh-CN" altLang="en-US" sz="1800" dirty="0"/>
                  <a:t>进行放缩从而</a:t>
                </a:r>
                <a:r>
                  <a:rPr lang="zh-CN" altLang="en-US" sz="1800" dirty="0" smtClean="0"/>
                  <a:t>使视见体</a:t>
                </a:r>
                <a:r>
                  <a:rPr lang="zh-CN" altLang="en-US" sz="1800" dirty="0"/>
                  <a:t>的边长为</a:t>
                </a:r>
                <a:r>
                  <a:rPr lang="en-US" altLang="zh-CN" sz="1800" dirty="0"/>
                  <a:t>2</a:t>
                </a:r>
                <a:r>
                  <a:rPr lang="zh-CN" altLang="en-US" sz="1800" dirty="0"/>
                  <a:t>：</a:t>
                </a:r>
                <a:endParaRPr lang="en-US" altLang="zh-CN" sz="1800" dirty="0"/>
              </a:p>
              <a:p>
                <a:pPr marL="457200" lvl="1" indent="0">
                  <a:buClr>
                    <a:schemeClr val="tx1"/>
                  </a:buClr>
                  <a:buNone/>
                </a:pPr>
                <a:r>
                  <a:rPr lang="en-US" altLang="zh-CN" sz="1800" dirty="0"/>
                  <a:t>    </a:t>
                </a:r>
                <a14:m>
                  <m:oMath xmlns:m="http://schemas.openxmlformats.org/officeDocument/2006/math">
                    <m:r>
                      <a:rPr lang="en-US" altLang="zh-CN" sz="1800" b="1" i="1" dirty="0" smtClean="0">
                        <a:latin typeface="Cambria Math" charset="0"/>
                      </a:rPr>
                      <m:t>𝑺</m:t>
                    </m:r>
                    <m:r>
                      <a:rPr lang="en-US" altLang="zh-CN" sz="1800" i="1" dirty="0">
                        <a:latin typeface="Cambria Math" charset="0"/>
                      </a:rPr>
                      <m:t>(2/(</m:t>
                    </m:r>
                    <m:r>
                      <a:rPr lang="en-US" altLang="zh-CN" sz="1800" i="1" dirty="0">
                        <a:latin typeface="Cambria Math" charset="0"/>
                      </a:rPr>
                      <m:t>𝑟𝑖𝑔h𝑡</m:t>
                    </m:r>
                    <m:r>
                      <a:rPr lang="en-US" altLang="zh-CN" sz="1800" b="0" i="1" dirty="0" smtClean="0">
                        <a:latin typeface="Cambria Math" charset="0"/>
                      </a:rPr>
                      <m:t>−</m:t>
                    </m:r>
                    <m:r>
                      <a:rPr lang="en-US" altLang="zh-CN" sz="1800" b="0" i="1" dirty="0" smtClean="0">
                        <a:latin typeface="Cambria Math" charset="0"/>
                      </a:rPr>
                      <m:t>𝑙𝑒𝑓𝑡</m:t>
                    </m:r>
                    <m:r>
                      <a:rPr lang="en-US" altLang="zh-CN" sz="1800" i="1" dirty="0">
                        <a:latin typeface="Cambria Math" charset="0"/>
                      </a:rPr>
                      <m:t>), 2/(</m:t>
                    </m:r>
                    <m:r>
                      <a:rPr lang="en-US" altLang="zh-CN" sz="1800" i="1" dirty="0">
                        <a:latin typeface="Cambria Math" charset="0"/>
                      </a:rPr>
                      <m:t>𝑡𝑜𝑝</m:t>
                    </m:r>
                    <m:r>
                      <a:rPr lang="en-US" altLang="zh-CN" sz="1800" i="1" dirty="0">
                        <a:latin typeface="Cambria Math" charset="0"/>
                      </a:rPr>
                      <m:t> − </m:t>
                    </m:r>
                    <m:r>
                      <a:rPr lang="en-US" altLang="zh-CN" sz="1800" i="1" dirty="0">
                        <a:latin typeface="Cambria Math" charset="0"/>
                      </a:rPr>
                      <m:t>𝑏𝑜𝑡𝑡𝑜𝑚</m:t>
                    </m:r>
                    <m:r>
                      <a:rPr lang="en-US" altLang="zh-CN" sz="1800" i="1" dirty="0">
                        <a:latin typeface="Cambria Math" charset="0"/>
                      </a:rPr>
                      <m:t>), 2/(</m:t>
                    </m:r>
                    <m:r>
                      <a:rPr lang="en-US" altLang="zh-CN" sz="1800" i="1" dirty="0">
                        <a:latin typeface="Cambria Math" charset="0"/>
                      </a:rPr>
                      <m:t>𝑛𝑒𝑎𝑟</m:t>
                    </m:r>
                    <m:r>
                      <a:rPr lang="en-US" altLang="zh-CN" sz="1800" i="1" dirty="0">
                        <a:latin typeface="Cambria Math" charset="0"/>
                      </a:rPr>
                      <m:t>−</m:t>
                    </m:r>
                    <m:r>
                      <a:rPr lang="en-US" altLang="zh-CN" sz="1800" i="1" dirty="0">
                        <a:latin typeface="Cambria Math" charset="0"/>
                      </a:rPr>
                      <m:t>𝑓𝑎𝑟</m:t>
                    </m:r>
                    <m:r>
                      <a:rPr lang="en-US" altLang="zh-CN" sz="1800" i="1" dirty="0">
                        <a:latin typeface="Cambria Math" charset="0"/>
                      </a:rPr>
                      <m:t>))</m:t>
                    </m:r>
                  </m:oMath>
                </a14:m>
                <a:endParaRPr lang="en-US" altLang="zh-CN" sz="1800" dirty="0"/>
              </a:p>
              <a:p>
                <a:pPr lvl="1">
                  <a:buClr>
                    <a:schemeClr val="tx1"/>
                  </a:buClr>
                </a:pPr>
                <a:endParaRPr lang="en-US" altLang="zh-CN"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3"/>
                <a:stretch>
                  <a:fillRect l="-309"/>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16</a:t>
            </a:fld>
            <a:endParaRPr lang="zh-CN" altLang="en-US"/>
          </a:p>
        </p:txBody>
      </p:sp>
      <p:sp>
        <p:nvSpPr>
          <p:cNvPr id="7" name="矩形 6"/>
          <p:cNvSpPr/>
          <p:nvPr/>
        </p:nvSpPr>
        <p:spPr>
          <a:xfrm>
            <a:off x="1002591" y="1197679"/>
            <a:ext cx="6385278" cy="369332"/>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N = Ortho</a:t>
            </a:r>
            <a:r>
              <a:rPr lang="en-US" altLang="zh-CN" dirty="0">
                <a:latin typeface="ZztexMono-Regular"/>
              </a:rPr>
              <a:t>(left, right, bottom, top, near, far);</a:t>
            </a:r>
            <a:endParaRPr lang="zh-CN" altLang="en-US" dirty="0"/>
          </a:p>
        </p:txBody>
      </p:sp>
      <p:pic>
        <p:nvPicPr>
          <p:cNvPr id="8" name="图片 7"/>
          <p:cNvPicPr>
            <a:picLocks noChangeAspect="1"/>
          </p:cNvPicPr>
          <p:nvPr/>
        </p:nvPicPr>
        <p:blipFill>
          <a:blip r:embed="rId4"/>
          <a:stretch>
            <a:fillRect/>
          </a:stretch>
        </p:blipFill>
        <p:spPr>
          <a:xfrm>
            <a:off x="3582324" y="1843591"/>
            <a:ext cx="3756025" cy="1392188"/>
          </a:xfrm>
          <a:prstGeom prst="rect">
            <a:avLst/>
          </a:prstGeom>
        </p:spPr>
      </p:pic>
      <p:pic>
        <p:nvPicPr>
          <p:cNvPr id="9" name="图片 8"/>
          <p:cNvPicPr>
            <a:picLocks noChangeAspect="1"/>
          </p:cNvPicPr>
          <p:nvPr/>
        </p:nvPicPr>
        <p:blipFill>
          <a:blip r:embed="rId5"/>
          <a:stretch>
            <a:fillRect/>
          </a:stretch>
        </p:blipFill>
        <p:spPr>
          <a:xfrm>
            <a:off x="2761942" y="6320390"/>
            <a:ext cx="3057929" cy="506441"/>
          </a:xfrm>
          <a:prstGeom prst="rect">
            <a:avLst/>
          </a:prstGeom>
        </p:spPr>
      </p:pic>
      <p:pic>
        <p:nvPicPr>
          <p:cNvPr id="10" name="图片 9"/>
          <p:cNvPicPr>
            <a:picLocks noChangeAspect="1"/>
          </p:cNvPicPr>
          <p:nvPr/>
        </p:nvPicPr>
        <p:blipFill>
          <a:blip r:embed="rId6"/>
          <a:stretch>
            <a:fillRect/>
          </a:stretch>
        </p:blipFill>
        <p:spPr>
          <a:xfrm>
            <a:off x="2009361" y="4811949"/>
            <a:ext cx="4326321" cy="1392092"/>
          </a:xfrm>
          <a:prstGeom prst="rect">
            <a:avLst/>
          </a:prstGeom>
        </p:spPr>
      </p:pic>
      <p:sp>
        <p:nvSpPr>
          <p:cNvPr id="5" name="右箭头 4"/>
          <p:cNvSpPr/>
          <p:nvPr/>
        </p:nvSpPr>
        <p:spPr>
          <a:xfrm>
            <a:off x="7235469" y="2556933"/>
            <a:ext cx="380297" cy="217806"/>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7907867" y="2937933"/>
            <a:ext cx="355600" cy="258234"/>
          </a:xfrm>
          <a:prstGeom prst="ellipse">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a:p>
        </p:txBody>
      </p:sp>
      <p:sp>
        <p:nvSpPr>
          <p:cNvPr id="15" name="椭圆 14"/>
          <p:cNvSpPr/>
          <p:nvPr/>
        </p:nvSpPr>
        <p:spPr>
          <a:xfrm>
            <a:off x="8389998" y="2075704"/>
            <a:ext cx="346351" cy="270934"/>
          </a:xfrm>
          <a:prstGeom prst="ellipse">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a:p>
        </p:txBody>
      </p:sp>
      <p:sp>
        <p:nvSpPr>
          <p:cNvPr id="13" name="椭圆 12"/>
          <p:cNvSpPr/>
          <p:nvPr/>
        </p:nvSpPr>
        <p:spPr>
          <a:xfrm>
            <a:off x="6536469" y="2958784"/>
            <a:ext cx="294878" cy="258234"/>
          </a:xfrm>
          <a:prstGeom prst="ellipse">
            <a:avLst/>
          </a:prstGeom>
          <a:noFill/>
          <a:ln w="12700" cap="flat" cmpd="sng" algn="ctr">
            <a:solidFill>
              <a:srgbClr val="0000FF"/>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a:p>
        </p:txBody>
      </p:sp>
      <p:sp>
        <p:nvSpPr>
          <p:cNvPr id="14" name="椭圆 13"/>
          <p:cNvSpPr/>
          <p:nvPr/>
        </p:nvSpPr>
        <p:spPr>
          <a:xfrm>
            <a:off x="7063704" y="2080155"/>
            <a:ext cx="324166" cy="270934"/>
          </a:xfrm>
          <a:prstGeom prst="ellipse">
            <a:avLst/>
          </a:prstGeom>
          <a:noFill/>
          <a:ln w="12700" cap="flat" cmpd="sng" algn="ctr">
            <a:solidFill>
              <a:srgbClr val="0000FF"/>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a:p>
        </p:txBody>
      </p:sp>
      <p:sp>
        <p:nvSpPr>
          <p:cNvPr id="27" name="文本框 26"/>
          <p:cNvSpPr txBox="1"/>
          <p:nvPr/>
        </p:nvSpPr>
        <p:spPr>
          <a:xfrm>
            <a:off x="7681373" y="1175938"/>
            <a:ext cx="1314784" cy="707886"/>
          </a:xfrm>
          <a:prstGeom prst="rect">
            <a:avLst/>
          </a:prstGeom>
          <a:noFill/>
        </p:spPr>
        <p:txBody>
          <a:bodyPr wrap="none" rtlCol="0">
            <a:spAutoFit/>
          </a:bodyPr>
          <a:lstStyle/>
          <a:p>
            <a:r>
              <a:rPr lang="en-US" altLang="zh-CN" sz="2000" dirty="0" smtClean="0">
                <a:solidFill>
                  <a:srgbClr val="0000FF"/>
                </a:solidFill>
              </a:rPr>
              <a:t>-near </a:t>
            </a:r>
            <a:r>
              <a:rPr lang="en-US" altLang="zh-CN" sz="2000" dirty="0" smtClean="0">
                <a:solidFill>
                  <a:srgbClr val="0000FF"/>
                </a:solidFill>
                <a:sym typeface="Wingdings" panose="05000000000000000000" pitchFamily="2" charset="2"/>
              </a:rPr>
              <a:t> -1</a:t>
            </a:r>
          </a:p>
          <a:p>
            <a:r>
              <a:rPr lang="en-US" altLang="zh-CN" sz="2000" dirty="0" smtClean="0">
                <a:solidFill>
                  <a:srgbClr val="0000FF"/>
                </a:solidFill>
                <a:sym typeface="Wingdings" panose="05000000000000000000" pitchFamily="2" charset="2"/>
              </a:rPr>
              <a:t>-far     1</a:t>
            </a:r>
            <a:endParaRPr lang="zh-CN" altLang="en-US" sz="2000" dirty="0">
              <a:solidFill>
                <a:srgbClr val="0000FF"/>
              </a:solidFill>
            </a:endParaRPr>
          </a:p>
        </p:txBody>
      </p:sp>
    </p:spTree>
    <p:extLst>
      <p:ext uri="{BB962C8B-B14F-4D97-AF65-F5344CB8AC3E}">
        <p14:creationId xmlns:p14="http://schemas.microsoft.com/office/powerpoint/2010/main" val="1710308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par>
                                <p:cTn id="16" presetID="22" presetClass="entr" presetSubtype="8"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par>
                                <p:cTn id="27" presetID="42"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1000"/>
                                        <p:tgtEl>
                                          <p:spTgt spid="27"/>
                                        </p:tgtEl>
                                      </p:cBhvr>
                                    </p:animEffect>
                                    <p:anim calcmode="lin" valueType="num">
                                      <p:cBhvr>
                                        <p:cTn id="30" dur="1000" fill="hold"/>
                                        <p:tgtEl>
                                          <p:spTgt spid="27"/>
                                        </p:tgtEl>
                                        <p:attrNameLst>
                                          <p:attrName>ppt_x</p:attrName>
                                        </p:attrNameLst>
                                      </p:cBhvr>
                                      <p:tavLst>
                                        <p:tav tm="0">
                                          <p:val>
                                            <p:strVal val="#ppt_x"/>
                                          </p:val>
                                        </p:tav>
                                        <p:tav tm="100000">
                                          <p:val>
                                            <p:strVal val="#ppt_x"/>
                                          </p:val>
                                        </p:tav>
                                      </p:tavLst>
                                    </p:anim>
                                    <p:anim calcmode="lin" valueType="num">
                                      <p:cBhvr>
                                        <p:cTn id="31"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1000"/>
                                        <p:tgtEl>
                                          <p:spTgt spid="3">
                                            <p:txEl>
                                              <p:pRg st="5" end="5"/>
                                            </p:txEl>
                                          </p:spTgt>
                                        </p:tgtEl>
                                      </p:cBhvr>
                                    </p:animEffect>
                                    <p:anim calcmode="lin" valueType="num">
                                      <p:cBhvr>
                                        <p:cTn id="3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1000"/>
                                        <p:tgtEl>
                                          <p:spTgt spid="3">
                                            <p:txEl>
                                              <p:pRg st="6" end="6"/>
                                            </p:txEl>
                                          </p:spTgt>
                                        </p:tgtEl>
                                      </p:cBhvr>
                                    </p:animEffect>
                                    <p:anim calcmode="lin" valueType="num">
                                      <p:cBhvr>
                                        <p:cTn id="4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3">
                                            <p:txEl>
                                              <p:pRg st="7" end="7"/>
                                            </p:txEl>
                                          </p:spTgt>
                                        </p:tgtEl>
                                        <p:attrNameLst>
                                          <p:attrName>style.visibility</p:attrName>
                                        </p:attrNameLst>
                                      </p:cBhvr>
                                      <p:to>
                                        <p:strVal val="visible"/>
                                      </p:to>
                                    </p:set>
                                    <p:animEffect transition="in" filter="fade">
                                      <p:cBhvr>
                                        <p:cTn id="48" dur="1000"/>
                                        <p:tgtEl>
                                          <p:spTgt spid="3">
                                            <p:txEl>
                                              <p:pRg st="7" end="7"/>
                                            </p:txEl>
                                          </p:spTgt>
                                        </p:tgtEl>
                                      </p:cBhvr>
                                    </p:animEffect>
                                    <p:anim calcmode="lin" valueType="num">
                                      <p:cBhvr>
                                        <p:cTn id="4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7" end="7"/>
                                            </p:txEl>
                                          </p:spTgt>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animEffect transition="in" filter="fade">
                                      <p:cBhvr>
                                        <p:cTn id="53" dur="1000"/>
                                        <p:tgtEl>
                                          <p:spTgt spid="3">
                                            <p:txEl>
                                              <p:pRg st="8" end="8"/>
                                            </p:txEl>
                                          </p:spTgt>
                                        </p:tgtEl>
                                      </p:cBhvr>
                                    </p:animEffect>
                                    <p:anim calcmode="lin" valueType="num">
                                      <p:cBhvr>
                                        <p:cTn id="5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9"/>
                                        </p:tgtEl>
                                        <p:attrNameLst>
                                          <p:attrName>style.visibility</p:attrName>
                                        </p:attrNameLst>
                                      </p:cBhvr>
                                      <p:to>
                                        <p:strVal val="visible"/>
                                      </p:to>
                                    </p:set>
                                    <p:animEffect transition="in" filter="fade">
                                      <p:cBhvr>
                                        <p:cTn id="60" dur="1000"/>
                                        <p:tgtEl>
                                          <p:spTgt spid="9"/>
                                        </p:tgtEl>
                                      </p:cBhvr>
                                    </p:animEffect>
                                    <p:anim calcmode="lin" valueType="num">
                                      <p:cBhvr>
                                        <p:cTn id="61" dur="1000" fill="hold"/>
                                        <p:tgtEl>
                                          <p:spTgt spid="9"/>
                                        </p:tgtEl>
                                        <p:attrNameLst>
                                          <p:attrName>ppt_x</p:attrName>
                                        </p:attrNameLst>
                                      </p:cBhvr>
                                      <p:tavLst>
                                        <p:tav tm="0">
                                          <p:val>
                                            <p:strVal val="#ppt_x"/>
                                          </p:val>
                                        </p:tav>
                                        <p:tav tm="100000">
                                          <p:val>
                                            <p:strVal val="#ppt_x"/>
                                          </p:val>
                                        </p:tav>
                                      </p:tavLst>
                                    </p:anim>
                                    <p:anim calcmode="lin" valueType="num">
                                      <p:cBhvr>
                                        <p:cTn id="62" dur="1000" fill="hold"/>
                                        <p:tgtEl>
                                          <p:spTgt spid="9"/>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0"/>
                                  </p:stCondLst>
                                  <p:childTnLst>
                                    <p:set>
                                      <p:cBhvr>
                                        <p:cTn id="64" dur="1" fill="hold">
                                          <p:stCondLst>
                                            <p:cond delay="0"/>
                                          </p:stCondLst>
                                        </p:cTn>
                                        <p:tgtEl>
                                          <p:spTgt spid="10"/>
                                        </p:tgtEl>
                                        <p:attrNameLst>
                                          <p:attrName>style.visibility</p:attrName>
                                        </p:attrNameLst>
                                      </p:cBhvr>
                                      <p:to>
                                        <p:strVal val="visible"/>
                                      </p:to>
                                    </p:set>
                                    <p:animEffect transition="in" filter="fade">
                                      <p:cBhvr>
                                        <p:cTn id="65" dur="1000"/>
                                        <p:tgtEl>
                                          <p:spTgt spid="10"/>
                                        </p:tgtEl>
                                      </p:cBhvr>
                                    </p:animEffect>
                                    <p:anim calcmode="lin" valueType="num">
                                      <p:cBhvr>
                                        <p:cTn id="66" dur="1000" fill="hold"/>
                                        <p:tgtEl>
                                          <p:spTgt spid="10"/>
                                        </p:tgtEl>
                                        <p:attrNameLst>
                                          <p:attrName>ppt_x</p:attrName>
                                        </p:attrNameLst>
                                      </p:cBhvr>
                                      <p:tavLst>
                                        <p:tav tm="0">
                                          <p:val>
                                            <p:strVal val="#ppt_x"/>
                                          </p:val>
                                        </p:tav>
                                        <p:tav tm="100000">
                                          <p:val>
                                            <p:strVal val="#ppt_x"/>
                                          </p:val>
                                        </p:tav>
                                      </p:tavLst>
                                    </p:anim>
                                    <p:anim calcmode="lin" valueType="num">
                                      <p:cBhvr>
                                        <p:cTn id="6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2" grpId="0" animBg="1"/>
      <p:bldP spid="15" grpId="0" animBg="1"/>
      <p:bldP spid="13" grpId="0" animBg="1"/>
      <p:bldP spid="14" grpId="0" animBg="1"/>
      <p:bldP spid="2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stretch>
            <a:fillRect/>
          </a:stretch>
        </p:blipFill>
        <p:spPr>
          <a:xfrm>
            <a:off x="5335197" y="4185502"/>
            <a:ext cx="3427654" cy="2148834"/>
          </a:xfrm>
          <a:prstGeom prst="rect">
            <a:avLst/>
          </a:prstGeom>
        </p:spPr>
      </p:pic>
      <p:sp>
        <p:nvSpPr>
          <p:cNvPr id="2" name="标题 1"/>
          <p:cNvSpPr>
            <a:spLocks noGrp="1"/>
          </p:cNvSpPr>
          <p:nvPr>
            <p:ph type="title"/>
          </p:nvPr>
        </p:nvSpPr>
        <p:spPr/>
        <p:txBody>
          <a:bodyPr/>
          <a:lstStyle/>
          <a:p>
            <a:r>
              <a:rPr lang="zh-CN" altLang="en-US" dirty="0" smtClean="0"/>
              <a:t>斜投影</a:t>
            </a:r>
            <a:endParaRPr lang="zh-CN" altLang="en-US" dirty="0"/>
          </a:p>
        </p:txBody>
      </p:sp>
      <p:sp>
        <p:nvSpPr>
          <p:cNvPr id="3" name="内容占位符 2"/>
          <p:cNvSpPr>
            <a:spLocks noGrp="1"/>
          </p:cNvSpPr>
          <p:nvPr>
            <p:ph idx="1"/>
          </p:nvPr>
        </p:nvSpPr>
        <p:spPr/>
        <p:txBody>
          <a:bodyPr/>
          <a:lstStyle/>
          <a:p>
            <a:r>
              <a:rPr lang="en-US" altLang="zh-CN" sz="2400" dirty="0"/>
              <a:t>OpenGL</a:t>
            </a:r>
            <a:r>
              <a:rPr lang="zh-CN" altLang="en-US" sz="2400" dirty="0"/>
              <a:t>的投影函数不支持一般的平行</a:t>
            </a:r>
            <a:r>
              <a:rPr lang="zh-CN" altLang="en-US" sz="2400" dirty="0" smtClean="0"/>
              <a:t>投影</a:t>
            </a:r>
            <a:endParaRPr lang="en-US" altLang="zh-CN" sz="2400" dirty="0" smtClean="0"/>
          </a:p>
          <a:p>
            <a:r>
              <a:rPr lang="zh-CN" altLang="en-US" sz="2400" dirty="0" smtClean="0"/>
              <a:t>直接构造斜</a:t>
            </a:r>
            <a:r>
              <a:rPr lang="zh-CN" altLang="en-US" sz="2400" dirty="0"/>
              <a:t>投影的投影矩阵：</a:t>
            </a:r>
            <a:endParaRPr lang="en-US" altLang="zh-CN" sz="2400" dirty="0"/>
          </a:p>
          <a:p>
            <a:pPr lvl="1">
              <a:buClr>
                <a:schemeClr val="tx1"/>
              </a:buClr>
            </a:pPr>
            <a:r>
              <a:rPr lang="el-GR" altLang="zh-CN" sz="1800" i="1" dirty="0"/>
              <a:t>θ</a:t>
            </a:r>
            <a:r>
              <a:rPr lang="zh-CN" altLang="en-US" sz="1800" i="1" dirty="0"/>
              <a:t>，</a:t>
            </a:r>
            <a:r>
              <a:rPr lang="el-GR" altLang="zh-CN" sz="1800" i="1" dirty="0"/>
              <a:t>Φ</a:t>
            </a:r>
            <a:r>
              <a:rPr lang="zh-CN" altLang="en-US" sz="1800" dirty="0"/>
              <a:t>分别描述两个方向上的倾斜度</a:t>
            </a:r>
            <a:endParaRPr lang="en-US" altLang="zh-CN" sz="1800" dirty="0"/>
          </a:p>
          <a:p>
            <a:pPr lvl="1">
              <a:buClr>
                <a:schemeClr val="tx1"/>
              </a:buClr>
            </a:pPr>
            <a:r>
              <a:rPr lang="zh-CN" altLang="en-US" sz="1800" dirty="0"/>
              <a:t>倾斜的投影方向产生“错切”变换</a:t>
            </a:r>
            <a:r>
              <a:rPr lang="en-US" altLang="zh-CN" sz="1800" dirty="0"/>
              <a:t>:</a:t>
            </a:r>
            <a:endParaRPr lang="zh-CN" altLang="en-US"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17</a:t>
            </a:fld>
            <a:endParaRPr lang="zh-CN" altLang="en-US"/>
          </a:p>
        </p:txBody>
      </p:sp>
      <p:pic>
        <p:nvPicPr>
          <p:cNvPr id="5" name="图片 4"/>
          <p:cNvPicPr>
            <a:picLocks noChangeAspect="1"/>
          </p:cNvPicPr>
          <p:nvPr/>
        </p:nvPicPr>
        <p:blipFill>
          <a:blip r:embed="rId3"/>
          <a:stretch>
            <a:fillRect/>
          </a:stretch>
        </p:blipFill>
        <p:spPr>
          <a:xfrm>
            <a:off x="4991709" y="1852368"/>
            <a:ext cx="3852041" cy="2333134"/>
          </a:xfrm>
          <a:prstGeom prst="rect">
            <a:avLst/>
          </a:prstGeom>
        </p:spPr>
      </p:pic>
      <p:pic>
        <p:nvPicPr>
          <p:cNvPr id="7" name="图片 6"/>
          <p:cNvPicPr>
            <a:picLocks noChangeAspect="1"/>
          </p:cNvPicPr>
          <p:nvPr/>
        </p:nvPicPr>
        <p:blipFill>
          <a:blip r:embed="rId4"/>
          <a:stretch>
            <a:fillRect/>
          </a:stretch>
        </p:blipFill>
        <p:spPr>
          <a:xfrm>
            <a:off x="4326903" y="3906875"/>
            <a:ext cx="1924817" cy="2716437"/>
          </a:xfrm>
          <a:prstGeom prst="rect">
            <a:avLst/>
          </a:prstGeom>
        </p:spPr>
      </p:pic>
      <p:pic>
        <p:nvPicPr>
          <p:cNvPr id="11" name="图片 10"/>
          <p:cNvPicPr>
            <a:picLocks noChangeAspect="1"/>
          </p:cNvPicPr>
          <p:nvPr/>
        </p:nvPicPr>
        <p:blipFill>
          <a:blip r:embed="rId5"/>
          <a:stretch>
            <a:fillRect/>
          </a:stretch>
        </p:blipFill>
        <p:spPr>
          <a:xfrm>
            <a:off x="628650" y="3492500"/>
            <a:ext cx="3200404" cy="1872064"/>
          </a:xfrm>
          <a:prstGeom prst="rect">
            <a:avLst/>
          </a:prstGeom>
        </p:spPr>
      </p:pic>
      <p:cxnSp>
        <p:nvCxnSpPr>
          <p:cNvPr id="16" name="直接连接符 15"/>
          <p:cNvCxnSpPr/>
          <p:nvPr/>
        </p:nvCxnSpPr>
        <p:spPr>
          <a:xfrm>
            <a:off x="4472762" y="4066957"/>
            <a:ext cx="742951"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2" name="文本框 21"/>
          <p:cNvSpPr txBox="1"/>
          <p:nvPr/>
        </p:nvSpPr>
        <p:spPr>
          <a:xfrm>
            <a:off x="5289311" y="3863264"/>
            <a:ext cx="429092" cy="246221"/>
          </a:xfrm>
          <a:prstGeom prst="rect">
            <a:avLst/>
          </a:prstGeom>
          <a:noFill/>
        </p:spPr>
        <p:txBody>
          <a:bodyPr wrap="none" lIns="0" tIns="0" rIns="0" bIns="0" rtlCol="0">
            <a:spAutoFit/>
          </a:bodyPr>
          <a:lstStyle/>
          <a:p>
            <a:r>
              <a:rPr lang="en-US" altLang="zh-CN" sz="1600" dirty="0" smtClean="0">
                <a:solidFill>
                  <a:srgbClr val="0000FF"/>
                </a:solidFill>
              </a:rPr>
              <a:t>(</a:t>
            </a:r>
            <a:r>
              <a:rPr lang="en-US" altLang="zh-CN" sz="1600" i="1" dirty="0" smtClean="0">
                <a:solidFill>
                  <a:srgbClr val="0000FF"/>
                </a:solidFill>
              </a:rPr>
              <a:t>x’, z</a:t>
            </a:r>
            <a:r>
              <a:rPr lang="en-US" altLang="zh-CN" sz="1600" dirty="0" smtClean="0">
                <a:solidFill>
                  <a:srgbClr val="0000FF"/>
                </a:solidFill>
              </a:rPr>
              <a:t>)</a:t>
            </a:r>
            <a:endParaRPr lang="zh-CN" altLang="en-US" dirty="0">
              <a:solidFill>
                <a:srgbClr val="0000FF"/>
              </a:solidFill>
            </a:endParaRPr>
          </a:p>
        </p:txBody>
      </p:sp>
      <p:cxnSp>
        <p:nvCxnSpPr>
          <p:cNvPr id="31" name="直接连接符 30"/>
          <p:cNvCxnSpPr>
            <a:endCxn id="29" idx="4"/>
          </p:cNvCxnSpPr>
          <p:nvPr/>
        </p:nvCxnSpPr>
        <p:spPr>
          <a:xfrm>
            <a:off x="8188243" y="4353737"/>
            <a:ext cx="51" cy="1270591"/>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2" name="文本框 31"/>
          <p:cNvSpPr txBox="1"/>
          <p:nvPr/>
        </p:nvSpPr>
        <p:spPr>
          <a:xfrm>
            <a:off x="8300804" y="5378107"/>
            <a:ext cx="453329" cy="246221"/>
          </a:xfrm>
          <a:prstGeom prst="rect">
            <a:avLst/>
          </a:prstGeom>
          <a:noFill/>
        </p:spPr>
        <p:txBody>
          <a:bodyPr wrap="none" lIns="0" tIns="0" rIns="0" bIns="0" rtlCol="0">
            <a:spAutoFit/>
          </a:bodyPr>
          <a:lstStyle/>
          <a:p>
            <a:r>
              <a:rPr lang="en-US" altLang="zh-CN" sz="1600" dirty="0" smtClean="0">
                <a:solidFill>
                  <a:srgbClr val="0000FF"/>
                </a:solidFill>
              </a:rPr>
              <a:t>(</a:t>
            </a:r>
            <a:r>
              <a:rPr lang="en-US" altLang="zh-CN" sz="1600" i="1" dirty="0" smtClean="0">
                <a:solidFill>
                  <a:srgbClr val="0000FF"/>
                </a:solidFill>
              </a:rPr>
              <a:t>z, y’</a:t>
            </a:r>
            <a:r>
              <a:rPr lang="en-US" altLang="zh-CN" sz="1600" dirty="0" smtClean="0">
                <a:solidFill>
                  <a:srgbClr val="0000FF"/>
                </a:solidFill>
              </a:rPr>
              <a:t>)</a:t>
            </a:r>
            <a:endParaRPr lang="zh-CN" altLang="en-US" dirty="0">
              <a:solidFill>
                <a:srgbClr val="0000FF"/>
              </a:solidFill>
            </a:endParaRPr>
          </a:p>
        </p:txBody>
      </p:sp>
      <p:pic>
        <p:nvPicPr>
          <p:cNvPr id="39" name="图片 38"/>
          <p:cNvPicPr>
            <a:picLocks noChangeAspect="1"/>
          </p:cNvPicPr>
          <p:nvPr/>
        </p:nvPicPr>
        <p:blipFill rotWithShape="1">
          <a:blip r:embed="rId2"/>
          <a:srcRect t="88826" r="80958"/>
          <a:stretch/>
        </p:blipFill>
        <p:spPr>
          <a:xfrm>
            <a:off x="5965817" y="6094228"/>
            <a:ext cx="652705" cy="240108"/>
          </a:xfrm>
          <a:prstGeom prst="rect">
            <a:avLst/>
          </a:prstGeom>
        </p:spPr>
      </p:pic>
      <p:sp>
        <p:nvSpPr>
          <p:cNvPr id="29" name="椭圆 28"/>
          <p:cNvSpPr/>
          <p:nvPr/>
        </p:nvSpPr>
        <p:spPr>
          <a:xfrm>
            <a:off x="8150194" y="5548128"/>
            <a:ext cx="76200" cy="762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5173183" y="4033285"/>
            <a:ext cx="76200" cy="762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箭头连接符 7"/>
          <p:cNvCxnSpPr/>
          <p:nvPr/>
        </p:nvCxnSpPr>
        <p:spPr>
          <a:xfrm flipH="1">
            <a:off x="7339803" y="5594428"/>
            <a:ext cx="810391"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5215713" y="4109485"/>
            <a:ext cx="0" cy="79465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26904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8"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500"/>
                                        <p:tgtEl>
                                          <p:spTgt spid="1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wipe(left)">
                                      <p:cBhvr>
                                        <p:cTn id="13" dur="500"/>
                                        <p:tgtEl>
                                          <p:spTgt spid="2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wipe(down)">
                                      <p:cBhvr>
                                        <p:cTn id="18" dur="500"/>
                                        <p:tgtEl>
                                          <p:spTgt spid="29"/>
                                        </p:tgtEl>
                                      </p:cBhvr>
                                    </p:animEffect>
                                  </p:childTnLst>
                                </p:cTn>
                              </p:par>
                              <p:par>
                                <p:cTn id="19" presetID="22" presetClass="entr" presetSubtype="4" fill="hold" nodeType="with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wipe(down)">
                                      <p:cBhvr>
                                        <p:cTn id="21" dur="500"/>
                                        <p:tgtEl>
                                          <p:spTgt spid="31"/>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wipe(down)">
                                      <p:cBhvr>
                                        <p:cTn id="24" dur="500"/>
                                        <p:tgtEl>
                                          <p:spTgt spid="3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wipe(up)">
                                      <p:cBhvr>
                                        <p:cTn id="29" dur="500"/>
                                        <p:tgtEl>
                                          <p:spTgt spid="2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2"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right)">
                                      <p:cBhvr>
                                        <p:cTn id="3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2" grpId="0"/>
      <p:bldP spid="29" grpId="0" animBg="1"/>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斜投影</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2400" dirty="0" smtClean="0"/>
                  <a:t>斜</a:t>
                </a:r>
                <a:r>
                  <a:rPr lang="zh-CN" altLang="en-US" sz="2400" dirty="0"/>
                  <a:t>投影矩阵的构造：</a:t>
                </a:r>
                <a:endParaRPr lang="en-US" altLang="zh-CN" sz="2400" dirty="0"/>
              </a:p>
              <a:p>
                <a:pPr lvl="1">
                  <a:buClr>
                    <a:schemeClr val="tx1"/>
                  </a:buClr>
                </a:pPr>
                <a:r>
                  <a:rPr lang="zh-CN" altLang="en-US" sz="1800" dirty="0" smtClean="0"/>
                  <a:t>错切变</a:t>
                </a:r>
                <a:r>
                  <a:rPr lang="zh-CN" altLang="en-US" sz="1800" dirty="0"/>
                  <a:t>换 </a:t>
                </a:r>
                <a14:m>
                  <m:oMath xmlns:m="http://schemas.openxmlformats.org/officeDocument/2006/math">
                    <m:r>
                      <a:rPr lang="en-US" altLang="zh-CN" sz="1800" b="1" i="1" dirty="0" smtClean="0">
                        <a:latin typeface="Cambria Math" charset="0"/>
                      </a:rPr>
                      <m:t>𝑯</m:t>
                    </m:r>
                    <m:r>
                      <a:rPr lang="en-US" altLang="zh-CN" sz="1800" i="1" dirty="0">
                        <a:latin typeface="Cambria Math" charset="0"/>
                      </a:rPr>
                      <m:t>(</m:t>
                    </m:r>
                    <m:r>
                      <a:rPr lang="el-GR" altLang="zh-CN" sz="1800" i="1" dirty="0">
                        <a:latin typeface="Cambria Math" charset="0"/>
                      </a:rPr>
                      <m:t>𝜃</m:t>
                    </m:r>
                    <m:r>
                      <a:rPr lang="el-GR" altLang="zh-CN" sz="1800" i="1" dirty="0">
                        <a:latin typeface="Cambria Math" charset="0"/>
                      </a:rPr>
                      <m:t> , </m:t>
                    </m:r>
                    <m:r>
                      <a:rPr lang="el-GR" altLang="zh-CN" sz="1800" i="1" dirty="0">
                        <a:latin typeface="Cambria Math" charset="0"/>
                      </a:rPr>
                      <m:t>𝜑</m:t>
                    </m:r>
                    <m:r>
                      <a:rPr lang="el-GR" altLang="zh-CN" sz="1800" i="1" dirty="0">
                        <a:latin typeface="Cambria Math" charset="0"/>
                      </a:rPr>
                      <m:t>)</m:t>
                    </m:r>
                  </m:oMath>
                </a14:m>
                <a:endParaRPr lang="en-US" altLang="zh-CN" sz="1800" dirty="0"/>
              </a:p>
              <a:p>
                <a:pPr lvl="1">
                  <a:buClr>
                    <a:schemeClr val="tx1"/>
                  </a:buClr>
                </a:pPr>
                <a:r>
                  <a:rPr lang="zh-CN" altLang="en-US" sz="1800" dirty="0"/>
                  <a:t>正交投影变换</a:t>
                </a:r>
                <a:r>
                  <a:rPr lang="zh-CN" altLang="en-US" sz="1800" dirty="0" smtClean="0"/>
                  <a:t> </a:t>
                </a:r>
                <a14:m>
                  <m:oMath xmlns:m="http://schemas.openxmlformats.org/officeDocument/2006/math">
                    <m:r>
                      <a:rPr lang="en-US" altLang="zh-CN" sz="1800" b="1" i="1" dirty="0" smtClean="0">
                        <a:latin typeface="Cambria Math" charset="0"/>
                      </a:rPr>
                      <m:t>𝑴</m:t>
                    </m:r>
                    <m:r>
                      <a:rPr lang="en-US" altLang="zh-CN" sz="1800" b="1" i="1" baseline="-25000" dirty="0" err="1">
                        <a:latin typeface="Cambria Math" charset="0"/>
                      </a:rPr>
                      <m:t>𝒐𝒓𝒕𝒉</m:t>
                    </m:r>
                  </m:oMath>
                </a14:m>
                <a:endParaRPr lang="en-US" altLang="zh-CN" sz="1800" b="1" baseline="-25000" dirty="0"/>
              </a:p>
              <a:p>
                <a:pPr lvl="1">
                  <a:buClr>
                    <a:schemeClr val="tx1"/>
                  </a:buClr>
                </a:pPr>
                <a:r>
                  <a:rPr lang="zh-CN" altLang="en-US" sz="1800" dirty="0" smtClean="0"/>
                  <a:t>平移变换 </a:t>
                </a:r>
                <a14:m>
                  <m:oMath xmlns:m="http://schemas.openxmlformats.org/officeDocument/2006/math">
                    <m:r>
                      <a:rPr lang="en-US" altLang="zh-CN" sz="1800" b="1" i="1" dirty="0" smtClean="0">
                        <a:latin typeface="Cambria Math" charset="0"/>
                      </a:rPr>
                      <m:t>𝑻</m:t>
                    </m:r>
                  </m:oMath>
                </a14:m>
                <a:endParaRPr lang="en-US" altLang="zh-CN" sz="1800" b="1" dirty="0" smtClean="0"/>
              </a:p>
              <a:p>
                <a:pPr lvl="1">
                  <a:buClr>
                    <a:schemeClr val="tx1"/>
                  </a:buClr>
                </a:pPr>
                <a:r>
                  <a:rPr lang="zh-CN" altLang="en-US" sz="1800" dirty="0"/>
                  <a:t>缩放变换 </a:t>
                </a:r>
                <a14:m>
                  <m:oMath xmlns:m="http://schemas.openxmlformats.org/officeDocument/2006/math">
                    <m:r>
                      <a:rPr lang="en-US" altLang="zh-CN" sz="1800" b="1" i="1" dirty="0">
                        <a:latin typeface="Cambria Math" charset="0"/>
                      </a:rPr>
                      <m:t>𝑺</m:t>
                    </m:r>
                  </m:oMath>
                </a14:m>
                <a:endParaRPr lang="en-US" altLang="zh-CN" sz="1800" b="1" dirty="0"/>
              </a:p>
              <a:p>
                <a:pPr lvl="1">
                  <a:buClr>
                    <a:schemeClr val="tx1"/>
                  </a:buClr>
                </a:pPr>
                <a:endParaRPr lang="en-US" altLang="zh-CN" sz="1800" b="1" dirty="0"/>
              </a:p>
              <a:p>
                <a:pPr lvl="1">
                  <a:buClr>
                    <a:schemeClr val="tx1"/>
                  </a:buClr>
                </a:pPr>
                <a:endParaRPr lang="en-US" altLang="zh-CN" sz="18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9" t="-196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18</a:t>
            </a:fld>
            <a:endParaRPr lang="zh-CN" altLang="en-US"/>
          </a:p>
        </p:txBody>
      </p:sp>
      <p:pic>
        <p:nvPicPr>
          <p:cNvPr id="11" name="图片 10"/>
          <p:cNvPicPr>
            <a:picLocks noChangeAspect="1"/>
          </p:cNvPicPr>
          <p:nvPr/>
        </p:nvPicPr>
        <p:blipFill>
          <a:blip r:embed="rId3"/>
          <a:stretch>
            <a:fillRect/>
          </a:stretch>
        </p:blipFill>
        <p:spPr>
          <a:xfrm>
            <a:off x="4322210" y="1026363"/>
            <a:ext cx="4116108" cy="3270295"/>
          </a:xfrm>
          <a:prstGeom prst="rect">
            <a:avLst/>
          </a:prstGeom>
        </p:spPr>
      </p:pic>
      <p:pic>
        <p:nvPicPr>
          <p:cNvPr id="13" name="图片 12"/>
          <p:cNvPicPr>
            <a:picLocks noChangeAspect="1"/>
          </p:cNvPicPr>
          <p:nvPr/>
        </p:nvPicPr>
        <p:blipFill rotWithShape="1">
          <a:blip r:embed="rId4"/>
          <a:srcRect l="30322"/>
          <a:stretch/>
        </p:blipFill>
        <p:spPr>
          <a:xfrm>
            <a:off x="972406" y="4838935"/>
            <a:ext cx="3106925" cy="1161414"/>
          </a:xfrm>
          <a:prstGeom prst="rect">
            <a:avLst/>
          </a:prstGeom>
        </p:spPr>
      </p:pic>
      <mc:AlternateContent xmlns:mc="http://schemas.openxmlformats.org/markup-compatibility/2006" xmlns:a14="http://schemas.microsoft.com/office/drawing/2010/main">
        <mc:Choice Requires="a14">
          <p:sp>
            <p:nvSpPr>
              <p:cNvPr id="14" name="文本框 13"/>
              <p:cNvSpPr txBox="1"/>
              <p:nvPr/>
            </p:nvSpPr>
            <p:spPr>
              <a:xfrm>
                <a:off x="1367224" y="4150754"/>
                <a:ext cx="2070246" cy="369332"/>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US" altLang="zh-CN" b="1" i="1" dirty="0" smtClean="0">
                          <a:latin typeface="Cambria Math" charset="0"/>
                        </a:rPr>
                        <m:t>𝑷</m:t>
                      </m:r>
                      <m:r>
                        <a:rPr lang="en-US" altLang="zh-CN" b="1" i="1" dirty="0" smtClean="0">
                          <a:latin typeface="Cambria Math" charset="0"/>
                        </a:rPr>
                        <m:t>= </m:t>
                      </m:r>
                      <m:r>
                        <a:rPr lang="en-US" altLang="zh-CN" b="1" i="1" dirty="0" smtClean="0">
                          <a:latin typeface="Cambria Math" charset="0"/>
                        </a:rPr>
                        <m:t>𝑴</m:t>
                      </m:r>
                      <m:r>
                        <a:rPr lang="en-US" altLang="zh-CN" i="1" baseline="-25000" dirty="0" err="1">
                          <a:latin typeface="Cambria Math" charset="0"/>
                        </a:rPr>
                        <m:t>𝑜𝑟𝑡h</m:t>
                      </m:r>
                      <m:r>
                        <a:rPr lang="en-US" altLang="zh-CN" b="1" i="1" dirty="0" err="1">
                          <a:latin typeface="Cambria Math" charset="0"/>
                        </a:rPr>
                        <m:t>𝑯</m:t>
                      </m:r>
                      <m:r>
                        <a:rPr lang="en-US" altLang="zh-CN" i="1" dirty="0">
                          <a:latin typeface="Cambria Math" charset="0"/>
                        </a:rPr>
                        <m:t>(</m:t>
                      </m:r>
                      <m:r>
                        <a:rPr lang="el-GR" altLang="zh-CN" i="1" dirty="0">
                          <a:latin typeface="Cambria Math" charset="0"/>
                        </a:rPr>
                        <m:t>𝜃</m:t>
                      </m:r>
                      <m:r>
                        <a:rPr lang="el-GR" altLang="zh-CN" i="1" dirty="0">
                          <a:latin typeface="Cambria Math" charset="0"/>
                        </a:rPr>
                        <m:t> , </m:t>
                      </m:r>
                      <m:r>
                        <a:rPr lang="el-GR" altLang="zh-CN" i="1" dirty="0">
                          <a:latin typeface="Cambria Math" charset="0"/>
                        </a:rPr>
                        <m:t>𝜑</m:t>
                      </m:r>
                      <m:r>
                        <a:rPr lang="el-GR" altLang="zh-CN" i="1" dirty="0">
                          <a:latin typeface="Cambria Math" charset="0"/>
                        </a:rPr>
                        <m:t>)</m:t>
                      </m:r>
                    </m:oMath>
                  </m:oMathPara>
                </a14:m>
                <a:endParaRPr lang="en-US" altLang="zh-CN" dirty="0"/>
              </a:p>
            </p:txBody>
          </p:sp>
        </mc:Choice>
        <mc:Fallback xmlns="">
          <p:sp>
            <p:nvSpPr>
              <p:cNvPr id="14" name="文本框 13"/>
              <p:cNvSpPr txBox="1">
                <a:spLocks noRot="1" noChangeAspect="1" noMove="1" noResize="1" noEditPoints="1" noAdjustHandles="1" noChangeArrowheads="1" noChangeShapeType="1" noTextEdit="1"/>
              </p:cNvSpPr>
              <p:nvPr/>
            </p:nvSpPr>
            <p:spPr>
              <a:xfrm>
                <a:off x="1367224" y="4150754"/>
                <a:ext cx="2070246" cy="369332"/>
              </a:xfrm>
              <a:prstGeom prst="rect">
                <a:avLst/>
              </a:prstGeom>
              <a:blipFill rotWithShape="0">
                <a:blip r:embed="rId6"/>
                <a:stretch>
                  <a:fillRect t="-98333" b="-12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文本框 14"/>
              <p:cNvSpPr txBox="1"/>
              <p:nvPr/>
            </p:nvSpPr>
            <p:spPr>
              <a:xfrm>
                <a:off x="6552181" y="4150754"/>
                <a:ext cx="529311" cy="369332"/>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US" altLang="zh-CN" b="1" i="1" dirty="0" smtClean="0">
                          <a:latin typeface="Cambria Math" charset="0"/>
                          <a:ea typeface="微软雅黑" panose="020B0503020204020204" pitchFamily="34" charset="-122"/>
                        </a:rPr>
                        <m:t>𝑺𝑻</m:t>
                      </m:r>
                    </m:oMath>
                  </m:oMathPara>
                </a14:m>
                <a:endParaRPr lang="zh-CN" altLang="en-US" b="1" dirty="0">
                  <a:latin typeface="微软雅黑" panose="020B0503020204020204" pitchFamily="34" charset="-122"/>
                  <a:ea typeface="微软雅黑" panose="020B0503020204020204" pitchFamily="34" charset="-122"/>
                </a:endParaRPr>
              </a:p>
            </p:txBody>
          </p:sp>
        </mc:Choice>
        <mc:Fallback xmlns="">
          <p:sp>
            <p:nvSpPr>
              <p:cNvPr id="15" name="文本框 14"/>
              <p:cNvSpPr txBox="1">
                <a:spLocks noRot="1" noChangeAspect="1" noMove="1" noResize="1" noEditPoints="1" noAdjustHandles="1" noChangeArrowheads="1" noChangeShapeType="1" noTextEdit="1"/>
              </p:cNvSpPr>
              <p:nvPr/>
            </p:nvSpPr>
            <p:spPr>
              <a:xfrm>
                <a:off x="6552181" y="4150754"/>
                <a:ext cx="529311" cy="369332"/>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1303186" y="3231740"/>
                <a:ext cx="2776145" cy="461665"/>
              </a:xfrm>
              <a:prstGeom prst="rect">
                <a:avLst/>
              </a:prstGeom>
            </p:spPr>
            <p:txBody>
              <a:bodyPr wrap="none">
                <a:spAutoFit/>
              </a:bodyPr>
              <a:lstStyle/>
              <a:p>
                <a:pPr lvl="1">
                  <a:buClr>
                    <a:schemeClr val="tx1"/>
                  </a:buClr>
                </a:pPr>
                <a14:m>
                  <m:oMathPara xmlns:m="http://schemas.openxmlformats.org/officeDocument/2006/math">
                    <m:oMathParaPr>
                      <m:jc m:val="centerGroup"/>
                    </m:oMathParaPr>
                    <m:oMath xmlns:m="http://schemas.openxmlformats.org/officeDocument/2006/math">
                      <m:r>
                        <a:rPr lang="en-US" altLang="zh-CN" sz="2400" b="1" i="1" dirty="0" smtClean="0">
                          <a:solidFill>
                            <a:srgbClr val="0000FF"/>
                          </a:solidFill>
                          <a:latin typeface="Cambria Math" charset="0"/>
                        </a:rPr>
                        <m:t>𝑵</m:t>
                      </m:r>
                      <m:r>
                        <a:rPr lang="en-US" altLang="zh-CN" sz="2400" i="1" dirty="0">
                          <a:solidFill>
                            <a:srgbClr val="0000FF"/>
                          </a:solidFill>
                          <a:latin typeface="Cambria Math" charset="0"/>
                        </a:rPr>
                        <m:t> = </m:t>
                      </m:r>
                      <m:r>
                        <a:rPr lang="en-US" altLang="zh-CN" sz="2400" b="1" i="1" dirty="0" err="1">
                          <a:solidFill>
                            <a:srgbClr val="0000FF"/>
                          </a:solidFill>
                          <a:latin typeface="Cambria Math" charset="0"/>
                        </a:rPr>
                        <m:t>𝑴</m:t>
                      </m:r>
                      <m:r>
                        <a:rPr lang="en-US" altLang="zh-CN" sz="2400" i="1" baseline="-25000" dirty="0" err="1">
                          <a:solidFill>
                            <a:srgbClr val="0000FF"/>
                          </a:solidFill>
                          <a:latin typeface="Cambria Math" charset="0"/>
                        </a:rPr>
                        <m:t>𝑜𝑟𝑡h</m:t>
                      </m:r>
                      <m:r>
                        <a:rPr lang="en-US" altLang="zh-CN" sz="2400" b="1" i="1" dirty="0" err="1">
                          <a:solidFill>
                            <a:srgbClr val="0000FF"/>
                          </a:solidFill>
                          <a:latin typeface="Cambria Math" charset="0"/>
                        </a:rPr>
                        <m:t>𝑺𝑻𝑯</m:t>
                      </m:r>
                    </m:oMath>
                  </m:oMathPara>
                </a14:m>
                <a:endParaRPr lang="zh-CN" altLang="en-US" sz="2400" b="1" dirty="0">
                  <a:solidFill>
                    <a:srgbClr val="0000FF"/>
                  </a:solidFill>
                </a:endParaRPr>
              </a:p>
            </p:txBody>
          </p:sp>
        </mc:Choice>
        <mc:Fallback xmlns="">
          <p:sp>
            <p:nvSpPr>
              <p:cNvPr id="5" name="Rectangle 4"/>
              <p:cNvSpPr>
                <a:spLocks noRot="1" noChangeAspect="1" noMove="1" noResize="1" noEditPoints="1" noAdjustHandles="1" noChangeArrowheads="1" noChangeShapeType="1" noTextEdit="1"/>
              </p:cNvSpPr>
              <p:nvPr/>
            </p:nvSpPr>
            <p:spPr>
              <a:xfrm>
                <a:off x="1303186" y="3231740"/>
                <a:ext cx="2776145" cy="461665"/>
              </a:xfrm>
              <a:prstGeom prst="rect">
                <a:avLst/>
              </a:prstGeom>
              <a:blipFill rotWithShape="0">
                <a:blip r:embed="rId8"/>
                <a:stretch>
                  <a:fillRect t="-102632" b="-130263"/>
                </a:stretch>
              </a:blipFill>
            </p:spPr>
            <p:txBody>
              <a:bodyPr/>
              <a:lstStyle/>
              <a:p>
                <a:r>
                  <a:rPr lang="en-US">
                    <a:noFill/>
                  </a:rPr>
                  <a:t> </a:t>
                </a:r>
              </a:p>
            </p:txBody>
          </p:sp>
        </mc:Fallback>
      </mc:AlternateContent>
      <p:pic>
        <p:nvPicPr>
          <p:cNvPr id="12" name="图片 11"/>
          <p:cNvPicPr>
            <a:picLocks noChangeAspect="1"/>
          </p:cNvPicPr>
          <p:nvPr/>
        </p:nvPicPr>
        <p:blipFill rotWithShape="1">
          <a:blip r:embed="rId9"/>
          <a:srcRect l="10290"/>
          <a:stretch/>
        </p:blipFill>
        <p:spPr>
          <a:xfrm>
            <a:off x="4876255" y="4694371"/>
            <a:ext cx="3881162" cy="1392092"/>
          </a:xfrm>
          <a:prstGeom prst="rect">
            <a:avLst/>
          </a:prstGeom>
        </p:spPr>
      </p:pic>
    </p:spTree>
    <p:extLst>
      <p:ext uri="{BB962C8B-B14F-4D97-AF65-F5344CB8AC3E}">
        <p14:creationId xmlns:p14="http://schemas.microsoft.com/office/powerpoint/2010/main" val="12242720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anim calcmode="lin" valueType="num">
                                      <p:cBhvr>
                                        <p:cTn id="1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1000"/>
                                        <p:tgtEl>
                                          <p:spTgt spid="15"/>
                                        </p:tgtEl>
                                      </p:cBhvr>
                                    </p:animEffect>
                                    <p:anim calcmode="lin" valueType="num">
                                      <p:cBhvr>
                                        <p:cTn id="20" dur="1000" fill="hold"/>
                                        <p:tgtEl>
                                          <p:spTgt spid="15"/>
                                        </p:tgtEl>
                                        <p:attrNameLst>
                                          <p:attrName>ppt_x</p:attrName>
                                        </p:attrNameLst>
                                      </p:cBhvr>
                                      <p:tavLst>
                                        <p:tav tm="0">
                                          <p:val>
                                            <p:strVal val="#ppt_x"/>
                                          </p:val>
                                        </p:tav>
                                        <p:tav tm="100000">
                                          <p:val>
                                            <p:strVal val="#ppt_x"/>
                                          </p:val>
                                        </p:tav>
                                      </p:tavLst>
                                    </p:anim>
                                    <p:anim calcmode="lin" valueType="num">
                                      <p:cBhvr>
                                        <p:cTn id="21" dur="1000" fill="hold"/>
                                        <p:tgtEl>
                                          <p:spTgt spid="15"/>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1000"/>
                                        <p:tgtEl>
                                          <p:spTgt spid="12"/>
                                        </p:tgtEl>
                                      </p:cBhvr>
                                    </p:animEffect>
                                    <p:anim calcmode="lin" valueType="num">
                                      <p:cBhvr>
                                        <p:cTn id="25" dur="1000" fill="hold"/>
                                        <p:tgtEl>
                                          <p:spTgt spid="12"/>
                                        </p:tgtEl>
                                        <p:attrNameLst>
                                          <p:attrName>ppt_x</p:attrName>
                                        </p:attrNameLst>
                                      </p:cBhvr>
                                      <p:tavLst>
                                        <p:tav tm="0">
                                          <p:val>
                                            <p:strVal val="#ppt_x"/>
                                          </p:val>
                                        </p:tav>
                                        <p:tav tm="100000">
                                          <p:val>
                                            <p:strVal val="#ppt_x"/>
                                          </p:val>
                                        </p:tav>
                                      </p:tavLst>
                                    </p:anim>
                                    <p:anim calcmode="lin" valueType="num">
                                      <p:cBhvr>
                                        <p:cTn id="2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1000"/>
                                        <p:tgtEl>
                                          <p:spTgt spid="5"/>
                                        </p:tgtEl>
                                      </p:cBhvr>
                                    </p:animEffect>
                                    <p:anim calcmode="lin" valueType="num">
                                      <p:cBhvr>
                                        <p:cTn id="32" dur="1000" fill="hold"/>
                                        <p:tgtEl>
                                          <p:spTgt spid="5"/>
                                        </p:tgtEl>
                                        <p:attrNameLst>
                                          <p:attrName>ppt_x</p:attrName>
                                        </p:attrNameLst>
                                      </p:cBhvr>
                                      <p:tavLst>
                                        <p:tav tm="0">
                                          <p:val>
                                            <p:strVal val="#ppt_x"/>
                                          </p:val>
                                        </p:tav>
                                        <p:tav tm="100000">
                                          <p:val>
                                            <p:strVal val="#ppt_x"/>
                                          </p:val>
                                        </p:tav>
                                      </p:tavLst>
                                    </p:anim>
                                    <p:anim calcmode="lin" valueType="num">
                                      <p:cBhvr>
                                        <p:cTn id="3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19</a:t>
            </a:fld>
            <a:endParaRPr lang="zh-CN" altLang="en-US"/>
          </a:p>
        </p:txBody>
      </p:sp>
      <p:sp>
        <p:nvSpPr>
          <p:cNvPr id="8" name="文本框 7"/>
          <p:cNvSpPr txBox="1"/>
          <p:nvPr/>
        </p:nvSpPr>
        <p:spPr>
          <a:xfrm>
            <a:off x="2341843" y="3389111"/>
            <a:ext cx="4467891" cy="646331"/>
          </a:xfrm>
          <a:prstGeom prst="rect">
            <a:avLst/>
          </a:prstGeom>
          <a:noFill/>
        </p:spPr>
        <p:txBody>
          <a:bodyPr wrap="none" rtlCol="0">
            <a:spAutoFit/>
          </a:bodyPr>
          <a:lstStyle/>
          <a:p>
            <a:pPr algn="ctr"/>
            <a:r>
              <a:rPr lang="en-US" altLang="zh-CN" sz="3600" b="1" dirty="0" smtClean="0">
                <a:solidFill>
                  <a:srgbClr val="00B1F0"/>
                </a:solidFill>
                <a:latin typeface="微软雅黑" panose="020B0503020204020204" pitchFamily="34" charset="-122"/>
                <a:ea typeface="微软雅黑" panose="020B0503020204020204" pitchFamily="34" charset="-122"/>
              </a:rPr>
              <a:t>OpenGL</a:t>
            </a:r>
            <a:r>
              <a:rPr lang="zh-CN" altLang="en-US" sz="3600" b="1" dirty="0" smtClean="0">
                <a:latin typeface="微软雅黑" panose="020B0503020204020204" pitchFamily="34" charset="-122"/>
                <a:ea typeface="微软雅黑" panose="020B0503020204020204" pitchFamily="34" charset="-122"/>
              </a:rPr>
              <a:t>的透视</a:t>
            </a:r>
            <a:r>
              <a:rPr lang="zh-CN" altLang="en-US" sz="3600" b="1" dirty="0">
                <a:latin typeface="微软雅黑" panose="020B0503020204020204" pitchFamily="34" charset="-122"/>
                <a:ea typeface="微软雅黑" panose="020B0503020204020204" pitchFamily="34" charset="-122"/>
              </a:rPr>
              <a:t>投影</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smtClean="0">
                <a:solidFill>
                  <a:srgbClr val="94003F"/>
                </a:solidFill>
              </a:rPr>
              <a:t>2</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9191456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透视投影</a:t>
            </a:r>
          </a:p>
        </p:txBody>
      </p:sp>
      <p:sp>
        <p:nvSpPr>
          <p:cNvPr id="3" name="内容占位符 2"/>
          <p:cNvSpPr>
            <a:spLocks noGrp="1"/>
          </p:cNvSpPr>
          <p:nvPr>
            <p:ph idx="1"/>
          </p:nvPr>
        </p:nvSpPr>
        <p:spPr/>
        <p:txBody>
          <a:bodyPr/>
          <a:lstStyle/>
          <a:p>
            <a:r>
              <a:rPr lang="zh-CN" altLang="en-US" sz="2400" dirty="0"/>
              <a:t>透视投影的概念</a:t>
            </a:r>
            <a:endParaRPr lang="en-US" altLang="zh-CN" sz="2400" dirty="0"/>
          </a:p>
          <a:p>
            <a:pPr lvl="1">
              <a:buClr>
                <a:schemeClr val="tx1"/>
              </a:buClr>
            </a:pPr>
            <a:r>
              <a:rPr lang="zh-CN" altLang="en-US" sz="1800" dirty="0"/>
              <a:t>投影中心</a:t>
            </a:r>
            <a:r>
              <a:rPr lang="en-US" altLang="zh-CN" sz="1800" dirty="0"/>
              <a:t>(COP)/</a:t>
            </a:r>
            <a:r>
              <a:rPr lang="zh-CN" altLang="en-US" sz="1800" dirty="0"/>
              <a:t>透镜模型中的焦点在</a:t>
            </a:r>
            <a:endParaRPr lang="en-US" altLang="zh-CN" sz="1800" dirty="0"/>
          </a:p>
          <a:p>
            <a:pPr marL="457200" lvl="1" indent="0">
              <a:buClr>
                <a:schemeClr val="tx1"/>
              </a:buClr>
              <a:buNone/>
            </a:pPr>
            <a:r>
              <a:rPr lang="en-US" altLang="zh-CN" sz="1800" dirty="0"/>
              <a:t>   </a:t>
            </a:r>
            <a:r>
              <a:rPr lang="zh-CN" altLang="en-US" sz="1800" dirty="0"/>
              <a:t>有限远位置</a:t>
            </a:r>
            <a:endParaRPr lang="en-US" altLang="zh-CN" sz="1800" dirty="0"/>
          </a:p>
          <a:p>
            <a:pPr lvl="1">
              <a:buClr>
                <a:schemeClr val="tx1"/>
              </a:buClr>
            </a:pPr>
            <a:r>
              <a:rPr lang="zh-CN" altLang="en-US" sz="1800" dirty="0"/>
              <a:t>透视变换是保直线的，但不是仿射变换</a:t>
            </a:r>
            <a:endParaRPr lang="en-US" altLang="zh-CN" sz="1800" dirty="0"/>
          </a:p>
          <a:p>
            <a:pPr marL="457200" lvl="1" indent="0">
              <a:buClr>
                <a:schemeClr val="tx1"/>
              </a:buClr>
              <a:buNone/>
            </a:pPr>
            <a:endParaRPr lang="en-US" altLang="zh-CN" sz="1800" dirty="0"/>
          </a:p>
          <a:p>
            <a:pPr lvl="1">
              <a:buClr>
                <a:schemeClr val="tx1"/>
              </a:buClr>
            </a:pPr>
            <a:endParaRPr lang="en-US" altLang="zh-CN" sz="2400" dirty="0"/>
          </a:p>
          <a:p>
            <a:endParaRPr lang="en-US" altLang="zh-CN" sz="2400" dirty="0"/>
          </a:p>
          <a:p>
            <a:pPr lvl="1"/>
            <a:endParaRPr lang="en-US" altLang="zh-CN" sz="1600" dirty="0"/>
          </a:p>
          <a:p>
            <a:pPr marL="0" indent="0">
              <a:buNone/>
            </a:pPr>
            <a:endParaRPr lang="en-US" altLang="zh-CN" sz="2400" dirty="0"/>
          </a:p>
          <a:p>
            <a:r>
              <a:rPr lang="zh-CN" altLang="en-US" sz="2400" dirty="0"/>
              <a:t>透视投影的类型：</a:t>
            </a:r>
            <a:endParaRPr lang="en-US" altLang="zh-CN"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20</a:t>
            </a:fld>
            <a:endParaRPr lang="zh-CN" altLang="en-US"/>
          </a:p>
        </p:txBody>
      </p:sp>
      <p:pic>
        <p:nvPicPr>
          <p:cNvPr id="10" name="图片 9"/>
          <p:cNvPicPr>
            <a:picLocks noChangeAspect="1"/>
          </p:cNvPicPr>
          <p:nvPr/>
        </p:nvPicPr>
        <p:blipFill>
          <a:blip r:embed="rId2"/>
          <a:stretch>
            <a:fillRect/>
          </a:stretch>
        </p:blipFill>
        <p:spPr>
          <a:xfrm>
            <a:off x="2238272" y="5094846"/>
            <a:ext cx="3059720" cy="1618055"/>
          </a:xfrm>
          <a:prstGeom prst="rect">
            <a:avLst/>
          </a:prstGeom>
        </p:spPr>
      </p:pic>
      <p:pic>
        <p:nvPicPr>
          <p:cNvPr id="5" name="图片 4"/>
          <p:cNvPicPr>
            <a:picLocks noChangeAspect="1"/>
          </p:cNvPicPr>
          <p:nvPr/>
        </p:nvPicPr>
        <p:blipFill>
          <a:blip r:embed="rId3"/>
          <a:stretch>
            <a:fillRect/>
          </a:stretch>
        </p:blipFill>
        <p:spPr>
          <a:xfrm>
            <a:off x="1476193" y="2851504"/>
            <a:ext cx="3658513" cy="1517697"/>
          </a:xfrm>
          <a:prstGeom prst="rect">
            <a:avLst/>
          </a:prstGeom>
        </p:spPr>
      </p:pic>
      <p:pic>
        <p:nvPicPr>
          <p:cNvPr id="7" name="图片 6"/>
          <p:cNvPicPr>
            <a:picLocks noChangeAspect="1"/>
          </p:cNvPicPr>
          <p:nvPr/>
        </p:nvPicPr>
        <p:blipFill>
          <a:blip r:embed="rId4"/>
          <a:stretch>
            <a:fillRect/>
          </a:stretch>
        </p:blipFill>
        <p:spPr>
          <a:xfrm>
            <a:off x="5943578" y="666510"/>
            <a:ext cx="2653414" cy="2002455"/>
          </a:xfrm>
          <a:prstGeom prst="rect">
            <a:avLst/>
          </a:prstGeom>
        </p:spPr>
      </p:pic>
      <p:pic>
        <p:nvPicPr>
          <p:cNvPr id="8" name="图片 7"/>
          <p:cNvPicPr>
            <a:picLocks noChangeAspect="1"/>
          </p:cNvPicPr>
          <p:nvPr/>
        </p:nvPicPr>
        <p:blipFill>
          <a:blip r:embed="rId5"/>
          <a:stretch>
            <a:fillRect/>
          </a:stretch>
        </p:blipFill>
        <p:spPr>
          <a:xfrm>
            <a:off x="5924609" y="2668965"/>
            <a:ext cx="2666873" cy="1997507"/>
          </a:xfrm>
          <a:prstGeom prst="rect">
            <a:avLst/>
          </a:prstGeom>
        </p:spPr>
      </p:pic>
      <p:sp>
        <p:nvSpPr>
          <p:cNvPr id="11" name="文本框 10"/>
          <p:cNvSpPr txBox="1"/>
          <p:nvPr/>
        </p:nvSpPr>
        <p:spPr>
          <a:xfrm>
            <a:off x="8500143" y="2144224"/>
            <a:ext cx="461665" cy="1002839"/>
          </a:xfrm>
          <a:prstGeom prst="rect">
            <a:avLst/>
          </a:prstGeom>
          <a:noFill/>
        </p:spPr>
        <p:txBody>
          <a:bodyPr vert="eaVert" wrap="none" rtlCol="0">
            <a:spAutoFit/>
          </a:bodyPr>
          <a:lstStyle/>
          <a:p>
            <a:r>
              <a:rPr lang="zh-CN" altLang="en-US" b="1" dirty="0"/>
              <a:t>焦距增大</a:t>
            </a:r>
          </a:p>
        </p:txBody>
      </p:sp>
      <p:sp>
        <p:nvSpPr>
          <p:cNvPr id="12" name="箭头: 下 11"/>
          <p:cNvSpPr/>
          <p:nvPr/>
        </p:nvSpPr>
        <p:spPr>
          <a:xfrm>
            <a:off x="7154350" y="2384317"/>
            <a:ext cx="311679" cy="569295"/>
          </a:xfrm>
          <a:prstGeom prst="down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8878640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2400" dirty="0"/>
                  <a:t>透视投影的概念</a:t>
                </a:r>
                <a:endParaRPr lang="en-US" altLang="zh-CN" sz="2400" dirty="0"/>
              </a:p>
              <a:p>
                <a:pPr lvl="1">
                  <a:buClr>
                    <a:schemeClr val="tx1"/>
                  </a:buClr>
                </a:pPr>
                <a:r>
                  <a:rPr lang="zh-CN" altLang="en-US" sz="1800" b="1" dirty="0">
                    <a:solidFill>
                      <a:srgbClr val="0000FF"/>
                    </a:solidFill>
                  </a:rPr>
                  <a:t>投影中心</a:t>
                </a:r>
                <a:r>
                  <a:rPr lang="zh-CN" altLang="en-US" sz="1800" b="1" dirty="0"/>
                  <a:t>在</a:t>
                </a:r>
                <a:r>
                  <a:rPr lang="zh-CN" altLang="en-US" sz="1800" b="1" dirty="0">
                    <a:solidFill>
                      <a:srgbClr val="FF0000"/>
                    </a:solidFill>
                  </a:rPr>
                  <a:t>原点</a:t>
                </a:r>
                <a:endParaRPr lang="en-US" altLang="zh-CN" sz="1800" b="1" dirty="0">
                  <a:solidFill>
                    <a:srgbClr val="FF0000"/>
                  </a:solidFill>
                </a:endParaRPr>
              </a:p>
              <a:p>
                <a:pPr lvl="1">
                  <a:buClr>
                    <a:schemeClr val="tx1"/>
                  </a:buClr>
                </a:pPr>
                <a:r>
                  <a:rPr lang="zh-CN" altLang="en-US" sz="1800" b="1" dirty="0">
                    <a:solidFill>
                      <a:srgbClr val="0000FF"/>
                    </a:solidFill>
                  </a:rPr>
                  <a:t>投影平面</a:t>
                </a:r>
                <a:r>
                  <a:rPr lang="zh-CN" altLang="en-US" sz="1800" b="1" dirty="0"/>
                  <a:t>为</a:t>
                </a:r>
                <a14:m>
                  <m:oMath xmlns:m="http://schemas.openxmlformats.org/officeDocument/2006/math">
                    <m:r>
                      <a:rPr lang="en-US" altLang="zh-CN" sz="1800" b="1" i="1" dirty="0" smtClean="0">
                        <a:solidFill>
                          <a:srgbClr val="FF0000"/>
                        </a:solidFill>
                        <a:latin typeface="Cambria Math" charset="0"/>
                      </a:rPr>
                      <m:t>𝒛</m:t>
                    </m:r>
                    <m:r>
                      <a:rPr lang="en-US" altLang="zh-CN" sz="1800" b="1" i="1" dirty="0" smtClean="0">
                        <a:solidFill>
                          <a:srgbClr val="FF0000"/>
                        </a:solidFill>
                        <a:latin typeface="Cambria Math" charset="0"/>
                      </a:rPr>
                      <m:t>=</m:t>
                    </m:r>
                    <m:r>
                      <a:rPr lang="en-US" altLang="zh-CN" sz="1800" b="1" i="1" dirty="0" smtClean="0">
                        <a:solidFill>
                          <a:srgbClr val="FF0000"/>
                        </a:solidFill>
                        <a:latin typeface="Cambria Math" charset="0"/>
                      </a:rPr>
                      <m:t>𝒅</m:t>
                    </m:r>
                    <m:r>
                      <a:rPr lang="en-US" altLang="zh-CN" sz="1800" b="1" i="1" dirty="0" smtClean="0">
                        <a:solidFill>
                          <a:srgbClr val="FF0000"/>
                        </a:solidFill>
                        <a:latin typeface="Cambria Math" charset="0"/>
                      </a:rPr>
                      <m:t>, </m:t>
                    </m:r>
                    <m:r>
                      <a:rPr lang="en-US" altLang="zh-CN" sz="1800" b="1" i="1" dirty="0" smtClean="0">
                        <a:solidFill>
                          <a:srgbClr val="FF0000"/>
                        </a:solidFill>
                        <a:latin typeface="Cambria Math" charset="0"/>
                      </a:rPr>
                      <m:t>𝒅</m:t>
                    </m:r>
                    <m:r>
                      <a:rPr lang="en-US" altLang="zh-CN" sz="1800" b="1" i="1" dirty="0" smtClean="0">
                        <a:solidFill>
                          <a:srgbClr val="FF0000"/>
                        </a:solidFill>
                        <a:latin typeface="Cambria Math" charset="0"/>
                      </a:rPr>
                      <m:t>&lt;</m:t>
                    </m:r>
                    <m:r>
                      <a:rPr lang="en-US" altLang="zh-CN" sz="1800" b="1" i="1" dirty="0" smtClean="0">
                        <a:solidFill>
                          <a:srgbClr val="FF0000"/>
                        </a:solidFill>
                        <a:latin typeface="Cambria Math" charset="0"/>
                      </a:rPr>
                      <m:t>𝟎</m:t>
                    </m:r>
                  </m:oMath>
                </a14:m>
                <a:endParaRPr lang="en-US" altLang="zh-CN" sz="1800" b="1" dirty="0">
                  <a:solidFill>
                    <a:srgbClr val="FF0000"/>
                  </a:solidFill>
                </a:endParaRPr>
              </a:p>
              <a:p>
                <a:pPr lvl="1">
                  <a:buClr>
                    <a:schemeClr val="tx1"/>
                  </a:buClr>
                </a:pPr>
                <a:r>
                  <a:rPr lang="zh-CN" altLang="en-US" sz="1800" dirty="0"/>
                  <a:t>近大远小</a:t>
                </a:r>
                <a:endParaRPr lang="en-US" altLang="zh-CN" sz="2400" dirty="0"/>
              </a:p>
              <a:p>
                <a:pPr marL="0" indent="0">
                  <a:buNone/>
                </a:pPr>
                <a:endParaRPr lang="en-US" altLang="zh-CN" sz="2400" dirty="0"/>
              </a:p>
              <a:p>
                <a:r>
                  <a:rPr lang="zh-CN" altLang="en-US" sz="2400" dirty="0" smtClean="0"/>
                  <a:t>透视</a:t>
                </a:r>
                <a:r>
                  <a:rPr lang="zh-CN" altLang="en-US" sz="2400" dirty="0"/>
                  <a:t>方程：</a:t>
                </a:r>
                <a:endParaRPr lang="en-US" altLang="zh-CN" sz="18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9" t="-1961"/>
                </a:stretch>
              </a:blipFill>
            </p:spPr>
            <p:txBody>
              <a:bodyPr/>
              <a:lstStyle/>
              <a:p>
                <a:r>
                  <a:rPr lang="zh-CN" altLang="en-US">
                    <a:noFill/>
                  </a:rPr>
                  <a:t> </a:t>
                </a:r>
              </a:p>
            </p:txBody>
          </p:sp>
        </mc:Fallback>
      </mc:AlternateContent>
      <p:pic>
        <p:nvPicPr>
          <p:cNvPr id="6" name="图片 5"/>
          <p:cNvPicPr>
            <a:picLocks noChangeAspect="1"/>
          </p:cNvPicPr>
          <p:nvPr/>
        </p:nvPicPr>
        <p:blipFill rotWithShape="1">
          <a:blip r:embed="rId3"/>
          <a:srcRect r="65843"/>
          <a:stretch/>
        </p:blipFill>
        <p:spPr>
          <a:xfrm>
            <a:off x="4682711" y="689459"/>
            <a:ext cx="3280360" cy="2591731"/>
          </a:xfrm>
          <a:prstGeom prst="rect">
            <a:avLst/>
          </a:prstGeom>
        </p:spPr>
      </p:pic>
      <p:sp>
        <p:nvSpPr>
          <p:cNvPr id="2" name="标题 1"/>
          <p:cNvSpPr>
            <a:spLocks noGrp="1"/>
          </p:cNvSpPr>
          <p:nvPr>
            <p:ph type="title"/>
          </p:nvPr>
        </p:nvSpPr>
        <p:spPr/>
        <p:txBody>
          <a:bodyPr/>
          <a:lstStyle/>
          <a:p>
            <a:r>
              <a:rPr lang="zh-CN" altLang="en-US" dirty="0"/>
              <a:t>简单透视</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21</a:t>
            </a:fld>
            <a:endParaRPr lang="zh-CN" altLang="en-US"/>
          </a:p>
        </p:txBody>
      </p:sp>
      <p:pic>
        <p:nvPicPr>
          <p:cNvPr id="14" name="图片 13"/>
          <p:cNvPicPr>
            <a:picLocks noChangeAspect="1"/>
          </p:cNvPicPr>
          <p:nvPr/>
        </p:nvPicPr>
        <p:blipFill>
          <a:blip r:embed="rId4"/>
          <a:stretch>
            <a:fillRect/>
          </a:stretch>
        </p:blipFill>
        <p:spPr>
          <a:xfrm>
            <a:off x="1116040" y="3787352"/>
            <a:ext cx="1716115" cy="2244187"/>
          </a:xfrm>
          <a:prstGeom prst="rect">
            <a:avLst/>
          </a:prstGeom>
        </p:spPr>
      </p:pic>
      <p:pic>
        <p:nvPicPr>
          <p:cNvPr id="9" name="图片 8"/>
          <p:cNvPicPr>
            <a:picLocks noChangeAspect="1"/>
          </p:cNvPicPr>
          <p:nvPr/>
        </p:nvPicPr>
        <p:blipFill rotWithShape="1">
          <a:blip r:embed="rId3"/>
          <a:srcRect l="33712"/>
          <a:stretch/>
        </p:blipFill>
        <p:spPr>
          <a:xfrm>
            <a:off x="3270339" y="3758649"/>
            <a:ext cx="5824453" cy="2371141"/>
          </a:xfrm>
          <a:prstGeom prst="rect">
            <a:avLst/>
          </a:prstGeom>
        </p:spPr>
      </p:pic>
      <p:sp>
        <p:nvSpPr>
          <p:cNvPr id="5" name="下箭头 4"/>
          <p:cNvSpPr/>
          <p:nvPr/>
        </p:nvSpPr>
        <p:spPr>
          <a:xfrm>
            <a:off x="6073905" y="3281190"/>
            <a:ext cx="315735" cy="32305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0299928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内容占位符 2"/>
              <p:cNvSpPr>
                <a:spLocks noGrp="1"/>
              </p:cNvSpPr>
              <p:nvPr>
                <p:ph idx="1"/>
              </p:nvPr>
            </p:nvSpPr>
            <p:spPr>
              <a:xfrm>
                <a:off x="628650" y="1316831"/>
                <a:ext cx="7886700" cy="4351338"/>
              </a:xfrm>
            </p:spPr>
            <p:txBody>
              <a:bodyPr/>
              <a:lstStyle/>
              <a:p>
                <a:r>
                  <a:rPr lang="zh-CN" altLang="en-US" sz="2400" dirty="0"/>
                  <a:t>透视投影的概念</a:t>
                </a:r>
                <a:endParaRPr lang="en-US" altLang="zh-CN" sz="2400" dirty="0"/>
              </a:p>
              <a:p>
                <a:pPr lvl="1">
                  <a:buClr>
                    <a:schemeClr val="tx1"/>
                  </a:buClr>
                </a:pPr>
                <a:r>
                  <a:rPr lang="zh-CN" altLang="en-US" sz="1800" b="1" dirty="0">
                    <a:solidFill>
                      <a:srgbClr val="0000FF"/>
                    </a:solidFill>
                  </a:rPr>
                  <a:t>投影中心</a:t>
                </a:r>
                <a:r>
                  <a:rPr lang="zh-CN" altLang="en-US" sz="1800" b="1" dirty="0"/>
                  <a:t>在</a:t>
                </a:r>
                <a:r>
                  <a:rPr lang="zh-CN" altLang="en-US" sz="1800" b="1" dirty="0">
                    <a:solidFill>
                      <a:srgbClr val="FF0000"/>
                    </a:solidFill>
                  </a:rPr>
                  <a:t>原点</a:t>
                </a:r>
                <a:endParaRPr lang="en-US" altLang="zh-CN" sz="1800" b="1" dirty="0">
                  <a:solidFill>
                    <a:srgbClr val="FF0000"/>
                  </a:solidFill>
                </a:endParaRPr>
              </a:p>
              <a:p>
                <a:pPr lvl="1">
                  <a:buClr>
                    <a:schemeClr val="tx1"/>
                  </a:buClr>
                </a:pPr>
                <a:r>
                  <a:rPr lang="zh-CN" altLang="en-US" sz="1800" b="1" dirty="0">
                    <a:solidFill>
                      <a:srgbClr val="0000FF"/>
                    </a:solidFill>
                  </a:rPr>
                  <a:t>投影平面</a:t>
                </a:r>
                <a:r>
                  <a:rPr lang="zh-CN" altLang="en-US" sz="1800" b="1" dirty="0"/>
                  <a:t>为</a:t>
                </a:r>
                <a14:m>
                  <m:oMath xmlns:m="http://schemas.openxmlformats.org/officeDocument/2006/math">
                    <m:r>
                      <a:rPr lang="en-US" altLang="zh-CN" sz="1800" b="1" i="1" dirty="0" smtClean="0">
                        <a:solidFill>
                          <a:srgbClr val="FF0000"/>
                        </a:solidFill>
                        <a:latin typeface="Cambria Math" charset="0"/>
                      </a:rPr>
                      <m:t>𝒛</m:t>
                    </m:r>
                    <m:r>
                      <a:rPr lang="en-US" altLang="zh-CN" sz="1800" b="1" i="1" dirty="0" smtClean="0">
                        <a:solidFill>
                          <a:srgbClr val="FF0000"/>
                        </a:solidFill>
                        <a:latin typeface="Cambria Math" charset="0"/>
                      </a:rPr>
                      <m:t>=</m:t>
                    </m:r>
                    <m:r>
                      <a:rPr lang="en-US" altLang="zh-CN" sz="1800" b="1" i="1" dirty="0" smtClean="0">
                        <a:solidFill>
                          <a:srgbClr val="FF0000"/>
                        </a:solidFill>
                        <a:latin typeface="Cambria Math" charset="0"/>
                      </a:rPr>
                      <m:t>𝒅</m:t>
                    </m:r>
                    <m:r>
                      <a:rPr lang="en-US" altLang="zh-CN" sz="1800" b="1" i="1" dirty="0" smtClean="0">
                        <a:solidFill>
                          <a:srgbClr val="FF0000"/>
                        </a:solidFill>
                        <a:latin typeface="Cambria Math" charset="0"/>
                      </a:rPr>
                      <m:t>, </m:t>
                    </m:r>
                    <m:r>
                      <a:rPr lang="en-US" altLang="zh-CN" sz="1800" b="1" i="1" dirty="0" smtClean="0">
                        <a:solidFill>
                          <a:srgbClr val="FF0000"/>
                        </a:solidFill>
                        <a:latin typeface="Cambria Math" charset="0"/>
                      </a:rPr>
                      <m:t>𝒅</m:t>
                    </m:r>
                    <m:r>
                      <a:rPr lang="en-US" altLang="zh-CN" sz="1800" b="1" i="1" dirty="0" smtClean="0">
                        <a:solidFill>
                          <a:srgbClr val="FF0000"/>
                        </a:solidFill>
                        <a:latin typeface="Cambria Math" charset="0"/>
                      </a:rPr>
                      <m:t>&lt;</m:t>
                    </m:r>
                    <m:r>
                      <a:rPr lang="en-US" altLang="zh-CN" sz="1800" b="1" i="1" dirty="0" smtClean="0">
                        <a:solidFill>
                          <a:srgbClr val="FF0000"/>
                        </a:solidFill>
                        <a:latin typeface="Cambria Math" charset="0"/>
                      </a:rPr>
                      <m:t>𝟎</m:t>
                    </m:r>
                  </m:oMath>
                </a14:m>
                <a:endParaRPr lang="en-US" altLang="zh-CN" sz="1800" b="1" dirty="0">
                  <a:solidFill>
                    <a:srgbClr val="FF0000"/>
                  </a:solidFill>
                </a:endParaRPr>
              </a:p>
              <a:p>
                <a:pPr lvl="1">
                  <a:buClr>
                    <a:schemeClr val="tx1"/>
                  </a:buClr>
                </a:pPr>
                <a:r>
                  <a:rPr lang="zh-CN" altLang="en-US" sz="1800" dirty="0"/>
                  <a:t>近大远小</a:t>
                </a:r>
                <a:endParaRPr lang="en-US" altLang="zh-CN" sz="2400" dirty="0"/>
              </a:p>
              <a:p>
                <a:pPr marL="0" indent="0">
                  <a:buNone/>
                </a:pPr>
                <a:endParaRPr lang="en-US" altLang="zh-CN" sz="2400" dirty="0"/>
              </a:p>
              <a:p>
                <a:r>
                  <a:rPr lang="zh-CN" altLang="en-US" sz="2400" dirty="0"/>
                  <a:t>透视方程：</a:t>
                </a:r>
                <a:endParaRPr lang="en-US" altLang="zh-CN" sz="1800" dirty="0"/>
              </a:p>
              <a:p>
                <a:endParaRPr lang="zh-CN" altLang="en-US" dirty="0"/>
              </a:p>
            </p:txBody>
          </p:sp>
        </mc:Choice>
        <mc:Fallback xmlns="">
          <p:sp>
            <p:nvSpPr>
              <p:cNvPr id="10" name="内容占位符 2"/>
              <p:cNvSpPr>
                <a:spLocks noGrp="1" noRot="1" noChangeAspect="1" noMove="1" noResize="1" noEditPoints="1" noAdjustHandles="1" noChangeArrowheads="1" noChangeShapeType="1" noTextEdit="1"/>
              </p:cNvSpPr>
              <p:nvPr>
                <p:ph idx="1"/>
              </p:nvPr>
            </p:nvSpPr>
            <p:spPr>
              <a:xfrm>
                <a:off x="628650" y="1316831"/>
                <a:ext cx="7886700" cy="4351338"/>
              </a:xfrm>
              <a:blipFill>
                <a:blip r:embed="rId3"/>
                <a:stretch>
                  <a:fillRect l="-309" t="-1961"/>
                </a:stretch>
              </a:blipFill>
            </p:spPr>
            <p:txBody>
              <a:bodyPr/>
              <a:lstStyle/>
              <a:p>
                <a:r>
                  <a:rPr lang="zh-CN" altLang="en-US">
                    <a:noFill/>
                  </a:rPr>
                  <a:t> </a:t>
                </a:r>
              </a:p>
            </p:txBody>
          </p:sp>
        </mc:Fallback>
      </mc:AlternateContent>
      <p:sp>
        <p:nvSpPr>
          <p:cNvPr id="2" name="标题 1"/>
          <p:cNvSpPr>
            <a:spLocks noGrp="1"/>
          </p:cNvSpPr>
          <p:nvPr>
            <p:ph type="title"/>
          </p:nvPr>
        </p:nvSpPr>
        <p:spPr/>
        <p:txBody>
          <a:bodyPr/>
          <a:lstStyle/>
          <a:p>
            <a:r>
              <a:rPr lang="zh-CN" altLang="en-US" dirty="0" smtClean="0"/>
              <a:t>简单透视</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22</a:t>
            </a:fld>
            <a:endParaRPr lang="zh-CN" altLang="en-US" dirty="0"/>
          </a:p>
        </p:txBody>
      </p:sp>
      <p:pic>
        <p:nvPicPr>
          <p:cNvPr id="7" name="图片 6"/>
          <p:cNvPicPr>
            <a:picLocks noChangeAspect="1"/>
          </p:cNvPicPr>
          <p:nvPr/>
        </p:nvPicPr>
        <p:blipFill>
          <a:blip r:embed="rId4"/>
          <a:stretch>
            <a:fillRect/>
          </a:stretch>
        </p:blipFill>
        <p:spPr>
          <a:xfrm>
            <a:off x="2873688" y="3268168"/>
            <a:ext cx="6104917" cy="2493724"/>
          </a:xfrm>
          <a:prstGeom prst="rect">
            <a:avLst/>
          </a:prstGeom>
        </p:spPr>
      </p:pic>
      <p:sp>
        <p:nvSpPr>
          <p:cNvPr id="8" name="文本框 7"/>
          <p:cNvSpPr txBox="1"/>
          <p:nvPr/>
        </p:nvSpPr>
        <p:spPr>
          <a:xfrm>
            <a:off x="6659665" y="3187037"/>
            <a:ext cx="1723549" cy="400110"/>
          </a:xfrm>
          <a:prstGeom prst="rect">
            <a:avLst/>
          </a:prstGeom>
          <a:noFill/>
        </p:spPr>
        <p:txBody>
          <a:bodyPr wrap="none" rtlCol="0">
            <a:spAutoFit/>
          </a:bodyPr>
          <a:lstStyle/>
          <a:p>
            <a:pPr algn="ctr"/>
            <a:r>
              <a:rPr lang="zh-CN" altLang="en-US" sz="2000" b="1" dirty="0">
                <a:solidFill>
                  <a:srgbClr val="0000FF"/>
                </a:solidFill>
                <a:latin typeface="微软雅黑" panose="020B0503020204020204" pitchFamily="34" charset="-122"/>
                <a:ea typeface="微软雅黑" panose="020B0503020204020204" pitchFamily="34" charset="-122"/>
              </a:rPr>
              <a:t>齐次坐标表达</a:t>
            </a:r>
          </a:p>
        </p:txBody>
      </p:sp>
      <p:pic>
        <p:nvPicPr>
          <p:cNvPr id="11" name="图片 10"/>
          <p:cNvPicPr>
            <a:picLocks noChangeAspect="1"/>
          </p:cNvPicPr>
          <p:nvPr/>
        </p:nvPicPr>
        <p:blipFill rotWithShape="1">
          <a:blip r:embed="rId5"/>
          <a:srcRect r="-64"/>
          <a:stretch/>
        </p:blipFill>
        <p:spPr>
          <a:xfrm>
            <a:off x="3956932" y="1410554"/>
            <a:ext cx="5160722" cy="1361199"/>
          </a:xfrm>
          <a:prstGeom prst="rect">
            <a:avLst/>
          </a:prstGeom>
        </p:spPr>
      </p:pic>
      <p:pic>
        <p:nvPicPr>
          <p:cNvPr id="12" name="图片 11"/>
          <p:cNvPicPr>
            <a:picLocks noChangeAspect="1"/>
          </p:cNvPicPr>
          <p:nvPr/>
        </p:nvPicPr>
        <p:blipFill>
          <a:blip r:embed="rId6"/>
          <a:stretch>
            <a:fillRect/>
          </a:stretch>
        </p:blipFill>
        <p:spPr>
          <a:xfrm>
            <a:off x="1116040" y="3787352"/>
            <a:ext cx="1716115" cy="2244187"/>
          </a:xfrm>
          <a:prstGeom prst="rect">
            <a:avLst/>
          </a:prstGeom>
        </p:spPr>
      </p:pic>
    </p:spTree>
    <p:extLst>
      <p:ext uri="{BB962C8B-B14F-4D97-AF65-F5344CB8AC3E}">
        <p14:creationId xmlns:p14="http://schemas.microsoft.com/office/powerpoint/2010/main" val="286695441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透视除法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2400" dirty="0"/>
                  <a:t>如果</a:t>
                </a:r>
                <a14:m>
                  <m:oMath xmlns:m="http://schemas.openxmlformats.org/officeDocument/2006/math">
                    <m:r>
                      <a:rPr lang="en-US" altLang="zh-CN" sz="2400" i="1" dirty="0" smtClean="0">
                        <a:latin typeface="Cambria Math" charset="0"/>
                      </a:rPr>
                      <m:t>𝑤</m:t>
                    </m:r>
                    <m:r>
                      <a:rPr lang="en-US" altLang="zh-CN" sz="2400" i="1" dirty="0" smtClean="0">
                        <a:latin typeface="Cambria Math" charset="0"/>
                      </a:rPr>
                      <m:t>≠1</m:t>
                    </m:r>
                  </m:oMath>
                </a14:m>
                <a:r>
                  <a:rPr lang="en-US" altLang="zh-CN" sz="2400" dirty="0"/>
                  <a:t>, </a:t>
                </a:r>
                <a:r>
                  <a:rPr lang="zh-CN" altLang="en-US" sz="2400" dirty="0"/>
                  <a:t>那么必须从齐次坐标中除以</a:t>
                </a:r>
                <a14:m>
                  <m:oMath xmlns:m="http://schemas.openxmlformats.org/officeDocument/2006/math">
                    <m:r>
                      <a:rPr lang="en-US" altLang="zh-CN" sz="2400" i="1" dirty="0" smtClean="0">
                        <a:latin typeface="Cambria Math" charset="0"/>
                      </a:rPr>
                      <m:t>𝑤</m:t>
                    </m:r>
                  </m:oMath>
                </a14:m>
                <a:r>
                  <a:rPr lang="zh-CN" altLang="en-US" sz="2400" dirty="0"/>
                  <a:t>而得到所表示</a:t>
                </a:r>
                <a:endParaRPr lang="en-US" altLang="zh-CN" sz="2400" dirty="0"/>
              </a:p>
              <a:p>
                <a:pPr marL="0" indent="0">
                  <a:buNone/>
                </a:pPr>
                <a:r>
                  <a:rPr lang="en-US" altLang="zh-CN" sz="2400" dirty="0"/>
                  <a:t>    </a:t>
                </a:r>
                <a:r>
                  <a:rPr lang="zh-CN" altLang="en-US" sz="2400" dirty="0"/>
                  <a:t>的点，这就是</a:t>
                </a:r>
                <a:r>
                  <a:rPr lang="zh-CN" altLang="en-US" sz="2400" b="1" dirty="0">
                    <a:solidFill>
                      <a:srgbClr val="0000FF"/>
                    </a:solidFill>
                  </a:rPr>
                  <a:t>透视除法</a:t>
                </a:r>
                <a:endParaRPr lang="zh-CN" altLang="en-US" b="1" dirty="0">
                  <a:solidFill>
                    <a:srgbClr val="0000FF"/>
                  </a:solidFill>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9" t="-1961" r="-54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23</a:t>
            </a:fld>
            <a:endParaRPr lang="zh-CN" altLang="en-US"/>
          </a:p>
        </p:txBody>
      </p:sp>
      <p:pic>
        <p:nvPicPr>
          <p:cNvPr id="6" name="图片 5"/>
          <p:cNvPicPr>
            <a:picLocks noChangeAspect="1"/>
          </p:cNvPicPr>
          <p:nvPr/>
        </p:nvPicPr>
        <p:blipFill>
          <a:blip r:embed="rId3"/>
          <a:stretch>
            <a:fillRect/>
          </a:stretch>
        </p:blipFill>
        <p:spPr>
          <a:xfrm>
            <a:off x="746159" y="2615033"/>
            <a:ext cx="7940701" cy="963533"/>
          </a:xfrm>
          <a:prstGeom prst="rect">
            <a:avLst/>
          </a:prstGeom>
        </p:spPr>
      </p:pic>
      <p:pic>
        <p:nvPicPr>
          <p:cNvPr id="8" name="图片 7"/>
          <p:cNvPicPr>
            <a:picLocks noChangeAspect="1"/>
          </p:cNvPicPr>
          <p:nvPr/>
        </p:nvPicPr>
        <p:blipFill>
          <a:blip r:embed="rId4"/>
          <a:stretch>
            <a:fillRect/>
          </a:stretch>
        </p:blipFill>
        <p:spPr>
          <a:xfrm>
            <a:off x="1561941" y="4046957"/>
            <a:ext cx="2095658" cy="2280860"/>
          </a:xfrm>
          <a:prstGeom prst="rect">
            <a:avLst/>
          </a:prstGeom>
        </p:spPr>
      </p:pic>
      <p:pic>
        <p:nvPicPr>
          <p:cNvPr id="9" name="图片 8"/>
          <p:cNvPicPr>
            <a:picLocks noChangeAspect="1"/>
          </p:cNvPicPr>
          <p:nvPr/>
        </p:nvPicPr>
        <p:blipFill>
          <a:blip r:embed="rId5"/>
          <a:stretch>
            <a:fillRect/>
          </a:stretch>
        </p:blipFill>
        <p:spPr>
          <a:xfrm>
            <a:off x="5395078" y="3969498"/>
            <a:ext cx="2274450" cy="2435778"/>
          </a:xfrm>
          <a:prstGeom prst="rect">
            <a:avLst/>
          </a:prstGeom>
        </p:spPr>
      </p:pic>
      <p:sp>
        <p:nvSpPr>
          <p:cNvPr id="10" name="箭头: 右 9"/>
          <p:cNvSpPr/>
          <p:nvPr/>
        </p:nvSpPr>
        <p:spPr>
          <a:xfrm>
            <a:off x="4241837" y="4912664"/>
            <a:ext cx="614837" cy="5494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9350237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3390127" y="3533666"/>
            <a:ext cx="5219828" cy="3141771"/>
          </a:xfrm>
          <a:prstGeom prst="rect">
            <a:avLst/>
          </a:prstGeom>
        </p:spPr>
      </p:pic>
      <p:sp>
        <p:nvSpPr>
          <p:cNvPr id="2" name="标题 1"/>
          <p:cNvSpPr>
            <a:spLocks noGrp="1"/>
          </p:cNvSpPr>
          <p:nvPr>
            <p:ph type="title"/>
          </p:nvPr>
        </p:nvSpPr>
        <p:spPr/>
        <p:txBody>
          <a:bodyPr/>
          <a:lstStyle/>
          <a:p>
            <a:r>
              <a:rPr lang="en-US" altLang="zh-CN" dirty="0"/>
              <a:t>OpenGL</a:t>
            </a:r>
            <a:r>
              <a:rPr lang="zh-CN" altLang="en-US" dirty="0"/>
              <a:t>的透视投影</a:t>
            </a:r>
          </a:p>
        </p:txBody>
      </p:sp>
      <p:sp>
        <p:nvSpPr>
          <p:cNvPr id="3" name="内容占位符 2"/>
          <p:cNvSpPr>
            <a:spLocks noGrp="1"/>
          </p:cNvSpPr>
          <p:nvPr>
            <p:ph idx="1"/>
          </p:nvPr>
        </p:nvSpPr>
        <p:spPr/>
        <p:txBody>
          <a:bodyPr>
            <a:normAutofit/>
          </a:bodyPr>
          <a:lstStyle/>
          <a:p>
            <a:r>
              <a:rPr lang="zh-CN" altLang="en-US" dirty="0"/>
              <a:t>可视范围</a:t>
            </a:r>
            <a:endParaRPr lang="en-US" altLang="zh-CN" sz="2400" dirty="0"/>
          </a:p>
          <a:p>
            <a:pPr lvl="1">
              <a:buClr>
                <a:schemeClr val="tx1"/>
              </a:buClr>
            </a:pPr>
            <a:r>
              <a:rPr lang="zh-CN" altLang="en-US" sz="1800" dirty="0"/>
              <a:t>只有位于视角内的对象才会出</a:t>
            </a:r>
          </a:p>
          <a:p>
            <a:pPr marL="457200" lvl="1" indent="0">
              <a:buClr>
                <a:schemeClr val="tx1"/>
              </a:buClr>
              <a:buNone/>
            </a:pPr>
            <a:r>
              <a:rPr lang="zh-CN" altLang="en-US" sz="1800" dirty="0"/>
              <a:t>   现在视图中</a:t>
            </a:r>
            <a:endParaRPr lang="en-US" altLang="zh-CN" dirty="0"/>
          </a:p>
          <a:p>
            <a:endParaRPr lang="en-US" altLang="zh-CN" sz="3000" dirty="0"/>
          </a:p>
          <a:p>
            <a:r>
              <a:rPr lang="zh-CN" altLang="en-US" dirty="0" smtClean="0"/>
              <a:t>视见体</a:t>
            </a:r>
            <a:endParaRPr lang="en-US" altLang="zh-CN" dirty="0"/>
          </a:p>
          <a:p>
            <a:pPr lvl="1">
              <a:buClr>
                <a:schemeClr val="tx1"/>
              </a:buClr>
            </a:pPr>
            <a:r>
              <a:rPr lang="zh-CN" altLang="en-US" sz="1800" dirty="0"/>
              <a:t>若胶卷是矩形的，那么由视角张成</a:t>
            </a:r>
            <a:endParaRPr lang="en-US" altLang="zh-CN" sz="1800" dirty="0"/>
          </a:p>
          <a:p>
            <a:pPr marL="457200" lvl="1" indent="0">
              <a:buClr>
                <a:schemeClr val="tx1"/>
              </a:buClr>
              <a:buNone/>
            </a:pPr>
            <a:r>
              <a:rPr lang="zh-CN" altLang="en-US" sz="1800" dirty="0"/>
              <a:t>    一个半无穷的棱台，这称为视见体</a:t>
            </a:r>
          </a:p>
          <a:p>
            <a:pPr lvl="1">
              <a:buClr>
                <a:schemeClr val="tx1"/>
              </a:buClr>
            </a:pPr>
            <a:r>
              <a:rPr lang="zh-CN" altLang="en-US" sz="1800" dirty="0"/>
              <a:t>其顶点就是</a:t>
            </a:r>
            <a:r>
              <a:rPr lang="en-US" altLang="zh-CN" sz="1800" dirty="0"/>
              <a:t>COP</a:t>
            </a:r>
          </a:p>
          <a:p>
            <a:pPr lvl="1">
              <a:buClr>
                <a:schemeClr val="tx1"/>
              </a:buClr>
            </a:pPr>
            <a:r>
              <a:rPr lang="zh-CN" altLang="en-US" sz="1800" dirty="0"/>
              <a:t>但实际的视景体通常有前后裁剪面</a:t>
            </a:r>
          </a:p>
          <a:p>
            <a:pPr lvl="1">
              <a:buClr>
                <a:schemeClr val="tx1"/>
              </a:buClr>
            </a:pPr>
            <a:r>
              <a:rPr lang="zh-CN" altLang="en-US" sz="1800" dirty="0"/>
              <a:t>不在视景体内的物体被裁剪掉</a:t>
            </a:r>
            <a:endParaRPr lang="en-US" altLang="zh-CN" dirty="0"/>
          </a:p>
          <a:p>
            <a:pPr lvl="1">
              <a:buClr>
                <a:schemeClr val="tx1"/>
              </a:buClr>
            </a:pPr>
            <a:endParaRPr lang="en-US" altLang="zh-CN" sz="1800" dirty="0"/>
          </a:p>
          <a:p>
            <a:pPr lvl="1">
              <a:buClr>
                <a:schemeClr val="tx1"/>
              </a:buClr>
            </a:pPr>
            <a:endParaRPr lang="en-US" altLang="zh-CN" sz="1800" dirty="0"/>
          </a:p>
          <a:p>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24</a:t>
            </a:fld>
            <a:endParaRPr lang="zh-CN" altLang="en-US"/>
          </a:p>
        </p:txBody>
      </p:sp>
      <p:pic>
        <p:nvPicPr>
          <p:cNvPr id="5" name="图片 4"/>
          <p:cNvPicPr>
            <a:picLocks noChangeAspect="1"/>
          </p:cNvPicPr>
          <p:nvPr/>
        </p:nvPicPr>
        <p:blipFill>
          <a:blip r:embed="rId3"/>
          <a:stretch>
            <a:fillRect/>
          </a:stretch>
        </p:blipFill>
        <p:spPr>
          <a:xfrm>
            <a:off x="5379883" y="628650"/>
            <a:ext cx="3230072" cy="2877273"/>
          </a:xfrm>
          <a:prstGeom prst="rect">
            <a:avLst/>
          </a:prstGeom>
        </p:spPr>
      </p:pic>
    </p:spTree>
    <p:extLst>
      <p:ext uri="{BB962C8B-B14F-4D97-AF65-F5344CB8AC3E}">
        <p14:creationId xmlns:p14="http://schemas.microsoft.com/office/powerpoint/2010/main" val="317154137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4368921" y="905208"/>
            <a:ext cx="4775079" cy="2567054"/>
          </a:xfrm>
          <a:prstGeom prst="rect">
            <a:avLst/>
          </a:prstGeom>
        </p:spPr>
      </p:pic>
      <p:pic>
        <p:nvPicPr>
          <p:cNvPr id="8" name="图片 7"/>
          <p:cNvPicPr>
            <a:picLocks noChangeAspect="1"/>
          </p:cNvPicPr>
          <p:nvPr/>
        </p:nvPicPr>
        <p:blipFill>
          <a:blip r:embed="rId3"/>
          <a:stretch>
            <a:fillRect/>
          </a:stretch>
        </p:blipFill>
        <p:spPr>
          <a:xfrm>
            <a:off x="4422352" y="3472262"/>
            <a:ext cx="4171455" cy="3181546"/>
          </a:xfrm>
          <a:prstGeom prst="rect">
            <a:avLst/>
          </a:prstGeom>
        </p:spPr>
      </p:pic>
      <p:sp>
        <p:nvSpPr>
          <p:cNvPr id="2" name="标题 1"/>
          <p:cNvSpPr>
            <a:spLocks noGrp="1"/>
          </p:cNvSpPr>
          <p:nvPr>
            <p:ph type="title"/>
          </p:nvPr>
        </p:nvSpPr>
        <p:spPr/>
        <p:txBody>
          <a:bodyPr/>
          <a:lstStyle/>
          <a:p>
            <a:r>
              <a:rPr lang="en-US" altLang="zh-CN" dirty="0"/>
              <a:t>OpenGL</a:t>
            </a:r>
            <a:r>
              <a:rPr lang="zh-CN" altLang="en-US" dirty="0"/>
              <a:t>的透视投影函数</a:t>
            </a:r>
          </a:p>
        </p:txBody>
      </p:sp>
      <p:sp>
        <p:nvSpPr>
          <p:cNvPr id="3" name="内容占位符 2"/>
          <p:cNvSpPr>
            <a:spLocks noGrp="1"/>
          </p:cNvSpPr>
          <p:nvPr>
            <p:ph idx="1"/>
          </p:nvPr>
        </p:nvSpPr>
        <p:spPr/>
        <p:txBody>
          <a:bodyPr>
            <a:normAutofit/>
          </a:bodyPr>
          <a:lstStyle/>
          <a:p>
            <a:r>
              <a:rPr lang="zh-CN" altLang="en-US" dirty="0"/>
              <a:t>视见体函数</a:t>
            </a:r>
            <a:endParaRPr lang="en-US" altLang="zh-CN" dirty="0"/>
          </a:p>
          <a:p>
            <a:endParaRPr lang="en-US" altLang="zh-CN" dirty="0"/>
          </a:p>
          <a:p>
            <a:endParaRPr lang="en-US" altLang="zh-CN" dirty="0"/>
          </a:p>
          <a:p>
            <a:endParaRPr lang="en-US" altLang="zh-CN" dirty="0"/>
          </a:p>
          <a:p>
            <a:endParaRPr lang="en-US" altLang="zh-CN" dirty="0"/>
          </a:p>
          <a:p>
            <a:endParaRPr lang="en-US" altLang="zh-CN" dirty="0" smtClean="0"/>
          </a:p>
          <a:p>
            <a:r>
              <a:rPr lang="zh-CN" altLang="en-US" dirty="0" smtClean="0"/>
              <a:t>透视</a:t>
            </a:r>
            <a:r>
              <a:rPr lang="zh-CN" altLang="en-US" dirty="0"/>
              <a:t>函数：</a:t>
            </a:r>
            <a:r>
              <a:rPr lang="en-US" altLang="zh-CN" dirty="0"/>
              <a:t>  </a:t>
            </a:r>
          </a:p>
          <a:p>
            <a:endParaRPr lang="en-US" altLang="zh-CN" dirty="0"/>
          </a:p>
          <a:p>
            <a:pPr marL="457200" lvl="1" indent="0">
              <a:buClr>
                <a:schemeClr val="tx1"/>
              </a:buClr>
              <a:buNone/>
            </a:pPr>
            <a:endParaRPr lang="en-US" altLang="zh-CN" sz="1800" dirty="0"/>
          </a:p>
          <a:p>
            <a:pPr lvl="1">
              <a:buClr>
                <a:schemeClr val="tx1"/>
              </a:buClr>
            </a:pPr>
            <a:endParaRPr lang="en-US" altLang="zh-CN" sz="1800" dirty="0"/>
          </a:p>
          <a:p>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25</a:t>
            </a:fld>
            <a:endParaRPr lang="zh-CN" altLang="en-US"/>
          </a:p>
        </p:txBody>
      </p:sp>
      <p:sp>
        <p:nvSpPr>
          <p:cNvPr id="5" name="矩形 4"/>
          <p:cNvSpPr/>
          <p:nvPr/>
        </p:nvSpPr>
        <p:spPr>
          <a:xfrm>
            <a:off x="764750" y="1934757"/>
            <a:ext cx="3447257" cy="1754326"/>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Frustum(</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left,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right,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smtClean="0">
                <a:latin typeface="ZztexMono-Regular"/>
              </a:rPr>
              <a:t>bottom,</a:t>
            </a:r>
          </a:p>
          <a:p>
            <a:pPr lvl="3"/>
            <a:r>
              <a:rPr lang="en-US" altLang="zh-CN" b="1" dirty="0">
                <a:solidFill>
                  <a:srgbClr val="0000FF"/>
                </a:solidFill>
                <a:latin typeface="ZztexMono-Regular"/>
              </a:rPr>
              <a:t> </a:t>
            </a:r>
            <a:r>
              <a:rPr lang="en-US" altLang="zh-CN" b="1" dirty="0" err="1" smtClean="0">
                <a:solidFill>
                  <a:srgbClr val="0000FF"/>
                </a:solidFill>
                <a:latin typeface="ZztexMono-Regular"/>
              </a:rPr>
              <a:t>GLfloat</a:t>
            </a:r>
            <a:r>
              <a:rPr lang="en-US" altLang="zh-CN" b="1" dirty="0" smtClean="0">
                <a:solidFill>
                  <a:srgbClr val="0000FF"/>
                </a:solidFill>
                <a:latin typeface="ZztexMono-Regular"/>
              </a:rPr>
              <a:t> </a:t>
            </a:r>
            <a:r>
              <a:rPr lang="en-US" altLang="zh-CN" b="1" dirty="0" smtClean="0">
                <a:latin typeface="ZztexMono-Regular"/>
              </a:rPr>
              <a:t>top,</a:t>
            </a:r>
          </a:p>
          <a:p>
            <a:pPr lvl="3"/>
            <a:r>
              <a:rPr lang="en-US" altLang="zh-CN" b="1" dirty="0" smtClean="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sp>
        <p:nvSpPr>
          <p:cNvPr id="7" name="矩形 6"/>
          <p:cNvSpPr/>
          <p:nvPr/>
        </p:nvSpPr>
        <p:spPr>
          <a:xfrm>
            <a:off x="764750" y="4941842"/>
            <a:ext cx="3982864" cy="1200329"/>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Perspective(</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smtClean="0">
                <a:latin typeface="ZztexMono-Regular"/>
              </a:rPr>
              <a:t>fovy</a:t>
            </a:r>
            <a:r>
              <a:rPr lang="en-US" altLang="zh-CN" b="1" dirty="0" smtClean="0">
                <a:latin typeface="ZztexMono-Regular"/>
              </a:rPr>
              <a:t>,</a:t>
            </a:r>
            <a:endParaRPr lang="en-US" altLang="zh-CN" b="1" dirty="0">
              <a:solidFill>
                <a:srgbClr val="0000FF"/>
              </a:solidFill>
              <a:latin typeface="ZztexMono-Regular"/>
            </a:endParaRPr>
          </a:p>
          <a:p>
            <a:r>
              <a:rPr lang="en-US" altLang="zh-CN" b="1" dirty="0">
                <a:solidFill>
                  <a:srgbClr val="0000FF"/>
                </a:solidFill>
                <a:latin typeface="ZztexMono-Regular"/>
              </a:rPr>
              <a:t>	</a:t>
            </a:r>
            <a:r>
              <a:rPr lang="en-US" altLang="zh-CN" b="1" dirty="0" smtClean="0">
                <a:solidFill>
                  <a:srgbClr val="0000FF"/>
                </a:solidFill>
                <a:latin typeface="ZztexMono-Regular"/>
              </a:rPr>
              <a:t>	 </a:t>
            </a:r>
            <a:r>
              <a:rPr lang="en-US" altLang="zh-CN" b="1" dirty="0" err="1" smtClean="0">
                <a:solidFill>
                  <a:srgbClr val="0000FF"/>
                </a:solidFill>
                <a:latin typeface="ZztexMono-Regular"/>
              </a:rPr>
              <a:t>GLfloat</a:t>
            </a:r>
            <a:r>
              <a:rPr lang="en-US" altLang="zh-CN" b="1" dirty="0" smtClean="0">
                <a:solidFill>
                  <a:srgbClr val="0000FF"/>
                </a:solidFill>
                <a:latin typeface="ZztexMono-Regular"/>
              </a:rPr>
              <a:t> </a:t>
            </a:r>
            <a:r>
              <a:rPr lang="en-US" altLang="zh-CN" b="1" dirty="0">
                <a:latin typeface="ZztexMono-Regular"/>
              </a:rPr>
              <a:t>aspect,</a:t>
            </a:r>
            <a:r>
              <a:rPr lang="en-US" altLang="zh-CN" b="1" dirty="0">
                <a:solidFill>
                  <a:srgbClr val="0000FF"/>
                </a:solidFill>
                <a:latin typeface="ZztexMono-Regular"/>
              </a:rPr>
              <a:t> </a:t>
            </a:r>
            <a:r>
              <a:rPr lang="zh-CN" altLang="en-US" b="1" dirty="0" smtClean="0">
                <a:solidFill>
                  <a:srgbClr val="0000FF"/>
                </a:solidFill>
                <a:latin typeface="ZztexMono-Regular"/>
              </a:rPr>
              <a:t> </a:t>
            </a:r>
            <a:r>
              <a:rPr lang="en-US" altLang="zh-CN" b="1" dirty="0" smtClean="0">
                <a:solidFill>
                  <a:srgbClr val="0000FF"/>
                </a:solidFill>
                <a:latin typeface="ZztexMono-Regular"/>
              </a:rPr>
              <a:t>	</a:t>
            </a:r>
            <a:r>
              <a:rPr lang="zh-CN" altLang="en-US" b="1" dirty="0" smtClean="0">
                <a:solidFill>
                  <a:srgbClr val="0000FF"/>
                </a:solidFill>
                <a:latin typeface="ZztexMono-Regular"/>
              </a:rPr>
              <a:t>  </a:t>
            </a:r>
            <a:r>
              <a:rPr lang="en-US" altLang="zh-CN" b="1" dirty="0" smtClean="0">
                <a:solidFill>
                  <a:srgbClr val="0000FF"/>
                </a:solidFill>
                <a:latin typeface="ZztexMono-Regular"/>
              </a:rPr>
              <a:t>	</a:t>
            </a:r>
            <a:r>
              <a:rPr lang="zh-CN" altLang="en-US" b="1" dirty="0" smtClean="0">
                <a:solidFill>
                  <a:srgbClr val="0000FF"/>
                </a:solidFill>
                <a:latin typeface="ZztexMono-Regular"/>
              </a:rPr>
              <a:t> </a:t>
            </a:r>
            <a:r>
              <a:rPr lang="en-US" altLang="zh-CN" b="1" dirty="0" err="1" smtClean="0">
                <a:solidFill>
                  <a:srgbClr val="0000FF"/>
                </a:solidFill>
                <a:latin typeface="ZztexMono-Regular"/>
              </a:rPr>
              <a:t>GLfloat</a:t>
            </a:r>
            <a:r>
              <a:rPr lang="en-US" altLang="zh-CN" b="1" dirty="0" smtClean="0">
                <a:solidFill>
                  <a:srgbClr val="0000FF"/>
                </a:solidFill>
                <a:latin typeface="ZztexMono-Regular"/>
              </a:rPr>
              <a:t> </a:t>
            </a:r>
            <a:r>
              <a:rPr lang="en-US" altLang="zh-CN" b="1" dirty="0">
                <a:latin typeface="ZztexMono-Regular"/>
              </a:rPr>
              <a:t>near, </a:t>
            </a:r>
            <a:r>
              <a:rPr lang="en-US" altLang="zh-CN" b="1" dirty="0" smtClean="0">
                <a:latin typeface="ZztexMono-Regular"/>
              </a:rPr>
              <a:t>		</a:t>
            </a:r>
            <a:r>
              <a:rPr lang="zh-CN" altLang="en-US" b="1" dirty="0" smtClean="0">
                <a:latin typeface="ZztexMono-Regular"/>
              </a:rPr>
              <a:t>         </a:t>
            </a:r>
            <a:r>
              <a:rPr lang="en-US" altLang="zh-CN" b="1" dirty="0" err="1" smtClean="0">
                <a:solidFill>
                  <a:srgbClr val="0000FF"/>
                </a:solidFill>
                <a:latin typeface="ZztexMono-Regular"/>
              </a:rPr>
              <a:t>GLfloat</a:t>
            </a:r>
            <a:r>
              <a:rPr lang="en-US" altLang="zh-CN" b="1" dirty="0" smtClean="0">
                <a:solidFill>
                  <a:srgbClr val="0000FF"/>
                </a:solidFill>
                <a:latin typeface="ZztexMono-Regular"/>
              </a:rPr>
              <a:t> </a:t>
            </a:r>
            <a:r>
              <a:rPr lang="en-US" altLang="zh-CN" b="1" dirty="0">
                <a:latin typeface="ZztexMono-Regular"/>
              </a:rPr>
              <a:t>far);</a:t>
            </a:r>
            <a:endParaRPr lang="zh-CN" altLang="en-US" dirty="0"/>
          </a:p>
        </p:txBody>
      </p:sp>
    </p:spTree>
    <p:extLst>
      <p:ext uri="{BB962C8B-B14F-4D97-AF65-F5344CB8AC3E}">
        <p14:creationId xmlns:p14="http://schemas.microsoft.com/office/powerpoint/2010/main" val="314025191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buClr>
                <a:srgbClr val="94003F"/>
              </a:buClr>
            </a:pPr>
            <a:r>
              <a:rPr lang="zh-CN" altLang="en-US" dirty="0"/>
              <a:t>透视中心在原点，透视平面在</a:t>
            </a:r>
            <a:r>
              <a:rPr lang="en-US" altLang="zh-CN" dirty="0"/>
              <a:t>z=-1</a:t>
            </a:r>
            <a:r>
              <a:rPr lang="zh-CN" altLang="en-US" dirty="0"/>
              <a:t>的变换矩阵：</a:t>
            </a:r>
            <a:endParaRPr lang="en-US" altLang="zh-CN" dirty="0"/>
          </a:p>
          <a:p>
            <a:pPr>
              <a:buClr>
                <a:srgbClr val="94003F"/>
              </a:buClr>
            </a:pPr>
            <a:endParaRPr lang="en-US" altLang="zh-CN" dirty="0"/>
          </a:p>
          <a:p>
            <a:pPr>
              <a:buClr>
                <a:srgbClr val="94003F"/>
              </a:buClr>
            </a:pPr>
            <a:endParaRPr lang="en-US" altLang="zh-CN" dirty="0"/>
          </a:p>
          <a:p>
            <a:pPr marL="0" indent="0">
              <a:buClr>
                <a:srgbClr val="94003F"/>
              </a:buClr>
              <a:buNone/>
            </a:pPr>
            <a:endParaRPr lang="en-US" altLang="zh-CN" dirty="0"/>
          </a:p>
          <a:p>
            <a:r>
              <a:rPr lang="zh-CN" altLang="en-US" dirty="0"/>
              <a:t>导出</a:t>
            </a:r>
            <a:r>
              <a:rPr lang="zh-CN" altLang="en-US" dirty="0">
                <a:solidFill>
                  <a:srgbClr val="0000FF"/>
                </a:solidFill>
              </a:rPr>
              <a:t>透视规范化矩阵</a:t>
            </a:r>
            <a:r>
              <a:rPr lang="zh-CN" altLang="en-US" dirty="0" smtClean="0"/>
              <a:t>：</a:t>
            </a:r>
            <a:endParaRPr lang="en-US" altLang="zh-CN" sz="1200" dirty="0"/>
          </a:p>
          <a:p>
            <a:pPr marL="457200" lvl="1" indent="0">
              <a:buClr>
                <a:schemeClr val="tx1"/>
              </a:buClr>
              <a:buNone/>
            </a:pPr>
            <a:endParaRPr lang="zh-CN" altLang="en-US" dirty="0"/>
          </a:p>
        </p:txBody>
      </p:sp>
      <p:pic>
        <p:nvPicPr>
          <p:cNvPr id="6" name="图片 5"/>
          <p:cNvPicPr>
            <a:picLocks noChangeAspect="1"/>
          </p:cNvPicPr>
          <p:nvPr/>
        </p:nvPicPr>
        <p:blipFill>
          <a:blip r:embed="rId2"/>
          <a:stretch>
            <a:fillRect/>
          </a:stretch>
        </p:blipFill>
        <p:spPr>
          <a:xfrm>
            <a:off x="5919123" y="2235167"/>
            <a:ext cx="2685141" cy="2189010"/>
          </a:xfrm>
          <a:prstGeom prst="rect">
            <a:avLst/>
          </a:prstGeom>
        </p:spPr>
      </p:pic>
      <p:sp>
        <p:nvSpPr>
          <p:cNvPr id="2" name="标题 1"/>
          <p:cNvSpPr>
            <a:spLocks noGrp="1"/>
          </p:cNvSpPr>
          <p:nvPr>
            <p:ph type="title"/>
          </p:nvPr>
        </p:nvSpPr>
        <p:spPr/>
        <p:txBody>
          <a:bodyPr/>
          <a:lstStyle/>
          <a:p>
            <a:r>
              <a:rPr lang="zh-CN" altLang="en-US" dirty="0" smtClean="0"/>
              <a:t>透视规范化</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26</a:t>
            </a:fld>
            <a:endParaRPr lang="zh-CN" altLang="en-US"/>
          </a:p>
        </p:txBody>
      </p:sp>
      <p:pic>
        <p:nvPicPr>
          <p:cNvPr id="5" name="图片 4"/>
          <p:cNvPicPr>
            <a:picLocks noChangeAspect="1"/>
          </p:cNvPicPr>
          <p:nvPr/>
        </p:nvPicPr>
        <p:blipFill>
          <a:blip r:embed="rId3"/>
          <a:stretch>
            <a:fillRect/>
          </a:stretch>
        </p:blipFill>
        <p:spPr>
          <a:xfrm>
            <a:off x="2705984" y="1961103"/>
            <a:ext cx="2062664" cy="1191000"/>
          </a:xfrm>
          <a:prstGeom prst="rect">
            <a:avLst/>
          </a:prstGeom>
        </p:spPr>
      </p:pic>
      <p:grpSp>
        <p:nvGrpSpPr>
          <p:cNvPr id="28" name="组合 27"/>
          <p:cNvGrpSpPr/>
          <p:nvPr/>
        </p:nvGrpSpPr>
        <p:grpSpPr>
          <a:xfrm>
            <a:off x="3950855" y="2846820"/>
            <a:ext cx="1715531" cy="504591"/>
            <a:chOff x="3950855" y="2846820"/>
            <a:chExt cx="1715531" cy="504591"/>
          </a:xfrm>
        </p:grpSpPr>
        <p:sp>
          <p:nvSpPr>
            <p:cNvPr id="15" name="线形标注 2(带强调线) 14"/>
            <p:cNvSpPr/>
            <p:nvPr/>
          </p:nvSpPr>
          <p:spPr>
            <a:xfrm>
              <a:off x="4956355" y="3160439"/>
              <a:ext cx="710031" cy="190972"/>
            </a:xfrm>
            <a:prstGeom prst="accentCallout2">
              <a:avLst>
                <a:gd name="adj1" fmla="val 48066"/>
                <a:gd name="adj2" fmla="val -7800"/>
                <a:gd name="adj3" fmla="val 39516"/>
                <a:gd name="adj4" fmla="val -37468"/>
                <a:gd name="adj5" fmla="val -29753"/>
                <a:gd name="adj6" fmla="val -89485"/>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d = -1</a:t>
              </a:r>
              <a:endParaRPr lang="zh-CN" altLang="en-US" dirty="0">
                <a:solidFill>
                  <a:schemeClr val="tx1"/>
                </a:solidFill>
              </a:endParaRPr>
            </a:p>
          </p:txBody>
        </p:sp>
        <p:sp>
          <p:nvSpPr>
            <p:cNvPr id="26" name="椭圆 25"/>
            <p:cNvSpPr/>
            <p:nvPr/>
          </p:nvSpPr>
          <p:spPr>
            <a:xfrm>
              <a:off x="3950855" y="2846820"/>
              <a:ext cx="377242" cy="37724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a:off x="627605" y="4766650"/>
            <a:ext cx="5470896" cy="1886557"/>
            <a:chOff x="593789" y="4232982"/>
            <a:chExt cx="5825879" cy="2171674"/>
          </a:xfrm>
        </p:grpSpPr>
        <p:grpSp>
          <p:nvGrpSpPr>
            <p:cNvPr id="22" name="组合 21"/>
            <p:cNvGrpSpPr/>
            <p:nvPr/>
          </p:nvGrpSpPr>
          <p:grpSpPr>
            <a:xfrm>
              <a:off x="593789" y="4238202"/>
              <a:ext cx="5825879" cy="1744591"/>
              <a:chOff x="565288" y="3342928"/>
              <a:chExt cx="4950338" cy="1482406"/>
            </a:xfrm>
          </p:grpSpPr>
          <p:pic>
            <p:nvPicPr>
              <p:cNvPr id="7" name="图片 6"/>
              <p:cNvPicPr>
                <a:picLocks noChangeAspect="1"/>
              </p:cNvPicPr>
              <p:nvPr/>
            </p:nvPicPr>
            <p:blipFill>
              <a:blip r:embed="rId4"/>
              <a:stretch>
                <a:fillRect/>
              </a:stretch>
            </p:blipFill>
            <p:spPr>
              <a:xfrm>
                <a:off x="565288" y="3342928"/>
                <a:ext cx="4950338" cy="1482406"/>
              </a:xfrm>
              <a:prstGeom prst="rect">
                <a:avLst/>
              </a:prstGeom>
            </p:spPr>
          </p:pic>
          <p:pic>
            <p:nvPicPr>
              <p:cNvPr id="18" name="图片 17"/>
              <p:cNvPicPr>
                <a:picLocks noChangeAspect="1"/>
              </p:cNvPicPr>
              <p:nvPr/>
            </p:nvPicPr>
            <p:blipFill>
              <a:blip r:embed="rId5"/>
              <a:stretch>
                <a:fillRect/>
              </a:stretch>
            </p:blipFill>
            <p:spPr>
              <a:xfrm>
                <a:off x="4546508" y="3460160"/>
                <a:ext cx="97792" cy="97478"/>
              </a:xfrm>
              <a:prstGeom prst="rect">
                <a:avLst/>
              </a:prstGeom>
            </p:spPr>
          </p:pic>
          <p:pic>
            <p:nvPicPr>
              <p:cNvPr id="19" name="图片 18"/>
              <p:cNvPicPr>
                <a:picLocks noChangeAspect="1"/>
              </p:cNvPicPr>
              <p:nvPr/>
            </p:nvPicPr>
            <p:blipFill>
              <a:blip r:embed="rId5"/>
              <a:stretch>
                <a:fillRect/>
              </a:stretch>
            </p:blipFill>
            <p:spPr>
              <a:xfrm>
                <a:off x="4497612" y="4628267"/>
                <a:ext cx="97792" cy="97478"/>
              </a:xfrm>
              <a:prstGeom prst="rect">
                <a:avLst/>
              </a:prstGeom>
            </p:spPr>
          </p:pic>
          <p:pic>
            <p:nvPicPr>
              <p:cNvPr id="20" name="图片 19"/>
              <p:cNvPicPr>
                <a:picLocks noChangeAspect="1"/>
              </p:cNvPicPr>
              <p:nvPr/>
            </p:nvPicPr>
            <p:blipFill>
              <a:blip r:embed="rId5"/>
              <a:stretch>
                <a:fillRect/>
              </a:stretch>
            </p:blipFill>
            <p:spPr>
              <a:xfrm>
                <a:off x="5238875" y="4034332"/>
                <a:ext cx="97792" cy="97478"/>
              </a:xfrm>
              <a:prstGeom prst="rect">
                <a:avLst/>
              </a:prstGeom>
            </p:spPr>
          </p:pic>
          <p:pic>
            <p:nvPicPr>
              <p:cNvPr id="21" name="图片 20"/>
              <p:cNvPicPr>
                <a:picLocks noChangeAspect="1"/>
              </p:cNvPicPr>
              <p:nvPr/>
            </p:nvPicPr>
            <p:blipFill>
              <a:blip r:embed="rId5"/>
              <a:stretch>
                <a:fillRect/>
              </a:stretch>
            </p:blipFill>
            <p:spPr>
              <a:xfrm>
                <a:off x="3763618" y="4041307"/>
                <a:ext cx="97792" cy="97478"/>
              </a:xfrm>
              <a:prstGeom prst="rect">
                <a:avLst/>
              </a:prstGeom>
            </p:spPr>
          </p:pic>
        </p:grpSp>
        <p:cxnSp>
          <p:nvCxnSpPr>
            <p:cNvPr id="33" name="直接连接符 32"/>
            <p:cNvCxnSpPr/>
            <p:nvPr/>
          </p:nvCxnSpPr>
          <p:spPr>
            <a:xfrm>
              <a:off x="2137556" y="4232982"/>
              <a:ext cx="16463" cy="2021904"/>
            </a:xfrm>
            <a:prstGeom prst="line">
              <a:avLst/>
            </a:prstGeom>
            <a:ln>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724367" y="5759072"/>
              <a:ext cx="2970069" cy="0"/>
            </a:xfrm>
            <a:prstGeom prst="line">
              <a:avLst/>
            </a:prstGeom>
            <a:ln>
              <a:prstDash val="dashDot"/>
              <a:tailEnd type="triangle"/>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3522662" y="5719276"/>
              <a:ext cx="284052" cy="369332"/>
            </a:xfrm>
            <a:prstGeom prst="rect">
              <a:avLst/>
            </a:prstGeom>
            <a:noFill/>
          </p:spPr>
          <p:txBody>
            <a:bodyPr wrap="none" rtlCol="0">
              <a:spAutoFit/>
            </a:bodyPr>
            <a:lstStyle/>
            <a:p>
              <a:r>
                <a:rPr lang="en-US" altLang="zh-CN" dirty="0" smtClean="0">
                  <a:solidFill>
                    <a:srgbClr val="00B0F0"/>
                  </a:solidFill>
                </a:rPr>
                <a:t>x</a:t>
              </a:r>
              <a:endParaRPr lang="zh-CN" altLang="en-US" dirty="0">
                <a:solidFill>
                  <a:srgbClr val="00B0F0"/>
                </a:solidFill>
              </a:endParaRPr>
            </a:p>
          </p:txBody>
        </p:sp>
        <p:sp>
          <p:nvSpPr>
            <p:cNvPr id="40" name="文本框 39"/>
            <p:cNvSpPr txBox="1"/>
            <p:nvPr/>
          </p:nvSpPr>
          <p:spPr>
            <a:xfrm>
              <a:off x="1839751" y="6035324"/>
              <a:ext cx="284052" cy="369332"/>
            </a:xfrm>
            <a:prstGeom prst="rect">
              <a:avLst/>
            </a:prstGeom>
            <a:noFill/>
          </p:spPr>
          <p:txBody>
            <a:bodyPr wrap="none" rtlCol="0">
              <a:spAutoFit/>
            </a:bodyPr>
            <a:lstStyle/>
            <a:p>
              <a:r>
                <a:rPr lang="en-US" altLang="zh-CN" dirty="0" smtClean="0">
                  <a:solidFill>
                    <a:srgbClr val="00B0F0"/>
                  </a:solidFill>
                </a:rPr>
                <a:t>z</a:t>
              </a:r>
              <a:endParaRPr lang="zh-CN" altLang="en-US" dirty="0">
                <a:solidFill>
                  <a:srgbClr val="00B0F0"/>
                </a:solidFill>
              </a:endParaRPr>
            </a:p>
          </p:txBody>
        </p:sp>
      </p:grpSp>
      <mc:AlternateContent xmlns:mc="http://schemas.openxmlformats.org/markup-compatibility/2006" xmlns:a14="http://schemas.microsoft.com/office/drawing/2010/main">
        <mc:Choice Requires="a14">
          <p:sp>
            <p:nvSpPr>
              <p:cNvPr id="30" name="TextBox 38"/>
              <p:cNvSpPr txBox="1"/>
              <p:nvPr/>
            </p:nvSpPr>
            <p:spPr>
              <a:xfrm>
                <a:off x="797669" y="3935681"/>
                <a:ext cx="3793026" cy="584775"/>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假设</a:t>
                </a:r>
                <a:r>
                  <a:rPr lang="zh-CN" altLang="en-US" sz="1600" dirty="0" smtClean="0">
                    <a:latin typeface="微软雅黑" panose="020B0503020204020204" pitchFamily="34" charset="-122"/>
                    <a:ea typeface="微软雅黑" panose="020B0503020204020204" pitchFamily="34" charset="-122"/>
                  </a:rPr>
                  <a:t>由下面</a:t>
                </a:r>
                <a:r>
                  <a:rPr lang="en-US" altLang="zh-CN" sz="1600" dirty="0" smtClean="0">
                    <a:latin typeface="微软雅黑" panose="020B0503020204020204" pitchFamily="34" charset="-122"/>
                    <a:ea typeface="微软雅黑" panose="020B0503020204020204" pitchFamily="34" charset="-122"/>
                  </a:rPr>
                  <a:t>4</a:t>
                </a:r>
                <a:r>
                  <a:rPr lang="zh-CN" altLang="en-US" sz="1600" dirty="0" smtClean="0">
                    <a:latin typeface="微软雅黑" panose="020B0503020204020204" pitchFamily="34" charset="-122"/>
                    <a:ea typeface="微软雅黑" panose="020B0503020204020204" pitchFamily="34" charset="-122"/>
                  </a:rPr>
                  <a:t>个平面构成的半无穷棱锥：</a:t>
                </a:r>
                <a:endParaRPr lang="en-US" altLang="zh-CN" sz="1600" dirty="0" smtClean="0">
                  <a:latin typeface="微软雅黑" panose="020B0503020204020204" pitchFamily="34" charset="-122"/>
                  <a:ea typeface="微软雅黑" panose="020B0503020204020204" pitchFamily="34" charset="-122"/>
                </a:endParaRPr>
              </a:p>
              <a:p>
                <a:r>
                  <a:rPr lang="zh-CN" altLang="en-US" sz="1600" dirty="0">
                    <a:latin typeface="微软雅黑" panose="020B0503020204020204" pitchFamily="34" charset="-122"/>
                    <a:ea typeface="微软雅黑" panose="020B0503020204020204" pitchFamily="34" charset="-122"/>
                  </a:rPr>
                  <a:t>（侧面与投影平面夹角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dirty="0" smtClean="0">
                    <a:solidFill>
                      <a:srgbClr val="0000FF"/>
                    </a:solidFill>
                    <a:latin typeface="微软雅黑" panose="020B0503020204020204" pitchFamily="34" charset="-122"/>
                    <a:ea typeface="微软雅黑" panose="020B0503020204020204" pitchFamily="34" charset="-122"/>
                  </a:rPr>
                  <a:t>45</a:t>
                </a:r>
                <a14:m>
                  <m:oMath xmlns:m="http://schemas.openxmlformats.org/officeDocument/2006/math">
                    <m:r>
                      <a:rPr lang="it-IT" altLang="zh-CN" sz="1600" i="1">
                        <a:solidFill>
                          <a:srgbClr val="0000FF"/>
                        </a:solidFill>
                        <a:latin typeface="Cambria Math" charset="0"/>
                        <a:ea typeface="Cambria Math" charset="0"/>
                        <a:cs typeface="Cambria Math" charset="0"/>
                      </a:rPr>
                      <m:t>°</m:t>
                    </m:r>
                    <m:r>
                      <a:rPr lang="zh-CN" altLang="en-US" sz="1600" i="1">
                        <a:latin typeface="Cambria Math" charset="0"/>
                        <a:ea typeface="Cambria Math" charset="0"/>
                        <a:cs typeface="Cambria Math" charset="0"/>
                      </a:rPr>
                      <m:t>）</m:t>
                    </m:r>
                  </m:oMath>
                </a14:m>
                <a:endParaRPr lang="en-US" sz="1600" dirty="0">
                  <a:latin typeface="微软雅黑" panose="020B0503020204020204" pitchFamily="34" charset="-122"/>
                  <a:ea typeface="微软雅黑" panose="020B0503020204020204" pitchFamily="34" charset="-122"/>
                </a:endParaRPr>
              </a:p>
            </p:txBody>
          </p:sp>
        </mc:Choice>
        <mc:Fallback xmlns="">
          <p:sp>
            <p:nvSpPr>
              <p:cNvPr id="30" name="TextBox 38"/>
              <p:cNvSpPr txBox="1">
                <a:spLocks noRot="1" noChangeAspect="1" noMove="1" noResize="1" noEditPoints="1" noAdjustHandles="1" noChangeArrowheads="1" noChangeShapeType="1" noTextEdit="1"/>
              </p:cNvSpPr>
              <p:nvPr/>
            </p:nvSpPr>
            <p:spPr>
              <a:xfrm>
                <a:off x="797669" y="3935681"/>
                <a:ext cx="3793026" cy="584775"/>
              </a:xfrm>
              <a:prstGeom prst="rect">
                <a:avLst/>
              </a:prstGeom>
              <a:blipFill>
                <a:blip r:embed="rId6"/>
                <a:stretch>
                  <a:fillRect l="-965"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6294775" y="5070498"/>
                <a:ext cx="1239057" cy="134088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i="1" smtClean="0">
                              <a:latin typeface="Cambria Math" panose="02040503050406030204" pitchFamily="18" charset="0"/>
                            </a:rPr>
                          </m:ctrlPr>
                        </m:dPr>
                        <m:e>
                          <m:eqArr>
                            <m:eqArrPr>
                              <m:ctrlPr>
                                <a:rPr lang="en-US" altLang="zh-CN" i="1">
                                  <a:latin typeface="Cambria Math" panose="02040503050406030204" pitchFamily="18" charset="0"/>
                                </a:rPr>
                              </m:ctrlPr>
                            </m:eqArrPr>
                            <m:e>
                              <m:sSup>
                                <m:sSupPr>
                                  <m:ctrlPr>
                                    <a:rPr lang="en-US"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m:t>
                                  </m:r>
                                </m:sup>
                              </m:sSup>
                              <m:r>
                                <a:rPr lang="en-US" altLang="zh-CN" i="1">
                                  <a:latin typeface="Cambria Math" panose="02040503050406030204" pitchFamily="18" charset="0"/>
                                </a:rPr>
                                <m:t>=</m:t>
                              </m:r>
                              <m:r>
                                <a:rPr lang="en-US" altLang="zh-CN" i="1">
                                  <a:latin typeface="Cambria Math" panose="02040503050406030204" pitchFamily="18" charset="0"/>
                                </a:rPr>
                                <m:t>𝑥</m:t>
                              </m:r>
                            </m:e>
                            <m:e>
                              <m:sSup>
                                <m:sSupPr>
                                  <m:ctrlPr>
                                    <a:rPr lang="en-US" altLang="zh-CN" i="1">
                                      <a:latin typeface="Cambria Math" panose="02040503050406030204" pitchFamily="18" charset="0"/>
                                    </a:rPr>
                                  </m:ctrlPr>
                                </m:sSupPr>
                                <m:e>
                                  <m:r>
                                    <a:rPr lang="en-US" altLang="zh-CN" i="1">
                                      <a:latin typeface="Cambria Math" panose="02040503050406030204" pitchFamily="18" charset="0"/>
                                    </a:rPr>
                                    <m:t>𝑦</m:t>
                                  </m:r>
                                </m:e>
                                <m:sup>
                                  <m:r>
                                    <a:rPr lang="en-US" altLang="zh-CN" i="1">
                                      <a:latin typeface="Cambria Math" panose="02040503050406030204" pitchFamily="18" charset="0"/>
                                    </a:rPr>
                                    <m:t>′</m:t>
                                  </m:r>
                                </m:sup>
                              </m:sSup>
                              <m:r>
                                <a:rPr lang="en-US" altLang="zh-CN" i="1">
                                  <a:latin typeface="Cambria Math" panose="02040503050406030204" pitchFamily="18" charset="0"/>
                                </a:rPr>
                                <m:t>=</m:t>
                              </m:r>
                              <m:r>
                                <a:rPr lang="en-US" altLang="zh-CN" i="1">
                                  <a:latin typeface="Cambria Math" panose="02040503050406030204" pitchFamily="18" charset="0"/>
                                </a:rPr>
                                <m:t>𝑦</m:t>
                              </m:r>
                            </m:e>
                            <m:e>
                              <m:sSup>
                                <m:sSupPr>
                                  <m:ctrlPr>
                                    <a:rPr lang="en-US" altLang="zh-CN" i="1">
                                      <a:latin typeface="Cambria Math" panose="02040503050406030204" pitchFamily="18" charset="0"/>
                                    </a:rPr>
                                  </m:ctrlPr>
                                </m:sSupPr>
                                <m:e>
                                  <m:r>
                                    <a:rPr lang="en-US" altLang="zh-CN" i="1">
                                      <a:latin typeface="Cambria Math" panose="02040503050406030204" pitchFamily="18" charset="0"/>
                                    </a:rPr>
                                    <m:t>𝑧</m:t>
                                  </m:r>
                                </m:e>
                                <m:sup>
                                  <m:r>
                                    <a:rPr lang="en-US" altLang="zh-CN" i="1">
                                      <a:latin typeface="Cambria Math" panose="02040503050406030204" pitchFamily="18" charset="0"/>
                                    </a:rPr>
                                    <m:t>′</m:t>
                                  </m:r>
                                </m:sup>
                              </m:sSup>
                              <m:r>
                                <a:rPr lang="en-US" altLang="zh-CN" i="1">
                                  <a:latin typeface="Cambria Math" panose="02040503050406030204" pitchFamily="18" charset="0"/>
                                </a:rPr>
                                <m:t>=</m:t>
                              </m:r>
                              <m:r>
                                <a:rPr lang="en-US" altLang="zh-CN" i="1">
                                  <a:latin typeface="Cambria Math" panose="02040503050406030204" pitchFamily="18" charset="0"/>
                                </a:rPr>
                                <m:t>𝑧</m:t>
                              </m:r>
                            </m:e>
                            <m:e>
                              <m:sSup>
                                <m:sSupPr>
                                  <m:ctrlPr>
                                    <a:rPr lang="en-US" altLang="zh-CN" i="1">
                                      <a:latin typeface="Cambria Math" panose="02040503050406030204" pitchFamily="18" charset="0"/>
                                    </a:rPr>
                                  </m:ctrlPr>
                                </m:sSupPr>
                                <m:e>
                                  <m:r>
                                    <a:rPr lang="en-US" altLang="zh-CN" i="1">
                                      <a:latin typeface="Cambria Math" panose="02040503050406030204" pitchFamily="18" charset="0"/>
                                    </a:rPr>
                                    <m:t>𝑤</m:t>
                                  </m:r>
                                </m:e>
                                <m:sup>
                                  <m:r>
                                    <a:rPr lang="en-US" altLang="zh-CN" i="1">
                                      <a:latin typeface="Cambria Math" panose="02040503050406030204" pitchFamily="18" charset="0"/>
                                    </a:rPr>
                                    <m:t>′</m:t>
                                  </m:r>
                                </m:sup>
                              </m:sSup>
                              <m:r>
                                <a:rPr lang="en-US" altLang="zh-CN" i="1">
                                  <a:latin typeface="Cambria Math" panose="02040503050406030204" pitchFamily="18" charset="0"/>
                                </a:rPr>
                                <m:t>=−</m:t>
                              </m:r>
                              <m:r>
                                <a:rPr lang="en-US" altLang="zh-CN" i="1">
                                  <a:latin typeface="Cambria Math" panose="02040503050406030204" pitchFamily="18" charset="0"/>
                                </a:rPr>
                                <m:t>𝑧</m:t>
                              </m:r>
                            </m:e>
                          </m:eqArr>
                        </m:e>
                      </m:d>
                    </m:oMath>
                  </m:oMathPara>
                </a14:m>
                <a:endParaRPr lang="zh-CN" altLang="en-US" dirty="0"/>
              </a:p>
            </p:txBody>
          </p:sp>
        </mc:Choice>
        <mc:Fallback xmlns="">
          <p:sp>
            <p:nvSpPr>
              <p:cNvPr id="9" name="矩形 8"/>
              <p:cNvSpPr>
                <a:spLocks noRot="1" noChangeAspect="1" noMove="1" noResize="1" noEditPoints="1" noAdjustHandles="1" noChangeArrowheads="1" noChangeShapeType="1" noTextEdit="1"/>
              </p:cNvSpPr>
              <p:nvPr/>
            </p:nvSpPr>
            <p:spPr>
              <a:xfrm>
                <a:off x="6294775" y="5070498"/>
                <a:ext cx="1239057" cy="134088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6406957" y="4648465"/>
                <a:ext cx="11614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𝑋</m:t>
                          </m:r>
                        </m:e>
                        <m:sup>
                          <m:r>
                            <a:rPr lang="en-US" altLang="zh-CN" i="1">
                              <a:latin typeface="Cambria Math" panose="02040503050406030204" pitchFamily="18" charset="0"/>
                            </a:rPr>
                            <m:t>′</m:t>
                          </m:r>
                        </m:sup>
                      </m:sSup>
                      <m:r>
                        <a:rPr lang="en-US" altLang="zh-CN" i="0" dirty="0" smtClean="0">
                          <a:latin typeface="Cambria Math" panose="02040503050406030204" pitchFamily="18" charset="0"/>
                        </a:rPr>
                        <m:t>= </m:t>
                      </m:r>
                      <m:r>
                        <a:rPr lang="en-US" altLang="zh-CN" b="1" i="0" dirty="0" smtClean="0">
                          <a:solidFill>
                            <a:srgbClr val="0000FF"/>
                          </a:solidFill>
                          <a:latin typeface="Cambria Math" panose="02040503050406030204" pitchFamily="18" charset="0"/>
                        </a:rPr>
                        <m:t>𝐌</m:t>
                      </m:r>
                      <m:r>
                        <a:rPr lang="en-US" altLang="zh-CN" i="1" dirty="0" smtClean="0">
                          <a:latin typeface="Cambria Math" panose="02040503050406030204" pitchFamily="18" charset="0"/>
                        </a:rPr>
                        <m:t>𝑋</m:t>
                      </m:r>
                    </m:oMath>
                  </m:oMathPara>
                </a14:m>
                <a:endParaRPr lang="zh-CN" altLang="en-US" i="1" dirty="0"/>
              </a:p>
            </p:txBody>
          </p:sp>
        </mc:Choice>
        <mc:Fallback xmlns="">
          <p:sp>
            <p:nvSpPr>
              <p:cNvPr id="10" name="文本框 9"/>
              <p:cNvSpPr txBox="1">
                <a:spLocks noRot="1" noChangeAspect="1" noMove="1" noResize="1" noEditPoints="1" noAdjustHandles="1" noChangeArrowheads="1" noChangeShapeType="1" noTextEdit="1"/>
              </p:cNvSpPr>
              <p:nvPr/>
            </p:nvSpPr>
            <p:spPr>
              <a:xfrm>
                <a:off x="6406957" y="4648465"/>
                <a:ext cx="1161472" cy="369332"/>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矩形 28"/>
              <p:cNvSpPr/>
              <p:nvPr/>
            </p:nvSpPr>
            <p:spPr>
              <a:xfrm>
                <a:off x="7729468" y="4833131"/>
                <a:ext cx="1094338" cy="15950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eqArr>
                        <m:eqArrPr>
                          <m:ctrlPr>
                            <a:rPr lang="en-US" altLang="zh-CN" i="1" smtClean="0">
                              <a:latin typeface="Cambria Math" panose="02040503050406030204" pitchFamily="18" charset="0"/>
                            </a:rPr>
                          </m:ctrlPr>
                        </m:eqArrPr>
                        <m:e>
                          <m:sSup>
                            <m:sSupPr>
                              <m:ctrlPr>
                                <a:rPr lang="en-US"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m:t>
                              </m:r>
                            </m:sup>
                          </m:sSup>
                          <m:r>
                            <a:rPr lang="en-US" altLang="zh-CN" i="1">
                              <a:latin typeface="Cambria Math" panose="02040503050406030204" pitchFamily="18" charset="0"/>
                            </a:rPr>
                            <m:t>=</m:t>
                          </m:r>
                          <m:r>
                            <a:rPr lang="en-US" altLang="zh-CN" b="0" i="1" smtClean="0">
                              <a:latin typeface="Cambria Math" panose="02040503050406030204" pitchFamily="18" charset="0"/>
                            </a:rPr>
                            <m:t>−</m:t>
                          </m:r>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𝑥</m:t>
                              </m:r>
                            </m:num>
                            <m:den>
                              <m:r>
                                <a:rPr lang="en-US" altLang="zh-CN" b="0" i="1" smtClean="0">
                                  <a:latin typeface="Cambria Math" panose="02040503050406030204" pitchFamily="18" charset="0"/>
                                </a:rPr>
                                <m:t>𝑧</m:t>
                              </m:r>
                            </m:den>
                          </m:f>
                        </m:e>
                        <m:e>
                          <m:sSup>
                            <m:sSupPr>
                              <m:ctrlPr>
                                <a:rPr lang="en-US" altLang="zh-CN" i="1">
                                  <a:latin typeface="Cambria Math" panose="02040503050406030204" pitchFamily="18" charset="0"/>
                                </a:rPr>
                              </m:ctrlPr>
                            </m:sSupPr>
                            <m:e>
                              <m:r>
                                <a:rPr lang="en-US" altLang="zh-CN" i="1">
                                  <a:latin typeface="Cambria Math" panose="02040503050406030204" pitchFamily="18" charset="0"/>
                                </a:rPr>
                                <m:t>𝑦</m:t>
                              </m:r>
                            </m:e>
                            <m:sup>
                              <m:r>
                                <a:rPr lang="en-US" altLang="zh-CN" i="1">
                                  <a:latin typeface="Cambria Math" panose="02040503050406030204" pitchFamily="18" charset="0"/>
                                </a:rPr>
                                <m:t>′</m:t>
                              </m:r>
                            </m:sup>
                          </m:sSup>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b="0" i="1" smtClean="0">
                                  <a:latin typeface="Cambria Math" panose="02040503050406030204" pitchFamily="18" charset="0"/>
                                </a:rPr>
                                <m:t>𝑦</m:t>
                              </m:r>
                            </m:num>
                            <m:den>
                              <m:r>
                                <a:rPr lang="en-US" altLang="zh-CN" i="1">
                                  <a:latin typeface="Cambria Math" panose="02040503050406030204" pitchFamily="18" charset="0"/>
                                </a:rPr>
                                <m:t>𝑧</m:t>
                              </m:r>
                            </m:den>
                          </m:f>
                        </m:e>
                        <m:e>
                          <m:sSup>
                            <m:sSupPr>
                              <m:ctrlPr>
                                <a:rPr lang="en-US" altLang="zh-CN" i="1">
                                  <a:latin typeface="Cambria Math" panose="02040503050406030204" pitchFamily="18" charset="0"/>
                                </a:rPr>
                              </m:ctrlPr>
                            </m:sSupPr>
                            <m:e>
                              <m:r>
                                <a:rPr lang="en-US" altLang="zh-CN" i="1">
                                  <a:latin typeface="Cambria Math" panose="02040503050406030204" pitchFamily="18" charset="0"/>
                                </a:rPr>
                                <m:t>𝑧</m:t>
                              </m:r>
                            </m:e>
                            <m:sup>
                              <m:r>
                                <a:rPr lang="en-US" altLang="zh-CN" i="1">
                                  <a:latin typeface="Cambria Math" panose="02040503050406030204" pitchFamily="18" charset="0"/>
                                </a:rPr>
                                <m:t>′</m:t>
                              </m:r>
                            </m:sup>
                          </m:sSup>
                          <m:r>
                            <a:rPr lang="en-US" altLang="zh-CN" i="1">
                              <a:latin typeface="Cambria Math" panose="02040503050406030204" pitchFamily="18" charset="0"/>
                            </a:rPr>
                            <m:t>=</m:t>
                          </m:r>
                          <m:r>
                            <a:rPr lang="en-US" altLang="zh-CN" b="0" i="1" smtClean="0">
                              <a:latin typeface="Cambria Math" panose="02040503050406030204" pitchFamily="18" charset="0"/>
                            </a:rPr>
                            <m:t>−1</m:t>
                          </m:r>
                        </m:e>
                        <m:e>
                          <m:sSup>
                            <m:sSupPr>
                              <m:ctrlPr>
                                <a:rPr lang="en-US" altLang="zh-CN" i="1">
                                  <a:latin typeface="Cambria Math" panose="02040503050406030204" pitchFamily="18" charset="0"/>
                                </a:rPr>
                              </m:ctrlPr>
                            </m:sSupPr>
                            <m:e>
                              <m:r>
                                <a:rPr lang="en-US" altLang="zh-CN" i="1">
                                  <a:latin typeface="Cambria Math" panose="02040503050406030204" pitchFamily="18" charset="0"/>
                                </a:rPr>
                                <m:t>𝑤</m:t>
                              </m:r>
                            </m:e>
                            <m:sup>
                              <m:r>
                                <a:rPr lang="en-US" altLang="zh-CN" i="1">
                                  <a:latin typeface="Cambria Math" panose="02040503050406030204" pitchFamily="18" charset="0"/>
                                </a:rPr>
                                <m:t>′</m:t>
                              </m:r>
                            </m:sup>
                          </m:sSup>
                          <m:r>
                            <a:rPr lang="en-US" altLang="zh-CN" i="1">
                              <a:latin typeface="Cambria Math" panose="02040503050406030204" pitchFamily="18" charset="0"/>
                            </a:rPr>
                            <m:t>=</m:t>
                          </m:r>
                          <m:r>
                            <a:rPr lang="en-US" altLang="zh-CN" b="0" i="1" smtClean="0">
                              <a:latin typeface="Cambria Math" panose="02040503050406030204" pitchFamily="18" charset="0"/>
                            </a:rPr>
                            <m:t>1</m:t>
                          </m:r>
                        </m:e>
                      </m:eqArr>
                    </m:oMath>
                  </m:oMathPara>
                </a14:m>
                <a:endParaRPr lang="zh-CN" altLang="en-US" dirty="0"/>
              </a:p>
            </p:txBody>
          </p:sp>
        </mc:Choice>
        <mc:Fallback xmlns="">
          <p:sp>
            <p:nvSpPr>
              <p:cNvPr id="29" name="矩形 28"/>
              <p:cNvSpPr>
                <a:spLocks noRot="1" noChangeAspect="1" noMove="1" noResize="1" noEditPoints="1" noAdjustHandles="1" noChangeArrowheads="1" noChangeShapeType="1" noTextEdit="1"/>
              </p:cNvSpPr>
              <p:nvPr/>
            </p:nvSpPr>
            <p:spPr>
              <a:xfrm>
                <a:off x="7729468" y="4833131"/>
                <a:ext cx="1094338" cy="1595052"/>
              </a:xfrm>
              <a:prstGeom prst="rect">
                <a:avLst/>
              </a:prstGeom>
              <a:blipFill>
                <a:blip r:embed="rId9"/>
                <a:stretch>
                  <a:fillRect/>
                </a:stretch>
              </a:blipFill>
            </p:spPr>
            <p:txBody>
              <a:bodyPr/>
              <a:lstStyle/>
              <a:p>
                <a:r>
                  <a:rPr lang="zh-CN" altLang="en-US">
                    <a:noFill/>
                  </a:rPr>
                  <a:t> </a:t>
                </a:r>
              </a:p>
            </p:txBody>
          </p:sp>
        </mc:Fallback>
      </mc:AlternateContent>
      <p:sp>
        <p:nvSpPr>
          <p:cNvPr id="11" name="右箭头 10"/>
          <p:cNvSpPr/>
          <p:nvPr/>
        </p:nvSpPr>
        <p:spPr>
          <a:xfrm>
            <a:off x="7480698" y="5563276"/>
            <a:ext cx="250912" cy="2181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7701989" y="4411098"/>
            <a:ext cx="1107996" cy="369332"/>
          </a:xfrm>
          <a:prstGeom prst="rect">
            <a:avLst/>
          </a:prstGeom>
          <a:noFill/>
        </p:spPr>
        <p:txBody>
          <a:bodyPr wrap="none" rtlCol="0">
            <a:spAutoFit/>
          </a:bodyPr>
          <a:lstStyle/>
          <a:p>
            <a:r>
              <a:rPr lang="zh-CN" altLang="en-US" dirty="0">
                <a:solidFill>
                  <a:srgbClr val="0000FF"/>
                </a:solidFill>
                <a:latin typeface="微软雅黑" panose="020B0503020204020204" pitchFamily="34" charset="-122"/>
                <a:ea typeface="微软雅黑" panose="020B0503020204020204" pitchFamily="34" charset="-122"/>
              </a:rPr>
              <a:t>透视除法</a:t>
            </a:r>
          </a:p>
        </p:txBody>
      </p:sp>
      <mc:AlternateContent xmlns:mc="http://schemas.openxmlformats.org/markup-compatibility/2006" xmlns:a14="http://schemas.microsoft.com/office/drawing/2010/main">
        <mc:Choice Requires="a14">
          <p:sp>
            <p:nvSpPr>
              <p:cNvPr id="34" name="TextBox 25"/>
              <p:cNvSpPr txBox="1"/>
              <p:nvPr/>
            </p:nvSpPr>
            <p:spPr>
              <a:xfrm>
                <a:off x="4349613" y="3839062"/>
                <a:ext cx="1045992" cy="707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US" altLang="zh-CN" sz="2000" smtClean="0">
                          <a:solidFill>
                            <a:srgbClr val="0000FF"/>
                          </a:solidFill>
                          <a:latin typeface="Cambria Math" charset="0"/>
                        </a:rPr>
                        <m:t>𝑥</m:t>
                      </m:r>
                      <m:r>
                        <m:rPr>
                          <m:nor/>
                        </m:rPr>
                        <a:rPr lang="en-US" altLang="zh-CN" sz="2000" smtClean="0">
                          <a:solidFill>
                            <a:srgbClr val="0000FF"/>
                          </a:solidFill>
                          <a:latin typeface="Cambria Math" charset="0"/>
                        </a:rPr>
                        <m:t>=</m:t>
                      </m:r>
                      <m:r>
                        <m:rPr>
                          <m:nor/>
                        </m:rPr>
                        <a:rPr lang="en-US" altLang="zh-CN" sz="2000" smtClean="0">
                          <a:solidFill>
                            <a:srgbClr val="0000FF"/>
                          </a:solidFill>
                          <a:latin typeface="Cambria Math" charset="0"/>
                        </a:rPr>
                        <m:t>±</m:t>
                      </m:r>
                      <m:r>
                        <m:rPr>
                          <m:nor/>
                        </m:rPr>
                        <a:rPr lang="en-US" altLang="zh-CN" sz="2000" smtClean="0">
                          <a:solidFill>
                            <a:srgbClr val="0000FF"/>
                          </a:solidFill>
                          <a:latin typeface="Cambria Math" charset="0"/>
                          <a:ea typeface="Cambria Math" charset="0"/>
                          <a:cs typeface="Cambria Math" charset="0"/>
                        </a:rPr>
                        <m:t>𝑧</m:t>
                      </m:r>
                    </m:oMath>
                  </m:oMathPara>
                </a14:m>
                <a:endParaRPr lang="en-US" altLang="zh-CN" sz="2000" dirty="0">
                  <a:solidFill>
                    <a:srgbClr val="0000FF"/>
                  </a:solidFill>
                  <a:ea typeface="Cambria Math" charset="0"/>
                  <a:cs typeface="Cambria Math" charset="0"/>
                </a:endParaRPr>
              </a:p>
              <a:p>
                <a:pPr/>
                <a14:m>
                  <m:oMathPara xmlns:m="http://schemas.openxmlformats.org/officeDocument/2006/math">
                    <m:oMathParaPr>
                      <m:jc m:val="centerGroup"/>
                    </m:oMathParaPr>
                    <m:oMath xmlns:m="http://schemas.openxmlformats.org/officeDocument/2006/math">
                      <m:r>
                        <a:rPr lang="en-US" altLang="zh-CN" sz="2000" b="0" i="1" smtClean="0">
                          <a:solidFill>
                            <a:srgbClr val="0000FF"/>
                          </a:solidFill>
                          <a:latin typeface="Cambria Math" charset="0"/>
                        </a:rPr>
                        <m:t>𝑦</m:t>
                      </m:r>
                      <m:r>
                        <a:rPr lang="en-US" altLang="zh-CN" sz="2000" b="0" i="1" smtClean="0">
                          <a:solidFill>
                            <a:srgbClr val="0000FF"/>
                          </a:solidFill>
                          <a:latin typeface="Cambria Math" charset="0"/>
                        </a:rPr>
                        <m:t>=±</m:t>
                      </m:r>
                      <m:r>
                        <a:rPr lang="en-US" altLang="zh-CN" sz="2000" b="0" i="1" smtClean="0">
                          <a:solidFill>
                            <a:srgbClr val="0000FF"/>
                          </a:solidFill>
                          <a:latin typeface="Cambria Math" charset="0"/>
                          <a:ea typeface="Cambria Math" charset="0"/>
                          <a:cs typeface="Cambria Math" charset="0"/>
                        </a:rPr>
                        <m:t>𝑧</m:t>
                      </m:r>
                    </m:oMath>
                  </m:oMathPara>
                </a14:m>
                <a:endParaRPr lang="en-US" altLang="zh-CN" sz="2000" b="0" dirty="0" smtClean="0">
                  <a:solidFill>
                    <a:srgbClr val="0000FF"/>
                  </a:solidFill>
                  <a:ea typeface="Cambria Math" charset="0"/>
                  <a:cs typeface="Cambria Math" charset="0"/>
                </a:endParaRPr>
              </a:p>
            </p:txBody>
          </p:sp>
        </mc:Choice>
        <mc:Fallback xmlns="">
          <p:sp>
            <p:nvSpPr>
              <p:cNvPr id="34" name="TextBox 25"/>
              <p:cNvSpPr txBox="1">
                <a:spLocks noRot="1" noChangeAspect="1" noMove="1" noResize="1" noEditPoints="1" noAdjustHandles="1" noChangeArrowheads="1" noChangeShapeType="1" noTextEdit="1"/>
              </p:cNvSpPr>
              <p:nvPr/>
            </p:nvSpPr>
            <p:spPr>
              <a:xfrm>
                <a:off x="4349613" y="3839062"/>
                <a:ext cx="1045992" cy="707886"/>
              </a:xfrm>
              <a:prstGeom prst="rect">
                <a:avLst/>
              </a:prstGeom>
              <a:blipFill rotWithShape="0">
                <a:blip r:embed="rId10"/>
                <a:stretch>
                  <a:fillRect b="-34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3220188" y="4578673"/>
                <a:ext cx="679865"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nor/>
                        </m:rPr>
                        <a:rPr lang="en-US" altLang="zh-CN" sz="1400" smtClean="0">
                          <a:solidFill>
                            <a:srgbClr val="FF0000"/>
                          </a:solidFill>
                          <a:latin typeface="Cambria Math" charset="0"/>
                        </a:rPr>
                        <m:t>𝑥</m:t>
                      </m:r>
                      <m:r>
                        <m:rPr>
                          <m:nor/>
                        </m:rPr>
                        <a:rPr lang="en-US" altLang="zh-CN" sz="1400" smtClean="0">
                          <a:solidFill>
                            <a:srgbClr val="FF0000"/>
                          </a:solidFill>
                          <a:latin typeface="Cambria Math" charset="0"/>
                        </a:rPr>
                        <m:t>=−</m:t>
                      </m:r>
                      <m:r>
                        <m:rPr>
                          <m:nor/>
                        </m:rPr>
                        <a:rPr lang="en-US" altLang="zh-CN" sz="1400" smtClean="0">
                          <a:solidFill>
                            <a:srgbClr val="FF0000"/>
                          </a:solidFill>
                          <a:latin typeface="Cambria Math" charset="0"/>
                          <a:ea typeface="Cambria Math" charset="0"/>
                          <a:cs typeface="Cambria Math" charset="0"/>
                        </a:rPr>
                        <m:t>𝑧</m:t>
                      </m:r>
                    </m:oMath>
                  </m:oMathPara>
                </a14:m>
                <a:endParaRPr lang="en-US" altLang="zh-CN" sz="1400" dirty="0">
                  <a:solidFill>
                    <a:srgbClr val="FF0000"/>
                  </a:solidFill>
                  <a:ea typeface="Cambria Math" charset="0"/>
                  <a:cs typeface="Cambria Math" charset="0"/>
                </a:endParaRPr>
              </a:p>
            </p:txBody>
          </p:sp>
        </mc:Choice>
        <mc:Fallback xmlns="">
          <p:sp>
            <p:nvSpPr>
              <p:cNvPr id="13" name="矩形 12"/>
              <p:cNvSpPr>
                <a:spLocks noRot="1" noChangeAspect="1" noMove="1" noResize="1" noEditPoints="1" noAdjustHandles="1" noChangeArrowheads="1" noChangeShapeType="1" noTextEdit="1"/>
              </p:cNvSpPr>
              <p:nvPr/>
            </p:nvSpPr>
            <p:spPr>
              <a:xfrm>
                <a:off x="3220188" y="4578673"/>
                <a:ext cx="679865" cy="307777"/>
              </a:xfrm>
              <a:prstGeom prst="rect">
                <a:avLst/>
              </a:prstGeom>
              <a:blipFill rotWithShape="0">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矩形 35"/>
              <p:cNvSpPr/>
              <p:nvPr/>
            </p:nvSpPr>
            <p:spPr>
              <a:xfrm>
                <a:off x="440677" y="4578673"/>
                <a:ext cx="545213"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nor/>
                        </m:rPr>
                        <a:rPr lang="en-US" altLang="zh-CN" sz="1400" smtClean="0">
                          <a:solidFill>
                            <a:srgbClr val="FF0000"/>
                          </a:solidFill>
                          <a:latin typeface="Cambria Math" charset="0"/>
                        </a:rPr>
                        <m:t>𝑥</m:t>
                      </m:r>
                      <m:r>
                        <m:rPr>
                          <m:nor/>
                        </m:rPr>
                        <a:rPr lang="en-US" altLang="zh-CN" sz="1400" smtClean="0">
                          <a:solidFill>
                            <a:srgbClr val="FF0000"/>
                          </a:solidFill>
                          <a:latin typeface="Cambria Math" charset="0"/>
                        </a:rPr>
                        <m:t>=</m:t>
                      </m:r>
                      <m:r>
                        <m:rPr>
                          <m:nor/>
                        </m:rPr>
                        <a:rPr lang="en-US" altLang="zh-CN" sz="1400" smtClean="0">
                          <a:solidFill>
                            <a:srgbClr val="FF0000"/>
                          </a:solidFill>
                          <a:latin typeface="Cambria Math" charset="0"/>
                          <a:ea typeface="Cambria Math" charset="0"/>
                          <a:cs typeface="Cambria Math" charset="0"/>
                        </a:rPr>
                        <m:t>𝑧</m:t>
                      </m:r>
                    </m:oMath>
                  </m:oMathPara>
                </a14:m>
                <a:endParaRPr lang="en-US" altLang="zh-CN" sz="1400" dirty="0">
                  <a:solidFill>
                    <a:srgbClr val="FF0000"/>
                  </a:solidFill>
                  <a:ea typeface="Cambria Math" charset="0"/>
                  <a:cs typeface="Cambria Math" charset="0"/>
                </a:endParaRPr>
              </a:p>
            </p:txBody>
          </p:sp>
        </mc:Choice>
        <mc:Fallback xmlns="">
          <p:sp>
            <p:nvSpPr>
              <p:cNvPr id="36" name="矩形 35"/>
              <p:cNvSpPr>
                <a:spLocks noRot="1" noChangeAspect="1" noMove="1" noResize="1" noEditPoints="1" noAdjustHandles="1" noChangeArrowheads="1" noChangeShapeType="1" noTextEdit="1"/>
              </p:cNvSpPr>
              <p:nvPr/>
            </p:nvSpPr>
            <p:spPr>
              <a:xfrm>
                <a:off x="440677" y="4578673"/>
                <a:ext cx="545213" cy="307777"/>
              </a:xfrm>
              <a:prstGeom prst="rect">
                <a:avLst/>
              </a:prstGeom>
              <a:blipFill rotWithShape="0">
                <a:blip r:embed="rId1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84602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1000"/>
                                        <p:tgtEl>
                                          <p:spTgt spid="30"/>
                                        </p:tgtEl>
                                      </p:cBhvr>
                                    </p:animEffect>
                                    <p:anim calcmode="lin" valueType="num">
                                      <p:cBhvr>
                                        <p:cTn id="23" dur="1000" fill="hold"/>
                                        <p:tgtEl>
                                          <p:spTgt spid="30"/>
                                        </p:tgtEl>
                                        <p:attrNameLst>
                                          <p:attrName>ppt_x</p:attrName>
                                        </p:attrNameLst>
                                      </p:cBhvr>
                                      <p:tavLst>
                                        <p:tav tm="0">
                                          <p:val>
                                            <p:strVal val="#ppt_x"/>
                                          </p:val>
                                        </p:tav>
                                        <p:tav tm="100000">
                                          <p:val>
                                            <p:strVal val="#ppt_x"/>
                                          </p:val>
                                        </p:tav>
                                      </p:tavLst>
                                    </p:anim>
                                    <p:anim calcmode="lin" valueType="num">
                                      <p:cBhvr>
                                        <p:cTn id="24" dur="1000" fill="hold"/>
                                        <p:tgtEl>
                                          <p:spTgt spid="30"/>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1000"/>
                                        <p:tgtEl>
                                          <p:spTgt spid="34"/>
                                        </p:tgtEl>
                                      </p:cBhvr>
                                    </p:animEffect>
                                    <p:anim calcmode="lin" valueType="num">
                                      <p:cBhvr>
                                        <p:cTn id="28" dur="1000" fill="hold"/>
                                        <p:tgtEl>
                                          <p:spTgt spid="34"/>
                                        </p:tgtEl>
                                        <p:attrNameLst>
                                          <p:attrName>ppt_x</p:attrName>
                                        </p:attrNameLst>
                                      </p:cBhvr>
                                      <p:tavLst>
                                        <p:tav tm="0">
                                          <p:val>
                                            <p:strVal val="#ppt_x"/>
                                          </p:val>
                                        </p:tav>
                                        <p:tav tm="100000">
                                          <p:val>
                                            <p:strVal val="#ppt_x"/>
                                          </p:val>
                                        </p:tav>
                                      </p:tavLst>
                                    </p:anim>
                                    <p:anim calcmode="lin" valueType="num">
                                      <p:cBhvr>
                                        <p:cTn id="29"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anim calcmode="lin" valueType="num">
                                      <p:cBhvr>
                                        <p:cTn id="35" dur="1000" fill="hold"/>
                                        <p:tgtEl>
                                          <p:spTgt spid="8"/>
                                        </p:tgtEl>
                                        <p:attrNameLst>
                                          <p:attrName>ppt_x</p:attrName>
                                        </p:attrNameLst>
                                      </p:cBhvr>
                                      <p:tavLst>
                                        <p:tav tm="0">
                                          <p:val>
                                            <p:strVal val="#ppt_x"/>
                                          </p:val>
                                        </p:tav>
                                        <p:tav tm="100000">
                                          <p:val>
                                            <p:strVal val="#ppt_x"/>
                                          </p:val>
                                        </p:tav>
                                      </p:tavLst>
                                    </p:anim>
                                    <p:anim calcmode="lin" valueType="num">
                                      <p:cBhvr>
                                        <p:cTn id="36" dur="1000" fill="hold"/>
                                        <p:tgtEl>
                                          <p:spTgt spid="8"/>
                                        </p:tgtEl>
                                        <p:attrNameLst>
                                          <p:attrName>ppt_y</p:attrName>
                                        </p:attrNameLst>
                                      </p:cBhvr>
                                      <p:tavLst>
                                        <p:tav tm="0">
                                          <p:val>
                                            <p:strVal val="#ppt_y+.1"/>
                                          </p:val>
                                        </p:tav>
                                        <p:tav tm="100000">
                                          <p:val>
                                            <p:strVal val="#ppt_y"/>
                                          </p:val>
                                        </p:tav>
                                      </p:tavLst>
                                    </p:anim>
                                  </p:childTnLst>
                                </p:cTn>
                              </p:par>
                            </p:childTnLst>
                          </p:cTn>
                        </p:par>
                        <p:par>
                          <p:cTn id="37" fill="hold">
                            <p:stCondLst>
                              <p:cond delay="1000"/>
                            </p:stCondLst>
                            <p:childTnLst>
                              <p:par>
                                <p:cTn id="38" presetID="42" presetClass="entr" presetSubtype="0"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1000"/>
                                        <p:tgtEl>
                                          <p:spTgt spid="13"/>
                                        </p:tgtEl>
                                      </p:cBhvr>
                                    </p:animEffect>
                                    <p:anim calcmode="lin" valueType="num">
                                      <p:cBhvr>
                                        <p:cTn id="41" dur="1000" fill="hold"/>
                                        <p:tgtEl>
                                          <p:spTgt spid="13"/>
                                        </p:tgtEl>
                                        <p:attrNameLst>
                                          <p:attrName>ppt_x</p:attrName>
                                        </p:attrNameLst>
                                      </p:cBhvr>
                                      <p:tavLst>
                                        <p:tav tm="0">
                                          <p:val>
                                            <p:strVal val="#ppt_x"/>
                                          </p:val>
                                        </p:tav>
                                        <p:tav tm="100000">
                                          <p:val>
                                            <p:strVal val="#ppt_x"/>
                                          </p:val>
                                        </p:tav>
                                      </p:tavLst>
                                    </p:anim>
                                    <p:anim calcmode="lin" valueType="num">
                                      <p:cBhvr>
                                        <p:cTn id="42" dur="1000" fill="hold"/>
                                        <p:tgtEl>
                                          <p:spTgt spid="13"/>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animEffect transition="in" filter="fade">
                                      <p:cBhvr>
                                        <p:cTn id="45" dur="1000"/>
                                        <p:tgtEl>
                                          <p:spTgt spid="36"/>
                                        </p:tgtEl>
                                      </p:cBhvr>
                                    </p:animEffect>
                                    <p:anim calcmode="lin" valueType="num">
                                      <p:cBhvr>
                                        <p:cTn id="46" dur="1000" fill="hold"/>
                                        <p:tgtEl>
                                          <p:spTgt spid="36"/>
                                        </p:tgtEl>
                                        <p:attrNameLst>
                                          <p:attrName>ppt_x</p:attrName>
                                        </p:attrNameLst>
                                      </p:cBhvr>
                                      <p:tavLst>
                                        <p:tav tm="0">
                                          <p:val>
                                            <p:strVal val="#ppt_x"/>
                                          </p:val>
                                        </p:tav>
                                        <p:tav tm="100000">
                                          <p:val>
                                            <p:strVal val="#ppt_x"/>
                                          </p:val>
                                        </p:tav>
                                      </p:tavLst>
                                    </p:anim>
                                    <p:anim calcmode="lin" valueType="num">
                                      <p:cBhvr>
                                        <p:cTn id="47"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fade">
                                      <p:cBhvr>
                                        <p:cTn id="52" dur="1000"/>
                                        <p:tgtEl>
                                          <p:spTgt spid="10"/>
                                        </p:tgtEl>
                                      </p:cBhvr>
                                    </p:animEffect>
                                    <p:anim calcmode="lin" valueType="num">
                                      <p:cBhvr>
                                        <p:cTn id="53" dur="1000" fill="hold"/>
                                        <p:tgtEl>
                                          <p:spTgt spid="10"/>
                                        </p:tgtEl>
                                        <p:attrNameLst>
                                          <p:attrName>ppt_x</p:attrName>
                                        </p:attrNameLst>
                                      </p:cBhvr>
                                      <p:tavLst>
                                        <p:tav tm="0">
                                          <p:val>
                                            <p:strVal val="#ppt_x"/>
                                          </p:val>
                                        </p:tav>
                                        <p:tav tm="100000">
                                          <p:val>
                                            <p:strVal val="#ppt_x"/>
                                          </p:val>
                                        </p:tav>
                                      </p:tavLst>
                                    </p:anim>
                                    <p:anim calcmode="lin" valueType="num">
                                      <p:cBhvr>
                                        <p:cTn id="54" dur="1000" fill="hold"/>
                                        <p:tgtEl>
                                          <p:spTgt spid="10"/>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1000"/>
                                        <p:tgtEl>
                                          <p:spTgt spid="29"/>
                                        </p:tgtEl>
                                      </p:cBhvr>
                                    </p:animEffect>
                                    <p:anim calcmode="lin" valueType="num">
                                      <p:cBhvr>
                                        <p:cTn id="58" dur="1000" fill="hold"/>
                                        <p:tgtEl>
                                          <p:spTgt spid="29"/>
                                        </p:tgtEl>
                                        <p:attrNameLst>
                                          <p:attrName>ppt_x</p:attrName>
                                        </p:attrNameLst>
                                      </p:cBhvr>
                                      <p:tavLst>
                                        <p:tav tm="0">
                                          <p:val>
                                            <p:strVal val="#ppt_x"/>
                                          </p:val>
                                        </p:tav>
                                        <p:tav tm="100000">
                                          <p:val>
                                            <p:strVal val="#ppt_x"/>
                                          </p:val>
                                        </p:tav>
                                      </p:tavLst>
                                    </p:anim>
                                    <p:anim calcmode="lin" valueType="num">
                                      <p:cBhvr>
                                        <p:cTn id="59" dur="1000" fill="hold"/>
                                        <p:tgtEl>
                                          <p:spTgt spid="29"/>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1"/>
                                        </p:tgtEl>
                                        <p:attrNameLst>
                                          <p:attrName>style.visibility</p:attrName>
                                        </p:attrNameLst>
                                      </p:cBhvr>
                                      <p:to>
                                        <p:strVal val="visible"/>
                                      </p:to>
                                    </p:set>
                                    <p:animEffect transition="in" filter="fade">
                                      <p:cBhvr>
                                        <p:cTn id="62" dur="1000"/>
                                        <p:tgtEl>
                                          <p:spTgt spid="11"/>
                                        </p:tgtEl>
                                      </p:cBhvr>
                                    </p:animEffect>
                                    <p:anim calcmode="lin" valueType="num">
                                      <p:cBhvr>
                                        <p:cTn id="63" dur="1000" fill="hold"/>
                                        <p:tgtEl>
                                          <p:spTgt spid="11"/>
                                        </p:tgtEl>
                                        <p:attrNameLst>
                                          <p:attrName>ppt_x</p:attrName>
                                        </p:attrNameLst>
                                      </p:cBhvr>
                                      <p:tavLst>
                                        <p:tav tm="0">
                                          <p:val>
                                            <p:strVal val="#ppt_x"/>
                                          </p:val>
                                        </p:tav>
                                        <p:tav tm="100000">
                                          <p:val>
                                            <p:strVal val="#ppt_x"/>
                                          </p:val>
                                        </p:tav>
                                      </p:tavLst>
                                    </p:anim>
                                    <p:anim calcmode="lin" valueType="num">
                                      <p:cBhvr>
                                        <p:cTn id="64" dur="1000" fill="hold"/>
                                        <p:tgtEl>
                                          <p:spTgt spid="11"/>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1000"/>
                                        <p:tgtEl>
                                          <p:spTgt spid="12"/>
                                        </p:tgtEl>
                                      </p:cBhvr>
                                    </p:animEffect>
                                    <p:anim calcmode="lin" valueType="num">
                                      <p:cBhvr>
                                        <p:cTn id="68" dur="1000" fill="hold"/>
                                        <p:tgtEl>
                                          <p:spTgt spid="12"/>
                                        </p:tgtEl>
                                        <p:attrNameLst>
                                          <p:attrName>ppt_x</p:attrName>
                                        </p:attrNameLst>
                                      </p:cBhvr>
                                      <p:tavLst>
                                        <p:tav tm="0">
                                          <p:val>
                                            <p:strVal val="#ppt_x"/>
                                          </p:val>
                                        </p:tav>
                                        <p:tav tm="100000">
                                          <p:val>
                                            <p:strVal val="#ppt_x"/>
                                          </p:val>
                                        </p:tav>
                                      </p:tavLst>
                                    </p:anim>
                                    <p:anim calcmode="lin" valueType="num">
                                      <p:cBhvr>
                                        <p:cTn id="69" dur="1000" fill="hold"/>
                                        <p:tgtEl>
                                          <p:spTgt spid="12"/>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9"/>
                                        </p:tgtEl>
                                        <p:attrNameLst>
                                          <p:attrName>style.visibility</p:attrName>
                                        </p:attrNameLst>
                                      </p:cBhvr>
                                      <p:to>
                                        <p:strVal val="visible"/>
                                      </p:to>
                                    </p:set>
                                    <p:animEffect transition="in" filter="fade">
                                      <p:cBhvr>
                                        <p:cTn id="72" dur="1000"/>
                                        <p:tgtEl>
                                          <p:spTgt spid="9"/>
                                        </p:tgtEl>
                                      </p:cBhvr>
                                    </p:animEffect>
                                    <p:anim calcmode="lin" valueType="num">
                                      <p:cBhvr>
                                        <p:cTn id="73" dur="1000" fill="hold"/>
                                        <p:tgtEl>
                                          <p:spTgt spid="9"/>
                                        </p:tgtEl>
                                        <p:attrNameLst>
                                          <p:attrName>ppt_x</p:attrName>
                                        </p:attrNameLst>
                                      </p:cBhvr>
                                      <p:tavLst>
                                        <p:tav tm="0">
                                          <p:val>
                                            <p:strVal val="#ppt_x"/>
                                          </p:val>
                                        </p:tav>
                                        <p:tav tm="100000">
                                          <p:val>
                                            <p:strVal val="#ppt_x"/>
                                          </p:val>
                                        </p:tav>
                                      </p:tavLst>
                                    </p:anim>
                                    <p:anim calcmode="lin" valueType="num">
                                      <p:cBhvr>
                                        <p:cTn id="7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9" grpId="0"/>
      <p:bldP spid="10" grpId="0"/>
      <p:bldP spid="29" grpId="0"/>
      <p:bldP spid="11" grpId="0" animBg="1"/>
      <p:bldP spid="12" grpId="0"/>
      <p:bldP spid="34" grpId="0"/>
      <p:bldP spid="13" grpId="0"/>
      <p:bldP spid="3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透视规范化矩阵</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27</a:t>
            </a:fld>
            <a:endParaRPr lang="zh-CN" altLang="en-US" dirty="0"/>
          </a:p>
        </p:txBody>
      </p:sp>
      <p:grpSp>
        <p:nvGrpSpPr>
          <p:cNvPr id="5" name="组合 4"/>
          <p:cNvGrpSpPr/>
          <p:nvPr/>
        </p:nvGrpSpPr>
        <p:grpSpPr>
          <a:xfrm>
            <a:off x="986378" y="628650"/>
            <a:ext cx="6954094" cy="2082441"/>
            <a:chOff x="565288" y="3342928"/>
            <a:chExt cx="4950338" cy="1482406"/>
          </a:xfrm>
        </p:grpSpPr>
        <p:pic>
          <p:nvPicPr>
            <p:cNvPr id="6" name="图片 5"/>
            <p:cNvPicPr>
              <a:picLocks noChangeAspect="1"/>
            </p:cNvPicPr>
            <p:nvPr/>
          </p:nvPicPr>
          <p:blipFill>
            <a:blip r:embed="rId2"/>
            <a:stretch>
              <a:fillRect/>
            </a:stretch>
          </p:blipFill>
          <p:spPr>
            <a:xfrm>
              <a:off x="565288" y="3342928"/>
              <a:ext cx="4950338" cy="1482406"/>
            </a:xfrm>
            <a:prstGeom prst="rect">
              <a:avLst/>
            </a:prstGeom>
          </p:spPr>
        </p:pic>
        <p:pic>
          <p:nvPicPr>
            <p:cNvPr id="7" name="图片 6"/>
            <p:cNvPicPr>
              <a:picLocks noChangeAspect="1"/>
            </p:cNvPicPr>
            <p:nvPr/>
          </p:nvPicPr>
          <p:blipFill>
            <a:blip r:embed="rId3"/>
            <a:stretch>
              <a:fillRect/>
            </a:stretch>
          </p:blipFill>
          <p:spPr>
            <a:xfrm>
              <a:off x="4546508" y="3460160"/>
              <a:ext cx="97792" cy="97478"/>
            </a:xfrm>
            <a:prstGeom prst="rect">
              <a:avLst/>
            </a:prstGeom>
          </p:spPr>
        </p:pic>
        <p:pic>
          <p:nvPicPr>
            <p:cNvPr id="8" name="图片 7"/>
            <p:cNvPicPr>
              <a:picLocks noChangeAspect="1"/>
            </p:cNvPicPr>
            <p:nvPr/>
          </p:nvPicPr>
          <p:blipFill>
            <a:blip r:embed="rId3"/>
            <a:stretch>
              <a:fillRect/>
            </a:stretch>
          </p:blipFill>
          <p:spPr>
            <a:xfrm>
              <a:off x="4497612" y="4628267"/>
              <a:ext cx="97792" cy="97478"/>
            </a:xfrm>
            <a:prstGeom prst="rect">
              <a:avLst/>
            </a:prstGeom>
          </p:spPr>
        </p:pic>
        <p:pic>
          <p:nvPicPr>
            <p:cNvPr id="9" name="图片 8"/>
            <p:cNvPicPr>
              <a:picLocks noChangeAspect="1"/>
            </p:cNvPicPr>
            <p:nvPr/>
          </p:nvPicPr>
          <p:blipFill>
            <a:blip r:embed="rId3"/>
            <a:stretch>
              <a:fillRect/>
            </a:stretch>
          </p:blipFill>
          <p:spPr>
            <a:xfrm>
              <a:off x="5238875" y="4034332"/>
              <a:ext cx="97792" cy="97478"/>
            </a:xfrm>
            <a:prstGeom prst="rect">
              <a:avLst/>
            </a:prstGeom>
          </p:spPr>
        </p:pic>
        <p:pic>
          <p:nvPicPr>
            <p:cNvPr id="10" name="图片 9"/>
            <p:cNvPicPr>
              <a:picLocks noChangeAspect="1"/>
            </p:cNvPicPr>
            <p:nvPr/>
          </p:nvPicPr>
          <p:blipFill>
            <a:blip r:embed="rId3"/>
            <a:stretch>
              <a:fillRect/>
            </a:stretch>
          </p:blipFill>
          <p:spPr>
            <a:xfrm>
              <a:off x="3763618" y="4041307"/>
              <a:ext cx="97792" cy="97478"/>
            </a:xfrm>
            <a:prstGeom prst="rect">
              <a:avLst/>
            </a:prstGeom>
          </p:spPr>
        </p:pic>
      </p:grpSp>
      <p:pic>
        <p:nvPicPr>
          <p:cNvPr id="11" name="图片 10"/>
          <p:cNvPicPr>
            <a:picLocks noChangeAspect="1"/>
          </p:cNvPicPr>
          <p:nvPr/>
        </p:nvPicPr>
        <p:blipFill>
          <a:blip r:embed="rId4"/>
          <a:stretch>
            <a:fillRect/>
          </a:stretch>
        </p:blipFill>
        <p:spPr>
          <a:xfrm>
            <a:off x="458970" y="3127614"/>
            <a:ext cx="2402881" cy="1391093"/>
          </a:xfrm>
          <a:prstGeom prst="rect">
            <a:avLst/>
          </a:prstGeom>
        </p:spPr>
      </p:pic>
      <p:grpSp>
        <p:nvGrpSpPr>
          <p:cNvPr id="13" name="组合 12"/>
          <p:cNvGrpSpPr/>
          <p:nvPr/>
        </p:nvGrpSpPr>
        <p:grpSpPr>
          <a:xfrm>
            <a:off x="2452572" y="5137018"/>
            <a:ext cx="2205787" cy="1536127"/>
            <a:chOff x="1492905" y="4961378"/>
            <a:chExt cx="1982621" cy="1394346"/>
          </a:xfrm>
        </p:grpSpPr>
        <p:pic>
          <p:nvPicPr>
            <p:cNvPr id="14" name="图片 13"/>
            <p:cNvPicPr>
              <a:picLocks noChangeAspect="1"/>
            </p:cNvPicPr>
            <p:nvPr/>
          </p:nvPicPr>
          <p:blipFill>
            <a:blip r:embed="rId5"/>
            <a:stretch>
              <a:fillRect/>
            </a:stretch>
          </p:blipFill>
          <p:spPr>
            <a:xfrm>
              <a:off x="1492905" y="4961378"/>
              <a:ext cx="1982621" cy="676800"/>
            </a:xfrm>
            <a:prstGeom prst="rect">
              <a:avLst/>
            </a:prstGeom>
          </p:spPr>
        </p:pic>
        <p:pic>
          <p:nvPicPr>
            <p:cNvPr id="15" name="图片 14"/>
            <p:cNvPicPr>
              <a:picLocks noChangeAspect="1"/>
            </p:cNvPicPr>
            <p:nvPr/>
          </p:nvPicPr>
          <p:blipFill>
            <a:blip r:embed="rId6"/>
            <a:stretch>
              <a:fillRect/>
            </a:stretch>
          </p:blipFill>
          <p:spPr>
            <a:xfrm>
              <a:off x="1492905" y="5680686"/>
              <a:ext cx="1962087" cy="675038"/>
            </a:xfrm>
            <a:prstGeom prst="rect">
              <a:avLst/>
            </a:prstGeom>
          </p:spPr>
        </p:pic>
      </p:grpSp>
      <p:sp>
        <p:nvSpPr>
          <p:cNvPr id="16" name="矩形 15"/>
          <p:cNvSpPr/>
          <p:nvPr/>
        </p:nvSpPr>
        <p:spPr>
          <a:xfrm>
            <a:off x="1868816" y="3833586"/>
            <a:ext cx="866194" cy="312085"/>
          </a:xfrm>
          <a:prstGeom prst="rect">
            <a:avLst/>
          </a:prstGeom>
          <a:noFill/>
          <a:ln w="28575">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p:nvGrpSpPr>
        <p:grpSpPr>
          <a:xfrm>
            <a:off x="5680258" y="5128676"/>
            <a:ext cx="2072399" cy="1559158"/>
            <a:chOff x="6419869" y="5388118"/>
            <a:chExt cx="1862729" cy="1415251"/>
          </a:xfrm>
        </p:grpSpPr>
        <p:pic>
          <p:nvPicPr>
            <p:cNvPr id="18" name="图片 17"/>
            <p:cNvPicPr>
              <a:picLocks noChangeAspect="1"/>
            </p:cNvPicPr>
            <p:nvPr/>
          </p:nvPicPr>
          <p:blipFill rotWithShape="1">
            <a:blip r:embed="rId7"/>
            <a:srcRect r="21756"/>
            <a:stretch/>
          </p:blipFill>
          <p:spPr>
            <a:xfrm>
              <a:off x="6419869" y="5388118"/>
              <a:ext cx="1629311" cy="1409492"/>
            </a:xfrm>
            <a:prstGeom prst="rect">
              <a:avLst/>
            </a:prstGeom>
          </p:spPr>
        </p:pic>
        <p:pic>
          <p:nvPicPr>
            <p:cNvPr id="19" name="图片 18"/>
            <p:cNvPicPr>
              <a:picLocks noChangeAspect="1"/>
            </p:cNvPicPr>
            <p:nvPr/>
          </p:nvPicPr>
          <p:blipFill rotWithShape="1">
            <a:blip r:embed="rId7"/>
            <a:srcRect l="30919"/>
            <a:stretch/>
          </p:blipFill>
          <p:spPr>
            <a:xfrm>
              <a:off x="6844081" y="5393877"/>
              <a:ext cx="1438517" cy="1409492"/>
            </a:xfrm>
            <a:prstGeom prst="rect">
              <a:avLst/>
            </a:prstGeom>
          </p:spPr>
        </p:pic>
      </p:grpSp>
      <p:cxnSp>
        <p:nvCxnSpPr>
          <p:cNvPr id="20" name="直接连接符 19"/>
          <p:cNvCxnSpPr/>
          <p:nvPr/>
        </p:nvCxnSpPr>
        <p:spPr>
          <a:xfrm flipH="1">
            <a:off x="458970" y="2791624"/>
            <a:ext cx="8434578" cy="1640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857728" y="5374805"/>
            <a:ext cx="1314784" cy="1015663"/>
          </a:xfrm>
          <a:prstGeom prst="rect">
            <a:avLst/>
          </a:prstGeom>
          <a:noFill/>
        </p:spPr>
        <p:txBody>
          <a:bodyPr wrap="none" rtlCol="0">
            <a:spAutoFit/>
          </a:bodyPr>
          <a:lstStyle/>
          <a:p>
            <a:r>
              <a:rPr lang="en-US" altLang="zh-CN" sz="2000" dirty="0" smtClean="0">
                <a:solidFill>
                  <a:srgbClr val="0000FF"/>
                </a:solidFill>
              </a:rPr>
              <a:t>-near </a:t>
            </a:r>
            <a:r>
              <a:rPr lang="en-US" altLang="zh-CN" sz="2000" dirty="0" smtClean="0">
                <a:solidFill>
                  <a:srgbClr val="0000FF"/>
                </a:solidFill>
                <a:sym typeface="Wingdings" panose="05000000000000000000" pitchFamily="2" charset="2"/>
              </a:rPr>
              <a:t> -1</a:t>
            </a:r>
          </a:p>
          <a:p>
            <a:endParaRPr lang="en-US" altLang="zh-CN" sz="2000" dirty="0" smtClean="0">
              <a:solidFill>
                <a:srgbClr val="0000FF"/>
              </a:solidFill>
              <a:sym typeface="Wingdings" panose="05000000000000000000" pitchFamily="2" charset="2"/>
            </a:endParaRPr>
          </a:p>
          <a:p>
            <a:r>
              <a:rPr lang="en-US" altLang="zh-CN" sz="2000" dirty="0" smtClean="0">
                <a:solidFill>
                  <a:srgbClr val="0000FF"/>
                </a:solidFill>
                <a:sym typeface="Wingdings" panose="05000000000000000000" pitchFamily="2" charset="2"/>
              </a:rPr>
              <a:t>-far     1</a:t>
            </a:r>
            <a:endParaRPr lang="zh-CN" altLang="en-US" sz="2000" dirty="0">
              <a:solidFill>
                <a:srgbClr val="0000FF"/>
              </a:solidFill>
            </a:endParaRPr>
          </a:p>
        </p:txBody>
      </p:sp>
      <p:sp>
        <p:nvSpPr>
          <p:cNvPr id="32" name="右箭头 31"/>
          <p:cNvSpPr/>
          <p:nvPr/>
        </p:nvSpPr>
        <p:spPr>
          <a:xfrm>
            <a:off x="3156569" y="3665078"/>
            <a:ext cx="418495" cy="3370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21" name="矩形 20"/>
              <p:cNvSpPr/>
              <p:nvPr/>
            </p:nvSpPr>
            <p:spPr>
              <a:xfrm>
                <a:off x="3793641" y="3197518"/>
                <a:ext cx="1407501" cy="11585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eqArr>
                        <m:eqArrPr>
                          <m:ctrlPr>
                            <a:rPr lang="en-US" altLang="zh-CN" i="1" smtClean="0">
                              <a:latin typeface="Cambria Math" panose="02040503050406030204" pitchFamily="18" charset="0"/>
                            </a:rPr>
                          </m:ctrlPr>
                        </m:eqArrPr>
                        <m:e>
                          <m:sSup>
                            <m:sSupPr>
                              <m:ctrlPr>
                                <a:rPr lang="en-US"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m:t>
                              </m:r>
                            </m:sup>
                          </m:sSup>
                          <m:r>
                            <a:rPr lang="en-US" altLang="zh-CN" i="1">
                              <a:latin typeface="Cambria Math" panose="02040503050406030204" pitchFamily="18" charset="0"/>
                            </a:rPr>
                            <m:t>=</m:t>
                          </m:r>
                          <m:r>
                            <a:rPr lang="en-US" altLang="zh-CN" i="1">
                              <a:latin typeface="Cambria Math" panose="02040503050406030204" pitchFamily="18" charset="0"/>
                            </a:rPr>
                            <m:t>𝑥</m:t>
                          </m:r>
                        </m:e>
                        <m:e>
                          <m:sSup>
                            <m:sSupPr>
                              <m:ctrlPr>
                                <a:rPr lang="en-US" altLang="zh-CN" i="1">
                                  <a:latin typeface="Cambria Math" panose="02040503050406030204" pitchFamily="18" charset="0"/>
                                </a:rPr>
                              </m:ctrlPr>
                            </m:sSupPr>
                            <m:e>
                              <m:r>
                                <a:rPr lang="en-US" altLang="zh-CN" i="1">
                                  <a:latin typeface="Cambria Math" panose="02040503050406030204" pitchFamily="18" charset="0"/>
                                </a:rPr>
                                <m:t>𝑦</m:t>
                              </m:r>
                            </m:e>
                            <m:sup>
                              <m:r>
                                <a:rPr lang="en-US" altLang="zh-CN" i="1">
                                  <a:latin typeface="Cambria Math" panose="02040503050406030204" pitchFamily="18" charset="0"/>
                                </a:rPr>
                                <m:t>′</m:t>
                              </m:r>
                            </m:sup>
                          </m:sSup>
                          <m:r>
                            <a:rPr lang="en-US" altLang="zh-CN" i="1">
                              <a:latin typeface="Cambria Math" panose="02040503050406030204" pitchFamily="18" charset="0"/>
                            </a:rPr>
                            <m:t>=</m:t>
                          </m:r>
                          <m:r>
                            <a:rPr lang="en-US" altLang="zh-CN" i="1">
                              <a:latin typeface="Cambria Math" panose="02040503050406030204" pitchFamily="18" charset="0"/>
                            </a:rPr>
                            <m:t>𝑦</m:t>
                          </m:r>
                        </m:e>
                        <m:e>
                          <m:sSup>
                            <m:sSupPr>
                              <m:ctrlPr>
                                <a:rPr lang="en-US" altLang="zh-CN" i="1">
                                  <a:latin typeface="Cambria Math" panose="02040503050406030204" pitchFamily="18" charset="0"/>
                                </a:rPr>
                              </m:ctrlPr>
                            </m:sSupPr>
                            <m:e>
                              <m:r>
                                <a:rPr lang="en-US" altLang="zh-CN" i="1">
                                  <a:latin typeface="Cambria Math" panose="02040503050406030204" pitchFamily="18" charset="0"/>
                                </a:rPr>
                                <m:t>𝑧</m:t>
                              </m:r>
                            </m:e>
                            <m:sup>
                              <m:r>
                                <a:rPr lang="en-US" altLang="zh-CN" i="1">
                                  <a:latin typeface="Cambria Math" panose="02040503050406030204" pitchFamily="18" charset="0"/>
                                </a:rPr>
                                <m:t>′</m:t>
                              </m:r>
                            </m:sup>
                          </m:sSup>
                          <m:r>
                            <a:rPr lang="en-US" altLang="zh-CN" i="1">
                              <a:latin typeface="Cambria Math" panose="02040503050406030204" pitchFamily="18" charset="0"/>
                            </a:rPr>
                            <m:t>=</m:t>
                          </m:r>
                          <m:r>
                            <a:rPr lang="zh-CN" altLang="en-US" i="1">
                              <a:latin typeface="Cambria Math" panose="02040503050406030204" pitchFamily="18" charset="0"/>
                            </a:rPr>
                            <m:t>𝛼</m:t>
                          </m:r>
                          <m:r>
                            <a:rPr lang="en-US" altLang="zh-CN" i="1">
                              <a:latin typeface="Cambria Math" panose="02040503050406030204" pitchFamily="18" charset="0"/>
                            </a:rPr>
                            <m:t>𝑧</m:t>
                          </m:r>
                          <m:r>
                            <a:rPr lang="en-US" altLang="zh-CN" b="0" i="1" smtClean="0">
                              <a:latin typeface="Cambria Math" panose="02040503050406030204" pitchFamily="18" charset="0"/>
                            </a:rPr>
                            <m:t>+</m:t>
                          </m:r>
                          <m:r>
                            <a:rPr lang="zh-CN" altLang="en-US" b="0" i="1" smtClean="0">
                              <a:latin typeface="Cambria Math" panose="02040503050406030204" pitchFamily="18" charset="0"/>
                            </a:rPr>
                            <m:t>𝛽</m:t>
                          </m:r>
                        </m:e>
                        <m:e>
                          <m:sSup>
                            <m:sSupPr>
                              <m:ctrlPr>
                                <a:rPr lang="en-US" altLang="zh-CN" i="1">
                                  <a:latin typeface="Cambria Math" panose="02040503050406030204" pitchFamily="18" charset="0"/>
                                </a:rPr>
                              </m:ctrlPr>
                            </m:sSupPr>
                            <m:e>
                              <m:r>
                                <a:rPr lang="en-US" altLang="zh-CN" i="1">
                                  <a:latin typeface="Cambria Math" panose="02040503050406030204" pitchFamily="18" charset="0"/>
                                </a:rPr>
                                <m:t>𝑤</m:t>
                              </m:r>
                            </m:e>
                            <m:sup>
                              <m:r>
                                <a:rPr lang="en-US" altLang="zh-CN" i="1">
                                  <a:latin typeface="Cambria Math" panose="02040503050406030204" pitchFamily="18" charset="0"/>
                                </a:rPr>
                                <m:t>′</m:t>
                              </m:r>
                            </m:sup>
                          </m:sSup>
                          <m:r>
                            <a:rPr lang="en-US" altLang="zh-CN" i="1">
                              <a:latin typeface="Cambria Math" panose="02040503050406030204" pitchFamily="18" charset="0"/>
                            </a:rPr>
                            <m:t>=−</m:t>
                          </m:r>
                          <m:r>
                            <a:rPr lang="en-US" altLang="zh-CN" i="1">
                              <a:latin typeface="Cambria Math" panose="02040503050406030204" pitchFamily="18" charset="0"/>
                            </a:rPr>
                            <m:t>𝑧</m:t>
                          </m:r>
                        </m:e>
                      </m:eqArr>
                    </m:oMath>
                  </m:oMathPara>
                </a14:m>
                <a:endParaRPr lang="zh-CN" altLang="en-US" dirty="0"/>
              </a:p>
            </p:txBody>
          </p:sp>
        </mc:Choice>
        <mc:Fallback xmlns="">
          <p:sp>
            <p:nvSpPr>
              <p:cNvPr id="21" name="矩形 20"/>
              <p:cNvSpPr>
                <a:spLocks noRot="1" noChangeAspect="1" noMove="1" noResize="1" noEditPoints="1" noAdjustHandles="1" noChangeArrowheads="1" noChangeShapeType="1" noTextEdit="1"/>
              </p:cNvSpPr>
              <p:nvPr/>
            </p:nvSpPr>
            <p:spPr>
              <a:xfrm>
                <a:off x="3793641" y="3197518"/>
                <a:ext cx="1407501" cy="1158587"/>
              </a:xfrm>
              <a:prstGeom prst="rect">
                <a:avLst/>
              </a:prstGeom>
              <a:blipFill>
                <a:blip r:embed="rId8"/>
                <a:stretch>
                  <a:fillRect/>
                </a:stretch>
              </a:blipFill>
            </p:spPr>
            <p:txBody>
              <a:bodyPr/>
              <a:lstStyle/>
              <a:p>
                <a:r>
                  <a:rPr lang="zh-CN" altLang="en-US">
                    <a:noFill/>
                  </a:rPr>
                  <a:t> </a:t>
                </a:r>
              </a:p>
            </p:txBody>
          </p:sp>
        </mc:Fallback>
      </mc:AlternateContent>
      <p:sp>
        <p:nvSpPr>
          <p:cNvPr id="26" name="右箭头 25"/>
          <p:cNvSpPr/>
          <p:nvPr/>
        </p:nvSpPr>
        <p:spPr>
          <a:xfrm>
            <a:off x="5467433" y="3654652"/>
            <a:ext cx="418495" cy="3370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3" name="组合 32"/>
          <p:cNvGrpSpPr/>
          <p:nvPr/>
        </p:nvGrpSpPr>
        <p:grpSpPr>
          <a:xfrm>
            <a:off x="6152220" y="2898398"/>
            <a:ext cx="2161241" cy="2002847"/>
            <a:chOff x="5149859" y="2855357"/>
            <a:chExt cx="2161241" cy="2002847"/>
          </a:xfrm>
        </p:grpSpPr>
        <p:pic>
          <p:nvPicPr>
            <p:cNvPr id="12" name="图片 11"/>
            <p:cNvPicPr>
              <a:picLocks noChangeAspect="1"/>
            </p:cNvPicPr>
            <p:nvPr/>
          </p:nvPicPr>
          <p:blipFill>
            <a:blip r:embed="rId9"/>
            <a:stretch>
              <a:fillRect/>
            </a:stretch>
          </p:blipFill>
          <p:spPr>
            <a:xfrm>
              <a:off x="5479301" y="2855357"/>
              <a:ext cx="1831799" cy="2002847"/>
            </a:xfrm>
            <a:prstGeom prst="rect">
              <a:avLst/>
            </a:prstGeom>
          </p:spPr>
        </p:pic>
        <p:sp>
          <p:nvSpPr>
            <p:cNvPr id="31" name="左大括号 30"/>
            <p:cNvSpPr/>
            <p:nvPr/>
          </p:nvSpPr>
          <p:spPr>
            <a:xfrm>
              <a:off x="5149859" y="3084573"/>
              <a:ext cx="247246" cy="1476875"/>
            </a:xfrm>
            <a:prstGeom prst="leftBrace">
              <a:avLst>
                <a:gd name="adj1" fmla="val 43627"/>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34" name="矩形 33"/>
              <p:cNvSpPr/>
              <p:nvPr/>
            </p:nvSpPr>
            <p:spPr>
              <a:xfrm>
                <a:off x="3868058" y="555294"/>
                <a:ext cx="679865"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nor/>
                        </m:rPr>
                        <a:rPr lang="en-US" altLang="zh-CN" sz="1400">
                          <a:latin typeface="Cambria Math" charset="0"/>
                        </a:rPr>
                        <m:t>𝑥</m:t>
                      </m:r>
                      <m:r>
                        <m:rPr>
                          <m:nor/>
                        </m:rPr>
                        <a:rPr lang="en-US" altLang="zh-CN" sz="1400">
                          <a:latin typeface="Cambria Math" charset="0"/>
                        </a:rPr>
                        <m:t>=−</m:t>
                      </m:r>
                      <m:r>
                        <m:rPr>
                          <m:nor/>
                        </m:rPr>
                        <a:rPr lang="en-US" altLang="zh-CN" sz="1400">
                          <a:latin typeface="Cambria Math" charset="0"/>
                          <a:ea typeface="Cambria Math" charset="0"/>
                          <a:cs typeface="Cambria Math" charset="0"/>
                        </a:rPr>
                        <m:t>𝑧</m:t>
                      </m:r>
                    </m:oMath>
                  </m:oMathPara>
                </a14:m>
                <a:endParaRPr lang="en-US" altLang="zh-CN" sz="1400" dirty="0">
                  <a:ea typeface="Cambria Math" charset="0"/>
                  <a:cs typeface="Cambria Math" charset="0"/>
                </a:endParaRPr>
              </a:p>
            </p:txBody>
          </p:sp>
        </mc:Choice>
        <mc:Fallback xmlns="">
          <p:sp>
            <p:nvSpPr>
              <p:cNvPr id="34" name="矩形 33"/>
              <p:cNvSpPr>
                <a:spLocks noRot="1" noChangeAspect="1" noMove="1" noResize="1" noEditPoints="1" noAdjustHandles="1" noChangeArrowheads="1" noChangeShapeType="1" noTextEdit="1"/>
              </p:cNvSpPr>
              <p:nvPr/>
            </p:nvSpPr>
            <p:spPr>
              <a:xfrm>
                <a:off x="3868058" y="555294"/>
                <a:ext cx="679865" cy="307777"/>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矩形 34"/>
              <p:cNvSpPr/>
              <p:nvPr/>
            </p:nvSpPr>
            <p:spPr>
              <a:xfrm>
                <a:off x="1088547" y="555294"/>
                <a:ext cx="545213"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nor/>
                        </m:rPr>
                        <a:rPr lang="en-US" altLang="zh-CN" sz="1400">
                          <a:latin typeface="Cambria Math" charset="0"/>
                        </a:rPr>
                        <m:t>𝑥</m:t>
                      </m:r>
                      <m:r>
                        <m:rPr>
                          <m:nor/>
                        </m:rPr>
                        <a:rPr lang="en-US" altLang="zh-CN" sz="1400">
                          <a:latin typeface="Cambria Math" charset="0"/>
                        </a:rPr>
                        <m:t>=</m:t>
                      </m:r>
                      <m:r>
                        <m:rPr>
                          <m:nor/>
                        </m:rPr>
                        <a:rPr lang="en-US" altLang="zh-CN" sz="1400">
                          <a:latin typeface="Cambria Math" charset="0"/>
                          <a:ea typeface="Cambria Math" charset="0"/>
                          <a:cs typeface="Cambria Math" charset="0"/>
                        </a:rPr>
                        <m:t>𝑧</m:t>
                      </m:r>
                    </m:oMath>
                  </m:oMathPara>
                </a14:m>
                <a:endParaRPr lang="en-US" altLang="zh-CN" sz="1400" dirty="0">
                  <a:ea typeface="Cambria Math" charset="0"/>
                  <a:cs typeface="Cambria Math" charset="0"/>
                </a:endParaRPr>
              </a:p>
            </p:txBody>
          </p:sp>
        </mc:Choice>
        <mc:Fallback xmlns="">
          <p:sp>
            <p:nvSpPr>
              <p:cNvPr id="35" name="矩形 34"/>
              <p:cNvSpPr>
                <a:spLocks noRot="1" noChangeAspect="1" noMove="1" noResize="1" noEditPoints="1" noAdjustHandles="1" noChangeArrowheads="1" noChangeShapeType="1" noTextEdit="1"/>
              </p:cNvSpPr>
              <p:nvPr/>
            </p:nvSpPr>
            <p:spPr>
              <a:xfrm>
                <a:off x="1088547" y="555294"/>
                <a:ext cx="545213" cy="307777"/>
              </a:xfrm>
              <a:prstGeom prst="rect">
                <a:avLst/>
              </a:prstGeom>
              <a:blipFill>
                <a:blip r:embed="rId11"/>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89912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anim calcmode="lin" valueType="num">
                                      <p:cBhvr>
                                        <p:cTn id="13" dur="1000" fill="hold"/>
                                        <p:tgtEl>
                                          <p:spTgt spid="16"/>
                                        </p:tgtEl>
                                        <p:attrNameLst>
                                          <p:attrName>ppt_x</p:attrName>
                                        </p:attrNameLst>
                                      </p:cBhvr>
                                      <p:tavLst>
                                        <p:tav tm="0">
                                          <p:val>
                                            <p:strVal val="#ppt_x"/>
                                          </p:val>
                                        </p:tav>
                                        <p:tav tm="100000">
                                          <p:val>
                                            <p:strVal val="#ppt_x"/>
                                          </p:val>
                                        </p:tav>
                                      </p:tavLst>
                                    </p:anim>
                                    <p:anim calcmode="lin" valueType="num">
                                      <p:cBhvr>
                                        <p:cTn id="1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1000"/>
                                        <p:tgtEl>
                                          <p:spTgt spid="32"/>
                                        </p:tgtEl>
                                      </p:cBhvr>
                                    </p:animEffect>
                                    <p:anim calcmode="lin" valueType="num">
                                      <p:cBhvr>
                                        <p:cTn id="20" dur="1000" fill="hold"/>
                                        <p:tgtEl>
                                          <p:spTgt spid="32"/>
                                        </p:tgtEl>
                                        <p:attrNameLst>
                                          <p:attrName>ppt_x</p:attrName>
                                        </p:attrNameLst>
                                      </p:cBhvr>
                                      <p:tavLst>
                                        <p:tav tm="0">
                                          <p:val>
                                            <p:strVal val="#ppt_x"/>
                                          </p:val>
                                        </p:tav>
                                        <p:tav tm="100000">
                                          <p:val>
                                            <p:strVal val="#ppt_x"/>
                                          </p:val>
                                        </p:tav>
                                      </p:tavLst>
                                    </p:anim>
                                    <p:anim calcmode="lin" valueType="num">
                                      <p:cBhvr>
                                        <p:cTn id="21" dur="1000" fill="hold"/>
                                        <p:tgtEl>
                                          <p:spTgt spid="32"/>
                                        </p:tgtEl>
                                        <p:attrNameLst>
                                          <p:attrName>ppt_y</p:attrName>
                                        </p:attrNameLst>
                                      </p:cBhvr>
                                      <p:tavLst>
                                        <p:tav tm="0">
                                          <p:val>
                                            <p:strVal val="#ppt_y+.1"/>
                                          </p:val>
                                        </p:tav>
                                        <p:tav tm="100000">
                                          <p:val>
                                            <p:strVal val="#ppt_y"/>
                                          </p:val>
                                        </p:tav>
                                      </p:tavLst>
                                    </p:anim>
                                  </p:childTnLst>
                                </p:cTn>
                              </p:par>
                            </p:childTnLst>
                          </p:cTn>
                        </p:par>
                        <p:par>
                          <p:cTn id="22" fill="hold">
                            <p:stCondLst>
                              <p:cond delay="1000"/>
                            </p:stCondLst>
                            <p:childTnLst>
                              <p:par>
                                <p:cTn id="23" presetID="42" presetClass="entr" presetSubtype="0" fill="hold" grpId="0" nodeType="after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1000"/>
                                        <p:tgtEl>
                                          <p:spTgt spid="21"/>
                                        </p:tgtEl>
                                      </p:cBhvr>
                                    </p:animEffect>
                                    <p:anim calcmode="lin" valueType="num">
                                      <p:cBhvr>
                                        <p:cTn id="26" dur="1000" fill="hold"/>
                                        <p:tgtEl>
                                          <p:spTgt spid="21"/>
                                        </p:tgtEl>
                                        <p:attrNameLst>
                                          <p:attrName>ppt_x</p:attrName>
                                        </p:attrNameLst>
                                      </p:cBhvr>
                                      <p:tavLst>
                                        <p:tav tm="0">
                                          <p:val>
                                            <p:strVal val="#ppt_x"/>
                                          </p:val>
                                        </p:tav>
                                        <p:tav tm="100000">
                                          <p:val>
                                            <p:strVal val="#ppt_x"/>
                                          </p:val>
                                        </p:tav>
                                      </p:tavLst>
                                    </p:anim>
                                    <p:anim calcmode="lin" valueType="num">
                                      <p:cBhvr>
                                        <p:cTn id="27"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1000"/>
                                        <p:tgtEl>
                                          <p:spTgt spid="26"/>
                                        </p:tgtEl>
                                      </p:cBhvr>
                                    </p:animEffect>
                                    <p:anim calcmode="lin" valueType="num">
                                      <p:cBhvr>
                                        <p:cTn id="33" dur="1000" fill="hold"/>
                                        <p:tgtEl>
                                          <p:spTgt spid="26"/>
                                        </p:tgtEl>
                                        <p:attrNameLst>
                                          <p:attrName>ppt_x</p:attrName>
                                        </p:attrNameLst>
                                      </p:cBhvr>
                                      <p:tavLst>
                                        <p:tav tm="0">
                                          <p:val>
                                            <p:strVal val="#ppt_x"/>
                                          </p:val>
                                        </p:tav>
                                        <p:tav tm="100000">
                                          <p:val>
                                            <p:strVal val="#ppt_x"/>
                                          </p:val>
                                        </p:tav>
                                      </p:tavLst>
                                    </p:anim>
                                    <p:anim calcmode="lin" valueType="num">
                                      <p:cBhvr>
                                        <p:cTn id="34" dur="1000" fill="hold"/>
                                        <p:tgtEl>
                                          <p:spTgt spid="26"/>
                                        </p:tgtEl>
                                        <p:attrNameLst>
                                          <p:attrName>ppt_y</p:attrName>
                                        </p:attrNameLst>
                                      </p:cBhvr>
                                      <p:tavLst>
                                        <p:tav tm="0">
                                          <p:val>
                                            <p:strVal val="#ppt_y+.1"/>
                                          </p:val>
                                        </p:tav>
                                        <p:tav tm="100000">
                                          <p:val>
                                            <p:strVal val="#ppt_y"/>
                                          </p:val>
                                        </p:tav>
                                      </p:tavLst>
                                    </p:anim>
                                  </p:childTnLst>
                                </p:cTn>
                              </p:par>
                            </p:childTnLst>
                          </p:cTn>
                        </p:par>
                        <p:par>
                          <p:cTn id="35" fill="hold">
                            <p:stCondLst>
                              <p:cond delay="1000"/>
                            </p:stCondLst>
                            <p:childTnLst>
                              <p:par>
                                <p:cTn id="36" presetID="42" presetClass="entr" presetSubtype="0" fill="hold" nodeType="after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1000"/>
                                        <p:tgtEl>
                                          <p:spTgt spid="33"/>
                                        </p:tgtEl>
                                      </p:cBhvr>
                                    </p:animEffect>
                                    <p:anim calcmode="lin" valueType="num">
                                      <p:cBhvr>
                                        <p:cTn id="39" dur="1000" fill="hold"/>
                                        <p:tgtEl>
                                          <p:spTgt spid="33"/>
                                        </p:tgtEl>
                                        <p:attrNameLst>
                                          <p:attrName>ppt_x</p:attrName>
                                        </p:attrNameLst>
                                      </p:cBhvr>
                                      <p:tavLst>
                                        <p:tav tm="0">
                                          <p:val>
                                            <p:strVal val="#ppt_x"/>
                                          </p:val>
                                        </p:tav>
                                        <p:tav tm="100000">
                                          <p:val>
                                            <p:strVal val="#ppt_x"/>
                                          </p:val>
                                        </p:tav>
                                      </p:tavLst>
                                    </p:anim>
                                    <p:anim calcmode="lin" valueType="num">
                                      <p:cBhvr>
                                        <p:cTn id="40"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1000"/>
                                        <p:tgtEl>
                                          <p:spTgt spid="27"/>
                                        </p:tgtEl>
                                      </p:cBhvr>
                                    </p:animEffect>
                                    <p:anim calcmode="lin" valueType="num">
                                      <p:cBhvr>
                                        <p:cTn id="46" dur="1000" fill="hold"/>
                                        <p:tgtEl>
                                          <p:spTgt spid="27"/>
                                        </p:tgtEl>
                                        <p:attrNameLst>
                                          <p:attrName>ppt_x</p:attrName>
                                        </p:attrNameLst>
                                      </p:cBhvr>
                                      <p:tavLst>
                                        <p:tav tm="0">
                                          <p:val>
                                            <p:strVal val="#ppt_x"/>
                                          </p:val>
                                        </p:tav>
                                        <p:tav tm="100000">
                                          <p:val>
                                            <p:strVal val="#ppt_x"/>
                                          </p:val>
                                        </p:tav>
                                      </p:tavLst>
                                    </p:anim>
                                    <p:anim calcmode="lin" valueType="num">
                                      <p:cBhvr>
                                        <p:cTn id="47" dur="1000" fill="hold"/>
                                        <p:tgtEl>
                                          <p:spTgt spid="27"/>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1000"/>
                                        <p:tgtEl>
                                          <p:spTgt spid="13"/>
                                        </p:tgtEl>
                                      </p:cBhvr>
                                    </p:animEffect>
                                    <p:anim calcmode="lin" valueType="num">
                                      <p:cBhvr>
                                        <p:cTn id="51" dur="1000" fill="hold"/>
                                        <p:tgtEl>
                                          <p:spTgt spid="13"/>
                                        </p:tgtEl>
                                        <p:attrNameLst>
                                          <p:attrName>ppt_x</p:attrName>
                                        </p:attrNameLst>
                                      </p:cBhvr>
                                      <p:tavLst>
                                        <p:tav tm="0">
                                          <p:val>
                                            <p:strVal val="#ppt_x"/>
                                          </p:val>
                                        </p:tav>
                                        <p:tav tm="100000">
                                          <p:val>
                                            <p:strVal val="#ppt_x"/>
                                          </p:val>
                                        </p:tav>
                                      </p:tavLst>
                                    </p:anim>
                                    <p:anim calcmode="lin" valueType="num">
                                      <p:cBhvr>
                                        <p:cTn id="52"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1000"/>
                                        <p:tgtEl>
                                          <p:spTgt spid="17"/>
                                        </p:tgtEl>
                                      </p:cBhvr>
                                    </p:animEffect>
                                    <p:anim calcmode="lin" valueType="num">
                                      <p:cBhvr>
                                        <p:cTn id="58" dur="1000" fill="hold"/>
                                        <p:tgtEl>
                                          <p:spTgt spid="17"/>
                                        </p:tgtEl>
                                        <p:attrNameLst>
                                          <p:attrName>ppt_x</p:attrName>
                                        </p:attrNameLst>
                                      </p:cBhvr>
                                      <p:tavLst>
                                        <p:tav tm="0">
                                          <p:val>
                                            <p:strVal val="#ppt_x"/>
                                          </p:val>
                                        </p:tav>
                                        <p:tav tm="100000">
                                          <p:val>
                                            <p:strVal val="#ppt_x"/>
                                          </p:val>
                                        </p:tav>
                                      </p:tavLst>
                                    </p:anim>
                                    <p:anim calcmode="lin" valueType="num">
                                      <p:cBhvr>
                                        <p:cTn id="5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7" grpId="0"/>
      <p:bldP spid="32" grpId="0" animBg="1"/>
      <p:bldP spid="21" grpId="0"/>
      <p:bldP spid="2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的透视变换</a:t>
            </a:r>
          </a:p>
        </p:txBody>
      </p:sp>
      <p:sp>
        <p:nvSpPr>
          <p:cNvPr id="3" name="内容占位符 2"/>
          <p:cNvSpPr>
            <a:spLocks noGrp="1"/>
          </p:cNvSpPr>
          <p:nvPr>
            <p:ph idx="1"/>
          </p:nvPr>
        </p:nvSpPr>
        <p:spPr/>
        <p:txBody>
          <a:bodyPr/>
          <a:lstStyle/>
          <a:p>
            <a:pPr>
              <a:buClr>
                <a:srgbClr val="94003F"/>
              </a:buClr>
            </a:pPr>
            <a:r>
              <a:rPr lang="zh-CN" altLang="en-US" dirty="0" smtClean="0"/>
              <a:t>视见体函</a:t>
            </a:r>
            <a:r>
              <a:rPr lang="zh-CN" altLang="en-US" dirty="0"/>
              <a:t>数的矩阵</a:t>
            </a:r>
            <a:r>
              <a:rPr lang="en-US" altLang="zh-CN" dirty="0"/>
              <a:t>?</a:t>
            </a:r>
          </a:p>
          <a:p>
            <a:pPr>
              <a:buClr>
                <a:srgbClr val="94003F"/>
              </a:buClr>
            </a:pPr>
            <a:endParaRPr lang="en-US" altLang="zh-CN" sz="2400" dirty="0"/>
          </a:p>
          <a:p>
            <a:pPr marL="0" indent="0">
              <a:buClr>
                <a:srgbClr val="94003F"/>
              </a:buClr>
              <a:buNone/>
            </a:pPr>
            <a:endParaRPr lang="en-US" altLang="zh-CN" sz="2400" dirty="0"/>
          </a:p>
          <a:p>
            <a:pPr>
              <a:buClr>
                <a:srgbClr val="94003F"/>
              </a:buClr>
            </a:pPr>
            <a:endParaRPr lang="en-US" altLang="zh-CN" sz="2400" dirty="0"/>
          </a:p>
          <a:p>
            <a:pPr>
              <a:buClr>
                <a:srgbClr val="94003F"/>
              </a:buClr>
            </a:pPr>
            <a:endParaRPr lang="en-US" altLang="zh-CN" sz="2400" dirty="0"/>
          </a:p>
          <a:p>
            <a:r>
              <a:rPr lang="zh-CN" altLang="en-US" dirty="0"/>
              <a:t>推导过程：</a:t>
            </a:r>
            <a:endParaRPr lang="en-US" altLang="zh-CN" sz="3200" dirty="0"/>
          </a:p>
          <a:p>
            <a:pPr lvl="1">
              <a:buClr>
                <a:schemeClr val="tx1"/>
              </a:buClr>
            </a:pPr>
            <a:r>
              <a:rPr lang="zh-CN" altLang="en-US" dirty="0"/>
              <a:t>错切变换</a:t>
            </a:r>
            <a:endParaRPr lang="en-US" altLang="zh-CN" dirty="0"/>
          </a:p>
          <a:p>
            <a:pPr lvl="1">
              <a:buClr>
                <a:schemeClr val="tx1"/>
              </a:buClr>
            </a:pPr>
            <a:r>
              <a:rPr lang="zh-CN" altLang="en-US" dirty="0"/>
              <a:t>缩放变换</a:t>
            </a:r>
            <a:endParaRPr lang="en-US" altLang="zh-CN" dirty="0"/>
          </a:p>
          <a:p>
            <a:pPr lvl="1">
              <a:buClr>
                <a:schemeClr val="tx1"/>
              </a:buClr>
            </a:pPr>
            <a:r>
              <a:rPr lang="zh-CN" altLang="en-US" dirty="0"/>
              <a:t>透视归一化变换</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28</a:t>
            </a:fld>
            <a:endParaRPr lang="zh-CN" altLang="en-US"/>
          </a:p>
        </p:txBody>
      </p:sp>
      <p:sp>
        <p:nvSpPr>
          <p:cNvPr id="24" name="矩形 23"/>
          <p:cNvSpPr/>
          <p:nvPr/>
        </p:nvSpPr>
        <p:spPr>
          <a:xfrm>
            <a:off x="920727" y="1801253"/>
            <a:ext cx="3506047" cy="1754326"/>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Frustum(</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left,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right,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bottom,     </a:t>
            </a:r>
          </a:p>
          <a:p>
            <a:r>
              <a:rPr lang="en-US" altLang="zh-CN" b="1" dirty="0" smtClean="0">
                <a:solidFill>
                  <a:srgbClr val="0000FF"/>
                </a:solidFill>
                <a:latin typeface="ZztexMono-Regular"/>
              </a:rPr>
              <a:t>	     </a:t>
            </a:r>
            <a:r>
              <a:rPr lang="en-US" altLang="zh-CN" b="1" dirty="0" err="1" smtClean="0">
                <a:solidFill>
                  <a:srgbClr val="0000FF"/>
                </a:solidFill>
                <a:latin typeface="ZztexMono-Regular"/>
              </a:rPr>
              <a:t>GLfloat</a:t>
            </a:r>
            <a:r>
              <a:rPr lang="en-US" altLang="zh-CN" b="1" dirty="0" smtClean="0">
                <a:solidFill>
                  <a:srgbClr val="0000FF"/>
                </a:solidFill>
                <a:latin typeface="ZztexMono-Regular"/>
              </a:rPr>
              <a:t> </a:t>
            </a:r>
            <a:r>
              <a:rPr lang="en-US" altLang="zh-CN" b="1" dirty="0">
                <a:latin typeface="ZztexMono-Regular"/>
              </a:rPr>
              <a:t>top,</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pic>
        <p:nvPicPr>
          <p:cNvPr id="9" name="图片 8"/>
          <p:cNvPicPr>
            <a:picLocks noChangeAspect="1"/>
          </p:cNvPicPr>
          <p:nvPr/>
        </p:nvPicPr>
        <p:blipFill>
          <a:blip r:embed="rId2"/>
          <a:stretch>
            <a:fillRect/>
          </a:stretch>
        </p:blipFill>
        <p:spPr>
          <a:xfrm>
            <a:off x="4537208" y="1538709"/>
            <a:ext cx="4167667" cy="1764239"/>
          </a:xfrm>
          <a:prstGeom prst="rect">
            <a:avLst/>
          </a:prstGeom>
        </p:spPr>
      </p:pic>
      <p:pic>
        <p:nvPicPr>
          <p:cNvPr id="26" name="图片 25"/>
          <p:cNvPicPr>
            <a:picLocks noChangeAspect="1"/>
          </p:cNvPicPr>
          <p:nvPr/>
        </p:nvPicPr>
        <p:blipFill>
          <a:blip r:embed="rId3"/>
          <a:stretch>
            <a:fillRect/>
          </a:stretch>
        </p:blipFill>
        <p:spPr>
          <a:xfrm>
            <a:off x="5735378" y="5344632"/>
            <a:ext cx="2313832" cy="1327768"/>
          </a:xfrm>
          <a:prstGeom prst="rect">
            <a:avLst/>
          </a:prstGeom>
        </p:spPr>
      </p:pic>
      <p:pic>
        <p:nvPicPr>
          <p:cNvPr id="27" name="图片 26"/>
          <p:cNvPicPr>
            <a:picLocks noChangeAspect="1"/>
          </p:cNvPicPr>
          <p:nvPr/>
        </p:nvPicPr>
        <p:blipFill>
          <a:blip r:embed="rId4"/>
          <a:stretch>
            <a:fillRect/>
          </a:stretch>
        </p:blipFill>
        <p:spPr>
          <a:xfrm>
            <a:off x="628650" y="5356632"/>
            <a:ext cx="4662588" cy="1296914"/>
          </a:xfrm>
          <a:prstGeom prst="rect">
            <a:avLst/>
          </a:prstGeom>
        </p:spPr>
      </p:pic>
      <p:sp>
        <p:nvSpPr>
          <p:cNvPr id="28" name="乘号 27"/>
          <p:cNvSpPr/>
          <p:nvPr/>
        </p:nvSpPr>
        <p:spPr>
          <a:xfrm>
            <a:off x="6837658" y="4315381"/>
            <a:ext cx="400634" cy="433633"/>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乘号 28"/>
          <p:cNvSpPr/>
          <p:nvPr/>
        </p:nvSpPr>
        <p:spPr>
          <a:xfrm>
            <a:off x="6837658" y="5008515"/>
            <a:ext cx="400634" cy="433633"/>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箭头: 左 29"/>
          <p:cNvSpPr/>
          <p:nvPr/>
        </p:nvSpPr>
        <p:spPr>
          <a:xfrm>
            <a:off x="5346270" y="5890047"/>
            <a:ext cx="231216" cy="21973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3325630" y="3788553"/>
            <a:ext cx="5439846" cy="580969"/>
            <a:chOff x="3325630" y="3788553"/>
            <a:chExt cx="5439846" cy="580969"/>
          </a:xfrm>
        </p:grpSpPr>
        <p:pic>
          <p:nvPicPr>
            <p:cNvPr id="15" name="图片 14"/>
            <p:cNvPicPr>
              <a:picLocks noChangeAspect="1"/>
            </p:cNvPicPr>
            <p:nvPr/>
          </p:nvPicPr>
          <p:blipFill>
            <a:blip r:embed="rId5"/>
            <a:stretch>
              <a:fillRect/>
            </a:stretch>
          </p:blipFill>
          <p:spPr>
            <a:xfrm>
              <a:off x="3325630" y="3788553"/>
              <a:ext cx="5439846" cy="580969"/>
            </a:xfrm>
            <a:prstGeom prst="rect">
              <a:avLst/>
            </a:prstGeom>
          </p:spPr>
        </p:pic>
        <p:sp>
          <p:nvSpPr>
            <p:cNvPr id="5" name="矩形 4"/>
            <p:cNvSpPr/>
            <p:nvPr/>
          </p:nvSpPr>
          <p:spPr>
            <a:xfrm>
              <a:off x="5424694" y="4125529"/>
              <a:ext cx="228878" cy="1862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7498054" y="4125528"/>
              <a:ext cx="228878" cy="1862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 name="组合 5"/>
          <p:cNvGrpSpPr/>
          <p:nvPr/>
        </p:nvGrpSpPr>
        <p:grpSpPr>
          <a:xfrm>
            <a:off x="3669829" y="4730367"/>
            <a:ext cx="5112688" cy="306737"/>
            <a:chOff x="3325630" y="4749014"/>
            <a:chExt cx="5112688" cy="306737"/>
          </a:xfrm>
        </p:grpSpPr>
        <p:pic>
          <p:nvPicPr>
            <p:cNvPr id="25" name="图片 24"/>
            <p:cNvPicPr>
              <a:picLocks noChangeAspect="1"/>
            </p:cNvPicPr>
            <p:nvPr/>
          </p:nvPicPr>
          <p:blipFill rotWithShape="1">
            <a:blip r:embed="rId6"/>
            <a:srcRect r="11765"/>
            <a:stretch/>
          </p:blipFill>
          <p:spPr>
            <a:xfrm>
              <a:off x="3325630" y="4749014"/>
              <a:ext cx="4862695" cy="306737"/>
            </a:xfrm>
            <a:prstGeom prst="rect">
              <a:avLst/>
            </a:prstGeom>
          </p:spPr>
        </p:pic>
        <p:pic>
          <p:nvPicPr>
            <p:cNvPr id="17" name="图片 16"/>
            <p:cNvPicPr>
              <a:picLocks noChangeAspect="1"/>
            </p:cNvPicPr>
            <p:nvPr/>
          </p:nvPicPr>
          <p:blipFill rotWithShape="1">
            <a:blip r:embed="rId6"/>
            <a:srcRect l="7289" r="8455"/>
            <a:stretch/>
          </p:blipFill>
          <p:spPr>
            <a:xfrm>
              <a:off x="3548063" y="4749014"/>
              <a:ext cx="4643437" cy="306737"/>
            </a:xfrm>
            <a:prstGeom prst="rect">
              <a:avLst/>
            </a:prstGeom>
          </p:spPr>
        </p:pic>
        <p:pic>
          <p:nvPicPr>
            <p:cNvPr id="18" name="图片 17"/>
            <p:cNvPicPr>
              <a:picLocks noChangeAspect="1"/>
            </p:cNvPicPr>
            <p:nvPr/>
          </p:nvPicPr>
          <p:blipFill rotWithShape="1">
            <a:blip r:embed="rId6"/>
            <a:srcRect l="51924"/>
            <a:stretch/>
          </p:blipFill>
          <p:spPr>
            <a:xfrm>
              <a:off x="5788802" y="4749014"/>
              <a:ext cx="2649516" cy="306737"/>
            </a:xfrm>
            <a:prstGeom prst="rect">
              <a:avLst/>
            </a:prstGeom>
          </p:spPr>
        </p:pic>
      </p:grpSp>
    </p:spTree>
    <p:extLst>
      <p:ext uri="{BB962C8B-B14F-4D97-AF65-F5344CB8AC3E}">
        <p14:creationId xmlns:p14="http://schemas.microsoft.com/office/powerpoint/2010/main" val="3151560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1000"/>
                                        <p:tgtEl>
                                          <p:spTgt spid="3">
                                            <p:txEl>
                                              <p:pRg st="5" end="5"/>
                                            </p:txEl>
                                          </p:spTgt>
                                        </p:tgtEl>
                                      </p:cBhvr>
                                    </p:animEffect>
                                    <p:anim calcmode="lin" valueType="num">
                                      <p:cBhvr>
                                        <p:cTn id="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1000"/>
                                        <p:tgtEl>
                                          <p:spTgt spid="3">
                                            <p:txEl>
                                              <p:pRg st="6" end="6"/>
                                            </p:txEl>
                                          </p:spTgt>
                                        </p:tgtEl>
                                      </p:cBhvr>
                                    </p:animEffect>
                                    <p:anim calcmode="lin" valueType="num">
                                      <p:cBhvr>
                                        <p:cTn id="1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animEffect transition="in" filter="fade">
                                      <p:cBhvr>
                                        <p:cTn id="17" dur="1000"/>
                                        <p:tgtEl>
                                          <p:spTgt spid="3">
                                            <p:txEl>
                                              <p:pRg st="7" end="7"/>
                                            </p:txEl>
                                          </p:spTgt>
                                        </p:tgtEl>
                                      </p:cBhvr>
                                    </p:animEffect>
                                    <p:anim calcmode="lin" valueType="num">
                                      <p:cBhvr>
                                        <p:cTn id="1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7" end="7"/>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fade">
                                      <p:cBhvr>
                                        <p:cTn id="22" dur="1000"/>
                                        <p:tgtEl>
                                          <p:spTgt spid="3">
                                            <p:txEl>
                                              <p:pRg st="8" end="8"/>
                                            </p:txEl>
                                          </p:spTgt>
                                        </p:tgtEl>
                                      </p:cBhvr>
                                    </p:animEffect>
                                    <p:anim calcmode="lin" valueType="num">
                                      <p:cBhvr>
                                        <p:cTn id="2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childTnLst>
                          </p:cTn>
                        </p:par>
                        <p:par>
                          <p:cTn id="30" fill="hold">
                            <p:stCondLst>
                              <p:cond delay="500"/>
                            </p:stCondLst>
                            <p:childTnLst>
                              <p:par>
                                <p:cTn id="31" presetID="10" presetClass="entr" presetSubtype="0" fill="hold" grpId="0" nodeType="after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fade">
                                      <p:cBhvr>
                                        <p:cTn id="33" dur="500"/>
                                        <p:tgtEl>
                                          <p:spTgt spid="28"/>
                                        </p:tgtEl>
                                      </p:cBhvr>
                                    </p:animEffect>
                                  </p:childTnLst>
                                </p:cTn>
                              </p:par>
                            </p:childTnLst>
                          </p:cTn>
                        </p:par>
                        <p:par>
                          <p:cTn id="34" fill="hold">
                            <p:stCondLst>
                              <p:cond delay="1000"/>
                            </p:stCondLst>
                            <p:childTnLst>
                              <p:par>
                                <p:cTn id="35" presetID="10" presetClass="entr" presetSubtype="0" fill="hold" nodeType="after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par>
                          <p:cTn id="38" fill="hold">
                            <p:stCondLst>
                              <p:cond delay="1500"/>
                            </p:stCondLst>
                            <p:childTnLst>
                              <p:par>
                                <p:cTn id="39" presetID="10"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00"/>
                                        <p:tgtEl>
                                          <p:spTgt spid="29"/>
                                        </p:tgtEl>
                                      </p:cBhvr>
                                    </p:animEffect>
                                  </p:childTnLst>
                                </p:cTn>
                              </p:par>
                            </p:childTnLst>
                          </p:cTn>
                        </p:par>
                        <p:par>
                          <p:cTn id="42" fill="hold">
                            <p:stCondLst>
                              <p:cond delay="2000"/>
                            </p:stCondLst>
                            <p:childTnLst>
                              <p:par>
                                <p:cTn id="43" presetID="10" presetClass="entr" presetSubtype="0" fill="hold" nodeType="after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500"/>
                                        <p:tgtEl>
                                          <p:spTgt spid="26"/>
                                        </p:tgtEl>
                                      </p:cBhvr>
                                    </p:animEffect>
                                  </p:childTnLst>
                                </p:cTn>
                              </p:par>
                            </p:childTnLst>
                          </p:cTn>
                        </p:par>
                        <p:par>
                          <p:cTn id="46" fill="hold">
                            <p:stCondLst>
                              <p:cond delay="2500"/>
                            </p:stCondLst>
                            <p:childTnLst>
                              <p:par>
                                <p:cTn id="47" presetID="10" presetClass="entr" presetSubtype="0" fill="hold" grpId="0" nodeType="after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500"/>
                                        <p:tgtEl>
                                          <p:spTgt spid="30"/>
                                        </p:tgtEl>
                                      </p:cBhvr>
                                    </p:animEffect>
                                  </p:childTnLst>
                                </p:cTn>
                              </p:par>
                            </p:childTnLst>
                          </p:cTn>
                        </p:par>
                        <p:par>
                          <p:cTn id="50" fill="hold">
                            <p:stCondLst>
                              <p:cond delay="3000"/>
                            </p:stCondLst>
                            <p:childTnLst>
                              <p:par>
                                <p:cTn id="51" presetID="10" presetClass="entr" presetSubtype="0" fill="hold" nodeType="after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fade">
                                      <p:cBhvr>
                                        <p:cTn id="5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3" name="直接连接符 62"/>
          <p:cNvCxnSpPr/>
          <p:nvPr/>
        </p:nvCxnSpPr>
        <p:spPr>
          <a:xfrm>
            <a:off x="1236093" y="4081580"/>
            <a:ext cx="506903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p:txBody>
          <a:bodyPr/>
          <a:lstStyle/>
          <a:p>
            <a:r>
              <a:rPr lang="zh-CN" altLang="en-US" dirty="0" smtClean="0"/>
              <a:t>错切变换</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29</a:t>
            </a:fld>
            <a:endParaRPr lang="zh-CN" altLang="en-US" dirty="0"/>
          </a:p>
        </p:txBody>
      </p:sp>
      <p:cxnSp>
        <p:nvCxnSpPr>
          <p:cNvPr id="5" name="直接箭头连接符 4"/>
          <p:cNvCxnSpPr/>
          <p:nvPr/>
        </p:nvCxnSpPr>
        <p:spPr>
          <a:xfrm>
            <a:off x="360839" y="4885380"/>
            <a:ext cx="480162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a:off x="1583685" y="2826956"/>
            <a:ext cx="0" cy="29728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V="1">
            <a:off x="1583685" y="2952533"/>
            <a:ext cx="4991192" cy="192874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V="1">
            <a:off x="1583685" y="2826956"/>
            <a:ext cx="2400681" cy="205432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4936108" y="4913930"/>
            <a:ext cx="284052" cy="369332"/>
          </a:xfrm>
          <a:prstGeom prst="rect">
            <a:avLst/>
          </a:prstGeom>
          <a:noFill/>
        </p:spPr>
        <p:txBody>
          <a:bodyPr wrap="none" rtlCol="0">
            <a:spAutoFit/>
          </a:bodyPr>
          <a:lstStyle/>
          <a:p>
            <a:r>
              <a:rPr lang="en-US" altLang="zh-CN" dirty="0" smtClean="0"/>
              <a:t>x</a:t>
            </a:r>
            <a:endParaRPr lang="zh-CN" altLang="en-US" dirty="0"/>
          </a:p>
        </p:txBody>
      </p:sp>
      <p:sp>
        <p:nvSpPr>
          <p:cNvPr id="34" name="文本框 33"/>
          <p:cNvSpPr txBox="1"/>
          <p:nvPr/>
        </p:nvSpPr>
        <p:spPr>
          <a:xfrm>
            <a:off x="1271870" y="5615115"/>
            <a:ext cx="276038" cy="369332"/>
          </a:xfrm>
          <a:prstGeom prst="rect">
            <a:avLst/>
          </a:prstGeom>
          <a:noFill/>
        </p:spPr>
        <p:txBody>
          <a:bodyPr wrap="square" rtlCol="0">
            <a:spAutoFit/>
          </a:bodyPr>
          <a:lstStyle/>
          <a:p>
            <a:r>
              <a:rPr lang="en-US" altLang="zh-CN" dirty="0" smtClean="0"/>
              <a:t>z</a:t>
            </a:r>
            <a:endParaRPr lang="zh-CN" altLang="en-US" dirty="0"/>
          </a:p>
        </p:txBody>
      </p:sp>
      <p:cxnSp>
        <p:nvCxnSpPr>
          <p:cNvPr id="36" name="直接连接符 35"/>
          <p:cNvCxnSpPr/>
          <p:nvPr/>
        </p:nvCxnSpPr>
        <p:spPr>
          <a:xfrm flipV="1">
            <a:off x="2517557" y="3280416"/>
            <a:ext cx="945759" cy="8070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V="1">
            <a:off x="3662266" y="3284515"/>
            <a:ext cx="2059718" cy="790167"/>
          </a:xfrm>
          <a:prstGeom prst="line">
            <a:avLst/>
          </a:prstGeom>
          <a:ln w="19050">
            <a:solidFill>
              <a:srgbClr val="00B1F0"/>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3472839" y="3280416"/>
            <a:ext cx="2210751"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2517557" y="4087482"/>
            <a:ext cx="1144709" cy="0"/>
          </a:xfrm>
          <a:prstGeom prst="line">
            <a:avLst/>
          </a:prstGeom>
          <a:ln w="19050">
            <a:solidFill>
              <a:srgbClr val="00B1F0"/>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V="1">
            <a:off x="2509356" y="3284516"/>
            <a:ext cx="945759" cy="807066"/>
          </a:xfrm>
          <a:prstGeom prst="line">
            <a:avLst/>
          </a:prstGeom>
          <a:ln w="19050">
            <a:solidFill>
              <a:srgbClr val="00B1F0"/>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V="1">
            <a:off x="3472838" y="3280416"/>
            <a:ext cx="2286050" cy="4100"/>
          </a:xfrm>
          <a:prstGeom prst="line">
            <a:avLst/>
          </a:prstGeom>
          <a:ln w="19050">
            <a:solidFill>
              <a:srgbClr val="00B1F0"/>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1236093" y="3277617"/>
            <a:ext cx="506903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8" name="文本框 67"/>
          <p:cNvSpPr txBox="1"/>
          <p:nvPr/>
        </p:nvSpPr>
        <p:spPr>
          <a:xfrm>
            <a:off x="1006732" y="4873428"/>
            <a:ext cx="576953" cy="369332"/>
          </a:xfrm>
          <a:prstGeom prst="rect">
            <a:avLst/>
          </a:prstGeom>
          <a:noFill/>
        </p:spPr>
        <p:txBody>
          <a:bodyPr wrap="none" rtlCol="0">
            <a:spAutoFit/>
          </a:bodyPr>
          <a:lstStyle/>
          <a:p>
            <a:r>
              <a:rPr lang="en-US" altLang="zh-CN" dirty="0" smtClean="0"/>
              <a:t>COP</a:t>
            </a:r>
            <a:endParaRPr lang="zh-CN" altLang="en-US" dirty="0"/>
          </a:p>
        </p:txBody>
      </p:sp>
      <p:sp>
        <p:nvSpPr>
          <p:cNvPr id="69" name="文本框 68"/>
          <p:cNvSpPr txBox="1"/>
          <p:nvPr/>
        </p:nvSpPr>
        <p:spPr>
          <a:xfrm>
            <a:off x="472147" y="3854118"/>
            <a:ext cx="683200" cy="369332"/>
          </a:xfrm>
          <a:prstGeom prst="rect">
            <a:avLst/>
          </a:prstGeom>
          <a:noFill/>
        </p:spPr>
        <p:txBody>
          <a:bodyPr wrap="none" rtlCol="0">
            <a:spAutoFit/>
          </a:bodyPr>
          <a:lstStyle/>
          <a:p>
            <a:r>
              <a:rPr lang="en-US" altLang="zh-CN" dirty="0" smtClean="0"/>
              <a:t>-near</a:t>
            </a:r>
            <a:endParaRPr lang="zh-CN" altLang="en-US" dirty="0"/>
          </a:p>
        </p:txBody>
      </p:sp>
      <p:sp>
        <p:nvSpPr>
          <p:cNvPr id="70" name="文本框 69"/>
          <p:cNvSpPr txBox="1"/>
          <p:nvPr/>
        </p:nvSpPr>
        <p:spPr>
          <a:xfrm>
            <a:off x="637513" y="3060160"/>
            <a:ext cx="512000" cy="369332"/>
          </a:xfrm>
          <a:prstGeom prst="rect">
            <a:avLst/>
          </a:prstGeom>
          <a:noFill/>
        </p:spPr>
        <p:txBody>
          <a:bodyPr wrap="none" rtlCol="0">
            <a:spAutoFit/>
          </a:bodyPr>
          <a:lstStyle/>
          <a:p>
            <a:r>
              <a:rPr lang="en-US" altLang="zh-CN" dirty="0" smtClean="0"/>
              <a:t>-far</a:t>
            </a:r>
            <a:endParaRPr lang="zh-CN" altLang="en-US" dirty="0"/>
          </a:p>
        </p:txBody>
      </p:sp>
      <p:cxnSp>
        <p:nvCxnSpPr>
          <p:cNvPr id="72" name="直接连接符 71"/>
          <p:cNvCxnSpPr/>
          <p:nvPr/>
        </p:nvCxnSpPr>
        <p:spPr>
          <a:xfrm>
            <a:off x="2509356" y="4091582"/>
            <a:ext cx="8201" cy="78184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3666287" y="4081580"/>
            <a:ext cx="8201" cy="81075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a:xfrm>
            <a:off x="2292763" y="4902872"/>
            <a:ext cx="498406" cy="369332"/>
          </a:xfrm>
          <a:prstGeom prst="rect">
            <a:avLst/>
          </a:prstGeom>
          <a:noFill/>
        </p:spPr>
        <p:txBody>
          <a:bodyPr wrap="none" rtlCol="0">
            <a:spAutoFit/>
          </a:bodyPr>
          <a:lstStyle/>
          <a:p>
            <a:r>
              <a:rPr lang="en-US" altLang="zh-CN" dirty="0"/>
              <a:t>l</a:t>
            </a:r>
            <a:r>
              <a:rPr lang="en-US" altLang="zh-CN" dirty="0" smtClean="0"/>
              <a:t>eft</a:t>
            </a:r>
            <a:endParaRPr lang="zh-CN" altLang="en-US" dirty="0"/>
          </a:p>
        </p:txBody>
      </p:sp>
      <p:sp>
        <p:nvSpPr>
          <p:cNvPr id="77" name="文本框 76"/>
          <p:cNvSpPr txBox="1"/>
          <p:nvPr/>
        </p:nvSpPr>
        <p:spPr>
          <a:xfrm>
            <a:off x="3332395" y="4886327"/>
            <a:ext cx="623376" cy="369332"/>
          </a:xfrm>
          <a:prstGeom prst="rect">
            <a:avLst/>
          </a:prstGeom>
          <a:noFill/>
        </p:spPr>
        <p:txBody>
          <a:bodyPr wrap="none" rtlCol="0">
            <a:spAutoFit/>
          </a:bodyPr>
          <a:lstStyle/>
          <a:p>
            <a:r>
              <a:rPr lang="en-US" altLang="zh-CN" dirty="0" smtClean="0"/>
              <a:t>right</a:t>
            </a:r>
            <a:endParaRPr lang="zh-CN" altLang="en-US" dirty="0"/>
          </a:p>
        </p:txBody>
      </p:sp>
      <p:cxnSp>
        <p:nvCxnSpPr>
          <p:cNvPr id="79" name="直接连接符 78"/>
          <p:cNvCxnSpPr/>
          <p:nvPr/>
        </p:nvCxnSpPr>
        <p:spPr>
          <a:xfrm flipV="1">
            <a:off x="1583685" y="2822857"/>
            <a:ext cx="3793861" cy="2050571"/>
          </a:xfrm>
          <a:prstGeom prst="line">
            <a:avLst/>
          </a:prstGeom>
          <a:ln w="19050">
            <a:solidFill>
              <a:srgbClr val="FF0000"/>
            </a:solidFill>
            <a:prstDash val="dashDot"/>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a:off x="3083720" y="4088479"/>
            <a:ext cx="6191" cy="787747"/>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5" name="线形标注 1 84"/>
              <p:cNvSpPr/>
              <p:nvPr/>
            </p:nvSpPr>
            <p:spPr>
              <a:xfrm>
                <a:off x="2556694" y="5615115"/>
                <a:ext cx="1636593" cy="612648"/>
              </a:xfrm>
              <a:prstGeom prst="borderCallout1">
                <a:avLst>
                  <a:gd name="adj1" fmla="val -660"/>
                  <a:gd name="adj2" fmla="val 53102"/>
                  <a:gd name="adj3" fmla="val -115062"/>
                  <a:gd name="adj4" fmla="val 3365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altLang="zh-CN" i="1" dirty="0" smtClean="0">
                              <a:latin typeface="Cambria Math" panose="02040503050406030204" pitchFamily="18" charset="0"/>
                            </a:rPr>
                          </m:ctrlPr>
                        </m:fPr>
                        <m:num>
                          <m:r>
                            <a:rPr lang="en-US" altLang="zh-CN" i="1" dirty="0" err="1">
                              <a:latin typeface="Cambria Math" panose="02040503050406030204" pitchFamily="18" charset="0"/>
                            </a:rPr>
                            <m:t>𝑙𝑒𝑓𝑡</m:t>
                          </m:r>
                          <m:r>
                            <a:rPr lang="en-US" altLang="zh-CN" i="1" dirty="0" err="1">
                              <a:latin typeface="Cambria Math" panose="02040503050406030204" pitchFamily="18" charset="0"/>
                            </a:rPr>
                            <m:t>+</m:t>
                          </m:r>
                          <m:r>
                            <a:rPr lang="en-US" altLang="zh-CN" i="1" dirty="0" err="1">
                              <a:latin typeface="Cambria Math" panose="02040503050406030204" pitchFamily="18" charset="0"/>
                            </a:rPr>
                            <m:t>𝑟𝑖𝑔h𝑡</m:t>
                          </m:r>
                        </m:num>
                        <m:den>
                          <m:r>
                            <a:rPr lang="en-US" altLang="zh-CN" b="0" i="1" dirty="0" smtClean="0">
                              <a:latin typeface="Cambria Math" panose="02040503050406030204" pitchFamily="18" charset="0"/>
                            </a:rPr>
                            <m:t>2</m:t>
                          </m:r>
                        </m:den>
                      </m:f>
                    </m:oMath>
                  </m:oMathPara>
                </a14:m>
                <a:endParaRPr lang="zh-CN" altLang="en-US" dirty="0"/>
              </a:p>
            </p:txBody>
          </p:sp>
        </mc:Choice>
        <mc:Fallback xmlns="">
          <p:sp>
            <p:nvSpPr>
              <p:cNvPr id="85" name="线形标注 1 84"/>
              <p:cNvSpPr>
                <a:spLocks noRot="1" noChangeAspect="1" noMove="1" noResize="1" noEditPoints="1" noAdjustHandles="1" noChangeArrowheads="1" noChangeShapeType="1" noTextEdit="1"/>
              </p:cNvSpPr>
              <p:nvPr/>
            </p:nvSpPr>
            <p:spPr>
              <a:xfrm>
                <a:off x="2556694" y="5615115"/>
                <a:ext cx="1636593" cy="612648"/>
              </a:xfrm>
              <a:prstGeom prst="borderCallout1">
                <a:avLst>
                  <a:gd name="adj1" fmla="val -660"/>
                  <a:gd name="adj2" fmla="val 53102"/>
                  <a:gd name="adj3" fmla="val -115062"/>
                  <a:gd name="adj4" fmla="val 33651"/>
                </a:avLst>
              </a:prstGeom>
              <a:blipFill>
                <a:blip r:embed="rId3"/>
                <a:stretch>
                  <a:fillRect/>
                </a:stretch>
              </a:blipFill>
            </p:spPr>
            <p:txBody>
              <a:bodyPr/>
              <a:lstStyle/>
              <a:p>
                <a:r>
                  <a:rPr lang="zh-CN" altLang="en-US">
                    <a:noFill/>
                  </a:rPr>
                  <a:t> </a:t>
                </a:r>
              </a:p>
            </p:txBody>
          </p:sp>
        </mc:Fallback>
      </mc:AlternateContent>
      <p:sp>
        <p:nvSpPr>
          <p:cNvPr id="86" name="弧形 85"/>
          <p:cNvSpPr/>
          <p:nvPr/>
        </p:nvSpPr>
        <p:spPr>
          <a:xfrm>
            <a:off x="1982361" y="4603829"/>
            <a:ext cx="269497" cy="295409"/>
          </a:xfrm>
          <a:prstGeom prst="arc">
            <a:avLst>
              <a:gd name="adj1" fmla="val 15260895"/>
              <a:gd name="adj2" fmla="val 3713776"/>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95" name="圆角矩形 94"/>
              <p:cNvSpPr/>
              <p:nvPr/>
            </p:nvSpPr>
            <p:spPr>
              <a:xfrm>
                <a:off x="5445430" y="3987052"/>
                <a:ext cx="3395171" cy="21420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latin typeface="微软雅黑" panose="020B0503020204020204" pitchFamily="34" charset="-122"/>
                    <a:ea typeface="微软雅黑" panose="020B0503020204020204" pitchFamily="34" charset="-122"/>
                  </a:rPr>
                  <a:t>注意错切方向！</a:t>
                </a:r>
                <a:endParaRPr lang="en-US" altLang="zh-CN" dirty="0" smtClean="0">
                  <a:latin typeface="微软雅黑" panose="020B0503020204020204" pitchFamily="34" charset="-122"/>
                  <a:ea typeface="微软雅黑" panose="020B0503020204020204" pitchFamily="34" charset="-122"/>
                </a:endParaRPr>
              </a:p>
              <a:p>
                <a:pPr algn="ctr"/>
                <a:endParaRPr lang="zh-CN" altLang="en-US" dirty="0" smtClean="0">
                  <a:latin typeface="微软雅黑" panose="020B0503020204020204" pitchFamily="34" charset="-122"/>
                  <a:ea typeface="微软雅黑" panose="020B0503020204020204" pitchFamily="34" charset="-122"/>
                </a:endParaRPr>
              </a:p>
              <a:p>
                <a:pPr algn="ct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𝐶𝑜𝑡</m:t>
                      </m:r>
                      <m:r>
                        <a:rPr lang="en-US" altLang="zh-CN" i="1" dirty="0" smtClean="0">
                          <a:latin typeface="Cambria Math" panose="02040503050406030204" pitchFamily="18" charset="0"/>
                        </a:rPr>
                        <m:t>(</m:t>
                      </m:r>
                      <m:r>
                        <a:rPr lang="en-US" altLang="zh-CN" b="1" i="1" dirty="0" smtClean="0">
                          <a:solidFill>
                            <a:srgbClr val="FFFF00"/>
                          </a:solidFill>
                          <a:latin typeface="Cambria Math" panose="02040503050406030204" pitchFamily="18" charset="0"/>
                        </a:rPr>
                        <m:t>𝜽</m:t>
                      </m:r>
                      <m:r>
                        <a:rPr lang="en-US" altLang="zh-CN" i="1" dirty="0" smtClean="0">
                          <a:latin typeface="Cambria Math" panose="02040503050406030204" pitchFamily="18" charset="0"/>
                        </a:rPr>
                        <m:t>) = </m:t>
                      </m:r>
                      <m:f>
                        <m:fPr>
                          <m:ctrlPr>
                            <a:rPr lang="en-US" altLang="zh-CN" i="1" dirty="0" smtClean="0">
                              <a:latin typeface="Cambria Math" panose="02040503050406030204" pitchFamily="18" charset="0"/>
                            </a:rPr>
                          </m:ctrlPr>
                        </m:fPr>
                        <m:num>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𝑙𝑒𝑓𝑡</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𝑟𝑖𝑔h𝑡</m:t>
                          </m:r>
                          <m:r>
                            <a:rPr lang="en-US" altLang="zh-CN" b="0" i="1" dirty="0" smtClean="0">
                              <a:latin typeface="Cambria Math" panose="02040503050406030204" pitchFamily="18" charset="0"/>
                            </a:rPr>
                            <m:t>)/2</m:t>
                          </m:r>
                        </m:num>
                        <m:den>
                          <m:r>
                            <a:rPr lang="en-US" altLang="zh-CN" b="0" i="1" dirty="0" smtClean="0">
                              <a:latin typeface="Cambria Math" panose="02040503050406030204" pitchFamily="18" charset="0"/>
                            </a:rPr>
                            <m:t>𝑛𝑒𝑎𝑟</m:t>
                          </m:r>
                        </m:den>
                      </m:f>
                    </m:oMath>
                  </m:oMathPara>
                </a14:m>
                <a:endParaRPr lang="en-US" altLang="zh-CN" dirty="0" smtClean="0"/>
              </a:p>
              <a:p>
                <a:pPr algn="ctr"/>
                <a:endParaRPr lang="en-US" altLang="zh-CN" dirty="0" smtClean="0"/>
              </a:p>
              <a:p>
                <a:pPr algn="ctr"/>
                <a14:m>
                  <m:oMathPara xmlns:m="http://schemas.openxmlformats.org/officeDocument/2006/math">
                    <m:oMathParaPr>
                      <m:jc m:val="centerGroup"/>
                    </m:oMathParaPr>
                    <m:oMath xmlns:m="http://schemas.openxmlformats.org/officeDocument/2006/math">
                      <m:r>
                        <a:rPr lang="en-US" altLang="zh-CN" b="1" i="1" dirty="0">
                          <a:solidFill>
                            <a:srgbClr val="FFFF00"/>
                          </a:solidFill>
                          <a:latin typeface="Cambria Math" panose="02040503050406030204" pitchFamily="18" charset="0"/>
                        </a:rPr>
                        <m:t>𝜽</m:t>
                      </m:r>
                      <m:r>
                        <a:rPr lang="en-US" altLang="zh-CN" b="0" i="0" dirty="0" smtClean="0">
                          <a:solidFill>
                            <a:srgbClr val="FFFF00"/>
                          </a:solidFill>
                          <a:latin typeface="Cambria Math" panose="02040503050406030204" pitchFamily="18" charset="0"/>
                        </a:rPr>
                        <m:t>=</m:t>
                      </m:r>
                      <m:sSup>
                        <m:sSupPr>
                          <m:ctrlPr>
                            <a:rPr lang="en-US" altLang="zh-CN" b="0" i="1" dirty="0" smtClean="0">
                              <a:solidFill>
                                <a:srgbClr val="FFFF00"/>
                              </a:solidFill>
                              <a:latin typeface="Cambria Math" panose="02040503050406030204" pitchFamily="18" charset="0"/>
                            </a:rPr>
                          </m:ctrlPr>
                        </m:sSupPr>
                        <m:e>
                          <m:r>
                            <m:rPr>
                              <m:sty m:val="p"/>
                            </m:rPr>
                            <a:rPr lang="en-US" altLang="zh-CN" i="1" dirty="0">
                              <a:solidFill>
                                <a:srgbClr val="FFFF00"/>
                              </a:solidFill>
                              <a:latin typeface="Cambria Math" panose="02040503050406030204" pitchFamily="18" charset="0"/>
                            </a:rPr>
                            <m:t>cot</m:t>
                          </m:r>
                        </m:e>
                        <m:sup>
                          <m:r>
                            <a:rPr lang="en-US" altLang="zh-CN" b="0" i="1" dirty="0" smtClean="0">
                              <a:solidFill>
                                <a:srgbClr val="FFFF00"/>
                              </a:solidFill>
                              <a:latin typeface="Cambria Math" panose="02040503050406030204" pitchFamily="18" charset="0"/>
                            </a:rPr>
                            <m:t>−1</m:t>
                          </m:r>
                        </m:sup>
                      </m:sSup>
                      <m:d>
                        <m:dPr>
                          <m:ctrlPr>
                            <a:rPr lang="en-US" altLang="zh-CN" b="0" i="1" dirty="0" smtClean="0">
                              <a:solidFill>
                                <a:srgbClr val="FFFF00"/>
                              </a:solidFill>
                              <a:latin typeface="Cambria Math" panose="02040503050406030204" pitchFamily="18" charset="0"/>
                            </a:rPr>
                          </m:ctrlPr>
                        </m:dPr>
                        <m:e>
                          <m:f>
                            <m:fPr>
                              <m:ctrlPr>
                                <a:rPr lang="en-US" altLang="zh-CN" i="1" dirty="0">
                                  <a:solidFill>
                                    <a:srgbClr val="FFFF00"/>
                                  </a:solidFill>
                                  <a:latin typeface="Cambria Math" panose="02040503050406030204" pitchFamily="18" charset="0"/>
                                </a:rPr>
                              </m:ctrlPr>
                            </m:fPr>
                            <m:num>
                              <m:r>
                                <a:rPr lang="en-US" altLang="zh-CN" i="1" dirty="0">
                                  <a:solidFill>
                                    <a:srgbClr val="FFFF00"/>
                                  </a:solidFill>
                                  <a:latin typeface="Cambria Math" panose="02040503050406030204" pitchFamily="18" charset="0"/>
                                </a:rPr>
                                <m:t>𝑙𝑒𝑓𝑡</m:t>
                              </m:r>
                              <m:r>
                                <a:rPr lang="en-US" altLang="zh-CN" i="1" dirty="0">
                                  <a:solidFill>
                                    <a:srgbClr val="FFFF00"/>
                                  </a:solidFill>
                                  <a:latin typeface="Cambria Math" panose="02040503050406030204" pitchFamily="18" charset="0"/>
                                </a:rPr>
                                <m:t>+</m:t>
                              </m:r>
                              <m:r>
                                <a:rPr lang="en-US" altLang="zh-CN" i="1" dirty="0">
                                  <a:solidFill>
                                    <a:srgbClr val="FFFF00"/>
                                  </a:solidFill>
                                  <a:latin typeface="Cambria Math" panose="02040503050406030204" pitchFamily="18" charset="0"/>
                                </a:rPr>
                                <m:t>𝑟𝑖𝑔h𝑡</m:t>
                              </m:r>
                            </m:num>
                            <m:den>
                              <m:r>
                                <a:rPr lang="en-US" altLang="zh-CN" i="1" dirty="0">
                                  <a:solidFill>
                                    <a:srgbClr val="FFFF00"/>
                                  </a:solidFill>
                                  <a:latin typeface="Cambria Math" panose="02040503050406030204" pitchFamily="18" charset="0"/>
                                </a:rPr>
                                <m:t>2</m:t>
                              </m:r>
                              <m:r>
                                <a:rPr lang="en-US" altLang="zh-CN" i="1" dirty="0">
                                  <a:solidFill>
                                    <a:srgbClr val="FFFF00"/>
                                  </a:solidFill>
                                  <a:latin typeface="Cambria Math" panose="02040503050406030204" pitchFamily="18" charset="0"/>
                                </a:rPr>
                                <m:t>𝑛𝑒𝑎𝑟</m:t>
                              </m:r>
                            </m:den>
                          </m:f>
                        </m:e>
                      </m:d>
                    </m:oMath>
                  </m:oMathPara>
                </a14:m>
                <a:endParaRPr lang="en-US" altLang="zh-CN" dirty="0" smtClean="0"/>
              </a:p>
            </p:txBody>
          </p:sp>
        </mc:Choice>
        <mc:Fallback xmlns="">
          <p:sp>
            <p:nvSpPr>
              <p:cNvPr id="95" name="圆角矩形 94"/>
              <p:cNvSpPr>
                <a:spLocks noRot="1" noChangeAspect="1" noMove="1" noResize="1" noEditPoints="1" noAdjustHandles="1" noChangeArrowheads="1" noChangeShapeType="1" noTextEdit="1"/>
              </p:cNvSpPr>
              <p:nvPr/>
            </p:nvSpPr>
            <p:spPr>
              <a:xfrm>
                <a:off x="5445430" y="3987052"/>
                <a:ext cx="3395171" cy="2142083"/>
              </a:xfrm>
              <a:prstGeom prst="roundRect">
                <a:avLst/>
              </a:prstGeom>
              <a:blipFill>
                <a:blip r:embed="rId4"/>
                <a:stretch>
                  <a:fillRect/>
                </a:stretch>
              </a:blipFill>
            </p:spPr>
            <p:txBody>
              <a:bodyPr/>
              <a:lstStyle/>
              <a:p>
                <a:r>
                  <a:rPr lang="zh-CN" altLang="en-US">
                    <a:noFill/>
                  </a:rPr>
                  <a:t> </a:t>
                </a:r>
              </a:p>
            </p:txBody>
          </p:sp>
        </mc:Fallback>
      </mc:AlternateContent>
      <p:grpSp>
        <p:nvGrpSpPr>
          <p:cNvPr id="10" name="组合 9"/>
          <p:cNvGrpSpPr/>
          <p:nvPr/>
        </p:nvGrpSpPr>
        <p:grpSpPr>
          <a:xfrm>
            <a:off x="754567" y="876645"/>
            <a:ext cx="7683751" cy="820615"/>
            <a:chOff x="736338" y="866554"/>
            <a:chExt cx="7683751" cy="820615"/>
          </a:xfrm>
        </p:grpSpPr>
        <p:pic>
          <p:nvPicPr>
            <p:cNvPr id="29" name="图片 28"/>
            <p:cNvPicPr>
              <a:picLocks noChangeAspect="1"/>
            </p:cNvPicPr>
            <p:nvPr/>
          </p:nvPicPr>
          <p:blipFill>
            <a:blip r:embed="rId5"/>
            <a:stretch>
              <a:fillRect/>
            </a:stretch>
          </p:blipFill>
          <p:spPr>
            <a:xfrm>
              <a:off x="736338" y="866554"/>
              <a:ext cx="7683751" cy="820615"/>
            </a:xfrm>
            <a:prstGeom prst="rect">
              <a:avLst/>
            </a:prstGeom>
          </p:spPr>
        </p:pic>
        <p:sp>
          <p:nvSpPr>
            <p:cNvPr id="37" name="矩形 36"/>
            <p:cNvSpPr/>
            <p:nvPr/>
          </p:nvSpPr>
          <p:spPr>
            <a:xfrm>
              <a:off x="3770608" y="1453460"/>
              <a:ext cx="247458" cy="1862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6702248" y="1435034"/>
              <a:ext cx="247458" cy="1862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9" name="矩形 8"/>
              <p:cNvSpPr/>
              <p:nvPr/>
            </p:nvSpPr>
            <p:spPr>
              <a:xfrm>
                <a:off x="4546939" y="1973389"/>
                <a:ext cx="3982950" cy="7146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altLang="zh-CN" b="0" i="1" dirty="0" smtClean="0">
                              <a:latin typeface="Cambria Math" panose="02040503050406030204" pitchFamily="18" charset="0"/>
                            </a:rPr>
                          </m:ctrlPr>
                        </m:dPr>
                        <m:e>
                          <m:f>
                            <m:fPr>
                              <m:ctrlPr>
                                <a:rPr lang="en-US" altLang="zh-CN" i="1" dirty="0" smtClean="0">
                                  <a:solidFill>
                                    <a:srgbClr val="0000FF"/>
                                  </a:solidFill>
                                  <a:latin typeface="Cambria Math" panose="02040503050406030204" pitchFamily="18" charset="0"/>
                                </a:rPr>
                              </m:ctrlPr>
                            </m:fPr>
                            <m:num>
                              <m:r>
                                <a:rPr lang="en-US" altLang="zh-CN" i="1" dirty="0" err="1">
                                  <a:solidFill>
                                    <a:srgbClr val="0000FF"/>
                                  </a:solidFill>
                                  <a:latin typeface="Cambria Math" panose="02040503050406030204" pitchFamily="18" charset="0"/>
                                </a:rPr>
                                <m:t>𝑙𝑒𝑓𝑡</m:t>
                              </m:r>
                              <m:r>
                                <a:rPr lang="en-US" altLang="zh-CN" i="1" dirty="0" err="1">
                                  <a:solidFill>
                                    <a:srgbClr val="0000FF"/>
                                  </a:solidFill>
                                  <a:latin typeface="Cambria Math" panose="02040503050406030204" pitchFamily="18" charset="0"/>
                                </a:rPr>
                                <m:t>+</m:t>
                              </m:r>
                              <m:r>
                                <a:rPr lang="en-US" altLang="zh-CN" i="1" dirty="0" err="1">
                                  <a:solidFill>
                                    <a:srgbClr val="0000FF"/>
                                  </a:solidFill>
                                  <a:latin typeface="Cambria Math" panose="02040503050406030204" pitchFamily="18" charset="0"/>
                                </a:rPr>
                                <m:t>𝑟𝑖𝑔h𝑡</m:t>
                              </m:r>
                            </m:num>
                            <m:den>
                              <m:r>
                                <a:rPr lang="en-US" altLang="zh-CN" i="1" dirty="0">
                                  <a:solidFill>
                                    <a:srgbClr val="0000FF"/>
                                  </a:solidFill>
                                  <a:latin typeface="Cambria Math" panose="02040503050406030204" pitchFamily="18" charset="0"/>
                                </a:rPr>
                                <m:t>2</m:t>
                              </m:r>
                            </m:den>
                          </m:f>
                          <m:r>
                            <a:rPr lang="en-US" altLang="zh-CN" i="1" dirty="0">
                              <a:solidFill>
                                <a:srgbClr val="0000FF"/>
                              </a:solidFill>
                              <a:latin typeface="Cambria Math" panose="02040503050406030204" pitchFamily="18" charset="0"/>
                            </a:rPr>
                            <m:t>,</m:t>
                          </m:r>
                          <m:f>
                            <m:fPr>
                              <m:ctrlPr>
                                <a:rPr lang="en-US" altLang="zh-CN" i="1" dirty="0">
                                  <a:solidFill>
                                    <a:srgbClr val="0000FF"/>
                                  </a:solidFill>
                                  <a:latin typeface="Cambria Math" panose="02040503050406030204" pitchFamily="18" charset="0"/>
                                </a:rPr>
                              </m:ctrlPr>
                            </m:fPr>
                            <m:num>
                              <m:r>
                                <a:rPr lang="en-US" altLang="zh-CN" b="0" i="1" dirty="0" smtClean="0">
                                  <a:solidFill>
                                    <a:srgbClr val="0000FF"/>
                                  </a:solidFill>
                                  <a:latin typeface="Cambria Math" panose="02040503050406030204" pitchFamily="18" charset="0"/>
                                </a:rPr>
                                <m:t>𝑡𝑜𝑝</m:t>
                              </m:r>
                              <m:r>
                                <a:rPr lang="en-US" altLang="zh-CN" i="1" dirty="0" err="1">
                                  <a:solidFill>
                                    <a:srgbClr val="0000FF"/>
                                  </a:solidFill>
                                  <a:latin typeface="Cambria Math" panose="02040503050406030204" pitchFamily="18" charset="0"/>
                                </a:rPr>
                                <m:t>+</m:t>
                              </m:r>
                              <m:r>
                                <a:rPr lang="en-US" altLang="zh-CN" b="0" i="1" dirty="0" smtClean="0">
                                  <a:solidFill>
                                    <a:srgbClr val="0000FF"/>
                                  </a:solidFill>
                                  <a:latin typeface="Cambria Math" panose="02040503050406030204" pitchFamily="18" charset="0"/>
                                </a:rPr>
                                <m:t>𝑏𝑜𝑡𝑡𝑜𝑚</m:t>
                              </m:r>
                            </m:num>
                            <m:den>
                              <m:r>
                                <a:rPr lang="en-US" altLang="zh-CN" i="1" dirty="0">
                                  <a:solidFill>
                                    <a:srgbClr val="0000FF"/>
                                  </a:solidFill>
                                  <a:latin typeface="Cambria Math" panose="02040503050406030204" pitchFamily="18" charset="0"/>
                                </a:rPr>
                                <m:t>2</m:t>
                              </m:r>
                            </m:den>
                          </m:f>
                          <m:r>
                            <a:rPr lang="en-US" altLang="zh-CN" dirty="0">
                              <a:solidFill>
                                <a:srgbClr val="0000FF"/>
                              </a:solidFill>
                              <a:latin typeface="Cambria Math" panose="02040503050406030204" pitchFamily="18" charset="0"/>
                            </a:rPr>
                            <m:t>,−</m:t>
                          </m:r>
                          <m:r>
                            <m:rPr>
                              <m:sty m:val="p"/>
                            </m:rPr>
                            <a:rPr lang="en-US" altLang="zh-CN" dirty="0">
                              <a:solidFill>
                                <a:srgbClr val="0000FF"/>
                              </a:solidFill>
                              <a:latin typeface="Cambria Math" panose="02040503050406030204" pitchFamily="18" charset="0"/>
                            </a:rPr>
                            <m:t>near</m:t>
                          </m:r>
                        </m:e>
                      </m:d>
                    </m:oMath>
                  </m:oMathPara>
                </a14:m>
                <a:endParaRPr lang="zh-CN" altLang="en-US" dirty="0"/>
              </a:p>
            </p:txBody>
          </p:sp>
        </mc:Choice>
        <mc:Fallback xmlns="">
          <p:sp>
            <p:nvSpPr>
              <p:cNvPr id="9" name="矩形 8"/>
              <p:cNvSpPr>
                <a:spLocks noRot="1" noChangeAspect="1" noMove="1" noResize="1" noEditPoints="1" noAdjustHandles="1" noChangeArrowheads="1" noChangeShapeType="1" noTextEdit="1"/>
              </p:cNvSpPr>
              <p:nvPr/>
            </p:nvSpPr>
            <p:spPr>
              <a:xfrm>
                <a:off x="4546939" y="1973389"/>
                <a:ext cx="3982950" cy="714683"/>
              </a:xfrm>
              <a:prstGeom prst="rect">
                <a:avLst/>
              </a:prstGeom>
              <a:blipFill rotWithShape="0">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矩形 40"/>
              <p:cNvSpPr/>
              <p:nvPr/>
            </p:nvSpPr>
            <p:spPr>
              <a:xfrm>
                <a:off x="1691958" y="2139378"/>
                <a:ext cx="144225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altLang="zh-CN" b="0" i="1" dirty="0" smtClean="0">
                              <a:latin typeface="Cambria Math" panose="02040503050406030204" pitchFamily="18" charset="0"/>
                            </a:rPr>
                          </m:ctrlPr>
                        </m:dPr>
                        <m:e>
                          <m:r>
                            <a:rPr lang="en-US" altLang="zh-CN" b="0" i="1" dirty="0" smtClean="0">
                              <a:solidFill>
                                <a:srgbClr val="C00000"/>
                              </a:solidFill>
                              <a:latin typeface="Cambria Math" panose="02040503050406030204" pitchFamily="18" charset="0"/>
                            </a:rPr>
                            <m:t>0</m:t>
                          </m:r>
                          <m:r>
                            <a:rPr lang="en-US" altLang="zh-CN" i="1" dirty="0">
                              <a:solidFill>
                                <a:srgbClr val="C00000"/>
                              </a:solidFill>
                              <a:latin typeface="Cambria Math" panose="02040503050406030204" pitchFamily="18" charset="0"/>
                            </a:rPr>
                            <m:t>,</m:t>
                          </m:r>
                          <m:r>
                            <a:rPr lang="en-US" altLang="zh-CN" b="0" i="1" dirty="0" smtClean="0">
                              <a:solidFill>
                                <a:srgbClr val="C00000"/>
                              </a:solidFill>
                              <a:latin typeface="Cambria Math" panose="02040503050406030204" pitchFamily="18" charset="0"/>
                            </a:rPr>
                            <m:t>0</m:t>
                          </m:r>
                          <m:r>
                            <a:rPr lang="en-US" altLang="zh-CN" dirty="0">
                              <a:solidFill>
                                <a:srgbClr val="C00000"/>
                              </a:solidFill>
                              <a:latin typeface="Cambria Math" panose="02040503050406030204" pitchFamily="18" charset="0"/>
                            </a:rPr>
                            <m:t>,−</m:t>
                          </m:r>
                          <m:r>
                            <m:rPr>
                              <m:sty m:val="p"/>
                            </m:rPr>
                            <a:rPr lang="en-US" altLang="zh-CN" dirty="0">
                              <a:solidFill>
                                <a:srgbClr val="C00000"/>
                              </a:solidFill>
                              <a:latin typeface="Cambria Math" panose="02040503050406030204" pitchFamily="18" charset="0"/>
                            </a:rPr>
                            <m:t>near</m:t>
                          </m:r>
                        </m:e>
                      </m:d>
                    </m:oMath>
                  </m:oMathPara>
                </a14:m>
                <a:endParaRPr lang="zh-CN" altLang="en-US" dirty="0"/>
              </a:p>
            </p:txBody>
          </p:sp>
        </mc:Choice>
        <mc:Fallback xmlns="">
          <p:sp>
            <p:nvSpPr>
              <p:cNvPr id="41" name="矩形 40"/>
              <p:cNvSpPr>
                <a:spLocks noRot="1" noChangeAspect="1" noMove="1" noResize="1" noEditPoints="1" noAdjustHandles="1" noChangeArrowheads="1" noChangeShapeType="1" noTextEdit="1"/>
              </p:cNvSpPr>
              <p:nvPr/>
            </p:nvSpPr>
            <p:spPr>
              <a:xfrm>
                <a:off x="1691958" y="2139378"/>
                <a:ext cx="1442254" cy="369332"/>
              </a:xfrm>
              <a:prstGeom prst="rect">
                <a:avLst/>
              </a:prstGeom>
              <a:blipFill>
                <a:blip r:embed="rId7"/>
                <a:stretch>
                  <a:fillRect/>
                </a:stretch>
              </a:blipFill>
            </p:spPr>
            <p:txBody>
              <a:bodyPr/>
              <a:lstStyle/>
              <a:p>
                <a:r>
                  <a:rPr lang="zh-CN" altLang="en-US">
                    <a:noFill/>
                  </a:rPr>
                  <a:t> </a:t>
                </a:r>
              </a:p>
            </p:txBody>
          </p:sp>
        </mc:Fallback>
      </mc:AlternateContent>
      <p:sp>
        <p:nvSpPr>
          <p:cNvPr id="11" name="椭圆 10"/>
          <p:cNvSpPr/>
          <p:nvPr/>
        </p:nvSpPr>
        <p:spPr>
          <a:xfrm>
            <a:off x="3038226" y="4034042"/>
            <a:ext cx="95986" cy="959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1533800" y="4029641"/>
            <a:ext cx="95986" cy="9598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右箭头 38"/>
          <p:cNvSpPr/>
          <p:nvPr/>
        </p:nvSpPr>
        <p:spPr>
          <a:xfrm flipH="1">
            <a:off x="3499645" y="2172405"/>
            <a:ext cx="800340" cy="3166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atin typeface="微软雅黑" panose="020B0503020204020204" pitchFamily="34" charset="-122"/>
                <a:ea typeface="微软雅黑" panose="020B0503020204020204" pitchFamily="34" charset="-122"/>
              </a:rPr>
              <a:t>错切</a:t>
            </a:r>
            <a:endParaRPr lang="zh-CN" altLang="en-US" sz="1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2829792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错</a:t>
            </a:r>
            <a:r>
              <a:rPr lang="zh-CN" altLang="en-US" dirty="0" smtClean="0"/>
              <a:t>切后将</a:t>
            </a:r>
            <a:r>
              <a:rPr lang="en-US" altLang="zh-CN" i="1" dirty="0" err="1" smtClean="0"/>
              <a:t>x,y</a:t>
            </a:r>
            <a:r>
              <a:rPr lang="zh-CN" altLang="en-US" dirty="0" smtClean="0"/>
              <a:t>方向分别做缩放，使</a:t>
            </a:r>
            <a:r>
              <a:rPr lang="zh-CN" altLang="en-US" dirty="0"/>
              <a:t>侧面</a:t>
            </a:r>
            <a:r>
              <a:rPr lang="zh-CN" altLang="en-US" dirty="0" smtClean="0"/>
              <a:t>变成</a:t>
            </a:r>
            <a:endParaRPr lang="zh-CN" altLang="en-US" dirty="0"/>
          </a:p>
        </p:txBody>
      </p:sp>
      <p:sp>
        <p:nvSpPr>
          <p:cNvPr id="2" name="标题 1"/>
          <p:cNvSpPr>
            <a:spLocks noGrp="1"/>
          </p:cNvSpPr>
          <p:nvPr>
            <p:ph type="title"/>
          </p:nvPr>
        </p:nvSpPr>
        <p:spPr/>
        <p:txBody>
          <a:bodyPr/>
          <a:lstStyle/>
          <a:p>
            <a:r>
              <a:rPr lang="zh-CN" altLang="en-US" dirty="0"/>
              <a:t>缩放变换</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30</a:t>
            </a:fld>
            <a:endParaRPr lang="zh-CN" altLang="en-US" dirty="0"/>
          </a:p>
        </p:txBody>
      </p:sp>
      <p:grpSp>
        <p:nvGrpSpPr>
          <p:cNvPr id="49" name="组合 48"/>
          <p:cNvGrpSpPr/>
          <p:nvPr/>
        </p:nvGrpSpPr>
        <p:grpSpPr>
          <a:xfrm>
            <a:off x="637269" y="2317296"/>
            <a:ext cx="6105446" cy="2330205"/>
            <a:chOff x="390644" y="2004347"/>
            <a:chExt cx="8555634" cy="3265344"/>
          </a:xfrm>
        </p:grpSpPr>
        <p:cxnSp>
          <p:nvCxnSpPr>
            <p:cNvPr id="18" name="直接连接符 17"/>
            <p:cNvCxnSpPr/>
            <p:nvPr/>
          </p:nvCxnSpPr>
          <p:spPr>
            <a:xfrm>
              <a:off x="1300294" y="2562861"/>
              <a:ext cx="37483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1300294" y="3366824"/>
              <a:ext cx="3791823"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a:off x="1413545" y="4170624"/>
              <a:ext cx="363504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a:off x="3089490" y="2112200"/>
              <a:ext cx="0" cy="29728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3089490" y="2079552"/>
              <a:ext cx="1437722" cy="208697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H="1" flipV="1">
              <a:off x="1573936" y="2112200"/>
              <a:ext cx="1515554" cy="205432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4583351" y="4132476"/>
              <a:ext cx="284052" cy="369332"/>
            </a:xfrm>
            <a:prstGeom prst="rect">
              <a:avLst/>
            </a:prstGeom>
            <a:noFill/>
          </p:spPr>
          <p:txBody>
            <a:bodyPr wrap="none" rtlCol="0">
              <a:spAutoFit/>
            </a:bodyPr>
            <a:lstStyle/>
            <a:p>
              <a:r>
                <a:rPr lang="en-US" altLang="zh-CN" dirty="0" smtClean="0"/>
                <a:t>x</a:t>
              </a:r>
              <a:endParaRPr lang="zh-CN" altLang="en-US" dirty="0"/>
            </a:p>
          </p:txBody>
        </p:sp>
        <p:sp>
          <p:nvSpPr>
            <p:cNvPr id="11" name="文本框 10"/>
            <p:cNvSpPr txBox="1"/>
            <p:nvPr/>
          </p:nvSpPr>
          <p:spPr>
            <a:xfrm>
              <a:off x="2777675" y="4900359"/>
              <a:ext cx="276038" cy="369332"/>
            </a:xfrm>
            <a:prstGeom prst="rect">
              <a:avLst/>
            </a:prstGeom>
            <a:noFill/>
          </p:spPr>
          <p:txBody>
            <a:bodyPr wrap="square" rtlCol="0">
              <a:spAutoFit/>
            </a:bodyPr>
            <a:lstStyle/>
            <a:p>
              <a:r>
                <a:rPr lang="en-US" altLang="zh-CN" dirty="0" smtClean="0"/>
                <a:t>z</a:t>
              </a:r>
              <a:endParaRPr lang="zh-CN" altLang="en-US" dirty="0"/>
            </a:p>
          </p:txBody>
        </p:sp>
        <p:cxnSp>
          <p:nvCxnSpPr>
            <p:cNvPr id="12" name="直接连接符 11"/>
            <p:cNvCxnSpPr/>
            <p:nvPr/>
          </p:nvCxnSpPr>
          <p:spPr>
            <a:xfrm flipH="1" flipV="1">
              <a:off x="1906494" y="2562767"/>
              <a:ext cx="601848" cy="81405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2508343" y="3373723"/>
              <a:ext cx="1144709" cy="0"/>
            </a:xfrm>
            <a:prstGeom prst="line">
              <a:avLst/>
            </a:prstGeom>
            <a:ln w="19050">
              <a:solidFill>
                <a:srgbClr val="00B1F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V="1">
              <a:off x="3628716" y="2541150"/>
              <a:ext cx="585200" cy="840730"/>
            </a:xfrm>
            <a:prstGeom prst="line">
              <a:avLst/>
            </a:prstGeom>
            <a:ln w="19050">
              <a:solidFill>
                <a:srgbClr val="00B1F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1906494" y="2549004"/>
              <a:ext cx="2313168" cy="6993"/>
            </a:xfrm>
            <a:prstGeom prst="line">
              <a:avLst/>
            </a:prstGeom>
            <a:ln w="19050">
              <a:solidFill>
                <a:srgbClr val="00B1F0"/>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2654116" y="4132476"/>
              <a:ext cx="576952" cy="369333"/>
            </a:xfrm>
            <a:prstGeom prst="rect">
              <a:avLst/>
            </a:prstGeom>
            <a:noFill/>
          </p:spPr>
          <p:txBody>
            <a:bodyPr wrap="none" rtlCol="0">
              <a:spAutoFit/>
            </a:bodyPr>
            <a:lstStyle/>
            <a:p>
              <a:r>
                <a:rPr lang="en-US" altLang="zh-CN" dirty="0" smtClean="0"/>
                <a:t>COP</a:t>
              </a:r>
              <a:endParaRPr lang="zh-CN" altLang="en-US" dirty="0"/>
            </a:p>
          </p:txBody>
        </p:sp>
        <p:sp>
          <p:nvSpPr>
            <p:cNvPr id="20" name="文本框 19"/>
            <p:cNvSpPr txBox="1"/>
            <p:nvPr/>
          </p:nvSpPr>
          <p:spPr>
            <a:xfrm>
              <a:off x="390644" y="3076625"/>
              <a:ext cx="683200" cy="369333"/>
            </a:xfrm>
            <a:prstGeom prst="rect">
              <a:avLst/>
            </a:prstGeom>
            <a:noFill/>
          </p:spPr>
          <p:txBody>
            <a:bodyPr wrap="none" rtlCol="0">
              <a:spAutoFit/>
            </a:bodyPr>
            <a:lstStyle/>
            <a:p>
              <a:r>
                <a:rPr lang="en-US" altLang="zh-CN" dirty="0" smtClean="0"/>
                <a:t>-near</a:t>
              </a:r>
              <a:endParaRPr lang="zh-CN" altLang="en-US" dirty="0"/>
            </a:p>
          </p:txBody>
        </p:sp>
        <p:sp>
          <p:nvSpPr>
            <p:cNvPr id="21" name="文本框 20"/>
            <p:cNvSpPr txBox="1"/>
            <p:nvPr/>
          </p:nvSpPr>
          <p:spPr>
            <a:xfrm>
              <a:off x="636718" y="2378101"/>
              <a:ext cx="512000" cy="369332"/>
            </a:xfrm>
            <a:prstGeom prst="rect">
              <a:avLst/>
            </a:prstGeom>
            <a:noFill/>
          </p:spPr>
          <p:txBody>
            <a:bodyPr wrap="none" rtlCol="0">
              <a:spAutoFit/>
            </a:bodyPr>
            <a:lstStyle/>
            <a:p>
              <a:r>
                <a:rPr lang="en-US" altLang="zh-CN" dirty="0" smtClean="0"/>
                <a:t>-far</a:t>
              </a:r>
              <a:endParaRPr lang="zh-CN" altLang="en-US" dirty="0"/>
            </a:p>
          </p:txBody>
        </p:sp>
        <p:cxnSp>
          <p:nvCxnSpPr>
            <p:cNvPr id="22" name="直接连接符 21"/>
            <p:cNvCxnSpPr/>
            <p:nvPr/>
          </p:nvCxnSpPr>
          <p:spPr>
            <a:xfrm>
              <a:off x="2513239" y="3386191"/>
              <a:ext cx="8201" cy="78184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640260" y="3388415"/>
              <a:ext cx="8201" cy="81075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flipV="1">
              <a:off x="3089489" y="2004347"/>
              <a:ext cx="1" cy="2154326"/>
            </a:xfrm>
            <a:prstGeom prst="line">
              <a:avLst/>
            </a:prstGeom>
            <a:ln w="19050">
              <a:solidFill>
                <a:srgbClr val="FF0000"/>
              </a:solidFill>
              <a:prstDash val="dashDot"/>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8938078" y="3508751"/>
              <a:ext cx="8200" cy="81075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50" name="组合 49"/>
          <p:cNvGrpSpPr/>
          <p:nvPr/>
        </p:nvGrpSpPr>
        <p:grpSpPr>
          <a:xfrm>
            <a:off x="926756" y="5178376"/>
            <a:ext cx="7487926" cy="449240"/>
            <a:chOff x="3325630" y="4749014"/>
            <a:chExt cx="5112688" cy="306737"/>
          </a:xfrm>
        </p:grpSpPr>
        <p:pic>
          <p:nvPicPr>
            <p:cNvPr id="51" name="图片 50"/>
            <p:cNvPicPr>
              <a:picLocks noChangeAspect="1"/>
            </p:cNvPicPr>
            <p:nvPr/>
          </p:nvPicPr>
          <p:blipFill rotWithShape="1">
            <a:blip r:embed="rId2"/>
            <a:srcRect r="11765"/>
            <a:stretch/>
          </p:blipFill>
          <p:spPr>
            <a:xfrm>
              <a:off x="3325630" y="4749014"/>
              <a:ext cx="4862695" cy="306737"/>
            </a:xfrm>
            <a:prstGeom prst="rect">
              <a:avLst/>
            </a:prstGeom>
          </p:spPr>
        </p:pic>
        <p:pic>
          <p:nvPicPr>
            <p:cNvPr id="52" name="图片 51"/>
            <p:cNvPicPr>
              <a:picLocks noChangeAspect="1"/>
            </p:cNvPicPr>
            <p:nvPr/>
          </p:nvPicPr>
          <p:blipFill rotWithShape="1">
            <a:blip r:embed="rId2"/>
            <a:srcRect l="7289" r="8455"/>
            <a:stretch/>
          </p:blipFill>
          <p:spPr>
            <a:xfrm>
              <a:off x="3548063" y="4749014"/>
              <a:ext cx="4643437" cy="306737"/>
            </a:xfrm>
            <a:prstGeom prst="rect">
              <a:avLst/>
            </a:prstGeom>
          </p:spPr>
        </p:pic>
        <p:pic>
          <p:nvPicPr>
            <p:cNvPr id="53" name="图片 52"/>
            <p:cNvPicPr>
              <a:picLocks noChangeAspect="1"/>
            </p:cNvPicPr>
            <p:nvPr/>
          </p:nvPicPr>
          <p:blipFill rotWithShape="1">
            <a:blip r:embed="rId2"/>
            <a:srcRect l="51924"/>
            <a:stretch/>
          </p:blipFill>
          <p:spPr>
            <a:xfrm>
              <a:off x="5788802" y="4749014"/>
              <a:ext cx="2649516" cy="306737"/>
            </a:xfrm>
            <a:prstGeom prst="rect">
              <a:avLst/>
            </a:prstGeom>
          </p:spPr>
        </p:pic>
      </p:grpSp>
      <p:grpSp>
        <p:nvGrpSpPr>
          <p:cNvPr id="94" name="组合 93"/>
          <p:cNvGrpSpPr/>
          <p:nvPr/>
        </p:nvGrpSpPr>
        <p:grpSpPr>
          <a:xfrm>
            <a:off x="4845508" y="2324415"/>
            <a:ext cx="3707930" cy="1772162"/>
            <a:chOff x="6013683" y="5607665"/>
            <a:chExt cx="2424635" cy="1158826"/>
          </a:xfrm>
        </p:grpSpPr>
        <p:pic>
          <p:nvPicPr>
            <p:cNvPr id="96" name="图片 95"/>
            <p:cNvPicPr>
              <a:picLocks noChangeAspect="1"/>
            </p:cNvPicPr>
            <p:nvPr/>
          </p:nvPicPr>
          <p:blipFill rotWithShape="1">
            <a:blip r:embed="rId3"/>
            <a:srcRect r="37344"/>
            <a:stretch/>
          </p:blipFill>
          <p:spPr>
            <a:xfrm>
              <a:off x="6013683" y="5607665"/>
              <a:ext cx="2424635" cy="1158826"/>
            </a:xfrm>
            <a:prstGeom prst="rect">
              <a:avLst/>
            </a:prstGeom>
          </p:spPr>
        </p:pic>
        <p:sp>
          <p:nvSpPr>
            <p:cNvPr id="97" name="矩形 96"/>
            <p:cNvSpPr/>
            <p:nvPr/>
          </p:nvSpPr>
          <p:spPr>
            <a:xfrm>
              <a:off x="7969901" y="6116495"/>
              <a:ext cx="468417" cy="1411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98" name="直接箭头连接符 97"/>
          <p:cNvCxnSpPr/>
          <p:nvPr/>
        </p:nvCxnSpPr>
        <p:spPr>
          <a:xfrm>
            <a:off x="5234679" y="3872185"/>
            <a:ext cx="259403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接箭头连接符 98"/>
          <p:cNvCxnSpPr/>
          <p:nvPr/>
        </p:nvCxnSpPr>
        <p:spPr>
          <a:xfrm>
            <a:off x="6422462" y="2151874"/>
            <a:ext cx="0" cy="21214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0" name="文本框 99"/>
          <p:cNvSpPr txBox="1"/>
          <p:nvPr/>
        </p:nvSpPr>
        <p:spPr>
          <a:xfrm>
            <a:off x="7668681" y="3869941"/>
            <a:ext cx="202704" cy="263562"/>
          </a:xfrm>
          <a:prstGeom prst="rect">
            <a:avLst/>
          </a:prstGeom>
          <a:noFill/>
        </p:spPr>
        <p:txBody>
          <a:bodyPr wrap="none" rtlCol="0">
            <a:spAutoFit/>
          </a:bodyPr>
          <a:lstStyle/>
          <a:p>
            <a:r>
              <a:rPr lang="en-US" altLang="zh-CN" dirty="0" smtClean="0"/>
              <a:t>x</a:t>
            </a:r>
            <a:endParaRPr lang="zh-CN" altLang="en-US" dirty="0"/>
          </a:p>
        </p:txBody>
      </p:sp>
      <p:sp>
        <p:nvSpPr>
          <p:cNvPr id="101" name="文本框 100"/>
          <p:cNvSpPr txBox="1"/>
          <p:nvPr/>
        </p:nvSpPr>
        <p:spPr>
          <a:xfrm>
            <a:off x="6208145" y="4234637"/>
            <a:ext cx="196985" cy="263562"/>
          </a:xfrm>
          <a:prstGeom prst="rect">
            <a:avLst/>
          </a:prstGeom>
          <a:noFill/>
        </p:spPr>
        <p:txBody>
          <a:bodyPr wrap="square" rtlCol="0">
            <a:spAutoFit/>
          </a:bodyPr>
          <a:lstStyle/>
          <a:p>
            <a:r>
              <a:rPr lang="en-US" altLang="zh-CN" dirty="0" smtClean="0"/>
              <a:t>z</a:t>
            </a:r>
            <a:endParaRPr lang="zh-CN" altLang="en-US" dirty="0"/>
          </a:p>
        </p:txBody>
      </p:sp>
      <p:sp>
        <p:nvSpPr>
          <p:cNvPr id="102" name="右箭头 101"/>
          <p:cNvSpPr/>
          <p:nvPr/>
        </p:nvSpPr>
        <p:spPr>
          <a:xfrm>
            <a:off x="4295762" y="3126424"/>
            <a:ext cx="662332" cy="3166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atin typeface="微软雅黑" panose="020B0503020204020204" pitchFamily="34" charset="-122"/>
                <a:ea typeface="微软雅黑" panose="020B0503020204020204" pitchFamily="34" charset="-122"/>
              </a:rPr>
              <a:t>缩放</a:t>
            </a:r>
            <a:endParaRPr lang="zh-CN" altLang="en-US" sz="14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05" name="线形标注 2(带强调线) 104"/>
              <p:cNvSpPr/>
              <p:nvPr/>
            </p:nvSpPr>
            <p:spPr>
              <a:xfrm>
                <a:off x="3619205" y="4453985"/>
                <a:ext cx="1330036" cy="295232"/>
              </a:xfrm>
              <a:prstGeom prst="accentCallout2">
                <a:avLst>
                  <a:gd name="adj1" fmla="val 48066"/>
                  <a:gd name="adj2" fmla="val -7800"/>
                  <a:gd name="adj3" fmla="val 39516"/>
                  <a:gd name="adj4" fmla="val -37468"/>
                  <a:gd name="adj5" fmla="val -182095"/>
                  <a:gd name="adj6" fmla="val -48735"/>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altLang="zh-CN" sz="1600" i="1" smtClean="0">
                              <a:solidFill>
                                <a:schemeClr val="tx1"/>
                              </a:solidFill>
                              <a:latin typeface="Cambria Math" panose="02040503050406030204" pitchFamily="18" charset="0"/>
                            </a:rPr>
                          </m:ctrlPr>
                        </m:fPr>
                        <m:num>
                          <m:r>
                            <a:rPr lang="en-US" altLang="zh-CN" sz="1600" b="0" i="1" smtClean="0">
                              <a:solidFill>
                                <a:schemeClr val="tx1"/>
                              </a:solidFill>
                              <a:latin typeface="Cambria Math" panose="02040503050406030204" pitchFamily="18" charset="0"/>
                            </a:rPr>
                            <m:t>𝑟𝑖𝑔h𝑡</m:t>
                          </m:r>
                          <m:r>
                            <a:rPr lang="en-US" altLang="zh-CN" sz="1600" b="0" i="1" smtClean="0">
                              <a:solidFill>
                                <a:schemeClr val="tx1"/>
                              </a:solidFill>
                              <a:latin typeface="Cambria Math" panose="02040503050406030204" pitchFamily="18" charset="0"/>
                            </a:rPr>
                            <m:t>−</m:t>
                          </m:r>
                          <m:r>
                            <a:rPr lang="en-US" altLang="zh-CN" sz="1600" b="0" i="1" smtClean="0">
                              <a:solidFill>
                                <a:schemeClr val="tx1"/>
                              </a:solidFill>
                              <a:latin typeface="Cambria Math" panose="02040503050406030204" pitchFamily="18" charset="0"/>
                            </a:rPr>
                            <m:t>𝑙𝑒𝑓𝑡</m:t>
                          </m:r>
                        </m:num>
                        <m:den>
                          <m:r>
                            <a:rPr lang="en-US" altLang="zh-CN" sz="1600" b="0" i="1" smtClean="0">
                              <a:solidFill>
                                <a:schemeClr val="tx1"/>
                              </a:solidFill>
                              <a:latin typeface="Cambria Math" panose="02040503050406030204" pitchFamily="18" charset="0"/>
                            </a:rPr>
                            <m:t>2</m:t>
                          </m:r>
                        </m:den>
                      </m:f>
                    </m:oMath>
                  </m:oMathPara>
                </a14:m>
                <a:endParaRPr lang="zh-CN" altLang="en-US" sz="1600" dirty="0">
                  <a:solidFill>
                    <a:schemeClr val="tx1"/>
                  </a:solidFill>
                </a:endParaRPr>
              </a:p>
            </p:txBody>
          </p:sp>
        </mc:Choice>
        <mc:Fallback xmlns="">
          <p:sp>
            <p:nvSpPr>
              <p:cNvPr id="105" name="线形标注 2(带强调线) 104"/>
              <p:cNvSpPr>
                <a:spLocks noRot="1" noChangeAspect="1" noMove="1" noResize="1" noEditPoints="1" noAdjustHandles="1" noChangeArrowheads="1" noChangeShapeType="1" noTextEdit="1"/>
              </p:cNvSpPr>
              <p:nvPr/>
            </p:nvSpPr>
            <p:spPr>
              <a:xfrm>
                <a:off x="3619205" y="4453985"/>
                <a:ext cx="1330036" cy="295232"/>
              </a:xfrm>
              <a:prstGeom prst="accentCallout2">
                <a:avLst>
                  <a:gd name="adj1" fmla="val 48066"/>
                  <a:gd name="adj2" fmla="val -7800"/>
                  <a:gd name="adj3" fmla="val 39516"/>
                  <a:gd name="adj4" fmla="val -37468"/>
                  <a:gd name="adj5" fmla="val -182095"/>
                  <a:gd name="adj6" fmla="val -48735"/>
                </a:avLst>
              </a:prstGeom>
              <a:blipFill>
                <a:blip r:embed="rId4"/>
                <a:stretch>
                  <a:fillRect r="-230435" b="-34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7" name="线形标注 2(带强调线) 106"/>
              <p:cNvSpPr/>
              <p:nvPr/>
            </p:nvSpPr>
            <p:spPr>
              <a:xfrm>
                <a:off x="266598" y="4419583"/>
                <a:ext cx="1452407" cy="295232"/>
              </a:xfrm>
              <a:prstGeom prst="accentCallout2">
                <a:avLst>
                  <a:gd name="adj1" fmla="val 42510"/>
                  <a:gd name="adj2" fmla="val 95797"/>
                  <a:gd name="adj3" fmla="val 2016"/>
                  <a:gd name="adj4" fmla="val 118109"/>
                  <a:gd name="adj5" fmla="val -176539"/>
                  <a:gd name="adj6" fmla="val 12990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altLang="zh-CN" sz="1600" i="1" smtClean="0">
                              <a:solidFill>
                                <a:schemeClr val="tx1"/>
                              </a:solidFill>
                              <a:latin typeface="Cambria Math" panose="02040503050406030204" pitchFamily="18" charset="0"/>
                            </a:rPr>
                          </m:ctrlPr>
                        </m:fPr>
                        <m:num>
                          <m:r>
                            <a:rPr lang="en-US" altLang="zh-CN" sz="1600" b="0" i="1" dirty="0" smtClean="0">
                              <a:solidFill>
                                <a:schemeClr val="tx1"/>
                              </a:solidFill>
                              <a:latin typeface="Cambria Math" panose="02040503050406030204" pitchFamily="18" charset="0"/>
                            </a:rPr>
                            <m:t>𝑙𝑒𝑓𝑡</m:t>
                          </m:r>
                          <m:r>
                            <a:rPr lang="en-US" altLang="zh-CN" sz="1600" b="0" i="1" dirty="0" smtClean="0">
                              <a:solidFill>
                                <a:schemeClr val="tx1"/>
                              </a:solidFill>
                              <a:latin typeface="Cambria Math" panose="02040503050406030204" pitchFamily="18" charset="0"/>
                            </a:rPr>
                            <m:t>−</m:t>
                          </m:r>
                          <m:r>
                            <a:rPr lang="en-US" altLang="zh-CN" sz="1600" b="0" i="1" dirty="0" smtClean="0">
                              <a:solidFill>
                                <a:schemeClr val="tx1"/>
                              </a:solidFill>
                              <a:latin typeface="Cambria Math" panose="02040503050406030204" pitchFamily="18" charset="0"/>
                            </a:rPr>
                            <m:t>𝑟𝑖𝑔h𝑡</m:t>
                          </m:r>
                        </m:num>
                        <m:den>
                          <m:r>
                            <a:rPr lang="en-US" altLang="zh-CN" sz="1600" b="0" i="1" smtClean="0">
                              <a:solidFill>
                                <a:schemeClr val="tx1"/>
                              </a:solidFill>
                              <a:latin typeface="Cambria Math" panose="02040503050406030204" pitchFamily="18" charset="0"/>
                            </a:rPr>
                            <m:t>2</m:t>
                          </m:r>
                        </m:den>
                      </m:f>
                    </m:oMath>
                  </m:oMathPara>
                </a14:m>
                <a:endParaRPr lang="zh-CN" altLang="en-US" sz="1600" dirty="0">
                  <a:solidFill>
                    <a:schemeClr val="tx1"/>
                  </a:solidFill>
                </a:endParaRPr>
              </a:p>
            </p:txBody>
          </p:sp>
        </mc:Choice>
        <mc:Fallback xmlns="">
          <p:sp>
            <p:nvSpPr>
              <p:cNvPr id="107" name="线形标注 2(带强调线) 106"/>
              <p:cNvSpPr>
                <a:spLocks noRot="1" noChangeAspect="1" noMove="1" noResize="1" noEditPoints="1" noAdjustHandles="1" noChangeArrowheads="1" noChangeShapeType="1" noTextEdit="1"/>
              </p:cNvSpPr>
              <p:nvPr/>
            </p:nvSpPr>
            <p:spPr>
              <a:xfrm>
                <a:off x="266598" y="4419583"/>
                <a:ext cx="1452407" cy="295232"/>
              </a:xfrm>
              <a:prstGeom prst="accentCallout2">
                <a:avLst>
                  <a:gd name="adj1" fmla="val 42510"/>
                  <a:gd name="adj2" fmla="val 95797"/>
                  <a:gd name="adj3" fmla="val 2016"/>
                  <a:gd name="adj4" fmla="val 118109"/>
                  <a:gd name="adj5" fmla="val -176539"/>
                  <a:gd name="adj6" fmla="val 129902"/>
                </a:avLst>
              </a:prstGeom>
              <a:blipFill>
                <a:blip r:embed="rId5"/>
                <a:stretch>
                  <a:fillRect l="-235294" b="-42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9" name="TextBox 25"/>
              <p:cNvSpPr txBox="1"/>
              <p:nvPr/>
            </p:nvSpPr>
            <p:spPr>
              <a:xfrm>
                <a:off x="7653923" y="1154451"/>
                <a:ext cx="1214115"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US" altLang="zh-CN" sz="2400" smtClean="0">
                          <a:solidFill>
                            <a:srgbClr val="0000FF"/>
                          </a:solidFill>
                          <a:latin typeface="Cambria Math" charset="0"/>
                        </a:rPr>
                        <m:t>𝑥</m:t>
                      </m:r>
                      <m:r>
                        <m:rPr>
                          <m:nor/>
                        </m:rPr>
                        <a:rPr lang="en-US" altLang="zh-CN" sz="2400" smtClean="0">
                          <a:solidFill>
                            <a:srgbClr val="0000FF"/>
                          </a:solidFill>
                          <a:latin typeface="Cambria Math" charset="0"/>
                        </a:rPr>
                        <m:t>=</m:t>
                      </m:r>
                      <m:r>
                        <m:rPr>
                          <m:nor/>
                        </m:rPr>
                        <a:rPr lang="en-US" altLang="zh-CN" sz="2400" smtClean="0">
                          <a:solidFill>
                            <a:srgbClr val="0000FF"/>
                          </a:solidFill>
                          <a:latin typeface="Cambria Math" charset="0"/>
                        </a:rPr>
                        <m:t>±</m:t>
                      </m:r>
                      <m:r>
                        <m:rPr>
                          <m:nor/>
                        </m:rPr>
                        <a:rPr lang="en-US" altLang="zh-CN" sz="2400" smtClean="0">
                          <a:solidFill>
                            <a:srgbClr val="0000FF"/>
                          </a:solidFill>
                          <a:latin typeface="Cambria Math" charset="0"/>
                          <a:ea typeface="Cambria Math" charset="0"/>
                          <a:cs typeface="Cambria Math" charset="0"/>
                        </a:rPr>
                        <m:t>𝑧</m:t>
                      </m:r>
                    </m:oMath>
                  </m:oMathPara>
                </a14:m>
                <a:endParaRPr lang="en-US" altLang="zh-CN" sz="2400" dirty="0">
                  <a:solidFill>
                    <a:srgbClr val="0000FF"/>
                  </a:solidFill>
                  <a:ea typeface="Cambria Math" charset="0"/>
                  <a:cs typeface="Cambria Math" charset="0"/>
                </a:endParaRPr>
              </a:p>
              <a:p>
                <a:pPr/>
                <a14:m>
                  <m:oMathPara xmlns:m="http://schemas.openxmlformats.org/officeDocument/2006/math">
                    <m:oMathParaPr>
                      <m:jc m:val="centerGroup"/>
                    </m:oMathParaPr>
                    <m:oMath xmlns:m="http://schemas.openxmlformats.org/officeDocument/2006/math">
                      <m:r>
                        <a:rPr lang="en-US" altLang="zh-CN" sz="2400" b="0" i="1" smtClean="0">
                          <a:solidFill>
                            <a:srgbClr val="0000FF"/>
                          </a:solidFill>
                          <a:latin typeface="Cambria Math" charset="0"/>
                        </a:rPr>
                        <m:t>𝑦</m:t>
                      </m:r>
                      <m:r>
                        <a:rPr lang="en-US" altLang="zh-CN" sz="2400" b="0" i="1" smtClean="0">
                          <a:solidFill>
                            <a:srgbClr val="0000FF"/>
                          </a:solidFill>
                          <a:latin typeface="Cambria Math" charset="0"/>
                        </a:rPr>
                        <m:t>=±</m:t>
                      </m:r>
                      <m:r>
                        <a:rPr lang="en-US" altLang="zh-CN" sz="2400" b="0" i="1" smtClean="0">
                          <a:solidFill>
                            <a:srgbClr val="0000FF"/>
                          </a:solidFill>
                          <a:latin typeface="Cambria Math" charset="0"/>
                          <a:ea typeface="Cambria Math" charset="0"/>
                          <a:cs typeface="Cambria Math" charset="0"/>
                        </a:rPr>
                        <m:t>𝑧</m:t>
                      </m:r>
                    </m:oMath>
                  </m:oMathPara>
                </a14:m>
                <a:endParaRPr lang="en-US" altLang="zh-CN" sz="2400" b="0" dirty="0" smtClean="0">
                  <a:solidFill>
                    <a:srgbClr val="0000FF"/>
                  </a:solidFill>
                  <a:ea typeface="Cambria Math" charset="0"/>
                  <a:cs typeface="Cambria Math" charset="0"/>
                </a:endParaRPr>
              </a:p>
            </p:txBody>
          </p:sp>
        </mc:Choice>
        <mc:Fallback xmlns="">
          <p:sp>
            <p:nvSpPr>
              <p:cNvPr id="109" name="TextBox 25"/>
              <p:cNvSpPr txBox="1">
                <a:spLocks noRot="1" noChangeAspect="1" noMove="1" noResize="1" noEditPoints="1" noAdjustHandles="1" noChangeArrowheads="1" noChangeShapeType="1" noTextEdit="1"/>
              </p:cNvSpPr>
              <p:nvPr/>
            </p:nvSpPr>
            <p:spPr>
              <a:xfrm>
                <a:off x="7653923" y="1154451"/>
                <a:ext cx="1214115" cy="830997"/>
              </a:xfrm>
              <a:prstGeom prst="rect">
                <a:avLst/>
              </a:prstGeom>
              <a:blipFill rotWithShape="0">
                <a:blip r:embed="rId6"/>
                <a:stretch>
                  <a:fillRect b="-5109"/>
                </a:stretch>
              </a:blipFill>
            </p:spPr>
            <p:txBody>
              <a:bodyPr/>
              <a:lstStyle/>
              <a:p>
                <a:r>
                  <a:rPr lang="zh-CN" altLang="en-US">
                    <a:noFill/>
                  </a:rPr>
                  <a:t> </a:t>
                </a:r>
              </a:p>
            </p:txBody>
          </p:sp>
        </mc:Fallback>
      </mc:AlternateContent>
      <p:cxnSp>
        <p:nvCxnSpPr>
          <p:cNvPr id="111" name="直接连接符 110"/>
          <p:cNvCxnSpPr/>
          <p:nvPr/>
        </p:nvCxnSpPr>
        <p:spPr>
          <a:xfrm>
            <a:off x="6908726" y="3406503"/>
            <a:ext cx="2926" cy="47012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5" name="矩形 114"/>
          <p:cNvSpPr/>
          <p:nvPr/>
        </p:nvSpPr>
        <p:spPr>
          <a:xfrm>
            <a:off x="6717992" y="3836967"/>
            <a:ext cx="612668" cy="369332"/>
          </a:xfrm>
          <a:prstGeom prst="rect">
            <a:avLst/>
          </a:prstGeom>
        </p:spPr>
        <p:txBody>
          <a:bodyPr wrap="none">
            <a:spAutoFit/>
          </a:bodyPr>
          <a:lstStyle/>
          <a:p>
            <a:r>
              <a:rPr lang="en-US" altLang="zh-CN" dirty="0" smtClean="0"/>
              <a:t>near</a:t>
            </a:r>
            <a:endParaRPr lang="zh-CN" altLang="en-US" dirty="0"/>
          </a:p>
        </p:txBody>
      </p:sp>
      <p:sp>
        <p:nvSpPr>
          <p:cNvPr id="117" name="椭圆 116"/>
          <p:cNvSpPr/>
          <p:nvPr/>
        </p:nvSpPr>
        <p:spPr>
          <a:xfrm>
            <a:off x="2925263" y="3229476"/>
            <a:ext cx="95986" cy="959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椭圆 117"/>
          <p:cNvSpPr/>
          <p:nvPr/>
        </p:nvSpPr>
        <p:spPr>
          <a:xfrm>
            <a:off x="6843216" y="3327778"/>
            <a:ext cx="95986" cy="9598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9" name="直接连接符 118"/>
          <p:cNvCxnSpPr/>
          <p:nvPr/>
        </p:nvCxnSpPr>
        <p:spPr>
          <a:xfrm>
            <a:off x="5941473" y="3408192"/>
            <a:ext cx="0" cy="481137"/>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1" name="矩形 120"/>
          <p:cNvSpPr/>
          <p:nvPr/>
        </p:nvSpPr>
        <p:spPr>
          <a:xfrm>
            <a:off x="5580599" y="3836967"/>
            <a:ext cx="683200" cy="369332"/>
          </a:xfrm>
          <a:prstGeom prst="rect">
            <a:avLst/>
          </a:prstGeom>
        </p:spPr>
        <p:txBody>
          <a:bodyPr wrap="none">
            <a:spAutoFit/>
          </a:bodyPr>
          <a:lstStyle/>
          <a:p>
            <a:r>
              <a:rPr lang="en-US" altLang="zh-CN" dirty="0" smtClean="0"/>
              <a:t>-near</a:t>
            </a:r>
            <a:endParaRPr lang="zh-CN" altLang="en-US" dirty="0"/>
          </a:p>
        </p:txBody>
      </p:sp>
      <mc:AlternateContent xmlns:mc="http://schemas.openxmlformats.org/markup-compatibility/2006" xmlns:a14="http://schemas.microsoft.com/office/drawing/2010/main">
        <mc:Choice Requires="a14">
          <p:sp>
            <p:nvSpPr>
              <p:cNvPr id="122" name="矩形 121"/>
              <p:cNvSpPr/>
              <p:nvPr/>
            </p:nvSpPr>
            <p:spPr>
              <a:xfrm>
                <a:off x="1005357" y="5844814"/>
                <a:ext cx="3982950" cy="7146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altLang="zh-CN" i="1" dirty="0" smtClean="0">
                              <a:latin typeface="Cambria Math" panose="02040503050406030204" pitchFamily="18" charset="0"/>
                            </a:rPr>
                          </m:ctrlPr>
                        </m:dPr>
                        <m:e>
                          <m:f>
                            <m:fPr>
                              <m:ctrlPr>
                                <a:rPr lang="en-US" altLang="zh-CN" i="1" dirty="0">
                                  <a:solidFill>
                                    <a:srgbClr val="0000FF"/>
                                  </a:solidFill>
                                  <a:latin typeface="Cambria Math" panose="02040503050406030204" pitchFamily="18" charset="0"/>
                                </a:rPr>
                              </m:ctrlPr>
                            </m:fPr>
                            <m:num>
                              <m:r>
                                <a:rPr lang="en-US" altLang="zh-CN" i="1" dirty="0" err="1">
                                  <a:solidFill>
                                    <a:srgbClr val="0000FF"/>
                                  </a:solidFill>
                                  <a:latin typeface="Cambria Math" panose="02040503050406030204" pitchFamily="18" charset="0"/>
                                </a:rPr>
                                <m:t>𝑟𝑖𝑔h𝑡</m:t>
                              </m:r>
                              <m:r>
                                <a:rPr lang="en-US" altLang="zh-CN" b="0" i="1" dirty="0" smtClean="0">
                                  <a:solidFill>
                                    <a:srgbClr val="0000FF"/>
                                  </a:solidFill>
                                  <a:latin typeface="Cambria Math" panose="02040503050406030204" pitchFamily="18" charset="0"/>
                                </a:rPr>
                                <m:t>−</m:t>
                              </m:r>
                              <m:r>
                                <a:rPr lang="en-US" altLang="zh-CN" b="0" i="1" dirty="0" smtClean="0">
                                  <a:solidFill>
                                    <a:srgbClr val="0000FF"/>
                                  </a:solidFill>
                                  <a:latin typeface="Cambria Math" panose="02040503050406030204" pitchFamily="18" charset="0"/>
                                </a:rPr>
                                <m:t>𝑙𝑒𝑓𝑡</m:t>
                              </m:r>
                            </m:num>
                            <m:den>
                              <m:r>
                                <a:rPr lang="en-US" altLang="zh-CN" i="1" dirty="0">
                                  <a:solidFill>
                                    <a:srgbClr val="0000FF"/>
                                  </a:solidFill>
                                  <a:latin typeface="Cambria Math" panose="02040503050406030204" pitchFamily="18" charset="0"/>
                                </a:rPr>
                                <m:t>2</m:t>
                              </m:r>
                            </m:den>
                          </m:f>
                          <m:r>
                            <a:rPr lang="en-US" altLang="zh-CN" i="1" dirty="0">
                              <a:solidFill>
                                <a:srgbClr val="0000FF"/>
                              </a:solidFill>
                              <a:latin typeface="Cambria Math" panose="02040503050406030204" pitchFamily="18" charset="0"/>
                            </a:rPr>
                            <m:t>,</m:t>
                          </m:r>
                          <m:f>
                            <m:fPr>
                              <m:ctrlPr>
                                <a:rPr lang="en-US" altLang="zh-CN" i="1" dirty="0">
                                  <a:solidFill>
                                    <a:srgbClr val="0000FF"/>
                                  </a:solidFill>
                                  <a:latin typeface="Cambria Math" panose="02040503050406030204" pitchFamily="18" charset="0"/>
                                </a:rPr>
                              </m:ctrlPr>
                            </m:fPr>
                            <m:num>
                              <m:r>
                                <a:rPr lang="en-US" altLang="zh-CN" b="0" i="1" dirty="0" smtClean="0">
                                  <a:solidFill>
                                    <a:srgbClr val="0000FF"/>
                                  </a:solidFill>
                                  <a:latin typeface="Cambria Math" panose="02040503050406030204" pitchFamily="18" charset="0"/>
                                </a:rPr>
                                <m:t>𝑡𝑜𝑝</m:t>
                              </m:r>
                              <m:r>
                                <a:rPr lang="en-US" altLang="zh-CN" b="0" i="1" dirty="0" smtClean="0">
                                  <a:solidFill>
                                    <a:srgbClr val="0000FF"/>
                                  </a:solidFill>
                                  <a:latin typeface="Cambria Math" panose="02040503050406030204" pitchFamily="18" charset="0"/>
                                </a:rPr>
                                <m:t>−</m:t>
                              </m:r>
                              <m:r>
                                <a:rPr lang="en-US" altLang="zh-CN" b="0" i="1" dirty="0" smtClean="0">
                                  <a:solidFill>
                                    <a:srgbClr val="0000FF"/>
                                  </a:solidFill>
                                  <a:latin typeface="Cambria Math" panose="02040503050406030204" pitchFamily="18" charset="0"/>
                                </a:rPr>
                                <m:t>𝑏𝑜𝑡𝑡𝑜𝑚</m:t>
                              </m:r>
                            </m:num>
                            <m:den>
                              <m:r>
                                <a:rPr lang="en-US" altLang="zh-CN" i="1" dirty="0">
                                  <a:solidFill>
                                    <a:srgbClr val="0000FF"/>
                                  </a:solidFill>
                                  <a:latin typeface="Cambria Math" panose="02040503050406030204" pitchFamily="18" charset="0"/>
                                </a:rPr>
                                <m:t>2</m:t>
                              </m:r>
                            </m:den>
                          </m:f>
                          <m:r>
                            <a:rPr lang="en-US" altLang="zh-CN" dirty="0">
                              <a:solidFill>
                                <a:srgbClr val="0000FF"/>
                              </a:solidFill>
                              <a:latin typeface="Cambria Math" panose="02040503050406030204" pitchFamily="18" charset="0"/>
                            </a:rPr>
                            <m:t>,−</m:t>
                          </m:r>
                          <m:r>
                            <m:rPr>
                              <m:sty m:val="p"/>
                            </m:rPr>
                            <a:rPr lang="en-US" altLang="zh-CN" dirty="0">
                              <a:solidFill>
                                <a:srgbClr val="0000FF"/>
                              </a:solidFill>
                              <a:latin typeface="Cambria Math" panose="02040503050406030204" pitchFamily="18" charset="0"/>
                            </a:rPr>
                            <m:t>near</m:t>
                          </m:r>
                        </m:e>
                      </m:d>
                    </m:oMath>
                  </m:oMathPara>
                </a14:m>
                <a:endParaRPr lang="zh-CN" altLang="en-US" dirty="0"/>
              </a:p>
            </p:txBody>
          </p:sp>
        </mc:Choice>
        <mc:Fallback xmlns="">
          <p:sp>
            <p:nvSpPr>
              <p:cNvPr id="122" name="矩形 121"/>
              <p:cNvSpPr>
                <a:spLocks noRot="1" noChangeAspect="1" noMove="1" noResize="1" noEditPoints="1" noAdjustHandles="1" noChangeArrowheads="1" noChangeShapeType="1" noTextEdit="1"/>
              </p:cNvSpPr>
              <p:nvPr/>
            </p:nvSpPr>
            <p:spPr>
              <a:xfrm>
                <a:off x="1005357" y="5844814"/>
                <a:ext cx="3982950" cy="714683"/>
              </a:xfrm>
              <a:prstGeom prst="rect">
                <a:avLst/>
              </a:prstGeom>
              <a:blipFill>
                <a:blip r:embed="rId7"/>
                <a:stretch>
                  <a:fillRect/>
                </a:stretch>
              </a:blipFill>
            </p:spPr>
            <p:txBody>
              <a:bodyPr/>
              <a:lstStyle/>
              <a:p>
                <a:r>
                  <a:rPr lang="zh-CN" altLang="en-US">
                    <a:noFill/>
                  </a:rPr>
                  <a:t> </a:t>
                </a:r>
              </a:p>
            </p:txBody>
          </p:sp>
        </mc:Fallback>
      </mc:AlternateContent>
      <p:sp>
        <p:nvSpPr>
          <p:cNvPr id="126" name="矩形 125"/>
          <p:cNvSpPr/>
          <p:nvPr/>
        </p:nvSpPr>
        <p:spPr>
          <a:xfrm>
            <a:off x="5859780" y="6006076"/>
            <a:ext cx="1861856" cy="369332"/>
          </a:xfrm>
          <a:prstGeom prst="rect">
            <a:avLst/>
          </a:prstGeom>
        </p:spPr>
        <p:txBody>
          <a:bodyPr wrap="none">
            <a:spAutoFit/>
          </a:bodyPr>
          <a:lstStyle/>
          <a:p>
            <a:r>
              <a:rPr lang="en-US" altLang="zh-CN" dirty="0" smtClean="0"/>
              <a:t>(</a:t>
            </a:r>
            <a:r>
              <a:rPr lang="en-US" altLang="zh-CN" dirty="0" smtClean="0">
                <a:solidFill>
                  <a:srgbClr val="FF0000"/>
                </a:solidFill>
              </a:rPr>
              <a:t>near, near, -near</a:t>
            </a:r>
            <a:r>
              <a:rPr lang="en-US" altLang="zh-CN" dirty="0" smtClean="0"/>
              <a:t>)</a:t>
            </a:r>
            <a:endParaRPr lang="zh-CN" altLang="en-US" dirty="0"/>
          </a:p>
        </p:txBody>
      </p:sp>
      <mc:AlternateContent xmlns:mc="http://schemas.openxmlformats.org/markup-compatibility/2006" xmlns:a14="http://schemas.microsoft.com/office/drawing/2010/main">
        <mc:Choice Requires="a14">
          <p:sp>
            <p:nvSpPr>
              <p:cNvPr id="141" name="矩形 140"/>
              <p:cNvSpPr/>
              <p:nvPr/>
            </p:nvSpPr>
            <p:spPr>
              <a:xfrm>
                <a:off x="7524138" y="2130466"/>
                <a:ext cx="679865"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nor/>
                        </m:rPr>
                        <a:rPr lang="en-US" altLang="zh-CN" sz="1400">
                          <a:latin typeface="Cambria Math" charset="0"/>
                        </a:rPr>
                        <m:t>𝑥</m:t>
                      </m:r>
                      <m:r>
                        <m:rPr>
                          <m:nor/>
                        </m:rPr>
                        <a:rPr lang="en-US" altLang="zh-CN" sz="1400">
                          <a:latin typeface="Cambria Math" charset="0"/>
                        </a:rPr>
                        <m:t>=−</m:t>
                      </m:r>
                      <m:r>
                        <m:rPr>
                          <m:nor/>
                        </m:rPr>
                        <a:rPr lang="en-US" altLang="zh-CN" sz="1400">
                          <a:latin typeface="Cambria Math" charset="0"/>
                          <a:ea typeface="Cambria Math" charset="0"/>
                          <a:cs typeface="Cambria Math" charset="0"/>
                        </a:rPr>
                        <m:t>𝑧</m:t>
                      </m:r>
                    </m:oMath>
                  </m:oMathPara>
                </a14:m>
                <a:endParaRPr lang="en-US" altLang="zh-CN" sz="1400" dirty="0">
                  <a:ea typeface="Cambria Math" charset="0"/>
                  <a:cs typeface="Cambria Math" charset="0"/>
                </a:endParaRPr>
              </a:p>
            </p:txBody>
          </p:sp>
        </mc:Choice>
        <mc:Fallback xmlns="">
          <p:sp>
            <p:nvSpPr>
              <p:cNvPr id="141" name="矩形 140"/>
              <p:cNvSpPr>
                <a:spLocks noRot="1" noChangeAspect="1" noMove="1" noResize="1" noEditPoints="1" noAdjustHandles="1" noChangeArrowheads="1" noChangeShapeType="1" noTextEdit="1"/>
              </p:cNvSpPr>
              <p:nvPr/>
            </p:nvSpPr>
            <p:spPr>
              <a:xfrm>
                <a:off x="7524138" y="2130466"/>
                <a:ext cx="679865" cy="307777"/>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2" name="矩形 141"/>
              <p:cNvSpPr/>
              <p:nvPr/>
            </p:nvSpPr>
            <p:spPr>
              <a:xfrm>
                <a:off x="4683123" y="2130466"/>
                <a:ext cx="545213"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nor/>
                        </m:rPr>
                        <a:rPr lang="en-US" altLang="zh-CN" sz="1400">
                          <a:latin typeface="Cambria Math" charset="0"/>
                        </a:rPr>
                        <m:t>𝑥</m:t>
                      </m:r>
                      <m:r>
                        <m:rPr>
                          <m:nor/>
                        </m:rPr>
                        <a:rPr lang="en-US" altLang="zh-CN" sz="1400">
                          <a:latin typeface="Cambria Math" charset="0"/>
                        </a:rPr>
                        <m:t>=</m:t>
                      </m:r>
                      <m:r>
                        <m:rPr>
                          <m:nor/>
                        </m:rPr>
                        <a:rPr lang="en-US" altLang="zh-CN" sz="1400">
                          <a:latin typeface="Cambria Math" charset="0"/>
                          <a:ea typeface="Cambria Math" charset="0"/>
                          <a:cs typeface="Cambria Math" charset="0"/>
                        </a:rPr>
                        <m:t>𝑧</m:t>
                      </m:r>
                    </m:oMath>
                  </m:oMathPara>
                </a14:m>
                <a:endParaRPr lang="en-US" altLang="zh-CN" sz="1400" dirty="0">
                  <a:ea typeface="Cambria Math" charset="0"/>
                  <a:cs typeface="Cambria Math" charset="0"/>
                </a:endParaRPr>
              </a:p>
            </p:txBody>
          </p:sp>
        </mc:Choice>
        <mc:Fallback xmlns="">
          <p:sp>
            <p:nvSpPr>
              <p:cNvPr id="142" name="矩形 141"/>
              <p:cNvSpPr>
                <a:spLocks noRot="1" noChangeAspect="1" noMove="1" noResize="1" noEditPoints="1" noAdjustHandles="1" noChangeArrowheads="1" noChangeShapeType="1" noTextEdit="1"/>
              </p:cNvSpPr>
              <p:nvPr/>
            </p:nvSpPr>
            <p:spPr>
              <a:xfrm>
                <a:off x="4683123" y="2130466"/>
                <a:ext cx="545213" cy="307777"/>
              </a:xfrm>
              <a:prstGeom prst="rect">
                <a:avLst/>
              </a:prstGeom>
              <a:blipFill>
                <a:blip r:embed="rId9"/>
                <a:stretch>
                  <a:fillRect/>
                </a:stretch>
              </a:blipFill>
            </p:spPr>
            <p:txBody>
              <a:bodyPr/>
              <a:lstStyle/>
              <a:p>
                <a:r>
                  <a:rPr lang="zh-CN" altLang="en-US">
                    <a:noFill/>
                  </a:rPr>
                  <a:t> </a:t>
                </a:r>
              </a:p>
            </p:txBody>
          </p:sp>
        </mc:Fallback>
      </mc:AlternateContent>
      <p:sp>
        <p:nvSpPr>
          <p:cNvPr id="54" name="右箭头 53"/>
          <p:cNvSpPr/>
          <p:nvPr/>
        </p:nvSpPr>
        <p:spPr>
          <a:xfrm>
            <a:off x="5090311" y="6042151"/>
            <a:ext cx="662332" cy="3166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atin typeface="微软雅黑" panose="020B0503020204020204" pitchFamily="34" charset="-122"/>
                <a:ea typeface="微软雅黑" panose="020B0503020204020204" pitchFamily="34" charset="-122"/>
              </a:rPr>
              <a:t>缩放</a:t>
            </a:r>
            <a:endParaRPr lang="zh-CN" altLang="en-US" sz="1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2089743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OpenGL</a:t>
            </a:r>
            <a:r>
              <a:rPr lang="zh-CN" altLang="en-US" dirty="0"/>
              <a:t>的透视变换</a:t>
            </a:r>
          </a:p>
        </p:txBody>
      </p:sp>
      <p:sp>
        <p:nvSpPr>
          <p:cNvPr id="3" name="内容占位符 2"/>
          <p:cNvSpPr>
            <a:spLocks noGrp="1"/>
          </p:cNvSpPr>
          <p:nvPr>
            <p:ph idx="1"/>
          </p:nvPr>
        </p:nvSpPr>
        <p:spPr/>
        <p:txBody>
          <a:bodyPr/>
          <a:lstStyle/>
          <a:p>
            <a:pPr>
              <a:buClr>
                <a:srgbClr val="94003F"/>
              </a:buClr>
            </a:pPr>
            <a:r>
              <a:rPr lang="zh-CN" altLang="en-US" dirty="0" smtClean="0"/>
              <a:t>小结：一般视见体</a:t>
            </a:r>
            <a:endParaRPr lang="en-US" altLang="zh-CN" dirty="0"/>
          </a:p>
          <a:p>
            <a:pPr>
              <a:buClr>
                <a:srgbClr val="94003F"/>
              </a:buClr>
            </a:pPr>
            <a:endParaRPr lang="en-US" altLang="zh-CN" sz="2400" dirty="0"/>
          </a:p>
          <a:p>
            <a:pPr marL="0" indent="0">
              <a:buClr>
                <a:srgbClr val="94003F"/>
              </a:buClr>
              <a:buNone/>
            </a:pPr>
            <a:endParaRPr lang="en-US" altLang="zh-CN" sz="2400" dirty="0"/>
          </a:p>
          <a:p>
            <a:pPr>
              <a:buClr>
                <a:srgbClr val="94003F"/>
              </a:buClr>
            </a:pPr>
            <a:endParaRPr lang="en-US" altLang="zh-CN" sz="2400" dirty="0"/>
          </a:p>
          <a:p>
            <a:pPr>
              <a:buClr>
                <a:srgbClr val="94003F"/>
              </a:buClr>
            </a:pP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31</a:t>
            </a:fld>
            <a:endParaRPr lang="zh-CN" altLang="en-US"/>
          </a:p>
        </p:txBody>
      </p:sp>
      <p:sp>
        <p:nvSpPr>
          <p:cNvPr id="24" name="矩形 23"/>
          <p:cNvSpPr/>
          <p:nvPr/>
        </p:nvSpPr>
        <p:spPr>
          <a:xfrm>
            <a:off x="847302" y="1907578"/>
            <a:ext cx="3506047" cy="1754326"/>
          </a:xfrm>
          <a:prstGeom prst="rect">
            <a:avLst/>
          </a:prstGeom>
          <a:solidFill>
            <a:srgbClr val="BDD7EE">
              <a:alpha val="52941"/>
            </a:srgbClr>
          </a:solidFill>
        </p:spPr>
        <p:txBody>
          <a:bodyPr wrap="square">
            <a:spAutoFit/>
          </a:bodyPr>
          <a:lstStyle/>
          <a:p>
            <a:r>
              <a:rPr lang="en-US" altLang="zh-CN" b="1" dirty="0">
                <a:solidFill>
                  <a:srgbClr val="0000FF"/>
                </a:solidFill>
              </a:rPr>
              <a:t>mat4 </a:t>
            </a:r>
            <a:r>
              <a:rPr lang="en-US" altLang="zh-CN" b="1" dirty="0"/>
              <a:t>Frustum(</a:t>
            </a:r>
            <a:r>
              <a:rPr lang="en-US" altLang="zh-CN" b="1" dirty="0" err="1">
                <a:solidFill>
                  <a:srgbClr val="0000FF"/>
                </a:solidFill>
              </a:rPr>
              <a:t>GLfloat</a:t>
            </a:r>
            <a:r>
              <a:rPr lang="en-US" altLang="zh-CN" b="1" dirty="0">
                <a:solidFill>
                  <a:srgbClr val="0000FF"/>
                </a:solidFill>
              </a:rPr>
              <a:t> </a:t>
            </a:r>
            <a:r>
              <a:rPr lang="en-US" altLang="zh-CN" b="1" dirty="0"/>
              <a:t>left,</a:t>
            </a:r>
            <a:r>
              <a:rPr lang="en-US" altLang="zh-CN" b="1" dirty="0">
                <a:solidFill>
                  <a:srgbClr val="0000FF"/>
                </a:solidFill>
              </a:rPr>
              <a:t> </a:t>
            </a:r>
          </a:p>
          <a:p>
            <a:pPr lvl="3"/>
            <a:r>
              <a:rPr lang="en-US" altLang="zh-CN" b="1" dirty="0">
                <a:solidFill>
                  <a:srgbClr val="0000FF"/>
                </a:solidFill>
              </a:rPr>
              <a:t> </a:t>
            </a:r>
            <a:r>
              <a:rPr lang="en-US" altLang="zh-CN" b="1" dirty="0" err="1">
                <a:solidFill>
                  <a:srgbClr val="0000FF"/>
                </a:solidFill>
              </a:rPr>
              <a:t>GLfloat</a:t>
            </a:r>
            <a:r>
              <a:rPr lang="en-US" altLang="zh-CN" b="1" dirty="0">
                <a:solidFill>
                  <a:srgbClr val="0000FF"/>
                </a:solidFill>
              </a:rPr>
              <a:t> </a:t>
            </a:r>
            <a:r>
              <a:rPr lang="en-US" altLang="zh-CN" b="1" dirty="0"/>
              <a:t>right,</a:t>
            </a:r>
            <a:r>
              <a:rPr lang="en-US" altLang="zh-CN" b="1" dirty="0">
                <a:solidFill>
                  <a:srgbClr val="0000FF"/>
                </a:solidFill>
              </a:rPr>
              <a:t> </a:t>
            </a:r>
          </a:p>
          <a:p>
            <a:pPr lvl="3"/>
            <a:r>
              <a:rPr lang="en-US" altLang="zh-CN" b="1" dirty="0">
                <a:solidFill>
                  <a:srgbClr val="0000FF"/>
                </a:solidFill>
              </a:rPr>
              <a:t> </a:t>
            </a:r>
            <a:r>
              <a:rPr lang="en-US" altLang="zh-CN" b="1" dirty="0" err="1">
                <a:solidFill>
                  <a:srgbClr val="0000FF"/>
                </a:solidFill>
              </a:rPr>
              <a:t>GLfloat</a:t>
            </a:r>
            <a:r>
              <a:rPr lang="en-US" altLang="zh-CN" b="1" dirty="0">
                <a:solidFill>
                  <a:srgbClr val="0000FF"/>
                </a:solidFill>
              </a:rPr>
              <a:t> </a:t>
            </a:r>
            <a:r>
              <a:rPr lang="en-US" altLang="zh-CN" b="1" dirty="0"/>
              <a:t>bottom,     </a:t>
            </a:r>
          </a:p>
          <a:p>
            <a:r>
              <a:rPr lang="en-US" altLang="zh-CN" b="1" dirty="0">
                <a:solidFill>
                  <a:srgbClr val="0000FF"/>
                </a:solidFill>
              </a:rPr>
              <a:t>            </a:t>
            </a:r>
            <a:r>
              <a:rPr lang="zh-CN" altLang="en-US" b="1" dirty="0" smtClean="0">
                <a:solidFill>
                  <a:srgbClr val="0000FF"/>
                </a:solidFill>
              </a:rPr>
              <a:t>            </a:t>
            </a:r>
            <a:r>
              <a:rPr lang="en-US" altLang="zh-CN" b="1" dirty="0" smtClean="0">
                <a:solidFill>
                  <a:srgbClr val="0000FF"/>
                </a:solidFill>
              </a:rPr>
              <a:t>   </a:t>
            </a:r>
            <a:r>
              <a:rPr lang="en-US" altLang="zh-CN" b="1" dirty="0" err="1" smtClean="0">
                <a:solidFill>
                  <a:srgbClr val="0000FF"/>
                </a:solidFill>
              </a:rPr>
              <a:t>GLfloat</a:t>
            </a:r>
            <a:r>
              <a:rPr lang="en-US" altLang="zh-CN" b="1" dirty="0" smtClean="0">
                <a:solidFill>
                  <a:srgbClr val="0000FF"/>
                </a:solidFill>
              </a:rPr>
              <a:t> </a:t>
            </a:r>
            <a:r>
              <a:rPr lang="en-US" altLang="zh-CN" b="1" dirty="0"/>
              <a:t>top,</a:t>
            </a:r>
          </a:p>
          <a:p>
            <a:pPr lvl="3"/>
            <a:r>
              <a:rPr lang="en-US" altLang="zh-CN" b="1" dirty="0">
                <a:solidFill>
                  <a:srgbClr val="0000FF"/>
                </a:solidFill>
              </a:rPr>
              <a:t> </a:t>
            </a:r>
            <a:r>
              <a:rPr lang="en-US" altLang="zh-CN" b="1" dirty="0" err="1">
                <a:solidFill>
                  <a:srgbClr val="0000FF"/>
                </a:solidFill>
              </a:rPr>
              <a:t>GLfloat</a:t>
            </a:r>
            <a:r>
              <a:rPr lang="en-US" altLang="zh-CN" b="1" dirty="0">
                <a:solidFill>
                  <a:srgbClr val="0000FF"/>
                </a:solidFill>
              </a:rPr>
              <a:t> </a:t>
            </a:r>
            <a:r>
              <a:rPr lang="en-US" altLang="zh-CN" b="1" dirty="0"/>
              <a:t>near,</a:t>
            </a:r>
            <a:r>
              <a:rPr lang="en-US" altLang="zh-CN" b="1" dirty="0">
                <a:solidFill>
                  <a:srgbClr val="0000FF"/>
                </a:solidFill>
              </a:rPr>
              <a:t> </a:t>
            </a:r>
          </a:p>
          <a:p>
            <a:pPr lvl="3"/>
            <a:r>
              <a:rPr lang="en-US" altLang="zh-CN" b="1" dirty="0">
                <a:solidFill>
                  <a:srgbClr val="0000FF"/>
                </a:solidFill>
              </a:rPr>
              <a:t> </a:t>
            </a:r>
            <a:r>
              <a:rPr lang="en-US" altLang="zh-CN" b="1" dirty="0" err="1">
                <a:solidFill>
                  <a:srgbClr val="0000FF"/>
                </a:solidFill>
              </a:rPr>
              <a:t>GLfloat</a:t>
            </a:r>
            <a:r>
              <a:rPr lang="en-US" altLang="zh-CN" b="1" dirty="0">
                <a:solidFill>
                  <a:srgbClr val="0000FF"/>
                </a:solidFill>
              </a:rPr>
              <a:t> </a:t>
            </a:r>
            <a:r>
              <a:rPr lang="en-US" altLang="zh-CN" b="1" dirty="0"/>
              <a:t>far);</a:t>
            </a:r>
            <a:endParaRPr lang="zh-CN" altLang="en-US" dirty="0"/>
          </a:p>
        </p:txBody>
      </p:sp>
      <p:pic>
        <p:nvPicPr>
          <p:cNvPr id="9" name="图片 8"/>
          <p:cNvPicPr>
            <a:picLocks noChangeAspect="1"/>
          </p:cNvPicPr>
          <p:nvPr/>
        </p:nvPicPr>
        <p:blipFill>
          <a:blip r:embed="rId2"/>
          <a:stretch>
            <a:fillRect/>
          </a:stretch>
        </p:blipFill>
        <p:spPr>
          <a:xfrm>
            <a:off x="4572000" y="1519986"/>
            <a:ext cx="4167667" cy="1764239"/>
          </a:xfrm>
          <a:prstGeom prst="rect">
            <a:avLst/>
          </a:prstGeom>
        </p:spPr>
      </p:pic>
      <p:pic>
        <p:nvPicPr>
          <p:cNvPr id="14" name="图片 5"/>
          <p:cNvPicPr>
            <a:picLocks noChangeAspect="1"/>
          </p:cNvPicPr>
          <p:nvPr/>
        </p:nvPicPr>
        <p:blipFill>
          <a:blip r:embed="rId3"/>
          <a:stretch>
            <a:fillRect/>
          </a:stretch>
        </p:blipFill>
        <p:spPr>
          <a:xfrm>
            <a:off x="5715151" y="3742070"/>
            <a:ext cx="2460224" cy="2005651"/>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847302" y="3829955"/>
                <a:ext cx="3862921" cy="1477328"/>
              </a:xfrm>
              <a:prstGeom prst="rect">
                <a:avLst/>
              </a:prstGeom>
              <a:noFill/>
            </p:spPr>
            <p:txBody>
              <a:bodyPr wrap="square" rtlCol="0">
                <a:spAutoFit/>
              </a:bodyPr>
              <a:lstStyle/>
              <a:p>
                <a:r>
                  <a:rPr lang="zh-CN" altLang="en-US" b="1" dirty="0" smtClean="0"/>
                  <a:t>注意：</a:t>
                </a:r>
                <a:r>
                  <a:rPr lang="en-US" altLang="zh-CN" b="1" dirty="0" smtClean="0">
                    <a:latin typeface="ZztexMono-Regular"/>
                  </a:rPr>
                  <a:t>Frustum</a:t>
                </a:r>
                <a:r>
                  <a:rPr lang="zh-CN" altLang="en-US" b="1" dirty="0" smtClean="0">
                    <a:latin typeface="ZztexMono-Regular"/>
                  </a:rPr>
                  <a:t>函数没有限制视见体一定是对称的棱台！</a:t>
                </a:r>
                <a:endParaRPr lang="en-US" altLang="zh-CN" b="1" dirty="0" smtClean="0">
                  <a:latin typeface="ZztexMono-Regular"/>
                </a:endParaRPr>
              </a:p>
              <a:p>
                <a:endParaRPr lang="en-US" b="1" dirty="0">
                  <a:latin typeface="ZztexMono-Regular"/>
                </a:endParaRPr>
              </a:p>
              <a:p>
                <a14:m>
                  <m:oMath xmlns:m="http://schemas.openxmlformats.org/officeDocument/2006/math">
                    <m:r>
                      <a:rPr lang="en-US" b="1" i="1" smtClean="0">
                        <a:latin typeface="Cambria Math" charset="0"/>
                        <a:ea typeface="Cambria Math" charset="0"/>
                        <a:cs typeface="Cambria Math" charset="0"/>
                      </a:rPr>
                      <m:t>⇒</m:t>
                    </m:r>
                  </m:oMath>
                </a14:m>
                <a:r>
                  <a:rPr lang="zh-CN" altLang="en-US" b="1" dirty="0" smtClean="0"/>
                  <a:t> 需要先将棱台变为对称标准的棱台，再做透视归一化变换</a:t>
                </a:r>
                <a:endParaRPr lang="en-US" b="1" dirty="0"/>
              </a:p>
            </p:txBody>
          </p:sp>
        </mc:Choice>
        <mc:Fallback xmlns="">
          <p:sp>
            <p:nvSpPr>
              <p:cNvPr id="6" name="TextBox 5"/>
              <p:cNvSpPr txBox="1">
                <a:spLocks noRot="1" noChangeAspect="1" noMove="1" noResize="1" noEditPoints="1" noAdjustHandles="1" noChangeArrowheads="1" noChangeShapeType="1" noTextEdit="1"/>
              </p:cNvSpPr>
              <p:nvPr/>
            </p:nvSpPr>
            <p:spPr>
              <a:xfrm>
                <a:off x="847302" y="3829955"/>
                <a:ext cx="3862921" cy="1477328"/>
              </a:xfrm>
              <a:prstGeom prst="rect">
                <a:avLst/>
              </a:prstGeom>
              <a:blipFill rotWithShape="0">
                <a:blip r:embed="rId4"/>
                <a:stretch>
                  <a:fillRect l="-1420" t="-2881" r="-7098" b="-4115"/>
                </a:stretch>
              </a:blipFill>
            </p:spPr>
            <p:txBody>
              <a:bodyPr/>
              <a:lstStyle/>
              <a:p>
                <a:r>
                  <a:rPr lang="en-US">
                    <a:noFill/>
                  </a:rPr>
                  <a:t> </a:t>
                </a:r>
              </a:p>
            </p:txBody>
          </p:sp>
        </mc:Fallback>
      </mc:AlternateContent>
      <p:grpSp>
        <p:nvGrpSpPr>
          <p:cNvPr id="17" name="组合 21"/>
          <p:cNvGrpSpPr/>
          <p:nvPr/>
        </p:nvGrpSpPr>
        <p:grpSpPr>
          <a:xfrm>
            <a:off x="954487" y="5428255"/>
            <a:ext cx="4774477" cy="1429743"/>
            <a:chOff x="565288" y="3342928"/>
            <a:chExt cx="4950338" cy="1482406"/>
          </a:xfrm>
        </p:grpSpPr>
        <p:pic>
          <p:nvPicPr>
            <p:cNvPr id="18" name="图片 6"/>
            <p:cNvPicPr>
              <a:picLocks noChangeAspect="1"/>
            </p:cNvPicPr>
            <p:nvPr/>
          </p:nvPicPr>
          <p:blipFill>
            <a:blip r:embed="rId5"/>
            <a:stretch>
              <a:fillRect/>
            </a:stretch>
          </p:blipFill>
          <p:spPr>
            <a:xfrm>
              <a:off x="565288" y="3342928"/>
              <a:ext cx="4950338" cy="1482406"/>
            </a:xfrm>
            <a:prstGeom prst="rect">
              <a:avLst/>
            </a:prstGeom>
          </p:spPr>
        </p:pic>
        <p:pic>
          <p:nvPicPr>
            <p:cNvPr id="19" name="图片 17"/>
            <p:cNvPicPr>
              <a:picLocks noChangeAspect="1"/>
            </p:cNvPicPr>
            <p:nvPr/>
          </p:nvPicPr>
          <p:blipFill>
            <a:blip r:embed="rId6"/>
            <a:stretch>
              <a:fillRect/>
            </a:stretch>
          </p:blipFill>
          <p:spPr>
            <a:xfrm>
              <a:off x="4546508" y="3460160"/>
              <a:ext cx="97792" cy="97478"/>
            </a:xfrm>
            <a:prstGeom prst="rect">
              <a:avLst/>
            </a:prstGeom>
          </p:spPr>
        </p:pic>
        <p:pic>
          <p:nvPicPr>
            <p:cNvPr id="20" name="图片 18"/>
            <p:cNvPicPr>
              <a:picLocks noChangeAspect="1"/>
            </p:cNvPicPr>
            <p:nvPr/>
          </p:nvPicPr>
          <p:blipFill>
            <a:blip r:embed="rId6"/>
            <a:stretch>
              <a:fillRect/>
            </a:stretch>
          </p:blipFill>
          <p:spPr>
            <a:xfrm>
              <a:off x="4497612" y="4628267"/>
              <a:ext cx="97792" cy="97478"/>
            </a:xfrm>
            <a:prstGeom prst="rect">
              <a:avLst/>
            </a:prstGeom>
          </p:spPr>
        </p:pic>
        <p:pic>
          <p:nvPicPr>
            <p:cNvPr id="21" name="图片 19"/>
            <p:cNvPicPr>
              <a:picLocks noChangeAspect="1"/>
            </p:cNvPicPr>
            <p:nvPr/>
          </p:nvPicPr>
          <p:blipFill>
            <a:blip r:embed="rId6"/>
            <a:stretch>
              <a:fillRect/>
            </a:stretch>
          </p:blipFill>
          <p:spPr>
            <a:xfrm>
              <a:off x="5238875" y="4034332"/>
              <a:ext cx="97792" cy="97478"/>
            </a:xfrm>
            <a:prstGeom prst="rect">
              <a:avLst/>
            </a:prstGeom>
          </p:spPr>
        </p:pic>
        <p:pic>
          <p:nvPicPr>
            <p:cNvPr id="22" name="图片 20"/>
            <p:cNvPicPr>
              <a:picLocks noChangeAspect="1"/>
            </p:cNvPicPr>
            <p:nvPr/>
          </p:nvPicPr>
          <p:blipFill>
            <a:blip r:embed="rId6"/>
            <a:stretch>
              <a:fillRect/>
            </a:stretch>
          </p:blipFill>
          <p:spPr>
            <a:xfrm>
              <a:off x="3763618" y="4041307"/>
              <a:ext cx="97792" cy="97478"/>
            </a:xfrm>
            <a:prstGeom prst="rect">
              <a:avLst/>
            </a:prstGeom>
          </p:spPr>
        </p:pic>
      </p:grpSp>
      <p:cxnSp>
        <p:nvCxnSpPr>
          <p:cNvPr id="8" name="Elbow Connector 7"/>
          <p:cNvCxnSpPr/>
          <p:nvPr/>
        </p:nvCxnSpPr>
        <p:spPr>
          <a:xfrm rot="10800000" flipV="1">
            <a:off x="6277563" y="5906081"/>
            <a:ext cx="844593" cy="391485"/>
          </a:xfrm>
          <a:prstGeom prst="bentConnector3">
            <a:avLst>
              <a:gd name="adj1" fmla="val -6651"/>
            </a:avLst>
          </a:prstGeom>
          <a:ln w="1047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7122156" y="3162891"/>
            <a:ext cx="0" cy="579179"/>
          </a:xfrm>
          <a:prstGeom prst="straightConnector1">
            <a:avLst/>
          </a:prstGeom>
          <a:ln w="1047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087310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OpenGL</a:t>
            </a:r>
            <a:r>
              <a:rPr lang="zh-CN" altLang="en-US" dirty="0"/>
              <a:t>的透视变换</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a:t>小结：一般</a:t>
                </a:r>
                <a:r>
                  <a:rPr lang="zh-CN" altLang="en-US" dirty="0" smtClean="0"/>
                  <a:t>视见体</a:t>
                </a:r>
                <a:endParaRPr lang="en-US" altLang="zh-CN" dirty="0" smtClean="0"/>
              </a:p>
              <a:p>
                <a:pPr lvl="1">
                  <a:buClr>
                    <a:schemeClr val="tx1"/>
                  </a:buClr>
                </a:pPr>
                <a:r>
                  <a:rPr lang="zh-CN" altLang="en-US" dirty="0">
                    <a:solidFill>
                      <a:srgbClr val="0000FF"/>
                    </a:solidFill>
                  </a:rPr>
                  <a:t>错切</a:t>
                </a:r>
                <a:r>
                  <a:rPr lang="zh-CN" altLang="en-US" dirty="0" smtClean="0">
                    <a:solidFill>
                      <a:srgbClr val="0000FF"/>
                    </a:solidFill>
                  </a:rPr>
                  <a:t>变换</a:t>
                </a:r>
                <a:r>
                  <a:rPr lang="zh-CN" altLang="en-US" dirty="0" smtClean="0"/>
                  <a:t>：把不对称棱台变成对称</a:t>
                </a:r>
                <a:r>
                  <a:rPr lang="en-US" altLang="zh-CN" dirty="0" smtClean="0"/>
                  <a:t>+</a:t>
                </a:r>
                <a:r>
                  <a:rPr lang="zh-CN" altLang="en-US" dirty="0" smtClean="0"/>
                  <a:t>对称平面过原点</a:t>
                </a:r>
                <a:endParaRPr lang="en-US" altLang="zh-CN" dirty="0" smtClean="0"/>
              </a:p>
              <a:p>
                <a:pPr lvl="1">
                  <a:buClr>
                    <a:schemeClr val="tx1"/>
                  </a:buClr>
                </a:pPr>
                <a:endParaRPr lang="en-US" altLang="zh-CN" dirty="0" smtClean="0"/>
              </a:p>
              <a:p>
                <a:pPr lvl="1">
                  <a:buClr>
                    <a:schemeClr val="tx1"/>
                  </a:buClr>
                </a:pPr>
                <a:endParaRPr lang="en-US" altLang="zh-CN" dirty="0" smtClean="0"/>
              </a:p>
              <a:p>
                <a:pPr lvl="1">
                  <a:buClr>
                    <a:schemeClr val="tx1"/>
                  </a:buClr>
                </a:pPr>
                <a:r>
                  <a:rPr lang="zh-CN" altLang="en-US" dirty="0" smtClean="0">
                    <a:solidFill>
                      <a:srgbClr val="0000FF"/>
                    </a:solidFill>
                  </a:rPr>
                  <a:t>缩放变换</a:t>
                </a:r>
                <a:r>
                  <a:rPr lang="zh-CN" altLang="en-US" dirty="0" smtClean="0"/>
                  <a:t>：把棱台的侧面变成</a:t>
                </a:r>
                <a14:m>
                  <m:oMath xmlns:m="http://schemas.openxmlformats.org/officeDocument/2006/math">
                    <m:r>
                      <a:rPr lang="en-US" altLang="zh-CN" i="1">
                        <a:latin typeface="Cambria Math" charset="0"/>
                      </a:rPr>
                      <m:t>𝑥</m:t>
                    </m:r>
                    <m:r>
                      <a:rPr lang="en-US" altLang="zh-CN" i="1">
                        <a:latin typeface="Cambria Math" charset="0"/>
                      </a:rPr>
                      <m:t>=±</m:t>
                    </m:r>
                    <m:r>
                      <a:rPr lang="en-US" altLang="zh-CN" i="1">
                        <a:latin typeface="Cambria Math" charset="0"/>
                        <a:ea typeface="Cambria Math" charset="0"/>
                        <a:cs typeface="Cambria Math" charset="0"/>
                      </a:rPr>
                      <m:t>𝑧</m:t>
                    </m:r>
                  </m:oMath>
                </a14:m>
                <a:r>
                  <a:rPr lang="zh-CN" altLang="en-US" dirty="0" smtClean="0">
                    <a:ea typeface="Cambria Math" charset="0"/>
                    <a:cs typeface="Cambria Math" charset="0"/>
                  </a:rPr>
                  <a:t>和</a:t>
                </a:r>
                <a14:m>
                  <m:oMath xmlns:m="http://schemas.openxmlformats.org/officeDocument/2006/math">
                    <m:r>
                      <a:rPr lang="en-US" altLang="zh-CN" b="0" i="1" dirty="0" smtClean="0">
                        <a:latin typeface="Cambria Math" charset="0"/>
                        <a:ea typeface="Cambria Math" charset="0"/>
                        <a:cs typeface="Cambria Math" charset="0"/>
                      </a:rPr>
                      <m:t>𝑦</m:t>
                    </m:r>
                    <m:r>
                      <a:rPr lang="en-US" altLang="zh-CN" i="1">
                        <a:latin typeface="Cambria Math" charset="0"/>
                      </a:rPr>
                      <m:t>=±</m:t>
                    </m:r>
                    <m:r>
                      <a:rPr lang="en-US" altLang="zh-CN" i="1">
                        <a:latin typeface="Cambria Math" charset="0"/>
                        <a:ea typeface="Cambria Math" charset="0"/>
                        <a:cs typeface="Cambria Math" charset="0"/>
                      </a:rPr>
                      <m:t>𝑧</m:t>
                    </m:r>
                  </m:oMath>
                </a14:m>
                <a:endParaRPr lang="en-US" altLang="zh-CN" dirty="0" smtClean="0"/>
              </a:p>
              <a:p>
                <a:pPr lvl="1">
                  <a:buClr>
                    <a:schemeClr val="tx1"/>
                  </a:buClr>
                </a:pPr>
                <a:endParaRPr lang="en-US" altLang="zh-CN" dirty="0"/>
              </a:p>
              <a:p>
                <a:pPr lvl="1">
                  <a:buClr>
                    <a:schemeClr val="tx1"/>
                  </a:buClr>
                </a:pPr>
                <a:endParaRPr lang="en-US" altLang="zh-CN" dirty="0" smtClean="0"/>
              </a:p>
              <a:p>
                <a:pPr lvl="1">
                  <a:buClr>
                    <a:schemeClr val="tx1"/>
                  </a:buClr>
                </a:pPr>
                <a:r>
                  <a:rPr lang="zh-CN" altLang="en-US" dirty="0" smtClean="0">
                    <a:solidFill>
                      <a:srgbClr val="0000FF"/>
                    </a:solidFill>
                  </a:rPr>
                  <a:t>透视</a:t>
                </a:r>
                <a:r>
                  <a:rPr lang="zh-CN" altLang="en-US" dirty="0">
                    <a:solidFill>
                      <a:srgbClr val="0000FF"/>
                    </a:solidFill>
                  </a:rPr>
                  <a:t>归一化变换</a:t>
                </a:r>
              </a:p>
              <a:p>
                <a:pPr lvl="1">
                  <a:buClr>
                    <a:schemeClr val="tx1"/>
                  </a:buClr>
                </a:pPr>
                <a:endParaRPr lang="en-US" altLang="zh-CN" dirty="0"/>
              </a:p>
              <a:p>
                <a:pPr lvl="1">
                  <a:buClr>
                    <a:srgbClr val="94003F"/>
                  </a:buClr>
                </a:pPr>
                <a:endParaRPr lang="en-US" altLang="zh-CN" dirty="0"/>
              </a:p>
              <a:p>
                <a:pPr>
                  <a:buClr>
                    <a:srgbClr val="94003F"/>
                  </a:buClr>
                </a:pPr>
                <a:endParaRPr lang="en-US" altLang="zh-CN" sz="2400" dirty="0"/>
              </a:p>
              <a:p>
                <a:pPr marL="0" indent="0">
                  <a:buClr>
                    <a:srgbClr val="94003F"/>
                  </a:buClr>
                  <a:buNone/>
                </a:pPr>
                <a:endParaRPr lang="en-US" altLang="zh-CN" sz="2400" dirty="0"/>
              </a:p>
              <a:p>
                <a:pPr>
                  <a:buClr>
                    <a:srgbClr val="94003F"/>
                  </a:buClr>
                </a:pPr>
                <a:endParaRPr lang="en-US" altLang="zh-CN" sz="2400" dirty="0"/>
              </a:p>
              <a:p>
                <a:pPr>
                  <a:buClr>
                    <a:srgbClr val="94003F"/>
                  </a:buClr>
                </a:pPr>
                <a:endParaRPr lang="en-US" altLang="zh-CN"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618" t="-238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32</a:t>
            </a:fld>
            <a:endParaRPr lang="zh-CN" altLang="en-US"/>
          </a:p>
        </p:txBody>
      </p:sp>
      <p:pic>
        <p:nvPicPr>
          <p:cNvPr id="26" name="图片 25"/>
          <p:cNvPicPr>
            <a:picLocks noChangeAspect="1"/>
          </p:cNvPicPr>
          <p:nvPr/>
        </p:nvPicPr>
        <p:blipFill>
          <a:blip r:embed="rId3"/>
          <a:stretch>
            <a:fillRect/>
          </a:stretch>
        </p:blipFill>
        <p:spPr>
          <a:xfrm>
            <a:off x="1214529" y="4441712"/>
            <a:ext cx="2137283" cy="1226457"/>
          </a:xfrm>
          <a:prstGeom prst="rect">
            <a:avLst/>
          </a:prstGeom>
        </p:spPr>
      </p:pic>
      <p:pic>
        <p:nvPicPr>
          <p:cNvPr id="27" name="图片 26"/>
          <p:cNvPicPr>
            <a:picLocks noChangeAspect="1"/>
          </p:cNvPicPr>
          <p:nvPr/>
        </p:nvPicPr>
        <p:blipFill>
          <a:blip r:embed="rId4"/>
          <a:stretch>
            <a:fillRect/>
          </a:stretch>
        </p:blipFill>
        <p:spPr>
          <a:xfrm>
            <a:off x="3880945" y="4282790"/>
            <a:ext cx="5095442" cy="1417313"/>
          </a:xfrm>
          <a:prstGeom prst="rect">
            <a:avLst/>
          </a:prstGeom>
        </p:spPr>
      </p:pic>
      <p:sp>
        <p:nvSpPr>
          <p:cNvPr id="6" name="Right Arrow 5"/>
          <p:cNvSpPr/>
          <p:nvPr/>
        </p:nvSpPr>
        <p:spPr>
          <a:xfrm>
            <a:off x="3482388" y="4867790"/>
            <a:ext cx="296272" cy="2473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组合 7"/>
          <p:cNvGrpSpPr/>
          <p:nvPr/>
        </p:nvGrpSpPr>
        <p:grpSpPr>
          <a:xfrm>
            <a:off x="1342934" y="2144635"/>
            <a:ext cx="5511073" cy="1440962"/>
            <a:chOff x="1342934" y="2144635"/>
            <a:chExt cx="5511073" cy="1440962"/>
          </a:xfrm>
        </p:grpSpPr>
        <p:pic>
          <p:nvPicPr>
            <p:cNvPr id="25" name="图片 24"/>
            <p:cNvPicPr>
              <a:picLocks noChangeAspect="1"/>
            </p:cNvPicPr>
            <p:nvPr/>
          </p:nvPicPr>
          <p:blipFill>
            <a:blip r:embed="rId5"/>
            <a:stretch>
              <a:fillRect/>
            </a:stretch>
          </p:blipFill>
          <p:spPr>
            <a:xfrm>
              <a:off x="1342934" y="3278860"/>
              <a:ext cx="5511073" cy="306737"/>
            </a:xfrm>
            <a:prstGeom prst="rect">
              <a:avLst/>
            </a:prstGeom>
          </p:spPr>
        </p:pic>
        <p:grpSp>
          <p:nvGrpSpPr>
            <p:cNvPr id="7" name="组合 6"/>
            <p:cNvGrpSpPr/>
            <p:nvPr/>
          </p:nvGrpSpPr>
          <p:grpSpPr>
            <a:xfrm>
              <a:off x="1378547" y="2144635"/>
              <a:ext cx="5439846" cy="1390893"/>
              <a:chOff x="1378547" y="2144635"/>
              <a:chExt cx="5439846" cy="1390893"/>
            </a:xfrm>
          </p:grpSpPr>
          <p:pic>
            <p:nvPicPr>
              <p:cNvPr id="15" name="图片 14"/>
              <p:cNvPicPr>
                <a:picLocks noChangeAspect="1"/>
              </p:cNvPicPr>
              <p:nvPr/>
            </p:nvPicPr>
            <p:blipFill>
              <a:blip r:embed="rId6"/>
              <a:stretch>
                <a:fillRect/>
              </a:stretch>
            </p:blipFill>
            <p:spPr>
              <a:xfrm>
                <a:off x="1378547" y="2144635"/>
                <a:ext cx="5439846" cy="580969"/>
              </a:xfrm>
              <a:prstGeom prst="rect">
                <a:avLst/>
              </a:prstGeom>
            </p:spPr>
          </p:pic>
          <p:sp>
            <p:nvSpPr>
              <p:cNvPr id="5" name="矩形 4"/>
              <p:cNvSpPr/>
              <p:nvPr/>
            </p:nvSpPr>
            <p:spPr>
              <a:xfrm>
                <a:off x="3462478" y="2487378"/>
                <a:ext cx="237208" cy="2066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5546409" y="2480008"/>
                <a:ext cx="237208" cy="2066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583940" y="3328927"/>
                <a:ext cx="168341" cy="2066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4029603" y="3317854"/>
                <a:ext cx="168341" cy="2066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95564431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OpenGL</a:t>
            </a:r>
            <a:r>
              <a:rPr lang="zh-CN" altLang="en-US" dirty="0"/>
              <a:t>的透视变换</a:t>
            </a:r>
          </a:p>
        </p:txBody>
      </p:sp>
      <p:sp>
        <p:nvSpPr>
          <p:cNvPr id="3" name="内容占位符 2"/>
          <p:cNvSpPr>
            <a:spLocks noGrp="1"/>
          </p:cNvSpPr>
          <p:nvPr>
            <p:ph idx="1"/>
          </p:nvPr>
        </p:nvSpPr>
        <p:spPr/>
        <p:txBody>
          <a:bodyPr>
            <a:normAutofit/>
          </a:bodyPr>
          <a:lstStyle/>
          <a:p>
            <a:pPr>
              <a:buClr>
                <a:srgbClr val="94003F"/>
              </a:buClr>
            </a:pPr>
            <a:r>
              <a:rPr lang="zh-CN" altLang="en-US" dirty="0" smtClean="0"/>
              <a:t>对称视见体</a:t>
            </a:r>
            <a:endParaRPr lang="en-US" altLang="zh-CN" dirty="0"/>
          </a:p>
          <a:p>
            <a:pPr lvl="1">
              <a:buClr>
                <a:srgbClr val="94003F"/>
              </a:buClr>
            </a:pPr>
            <a:endParaRPr lang="en-US" altLang="zh-CN" dirty="0"/>
          </a:p>
          <a:p>
            <a:pPr>
              <a:buClr>
                <a:srgbClr val="94003F"/>
              </a:buClr>
            </a:pPr>
            <a:endParaRPr lang="en-US" altLang="zh-CN" sz="2400" dirty="0"/>
          </a:p>
          <a:p>
            <a:pPr marL="0" indent="0">
              <a:buClr>
                <a:srgbClr val="94003F"/>
              </a:buClr>
              <a:buNone/>
            </a:pPr>
            <a:endParaRPr lang="en-US" altLang="zh-CN" sz="2400" dirty="0"/>
          </a:p>
          <a:p>
            <a:pPr>
              <a:buClr>
                <a:srgbClr val="94003F"/>
              </a:buClr>
            </a:pPr>
            <a:endParaRPr lang="en-US" altLang="zh-CN" sz="2400" dirty="0"/>
          </a:p>
          <a:p>
            <a:pPr>
              <a:buClr>
                <a:srgbClr val="94003F"/>
              </a:buClr>
            </a:pP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33</a:t>
            </a:fld>
            <a:endParaRPr lang="zh-CN" altLang="en-US"/>
          </a:p>
        </p:txBody>
      </p:sp>
      <p:sp>
        <p:nvSpPr>
          <p:cNvPr id="10" name="矩形 6"/>
          <p:cNvSpPr/>
          <p:nvPr/>
        </p:nvSpPr>
        <p:spPr>
          <a:xfrm>
            <a:off x="1073094" y="2081684"/>
            <a:ext cx="3929798" cy="1200329"/>
          </a:xfrm>
          <a:prstGeom prst="rect">
            <a:avLst/>
          </a:prstGeom>
          <a:solidFill>
            <a:srgbClr val="BDD7EE">
              <a:alpha val="52941"/>
            </a:srgbClr>
          </a:solidFill>
        </p:spPr>
        <p:txBody>
          <a:bodyPr wrap="square">
            <a:spAutoFit/>
          </a:bodyPr>
          <a:lstStyle/>
          <a:p>
            <a:r>
              <a:rPr lang="en-US" altLang="zh-CN" b="1" dirty="0">
                <a:solidFill>
                  <a:srgbClr val="0000FF"/>
                </a:solidFill>
              </a:rPr>
              <a:t>mat4 </a:t>
            </a:r>
            <a:r>
              <a:rPr lang="en-US" altLang="zh-CN" b="1" dirty="0"/>
              <a:t>Perspective(</a:t>
            </a:r>
            <a:r>
              <a:rPr lang="en-US" altLang="zh-CN" b="1" dirty="0" err="1">
                <a:solidFill>
                  <a:srgbClr val="0000FF"/>
                </a:solidFill>
              </a:rPr>
              <a:t>GLfloat</a:t>
            </a:r>
            <a:r>
              <a:rPr lang="en-US" altLang="zh-CN" b="1" dirty="0">
                <a:solidFill>
                  <a:srgbClr val="0000FF"/>
                </a:solidFill>
              </a:rPr>
              <a:t> </a:t>
            </a:r>
            <a:r>
              <a:rPr lang="en-US" altLang="zh-CN" b="1" dirty="0" err="1"/>
              <a:t>fovy</a:t>
            </a:r>
            <a:r>
              <a:rPr lang="en-US" altLang="zh-CN" b="1" dirty="0"/>
              <a:t>,</a:t>
            </a:r>
            <a:r>
              <a:rPr lang="en-US" altLang="zh-CN" b="1" dirty="0">
                <a:solidFill>
                  <a:srgbClr val="0000FF"/>
                </a:solidFill>
              </a:rPr>
              <a:t> </a:t>
            </a:r>
            <a:r>
              <a:rPr lang="en-US" altLang="zh-CN" b="1" dirty="0" smtClean="0">
                <a:solidFill>
                  <a:srgbClr val="0000FF"/>
                </a:solidFill>
              </a:rPr>
              <a:t>		</a:t>
            </a:r>
            <a:r>
              <a:rPr lang="zh-CN" altLang="en-US" b="1" dirty="0" smtClean="0">
                <a:solidFill>
                  <a:srgbClr val="0000FF"/>
                </a:solidFill>
              </a:rPr>
              <a:t>              </a:t>
            </a:r>
            <a:r>
              <a:rPr lang="en-US" altLang="zh-CN" b="1" dirty="0" err="1" smtClean="0">
                <a:solidFill>
                  <a:srgbClr val="0000FF"/>
                </a:solidFill>
              </a:rPr>
              <a:t>GLfloat</a:t>
            </a:r>
            <a:r>
              <a:rPr lang="en-US" altLang="zh-CN" b="1" dirty="0" smtClean="0">
                <a:solidFill>
                  <a:srgbClr val="0000FF"/>
                </a:solidFill>
              </a:rPr>
              <a:t> </a:t>
            </a:r>
            <a:r>
              <a:rPr lang="en-US" altLang="zh-CN" b="1" dirty="0"/>
              <a:t>aspect,</a:t>
            </a:r>
            <a:r>
              <a:rPr lang="en-US" altLang="zh-CN" b="1" dirty="0">
                <a:solidFill>
                  <a:srgbClr val="0000FF"/>
                </a:solidFill>
              </a:rPr>
              <a:t> </a:t>
            </a:r>
            <a:r>
              <a:rPr lang="zh-CN" altLang="en-US" b="1" dirty="0" smtClean="0">
                <a:solidFill>
                  <a:srgbClr val="0000FF"/>
                </a:solidFill>
              </a:rPr>
              <a:t> </a:t>
            </a:r>
            <a:r>
              <a:rPr lang="en-US" altLang="zh-CN" b="1" dirty="0" smtClean="0">
                <a:solidFill>
                  <a:srgbClr val="0000FF"/>
                </a:solidFill>
              </a:rPr>
              <a:t>	</a:t>
            </a:r>
            <a:r>
              <a:rPr lang="zh-CN" altLang="en-US" b="1" dirty="0" smtClean="0">
                <a:solidFill>
                  <a:srgbClr val="0000FF"/>
                </a:solidFill>
              </a:rPr>
              <a:t>  </a:t>
            </a:r>
            <a:r>
              <a:rPr lang="en-US" altLang="zh-CN" b="1" dirty="0" smtClean="0">
                <a:solidFill>
                  <a:srgbClr val="0000FF"/>
                </a:solidFill>
              </a:rPr>
              <a:t>	</a:t>
            </a:r>
            <a:r>
              <a:rPr lang="zh-CN" altLang="en-US" b="1" dirty="0" smtClean="0">
                <a:solidFill>
                  <a:srgbClr val="0000FF"/>
                </a:solidFill>
              </a:rPr>
              <a:t>              </a:t>
            </a:r>
            <a:r>
              <a:rPr lang="en-US" altLang="zh-CN" b="1" dirty="0" err="1" smtClean="0">
                <a:solidFill>
                  <a:srgbClr val="0000FF"/>
                </a:solidFill>
              </a:rPr>
              <a:t>GLfloat</a:t>
            </a:r>
            <a:r>
              <a:rPr lang="en-US" altLang="zh-CN" b="1" dirty="0" smtClean="0">
                <a:solidFill>
                  <a:srgbClr val="0000FF"/>
                </a:solidFill>
              </a:rPr>
              <a:t> </a:t>
            </a:r>
            <a:r>
              <a:rPr lang="en-US" altLang="zh-CN" b="1" dirty="0"/>
              <a:t>near, </a:t>
            </a:r>
            <a:r>
              <a:rPr lang="en-US" altLang="zh-CN" b="1" dirty="0" smtClean="0"/>
              <a:t>		</a:t>
            </a:r>
            <a:r>
              <a:rPr lang="zh-CN" altLang="en-US" b="1" dirty="0" smtClean="0"/>
              <a:t>              </a:t>
            </a:r>
            <a:r>
              <a:rPr lang="en-US" altLang="zh-CN" b="1" dirty="0" err="1" smtClean="0">
                <a:solidFill>
                  <a:srgbClr val="0000FF"/>
                </a:solidFill>
              </a:rPr>
              <a:t>GLfloat</a:t>
            </a:r>
            <a:r>
              <a:rPr lang="en-US" altLang="zh-CN" b="1" dirty="0" smtClean="0">
                <a:solidFill>
                  <a:srgbClr val="0000FF"/>
                </a:solidFill>
              </a:rPr>
              <a:t> </a:t>
            </a:r>
            <a:r>
              <a:rPr lang="en-US" altLang="zh-CN" b="1" dirty="0"/>
              <a:t>far);</a:t>
            </a:r>
            <a:endParaRPr lang="zh-CN" altLang="en-US" dirty="0"/>
          </a:p>
        </p:txBody>
      </p:sp>
      <p:sp>
        <p:nvSpPr>
          <p:cNvPr id="5" name="Right Arrow 4"/>
          <p:cNvSpPr/>
          <p:nvPr/>
        </p:nvSpPr>
        <p:spPr>
          <a:xfrm>
            <a:off x="5224819" y="2504852"/>
            <a:ext cx="443691" cy="27644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p:cNvSpPr txBox="1"/>
          <p:nvPr/>
        </p:nvSpPr>
        <p:spPr>
          <a:xfrm>
            <a:off x="1392245" y="3832590"/>
            <a:ext cx="1274003" cy="369332"/>
          </a:xfrm>
          <a:prstGeom prst="rect">
            <a:avLst/>
          </a:prstGeom>
          <a:noFill/>
        </p:spPr>
        <p:txBody>
          <a:bodyPr wrap="none" rtlCol="0">
            <a:spAutoFit/>
          </a:bodyPr>
          <a:lstStyle/>
          <a:p>
            <a:r>
              <a:rPr lang="en-US" altLang="zh-CN" dirty="0" smtClean="0"/>
              <a:t>left</a:t>
            </a:r>
            <a:r>
              <a:rPr lang="zh-CN" altLang="en-US" dirty="0" smtClean="0"/>
              <a:t> </a:t>
            </a:r>
            <a:r>
              <a:rPr lang="en-US" altLang="zh-CN" dirty="0" smtClean="0"/>
              <a:t>=</a:t>
            </a:r>
            <a:r>
              <a:rPr lang="zh-CN" altLang="en-US" dirty="0" smtClean="0"/>
              <a:t> </a:t>
            </a:r>
            <a:r>
              <a:rPr lang="en-US" altLang="zh-CN" dirty="0" smtClean="0"/>
              <a:t>-right</a:t>
            </a:r>
            <a:endParaRPr lang="en-US" dirty="0"/>
          </a:p>
        </p:txBody>
      </p:sp>
      <p:sp>
        <p:nvSpPr>
          <p:cNvPr id="13" name="TextBox 12"/>
          <p:cNvSpPr txBox="1"/>
          <p:nvPr/>
        </p:nvSpPr>
        <p:spPr>
          <a:xfrm>
            <a:off x="2805480" y="3832590"/>
            <a:ext cx="1496628" cy="369332"/>
          </a:xfrm>
          <a:prstGeom prst="rect">
            <a:avLst/>
          </a:prstGeom>
          <a:noFill/>
        </p:spPr>
        <p:txBody>
          <a:bodyPr wrap="none" rtlCol="0">
            <a:spAutoFit/>
          </a:bodyPr>
          <a:lstStyle/>
          <a:p>
            <a:r>
              <a:rPr lang="en-US" altLang="zh-CN" dirty="0" smtClean="0"/>
              <a:t>bottom</a:t>
            </a:r>
            <a:r>
              <a:rPr lang="zh-CN" altLang="en-US" dirty="0" smtClean="0"/>
              <a:t> </a:t>
            </a:r>
            <a:r>
              <a:rPr lang="en-US" altLang="zh-CN" dirty="0" smtClean="0"/>
              <a:t>=</a:t>
            </a:r>
            <a:r>
              <a:rPr lang="zh-CN" altLang="en-US" dirty="0" smtClean="0"/>
              <a:t> </a:t>
            </a:r>
            <a:r>
              <a:rPr lang="en-US" altLang="zh-CN" dirty="0" smtClean="0"/>
              <a:t>-top</a:t>
            </a:r>
            <a:endParaRPr lang="en-US" dirty="0"/>
          </a:p>
        </p:txBody>
      </p:sp>
      <p:sp>
        <p:nvSpPr>
          <p:cNvPr id="8" name="TextBox 7"/>
          <p:cNvSpPr txBox="1"/>
          <p:nvPr/>
        </p:nvSpPr>
        <p:spPr>
          <a:xfrm>
            <a:off x="4513714" y="3832590"/>
            <a:ext cx="2111925" cy="369332"/>
          </a:xfrm>
          <a:prstGeom prst="rect">
            <a:avLst/>
          </a:prstGeom>
          <a:noFill/>
        </p:spPr>
        <p:txBody>
          <a:bodyPr wrap="none" rtlCol="0">
            <a:spAutoFit/>
          </a:bodyPr>
          <a:lstStyle/>
          <a:p>
            <a:r>
              <a:rPr lang="en-US" altLang="zh-CN" dirty="0" smtClean="0"/>
              <a:t>top</a:t>
            </a:r>
            <a:r>
              <a:rPr lang="zh-CN" altLang="en-US" dirty="0" smtClean="0"/>
              <a:t> </a:t>
            </a:r>
            <a:r>
              <a:rPr lang="en-US" altLang="zh-CN" dirty="0" smtClean="0"/>
              <a:t>=</a:t>
            </a:r>
            <a:r>
              <a:rPr lang="zh-CN" altLang="en-US" dirty="0" smtClean="0"/>
              <a:t> </a:t>
            </a:r>
            <a:r>
              <a:rPr lang="en-US" altLang="zh-CN" dirty="0" smtClean="0"/>
              <a:t>near</a:t>
            </a:r>
            <a:r>
              <a:rPr lang="zh-CN" altLang="en-US" dirty="0" smtClean="0"/>
              <a:t>*</a:t>
            </a:r>
            <a:r>
              <a:rPr lang="en-US" altLang="zh-CN" dirty="0" smtClean="0"/>
              <a:t>tan(</a:t>
            </a:r>
            <a:r>
              <a:rPr lang="en-US" altLang="zh-CN" dirty="0" err="1" smtClean="0"/>
              <a:t>fovy</a:t>
            </a:r>
            <a:r>
              <a:rPr lang="en-US" altLang="zh-CN" dirty="0" smtClean="0"/>
              <a:t>)</a:t>
            </a:r>
          </a:p>
        </p:txBody>
      </p:sp>
      <p:sp>
        <p:nvSpPr>
          <p:cNvPr id="9" name="Rectangle 8"/>
          <p:cNvSpPr/>
          <p:nvPr/>
        </p:nvSpPr>
        <p:spPr>
          <a:xfrm>
            <a:off x="6686517" y="3832590"/>
            <a:ext cx="1890967" cy="369332"/>
          </a:xfrm>
          <a:prstGeom prst="rect">
            <a:avLst/>
          </a:prstGeom>
        </p:spPr>
        <p:txBody>
          <a:bodyPr wrap="none">
            <a:spAutoFit/>
          </a:bodyPr>
          <a:lstStyle/>
          <a:p>
            <a:r>
              <a:rPr lang="en-US" altLang="zh-CN" dirty="0"/>
              <a:t>right</a:t>
            </a:r>
            <a:r>
              <a:rPr lang="zh-CN" altLang="en-US" dirty="0"/>
              <a:t> </a:t>
            </a:r>
            <a:r>
              <a:rPr lang="en-US" altLang="zh-CN" dirty="0"/>
              <a:t>=</a:t>
            </a:r>
            <a:r>
              <a:rPr lang="zh-CN" altLang="en-US" dirty="0"/>
              <a:t> </a:t>
            </a:r>
            <a:r>
              <a:rPr lang="en-US" altLang="zh-CN" dirty="0"/>
              <a:t>top</a:t>
            </a:r>
            <a:r>
              <a:rPr lang="zh-CN" altLang="en-US" dirty="0"/>
              <a:t>*</a:t>
            </a:r>
            <a:r>
              <a:rPr lang="en-US" altLang="zh-CN" dirty="0"/>
              <a:t>aspect</a:t>
            </a:r>
            <a:endParaRPr lang="en-US" dirty="0"/>
          </a:p>
        </p:txBody>
      </p:sp>
      <p:pic>
        <p:nvPicPr>
          <p:cNvPr id="16" name="图片 26"/>
          <p:cNvPicPr>
            <a:picLocks noChangeAspect="1"/>
          </p:cNvPicPr>
          <p:nvPr/>
        </p:nvPicPr>
        <p:blipFill rotWithShape="1">
          <a:blip r:embed="rId2"/>
          <a:srcRect l="19946"/>
          <a:stretch/>
        </p:blipFill>
        <p:spPr>
          <a:xfrm>
            <a:off x="736206" y="4502306"/>
            <a:ext cx="4079067" cy="1417313"/>
          </a:xfrm>
          <a:prstGeom prst="rect">
            <a:avLst/>
          </a:prstGeom>
        </p:spPr>
      </p:pic>
      <p:sp>
        <p:nvSpPr>
          <p:cNvPr id="11" name="Right Arrow 10"/>
          <p:cNvSpPr/>
          <p:nvPr/>
        </p:nvSpPr>
        <p:spPr>
          <a:xfrm>
            <a:off x="5086284" y="4954126"/>
            <a:ext cx="443691" cy="2977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p:nvPicPr>
        <p:blipFill rotWithShape="1">
          <a:blip r:embed="rId3"/>
          <a:srcRect l="8827"/>
          <a:stretch/>
        </p:blipFill>
        <p:spPr>
          <a:xfrm>
            <a:off x="5747556" y="4414238"/>
            <a:ext cx="2835164" cy="1505381"/>
          </a:xfrm>
          <a:prstGeom prst="rect">
            <a:avLst/>
          </a:prstGeom>
        </p:spPr>
      </p:pic>
      <p:sp>
        <p:nvSpPr>
          <p:cNvPr id="6" name="文本框 5"/>
          <p:cNvSpPr txBox="1"/>
          <p:nvPr/>
        </p:nvSpPr>
        <p:spPr>
          <a:xfrm>
            <a:off x="715475" y="3832590"/>
            <a:ext cx="877163" cy="369332"/>
          </a:xfrm>
          <a:prstGeom prst="rect">
            <a:avLst/>
          </a:prstGeom>
          <a:noFill/>
        </p:spPr>
        <p:txBody>
          <a:bodyPr wrap="none" rtlCol="0">
            <a:spAutoFit/>
          </a:bodyPr>
          <a:lstStyle/>
          <a:p>
            <a:r>
              <a:rPr lang="zh-CN" altLang="en-US" dirty="0" smtClean="0">
                <a:latin typeface="微软雅黑" panose="020B0503020204020204" pitchFamily="34" charset="-122"/>
                <a:ea typeface="微软雅黑" panose="020B0503020204020204" pitchFamily="34" charset="-122"/>
              </a:rPr>
              <a:t>对称：</a:t>
            </a:r>
            <a:endParaRPr lang="zh-CN" altLang="en-US" dirty="0">
              <a:latin typeface="微软雅黑" panose="020B0503020204020204" pitchFamily="34" charset="-122"/>
              <a:ea typeface="微软雅黑" panose="020B0503020204020204" pitchFamily="34" charset="-122"/>
            </a:endParaRPr>
          </a:p>
        </p:txBody>
      </p:sp>
      <p:pic>
        <p:nvPicPr>
          <p:cNvPr id="15" name="图片 14"/>
          <p:cNvPicPr>
            <a:picLocks noChangeAspect="1"/>
          </p:cNvPicPr>
          <p:nvPr/>
        </p:nvPicPr>
        <p:blipFill>
          <a:blip r:embed="rId4"/>
          <a:stretch>
            <a:fillRect/>
          </a:stretch>
        </p:blipFill>
        <p:spPr>
          <a:xfrm>
            <a:off x="5747556" y="1000510"/>
            <a:ext cx="3246922" cy="2476410"/>
          </a:xfrm>
          <a:prstGeom prst="rect">
            <a:avLst/>
          </a:prstGeom>
        </p:spPr>
      </p:pic>
    </p:spTree>
    <p:extLst>
      <p:ext uri="{BB962C8B-B14F-4D97-AF65-F5344CB8AC3E}">
        <p14:creationId xmlns:p14="http://schemas.microsoft.com/office/powerpoint/2010/main" val="185732013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投影变换总结</a:t>
            </a:r>
          </a:p>
        </p:txBody>
      </p:sp>
      <p:sp>
        <p:nvSpPr>
          <p:cNvPr id="3" name="内容占位符 2"/>
          <p:cNvSpPr>
            <a:spLocks noGrp="1"/>
          </p:cNvSpPr>
          <p:nvPr>
            <p:ph idx="1"/>
          </p:nvPr>
        </p:nvSpPr>
        <p:spPr/>
        <p:txBody>
          <a:bodyPr>
            <a:normAutofit/>
          </a:bodyPr>
          <a:lstStyle/>
          <a:p>
            <a:r>
              <a:rPr lang="zh-CN" altLang="en-US" dirty="0"/>
              <a:t>采用上述变换方式的优势：</a:t>
            </a:r>
            <a:endParaRPr lang="en-US" altLang="zh-CN" dirty="0"/>
          </a:p>
          <a:p>
            <a:pPr lvl="1">
              <a:buClr>
                <a:schemeClr val="tx1"/>
              </a:buClr>
            </a:pPr>
            <a:endParaRPr lang="en-US" altLang="zh-CN" dirty="0"/>
          </a:p>
          <a:p>
            <a:pPr lvl="1">
              <a:buClr>
                <a:schemeClr val="tx1"/>
              </a:buClr>
            </a:pPr>
            <a:r>
              <a:rPr lang="zh-CN" altLang="en-US" sz="2400" dirty="0"/>
              <a:t>规范化使得只需要一个流水线体系就可以进行透视投影和正交投影</a:t>
            </a:r>
          </a:p>
          <a:p>
            <a:pPr lvl="1">
              <a:buClr>
                <a:schemeClr val="tx1"/>
              </a:buClr>
            </a:pPr>
            <a:endParaRPr lang="en-US" altLang="zh-CN" sz="2400" dirty="0"/>
          </a:p>
          <a:p>
            <a:pPr lvl="1">
              <a:buClr>
                <a:schemeClr val="tx1"/>
              </a:buClr>
            </a:pPr>
            <a:r>
              <a:rPr lang="zh-CN" altLang="en-US" sz="2400" dirty="0"/>
              <a:t>尽可能位于四维齐次空间中，以便保持</a:t>
            </a:r>
            <a:r>
              <a:rPr lang="zh-CN" altLang="en-US" sz="2400" b="1" dirty="0"/>
              <a:t>隐藏面消除</a:t>
            </a:r>
            <a:r>
              <a:rPr lang="zh-CN" altLang="en-US" sz="2400" dirty="0"/>
              <a:t>和</a:t>
            </a:r>
            <a:r>
              <a:rPr lang="zh-CN" altLang="en-US" sz="2400" b="1" dirty="0"/>
              <a:t>明暗处理</a:t>
            </a:r>
            <a:r>
              <a:rPr lang="zh-CN" altLang="en-US" sz="2400" dirty="0"/>
              <a:t>所需要的</a:t>
            </a:r>
            <a:r>
              <a:rPr lang="zh-CN" altLang="en-US" sz="2400" b="1" dirty="0">
                <a:solidFill>
                  <a:srgbClr val="FF0000"/>
                </a:solidFill>
              </a:rPr>
              <a:t>三维信息</a:t>
            </a:r>
          </a:p>
          <a:p>
            <a:pPr lvl="1">
              <a:buClr>
                <a:schemeClr val="tx1"/>
              </a:buClr>
            </a:pPr>
            <a:endParaRPr lang="en-US" altLang="zh-CN" sz="2400" dirty="0"/>
          </a:p>
          <a:p>
            <a:pPr lvl="1">
              <a:buClr>
                <a:schemeClr val="tx1"/>
              </a:buClr>
            </a:pPr>
            <a:r>
              <a:rPr lang="zh-CN" altLang="en-US" sz="2400" dirty="0"/>
              <a:t>简化了裁剪的操作</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34</a:t>
            </a:fld>
            <a:endParaRPr lang="zh-CN" altLang="en-US"/>
          </a:p>
        </p:txBody>
      </p:sp>
    </p:spTree>
    <p:extLst>
      <p:ext uri="{BB962C8B-B14F-4D97-AF65-F5344CB8AC3E}">
        <p14:creationId xmlns:p14="http://schemas.microsoft.com/office/powerpoint/2010/main" val="201282330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35</a:t>
            </a:fld>
            <a:endParaRPr lang="zh-CN" altLang="en-US"/>
          </a:p>
        </p:txBody>
      </p:sp>
      <p:sp>
        <p:nvSpPr>
          <p:cNvPr id="8" name="文本框 7"/>
          <p:cNvSpPr txBox="1"/>
          <p:nvPr/>
        </p:nvSpPr>
        <p:spPr>
          <a:xfrm>
            <a:off x="3329307" y="3389111"/>
            <a:ext cx="2492990"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隐藏面消除</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smtClean="0">
                <a:solidFill>
                  <a:srgbClr val="94003F"/>
                </a:solidFill>
              </a:rPr>
              <a:t>3</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2761562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隐藏面消除</a:t>
            </a:r>
          </a:p>
        </p:txBody>
      </p:sp>
      <p:sp>
        <p:nvSpPr>
          <p:cNvPr id="3" name="内容占位符 2"/>
          <p:cNvSpPr>
            <a:spLocks noGrp="1"/>
          </p:cNvSpPr>
          <p:nvPr>
            <p:ph idx="1"/>
          </p:nvPr>
        </p:nvSpPr>
        <p:spPr/>
        <p:txBody>
          <a:bodyPr>
            <a:normAutofit lnSpcReduction="10000"/>
          </a:bodyPr>
          <a:lstStyle/>
          <a:p>
            <a:r>
              <a:rPr lang="zh-CN" altLang="en-US" dirty="0"/>
              <a:t>仅绘制那些位于其它面前面的曲面或平面片</a:t>
            </a:r>
            <a:endParaRPr lang="en-US" altLang="zh-CN" sz="2400" dirty="0"/>
          </a:p>
          <a:p>
            <a:endParaRPr lang="en-US" altLang="zh-CN" sz="2400" dirty="0"/>
          </a:p>
          <a:p>
            <a:pPr marL="0" indent="0">
              <a:buNone/>
            </a:pPr>
            <a:endParaRPr lang="en-US" altLang="zh-CN" dirty="0"/>
          </a:p>
          <a:p>
            <a:r>
              <a:rPr lang="en-US" altLang="zh-CN" dirty="0"/>
              <a:t>OpenGL</a:t>
            </a:r>
            <a:r>
              <a:rPr lang="zh-CN" altLang="en-US" dirty="0"/>
              <a:t>采用称为</a:t>
            </a:r>
            <a:endParaRPr lang="en-US" altLang="zh-CN" dirty="0"/>
          </a:p>
          <a:p>
            <a:pPr marL="0" indent="0">
              <a:buNone/>
            </a:pPr>
            <a:r>
              <a:rPr lang="en-US" altLang="zh-CN" dirty="0"/>
              <a:t>   </a:t>
            </a:r>
            <a:r>
              <a:rPr lang="en-US" altLang="zh-CN" dirty="0">
                <a:solidFill>
                  <a:srgbClr val="00B050"/>
                </a:solidFill>
              </a:rPr>
              <a:t>z</a:t>
            </a:r>
            <a:r>
              <a:rPr lang="zh-CN" altLang="en-US" dirty="0">
                <a:solidFill>
                  <a:srgbClr val="00B050"/>
                </a:solidFill>
              </a:rPr>
              <a:t>缓冲区</a:t>
            </a:r>
            <a:r>
              <a:rPr lang="zh-CN" altLang="en-US" dirty="0"/>
              <a:t>的算法进行</a:t>
            </a:r>
            <a:endParaRPr lang="en-US" altLang="zh-CN" dirty="0"/>
          </a:p>
          <a:p>
            <a:pPr marL="0" indent="0">
              <a:buNone/>
            </a:pPr>
            <a:r>
              <a:rPr lang="en-US" altLang="zh-CN" dirty="0"/>
              <a:t>   </a:t>
            </a:r>
            <a:r>
              <a:rPr lang="zh-CN" altLang="en-US" dirty="0"/>
              <a:t>隐藏面消除，在</a:t>
            </a:r>
            <a:r>
              <a:rPr lang="en-US" altLang="zh-CN" dirty="0"/>
              <a:t>z</a:t>
            </a:r>
            <a:r>
              <a:rPr lang="zh-CN" altLang="en-US" dirty="0"/>
              <a:t>缓冲</a:t>
            </a:r>
            <a:endParaRPr lang="en-US" altLang="zh-CN" dirty="0"/>
          </a:p>
          <a:p>
            <a:pPr marL="0" indent="0">
              <a:buNone/>
            </a:pPr>
            <a:r>
              <a:rPr lang="en-US" altLang="zh-CN" dirty="0"/>
              <a:t>   </a:t>
            </a:r>
            <a:r>
              <a:rPr lang="zh-CN" altLang="en-US" dirty="0"/>
              <a:t>区中存贮着对象的</a:t>
            </a:r>
            <a:endParaRPr lang="en-US" altLang="zh-CN" dirty="0"/>
          </a:p>
          <a:p>
            <a:pPr marL="0" indent="0">
              <a:buNone/>
            </a:pPr>
            <a:r>
              <a:rPr lang="en-US" altLang="zh-CN" dirty="0"/>
              <a:t>   </a:t>
            </a:r>
            <a:r>
              <a:rPr lang="zh-CN" altLang="en-US" dirty="0"/>
              <a:t>深度信息，从而只有</a:t>
            </a:r>
            <a:endParaRPr lang="en-US" altLang="zh-CN" dirty="0"/>
          </a:p>
          <a:p>
            <a:pPr marL="0" indent="0">
              <a:buNone/>
            </a:pPr>
            <a:r>
              <a:rPr lang="zh-CN" altLang="en-US" dirty="0"/>
              <a:t>   前面的对象出现在图像中</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36</a:t>
            </a:fld>
            <a:endParaRPr lang="zh-CN" altLang="en-US"/>
          </a:p>
        </p:txBody>
      </p:sp>
      <p:pic>
        <p:nvPicPr>
          <p:cNvPr id="5" name="图片 4"/>
          <p:cNvPicPr>
            <a:picLocks noChangeAspect="1"/>
          </p:cNvPicPr>
          <p:nvPr/>
        </p:nvPicPr>
        <p:blipFill>
          <a:blip r:embed="rId2"/>
          <a:stretch>
            <a:fillRect/>
          </a:stretch>
        </p:blipFill>
        <p:spPr>
          <a:xfrm>
            <a:off x="4572000" y="1835904"/>
            <a:ext cx="4114099" cy="3010573"/>
          </a:xfrm>
          <a:prstGeom prst="rect">
            <a:avLst/>
          </a:prstGeom>
        </p:spPr>
      </p:pic>
    </p:spTree>
    <p:extLst>
      <p:ext uri="{BB962C8B-B14F-4D97-AF65-F5344CB8AC3E}">
        <p14:creationId xmlns:p14="http://schemas.microsoft.com/office/powerpoint/2010/main" val="182043523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隐藏面消除算法</a:t>
            </a:r>
          </a:p>
        </p:txBody>
      </p:sp>
      <p:sp>
        <p:nvSpPr>
          <p:cNvPr id="3" name="内容占位符 2"/>
          <p:cNvSpPr>
            <a:spLocks noGrp="1"/>
          </p:cNvSpPr>
          <p:nvPr>
            <p:ph idx="1"/>
          </p:nvPr>
        </p:nvSpPr>
        <p:spPr>
          <a:xfrm>
            <a:off x="628650" y="1316830"/>
            <a:ext cx="7886700" cy="5024009"/>
          </a:xfrm>
        </p:spPr>
        <p:txBody>
          <a:bodyPr>
            <a:normAutofit/>
          </a:bodyPr>
          <a:lstStyle/>
          <a:p>
            <a:r>
              <a:rPr lang="zh-CN" altLang="en-US" dirty="0"/>
              <a:t>算法分类</a:t>
            </a:r>
            <a:endParaRPr lang="en-US" altLang="zh-CN" dirty="0"/>
          </a:p>
          <a:p>
            <a:pPr lvl="1">
              <a:buClr>
                <a:schemeClr val="tx1"/>
              </a:buClr>
            </a:pPr>
            <a:r>
              <a:rPr lang="zh-CN" altLang="en-US" dirty="0" smtClean="0"/>
              <a:t>对象空间</a:t>
            </a:r>
            <a:r>
              <a:rPr lang="zh-CN" altLang="en-US" dirty="0"/>
              <a:t>算法</a:t>
            </a:r>
            <a:endParaRPr lang="en-US" altLang="zh-CN" dirty="0"/>
          </a:p>
          <a:p>
            <a:pPr lvl="1">
              <a:buClr>
                <a:schemeClr val="tx1"/>
              </a:buClr>
            </a:pPr>
            <a:r>
              <a:rPr lang="zh-CN" altLang="en-US" dirty="0"/>
              <a:t>图像空间算法</a:t>
            </a:r>
            <a:endParaRPr lang="en-US" altLang="zh-CN" dirty="0"/>
          </a:p>
          <a:p>
            <a:pPr marL="0" indent="0">
              <a:buNone/>
            </a:pPr>
            <a:endParaRPr lang="en-US" altLang="zh-CN" dirty="0" smtClean="0"/>
          </a:p>
          <a:p>
            <a:pPr marL="0" indent="0">
              <a:buNone/>
            </a:pPr>
            <a:endParaRPr lang="en-US" altLang="zh-CN" dirty="0"/>
          </a:p>
          <a:p>
            <a:r>
              <a:rPr lang="en-US" altLang="zh-CN" dirty="0">
                <a:solidFill>
                  <a:srgbClr val="00B050"/>
                </a:solidFill>
              </a:rPr>
              <a:t>z</a:t>
            </a:r>
            <a:r>
              <a:rPr lang="zh-CN" altLang="en-US" dirty="0">
                <a:solidFill>
                  <a:srgbClr val="00B050"/>
                </a:solidFill>
              </a:rPr>
              <a:t>缓冲区</a:t>
            </a:r>
            <a:r>
              <a:rPr lang="zh-CN" altLang="en-US" dirty="0"/>
              <a:t>的算法</a:t>
            </a:r>
            <a:endParaRPr lang="en-US" altLang="zh-CN" dirty="0"/>
          </a:p>
          <a:p>
            <a:pPr lvl="1">
              <a:buClr>
                <a:schemeClr val="tx1"/>
              </a:buClr>
            </a:pPr>
            <a:r>
              <a:rPr lang="zh-CN" altLang="en-US" dirty="0"/>
              <a:t>该算法创建专门的</a:t>
            </a:r>
            <a:r>
              <a:rPr lang="zh-CN" altLang="en-US" dirty="0" smtClean="0"/>
              <a:t>缓冲区（称为</a:t>
            </a:r>
            <a:r>
              <a:rPr lang="en-US" altLang="zh-CN" dirty="0"/>
              <a:t>z</a:t>
            </a:r>
            <a:r>
              <a:rPr lang="zh-CN" altLang="en-US" dirty="0"/>
              <a:t>缓冲区</a:t>
            </a:r>
            <a:r>
              <a:rPr lang="zh-CN" altLang="en-US" dirty="0" smtClean="0"/>
              <a:t>）</a:t>
            </a:r>
            <a:endParaRPr lang="en-US" altLang="zh-CN" dirty="0" smtClean="0"/>
          </a:p>
          <a:p>
            <a:pPr lvl="1">
              <a:buClr>
                <a:schemeClr val="tx1"/>
              </a:buClr>
            </a:pPr>
            <a:r>
              <a:rPr lang="zh-CN" altLang="en-US" dirty="0" smtClean="0"/>
              <a:t>当</a:t>
            </a:r>
            <a:r>
              <a:rPr lang="zh-CN" altLang="en-US" dirty="0"/>
              <a:t>几何体经过流水线各步骤时，存贮着该几何体的深度</a:t>
            </a:r>
            <a:r>
              <a:rPr lang="zh-CN" altLang="en-US" dirty="0" smtClean="0"/>
              <a:t>信息</a:t>
            </a:r>
            <a:endParaRPr lang="en-US" altLang="zh-CN" dirty="0"/>
          </a:p>
          <a:p>
            <a:pPr marL="457200" lvl="1" indent="0">
              <a:buClr>
                <a:schemeClr val="tx1"/>
              </a:buClr>
              <a:buNone/>
            </a:pPr>
            <a:r>
              <a:rPr lang="zh-CN" altLang="en-US" dirty="0"/>
              <a:t>   </a:t>
            </a:r>
            <a:endParaRPr lang="zh-CN" altLang="en-US" b="1"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37</a:t>
            </a:fld>
            <a:endParaRPr lang="zh-CN" altLang="en-US"/>
          </a:p>
        </p:txBody>
      </p:sp>
      <p:pic>
        <p:nvPicPr>
          <p:cNvPr id="6" name="图片 5"/>
          <p:cNvPicPr>
            <a:picLocks noChangeAspect="1"/>
          </p:cNvPicPr>
          <p:nvPr/>
        </p:nvPicPr>
        <p:blipFill>
          <a:blip r:embed="rId2"/>
          <a:stretch>
            <a:fillRect/>
          </a:stretch>
        </p:blipFill>
        <p:spPr>
          <a:xfrm>
            <a:off x="5004800" y="875426"/>
            <a:ext cx="3222019" cy="2753485"/>
          </a:xfrm>
          <a:prstGeom prst="rect">
            <a:avLst/>
          </a:prstGeom>
        </p:spPr>
      </p:pic>
    </p:spTree>
    <p:extLst>
      <p:ext uri="{BB962C8B-B14F-4D97-AF65-F5344CB8AC3E}">
        <p14:creationId xmlns:p14="http://schemas.microsoft.com/office/powerpoint/2010/main" val="85545902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隐藏面消除算法</a:t>
            </a:r>
            <a:endParaRPr lang="en-US" dirty="0"/>
          </a:p>
        </p:txBody>
      </p:sp>
      <p:sp>
        <p:nvSpPr>
          <p:cNvPr id="3" name="Content Placeholder 2"/>
          <p:cNvSpPr>
            <a:spLocks noGrp="1"/>
          </p:cNvSpPr>
          <p:nvPr>
            <p:ph idx="1"/>
          </p:nvPr>
        </p:nvSpPr>
        <p:spPr>
          <a:xfrm>
            <a:off x="628650" y="1316831"/>
            <a:ext cx="8515350" cy="4351338"/>
          </a:xfrm>
        </p:spPr>
        <p:txBody>
          <a:bodyPr/>
          <a:lstStyle/>
          <a:p>
            <a:r>
              <a:rPr lang="zh-CN" altLang="en-US" dirty="0"/>
              <a:t>启用该算法的要素</a:t>
            </a:r>
          </a:p>
          <a:p>
            <a:pPr lvl="1">
              <a:buClr>
                <a:schemeClr val="tx1"/>
              </a:buClr>
            </a:pPr>
            <a:r>
              <a:rPr lang="zh-CN" altLang="en-US" dirty="0" smtClean="0"/>
              <a:t>在</a:t>
            </a:r>
            <a:r>
              <a:rPr lang="en-US" altLang="zh-CN" dirty="0"/>
              <a:t>main()</a:t>
            </a:r>
            <a:r>
              <a:rPr lang="zh-CN" altLang="en-US" dirty="0"/>
              <a:t>中，显示模式初始化语句改</a:t>
            </a:r>
            <a:r>
              <a:rPr lang="zh-CN" altLang="en-US" dirty="0" smtClean="0"/>
              <a:t>为</a:t>
            </a:r>
            <a:r>
              <a:rPr lang="en-US" altLang="zh-CN" dirty="0" smtClean="0"/>
              <a:t>    </a:t>
            </a:r>
            <a:r>
              <a:rPr lang="en-US" altLang="zh-CN" dirty="0" err="1"/>
              <a:t>glutInitDisplayMode</a:t>
            </a:r>
            <a:r>
              <a:rPr lang="en-US" altLang="zh-CN" dirty="0"/>
              <a:t>(GLUT_SINGLE|GLUT_RGB|GLUT_DEPTH);</a:t>
            </a:r>
          </a:p>
          <a:p>
            <a:pPr lvl="1">
              <a:buClr>
                <a:schemeClr val="tx1"/>
              </a:buClr>
            </a:pPr>
            <a:r>
              <a:rPr lang="zh-CN" altLang="en-US" dirty="0"/>
              <a:t>在</a:t>
            </a:r>
            <a:r>
              <a:rPr lang="en-US" altLang="zh-CN" dirty="0" err="1"/>
              <a:t>init</a:t>
            </a:r>
            <a:r>
              <a:rPr lang="en-US" altLang="zh-CN" dirty="0"/>
              <a:t>()</a:t>
            </a:r>
            <a:r>
              <a:rPr lang="zh-CN" altLang="en-US" dirty="0"/>
              <a:t>中激活</a:t>
            </a:r>
            <a:r>
              <a:rPr lang="en-US" altLang="zh-CN" dirty="0"/>
              <a:t>Z-Buffer</a:t>
            </a:r>
            <a:r>
              <a:rPr lang="zh-CN" altLang="en-US" dirty="0"/>
              <a:t>隐藏面消除算法</a:t>
            </a:r>
          </a:p>
          <a:p>
            <a:pPr marL="457200" lvl="1" indent="0">
              <a:buClr>
                <a:schemeClr val="tx1"/>
              </a:buClr>
              <a:buNone/>
            </a:pPr>
            <a:r>
              <a:rPr lang="en-US" altLang="zh-CN" dirty="0"/>
              <a:t>    </a:t>
            </a:r>
            <a:r>
              <a:rPr lang="en-US" altLang="zh-CN" dirty="0" err="1"/>
              <a:t>glEnable</a:t>
            </a:r>
            <a:r>
              <a:rPr lang="en-US" altLang="zh-CN" dirty="0"/>
              <a:t>(GL_DEPTH_TEST);</a:t>
            </a:r>
          </a:p>
          <a:p>
            <a:pPr lvl="1">
              <a:buClr>
                <a:schemeClr val="tx1"/>
              </a:buClr>
            </a:pPr>
            <a:r>
              <a:rPr lang="zh-CN" altLang="en-US" dirty="0"/>
              <a:t>在显示回调函数中清空深度缓冲区</a:t>
            </a:r>
          </a:p>
          <a:p>
            <a:pPr marL="457200" lvl="1" indent="0">
              <a:buClr>
                <a:schemeClr val="tx1"/>
              </a:buClr>
              <a:buNone/>
            </a:pPr>
            <a:r>
              <a:rPr lang="en-US" altLang="zh-CN" dirty="0"/>
              <a:t>    </a:t>
            </a:r>
            <a:r>
              <a:rPr lang="en-US" altLang="zh-CN" dirty="0" err="1"/>
              <a:t>glClear</a:t>
            </a:r>
            <a:r>
              <a:rPr lang="en-US" altLang="zh-CN" dirty="0"/>
              <a:t>(GL_COLOR_BUFFER_BIT|GL_DEPTH_BUFFER_BIT);</a:t>
            </a:r>
            <a:endParaRPr lang="zh-CN" altLang="en-US" dirty="0"/>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38</a:t>
            </a:fld>
            <a:endParaRPr lang="zh-CN" altLang="en-US" dirty="0"/>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6" name="Picture 2" descr="QQ截图201608220319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8568" y="3781425"/>
            <a:ext cx="2743200" cy="2882900"/>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1" descr="QQ截图2016082203205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6218" y="3781425"/>
            <a:ext cx="2832100" cy="28829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1476182" y="5038209"/>
            <a:ext cx="1134262" cy="369332"/>
          </a:xfrm>
          <a:prstGeom prst="rect">
            <a:avLst/>
          </a:prstGeom>
        </p:spPr>
        <p:txBody>
          <a:bodyPr wrap="square">
            <a:spAutoFit/>
          </a:bodyPr>
          <a:lstStyle/>
          <a:p>
            <a:r>
              <a:rPr lang="zh-CN" altLang="en-US" b="1" dirty="0"/>
              <a:t>实验 </a:t>
            </a:r>
            <a:r>
              <a:rPr lang="en-US" altLang="zh-CN" b="1" dirty="0" smtClean="0"/>
              <a:t>2.2:</a:t>
            </a:r>
            <a:endParaRPr lang="en-US" altLang="zh-CN" b="1" dirty="0"/>
          </a:p>
        </p:txBody>
      </p:sp>
    </p:spTree>
    <p:extLst>
      <p:ext uri="{BB962C8B-B14F-4D97-AF65-F5344CB8AC3E}">
        <p14:creationId xmlns:p14="http://schemas.microsoft.com/office/powerpoint/2010/main" val="25325949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39</a:t>
            </a:fld>
            <a:endParaRPr lang="zh-CN" altLang="en-US"/>
          </a:p>
        </p:txBody>
      </p:sp>
      <p:sp>
        <p:nvSpPr>
          <p:cNvPr id="8" name="文本框 7"/>
          <p:cNvSpPr txBox="1"/>
          <p:nvPr/>
        </p:nvSpPr>
        <p:spPr>
          <a:xfrm>
            <a:off x="2867650" y="3389111"/>
            <a:ext cx="3416321"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网格曲面的绘制</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8" y="1913900"/>
            <a:ext cx="614272" cy="1107996"/>
          </a:xfrm>
          <a:prstGeom prst="rect">
            <a:avLst/>
          </a:prstGeom>
          <a:noFill/>
        </p:spPr>
        <p:txBody>
          <a:bodyPr wrap="none" rtlCol="0">
            <a:spAutoFit/>
          </a:bodyPr>
          <a:lstStyle/>
          <a:p>
            <a:pPr algn="ctr"/>
            <a:r>
              <a:rPr lang="en-US" altLang="zh-CN" sz="6600" b="1" i="1" dirty="0" smtClean="0">
                <a:solidFill>
                  <a:srgbClr val="94003F"/>
                </a:solidFill>
              </a:rPr>
              <a:t>4</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688373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3744592" y="911873"/>
            <a:ext cx="2187269" cy="1871665"/>
          </a:xfrm>
          <a:prstGeom prst="rect">
            <a:avLst/>
          </a:prstGeom>
        </p:spPr>
      </p:pic>
      <p:sp>
        <p:nvSpPr>
          <p:cNvPr id="2" name="标题 1"/>
          <p:cNvSpPr>
            <a:spLocks noGrp="1"/>
          </p:cNvSpPr>
          <p:nvPr>
            <p:ph type="title"/>
          </p:nvPr>
        </p:nvSpPr>
        <p:spPr/>
        <p:txBody>
          <a:bodyPr/>
          <a:lstStyle/>
          <a:p>
            <a:r>
              <a:rPr lang="zh-CN" altLang="en-US" dirty="0"/>
              <a:t>曲面的表示</a:t>
            </a:r>
          </a:p>
        </p:txBody>
      </p:sp>
      <p:sp>
        <p:nvSpPr>
          <p:cNvPr id="3" name="内容占位符 2"/>
          <p:cNvSpPr>
            <a:spLocks noGrp="1"/>
          </p:cNvSpPr>
          <p:nvPr>
            <p:ph idx="1"/>
          </p:nvPr>
        </p:nvSpPr>
        <p:spPr/>
        <p:txBody>
          <a:bodyPr>
            <a:normAutofit/>
          </a:bodyPr>
          <a:lstStyle/>
          <a:p>
            <a:r>
              <a:rPr lang="zh-CN" altLang="en-US" dirty="0"/>
              <a:t>高度场</a:t>
            </a:r>
            <a:endParaRPr lang="en-US" altLang="zh-CN" dirty="0"/>
          </a:p>
          <a:p>
            <a:pPr lvl="1">
              <a:buClr>
                <a:schemeClr val="tx1"/>
              </a:buClr>
            </a:pPr>
            <a:r>
              <a:rPr lang="en-US" altLang="zh-CN" dirty="0"/>
              <a:t>2.5</a:t>
            </a:r>
            <a:r>
              <a:rPr lang="zh-CN" altLang="en-US" dirty="0"/>
              <a:t>维曲面</a:t>
            </a:r>
            <a:endParaRPr lang="en-US" altLang="zh-CN" dirty="0"/>
          </a:p>
          <a:p>
            <a:pPr lvl="1">
              <a:buClr>
                <a:schemeClr val="tx1"/>
              </a:buClr>
            </a:pPr>
            <a:endParaRPr lang="en-US" altLang="zh-CN" dirty="0"/>
          </a:p>
          <a:p>
            <a:r>
              <a:rPr lang="zh-CN" altLang="en-US" dirty="0"/>
              <a:t>网格曲面</a:t>
            </a:r>
            <a:endParaRPr lang="en-US" altLang="zh-CN" dirty="0"/>
          </a:p>
          <a:p>
            <a:pPr lvl="1">
              <a:buClr>
                <a:schemeClr val="tx1"/>
              </a:buClr>
            </a:pPr>
            <a:r>
              <a:rPr lang="zh-CN" altLang="en-US" dirty="0"/>
              <a:t>由多边形彼此相接构成的网格</a:t>
            </a:r>
          </a:p>
          <a:p>
            <a:pPr lvl="1">
              <a:buClr>
                <a:schemeClr val="tx1"/>
              </a:buClr>
            </a:pPr>
            <a:r>
              <a:rPr lang="zh-CN" altLang="en-US" dirty="0"/>
              <a:t>多边形称为网格的面，多边形的顶点也称为网格的顶点</a:t>
            </a:r>
          </a:p>
          <a:p>
            <a:pPr lvl="1">
              <a:buClr>
                <a:schemeClr val="tx1"/>
              </a:buClr>
            </a:pPr>
            <a:r>
              <a:rPr lang="zh-CN" altLang="en-US" dirty="0"/>
              <a:t>一般要求两张相邻面的公共边完全相同，即不能出现某一</a:t>
            </a:r>
            <a:r>
              <a:rPr lang="zh-CN" altLang="en-US" dirty="0" smtClean="0"/>
              <a:t>面的一</a:t>
            </a:r>
            <a:r>
              <a:rPr lang="zh-CN" altLang="en-US" dirty="0"/>
              <a:t>个顶点在另一面的边中间</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40</a:t>
            </a:fld>
            <a:endParaRPr lang="zh-CN" altLang="en-US"/>
          </a:p>
        </p:txBody>
      </p:sp>
      <p:pic>
        <p:nvPicPr>
          <p:cNvPr id="8" name="图片 7"/>
          <p:cNvPicPr>
            <a:picLocks noChangeAspect="1"/>
          </p:cNvPicPr>
          <p:nvPr/>
        </p:nvPicPr>
        <p:blipFill>
          <a:blip r:embed="rId3"/>
          <a:stretch>
            <a:fillRect/>
          </a:stretch>
        </p:blipFill>
        <p:spPr>
          <a:xfrm>
            <a:off x="6111518" y="878305"/>
            <a:ext cx="2460484" cy="1608683"/>
          </a:xfrm>
          <a:prstGeom prst="rect">
            <a:avLst/>
          </a:prstGeom>
        </p:spPr>
      </p:pic>
      <p:pic>
        <p:nvPicPr>
          <p:cNvPr id="9" name="图片 8"/>
          <p:cNvPicPr>
            <a:picLocks noChangeAspect="1"/>
          </p:cNvPicPr>
          <p:nvPr/>
        </p:nvPicPr>
        <p:blipFill>
          <a:blip r:embed="rId4"/>
          <a:stretch>
            <a:fillRect/>
          </a:stretch>
        </p:blipFill>
        <p:spPr>
          <a:xfrm>
            <a:off x="2641952" y="1137780"/>
            <a:ext cx="1315451" cy="333992"/>
          </a:xfrm>
          <a:prstGeom prst="rect">
            <a:avLst/>
          </a:prstGeom>
        </p:spPr>
      </p:pic>
      <p:sp>
        <p:nvSpPr>
          <p:cNvPr id="10" name="文本框 9"/>
          <p:cNvSpPr txBox="1"/>
          <p:nvPr/>
        </p:nvSpPr>
        <p:spPr>
          <a:xfrm>
            <a:off x="6520348" y="2513723"/>
            <a:ext cx="1800493"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曲面上的高度场</a:t>
            </a:r>
          </a:p>
        </p:txBody>
      </p:sp>
      <p:pic>
        <p:nvPicPr>
          <p:cNvPr id="11" name="图片 10"/>
          <p:cNvPicPr>
            <a:picLocks noChangeAspect="1"/>
          </p:cNvPicPr>
          <p:nvPr/>
        </p:nvPicPr>
        <p:blipFill>
          <a:blip r:embed="rId5"/>
          <a:stretch>
            <a:fillRect/>
          </a:stretch>
        </p:blipFill>
        <p:spPr>
          <a:xfrm>
            <a:off x="628650" y="4592104"/>
            <a:ext cx="1346330" cy="2030180"/>
          </a:xfrm>
          <a:prstGeom prst="rect">
            <a:avLst/>
          </a:prstGeom>
        </p:spPr>
      </p:pic>
      <p:pic>
        <p:nvPicPr>
          <p:cNvPr id="12" name="图片 11"/>
          <p:cNvPicPr>
            <a:picLocks noChangeAspect="1"/>
          </p:cNvPicPr>
          <p:nvPr/>
        </p:nvPicPr>
        <p:blipFill>
          <a:blip r:embed="rId6"/>
          <a:stretch>
            <a:fillRect/>
          </a:stretch>
        </p:blipFill>
        <p:spPr>
          <a:xfrm>
            <a:off x="5542356" y="4264635"/>
            <a:ext cx="3029646" cy="2091715"/>
          </a:xfrm>
          <a:prstGeom prst="rect">
            <a:avLst/>
          </a:prstGeom>
        </p:spPr>
      </p:pic>
      <p:pic>
        <p:nvPicPr>
          <p:cNvPr id="13" name="图片 12"/>
          <p:cNvPicPr>
            <a:picLocks noChangeAspect="1"/>
          </p:cNvPicPr>
          <p:nvPr/>
        </p:nvPicPr>
        <p:blipFill>
          <a:blip r:embed="rId7"/>
          <a:stretch>
            <a:fillRect/>
          </a:stretch>
        </p:blipFill>
        <p:spPr>
          <a:xfrm>
            <a:off x="2295039" y="4797021"/>
            <a:ext cx="2899106" cy="1620346"/>
          </a:xfrm>
          <a:prstGeom prst="rect">
            <a:avLst/>
          </a:prstGeom>
        </p:spPr>
      </p:pic>
    </p:spTree>
    <p:extLst>
      <p:ext uri="{BB962C8B-B14F-4D97-AF65-F5344CB8AC3E}">
        <p14:creationId xmlns:p14="http://schemas.microsoft.com/office/powerpoint/2010/main" val="49863555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3220113" y="4254329"/>
            <a:ext cx="5218205" cy="2553360"/>
          </a:xfrm>
          <a:prstGeom prst="rect">
            <a:avLst/>
          </a:prstGeom>
        </p:spPr>
      </p:pic>
      <p:sp>
        <p:nvSpPr>
          <p:cNvPr id="2" name="标题 1"/>
          <p:cNvSpPr>
            <a:spLocks noGrp="1"/>
          </p:cNvSpPr>
          <p:nvPr>
            <p:ph type="title"/>
          </p:nvPr>
        </p:nvSpPr>
        <p:spPr/>
        <p:txBody>
          <a:bodyPr/>
          <a:lstStyle/>
          <a:p>
            <a:r>
              <a:rPr lang="zh-CN" altLang="en-US" dirty="0"/>
              <a:t>高度场的绘制显示</a:t>
            </a:r>
          </a:p>
        </p:txBody>
      </p:sp>
      <p:sp>
        <p:nvSpPr>
          <p:cNvPr id="3" name="内容占位符 2"/>
          <p:cNvSpPr>
            <a:spLocks noGrp="1"/>
          </p:cNvSpPr>
          <p:nvPr>
            <p:ph idx="1"/>
          </p:nvPr>
        </p:nvSpPr>
        <p:spPr>
          <a:xfrm>
            <a:off x="628650" y="1316831"/>
            <a:ext cx="7886700" cy="5369180"/>
          </a:xfrm>
        </p:spPr>
        <p:txBody>
          <a:bodyPr>
            <a:normAutofit/>
          </a:bodyPr>
          <a:lstStyle/>
          <a:p>
            <a:r>
              <a:rPr lang="zh-CN" altLang="en-US" dirty="0"/>
              <a:t>显示方法：</a:t>
            </a:r>
            <a:endParaRPr lang="en-US" altLang="zh-CN" dirty="0"/>
          </a:p>
          <a:p>
            <a:pPr lvl="1">
              <a:buClr>
                <a:schemeClr val="tx1"/>
              </a:buClr>
            </a:pPr>
            <a:r>
              <a:rPr lang="zh-CN" altLang="en-US" dirty="0"/>
              <a:t>构建</a:t>
            </a:r>
            <a:r>
              <a:rPr lang="en-US" altLang="zh-CN" dirty="0"/>
              <a:t>x</a:t>
            </a:r>
            <a:r>
              <a:rPr lang="zh-CN" altLang="en-US" dirty="0"/>
              <a:t>，</a:t>
            </a:r>
            <a:r>
              <a:rPr lang="en-US" altLang="zh-CN" dirty="0"/>
              <a:t>z</a:t>
            </a:r>
            <a:r>
              <a:rPr lang="zh-CN" altLang="en-US" dirty="0"/>
              <a:t>向的二维数组，采用网格线绘制显示</a:t>
            </a:r>
            <a:endParaRPr lang="en-US" altLang="zh-CN" dirty="0"/>
          </a:p>
          <a:p>
            <a:pPr lvl="1">
              <a:buClr>
                <a:schemeClr val="tx1"/>
              </a:buClr>
            </a:pPr>
            <a:r>
              <a:rPr lang="zh-CN" altLang="en-US" dirty="0"/>
              <a:t>两组</a:t>
            </a:r>
            <a:r>
              <a:rPr lang="en-US" altLang="zh-CN" dirty="0" smtClean="0"/>
              <a:t>STRIP_LINE</a:t>
            </a:r>
            <a:r>
              <a:rPr lang="zh-CN" altLang="en-US" dirty="0" smtClean="0"/>
              <a:t>（</a:t>
            </a:r>
            <a:r>
              <a:rPr lang="zh-CN" altLang="en-US" dirty="0" smtClean="0">
                <a:solidFill>
                  <a:srgbClr val="00B050"/>
                </a:solidFill>
              </a:rPr>
              <a:t>请思考</a:t>
            </a:r>
            <a:r>
              <a:rPr lang="zh-CN" altLang="en-US" dirty="0" smtClean="0"/>
              <a:t>）</a:t>
            </a:r>
            <a:r>
              <a:rPr lang="en-US" altLang="zh-CN" dirty="0" smtClean="0"/>
              <a:t>,</a:t>
            </a:r>
            <a:r>
              <a:rPr lang="zh-CN" altLang="en-US" dirty="0"/>
              <a:t>其中一组数据如下：</a:t>
            </a:r>
            <a:endParaRPr lang="en-US" altLang="zh-CN" dirty="0"/>
          </a:p>
          <a:p>
            <a:pPr lvl="1">
              <a:buClr>
                <a:schemeClr val="tx1"/>
              </a:buClr>
            </a:pPr>
            <a:endParaRPr lang="en-US" altLang="zh-CN" dirty="0"/>
          </a:p>
          <a:p>
            <a:pPr lvl="1">
              <a:buClr>
                <a:schemeClr val="tx1"/>
              </a:buClr>
            </a:pPr>
            <a:endParaRPr lang="en-US" altLang="zh-CN" dirty="0"/>
          </a:p>
          <a:p>
            <a:pPr lvl="1">
              <a:buClr>
                <a:schemeClr val="tx1"/>
              </a:buClr>
            </a:pPr>
            <a:endParaRPr lang="en-US" altLang="zh-CN" dirty="0"/>
          </a:p>
          <a:p>
            <a:pPr lvl="1">
              <a:buClr>
                <a:schemeClr val="tx1"/>
              </a:buClr>
            </a:pPr>
            <a:endParaRPr lang="en-US" altLang="zh-CN" dirty="0"/>
          </a:p>
          <a:p>
            <a:pPr lvl="1">
              <a:buClr>
                <a:schemeClr val="tx1"/>
              </a:buClr>
            </a:pPr>
            <a:endParaRPr lang="en-US" altLang="zh-CN" dirty="0"/>
          </a:p>
          <a:p>
            <a:endParaRPr lang="en-US" altLang="zh-CN" dirty="0" smtClean="0"/>
          </a:p>
          <a:p>
            <a:r>
              <a:rPr lang="zh-CN" altLang="en-US" dirty="0" smtClean="0"/>
              <a:t>问题</a:t>
            </a:r>
            <a:r>
              <a:rPr lang="zh-CN" altLang="en-US" dirty="0"/>
              <a:t>：</a:t>
            </a:r>
            <a:endParaRPr lang="en-US" altLang="zh-CN" dirty="0"/>
          </a:p>
          <a:p>
            <a:pPr lvl="1">
              <a:buClr>
                <a:schemeClr val="tx1"/>
              </a:buClr>
            </a:pPr>
            <a:r>
              <a:rPr lang="en-US" altLang="zh-CN" dirty="0"/>
              <a:t>GPU</a:t>
            </a:r>
            <a:r>
              <a:rPr lang="zh-CN" altLang="en-US" dirty="0"/>
              <a:t>数据传输负载</a:t>
            </a:r>
            <a:endParaRPr lang="en-US" altLang="zh-CN" dirty="0"/>
          </a:p>
          <a:p>
            <a:pPr lvl="1">
              <a:buClr>
                <a:schemeClr val="tx1"/>
              </a:buClr>
            </a:pPr>
            <a:r>
              <a:rPr lang="zh-CN" altLang="en-US" dirty="0"/>
              <a:t>隐藏面消除</a:t>
            </a:r>
            <a:endParaRPr lang="en-US" altLang="zh-CN" dirty="0"/>
          </a:p>
          <a:p>
            <a:pPr lvl="1">
              <a:buClr>
                <a:schemeClr val="tx1"/>
              </a:buClr>
            </a:pPr>
            <a:r>
              <a:rPr lang="zh-CN" altLang="en-US" dirty="0"/>
              <a:t>线绘制“瑕疵”</a:t>
            </a:r>
            <a:endParaRPr lang="en-US" altLang="zh-CN" dirty="0"/>
          </a:p>
          <a:p>
            <a:pPr marL="0" indent="0">
              <a:buNone/>
            </a:pPr>
            <a:endParaRPr lang="en-US" altLang="zh-CN"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41</a:t>
            </a:fld>
            <a:endParaRPr lang="zh-CN" altLang="en-US"/>
          </a:p>
        </p:txBody>
      </p:sp>
      <p:sp>
        <p:nvSpPr>
          <p:cNvPr id="11" name="矩形 10"/>
          <p:cNvSpPr/>
          <p:nvPr/>
        </p:nvSpPr>
        <p:spPr>
          <a:xfrm>
            <a:off x="1575327" y="2469820"/>
            <a:ext cx="5891264" cy="1754326"/>
          </a:xfrm>
          <a:prstGeom prst="rect">
            <a:avLst/>
          </a:prstGeom>
          <a:solidFill>
            <a:srgbClr val="BDD7EE">
              <a:alpha val="52941"/>
            </a:srgbClr>
          </a:solidFill>
        </p:spPr>
        <p:txBody>
          <a:bodyPr wrap="square">
            <a:spAutoFit/>
          </a:bodyPr>
          <a:lstStyle/>
          <a:p>
            <a:r>
              <a:rPr lang="en-US" altLang="zh-CN" b="1" dirty="0">
                <a:solidFill>
                  <a:srgbClr val="0000FF"/>
                </a:solidFill>
              </a:rPr>
              <a:t>for</a:t>
            </a:r>
            <a:r>
              <a:rPr lang="en-US" altLang="zh-CN" b="1" dirty="0"/>
              <a:t>(</a:t>
            </a:r>
            <a:r>
              <a:rPr lang="en-US" altLang="zh-CN" b="1" dirty="0" err="1">
                <a:solidFill>
                  <a:srgbClr val="0000FF"/>
                </a:solidFill>
              </a:rPr>
              <a:t>int</a:t>
            </a:r>
            <a:r>
              <a:rPr lang="en-US" altLang="zh-CN" b="1" dirty="0"/>
              <a:t> </a:t>
            </a:r>
            <a:r>
              <a:rPr lang="en-US" altLang="zh-CN" b="1" dirty="0" err="1"/>
              <a:t>i</a:t>
            </a:r>
            <a:r>
              <a:rPr lang="en-US" altLang="zh-CN" b="1" dirty="0"/>
              <a:t> = 0; </a:t>
            </a:r>
            <a:r>
              <a:rPr lang="en-US" altLang="zh-CN" b="1" dirty="0" err="1"/>
              <a:t>i</a:t>
            </a:r>
            <a:r>
              <a:rPr lang="en-US" altLang="zh-CN" b="1" dirty="0"/>
              <a:t>&lt;M; </a:t>
            </a:r>
            <a:r>
              <a:rPr lang="en-US" altLang="zh-CN" b="1" dirty="0" err="1"/>
              <a:t>i</a:t>
            </a:r>
            <a:r>
              <a:rPr lang="en-US" altLang="zh-CN" b="1" dirty="0"/>
              <a:t>++) </a:t>
            </a:r>
            <a:endParaRPr lang="en-US" altLang="zh-CN" b="1" dirty="0" smtClean="0"/>
          </a:p>
          <a:p>
            <a:r>
              <a:rPr lang="zh-CN" altLang="en-US" b="1" dirty="0"/>
              <a:t> </a:t>
            </a:r>
            <a:r>
              <a:rPr lang="zh-CN" altLang="en-US" b="1" dirty="0" smtClean="0"/>
              <a:t>   </a:t>
            </a:r>
            <a:r>
              <a:rPr lang="en-US" altLang="zh-CN" b="1" dirty="0" smtClean="0">
                <a:solidFill>
                  <a:srgbClr val="0000FF"/>
                </a:solidFill>
              </a:rPr>
              <a:t>for</a:t>
            </a:r>
            <a:r>
              <a:rPr lang="en-US" altLang="zh-CN" b="1" dirty="0" smtClean="0"/>
              <a:t>(</a:t>
            </a:r>
            <a:r>
              <a:rPr lang="en-US" altLang="zh-CN" b="1" dirty="0" err="1" smtClean="0">
                <a:solidFill>
                  <a:srgbClr val="0000FF"/>
                </a:solidFill>
              </a:rPr>
              <a:t>int</a:t>
            </a:r>
            <a:r>
              <a:rPr lang="en-US" altLang="zh-CN" b="1" dirty="0" smtClean="0"/>
              <a:t> </a:t>
            </a:r>
            <a:r>
              <a:rPr lang="en-US" altLang="zh-CN" b="1" dirty="0"/>
              <a:t>j=0; j&lt;N; </a:t>
            </a:r>
            <a:r>
              <a:rPr lang="en-US" altLang="zh-CN" b="1" dirty="0" err="1"/>
              <a:t>j++</a:t>
            </a:r>
            <a:r>
              <a:rPr lang="en-US" altLang="zh-CN" b="1" dirty="0"/>
              <a:t>)</a:t>
            </a:r>
          </a:p>
          <a:p>
            <a:r>
              <a:rPr lang="en-US" altLang="zh-CN" b="1" dirty="0"/>
              <a:t>{</a:t>
            </a:r>
          </a:p>
          <a:p>
            <a:pPr lvl="1"/>
            <a:r>
              <a:rPr lang="en-US" altLang="zh-CN" b="1" dirty="0"/>
              <a:t>vertices[k] = </a:t>
            </a:r>
            <a:r>
              <a:rPr lang="en-US" altLang="zh-CN" b="1" dirty="0">
                <a:solidFill>
                  <a:srgbClr val="0000FF"/>
                </a:solidFill>
              </a:rPr>
              <a:t>point4</a:t>
            </a:r>
            <a:r>
              <a:rPr lang="en-US" altLang="zh-CN" b="1" dirty="0"/>
              <a:t>(j, data[j][</a:t>
            </a:r>
            <a:r>
              <a:rPr lang="en-US" altLang="zh-CN" b="1" dirty="0" err="1"/>
              <a:t>i</a:t>
            </a:r>
            <a:r>
              <a:rPr lang="en-US" altLang="zh-CN" b="1" dirty="0" smtClean="0"/>
              <a:t>],</a:t>
            </a:r>
            <a:r>
              <a:rPr lang="zh-CN" altLang="en-US" b="1" dirty="0" smtClean="0"/>
              <a:t> </a:t>
            </a:r>
            <a:r>
              <a:rPr lang="en-US" altLang="zh-CN" b="1" dirty="0" err="1" smtClean="0"/>
              <a:t>i</a:t>
            </a:r>
            <a:r>
              <a:rPr lang="en-US" altLang="zh-CN" b="1" dirty="0" smtClean="0"/>
              <a:t>,</a:t>
            </a:r>
            <a:r>
              <a:rPr lang="zh-CN" altLang="en-US" b="1" dirty="0" smtClean="0"/>
              <a:t> </a:t>
            </a:r>
            <a:r>
              <a:rPr lang="en-US" altLang="zh-CN" b="1" dirty="0" smtClean="0"/>
              <a:t>1.0</a:t>
            </a:r>
            <a:r>
              <a:rPr lang="en-US" altLang="zh-CN" b="1" dirty="0"/>
              <a:t>);</a:t>
            </a:r>
          </a:p>
          <a:p>
            <a:pPr lvl="1"/>
            <a:r>
              <a:rPr lang="en-US" altLang="zh-CN" b="1" dirty="0"/>
              <a:t>k++;</a:t>
            </a:r>
          </a:p>
          <a:p>
            <a:r>
              <a:rPr lang="en-US" altLang="zh-CN" b="1" dirty="0"/>
              <a:t>}</a:t>
            </a:r>
            <a:endParaRPr lang="zh-CN" altLang="en-US" dirty="0"/>
          </a:p>
        </p:txBody>
      </p:sp>
      <p:pic>
        <p:nvPicPr>
          <p:cNvPr id="9" name="图片 8"/>
          <p:cNvPicPr>
            <a:picLocks noChangeAspect="1"/>
          </p:cNvPicPr>
          <p:nvPr/>
        </p:nvPicPr>
        <p:blipFill>
          <a:blip r:embed="rId3"/>
          <a:stretch>
            <a:fillRect/>
          </a:stretch>
        </p:blipFill>
        <p:spPr>
          <a:xfrm>
            <a:off x="6669439" y="4291238"/>
            <a:ext cx="1645882" cy="417888"/>
          </a:xfrm>
          <a:prstGeom prst="rect">
            <a:avLst/>
          </a:prstGeom>
        </p:spPr>
      </p:pic>
    </p:spTree>
    <p:extLst>
      <p:ext uri="{BB962C8B-B14F-4D97-AF65-F5344CB8AC3E}">
        <p14:creationId xmlns:p14="http://schemas.microsoft.com/office/powerpoint/2010/main" val="108653187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网格曲面的绘制显示</a:t>
            </a:r>
          </a:p>
        </p:txBody>
      </p:sp>
      <p:sp>
        <p:nvSpPr>
          <p:cNvPr id="3" name="内容占位符 2"/>
          <p:cNvSpPr>
            <a:spLocks noGrp="1"/>
          </p:cNvSpPr>
          <p:nvPr>
            <p:ph idx="1"/>
          </p:nvPr>
        </p:nvSpPr>
        <p:spPr>
          <a:xfrm>
            <a:off x="628650" y="1316831"/>
            <a:ext cx="7886700" cy="5338612"/>
          </a:xfrm>
        </p:spPr>
        <p:txBody>
          <a:bodyPr>
            <a:normAutofit lnSpcReduction="10000"/>
          </a:bodyPr>
          <a:lstStyle/>
          <a:p>
            <a:r>
              <a:rPr lang="zh-CN" altLang="en-US" dirty="0"/>
              <a:t>三角形网格的产生</a:t>
            </a:r>
            <a:endParaRPr lang="en-US" altLang="zh-CN" dirty="0"/>
          </a:p>
          <a:p>
            <a:pPr lvl="1">
              <a:buClr>
                <a:schemeClr val="tx1"/>
              </a:buClr>
            </a:pPr>
            <a:r>
              <a:rPr lang="zh-CN" altLang="en-US" dirty="0"/>
              <a:t>一个四边形剖分为两个三角形</a:t>
            </a:r>
            <a:endParaRPr lang="en-US" altLang="zh-CN" dirty="0"/>
          </a:p>
          <a:p>
            <a:pPr lvl="1">
              <a:buClr>
                <a:schemeClr val="tx1"/>
              </a:buClr>
            </a:pPr>
            <a:r>
              <a:rPr lang="zh-CN" altLang="en-US" dirty="0"/>
              <a:t>三角化（</a:t>
            </a:r>
            <a:r>
              <a:rPr lang="en-US" altLang="zh-CN" dirty="0"/>
              <a:t>Triangulation</a:t>
            </a:r>
            <a:r>
              <a:rPr lang="zh-CN" altLang="en-US" dirty="0"/>
              <a:t>）</a:t>
            </a:r>
            <a:endParaRPr lang="en-US" altLang="zh-CN" dirty="0"/>
          </a:p>
          <a:p>
            <a:pPr lvl="1">
              <a:buClr>
                <a:schemeClr val="tx1"/>
              </a:buClr>
            </a:pPr>
            <a:endParaRPr lang="en-US" altLang="zh-CN" dirty="0"/>
          </a:p>
          <a:p>
            <a:pPr marL="0" indent="0">
              <a:buNone/>
            </a:pPr>
            <a:endParaRPr lang="en-US" altLang="zh-CN" dirty="0"/>
          </a:p>
          <a:p>
            <a:endParaRPr lang="en-US" altLang="zh-CN" dirty="0"/>
          </a:p>
          <a:p>
            <a:endParaRPr lang="en-US" altLang="zh-CN" dirty="0"/>
          </a:p>
          <a:p>
            <a:endParaRPr lang="en-US" altLang="zh-CN" dirty="0"/>
          </a:p>
          <a:p>
            <a:endParaRPr lang="en-US" altLang="zh-CN" dirty="0"/>
          </a:p>
          <a:p>
            <a:endParaRPr lang="en-US" altLang="zh-CN" dirty="0" smtClean="0"/>
          </a:p>
          <a:p>
            <a:r>
              <a:rPr lang="zh-CN" altLang="en-US" dirty="0" smtClean="0"/>
              <a:t>“</a:t>
            </a:r>
            <a:r>
              <a:rPr lang="zh-CN" altLang="en-US" dirty="0"/>
              <a:t>面”绘制</a:t>
            </a:r>
            <a:endParaRPr lang="en-US" altLang="zh-CN" dirty="0"/>
          </a:p>
          <a:p>
            <a:pPr lvl="1">
              <a:buClr>
                <a:schemeClr val="tx1"/>
              </a:buClr>
            </a:pPr>
            <a:r>
              <a:rPr lang="en-US" altLang="zh-CN" dirty="0"/>
              <a:t>GL_FILL</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42</a:t>
            </a:fld>
            <a:endParaRPr lang="zh-CN" altLang="en-US"/>
          </a:p>
        </p:txBody>
      </p:sp>
      <p:sp>
        <p:nvSpPr>
          <p:cNvPr id="11" name="矩形 10"/>
          <p:cNvSpPr/>
          <p:nvPr/>
        </p:nvSpPr>
        <p:spPr>
          <a:xfrm>
            <a:off x="628650" y="2463239"/>
            <a:ext cx="7941287" cy="2585323"/>
          </a:xfrm>
          <a:prstGeom prst="rect">
            <a:avLst/>
          </a:prstGeom>
          <a:solidFill>
            <a:srgbClr val="BDD7EE">
              <a:alpha val="52941"/>
            </a:srgbClr>
          </a:solidFill>
        </p:spPr>
        <p:txBody>
          <a:bodyPr wrap="square">
            <a:spAutoFit/>
          </a:bodyPr>
          <a:lstStyle/>
          <a:p>
            <a:r>
              <a:rPr lang="en-US" altLang="zh-CN" b="1" dirty="0">
                <a:solidFill>
                  <a:srgbClr val="0000FF"/>
                </a:solidFill>
              </a:rPr>
              <a:t>for</a:t>
            </a:r>
            <a:r>
              <a:rPr lang="en-US" altLang="zh-CN" b="1" dirty="0"/>
              <a:t>(</a:t>
            </a:r>
            <a:r>
              <a:rPr lang="en-US" altLang="zh-CN" b="1" dirty="0" err="1">
                <a:solidFill>
                  <a:srgbClr val="0000FF"/>
                </a:solidFill>
              </a:rPr>
              <a:t>int</a:t>
            </a:r>
            <a:r>
              <a:rPr lang="en-US" altLang="zh-CN" b="1" dirty="0"/>
              <a:t> </a:t>
            </a:r>
            <a:r>
              <a:rPr lang="en-US" altLang="zh-CN" b="1" dirty="0" err="1"/>
              <a:t>i</a:t>
            </a:r>
            <a:r>
              <a:rPr lang="en-US" altLang="zh-CN" b="1" dirty="0"/>
              <a:t>=0; </a:t>
            </a:r>
            <a:r>
              <a:rPr lang="en-US" altLang="zh-CN" b="1" dirty="0" err="1"/>
              <a:t>i</a:t>
            </a:r>
            <a:r>
              <a:rPr lang="en-US" altLang="zh-CN" b="1" dirty="0"/>
              <a:t>&lt;N-1; </a:t>
            </a:r>
            <a:r>
              <a:rPr lang="en-US" altLang="zh-CN" b="1" dirty="0" err="1"/>
              <a:t>i</a:t>
            </a:r>
            <a:r>
              <a:rPr lang="en-US" altLang="zh-CN" b="1" dirty="0"/>
              <a:t>++) </a:t>
            </a:r>
            <a:endParaRPr lang="en-US" altLang="zh-CN" b="1" dirty="0" smtClean="0"/>
          </a:p>
          <a:p>
            <a:r>
              <a:rPr lang="zh-CN" altLang="en-US" b="1" dirty="0"/>
              <a:t> </a:t>
            </a:r>
            <a:r>
              <a:rPr lang="zh-CN" altLang="en-US" b="1" dirty="0" smtClean="0"/>
              <a:t>    </a:t>
            </a:r>
            <a:r>
              <a:rPr lang="en-US" altLang="zh-CN" b="1" dirty="0" smtClean="0">
                <a:solidFill>
                  <a:srgbClr val="0000FF"/>
                </a:solidFill>
              </a:rPr>
              <a:t>for</a:t>
            </a:r>
            <a:r>
              <a:rPr lang="en-US" altLang="zh-CN" b="1" dirty="0" smtClean="0"/>
              <a:t>(</a:t>
            </a:r>
            <a:r>
              <a:rPr lang="en-US" altLang="zh-CN" b="1" dirty="0" err="1" smtClean="0">
                <a:solidFill>
                  <a:srgbClr val="0000FF"/>
                </a:solidFill>
              </a:rPr>
              <a:t>int</a:t>
            </a:r>
            <a:r>
              <a:rPr lang="en-US" altLang="zh-CN" b="1" dirty="0" smtClean="0"/>
              <a:t> </a:t>
            </a:r>
            <a:r>
              <a:rPr lang="en-US" altLang="zh-CN" b="1" dirty="0"/>
              <a:t>j=0; j&lt;M-1;j++)</a:t>
            </a:r>
          </a:p>
          <a:p>
            <a:r>
              <a:rPr lang="en-US" altLang="zh-CN" b="1" dirty="0">
                <a:solidFill>
                  <a:srgbClr val="00B050"/>
                </a:solidFill>
              </a:rPr>
              <a:t>//NM quads, 2 triangles/quad</a:t>
            </a:r>
          </a:p>
          <a:p>
            <a:r>
              <a:rPr lang="en-US" altLang="zh-CN" b="1" dirty="0"/>
              <a:t>{</a:t>
            </a:r>
          </a:p>
          <a:p>
            <a:pPr lvl="1"/>
            <a:r>
              <a:rPr lang="en-US" altLang="zh-CN" b="1" dirty="0"/>
              <a:t>triangles[k] = </a:t>
            </a:r>
            <a:r>
              <a:rPr lang="en-US" altLang="zh-CN" b="1" dirty="0">
                <a:solidFill>
                  <a:srgbClr val="0000FF"/>
                </a:solidFill>
              </a:rPr>
              <a:t>vec4</a:t>
            </a:r>
            <a:r>
              <a:rPr lang="en-US" altLang="zh-CN" b="1" dirty="0"/>
              <a:t>(2.0*(</a:t>
            </a:r>
            <a:r>
              <a:rPr lang="en-US" altLang="zh-CN" b="1" dirty="0" err="1"/>
              <a:t>i</a:t>
            </a:r>
            <a:r>
              <a:rPr lang="en-US" altLang="zh-CN" b="1" dirty="0"/>
              <a:t>/fn-0.5), data[</a:t>
            </a:r>
            <a:r>
              <a:rPr lang="en-US" altLang="zh-CN" b="1" dirty="0" err="1"/>
              <a:t>i</a:t>
            </a:r>
            <a:r>
              <a:rPr lang="en-US" altLang="zh-CN" b="1" dirty="0"/>
              <a:t>][j]/</a:t>
            </a:r>
            <a:r>
              <a:rPr lang="en-US" altLang="zh-CN" b="1" dirty="0" err="1"/>
              <a:t>fmax</a:t>
            </a:r>
            <a:r>
              <a:rPr lang="en-US" altLang="zh-CN" b="1" dirty="0"/>
              <a:t>, -j/</a:t>
            </a:r>
            <a:r>
              <a:rPr lang="en-US" altLang="zh-CN" b="1" dirty="0" err="1"/>
              <a:t>fm</a:t>
            </a:r>
            <a:r>
              <a:rPr lang="en-US" altLang="zh-CN" b="1" dirty="0" smtClean="0"/>
              <a:t>, 1.0</a:t>
            </a:r>
            <a:r>
              <a:rPr lang="en-US" altLang="zh-CN" b="1" dirty="0"/>
              <a:t>); </a:t>
            </a:r>
          </a:p>
          <a:p>
            <a:pPr lvl="1"/>
            <a:r>
              <a:rPr lang="en-US" altLang="zh-CN" b="1" dirty="0"/>
              <a:t>k++;</a:t>
            </a:r>
          </a:p>
          <a:p>
            <a:pPr lvl="1"/>
            <a:r>
              <a:rPr lang="en-US" altLang="zh-CN" b="1" dirty="0"/>
              <a:t>triangles[k] = </a:t>
            </a:r>
            <a:r>
              <a:rPr lang="en-US" altLang="zh-CN" b="1" dirty="0">
                <a:solidFill>
                  <a:srgbClr val="0000FF"/>
                </a:solidFill>
              </a:rPr>
              <a:t>vec4</a:t>
            </a:r>
            <a:r>
              <a:rPr lang="en-US" altLang="zh-CN" b="1" dirty="0"/>
              <a:t>(2.0*((i+1)/fn-0.5), data[i+1][j]/</a:t>
            </a:r>
            <a:r>
              <a:rPr lang="en-US" altLang="zh-CN" b="1" dirty="0" err="1"/>
              <a:t>fmax</a:t>
            </a:r>
            <a:r>
              <a:rPr lang="en-US" altLang="zh-CN" b="1" dirty="0" smtClean="0"/>
              <a:t>, -</a:t>
            </a:r>
            <a:r>
              <a:rPr lang="en-US" altLang="zh-CN" b="1" dirty="0"/>
              <a:t>j/</a:t>
            </a:r>
            <a:r>
              <a:rPr lang="en-US" altLang="zh-CN" b="1" dirty="0" err="1"/>
              <a:t>fm</a:t>
            </a:r>
            <a:r>
              <a:rPr lang="en-US" altLang="zh-CN" b="1" dirty="0"/>
              <a:t>, 1.0); </a:t>
            </a:r>
          </a:p>
          <a:p>
            <a:pPr lvl="1"/>
            <a:r>
              <a:rPr lang="en-US" altLang="zh-CN" b="1" dirty="0"/>
              <a:t>k++;  ……</a:t>
            </a:r>
          </a:p>
          <a:p>
            <a:r>
              <a:rPr lang="en-US" altLang="zh-CN" b="1" dirty="0"/>
              <a:t>}</a:t>
            </a:r>
            <a:endParaRPr lang="zh-CN" altLang="en-US" dirty="0"/>
          </a:p>
        </p:txBody>
      </p:sp>
    </p:spTree>
    <p:extLst>
      <p:ext uri="{BB962C8B-B14F-4D97-AF65-F5344CB8AC3E}">
        <p14:creationId xmlns:p14="http://schemas.microsoft.com/office/powerpoint/2010/main" val="128768864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43</a:t>
            </a:fld>
            <a:endParaRPr lang="zh-CN" altLang="en-US"/>
          </a:p>
        </p:txBody>
      </p:sp>
      <p:sp>
        <p:nvSpPr>
          <p:cNvPr id="8" name="文本框 7"/>
          <p:cNvSpPr txBox="1"/>
          <p:nvPr/>
        </p:nvSpPr>
        <p:spPr>
          <a:xfrm>
            <a:off x="3308481" y="3389111"/>
            <a:ext cx="2534668"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投影和阴影</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8" y="1913900"/>
            <a:ext cx="614272" cy="1107996"/>
          </a:xfrm>
          <a:prstGeom prst="rect">
            <a:avLst/>
          </a:prstGeom>
          <a:noFill/>
        </p:spPr>
        <p:txBody>
          <a:bodyPr wrap="none" rtlCol="0">
            <a:spAutoFit/>
          </a:bodyPr>
          <a:lstStyle/>
          <a:p>
            <a:pPr algn="ctr"/>
            <a:r>
              <a:rPr lang="en-US" altLang="zh-CN" sz="6600" b="1" i="1" dirty="0" smtClean="0">
                <a:solidFill>
                  <a:srgbClr val="94003F"/>
                </a:solidFill>
              </a:rPr>
              <a:t>5</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6840218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阴影效果</a:t>
            </a:r>
          </a:p>
        </p:txBody>
      </p:sp>
      <p:sp>
        <p:nvSpPr>
          <p:cNvPr id="3" name="内容占位符 2"/>
          <p:cNvSpPr>
            <a:spLocks noGrp="1"/>
          </p:cNvSpPr>
          <p:nvPr>
            <p:ph idx="1"/>
          </p:nvPr>
        </p:nvSpPr>
        <p:spPr/>
        <p:txBody>
          <a:bodyPr>
            <a:normAutofit/>
          </a:bodyPr>
          <a:lstStyle/>
          <a:p>
            <a:r>
              <a:rPr lang="zh-CN" altLang="en-US" dirty="0"/>
              <a:t>计算机产生的阴影</a:t>
            </a:r>
            <a:endParaRPr lang="en-US" altLang="zh-CN" dirty="0"/>
          </a:p>
          <a:p>
            <a:pPr lvl="1">
              <a:buClr>
                <a:schemeClr val="tx1"/>
              </a:buClr>
            </a:pPr>
            <a:r>
              <a:rPr lang="zh-CN" altLang="en-US" dirty="0"/>
              <a:t>光源照射不到</a:t>
            </a:r>
            <a:endParaRPr lang="en-US" altLang="zh-CN" dirty="0"/>
          </a:p>
          <a:p>
            <a:pPr lvl="1">
              <a:buClr>
                <a:schemeClr val="tx1"/>
              </a:buClr>
            </a:pPr>
            <a:r>
              <a:rPr lang="zh-CN" altLang="en-US" dirty="0"/>
              <a:t>视角观察不到</a:t>
            </a:r>
            <a:endParaRPr lang="en-US" altLang="zh-CN" dirty="0"/>
          </a:p>
          <a:p>
            <a:pPr marL="0" indent="0">
              <a:buNone/>
            </a:pPr>
            <a:endParaRPr lang="en-US" altLang="zh-CN" dirty="0"/>
          </a:p>
          <a:p>
            <a:r>
              <a:rPr lang="zh-CN" altLang="en-US" dirty="0"/>
              <a:t>阴影的投影矩阵</a:t>
            </a:r>
            <a:endParaRPr lang="en-US" altLang="zh-CN" dirty="0"/>
          </a:p>
          <a:p>
            <a:pPr lvl="1">
              <a:buClr>
                <a:schemeClr val="tx1"/>
              </a:buClr>
            </a:pPr>
            <a:r>
              <a:rPr lang="zh-CN" altLang="en-US" dirty="0"/>
              <a:t>向三维空间中的平面投影</a:t>
            </a:r>
            <a:endParaRPr lang="en-US" altLang="zh-CN"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44</a:t>
            </a:fld>
            <a:endParaRPr lang="zh-CN" altLang="en-US"/>
          </a:p>
        </p:txBody>
      </p:sp>
      <p:pic>
        <p:nvPicPr>
          <p:cNvPr id="5" name="图片 4"/>
          <p:cNvPicPr>
            <a:picLocks noChangeAspect="1"/>
          </p:cNvPicPr>
          <p:nvPr/>
        </p:nvPicPr>
        <p:blipFill>
          <a:blip r:embed="rId2"/>
          <a:stretch>
            <a:fillRect/>
          </a:stretch>
        </p:blipFill>
        <p:spPr>
          <a:xfrm>
            <a:off x="5205803" y="708383"/>
            <a:ext cx="3246185" cy="31445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图片 6"/>
          <p:cNvPicPr>
            <a:picLocks noChangeAspect="1"/>
          </p:cNvPicPr>
          <p:nvPr/>
        </p:nvPicPr>
        <p:blipFill>
          <a:blip r:embed="rId3"/>
          <a:stretch>
            <a:fillRect/>
          </a:stretch>
        </p:blipFill>
        <p:spPr>
          <a:xfrm>
            <a:off x="5670525" y="3972079"/>
            <a:ext cx="2393621" cy="2766767"/>
          </a:xfrm>
          <a:prstGeom prst="rect">
            <a:avLst/>
          </a:prstGeom>
        </p:spPr>
      </p:pic>
      <p:pic>
        <p:nvPicPr>
          <p:cNvPr id="8" name="图片 7"/>
          <p:cNvPicPr>
            <a:picLocks noChangeAspect="1"/>
          </p:cNvPicPr>
          <p:nvPr/>
        </p:nvPicPr>
        <p:blipFill>
          <a:blip r:embed="rId4"/>
          <a:stretch>
            <a:fillRect/>
          </a:stretch>
        </p:blipFill>
        <p:spPr>
          <a:xfrm>
            <a:off x="1025010" y="4190035"/>
            <a:ext cx="3577637" cy="2166315"/>
          </a:xfrm>
          <a:prstGeom prst="rect">
            <a:avLst/>
          </a:prstGeom>
        </p:spPr>
      </p:pic>
    </p:spTree>
    <p:extLst>
      <p:ext uri="{BB962C8B-B14F-4D97-AF65-F5344CB8AC3E}">
        <p14:creationId xmlns:p14="http://schemas.microsoft.com/office/powerpoint/2010/main" val="136416642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阴影</a:t>
            </a:r>
            <a:r>
              <a:rPr lang="zh-CN" altLang="en-US" dirty="0"/>
              <a:t>效果</a:t>
            </a:r>
          </a:p>
        </p:txBody>
      </p:sp>
      <p:sp>
        <p:nvSpPr>
          <p:cNvPr id="3" name="内容占位符 2"/>
          <p:cNvSpPr>
            <a:spLocks noGrp="1"/>
          </p:cNvSpPr>
          <p:nvPr>
            <p:ph idx="1"/>
          </p:nvPr>
        </p:nvSpPr>
        <p:spPr/>
        <p:txBody>
          <a:bodyPr>
            <a:normAutofit/>
          </a:bodyPr>
          <a:lstStyle/>
          <a:p>
            <a:r>
              <a:rPr lang="zh-CN" altLang="en-US" dirty="0"/>
              <a:t>计算机产生的阴影</a:t>
            </a:r>
            <a:endParaRPr lang="en-US" altLang="zh-CN" dirty="0"/>
          </a:p>
          <a:p>
            <a:pPr lvl="1">
              <a:buClr>
                <a:schemeClr val="tx1"/>
              </a:buClr>
            </a:pPr>
            <a:r>
              <a:rPr lang="zh-CN" altLang="en-US" dirty="0"/>
              <a:t>光源照射不到</a:t>
            </a:r>
            <a:endParaRPr lang="en-US" altLang="zh-CN" dirty="0"/>
          </a:p>
          <a:p>
            <a:pPr lvl="1">
              <a:buClr>
                <a:schemeClr val="tx1"/>
              </a:buClr>
            </a:pPr>
            <a:r>
              <a:rPr lang="zh-CN" altLang="en-US" dirty="0"/>
              <a:t>视角观察不到</a:t>
            </a:r>
            <a:endParaRPr lang="en-US" altLang="zh-CN" dirty="0"/>
          </a:p>
          <a:p>
            <a:pPr marL="0" indent="0">
              <a:buNone/>
            </a:pPr>
            <a:endParaRPr lang="en-US" altLang="zh-CN" dirty="0"/>
          </a:p>
          <a:p>
            <a:r>
              <a:rPr lang="zh-CN" altLang="en-US" dirty="0"/>
              <a:t>阴影的投影矩阵</a:t>
            </a:r>
            <a:endParaRPr lang="en-US" altLang="zh-CN" dirty="0"/>
          </a:p>
          <a:p>
            <a:pPr lvl="1">
              <a:buClr>
                <a:schemeClr val="tx1"/>
              </a:buClr>
            </a:pPr>
            <a:r>
              <a:rPr lang="zh-CN" altLang="en-US" dirty="0"/>
              <a:t>向三维空间中的平面投影</a:t>
            </a:r>
            <a:endParaRPr lang="en-US" altLang="zh-CN" dirty="0"/>
          </a:p>
        </p:txBody>
      </p:sp>
      <p:sp>
        <p:nvSpPr>
          <p:cNvPr id="4" name="灯片编号占位符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45</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5" name="图片 4"/>
          <p:cNvPicPr>
            <a:picLocks noChangeAspect="1"/>
          </p:cNvPicPr>
          <p:nvPr/>
        </p:nvPicPr>
        <p:blipFill>
          <a:blip r:embed="rId2"/>
          <a:stretch>
            <a:fillRect/>
          </a:stretch>
        </p:blipFill>
        <p:spPr>
          <a:xfrm>
            <a:off x="5301497" y="1020341"/>
            <a:ext cx="2396946" cy="232189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图片 6"/>
          <p:cNvPicPr>
            <a:picLocks noChangeAspect="1"/>
          </p:cNvPicPr>
          <p:nvPr/>
        </p:nvPicPr>
        <p:blipFill>
          <a:blip r:embed="rId3"/>
          <a:stretch>
            <a:fillRect/>
          </a:stretch>
        </p:blipFill>
        <p:spPr>
          <a:xfrm>
            <a:off x="5159308" y="3938435"/>
            <a:ext cx="2229464" cy="2577019"/>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1426960" y="4369384"/>
                <a:ext cx="227806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Calibri" panose="020F0502020204030204"/>
                    <a:ea typeface="宋体" panose="02010600030101010101" pitchFamily="2" charset="-122"/>
                    <a:cs typeface="+mn-cs"/>
                  </a:rPr>
                  <a:t>光源位置</a:t>
                </a:r>
                <a:r>
                  <a:rPr kumimoji="0" lang="zh-CN" altLang="en-US" sz="1800" b="0" i="0" u="none" strike="noStrike" kern="1200" cap="none" spc="0" normalizeH="0" baseline="0" noProof="0" dirty="0" smtClean="0">
                    <a:ln>
                      <a:noFill/>
                    </a:ln>
                    <a:solidFill>
                      <a:prstClr val="black"/>
                    </a:solidFill>
                    <a:effectLst/>
                    <a:uLnTx/>
                    <a:uFillTx/>
                    <a:latin typeface="Calibri" panose="020F0502020204030204"/>
                    <a:ea typeface="宋体" panose="02010600030101010101" pitchFamily="2" charset="-122"/>
                    <a:cs typeface="+mn-cs"/>
                    <a:sym typeface="Wingdings"/>
                  </a:rPr>
                  <a:t>：</a:t>
                </a:r>
                <a14:m>
                  <m:oMath xmlns:m="http://schemas.openxmlformats.org/officeDocument/2006/math">
                    <m:d>
                      <m:dPr>
                        <m:ctrlPr>
                          <a:rPr kumimoji="0" lang="mr-IN" altLang="zh-CN" sz="1800" b="0" i="1" u="none" strike="noStrike" kern="1200" cap="none" spc="0" normalizeH="0" baseline="0" noProof="0" smtClean="0">
                            <a:ln>
                              <a:noFill/>
                            </a:ln>
                            <a:solidFill>
                              <a:prstClr val="black"/>
                            </a:solidFill>
                            <a:effectLst/>
                            <a:uLnTx/>
                            <a:uFillTx/>
                            <a:latin typeface="Cambria Math" panose="02040503050406030204" pitchFamily="18" charset="0"/>
                            <a:sym typeface="Wingdings"/>
                          </a:rPr>
                        </m:ctrlPr>
                      </m:dPr>
                      <m:e>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sym typeface="Wingdings"/>
                              </a:rPr>
                            </m:ctrlPr>
                          </m:sSubPr>
                          <m:e>
                            <m:r>
                              <a:rPr kumimoji="0" lang="en-US" altLang="zh-CN" sz="1800" b="0" i="1" u="none" strike="noStrike" kern="1200" cap="none" spc="0" normalizeH="0" baseline="0" noProof="0" smtClean="0">
                                <a:ln>
                                  <a:noFill/>
                                </a:ln>
                                <a:solidFill>
                                  <a:prstClr val="black"/>
                                </a:solidFill>
                                <a:effectLst/>
                                <a:uLnTx/>
                                <a:uFillTx/>
                                <a:latin typeface="Cambria Math" charset="0"/>
                                <a:cs typeface="+mn-cs"/>
                                <a:sym typeface="Wingdings"/>
                              </a:rPr>
                              <m:t>𝑥</m:t>
                            </m:r>
                          </m:e>
                          <m:sub>
                            <m:r>
                              <a:rPr kumimoji="0" lang="en-US" altLang="zh-CN" sz="1800" b="0" i="1" u="none" strike="noStrike" kern="1200" cap="none" spc="0" normalizeH="0" baseline="0" noProof="0" smtClean="0">
                                <a:ln>
                                  <a:noFill/>
                                </a:ln>
                                <a:solidFill>
                                  <a:prstClr val="black"/>
                                </a:solidFill>
                                <a:effectLst/>
                                <a:uLnTx/>
                                <a:uFillTx/>
                                <a:latin typeface="Cambria Math" charset="0"/>
                                <a:cs typeface="+mn-cs"/>
                                <a:sym typeface="Wingdings"/>
                              </a:rPr>
                              <m:t>𝑙</m:t>
                            </m:r>
                          </m:sub>
                        </m:sSub>
                        <m:r>
                          <a:rPr kumimoji="0" lang="en-US" altLang="zh-CN" sz="1800" b="0" i="1" u="none" strike="noStrike" kern="1200" cap="none" spc="0" normalizeH="0" baseline="0" noProof="0" smtClean="0">
                            <a:ln>
                              <a:noFill/>
                            </a:ln>
                            <a:solidFill>
                              <a:prstClr val="black"/>
                            </a:solidFill>
                            <a:effectLst/>
                            <a:uLnTx/>
                            <a:uFillTx/>
                            <a:latin typeface="Cambria Math" charset="0"/>
                            <a:cs typeface="+mn-cs"/>
                            <a:sym typeface="Wingdings"/>
                          </a:rPr>
                          <m:t>,</m:t>
                        </m:r>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sym typeface="Wingdings"/>
                              </a:rPr>
                            </m:ctrlPr>
                          </m:sSubPr>
                          <m:e>
                            <m:r>
                              <a:rPr kumimoji="0" lang="en-US" altLang="zh-CN" sz="1800" b="0" i="1" u="none" strike="noStrike" kern="1200" cap="none" spc="0" normalizeH="0" baseline="0" noProof="0" smtClean="0">
                                <a:ln>
                                  <a:noFill/>
                                </a:ln>
                                <a:solidFill>
                                  <a:prstClr val="black"/>
                                </a:solidFill>
                                <a:effectLst/>
                                <a:uLnTx/>
                                <a:uFillTx/>
                                <a:latin typeface="Cambria Math" charset="0"/>
                                <a:cs typeface="+mn-cs"/>
                                <a:sym typeface="Wingdings"/>
                              </a:rPr>
                              <m:t>𝑦</m:t>
                            </m:r>
                          </m:e>
                          <m:sub>
                            <m:r>
                              <a:rPr kumimoji="0" lang="en-US" altLang="zh-CN" sz="1800" b="0" i="1" u="none" strike="noStrike" kern="1200" cap="none" spc="0" normalizeH="0" baseline="0" noProof="0" smtClean="0">
                                <a:ln>
                                  <a:noFill/>
                                </a:ln>
                                <a:solidFill>
                                  <a:prstClr val="black"/>
                                </a:solidFill>
                                <a:effectLst/>
                                <a:uLnTx/>
                                <a:uFillTx/>
                                <a:latin typeface="Cambria Math" charset="0"/>
                                <a:cs typeface="+mn-cs"/>
                                <a:sym typeface="Wingdings"/>
                              </a:rPr>
                              <m:t>𝑙</m:t>
                            </m:r>
                          </m:sub>
                        </m:sSub>
                        <m:r>
                          <a:rPr kumimoji="0" lang="en-US" altLang="zh-CN" sz="1800" b="0" i="1" u="none" strike="noStrike" kern="1200" cap="none" spc="0" normalizeH="0" baseline="0" noProof="0" smtClean="0">
                            <a:ln>
                              <a:noFill/>
                            </a:ln>
                            <a:solidFill>
                              <a:prstClr val="black"/>
                            </a:solidFill>
                            <a:effectLst/>
                            <a:uLnTx/>
                            <a:uFillTx/>
                            <a:latin typeface="Cambria Math" charset="0"/>
                            <a:cs typeface="+mn-cs"/>
                            <a:sym typeface="Wingdings"/>
                          </a:rPr>
                          <m:t>,</m:t>
                        </m:r>
                        <m:r>
                          <a:rPr kumimoji="0" lang="zh-CN" altLang="en-US" sz="1800" b="0" i="1" u="none" strike="noStrike" kern="1200" cap="none" spc="0" normalizeH="0" baseline="0" noProof="0" smtClean="0">
                            <a:ln>
                              <a:noFill/>
                            </a:ln>
                            <a:solidFill>
                              <a:prstClr val="black"/>
                            </a:solidFill>
                            <a:effectLst/>
                            <a:uLnTx/>
                            <a:uFillTx/>
                            <a:latin typeface="Cambria Math" charset="0"/>
                            <a:cs typeface="+mn-cs"/>
                            <a:sym typeface="Wingdings"/>
                          </a:rPr>
                          <m:t> </m:t>
                        </m:r>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sym typeface="Wingdings"/>
                              </a:rPr>
                            </m:ctrlPr>
                          </m:sSubPr>
                          <m:e>
                            <m:r>
                              <a:rPr kumimoji="0" lang="en-US" altLang="zh-CN" sz="1800" b="0" i="1" u="none" strike="noStrike" kern="1200" cap="none" spc="0" normalizeH="0" baseline="0" noProof="0" smtClean="0">
                                <a:ln>
                                  <a:noFill/>
                                </a:ln>
                                <a:solidFill>
                                  <a:prstClr val="black"/>
                                </a:solidFill>
                                <a:effectLst/>
                                <a:uLnTx/>
                                <a:uFillTx/>
                                <a:latin typeface="Cambria Math" charset="0"/>
                                <a:cs typeface="+mn-cs"/>
                                <a:sym typeface="Wingdings"/>
                              </a:rPr>
                              <m:t>𝑧</m:t>
                            </m:r>
                          </m:e>
                          <m:sub>
                            <m:r>
                              <a:rPr kumimoji="0" lang="en-US" altLang="zh-CN" sz="1800" b="0" i="1" u="none" strike="noStrike" kern="1200" cap="none" spc="0" normalizeH="0" baseline="0" noProof="0" smtClean="0">
                                <a:ln>
                                  <a:noFill/>
                                </a:ln>
                                <a:solidFill>
                                  <a:prstClr val="black"/>
                                </a:solidFill>
                                <a:effectLst/>
                                <a:uLnTx/>
                                <a:uFillTx/>
                                <a:latin typeface="Cambria Math" charset="0"/>
                                <a:cs typeface="+mn-cs"/>
                                <a:sym typeface="Wingdings"/>
                              </a:rPr>
                              <m:t>𝑙</m:t>
                            </m:r>
                          </m:sub>
                        </m:sSub>
                      </m:e>
                    </m:d>
                  </m:oMath>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1426960" y="4369384"/>
                <a:ext cx="2278060" cy="369332"/>
              </a:xfrm>
              <a:prstGeom prst="rect">
                <a:avLst/>
              </a:prstGeom>
              <a:blipFill rotWithShape="0">
                <a:blip r:embed="rId4"/>
                <a:stretch>
                  <a:fillRect l="-2139" t="-15000" b="-21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426960" y="4913556"/>
                <a:ext cx="19022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Calibri" panose="020F0502020204030204"/>
                    <a:ea typeface="宋体" panose="02010600030101010101" pitchFamily="2" charset="-122"/>
                    <a:cs typeface="+mn-cs"/>
                    <a:sym typeface="Wingdings"/>
                  </a:rPr>
                  <a:t>投影平面：</a:t>
                </a:r>
                <a14:m>
                  <m:oMath xmlns:m="http://schemas.openxmlformats.org/officeDocument/2006/math">
                    <m:r>
                      <a:rPr kumimoji="0" lang="en-US" altLang="zh-CN" sz="1800" b="0" i="1" u="none" strike="noStrike" kern="1200" cap="none" spc="0" normalizeH="0" baseline="0" noProof="0" dirty="0" smtClean="0">
                        <a:ln>
                          <a:noFill/>
                        </a:ln>
                        <a:solidFill>
                          <a:prstClr val="black"/>
                        </a:solidFill>
                        <a:effectLst/>
                        <a:uLnTx/>
                        <a:uFillTx/>
                        <a:latin typeface="Cambria Math" charset="0"/>
                        <a:cs typeface="+mn-cs"/>
                        <a:sym typeface="Wingdings"/>
                      </a:rPr>
                      <m:t>𝑦</m:t>
                    </m:r>
                    <m:r>
                      <a:rPr kumimoji="0" lang="en-US" altLang="zh-CN" sz="1800" b="0" i="1" u="none" strike="noStrike" kern="1200" cap="none" spc="0" normalizeH="0" baseline="0" noProof="0" dirty="0" smtClean="0">
                        <a:ln>
                          <a:noFill/>
                        </a:ln>
                        <a:solidFill>
                          <a:prstClr val="black"/>
                        </a:solidFill>
                        <a:effectLst/>
                        <a:uLnTx/>
                        <a:uFillTx/>
                        <a:latin typeface="Cambria Math" charset="0"/>
                        <a:cs typeface="+mn-cs"/>
                        <a:sym typeface="Wingdings"/>
                      </a:rPr>
                      <m:t>=0</m:t>
                    </m:r>
                  </m:oMath>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426960" y="4913556"/>
                <a:ext cx="1902252" cy="369332"/>
              </a:xfrm>
              <a:prstGeom prst="rect">
                <a:avLst/>
              </a:prstGeom>
              <a:blipFill rotWithShape="0">
                <a:blip r:embed="rId5"/>
                <a:stretch>
                  <a:fillRect l="-2564" t="-13115" b="-196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7080694" y="4559918"/>
                <a:ext cx="141096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Calibri" panose="020F0502020204030204"/>
                    <a:ea typeface="宋体" panose="02010600030101010101" pitchFamily="2" charset="-122"/>
                    <a:cs typeface="+mn-cs"/>
                  </a:rPr>
                  <a:t>阴影</a:t>
                </a:r>
                <a14:m>
                  <m:oMath xmlns:m="http://schemas.openxmlformats.org/officeDocument/2006/math">
                    <m:r>
                      <a:rPr kumimoji="0" lang="zh-CN" altLang="en-US" sz="1800" b="0" i="1" u="none" strike="noStrike" kern="1200" cap="none" spc="0" normalizeH="0" baseline="0" noProof="0" smtClean="0">
                        <a:ln>
                          <a:noFill/>
                        </a:ln>
                        <a:solidFill>
                          <a:prstClr val="black"/>
                        </a:solidFill>
                        <a:effectLst/>
                        <a:uLnTx/>
                        <a:uFillTx/>
                        <a:latin typeface="Cambria Math" charset="0"/>
                        <a:ea typeface="Cambria Math" charset="0"/>
                        <a:cs typeface="Cambria Math" charset="0"/>
                      </a:rPr>
                      <m:t>⇔</m:t>
                    </m:r>
                    <m:r>
                      <m:rPr>
                        <m:nor/>
                      </m:rPr>
                      <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m:t>透视</m:t>
                    </m:r>
                  </m:oMath>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7080694" y="4559918"/>
                <a:ext cx="1410964" cy="369332"/>
              </a:xfrm>
              <a:prstGeom prst="rect">
                <a:avLst/>
              </a:prstGeom>
              <a:blipFill rotWithShape="0">
                <a:blip r:embed="rId6"/>
                <a:stretch>
                  <a:fillRect l="-3896" t="-13115" r="-866" b="-19672"/>
                </a:stretch>
              </a:blipFill>
            </p:spPr>
            <p:txBody>
              <a:bodyPr/>
              <a:lstStyle/>
              <a:p>
                <a:r>
                  <a:rPr lang="en-US">
                    <a:noFill/>
                  </a:rPr>
                  <a:t> </a:t>
                </a:r>
              </a:p>
            </p:txBody>
          </p:sp>
        </mc:Fallback>
      </mc:AlternateContent>
    </p:spTree>
    <p:extLst>
      <p:ext uri="{BB962C8B-B14F-4D97-AF65-F5344CB8AC3E}">
        <p14:creationId xmlns:p14="http://schemas.microsoft.com/office/powerpoint/2010/main" val="240239880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p:cNvSpPr txBox="1"/>
              <p:nvPr/>
            </p:nvSpPr>
            <p:spPr>
              <a:xfrm>
                <a:off x="1021496" y="4120326"/>
                <a:ext cx="4440767" cy="2585323"/>
              </a:xfrm>
              <a:prstGeom prst="rect">
                <a:avLst/>
              </a:prstGeom>
              <a:noFill/>
            </p:spPr>
            <p:txBody>
              <a:bodyPr wrap="none" rtlCol="0">
                <a:spAutoFit/>
              </a:bodyPr>
              <a:lstStyle/>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zh-CN" altLang="en-US" sz="1800" b="0" i="0" u="none" strike="noStrike" kern="1200" cap="none" spc="0" normalizeH="0" baseline="0" noProof="0" dirty="0" smtClean="0">
                    <a:ln>
                      <a:noFill/>
                    </a:ln>
                    <a:solidFill>
                      <a:prstClr val="black"/>
                    </a:solidFill>
                    <a:effectLst/>
                    <a:uLnTx/>
                    <a:uFillTx/>
                    <a:latin typeface="Calibri" panose="020F0502020204030204"/>
                    <a:ea typeface="宋体" panose="02010600030101010101" pitchFamily="2" charset="-122"/>
                    <a:cs typeface="+mn-cs"/>
                  </a:rPr>
                  <a:t>将</a:t>
                </a:r>
                <a:r>
                  <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投影</a:t>
                </a:r>
                <a:r>
                  <a:rPr kumimoji="0" lang="zh-CN" altLang="en-US" sz="1800" b="0" i="0" u="none" strike="noStrike" kern="1200" cap="none" spc="0" normalizeH="0" baseline="0" noProof="0" dirty="0" smtClean="0">
                    <a:ln>
                      <a:noFill/>
                    </a:ln>
                    <a:solidFill>
                      <a:prstClr val="black"/>
                    </a:solidFill>
                    <a:effectLst/>
                    <a:uLnTx/>
                    <a:uFillTx/>
                    <a:latin typeface="Calibri" panose="020F0502020204030204"/>
                    <a:ea typeface="宋体" panose="02010600030101010101" pitchFamily="2" charset="-122"/>
                    <a:cs typeface="+mn-cs"/>
                  </a:rPr>
                  <a:t>中心移至原点：</a:t>
                </a:r>
                <a14:m>
                  <m:oMath xmlns:m="http://schemas.openxmlformats.org/officeDocument/2006/math">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𝑇</m:t>
                    </m:r>
                    <m:d>
                      <m:dPr>
                        <m:ctrlPr>
                          <a:rPr kumimoji="0" lang="mr-IN" altLang="zh-CN" sz="1800" b="0" i="1" u="none" strike="noStrike" kern="1200" cap="none" spc="0" normalizeH="0" baseline="0" noProof="0" smtClean="0">
                            <a:ln>
                              <a:noFill/>
                            </a:ln>
                            <a:solidFill>
                              <a:prstClr val="black"/>
                            </a:solidFill>
                            <a:effectLst/>
                            <a:uLnTx/>
                            <a:uFillTx/>
                            <a:latin typeface="Cambria Math" panose="02040503050406030204" pitchFamily="18" charset="0"/>
                          </a:rPr>
                        </m:ctrlPr>
                      </m:dPr>
                      <m:e>
                        <m:sSub>
                          <m:sSub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sym typeface="Wingdings"/>
                              </a:rPr>
                            </m:ctrlPr>
                          </m:sSubPr>
                          <m:e>
                            <m:r>
                              <a:rPr kumimoji="0" lang="en-US" altLang="zh-CN" sz="1800" b="0" i="1" u="none" strike="noStrike" kern="1200" cap="none" spc="0" normalizeH="0" baseline="0" noProof="0" smtClean="0">
                                <a:ln>
                                  <a:noFill/>
                                </a:ln>
                                <a:solidFill>
                                  <a:prstClr val="black"/>
                                </a:solidFill>
                                <a:effectLst/>
                                <a:uLnTx/>
                                <a:uFillTx/>
                                <a:latin typeface="Cambria Math" charset="0"/>
                                <a:cs typeface="+mn-cs"/>
                                <a:sym typeface="Wingdings"/>
                              </a:rPr>
                              <m:t>−</m:t>
                            </m:r>
                            <m:r>
                              <a:rPr kumimoji="0" lang="en-US" altLang="zh-CN" sz="1800" b="0" i="1" u="none" strike="noStrike" kern="1200" cap="none" spc="0" normalizeH="0" baseline="0" noProof="0">
                                <a:ln>
                                  <a:noFill/>
                                </a:ln>
                                <a:solidFill>
                                  <a:prstClr val="black"/>
                                </a:solidFill>
                                <a:effectLst/>
                                <a:uLnTx/>
                                <a:uFillTx/>
                                <a:latin typeface="Cambria Math" charset="0"/>
                                <a:cs typeface="+mn-cs"/>
                                <a:sym typeface="Wingdings"/>
                              </a:rPr>
                              <m:t>𝑥</m:t>
                            </m:r>
                          </m:e>
                          <m:sub>
                            <m:r>
                              <a:rPr kumimoji="0" lang="en-US" altLang="zh-CN" sz="1800" b="0" i="1" u="none" strike="noStrike" kern="1200" cap="none" spc="0" normalizeH="0" baseline="0" noProof="0">
                                <a:ln>
                                  <a:noFill/>
                                </a:ln>
                                <a:solidFill>
                                  <a:prstClr val="black"/>
                                </a:solidFill>
                                <a:effectLst/>
                                <a:uLnTx/>
                                <a:uFillTx/>
                                <a:latin typeface="Cambria Math" charset="0"/>
                                <a:cs typeface="+mn-cs"/>
                                <a:sym typeface="Wingdings"/>
                              </a:rPr>
                              <m:t>𝑙</m:t>
                            </m:r>
                          </m:sub>
                        </m:sSub>
                        <m:r>
                          <a:rPr kumimoji="0" lang="en-US" altLang="zh-CN" sz="1800" b="0" i="1" u="none" strike="noStrike" kern="1200" cap="none" spc="0" normalizeH="0" baseline="0" noProof="0">
                            <a:ln>
                              <a:noFill/>
                            </a:ln>
                            <a:solidFill>
                              <a:prstClr val="black"/>
                            </a:solidFill>
                            <a:effectLst/>
                            <a:uLnTx/>
                            <a:uFillTx/>
                            <a:latin typeface="Cambria Math" charset="0"/>
                            <a:cs typeface="+mn-cs"/>
                            <a:sym typeface="Wingding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sym typeface="Wingdings"/>
                          </a:rPr>
                          <m:t>−</m:t>
                        </m:r>
                        <m:sSub>
                          <m:sSub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sym typeface="Wingdings"/>
                              </a:rPr>
                            </m:ctrlPr>
                          </m:sSubPr>
                          <m:e>
                            <m:r>
                              <a:rPr kumimoji="0" lang="en-US" altLang="zh-CN" sz="1800" b="0" i="1" u="none" strike="noStrike" kern="1200" cap="none" spc="0" normalizeH="0" baseline="0" noProof="0">
                                <a:ln>
                                  <a:noFill/>
                                </a:ln>
                                <a:solidFill>
                                  <a:prstClr val="black"/>
                                </a:solidFill>
                                <a:effectLst/>
                                <a:uLnTx/>
                                <a:uFillTx/>
                                <a:latin typeface="Cambria Math" charset="0"/>
                                <a:cs typeface="+mn-cs"/>
                                <a:sym typeface="Wingdings"/>
                              </a:rPr>
                              <m:t>𝑦</m:t>
                            </m:r>
                          </m:e>
                          <m:sub>
                            <m:r>
                              <a:rPr kumimoji="0" lang="en-US" altLang="zh-CN" sz="1800" b="0" i="1" u="none" strike="noStrike" kern="1200" cap="none" spc="0" normalizeH="0" baseline="0" noProof="0">
                                <a:ln>
                                  <a:noFill/>
                                </a:ln>
                                <a:solidFill>
                                  <a:prstClr val="black"/>
                                </a:solidFill>
                                <a:effectLst/>
                                <a:uLnTx/>
                                <a:uFillTx/>
                                <a:latin typeface="Cambria Math" charset="0"/>
                                <a:cs typeface="+mn-cs"/>
                                <a:sym typeface="Wingdings"/>
                              </a:rPr>
                              <m:t>𝑙</m:t>
                            </m:r>
                          </m:sub>
                        </m:sSub>
                        <m:r>
                          <a:rPr kumimoji="0" lang="en-US" altLang="zh-CN" sz="1800" b="0" i="1" u="none" strike="noStrike" kern="1200" cap="none" spc="0" normalizeH="0" baseline="0" noProof="0">
                            <a:ln>
                              <a:noFill/>
                            </a:ln>
                            <a:solidFill>
                              <a:prstClr val="black"/>
                            </a:solidFill>
                            <a:effectLst/>
                            <a:uLnTx/>
                            <a:uFillTx/>
                            <a:latin typeface="Cambria Math" charset="0"/>
                            <a:cs typeface="+mn-cs"/>
                            <a:sym typeface="Wingdings"/>
                          </a:rPr>
                          <m:t>,</m:t>
                        </m:r>
                        <m:r>
                          <a:rPr kumimoji="0" lang="zh-CN" altLang="en-US" sz="1800" b="0" i="1" u="none" strike="noStrike" kern="1200" cap="none" spc="0" normalizeH="0" baseline="0" noProof="0">
                            <a:ln>
                              <a:noFill/>
                            </a:ln>
                            <a:solidFill>
                              <a:prstClr val="black"/>
                            </a:solidFill>
                            <a:effectLst/>
                            <a:uLnTx/>
                            <a:uFillTx/>
                            <a:latin typeface="Cambria Math" charset="0"/>
                            <a:cs typeface="+mn-cs"/>
                            <a:sym typeface="Wingdings"/>
                          </a:rPr>
                          <m:t> </m:t>
                        </m:r>
                        <m:sSub>
                          <m:sSub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sym typeface="Wingdings"/>
                              </a:rPr>
                            </m:ctrlPr>
                          </m:sSubPr>
                          <m:e>
                            <m:r>
                              <a:rPr kumimoji="0" lang="en-US" altLang="zh-CN" sz="1800" b="0" i="1" u="none" strike="noStrike" kern="1200" cap="none" spc="0" normalizeH="0" baseline="0" noProof="0" smtClean="0">
                                <a:ln>
                                  <a:noFill/>
                                </a:ln>
                                <a:solidFill>
                                  <a:prstClr val="black"/>
                                </a:solidFill>
                                <a:effectLst/>
                                <a:uLnTx/>
                                <a:uFillTx/>
                                <a:latin typeface="Cambria Math" charset="0"/>
                                <a:cs typeface="+mn-cs"/>
                                <a:sym typeface="Wingdings"/>
                              </a:rPr>
                              <m:t>−</m:t>
                            </m:r>
                            <m:r>
                              <a:rPr kumimoji="0" lang="en-US" altLang="zh-CN" sz="1800" b="0" i="1" u="none" strike="noStrike" kern="1200" cap="none" spc="0" normalizeH="0" baseline="0" noProof="0">
                                <a:ln>
                                  <a:noFill/>
                                </a:ln>
                                <a:solidFill>
                                  <a:prstClr val="black"/>
                                </a:solidFill>
                                <a:effectLst/>
                                <a:uLnTx/>
                                <a:uFillTx/>
                                <a:latin typeface="Cambria Math" charset="0"/>
                                <a:cs typeface="+mn-cs"/>
                                <a:sym typeface="Wingdings"/>
                              </a:rPr>
                              <m:t>𝑧</m:t>
                            </m:r>
                          </m:e>
                          <m:sub>
                            <m:r>
                              <a:rPr kumimoji="0" lang="en-US" altLang="zh-CN" sz="1800" b="0" i="1" u="none" strike="noStrike" kern="1200" cap="none" spc="0" normalizeH="0" baseline="0" noProof="0">
                                <a:ln>
                                  <a:noFill/>
                                </a:ln>
                                <a:solidFill>
                                  <a:prstClr val="black"/>
                                </a:solidFill>
                                <a:effectLst/>
                                <a:uLnTx/>
                                <a:uFillTx/>
                                <a:latin typeface="Cambria Math" charset="0"/>
                                <a:cs typeface="+mn-cs"/>
                                <a:sym typeface="Wingdings"/>
                              </a:rPr>
                              <m:t>𝑙</m:t>
                            </m:r>
                          </m:sub>
                        </m:sSub>
                      </m:e>
                    </m:d>
                  </m:oMath>
                </a14:m>
                <a:endParaRPr kumimoji="0" lang="en-US" altLang="zh-CN" sz="1800" b="0" i="0" u="none" strike="noStrike" kern="1200" cap="none" spc="0" normalizeH="0" baseline="0" noProof="0" dirty="0" smtClean="0">
                  <a:ln>
                    <a:noFill/>
                  </a:ln>
                  <a:solidFill>
                    <a:prstClr val="black"/>
                  </a:solidFill>
                  <a:effectLst/>
                  <a:uLnTx/>
                  <a:uFillTx/>
                  <a:latin typeface="Calibri" panose="020F0502020204030204"/>
                  <a:ea typeface="宋体" panose="02010600030101010101" pitchFamily="2" charset="-122"/>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zh-CN" altLang="en-US" sz="1800" b="0" i="0" u="none" strike="noStrike" kern="1200" cap="none" spc="0" normalizeH="0" baseline="0" noProof="0" dirty="0" smtClean="0">
                    <a:ln>
                      <a:noFill/>
                    </a:ln>
                    <a:solidFill>
                      <a:prstClr val="black"/>
                    </a:solidFill>
                    <a:effectLst/>
                    <a:uLnTx/>
                    <a:uFillTx/>
                    <a:latin typeface="Calibri" panose="020F0502020204030204"/>
                    <a:ea typeface="宋体" panose="02010600030101010101" pitchFamily="2" charset="-122"/>
                    <a:cs typeface="+mn-cs"/>
                  </a:rPr>
                  <a:t>投影至平面</a:t>
                </a:r>
                <a14:m>
                  <m:oMath xmlns:m="http://schemas.openxmlformats.org/officeDocument/2006/math">
                    <m:r>
                      <a:rPr kumimoji="0" lang="en-US" altLang="zh-CN" sz="1800" b="0" i="1" u="none" strike="noStrike" kern="1200" cap="none" spc="0" normalizeH="0" baseline="0" noProof="0" dirty="0">
                        <a:ln>
                          <a:noFill/>
                        </a:ln>
                        <a:solidFill>
                          <a:prstClr val="black"/>
                        </a:solidFill>
                        <a:effectLst/>
                        <a:uLnTx/>
                        <a:uFillTx/>
                        <a:latin typeface="Cambria Math" charset="0"/>
                        <a:cs typeface="+mn-cs"/>
                        <a:sym typeface="Wingdings"/>
                      </a:rPr>
                      <m:t>𝑦</m:t>
                    </m:r>
                    <m:r>
                      <a:rPr kumimoji="0" lang="en-US" altLang="zh-CN" sz="1800" b="0" i="1" u="none" strike="noStrike" kern="1200" cap="none" spc="0" normalizeH="0" baseline="0" noProof="0" dirty="0">
                        <a:ln>
                          <a:noFill/>
                        </a:ln>
                        <a:solidFill>
                          <a:prstClr val="black"/>
                        </a:solidFill>
                        <a:effectLst/>
                        <a:uLnTx/>
                        <a:uFillTx/>
                        <a:latin typeface="Cambria Math" charset="0"/>
                        <a:cs typeface="+mn-cs"/>
                        <a:sym typeface="Wingdings"/>
                      </a:rPr>
                      <m:t>=−</m:t>
                    </m:r>
                    <m:sSub>
                      <m:sSub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sym typeface="Wingdings"/>
                          </a:rPr>
                        </m:ctrlPr>
                      </m:sSubPr>
                      <m:e>
                        <m:r>
                          <a:rPr kumimoji="0" lang="en-US" altLang="zh-CN" sz="1800" b="0" i="1" u="none" strike="noStrike" kern="1200" cap="none" spc="0" normalizeH="0" baseline="0" noProof="0">
                            <a:ln>
                              <a:noFill/>
                            </a:ln>
                            <a:solidFill>
                              <a:prstClr val="black"/>
                            </a:solidFill>
                            <a:effectLst/>
                            <a:uLnTx/>
                            <a:uFillTx/>
                            <a:latin typeface="Cambria Math" charset="0"/>
                            <a:cs typeface="+mn-cs"/>
                            <a:sym typeface="Wingdings"/>
                          </a:rPr>
                          <m:t>𝑦</m:t>
                        </m:r>
                      </m:e>
                      <m:sub>
                        <m:r>
                          <a:rPr kumimoji="0" lang="en-US" altLang="zh-CN" sz="1800" b="0" i="1" u="none" strike="noStrike" kern="1200" cap="none" spc="0" normalizeH="0" baseline="0" noProof="0">
                            <a:ln>
                              <a:noFill/>
                            </a:ln>
                            <a:solidFill>
                              <a:prstClr val="black"/>
                            </a:solidFill>
                            <a:effectLst/>
                            <a:uLnTx/>
                            <a:uFillTx/>
                            <a:latin typeface="Cambria Math" charset="0"/>
                            <a:cs typeface="+mn-cs"/>
                            <a:sym typeface="Wingdings"/>
                          </a:rPr>
                          <m:t>𝑙</m:t>
                        </m:r>
                      </m:sub>
                    </m:sSub>
                  </m:oMath>
                </a14:m>
                <a:r>
                  <a:rPr kumimoji="0" lang="en-US" altLang="zh-CN" sz="1800" b="0" i="0" u="none" strike="noStrike" kern="1200" cap="none" spc="0" normalizeH="0" baseline="0" noProof="0" dirty="0" smtClean="0">
                    <a:ln>
                      <a:noFill/>
                    </a:ln>
                    <a:solidFill>
                      <a:prstClr val="black"/>
                    </a:solidFill>
                    <a:effectLst/>
                    <a:uLnTx/>
                    <a:uFillTx/>
                    <a:latin typeface="Calibri" panose="020F0502020204030204"/>
                    <a:ea typeface="宋体" panose="02010600030101010101" pitchFamily="2" charset="-122"/>
                    <a:cs typeface="+mn-cs"/>
                  </a:rPr>
                  <a:t>:</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smtClean="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smtClean="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US" altLang="zh-CN" sz="1800" b="0" i="0" u="none" strike="noStrike" kern="1200" cap="none" spc="0" normalizeH="0" baseline="0" noProof="0" dirty="0" smtClean="0">
                  <a:ln>
                    <a:noFill/>
                  </a:ln>
                  <a:solidFill>
                    <a:prstClr val="black"/>
                  </a:solidFill>
                  <a:effectLst/>
                  <a:uLnTx/>
                  <a:uFillTx/>
                  <a:latin typeface="Calibri" panose="020F0502020204030204"/>
                  <a:ea typeface="宋体" panose="02010600030101010101" pitchFamily="2" charset="-122"/>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US" altLang="zh-CN" sz="1800" b="0" i="0" u="none" strike="noStrike" kern="1200" cap="none" spc="0" normalizeH="0" baseline="0" noProof="0" dirty="0" smtClean="0">
                  <a:ln>
                    <a:noFill/>
                  </a:ln>
                  <a:solidFill>
                    <a:prstClr val="black"/>
                  </a:solidFill>
                  <a:effectLst/>
                  <a:uLnTx/>
                  <a:uFillTx/>
                  <a:latin typeface="Calibri" panose="020F0502020204030204"/>
                  <a:ea typeface="宋体" panose="02010600030101010101" pitchFamily="2" charset="-122"/>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zh-CN" altLang="en-US" sz="1800" b="0" i="0" u="none" strike="noStrike" kern="1200" cap="none" spc="0" normalizeH="0" baseline="0" noProof="0" dirty="0" smtClean="0">
                    <a:ln>
                      <a:noFill/>
                    </a:ln>
                    <a:solidFill>
                      <a:prstClr val="black"/>
                    </a:solidFill>
                    <a:effectLst/>
                    <a:uLnTx/>
                    <a:uFillTx/>
                    <a:latin typeface="Calibri" panose="020F0502020204030204"/>
                    <a:ea typeface="宋体" panose="02010600030101010101" pitchFamily="2" charset="-122"/>
                    <a:cs typeface="+mn-cs"/>
                  </a:rPr>
                  <a:t>将投影中心移回</a:t>
                </a:r>
                <a14:m>
                  <m:oMath xmlns:m="http://schemas.openxmlformats.org/officeDocument/2006/math">
                    <m:d>
                      <m:dPr>
                        <m:ctrlPr>
                          <a:rPr kumimoji="0" lang="mr-IN" altLang="zh-CN" sz="1800" b="0" i="1" u="none" strike="noStrike" kern="1200" cap="none" spc="0" normalizeH="0" baseline="0" noProof="0">
                            <a:ln>
                              <a:noFill/>
                            </a:ln>
                            <a:solidFill>
                              <a:prstClr val="black"/>
                            </a:solidFill>
                            <a:effectLst/>
                            <a:uLnTx/>
                            <a:uFillTx/>
                            <a:latin typeface="Cambria Math" panose="02040503050406030204" pitchFamily="18" charset="0"/>
                            <a:sym typeface="Wingdings"/>
                          </a:rPr>
                        </m:ctrlPr>
                      </m:dPr>
                      <m:e>
                        <m:sSub>
                          <m:sSub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sym typeface="Wingdings"/>
                              </a:rPr>
                            </m:ctrlPr>
                          </m:sSubPr>
                          <m:e>
                            <m:r>
                              <a:rPr kumimoji="0" lang="en-US" altLang="zh-CN" sz="1800" b="0" i="1" u="none" strike="noStrike" kern="1200" cap="none" spc="0" normalizeH="0" baseline="0" noProof="0">
                                <a:ln>
                                  <a:noFill/>
                                </a:ln>
                                <a:solidFill>
                                  <a:prstClr val="black"/>
                                </a:solidFill>
                                <a:effectLst/>
                                <a:uLnTx/>
                                <a:uFillTx/>
                                <a:latin typeface="Cambria Math" charset="0"/>
                                <a:cs typeface="+mn-cs"/>
                                <a:sym typeface="Wingdings"/>
                              </a:rPr>
                              <m:t>𝑥</m:t>
                            </m:r>
                          </m:e>
                          <m:sub>
                            <m:r>
                              <a:rPr kumimoji="0" lang="en-US" altLang="zh-CN" sz="1800" b="0" i="1" u="none" strike="noStrike" kern="1200" cap="none" spc="0" normalizeH="0" baseline="0" noProof="0">
                                <a:ln>
                                  <a:noFill/>
                                </a:ln>
                                <a:solidFill>
                                  <a:prstClr val="black"/>
                                </a:solidFill>
                                <a:effectLst/>
                                <a:uLnTx/>
                                <a:uFillTx/>
                                <a:latin typeface="Cambria Math" charset="0"/>
                                <a:cs typeface="+mn-cs"/>
                                <a:sym typeface="Wingdings"/>
                              </a:rPr>
                              <m:t>𝑙</m:t>
                            </m:r>
                          </m:sub>
                        </m:sSub>
                        <m:r>
                          <a:rPr kumimoji="0" lang="en-US" altLang="zh-CN" sz="1800" b="0" i="1" u="none" strike="noStrike" kern="1200" cap="none" spc="0" normalizeH="0" baseline="0" noProof="0">
                            <a:ln>
                              <a:noFill/>
                            </a:ln>
                            <a:solidFill>
                              <a:prstClr val="black"/>
                            </a:solidFill>
                            <a:effectLst/>
                            <a:uLnTx/>
                            <a:uFillTx/>
                            <a:latin typeface="Cambria Math" charset="0"/>
                            <a:cs typeface="+mn-cs"/>
                            <a:sym typeface="Wingdings"/>
                          </a:rPr>
                          <m:t>,</m:t>
                        </m:r>
                        <m:sSub>
                          <m:sSub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sym typeface="Wingdings"/>
                              </a:rPr>
                            </m:ctrlPr>
                          </m:sSubPr>
                          <m:e>
                            <m:r>
                              <a:rPr kumimoji="0" lang="en-US" altLang="zh-CN" sz="1800" b="0" i="1" u="none" strike="noStrike" kern="1200" cap="none" spc="0" normalizeH="0" baseline="0" noProof="0">
                                <a:ln>
                                  <a:noFill/>
                                </a:ln>
                                <a:solidFill>
                                  <a:prstClr val="black"/>
                                </a:solidFill>
                                <a:effectLst/>
                                <a:uLnTx/>
                                <a:uFillTx/>
                                <a:latin typeface="Cambria Math" charset="0"/>
                                <a:cs typeface="+mn-cs"/>
                                <a:sym typeface="Wingdings"/>
                              </a:rPr>
                              <m:t>𝑦</m:t>
                            </m:r>
                          </m:e>
                          <m:sub>
                            <m:r>
                              <a:rPr kumimoji="0" lang="en-US" altLang="zh-CN" sz="1800" b="0" i="1" u="none" strike="noStrike" kern="1200" cap="none" spc="0" normalizeH="0" baseline="0" noProof="0">
                                <a:ln>
                                  <a:noFill/>
                                </a:ln>
                                <a:solidFill>
                                  <a:prstClr val="black"/>
                                </a:solidFill>
                                <a:effectLst/>
                                <a:uLnTx/>
                                <a:uFillTx/>
                                <a:latin typeface="Cambria Math" charset="0"/>
                                <a:cs typeface="+mn-cs"/>
                                <a:sym typeface="Wingdings"/>
                              </a:rPr>
                              <m:t>𝑙</m:t>
                            </m:r>
                          </m:sub>
                        </m:sSub>
                        <m:r>
                          <a:rPr kumimoji="0" lang="en-US" altLang="zh-CN" sz="1800" b="0" i="1" u="none" strike="noStrike" kern="1200" cap="none" spc="0" normalizeH="0" baseline="0" noProof="0">
                            <a:ln>
                              <a:noFill/>
                            </a:ln>
                            <a:solidFill>
                              <a:prstClr val="black"/>
                            </a:solidFill>
                            <a:effectLst/>
                            <a:uLnTx/>
                            <a:uFillTx/>
                            <a:latin typeface="Cambria Math" charset="0"/>
                            <a:cs typeface="+mn-cs"/>
                            <a:sym typeface="Wingdings"/>
                          </a:rPr>
                          <m:t>,</m:t>
                        </m:r>
                        <m:r>
                          <a:rPr kumimoji="0" lang="zh-CN" altLang="en-US" sz="1800" b="0" i="1" u="none" strike="noStrike" kern="1200" cap="none" spc="0" normalizeH="0" baseline="0" noProof="0">
                            <a:ln>
                              <a:noFill/>
                            </a:ln>
                            <a:solidFill>
                              <a:prstClr val="black"/>
                            </a:solidFill>
                            <a:effectLst/>
                            <a:uLnTx/>
                            <a:uFillTx/>
                            <a:latin typeface="Cambria Math" charset="0"/>
                            <a:cs typeface="+mn-cs"/>
                            <a:sym typeface="Wingdings"/>
                          </a:rPr>
                          <m:t> </m:t>
                        </m:r>
                        <m:sSub>
                          <m:sSub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sym typeface="Wingdings"/>
                              </a:rPr>
                            </m:ctrlPr>
                          </m:sSubPr>
                          <m:e>
                            <m:r>
                              <a:rPr kumimoji="0" lang="en-US" altLang="zh-CN" sz="1800" b="0" i="1" u="none" strike="noStrike" kern="1200" cap="none" spc="0" normalizeH="0" baseline="0" noProof="0">
                                <a:ln>
                                  <a:noFill/>
                                </a:ln>
                                <a:solidFill>
                                  <a:prstClr val="black"/>
                                </a:solidFill>
                                <a:effectLst/>
                                <a:uLnTx/>
                                <a:uFillTx/>
                                <a:latin typeface="Cambria Math" charset="0"/>
                                <a:cs typeface="+mn-cs"/>
                                <a:sym typeface="Wingdings"/>
                              </a:rPr>
                              <m:t>𝑧</m:t>
                            </m:r>
                          </m:e>
                          <m:sub>
                            <m:r>
                              <a:rPr kumimoji="0" lang="en-US" altLang="zh-CN" sz="1800" b="0" i="1" u="none" strike="noStrike" kern="1200" cap="none" spc="0" normalizeH="0" baseline="0" noProof="0">
                                <a:ln>
                                  <a:noFill/>
                                </a:ln>
                                <a:solidFill>
                                  <a:prstClr val="black"/>
                                </a:solidFill>
                                <a:effectLst/>
                                <a:uLnTx/>
                                <a:uFillTx/>
                                <a:latin typeface="Cambria Math" charset="0"/>
                                <a:cs typeface="+mn-cs"/>
                                <a:sym typeface="Wingdings"/>
                              </a:rPr>
                              <m:t>𝑙</m:t>
                            </m:r>
                          </m:sub>
                        </m:sSub>
                      </m:e>
                    </m:d>
                  </m:oMath>
                </a14:m>
                <a:r>
                  <a:rPr kumimoji="0" lang="en-US" altLang="zh-CN" sz="1800" b="0" i="0" u="none" strike="noStrike" kern="1200" cap="none" spc="0" normalizeH="0" baseline="0" noProof="0" dirty="0" smtClean="0">
                    <a:ln>
                      <a:noFill/>
                    </a:ln>
                    <a:solidFill>
                      <a:prstClr val="black"/>
                    </a:solidFill>
                    <a:effectLst/>
                    <a:uLnTx/>
                    <a:uFillTx/>
                    <a:latin typeface="Calibri" panose="020F0502020204030204"/>
                    <a:ea typeface="宋体" panose="02010600030101010101" pitchFamily="2" charset="-122"/>
                    <a:cs typeface="+mn-cs"/>
                  </a:rPr>
                  <a:t>:</a:t>
                </a:r>
                <a:r>
                  <a:rPr kumimoji="0"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 </a:t>
                </a:r>
                <a14:m>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charset="0"/>
                        <a:cs typeface="+mn-cs"/>
                      </a:rPr>
                      <m:t>𝑇</m:t>
                    </m:r>
                    <m:d>
                      <m:dPr>
                        <m:ctrlPr>
                          <a:rPr kumimoji="0" lang="mr-IN" altLang="zh-CN" sz="1800" b="0" i="1" u="none" strike="noStrike" kern="1200" cap="none" spc="0" normalizeH="0" baseline="0" noProof="0">
                            <a:ln>
                              <a:noFill/>
                            </a:ln>
                            <a:solidFill>
                              <a:prstClr val="black"/>
                            </a:solidFill>
                            <a:effectLst/>
                            <a:uLnTx/>
                            <a:uFillTx/>
                            <a:latin typeface="Cambria Math" panose="02040503050406030204" pitchFamily="18" charset="0"/>
                          </a:rPr>
                        </m:ctrlPr>
                      </m:dPr>
                      <m:e>
                        <m:sSub>
                          <m:sSub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sym typeface="Wingdings"/>
                              </a:rPr>
                            </m:ctrlPr>
                          </m:sSubPr>
                          <m:e>
                            <m:r>
                              <a:rPr kumimoji="0" lang="en-US" altLang="zh-CN" sz="1800" b="0" i="1" u="none" strike="noStrike" kern="1200" cap="none" spc="0" normalizeH="0" baseline="0" noProof="0">
                                <a:ln>
                                  <a:noFill/>
                                </a:ln>
                                <a:solidFill>
                                  <a:prstClr val="black"/>
                                </a:solidFill>
                                <a:effectLst/>
                                <a:uLnTx/>
                                <a:uFillTx/>
                                <a:latin typeface="Cambria Math" charset="0"/>
                                <a:cs typeface="+mn-cs"/>
                                <a:sym typeface="Wingdings"/>
                              </a:rPr>
                              <m:t>𝑥</m:t>
                            </m:r>
                          </m:e>
                          <m:sub>
                            <m:r>
                              <a:rPr kumimoji="0" lang="en-US" altLang="zh-CN" sz="1800" b="0" i="1" u="none" strike="noStrike" kern="1200" cap="none" spc="0" normalizeH="0" baseline="0" noProof="0">
                                <a:ln>
                                  <a:noFill/>
                                </a:ln>
                                <a:solidFill>
                                  <a:prstClr val="black"/>
                                </a:solidFill>
                                <a:effectLst/>
                                <a:uLnTx/>
                                <a:uFillTx/>
                                <a:latin typeface="Cambria Math" charset="0"/>
                                <a:cs typeface="+mn-cs"/>
                                <a:sym typeface="Wingdings"/>
                              </a:rPr>
                              <m:t>𝑙</m:t>
                            </m:r>
                          </m:sub>
                        </m:sSub>
                        <m:r>
                          <a:rPr kumimoji="0" lang="en-US" altLang="zh-CN" sz="1800" b="0" i="1" u="none" strike="noStrike" kern="1200" cap="none" spc="0" normalizeH="0" baseline="0" noProof="0">
                            <a:ln>
                              <a:noFill/>
                            </a:ln>
                            <a:solidFill>
                              <a:prstClr val="black"/>
                            </a:solidFill>
                            <a:effectLst/>
                            <a:uLnTx/>
                            <a:uFillTx/>
                            <a:latin typeface="Cambria Math" charset="0"/>
                            <a:cs typeface="+mn-cs"/>
                            <a:sym typeface="Wingdings"/>
                          </a:rPr>
                          <m:t>,</m:t>
                        </m:r>
                        <m:sSub>
                          <m:sSub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sym typeface="Wingdings"/>
                              </a:rPr>
                            </m:ctrlPr>
                          </m:sSubPr>
                          <m:e>
                            <m:r>
                              <a:rPr kumimoji="0" lang="en-US" altLang="zh-CN" sz="1800" b="0" i="1" u="none" strike="noStrike" kern="1200" cap="none" spc="0" normalizeH="0" baseline="0" noProof="0">
                                <a:ln>
                                  <a:noFill/>
                                </a:ln>
                                <a:solidFill>
                                  <a:prstClr val="black"/>
                                </a:solidFill>
                                <a:effectLst/>
                                <a:uLnTx/>
                                <a:uFillTx/>
                                <a:latin typeface="Cambria Math" charset="0"/>
                                <a:cs typeface="+mn-cs"/>
                                <a:sym typeface="Wingdings"/>
                              </a:rPr>
                              <m:t>𝑦</m:t>
                            </m:r>
                          </m:e>
                          <m:sub>
                            <m:r>
                              <a:rPr kumimoji="0" lang="en-US" altLang="zh-CN" sz="1800" b="0" i="1" u="none" strike="noStrike" kern="1200" cap="none" spc="0" normalizeH="0" baseline="0" noProof="0">
                                <a:ln>
                                  <a:noFill/>
                                </a:ln>
                                <a:solidFill>
                                  <a:prstClr val="black"/>
                                </a:solidFill>
                                <a:effectLst/>
                                <a:uLnTx/>
                                <a:uFillTx/>
                                <a:latin typeface="Cambria Math" charset="0"/>
                                <a:cs typeface="+mn-cs"/>
                                <a:sym typeface="Wingdings"/>
                              </a:rPr>
                              <m:t>𝑙</m:t>
                            </m:r>
                          </m:sub>
                        </m:sSub>
                        <m:r>
                          <a:rPr kumimoji="0" lang="en-US" altLang="zh-CN" sz="1800" b="0" i="1" u="none" strike="noStrike" kern="1200" cap="none" spc="0" normalizeH="0" baseline="0" noProof="0">
                            <a:ln>
                              <a:noFill/>
                            </a:ln>
                            <a:solidFill>
                              <a:prstClr val="black"/>
                            </a:solidFill>
                            <a:effectLst/>
                            <a:uLnTx/>
                            <a:uFillTx/>
                            <a:latin typeface="Cambria Math" charset="0"/>
                            <a:cs typeface="+mn-cs"/>
                            <a:sym typeface="Wingdings"/>
                          </a:rPr>
                          <m:t>,</m:t>
                        </m:r>
                        <m:r>
                          <a:rPr kumimoji="0" lang="zh-CN" altLang="en-US" sz="1800" b="0" i="1" u="none" strike="noStrike" kern="1200" cap="none" spc="0" normalizeH="0" baseline="0" noProof="0">
                            <a:ln>
                              <a:noFill/>
                            </a:ln>
                            <a:solidFill>
                              <a:prstClr val="black"/>
                            </a:solidFill>
                            <a:effectLst/>
                            <a:uLnTx/>
                            <a:uFillTx/>
                            <a:latin typeface="Cambria Math" charset="0"/>
                            <a:cs typeface="+mn-cs"/>
                            <a:sym typeface="Wingdings"/>
                          </a:rPr>
                          <m:t> </m:t>
                        </m:r>
                        <m:sSub>
                          <m:sSub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sym typeface="Wingdings"/>
                              </a:rPr>
                            </m:ctrlPr>
                          </m:sSubPr>
                          <m:e>
                            <m:r>
                              <a:rPr kumimoji="0" lang="en-US" altLang="zh-CN" sz="1800" b="0" i="1" u="none" strike="noStrike" kern="1200" cap="none" spc="0" normalizeH="0" baseline="0" noProof="0">
                                <a:ln>
                                  <a:noFill/>
                                </a:ln>
                                <a:solidFill>
                                  <a:prstClr val="black"/>
                                </a:solidFill>
                                <a:effectLst/>
                                <a:uLnTx/>
                                <a:uFillTx/>
                                <a:latin typeface="Cambria Math" charset="0"/>
                                <a:cs typeface="+mn-cs"/>
                                <a:sym typeface="Wingdings"/>
                              </a:rPr>
                              <m:t>𝑧</m:t>
                            </m:r>
                          </m:e>
                          <m:sub>
                            <m:r>
                              <a:rPr kumimoji="0" lang="en-US" altLang="zh-CN" sz="1800" b="0" i="1" u="none" strike="noStrike" kern="1200" cap="none" spc="0" normalizeH="0" baseline="0" noProof="0">
                                <a:ln>
                                  <a:noFill/>
                                </a:ln>
                                <a:solidFill>
                                  <a:prstClr val="black"/>
                                </a:solidFill>
                                <a:effectLst/>
                                <a:uLnTx/>
                                <a:uFillTx/>
                                <a:latin typeface="Cambria Math" charset="0"/>
                                <a:cs typeface="+mn-cs"/>
                                <a:sym typeface="Wingdings"/>
                              </a:rPr>
                              <m:t>𝑙</m:t>
                            </m:r>
                          </m:sub>
                        </m:sSub>
                      </m:e>
                    </m:d>
                  </m:oMath>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1021496" y="4120326"/>
                <a:ext cx="4440767" cy="2585323"/>
              </a:xfrm>
              <a:prstGeom prst="rect">
                <a:avLst/>
              </a:prstGeom>
              <a:blipFill rotWithShape="0">
                <a:blip r:embed="rId2"/>
                <a:stretch>
                  <a:fillRect l="-1236" t="-2123" b="-3066"/>
                </a:stretch>
              </a:blipFill>
            </p:spPr>
            <p:txBody>
              <a:bodyPr/>
              <a:lstStyle/>
              <a:p>
                <a:r>
                  <a:rPr lang="en-US">
                    <a:noFill/>
                  </a:rPr>
                  <a:t> </a:t>
                </a:r>
              </a:p>
            </p:txBody>
          </p:sp>
        </mc:Fallback>
      </mc:AlternateContent>
      <p:sp>
        <p:nvSpPr>
          <p:cNvPr id="2" name="标题 1"/>
          <p:cNvSpPr>
            <a:spLocks noGrp="1"/>
          </p:cNvSpPr>
          <p:nvPr>
            <p:ph type="title"/>
          </p:nvPr>
        </p:nvSpPr>
        <p:spPr/>
        <p:txBody>
          <a:bodyPr/>
          <a:lstStyle/>
          <a:p>
            <a:r>
              <a:rPr lang="zh-CN" altLang="en-US" dirty="0" smtClean="0"/>
              <a:t>阴影</a:t>
            </a:r>
            <a:r>
              <a:rPr lang="zh-CN" altLang="en-US" dirty="0"/>
              <a:t>效果</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smtClean="0"/>
                  <a:t>透视投影矩阵：</a:t>
                </a:r>
                <a:endParaRPr lang="en-US" altLang="zh-CN" dirty="0" smtClean="0"/>
              </a:p>
              <a:p>
                <a:pPr lvl="1">
                  <a:buClr>
                    <a:schemeClr val="tx1"/>
                  </a:buClr>
                </a:pPr>
                <a:r>
                  <a:rPr lang="zh-CN" altLang="en-US" dirty="0"/>
                  <a:t>投影中心在原点</a:t>
                </a:r>
                <a:endParaRPr lang="en-US" altLang="zh-CN" dirty="0"/>
              </a:p>
              <a:p>
                <a:pPr lvl="1">
                  <a:buClr>
                    <a:schemeClr val="tx1"/>
                  </a:buClr>
                </a:pPr>
                <a:r>
                  <a:rPr lang="zh-CN" altLang="en-US" dirty="0"/>
                  <a:t>投影平面为</a:t>
                </a:r>
                <a14:m>
                  <m:oMath xmlns:m="http://schemas.openxmlformats.org/officeDocument/2006/math">
                    <m:r>
                      <a:rPr lang="en-US" altLang="zh-CN" i="1" dirty="0">
                        <a:latin typeface="Cambria Math" charset="0"/>
                      </a:rPr>
                      <m:t>𝑧</m:t>
                    </m:r>
                    <m:r>
                      <a:rPr lang="en-US" altLang="zh-CN" i="1" dirty="0">
                        <a:latin typeface="Cambria Math" charset="0"/>
                      </a:rPr>
                      <m:t>=</m:t>
                    </m:r>
                    <m:r>
                      <a:rPr lang="en-US" altLang="zh-CN" i="1" dirty="0">
                        <a:latin typeface="Cambria Math" charset="0"/>
                      </a:rPr>
                      <m:t>𝑑</m:t>
                    </m:r>
                    <m:r>
                      <a:rPr lang="en-US" altLang="zh-CN" i="1" dirty="0">
                        <a:latin typeface="Cambria Math" charset="0"/>
                      </a:rPr>
                      <m:t>, </m:t>
                    </m:r>
                    <m:r>
                      <a:rPr lang="en-US" altLang="zh-CN" i="1" dirty="0">
                        <a:latin typeface="Cambria Math" charset="0"/>
                      </a:rPr>
                      <m:t>𝑑</m:t>
                    </m:r>
                    <m:r>
                      <a:rPr lang="en-US" altLang="zh-CN" i="1" dirty="0">
                        <a:latin typeface="Cambria Math" charset="0"/>
                      </a:rPr>
                      <m:t>&lt;0</m:t>
                    </m:r>
                  </m:oMath>
                </a14:m>
                <a:endParaRPr lang="en-US" altLang="zh-CN" dirty="0"/>
              </a:p>
              <a:p>
                <a:pPr lvl="1"/>
                <a:endParaRPr lang="en-US" altLang="zh-CN" dirty="0"/>
              </a:p>
              <a:p>
                <a:r>
                  <a:rPr lang="zh-CN" altLang="en-US" dirty="0" smtClean="0"/>
                  <a:t>阴影投影矩阵：</a:t>
                </a:r>
                <a:endParaRPr lang="en-US" altLang="zh-CN" dirty="0"/>
              </a:p>
              <a:p>
                <a:pPr lvl="1"/>
                <a:r>
                  <a:rPr lang="zh-CN" altLang="en-US" dirty="0" smtClean="0"/>
                  <a:t>投影中心在</a:t>
                </a:r>
                <a14:m>
                  <m:oMath xmlns:m="http://schemas.openxmlformats.org/officeDocument/2006/math">
                    <m:d>
                      <m:dPr>
                        <m:ctrlPr>
                          <a:rPr lang="mr-IN" altLang="zh-CN" i="1">
                            <a:latin typeface="Cambria Math" panose="02040503050406030204" pitchFamily="18" charset="0"/>
                            <a:sym typeface="Wingdings"/>
                          </a:rPr>
                        </m:ctrlPr>
                      </m:dPr>
                      <m:e>
                        <m:sSub>
                          <m:sSubPr>
                            <m:ctrlPr>
                              <a:rPr lang="en-US" altLang="zh-CN" i="1">
                                <a:latin typeface="Cambria Math" panose="02040503050406030204" pitchFamily="18" charset="0"/>
                                <a:sym typeface="Wingdings"/>
                              </a:rPr>
                            </m:ctrlPr>
                          </m:sSubPr>
                          <m:e>
                            <m:r>
                              <a:rPr lang="en-US" altLang="zh-CN" i="1">
                                <a:latin typeface="Cambria Math" charset="0"/>
                                <a:sym typeface="Wingdings"/>
                              </a:rPr>
                              <m:t>𝑥</m:t>
                            </m:r>
                          </m:e>
                          <m:sub>
                            <m:r>
                              <a:rPr lang="en-US" altLang="zh-CN" i="1">
                                <a:latin typeface="Cambria Math" charset="0"/>
                                <a:sym typeface="Wingdings"/>
                              </a:rPr>
                              <m:t>𝑙</m:t>
                            </m:r>
                          </m:sub>
                        </m:sSub>
                        <m:r>
                          <a:rPr lang="en-US" altLang="zh-CN" i="1">
                            <a:latin typeface="Cambria Math" charset="0"/>
                            <a:sym typeface="Wingdings"/>
                          </a:rPr>
                          <m:t>,</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𝑦</m:t>
                            </m:r>
                          </m:e>
                          <m:sub>
                            <m:r>
                              <a:rPr lang="en-US" altLang="zh-CN" i="1">
                                <a:latin typeface="Cambria Math" charset="0"/>
                                <a:sym typeface="Wingdings"/>
                              </a:rPr>
                              <m:t>𝑙</m:t>
                            </m:r>
                          </m:sub>
                        </m:sSub>
                        <m:r>
                          <a:rPr lang="en-US" altLang="zh-CN" i="1">
                            <a:latin typeface="Cambria Math" charset="0"/>
                            <a:sym typeface="Wingdings"/>
                          </a:rPr>
                          <m:t>,</m:t>
                        </m:r>
                        <m:r>
                          <a:rPr lang="zh-CN" altLang="en-US" i="1">
                            <a:latin typeface="Cambria Math" charset="0"/>
                            <a:sym typeface="Wingdings"/>
                          </a:rPr>
                          <m:t> </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𝑧</m:t>
                            </m:r>
                          </m:e>
                          <m:sub>
                            <m:r>
                              <a:rPr lang="en-US" altLang="zh-CN" i="1">
                                <a:latin typeface="Cambria Math" charset="0"/>
                                <a:sym typeface="Wingdings"/>
                              </a:rPr>
                              <m:t>𝑙</m:t>
                            </m:r>
                          </m:sub>
                        </m:sSub>
                      </m:e>
                    </m:d>
                  </m:oMath>
                </a14:m>
                <a:endParaRPr lang="en-US" dirty="0" smtClean="0"/>
              </a:p>
              <a:p>
                <a:pPr lvl="1"/>
                <a:r>
                  <a:rPr lang="zh-CN" altLang="en-US" dirty="0">
                    <a:sym typeface="Wingdings"/>
                  </a:rPr>
                  <a:t>投影平面</a:t>
                </a:r>
                <a:r>
                  <a:rPr lang="zh-CN" altLang="en-US" dirty="0" smtClean="0">
                    <a:sym typeface="Wingdings"/>
                  </a:rPr>
                  <a:t>为</a:t>
                </a:r>
                <a14:m>
                  <m:oMath xmlns:m="http://schemas.openxmlformats.org/officeDocument/2006/math">
                    <m:r>
                      <a:rPr lang="en-US" altLang="zh-CN" i="1" dirty="0">
                        <a:latin typeface="Cambria Math" charset="0"/>
                        <a:sym typeface="Wingdings"/>
                      </a:rPr>
                      <m:t>𝑦</m:t>
                    </m:r>
                    <m:r>
                      <a:rPr lang="en-US" altLang="zh-CN" i="1" dirty="0">
                        <a:latin typeface="Cambria Math" charset="0"/>
                        <a:sym typeface="Wingdings"/>
                      </a:rPr>
                      <m:t>=0</m:t>
                    </m:r>
                  </m:oMath>
                </a14:m>
                <a:endParaRPr lang="en-US" dirty="0"/>
              </a:p>
              <a:p>
                <a:pPr lvl="1"/>
                <a:endParaRPr lang="en-US" dirty="0"/>
              </a:p>
              <a:p>
                <a:pPr lvl="1"/>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3"/>
                <a:stretch>
                  <a:fillRect l="-618" t="-238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46</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7" name="图片 6"/>
          <p:cNvPicPr>
            <a:picLocks noChangeAspect="1"/>
          </p:cNvPicPr>
          <p:nvPr/>
        </p:nvPicPr>
        <p:blipFill>
          <a:blip r:embed="rId4"/>
          <a:stretch>
            <a:fillRect/>
          </a:stretch>
        </p:blipFill>
        <p:spPr>
          <a:xfrm>
            <a:off x="5855109" y="2673043"/>
            <a:ext cx="1562208" cy="1805743"/>
          </a:xfrm>
          <a:prstGeom prst="rect">
            <a:avLst/>
          </a:prstGeom>
        </p:spPr>
      </p:pic>
      <p:pic>
        <p:nvPicPr>
          <p:cNvPr id="8" name="图片 7"/>
          <p:cNvPicPr>
            <a:picLocks noChangeAspect="1"/>
          </p:cNvPicPr>
          <p:nvPr/>
        </p:nvPicPr>
        <p:blipFill>
          <a:blip r:embed="rId5"/>
          <a:stretch>
            <a:fillRect/>
          </a:stretch>
        </p:blipFill>
        <p:spPr>
          <a:xfrm>
            <a:off x="1473336" y="4888397"/>
            <a:ext cx="2143492" cy="1297918"/>
          </a:xfrm>
          <a:prstGeom prst="rect">
            <a:avLst/>
          </a:prstGeom>
        </p:spPr>
      </p:pic>
      <p:pic>
        <p:nvPicPr>
          <p:cNvPr id="10" name="图片 14"/>
          <p:cNvPicPr>
            <a:picLocks noChangeAspect="1"/>
          </p:cNvPicPr>
          <p:nvPr/>
        </p:nvPicPr>
        <p:blipFill>
          <a:blip r:embed="rId6"/>
          <a:stretch>
            <a:fillRect/>
          </a:stretch>
        </p:blipFill>
        <p:spPr>
          <a:xfrm>
            <a:off x="4223003" y="1145028"/>
            <a:ext cx="3600035" cy="1470535"/>
          </a:xfrm>
          <a:prstGeom prst="rect">
            <a:avLst/>
          </a:prstGeom>
        </p:spPr>
      </p:pic>
      <p:pic>
        <p:nvPicPr>
          <p:cNvPr id="11" name="图片 8"/>
          <p:cNvPicPr>
            <a:picLocks noChangeAspect="1"/>
          </p:cNvPicPr>
          <p:nvPr/>
        </p:nvPicPr>
        <p:blipFill>
          <a:blip r:embed="rId7"/>
          <a:stretch>
            <a:fillRect/>
          </a:stretch>
        </p:blipFill>
        <p:spPr>
          <a:xfrm>
            <a:off x="8156241" y="1581357"/>
            <a:ext cx="933264" cy="999461"/>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7845940" y="1963855"/>
                <a:ext cx="253274"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charset="0"/>
                          <a:ea typeface="Cambria Math" charset="0"/>
                          <a:cs typeface="Cambria Math" charset="0"/>
                        </a:rPr>
                        <m:t>⇒</m:t>
                      </m:r>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7845940" y="1963855"/>
                <a:ext cx="253274" cy="276999"/>
              </a:xfrm>
              <a:prstGeom prst="rect">
                <a:avLst/>
              </a:prstGeom>
              <a:blipFill rotWithShape="0">
                <a:blip r:embed="rId8"/>
                <a:stretch>
                  <a:fillRect l="-16667" r="-14286"/>
                </a:stretch>
              </a:blipFill>
            </p:spPr>
            <p:txBody>
              <a:bodyPr/>
              <a:lstStyle/>
              <a:p>
                <a:r>
                  <a:rPr lang="en-US">
                    <a:noFill/>
                  </a:rPr>
                  <a:t> </a:t>
                </a:r>
              </a:p>
            </p:txBody>
          </p:sp>
        </mc:Fallback>
      </mc:AlternateContent>
      <p:sp>
        <p:nvSpPr>
          <p:cNvPr id="13" name="Right Arrow 12"/>
          <p:cNvSpPr/>
          <p:nvPr/>
        </p:nvSpPr>
        <p:spPr>
          <a:xfrm>
            <a:off x="673027" y="4194969"/>
            <a:ext cx="170120" cy="2551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Cross 17"/>
          <p:cNvSpPr/>
          <p:nvPr/>
        </p:nvSpPr>
        <p:spPr>
          <a:xfrm>
            <a:off x="3786525" y="5392358"/>
            <a:ext cx="282143" cy="282143"/>
          </a:xfrm>
          <a:prstGeom prst="plus">
            <a:avLst>
              <a:gd name="adj" fmla="val 4007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p:cNvSpPr/>
          <p:nvPr/>
        </p:nvSpPr>
        <p:spPr>
          <a:xfrm>
            <a:off x="4134623" y="5348763"/>
            <a:ext cx="110799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FF"/>
                </a:solidFill>
                <a:effectLst/>
                <a:uLnTx/>
                <a:uFillTx/>
                <a:latin typeface="Calibri" panose="020F0502020204030204"/>
                <a:ea typeface="宋体" panose="02010600030101010101" pitchFamily="2" charset="-122"/>
                <a:cs typeface="+mn-cs"/>
              </a:rPr>
              <a:t>透视除法</a:t>
            </a:r>
            <a:endParaRPr kumimoji="0" lang="zh-CN" altLang="en-US" sz="1800" b="0" i="0" u="none" strike="noStrike" kern="1200" cap="none" spc="0" normalizeH="0" baseline="0" noProof="0" dirty="0">
              <a:ln>
                <a:noFill/>
              </a:ln>
              <a:solidFill>
                <a:srgbClr val="0000FF"/>
              </a:solidFill>
              <a:effectLst/>
              <a:uLnTx/>
              <a:uFillTx/>
              <a:latin typeface="Calibri" panose="020F0502020204030204"/>
              <a:ea typeface="宋体" panose="02010600030101010101" pitchFamily="2" charset="-122"/>
              <a:cs typeface="+mn-cs"/>
            </a:endParaRPr>
          </a:p>
        </p:txBody>
      </p:sp>
      <p:sp>
        <p:nvSpPr>
          <p:cNvPr id="21" name="Right Brace 20"/>
          <p:cNvSpPr/>
          <p:nvPr/>
        </p:nvSpPr>
        <p:spPr>
          <a:xfrm>
            <a:off x="5383708" y="4322559"/>
            <a:ext cx="447767" cy="2199680"/>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27" name="TextBox 26"/>
              <p:cNvSpPr txBox="1"/>
              <p:nvPr/>
            </p:nvSpPr>
            <p:spPr>
              <a:xfrm>
                <a:off x="6201577" y="4644980"/>
                <a:ext cx="1907382" cy="52168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𝑥</m:t>
                          </m:r>
                        </m:e>
                        <m:sub>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𝑝</m:t>
                          </m:r>
                        </m:sub>
                      </m:sSub>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𝑥</m:t>
                          </m:r>
                        </m:e>
                        <m:sub>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𝑙</m:t>
                          </m:r>
                        </m:sub>
                      </m:sSub>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f>
                        <m:fPr>
                          <m:ctrlPr>
                            <a:rPr kumimoji="0" lang="mr-IN" altLang="zh-CN" sz="1800" b="0" i="1" u="none" strike="noStrike" kern="1200" cap="none" spc="0" normalizeH="0" baseline="0" noProof="0" smtClean="0">
                              <a:ln>
                                <a:noFill/>
                              </a:ln>
                              <a:solidFill>
                                <a:prstClr val="black"/>
                              </a:solidFill>
                              <a:effectLst/>
                              <a:uLnTx/>
                              <a:uFillTx/>
                              <a:latin typeface="Cambria Math" panose="02040503050406030204" pitchFamily="18" charset="0"/>
                            </a:rPr>
                          </m:ctrlPr>
                        </m:fPr>
                        <m:num>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𝑥</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𝑥</m:t>
                              </m:r>
                            </m:e>
                            <m:sub>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𝑙</m:t>
                              </m:r>
                            </m:sub>
                          </m:sSub>
                        </m:num>
                        <m:den>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𝑦</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𝑦</m:t>
                              </m:r>
                            </m:e>
                            <m:sub>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𝑙</m:t>
                              </m:r>
                            </m:sub>
                          </m:sSub>
                        </m:den>
                      </m:f>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𝑦</m:t>
                          </m:r>
                        </m:e>
                        <m:sub>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𝑙</m:t>
                          </m:r>
                        </m:sub>
                      </m:sSub>
                    </m:oMath>
                  </m:oMathPara>
                </a14:m>
                <a:endParaRPr kumimoji="0" lang="en-US" altLang="zh-CN" sz="1800" b="0" i="0" u="none" strike="noStrike" kern="1200" cap="none" spc="0" normalizeH="0" baseline="0" noProof="0" dirty="0" smtClean="0">
                  <a:ln>
                    <a:noFill/>
                  </a:ln>
                  <a:solidFill>
                    <a:prstClr val="black"/>
                  </a:solidFill>
                  <a:effectLst/>
                  <a:uLnTx/>
                  <a:uFillTx/>
                  <a:latin typeface="Calibri" panose="020F0502020204030204"/>
                  <a:ea typeface="宋体" panose="02010600030101010101" pitchFamily="2" charset="-122"/>
                  <a:cs typeface="+mn-cs"/>
                </a:endParaRPr>
              </a:p>
            </p:txBody>
          </p:sp>
        </mc:Choice>
        <mc:Fallback xmlns="">
          <p:sp>
            <p:nvSpPr>
              <p:cNvPr id="27" name="TextBox 26"/>
              <p:cNvSpPr txBox="1">
                <a:spLocks noRot="1" noChangeAspect="1" noMove="1" noResize="1" noEditPoints="1" noAdjustHandles="1" noChangeArrowheads="1" noChangeShapeType="1" noTextEdit="1"/>
              </p:cNvSpPr>
              <p:nvPr/>
            </p:nvSpPr>
            <p:spPr>
              <a:xfrm>
                <a:off x="6201577" y="4644980"/>
                <a:ext cx="1907382" cy="521681"/>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6235431" y="5267158"/>
                <a:ext cx="709489" cy="29841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𝑦</m:t>
                          </m:r>
                        </m:e>
                        <m:sub>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𝑝</m:t>
                          </m:r>
                        </m:sub>
                      </m:sSub>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=0</m:t>
                      </m:r>
                    </m:oMath>
                  </m:oMathPara>
                </a14:m>
                <a:endParaRPr kumimoji="0" lang="en-US" altLang="zh-CN" sz="1800" b="0" i="0" u="none" strike="noStrike" kern="1200" cap="none" spc="0" normalizeH="0" baseline="0" noProof="0" dirty="0" smtClean="0">
                  <a:ln>
                    <a:noFill/>
                  </a:ln>
                  <a:solidFill>
                    <a:prstClr val="black"/>
                  </a:solidFill>
                  <a:effectLst/>
                  <a:uLnTx/>
                  <a:uFillTx/>
                  <a:latin typeface="Calibri" panose="020F0502020204030204"/>
                  <a:ea typeface="宋体" panose="02010600030101010101" pitchFamily="2" charset="-122"/>
                  <a:cs typeface="+mn-cs"/>
                </a:endParaRPr>
              </a:p>
            </p:txBody>
          </p:sp>
        </mc:Choice>
        <mc:Fallback xmlns="">
          <p:sp>
            <p:nvSpPr>
              <p:cNvPr id="28" name="TextBox 27"/>
              <p:cNvSpPr txBox="1">
                <a:spLocks noRot="1" noChangeAspect="1" noMove="1" noResize="1" noEditPoints="1" noAdjustHandles="1" noChangeArrowheads="1" noChangeShapeType="1" noTextEdit="1"/>
              </p:cNvSpPr>
              <p:nvPr/>
            </p:nvSpPr>
            <p:spPr>
              <a:xfrm>
                <a:off x="6235431" y="5267158"/>
                <a:ext cx="709489" cy="298415"/>
              </a:xfrm>
              <a:prstGeom prst="rect">
                <a:avLst/>
              </a:prstGeom>
              <a:blipFill rotWithShape="0">
                <a:blip r:embed="rId10"/>
                <a:stretch>
                  <a:fillRect l="-7759" r="-7759" b="-204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6235431" y="5793512"/>
                <a:ext cx="1892762" cy="52168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𝑧</m:t>
                          </m:r>
                        </m:e>
                        <m:sub>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𝑝</m:t>
                          </m:r>
                        </m:sub>
                      </m:sSub>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𝑧</m:t>
                          </m:r>
                        </m:e>
                        <m:sub>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𝑙</m:t>
                          </m:r>
                        </m:sub>
                      </m:sSub>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f>
                        <m:fPr>
                          <m:ctrlPr>
                            <a:rPr kumimoji="0" lang="mr-IN" altLang="zh-CN" sz="1800" b="0" i="1" u="none" strike="noStrike" kern="1200" cap="none" spc="0" normalizeH="0" baseline="0" noProof="0" smtClean="0">
                              <a:ln>
                                <a:noFill/>
                              </a:ln>
                              <a:solidFill>
                                <a:prstClr val="black"/>
                              </a:solidFill>
                              <a:effectLst/>
                              <a:uLnTx/>
                              <a:uFillTx/>
                              <a:latin typeface="Cambria Math" panose="02040503050406030204" pitchFamily="18" charset="0"/>
                            </a:rPr>
                          </m:ctrlPr>
                        </m:fPr>
                        <m:num>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𝑧</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𝑧</m:t>
                              </m:r>
                            </m:e>
                            <m:sub>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𝑙</m:t>
                              </m:r>
                            </m:sub>
                          </m:sSub>
                        </m:num>
                        <m:den>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𝑦</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𝑦</m:t>
                              </m:r>
                            </m:e>
                            <m:sub>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𝑙</m:t>
                              </m:r>
                            </m:sub>
                          </m:sSub>
                        </m:den>
                      </m:f>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𝑦</m:t>
                          </m:r>
                        </m:e>
                        <m:sub>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𝑙</m:t>
                          </m:r>
                        </m:sub>
                      </m:sSub>
                    </m:oMath>
                  </m:oMathPara>
                </a14:m>
                <a:endParaRPr kumimoji="0" lang="en-US" altLang="zh-CN" sz="1800" b="0" i="0" u="none" strike="noStrike" kern="1200" cap="none" spc="0" normalizeH="0" baseline="0" noProof="0" dirty="0" smtClean="0">
                  <a:ln>
                    <a:noFill/>
                  </a:ln>
                  <a:solidFill>
                    <a:prstClr val="black"/>
                  </a:solidFill>
                  <a:effectLst/>
                  <a:uLnTx/>
                  <a:uFillTx/>
                  <a:latin typeface="Calibri" panose="020F0502020204030204"/>
                  <a:ea typeface="宋体" panose="02010600030101010101" pitchFamily="2" charset="-122"/>
                  <a:cs typeface="+mn-cs"/>
                </a:endParaRPr>
              </a:p>
            </p:txBody>
          </p:sp>
        </mc:Choice>
        <mc:Fallback xmlns="">
          <p:sp>
            <p:nvSpPr>
              <p:cNvPr id="29" name="TextBox 28"/>
              <p:cNvSpPr txBox="1">
                <a:spLocks noRot="1" noChangeAspect="1" noMove="1" noResize="1" noEditPoints="1" noAdjustHandles="1" noChangeArrowheads="1" noChangeShapeType="1" noTextEdit="1"/>
              </p:cNvSpPr>
              <p:nvPr/>
            </p:nvSpPr>
            <p:spPr>
              <a:xfrm>
                <a:off x="6235431" y="5793512"/>
                <a:ext cx="1892762" cy="521681"/>
              </a:xfrm>
              <a:prstGeom prst="rect">
                <a:avLst/>
              </a:prstGeom>
              <a:blipFill rotWithShape="0">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4428607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实验 </a:t>
            </a:r>
            <a:r>
              <a:rPr lang="en-US" altLang="zh-CN" dirty="0" smtClean="0"/>
              <a:t>2</a:t>
            </a:r>
            <a:endParaRPr lang="en-US" dirty="0"/>
          </a:p>
        </p:txBody>
      </p:sp>
      <p:sp>
        <p:nvSpPr>
          <p:cNvPr id="3" name="Content Placeholder 2"/>
          <p:cNvSpPr>
            <a:spLocks noGrp="1"/>
          </p:cNvSpPr>
          <p:nvPr>
            <p:ph idx="1"/>
          </p:nvPr>
        </p:nvSpPr>
        <p:spPr/>
        <p:txBody>
          <a:bodyPr/>
          <a:lstStyle/>
          <a:p>
            <a:r>
              <a:rPr lang="zh-CN" altLang="en-US" dirty="0"/>
              <a:t>三维模型</a:t>
            </a:r>
            <a:r>
              <a:rPr lang="zh-CN" altLang="en-US" dirty="0" smtClean="0"/>
              <a:t>读取与控制</a:t>
            </a:r>
            <a:endParaRPr lang="en-US" altLang="zh-CN" dirty="0" smtClean="0"/>
          </a:p>
          <a:p>
            <a:pPr lvl="1"/>
            <a:r>
              <a:rPr lang="zh-CN" altLang="en-US" dirty="0"/>
              <a:t>读取</a:t>
            </a:r>
            <a:r>
              <a:rPr lang="en-US" altLang="zh-CN" dirty="0"/>
              <a:t>off</a:t>
            </a:r>
            <a:r>
              <a:rPr lang="zh-CN" altLang="en-US" dirty="0"/>
              <a:t>格式三维模型，对其</a:t>
            </a:r>
            <a:r>
              <a:rPr lang="zh-CN" altLang="en-US" dirty="0" smtClean="0"/>
              <a:t>赋色</a:t>
            </a:r>
            <a:endParaRPr lang="en-US" altLang="zh-CN" dirty="0" smtClean="0"/>
          </a:p>
          <a:p>
            <a:pPr lvl="1"/>
            <a:r>
              <a:rPr lang="zh-CN" altLang="en-US" dirty="0" smtClean="0"/>
              <a:t>利用</a:t>
            </a:r>
            <a:r>
              <a:rPr lang="zh-CN" altLang="en-US" dirty="0"/>
              <a:t>鼠标和键盘的交互生成</a:t>
            </a:r>
            <a:r>
              <a:rPr lang="zh-CN" altLang="en-US" dirty="0" smtClean="0"/>
              <a:t>动画</a:t>
            </a:r>
            <a:endParaRPr lang="en-US" altLang="zh-CN" dirty="0" smtClean="0"/>
          </a:p>
          <a:p>
            <a:pPr lvl="1"/>
            <a:r>
              <a:rPr lang="zh-CN" altLang="en-US" dirty="0"/>
              <a:t>撰写详细实验报告</a:t>
            </a:r>
            <a:endParaRPr lang="en-US" altLang="zh-CN" dirty="0"/>
          </a:p>
          <a:p>
            <a:pPr lvl="1"/>
            <a:r>
              <a:rPr lang="zh-CN" altLang="en-US" dirty="0" smtClean="0"/>
              <a:t>截止</a:t>
            </a:r>
            <a:r>
              <a:rPr lang="zh-CN" altLang="en-US" dirty="0"/>
              <a:t>时间：</a:t>
            </a:r>
            <a:r>
              <a:rPr lang="en-US" b="1" dirty="0"/>
              <a:t> </a:t>
            </a:r>
            <a:r>
              <a:rPr lang="en-US" b="1" dirty="0" smtClean="0">
                <a:solidFill>
                  <a:srgbClr val="FF0000"/>
                </a:solidFill>
              </a:rPr>
              <a:t>20</a:t>
            </a:r>
            <a:r>
              <a:rPr lang="en-US" altLang="zh-CN" b="1" dirty="0" smtClean="0">
                <a:solidFill>
                  <a:srgbClr val="FF0000"/>
                </a:solidFill>
              </a:rPr>
              <a:t>23</a:t>
            </a:r>
            <a:r>
              <a:rPr lang="zh-CN" altLang="en-US" b="1" dirty="0" smtClean="0">
                <a:solidFill>
                  <a:srgbClr val="FF0000"/>
                </a:solidFill>
              </a:rPr>
              <a:t>年</a:t>
            </a:r>
            <a:r>
              <a:rPr lang="en-US" altLang="zh-CN" b="1" dirty="0" smtClean="0">
                <a:solidFill>
                  <a:srgbClr val="FF0000"/>
                </a:solidFill>
              </a:rPr>
              <a:t>11</a:t>
            </a:r>
            <a:r>
              <a:rPr lang="zh-CN" altLang="en-US" b="1" dirty="0" smtClean="0">
                <a:solidFill>
                  <a:srgbClr val="FF0000"/>
                </a:solidFill>
              </a:rPr>
              <a:t>月</a:t>
            </a:r>
            <a:r>
              <a:rPr lang="en-US" altLang="zh-CN" b="1" dirty="0" smtClean="0">
                <a:solidFill>
                  <a:srgbClr val="FF0000"/>
                </a:solidFill>
              </a:rPr>
              <a:t>5</a:t>
            </a:r>
            <a:r>
              <a:rPr lang="zh-CN" altLang="en-US" b="1" dirty="0" smtClean="0">
                <a:solidFill>
                  <a:srgbClr val="FF0000"/>
                </a:solidFill>
              </a:rPr>
              <a:t>日</a:t>
            </a:r>
            <a:r>
              <a:rPr lang="en-US" b="1" dirty="0" smtClean="0">
                <a:solidFill>
                  <a:srgbClr val="FF0000"/>
                </a:solidFill>
              </a:rPr>
              <a:t> 23:59</a:t>
            </a:r>
            <a:endParaRPr lang="en-US" b="1" dirty="0">
              <a:solidFill>
                <a:srgbClr val="FF0000"/>
              </a:solidFill>
            </a:endParaRPr>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47</a:t>
            </a:fld>
            <a:endParaRPr lang="zh-CN" altLang="en-US" dirty="0"/>
          </a:p>
        </p:txBody>
      </p:sp>
      <p:pic>
        <p:nvPicPr>
          <p:cNvPr id="5" name="图片 2" descr="C:\Users\LEO\AppData\Local\Microsoft\Windows\INetCache\Content.Word\QQ截图20160824161701.png"/>
          <p:cNvPicPr/>
          <p:nvPr/>
        </p:nvPicPr>
        <p:blipFill>
          <a:blip r:embed="rId2">
            <a:extLst>
              <a:ext uri="{28A0092B-C50C-407E-A947-70E740481C1C}">
                <a14:useLocalDpi xmlns:a14="http://schemas.microsoft.com/office/drawing/2010/main" val="0"/>
              </a:ext>
            </a:extLst>
          </a:blip>
          <a:srcRect/>
          <a:stretch>
            <a:fillRect/>
          </a:stretch>
        </p:blipFill>
        <p:spPr bwMode="auto">
          <a:xfrm>
            <a:off x="2952750" y="3251069"/>
            <a:ext cx="3262313" cy="3406906"/>
          </a:xfrm>
          <a:prstGeom prst="rect">
            <a:avLst/>
          </a:prstGeom>
          <a:noFill/>
          <a:ln>
            <a:noFill/>
          </a:ln>
        </p:spPr>
      </p:pic>
    </p:spTree>
    <p:extLst>
      <p:ext uri="{BB962C8B-B14F-4D97-AF65-F5344CB8AC3E}">
        <p14:creationId xmlns:p14="http://schemas.microsoft.com/office/powerpoint/2010/main" val="339555823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实验 </a:t>
            </a:r>
            <a:r>
              <a:rPr lang="en-US" altLang="zh-CN" dirty="0" smtClean="0"/>
              <a:t>3.1</a:t>
            </a:r>
            <a:endParaRPr lang="en-US" dirty="0"/>
          </a:p>
        </p:txBody>
      </p:sp>
      <p:sp>
        <p:nvSpPr>
          <p:cNvPr id="3" name="Content Placeholder 2"/>
          <p:cNvSpPr>
            <a:spLocks noGrp="1"/>
          </p:cNvSpPr>
          <p:nvPr>
            <p:ph idx="1"/>
          </p:nvPr>
        </p:nvSpPr>
        <p:spPr/>
        <p:txBody>
          <a:bodyPr/>
          <a:lstStyle/>
          <a:p>
            <a:r>
              <a:rPr lang="zh-CN" altLang="en-US" dirty="0" smtClean="0"/>
              <a:t>相机定位 </a:t>
            </a:r>
            <a:r>
              <a:rPr lang="mr-IN" altLang="zh-CN" dirty="0" smtClean="0">
                <a:solidFill>
                  <a:srgbClr val="FF0000"/>
                </a:solidFill>
              </a:rPr>
              <a:t>–</a:t>
            </a:r>
            <a:r>
              <a:rPr lang="zh-CN" altLang="en-US" dirty="0" smtClean="0">
                <a:solidFill>
                  <a:srgbClr val="FF0000"/>
                </a:solidFill>
              </a:rPr>
              <a:t> 提交实验报告</a:t>
            </a:r>
            <a:endParaRPr lang="en-US" altLang="zh-CN" dirty="0" smtClean="0">
              <a:solidFill>
                <a:srgbClr val="FF0000"/>
              </a:solidFill>
            </a:endParaRPr>
          </a:p>
          <a:p>
            <a:pPr lvl="1"/>
            <a:r>
              <a:rPr lang="zh-CN" altLang="en-US" dirty="0" smtClean="0"/>
              <a:t>了解</a:t>
            </a:r>
            <a:r>
              <a:rPr lang="en-US" altLang="zh-CN" dirty="0"/>
              <a:t>OpenGL</a:t>
            </a:r>
            <a:r>
              <a:rPr lang="zh-CN" altLang="en-US" dirty="0"/>
              <a:t>中相机的模型视图变换的基本原理</a:t>
            </a:r>
          </a:p>
          <a:p>
            <a:pPr lvl="1"/>
            <a:r>
              <a:rPr lang="zh-CN" altLang="en-US" dirty="0" smtClean="0"/>
              <a:t>掌握</a:t>
            </a:r>
            <a:r>
              <a:rPr lang="en-US" altLang="zh-CN" dirty="0"/>
              <a:t>OpenGL</a:t>
            </a:r>
            <a:r>
              <a:rPr lang="zh-CN" altLang="en-US" dirty="0"/>
              <a:t>中相机观察变换矩阵的推导</a:t>
            </a:r>
          </a:p>
          <a:p>
            <a:pPr lvl="1"/>
            <a:r>
              <a:rPr lang="zh-CN" altLang="en-US" dirty="0" smtClean="0"/>
              <a:t>掌握</a:t>
            </a:r>
            <a:r>
              <a:rPr lang="zh-CN" altLang="en-US" dirty="0"/>
              <a:t>在</a:t>
            </a:r>
            <a:r>
              <a:rPr lang="en-US" altLang="zh-CN" dirty="0"/>
              <a:t>OpenGL</a:t>
            </a:r>
            <a:r>
              <a:rPr lang="zh-CN" altLang="en-US" dirty="0"/>
              <a:t>中实现相机观察变换</a:t>
            </a:r>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48</a:t>
            </a:fld>
            <a:endParaRPr lang="zh-CN" altLang="en-US" dirty="0"/>
          </a:p>
        </p:txBody>
      </p:sp>
      <p:pic>
        <p:nvPicPr>
          <p:cNvPr id="5" name="Picture 4"/>
          <p:cNvPicPr>
            <a:picLocks noChangeAspect="1"/>
          </p:cNvPicPr>
          <p:nvPr/>
        </p:nvPicPr>
        <p:blipFill>
          <a:blip r:embed="rId2"/>
          <a:stretch>
            <a:fillRect/>
          </a:stretch>
        </p:blipFill>
        <p:spPr>
          <a:xfrm>
            <a:off x="1431632" y="3069115"/>
            <a:ext cx="2666839" cy="2826212"/>
          </a:xfrm>
          <a:prstGeom prst="rect">
            <a:avLst/>
          </a:prstGeom>
        </p:spPr>
      </p:pic>
      <p:pic>
        <p:nvPicPr>
          <p:cNvPr id="6" name="Picture 5"/>
          <p:cNvPicPr>
            <a:picLocks noChangeAspect="1"/>
          </p:cNvPicPr>
          <p:nvPr/>
        </p:nvPicPr>
        <p:blipFill>
          <a:blip r:embed="rId3"/>
          <a:stretch>
            <a:fillRect/>
          </a:stretch>
        </p:blipFill>
        <p:spPr>
          <a:xfrm>
            <a:off x="4808678" y="3069115"/>
            <a:ext cx="2666839" cy="2826212"/>
          </a:xfrm>
          <a:prstGeom prst="rect">
            <a:avLst/>
          </a:prstGeom>
        </p:spPr>
      </p:pic>
      <p:sp>
        <p:nvSpPr>
          <p:cNvPr id="8" name="TextBox 7"/>
          <p:cNvSpPr txBox="1"/>
          <p:nvPr/>
        </p:nvSpPr>
        <p:spPr>
          <a:xfrm>
            <a:off x="4972546" y="6048573"/>
            <a:ext cx="2339102" cy="307777"/>
          </a:xfrm>
          <a:prstGeom prst="rect">
            <a:avLst/>
          </a:prstGeom>
          <a:noFill/>
        </p:spPr>
        <p:txBody>
          <a:bodyPr wrap="none" rtlCol="0">
            <a:spAutoFit/>
          </a:bodyPr>
          <a:lstStyle/>
          <a:p>
            <a:r>
              <a:rPr lang="zh-CN" altLang="en-US" sz="1400"/>
              <a:t>改变相机的位置和视角之后</a:t>
            </a:r>
            <a:endParaRPr lang="en-US" sz="1400" dirty="0"/>
          </a:p>
        </p:txBody>
      </p:sp>
      <p:sp>
        <p:nvSpPr>
          <p:cNvPr id="10" name="TextBox 9"/>
          <p:cNvSpPr txBox="1"/>
          <p:nvPr/>
        </p:nvSpPr>
        <p:spPr>
          <a:xfrm>
            <a:off x="2223877" y="6048573"/>
            <a:ext cx="1082348" cy="307777"/>
          </a:xfrm>
          <a:prstGeom prst="rect">
            <a:avLst/>
          </a:prstGeom>
          <a:noFill/>
        </p:spPr>
        <p:txBody>
          <a:bodyPr wrap="none" rtlCol="0">
            <a:spAutoFit/>
          </a:bodyPr>
          <a:lstStyle/>
          <a:p>
            <a:r>
              <a:rPr lang="zh-CN" altLang="en-US" sz="1400" smtClean="0"/>
              <a:t>初始化窗口</a:t>
            </a:r>
            <a:endParaRPr lang="en-US" sz="1400" dirty="0"/>
          </a:p>
        </p:txBody>
      </p:sp>
    </p:spTree>
    <p:extLst>
      <p:ext uri="{BB962C8B-B14F-4D97-AF65-F5344CB8AC3E}">
        <p14:creationId xmlns:p14="http://schemas.microsoft.com/office/powerpoint/2010/main" val="190451489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期中大作业</a:t>
            </a:r>
            <a:endParaRPr lang="en-US" dirty="0"/>
          </a:p>
        </p:txBody>
      </p:sp>
      <p:sp>
        <p:nvSpPr>
          <p:cNvPr id="3" name="Content Placeholder 2"/>
          <p:cNvSpPr>
            <a:spLocks noGrp="1"/>
          </p:cNvSpPr>
          <p:nvPr>
            <p:ph idx="1"/>
          </p:nvPr>
        </p:nvSpPr>
        <p:spPr/>
        <p:txBody>
          <a:bodyPr/>
          <a:lstStyle/>
          <a:p>
            <a:r>
              <a:rPr lang="zh-CN" altLang="en-US" dirty="0" smtClean="0"/>
              <a:t>俄罗斯</a:t>
            </a:r>
            <a:r>
              <a:rPr lang="zh-CN" altLang="en-US" dirty="0"/>
              <a:t>方块</a:t>
            </a:r>
            <a:r>
              <a:rPr lang="en-US" dirty="0"/>
              <a:t> </a:t>
            </a:r>
            <a:endParaRPr lang="en-US" dirty="0" smtClean="0"/>
          </a:p>
          <a:p>
            <a:pPr lvl="1"/>
            <a:r>
              <a:rPr lang="zh-CN" altLang="en-US" dirty="0" smtClean="0"/>
              <a:t>编写一个简化版的俄罗斯方块游戏程序，</a:t>
            </a:r>
            <a:r>
              <a:rPr lang="zh-CN" altLang="en-US" dirty="0"/>
              <a:t>撰写详细实验报告</a:t>
            </a:r>
            <a:endParaRPr lang="en-US" altLang="zh-CN" dirty="0"/>
          </a:p>
          <a:p>
            <a:pPr lvl="1"/>
            <a:r>
              <a:rPr lang="zh-CN" altLang="en-US" dirty="0" smtClean="0"/>
              <a:t>提供参考代码，仅需实现部分功能</a:t>
            </a:r>
            <a:endParaRPr lang="en-US" altLang="zh-CN" dirty="0" smtClean="0"/>
          </a:p>
          <a:p>
            <a:pPr lvl="1"/>
            <a:r>
              <a:rPr lang="zh-CN" altLang="en-US" dirty="0" smtClean="0"/>
              <a:t>截止</a:t>
            </a:r>
            <a:r>
              <a:rPr lang="zh-CN" altLang="en-US" dirty="0"/>
              <a:t>时间：</a:t>
            </a:r>
            <a:r>
              <a:rPr lang="en-US" b="1" dirty="0"/>
              <a:t> </a:t>
            </a:r>
            <a:r>
              <a:rPr lang="en-US" b="1" dirty="0" smtClean="0">
                <a:solidFill>
                  <a:srgbClr val="FF0000"/>
                </a:solidFill>
              </a:rPr>
              <a:t>20</a:t>
            </a:r>
            <a:r>
              <a:rPr lang="en-US" altLang="zh-CN" b="1" dirty="0" smtClean="0">
                <a:solidFill>
                  <a:srgbClr val="FF0000"/>
                </a:solidFill>
              </a:rPr>
              <a:t>23</a:t>
            </a:r>
            <a:r>
              <a:rPr lang="zh-CN" altLang="en-US" b="1" dirty="0" smtClean="0">
                <a:solidFill>
                  <a:srgbClr val="FF0000"/>
                </a:solidFill>
              </a:rPr>
              <a:t>年</a:t>
            </a:r>
            <a:r>
              <a:rPr lang="en-US" altLang="zh-CN" b="1" dirty="0" smtClean="0">
                <a:solidFill>
                  <a:srgbClr val="FF0000"/>
                </a:solidFill>
              </a:rPr>
              <a:t>10</a:t>
            </a:r>
            <a:r>
              <a:rPr lang="zh-CN" altLang="en-US" b="1" dirty="0" smtClean="0">
                <a:solidFill>
                  <a:srgbClr val="FF0000"/>
                </a:solidFill>
              </a:rPr>
              <a:t>月</a:t>
            </a:r>
            <a:r>
              <a:rPr lang="en-US" altLang="zh-CN" b="1" dirty="0" smtClean="0">
                <a:solidFill>
                  <a:srgbClr val="FF0000"/>
                </a:solidFill>
              </a:rPr>
              <a:t>29</a:t>
            </a:r>
            <a:r>
              <a:rPr lang="zh-CN" altLang="en-US" b="1" dirty="0" smtClean="0">
                <a:solidFill>
                  <a:srgbClr val="FF0000"/>
                </a:solidFill>
              </a:rPr>
              <a:t>日</a:t>
            </a:r>
            <a:r>
              <a:rPr lang="en-US" b="1" dirty="0" smtClean="0">
                <a:solidFill>
                  <a:srgbClr val="FF0000"/>
                </a:solidFill>
              </a:rPr>
              <a:t> 23:59</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49</a:t>
            </a:fld>
            <a:endParaRPr lang="zh-CN" altLang="en-US" dirty="0"/>
          </a:p>
        </p:txBody>
      </p:sp>
      <p:pic>
        <p:nvPicPr>
          <p:cNvPr id="5" name="Picture 4"/>
          <p:cNvPicPr/>
          <p:nvPr/>
        </p:nvPicPr>
        <p:blipFill>
          <a:blip r:embed="rId2"/>
          <a:stretch>
            <a:fillRect/>
          </a:stretch>
        </p:blipFill>
        <p:spPr>
          <a:xfrm>
            <a:off x="2542222" y="3080782"/>
            <a:ext cx="4059555" cy="2999740"/>
          </a:xfrm>
          <a:prstGeom prst="rect">
            <a:avLst/>
          </a:prstGeom>
        </p:spPr>
      </p:pic>
    </p:spTree>
    <p:extLst>
      <p:ext uri="{BB962C8B-B14F-4D97-AF65-F5344CB8AC3E}">
        <p14:creationId xmlns:p14="http://schemas.microsoft.com/office/powerpoint/2010/main" val="157992316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11276</TotalTime>
  <Words>2054</Words>
  <Application>Microsoft Office PowerPoint</Application>
  <PresentationFormat>全屏显示(4:3)</PresentationFormat>
  <Paragraphs>532</Paragraphs>
  <Slides>49</Slides>
  <Notes>7</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49</vt:i4>
      </vt:variant>
    </vt:vector>
  </HeadingPairs>
  <TitlesOfParts>
    <vt:vector size="60" baseType="lpstr">
      <vt:lpstr>04b</vt:lpstr>
      <vt:lpstr>Mangal</vt:lpstr>
      <vt:lpstr>ZztexMono-Regular</vt:lpstr>
      <vt:lpstr>楷体_GB2312</vt:lpstr>
      <vt:lpstr>宋体</vt:lpstr>
      <vt:lpstr>微软雅黑</vt:lpstr>
      <vt:lpstr>Arial</vt:lpstr>
      <vt:lpstr>Calibri</vt:lpstr>
      <vt:lpstr>Cambria Math</vt:lpstr>
      <vt:lpstr>Wingdings</vt:lpstr>
      <vt:lpstr>Office 主题</vt:lpstr>
      <vt:lpstr>PowerPoint 演示文稿</vt:lpstr>
      <vt:lpstr>知识点回顾 - 平面几何投影的分类</vt:lpstr>
      <vt:lpstr>知识点回顾 - 透视投影</vt:lpstr>
      <vt:lpstr>知识点回顾 - 平行投影</vt:lpstr>
      <vt:lpstr>知识点回顾 - 模型视图矩阵的计算</vt:lpstr>
      <vt:lpstr>模型视图矩阵的计算</vt:lpstr>
      <vt:lpstr>知识点回顾 - LookAt函数</vt:lpstr>
      <vt:lpstr>大纲</vt:lpstr>
      <vt:lpstr>内容提要</vt:lpstr>
      <vt:lpstr>大纲</vt:lpstr>
      <vt:lpstr>正交投影</vt:lpstr>
      <vt:lpstr>OpenGL中的正交投影</vt:lpstr>
      <vt:lpstr>对投影的理解</vt:lpstr>
      <vt:lpstr>投影规范化</vt:lpstr>
      <vt:lpstr>投影规范化</vt:lpstr>
      <vt:lpstr>正交投影矩阵</vt:lpstr>
      <vt:lpstr>斜投影</vt:lpstr>
      <vt:lpstr>斜投影</vt:lpstr>
      <vt:lpstr>大纲</vt:lpstr>
      <vt:lpstr>透视投影</vt:lpstr>
      <vt:lpstr>简单透视</vt:lpstr>
      <vt:lpstr>简单透视</vt:lpstr>
      <vt:lpstr>透视除法</vt:lpstr>
      <vt:lpstr>OpenGL的透视投影</vt:lpstr>
      <vt:lpstr>OpenGL的透视投影函数</vt:lpstr>
      <vt:lpstr>透视规范化</vt:lpstr>
      <vt:lpstr>透视规范化矩阵</vt:lpstr>
      <vt:lpstr>OpenGL的透视变换</vt:lpstr>
      <vt:lpstr>错切变换</vt:lpstr>
      <vt:lpstr>缩放变换</vt:lpstr>
      <vt:lpstr>OpenGL的透视变换</vt:lpstr>
      <vt:lpstr>OpenGL的透视变换</vt:lpstr>
      <vt:lpstr>OpenGL的透视变换</vt:lpstr>
      <vt:lpstr>投影变换总结</vt:lpstr>
      <vt:lpstr>大纲</vt:lpstr>
      <vt:lpstr>隐藏面消除</vt:lpstr>
      <vt:lpstr>隐藏面消除算法</vt:lpstr>
      <vt:lpstr>隐藏面消除算法</vt:lpstr>
      <vt:lpstr>大纲</vt:lpstr>
      <vt:lpstr>曲面的表示</vt:lpstr>
      <vt:lpstr>高度场的绘制显示</vt:lpstr>
      <vt:lpstr>网格曲面的绘制显示</vt:lpstr>
      <vt:lpstr>大纲</vt:lpstr>
      <vt:lpstr>阴影效果</vt:lpstr>
      <vt:lpstr>阴影效果</vt:lpstr>
      <vt:lpstr>阴影效果</vt:lpstr>
      <vt:lpstr>实验 2</vt:lpstr>
      <vt:lpstr>实验 3.1</vt:lpstr>
      <vt:lpstr>期中大作业</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Ruizhen Hu</dc:creator>
  <cp:lastModifiedBy>周 漾</cp:lastModifiedBy>
  <cp:revision>600</cp:revision>
  <dcterms:created xsi:type="dcterms:W3CDTF">2016-08-04T07:29:19Z</dcterms:created>
  <dcterms:modified xsi:type="dcterms:W3CDTF">2023-10-25T06:04:11Z</dcterms:modified>
</cp:coreProperties>
</file>