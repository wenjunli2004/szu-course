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37"/>
  </p:notesMasterIdLst>
  <p:sldIdLst>
    <p:sldId id="371" r:id="rId3"/>
    <p:sldId id="356" r:id="rId4"/>
    <p:sldId id="258" r:id="rId5"/>
    <p:sldId id="298" r:id="rId6"/>
    <p:sldId id="261" r:id="rId7"/>
    <p:sldId id="299" r:id="rId8"/>
    <p:sldId id="358" r:id="rId9"/>
    <p:sldId id="357" r:id="rId10"/>
    <p:sldId id="325" r:id="rId11"/>
    <p:sldId id="268" r:id="rId12"/>
    <p:sldId id="304" r:id="rId13"/>
    <p:sldId id="343" r:id="rId14"/>
    <p:sldId id="335" r:id="rId15"/>
    <p:sldId id="344" r:id="rId16"/>
    <p:sldId id="336" r:id="rId17"/>
    <p:sldId id="337" r:id="rId18"/>
    <p:sldId id="345" r:id="rId19"/>
    <p:sldId id="338" r:id="rId20"/>
    <p:sldId id="347" r:id="rId21"/>
    <p:sldId id="339" r:id="rId22"/>
    <p:sldId id="271" r:id="rId23"/>
    <p:sldId id="273" r:id="rId24"/>
    <p:sldId id="349" r:id="rId25"/>
    <p:sldId id="340" r:id="rId26"/>
    <p:sldId id="350" r:id="rId27"/>
    <p:sldId id="351" r:id="rId28"/>
    <p:sldId id="311" r:id="rId29"/>
    <p:sldId id="354" r:id="rId30"/>
    <p:sldId id="353" r:id="rId31"/>
    <p:sldId id="312" r:id="rId32"/>
    <p:sldId id="352" r:id="rId33"/>
    <p:sldId id="309" r:id="rId34"/>
    <p:sldId id="327" r:id="rId35"/>
    <p:sldId id="348"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4B0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77" autoAdjust="0"/>
    <p:restoredTop sz="93883" autoAdjust="0"/>
  </p:normalViewPr>
  <p:slideViewPr>
    <p:cSldViewPr snapToGrid="0">
      <p:cViewPr varScale="1">
        <p:scale>
          <a:sx n="115" d="100"/>
          <a:sy n="115" d="100"/>
        </p:scale>
        <p:origin x="1110" y="102"/>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2023/11/8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DC56F0-BEE5-4715-8E33-DABC78619DE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5322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5</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10</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2.4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21</a:t>
            </a:fld>
            <a:endParaRPr lang="zh-CN" altLang="en-US"/>
          </a:p>
        </p:txBody>
      </p:sp>
    </p:spTree>
    <p:extLst>
      <p:ext uri="{BB962C8B-B14F-4D97-AF65-F5344CB8AC3E}">
        <p14:creationId xmlns:p14="http://schemas.microsoft.com/office/powerpoint/2010/main" val="1616529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2023/11/8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2023/11/8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2023/11/8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2023/11/8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2023/11/8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2023/11/8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2023/11/8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2023/11/8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2023/11/8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2023/11/8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2023/11/8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EBE31F-852E-4C21-A5BF-45A621D063B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32050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2D8B5D-A758-4441-AB52-89DDE7AF36E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01822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CD77614-659B-42BB-94D6-453193BCDAC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687055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79A146-8CD6-4CAA-B3D3-2C21DC42388C}"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629864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636B5B9-9CF5-47F0-9553-3F68E408061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1106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A754A2-9B8A-4D21-BA10-2D4311C5CCE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679107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1081895-D564-41D2-A6FC-FB534A16877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565369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D9337D-A0CC-4C7E-87C9-35D7F76F26E6}"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464561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A811D75-C662-4506-9923-F360C490CD83}"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479279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DD6D4-6C22-42E4-BD00-B5AB433AEB7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24939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D0094D1-277E-4F0D-A9D3-6C723ED9405F}"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31735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2023/11/8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204977B-C4EC-482F-96C1-0349DC32933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2023/11/8</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7835710" y="144689"/>
            <a:ext cx="1355499"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VCC@SZU</a:t>
            </a:r>
          </a:p>
        </p:txBody>
      </p:sp>
    </p:spTree>
    <p:extLst>
      <p:ext uri="{BB962C8B-B14F-4D97-AF65-F5344CB8AC3E}">
        <p14:creationId xmlns:p14="http://schemas.microsoft.com/office/powerpoint/2010/main" val="39639339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590.png"/><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630.png"/><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image" Target="../media/image34.emf"/><Relationship Id="rId4" Type="http://schemas.openxmlformats.org/officeDocument/2006/relationships/image" Target="../media/image33.emf"/></Relationships>
</file>

<file path=ppt/slides/_rels/slide2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730.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410.png"/></Relationships>
</file>

<file path=ppt/slides/_rels/slide2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42.emf"/><Relationship Id="rId4" Type="http://schemas.openxmlformats.org/officeDocument/2006/relationships/image" Target="../media/image41.emf"/></Relationships>
</file>

<file path=ppt/slides/_rels/slide28.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48.emf"/><Relationship Id="rId4" Type="http://schemas.openxmlformats.org/officeDocument/2006/relationships/image" Target="../media/image30.emf"/></Relationships>
</file>

<file path=ppt/slides/_rels/slide3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50.emf"/><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0" b="1" i="0" u="none" strike="noStrike" kern="1200" cap="none" spc="0" normalizeH="0" baseline="0" noProof="0" dirty="0">
                <a:ln>
                  <a:noFill/>
                </a:ln>
                <a:solidFill>
                  <a:srgbClr val="94003F"/>
                </a:solidFill>
                <a:effectLst/>
                <a:uLnTx/>
                <a:uFillTx/>
                <a:latin typeface="微软雅黑" panose="020B0503020204020204" pitchFamily="34" charset="-122"/>
                <a:ea typeface="微软雅黑" panose="020B0503020204020204" pitchFamily="34" charset="-122"/>
                <a:cs typeface="+mn-cs"/>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38905426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知识点回顾</a:t>
            </a:r>
            <a:endParaRPr lang="en-US" dirty="0"/>
          </a:p>
        </p:txBody>
      </p:sp>
      <p:sp>
        <p:nvSpPr>
          <p:cNvPr id="5" name="Content Placeholder 4"/>
          <p:cNvSpPr>
            <a:spLocks noGrp="1"/>
          </p:cNvSpPr>
          <p:nvPr>
            <p:ph idx="1"/>
          </p:nvPr>
        </p:nvSpPr>
        <p:spPr/>
        <p:txBody>
          <a:bodyPr/>
          <a:lstStyle/>
          <a:p>
            <a:r>
              <a:rPr lang="zh-CN" altLang="en-US" dirty="0" smtClean="0"/>
              <a:t>绘制</a:t>
            </a:r>
            <a:endParaRPr lang="en-US" altLang="zh-CN" dirty="0" smtClean="0"/>
          </a:p>
          <a:p>
            <a:pPr lvl="1"/>
            <a:r>
              <a:rPr lang="zh-CN" altLang="en-US" dirty="0" smtClean="0"/>
              <a:t>几何对象</a:t>
            </a:r>
            <a:endParaRPr lang="en-US" altLang="zh-CN" dirty="0" smtClean="0"/>
          </a:p>
          <a:p>
            <a:pPr lvl="1"/>
            <a:r>
              <a:rPr lang="zh-CN" altLang="en-US" dirty="0" smtClean="0"/>
              <a:t>观察</a:t>
            </a:r>
            <a:endParaRPr lang="en-US" altLang="zh-CN" dirty="0" smtClean="0"/>
          </a:p>
          <a:p>
            <a:pPr lvl="2"/>
            <a:r>
              <a:rPr lang="zh-CN" altLang="en-US" dirty="0" smtClean="0"/>
              <a:t>相机位置</a:t>
            </a:r>
            <a:endParaRPr lang="en-US" altLang="zh-CN" dirty="0" smtClean="0"/>
          </a:p>
          <a:p>
            <a:pPr lvl="2"/>
            <a:r>
              <a:rPr lang="zh-CN" altLang="en-US" dirty="0" smtClean="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smtClean="0"/>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62280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541169"/>
          </a:xfrm>
        </p:spPr>
        <p:txBody>
          <a:bodyPr>
            <a:normAutofit/>
          </a:bodyPr>
          <a:lstStyle/>
          <a:p>
            <a:pPr>
              <a:buClr>
                <a:srgbClr val="94003F"/>
              </a:buClr>
            </a:pPr>
            <a:r>
              <a:rPr lang="zh-CN" altLang="en-US" dirty="0" smtClean="0"/>
              <a:t>光线和</a:t>
            </a:r>
            <a:r>
              <a:rPr lang="zh-CN" altLang="en-US" dirty="0"/>
              <a:t>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smtClean="0"/>
          </a:p>
          <a:p>
            <a:r>
              <a:rPr lang="zh-CN" altLang="en-US" dirty="0" smtClean="0"/>
              <a:t>在</a:t>
            </a:r>
            <a:r>
              <a:rPr lang="en-US" altLang="zh-CN" dirty="0" smtClean="0">
                <a:solidFill>
                  <a:srgbClr val="00B0F0"/>
                </a:solidFill>
              </a:rPr>
              <a:t>Ope</a:t>
            </a:r>
            <a:r>
              <a:rPr lang="en-US" altLang="zh-CN" dirty="0" smtClean="0">
                <a:solidFill>
                  <a:srgbClr val="00B1F0"/>
                </a:solidFill>
              </a:rPr>
              <a:t>nGL</a:t>
            </a:r>
            <a:r>
              <a:rPr lang="zh-CN" altLang="en-US" dirty="0" smtClean="0"/>
              <a:t>中指定光照</a:t>
            </a:r>
            <a:r>
              <a:rPr lang="zh-CN" altLang="en-US" dirty="0"/>
              <a:t>参数</a:t>
            </a:r>
            <a:endParaRPr lang="en-US" altLang="zh-CN" dirty="0"/>
          </a:p>
          <a:p>
            <a:r>
              <a:rPr lang="zh-CN" altLang="en-US" dirty="0" smtClean="0"/>
              <a:t>在</a:t>
            </a:r>
            <a:r>
              <a:rPr lang="en-US" altLang="zh-CN" dirty="0" smtClean="0">
                <a:solidFill>
                  <a:srgbClr val="00B0F0"/>
                </a:solidFill>
              </a:rPr>
              <a:t>Ope</a:t>
            </a:r>
            <a:r>
              <a:rPr lang="en-US" altLang="zh-CN" dirty="0" smtClean="0">
                <a:solidFill>
                  <a:srgbClr val="00B1F0"/>
                </a:solidFill>
              </a:rPr>
              <a:t>nGL</a:t>
            </a:r>
            <a:r>
              <a:rPr lang="zh-CN" altLang="en-US" dirty="0" smtClean="0"/>
              <a:t>中实现光照模型</a:t>
            </a:r>
            <a:endParaRPr lang="en-US" altLang="zh-CN" dirty="0" smtClean="0"/>
          </a:p>
          <a:p>
            <a:pPr>
              <a:buClr>
                <a:srgbClr val="94003F"/>
              </a:buClr>
            </a:pPr>
            <a:r>
              <a:rPr lang="zh-CN" altLang="en-US" dirty="0" smtClean="0"/>
              <a:t>多边形的明暗绘制</a:t>
            </a:r>
            <a:endParaRPr lang="en-US" altLang="zh-CN" dirty="0"/>
          </a:p>
          <a:p>
            <a:r>
              <a:rPr lang="zh-CN" altLang="en-US" dirty="0" smtClean="0"/>
              <a:t>通过递归细分逼近球面</a:t>
            </a:r>
            <a:endParaRPr lang="en-US" altLang="zh-CN" dirty="0" smtClean="0"/>
          </a:p>
          <a:p>
            <a:r>
              <a:rPr lang="zh-CN" altLang="en-US" dirty="0" smtClean="0"/>
              <a:t>基于片元的光照计算</a:t>
            </a:r>
            <a:endParaRPr lang="en-US" altLang="zh-CN" dirty="0"/>
          </a:p>
          <a:p>
            <a:r>
              <a:rPr lang="zh-CN" altLang="en-US" dirty="0"/>
              <a:t>全局光照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4</a:t>
            </a:fld>
            <a:endParaRPr lang="zh-CN" altLang="en-US"/>
          </a:p>
        </p:txBody>
      </p:sp>
      <p:sp>
        <p:nvSpPr>
          <p:cNvPr id="5" name="Rectangle 4"/>
          <p:cNvSpPr/>
          <p:nvPr/>
        </p:nvSpPr>
        <p:spPr>
          <a:xfrm>
            <a:off x="628650" y="3184634"/>
            <a:ext cx="7722704" cy="348418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sp>
        <p:nvSpPr>
          <p:cNvPr id="8" name="文本框 7"/>
          <p:cNvSpPr txBox="1"/>
          <p:nvPr/>
        </p:nvSpPr>
        <p:spPr>
          <a:xfrm>
            <a:off x="3329273" y="3389111"/>
            <a:ext cx="2492990" cy="646331"/>
          </a:xfrm>
          <a:prstGeom prst="rect">
            <a:avLst/>
          </a:prstGeom>
          <a:noFill/>
        </p:spPr>
        <p:txBody>
          <a:bodyPr wrap="none" rtlCol="0">
            <a:spAutoFit/>
          </a:bodyPr>
          <a:lstStyle/>
          <a:p>
            <a:pPr algn="ctr"/>
            <a:r>
              <a:rPr lang="zh-CN" altLang="en-US" sz="3600" b="1" dirty="0" smtClean="0">
                <a:latin typeface="微软雅黑" panose="020B0503020204020204" pitchFamily="34" charset="-122"/>
                <a:ea typeface="微软雅黑" panose="020B0503020204020204" pitchFamily="34" charset="-122"/>
              </a:rPr>
              <a:t>光线和</a:t>
            </a:r>
            <a:r>
              <a:rPr lang="zh-CN" altLang="en-US" sz="3600" b="1" dirty="0">
                <a:latin typeface="微软雅黑" panose="020B0503020204020204" pitchFamily="34" charset="-122"/>
                <a:ea typeface="微软雅黑" panose="020B0503020204020204" pitchFamily="34" charset="-122"/>
              </a:rPr>
              <a:t>材质</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606196" y="1119801"/>
            <a:ext cx="2596934" cy="4528800"/>
          </a:xfrm>
          <a:prstGeom prst="rect">
            <a:avLst/>
          </a:prstGeom>
        </p:spPr>
      </p:pic>
      <p:sp>
        <p:nvSpPr>
          <p:cNvPr id="2" name="标题 1"/>
          <p:cNvSpPr>
            <a:spLocks noGrp="1"/>
          </p:cNvSpPr>
          <p:nvPr>
            <p:ph type="title"/>
          </p:nvPr>
        </p:nvSpPr>
        <p:spPr/>
        <p:txBody>
          <a:bodyPr/>
          <a:lstStyle/>
          <a:p>
            <a:r>
              <a:rPr lang="zh-CN" altLang="en-US" dirty="0"/>
              <a:t>真实感绘制</a:t>
            </a:r>
          </a:p>
        </p:txBody>
      </p:sp>
      <p:sp>
        <p:nvSpPr>
          <p:cNvPr id="3" name="内容占位符 2"/>
          <p:cNvSpPr>
            <a:spLocks noGrp="1"/>
          </p:cNvSpPr>
          <p:nvPr>
            <p:ph idx="1"/>
          </p:nvPr>
        </p:nvSpPr>
        <p:spPr>
          <a:xfrm>
            <a:off x="628650" y="1316831"/>
            <a:ext cx="7886700" cy="5176044"/>
          </a:xfrm>
        </p:spPr>
        <p:txBody>
          <a:bodyPr>
            <a:normAutofit/>
          </a:bodyPr>
          <a:lstStyle/>
          <a:p>
            <a:pPr>
              <a:buClr>
                <a:srgbClr val="94003F"/>
              </a:buClr>
            </a:pPr>
            <a:r>
              <a:rPr lang="zh-CN" altLang="en-US" sz="2400" dirty="0"/>
              <a:t>图形学中的真实感</a:t>
            </a:r>
            <a:endParaRPr lang="en-US" altLang="zh-CN" sz="1800" dirty="0"/>
          </a:p>
          <a:p>
            <a:pPr lvl="1">
              <a:buClr>
                <a:schemeClr val="tx1"/>
              </a:buClr>
            </a:pPr>
            <a:r>
              <a:rPr lang="zh-CN" altLang="en-US" sz="1800" dirty="0"/>
              <a:t>照片级绘制</a:t>
            </a:r>
            <a:endParaRPr lang="en-US" altLang="zh-CN" sz="1800" dirty="0"/>
          </a:p>
          <a:p>
            <a:pPr marL="457200" lvl="1" indent="0">
              <a:buClr>
                <a:schemeClr val="tx1"/>
              </a:buClr>
              <a:buNone/>
            </a:pPr>
            <a:r>
              <a:rPr lang="en-US" altLang="zh-CN" sz="1800" dirty="0"/>
              <a:t>   </a:t>
            </a:r>
            <a:r>
              <a:rPr lang="zh-CN" altLang="en-US" sz="1800" dirty="0" smtClean="0"/>
              <a:t>（</a:t>
            </a:r>
            <a:r>
              <a:rPr lang="en-US" altLang="zh-CN" sz="1800" dirty="0" smtClean="0"/>
              <a:t>Photorealistic</a:t>
            </a:r>
            <a:r>
              <a:rPr lang="zh-CN" altLang="en-US" sz="1800" dirty="0"/>
              <a:t>）</a:t>
            </a:r>
            <a:endParaRPr lang="en-US" altLang="zh-CN" sz="1800" dirty="0"/>
          </a:p>
          <a:p>
            <a:pPr lvl="1">
              <a:buClr>
                <a:schemeClr val="tx1"/>
              </a:buClr>
            </a:pPr>
            <a:r>
              <a:rPr lang="zh-CN" altLang="en-US" sz="1800" dirty="0"/>
              <a:t>符合物理规律</a:t>
            </a:r>
            <a:endParaRPr lang="en-US" altLang="zh-CN" sz="1800" dirty="0"/>
          </a:p>
          <a:p>
            <a:pPr lvl="1">
              <a:buClr>
                <a:schemeClr val="tx1"/>
              </a:buClr>
            </a:pPr>
            <a:endParaRPr lang="en-US" altLang="zh-CN" sz="1800" dirty="0"/>
          </a:p>
          <a:p>
            <a:pPr>
              <a:buClr>
                <a:srgbClr val="94003F"/>
              </a:buClr>
            </a:pPr>
            <a:endParaRPr lang="en-US" altLang="zh-CN" sz="2400" dirty="0" smtClean="0"/>
          </a:p>
          <a:p>
            <a:pPr>
              <a:buClr>
                <a:srgbClr val="94003F"/>
              </a:buClr>
            </a:pPr>
            <a:r>
              <a:rPr lang="zh-CN" altLang="en-US" sz="2400" dirty="0" smtClean="0"/>
              <a:t>绘制</a:t>
            </a:r>
            <a:r>
              <a:rPr lang="zh-CN" altLang="en-US" sz="2400" dirty="0"/>
              <a:t>原理</a:t>
            </a:r>
          </a:p>
          <a:p>
            <a:pPr lvl="1">
              <a:buClr>
                <a:schemeClr val="tx1"/>
              </a:buClr>
            </a:pPr>
            <a:r>
              <a:rPr lang="zh-CN" altLang="en-US" sz="1800" dirty="0"/>
              <a:t>光源</a:t>
            </a:r>
            <a:r>
              <a:rPr lang="en-US" altLang="zh-CN" sz="1800" dirty="0"/>
              <a:t>/</a:t>
            </a:r>
            <a:r>
              <a:rPr lang="zh-CN" altLang="en-US" sz="1800" dirty="0"/>
              <a:t>光线</a:t>
            </a:r>
            <a:r>
              <a:rPr lang="en-US" altLang="zh-CN" sz="1800" dirty="0"/>
              <a:t>/</a:t>
            </a:r>
            <a:r>
              <a:rPr lang="zh-CN" altLang="en-US" sz="1800" dirty="0"/>
              <a:t>光波</a:t>
            </a:r>
            <a:endParaRPr lang="zh-CN" altLang="en-US" sz="1800" b="1" baseline="30000" dirty="0"/>
          </a:p>
          <a:p>
            <a:pPr lvl="1">
              <a:buClr>
                <a:schemeClr val="tx1"/>
              </a:buClr>
            </a:pPr>
            <a:r>
              <a:rPr lang="zh-CN" altLang="en-US" sz="1800" dirty="0"/>
              <a:t>材质</a:t>
            </a:r>
            <a:endParaRPr lang="en-US" altLang="zh-CN" sz="1800" dirty="0"/>
          </a:p>
          <a:p>
            <a:pPr lvl="1">
              <a:buClr>
                <a:schemeClr val="tx1"/>
              </a:buClr>
            </a:pPr>
            <a:r>
              <a:rPr lang="zh-CN" altLang="en-US" sz="1800" dirty="0" smtClean="0">
                <a:solidFill>
                  <a:srgbClr val="0000FF"/>
                </a:solidFill>
              </a:rPr>
              <a:t>绘制方程</a:t>
            </a:r>
            <a:endParaRPr lang="en-US" altLang="zh-CN" sz="1800" dirty="0" smtClean="0">
              <a:solidFill>
                <a:srgbClr val="0000FF"/>
              </a:solidFill>
            </a:endParaRPr>
          </a:p>
          <a:p>
            <a:pPr lvl="1">
              <a:buClr>
                <a:schemeClr val="tx1"/>
              </a:buClr>
            </a:pPr>
            <a:endParaRPr lang="en-US" altLang="zh-CN" sz="1800" dirty="0"/>
          </a:p>
          <a:p>
            <a:pPr marL="457200" lvl="1" indent="0">
              <a:buClr>
                <a:schemeClr val="tx1"/>
              </a:buClr>
              <a:buNone/>
            </a:pPr>
            <a:endParaRPr lang="en-US" altLang="zh-CN" sz="18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6" name="图片 5"/>
          <p:cNvPicPr>
            <a:picLocks noChangeAspect="1"/>
          </p:cNvPicPr>
          <p:nvPr/>
        </p:nvPicPr>
        <p:blipFill>
          <a:blip r:embed="rId3"/>
          <a:stretch>
            <a:fillRect/>
          </a:stretch>
        </p:blipFill>
        <p:spPr>
          <a:xfrm>
            <a:off x="6240835" y="1119022"/>
            <a:ext cx="2624915" cy="4529579"/>
          </a:xfrm>
          <a:prstGeom prst="rect">
            <a:avLst/>
          </a:prstGeom>
        </p:spPr>
      </p:pic>
    </p:spTree>
    <p:extLst>
      <p:ext uri="{BB962C8B-B14F-4D97-AF65-F5344CB8AC3E}">
        <p14:creationId xmlns:p14="http://schemas.microsoft.com/office/powerpoint/2010/main" val="405701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光线与材质</a:t>
            </a:r>
            <a:endParaRPr lang="en-US" dirty="0"/>
          </a:p>
        </p:txBody>
      </p:sp>
      <p:sp>
        <p:nvSpPr>
          <p:cNvPr id="3" name="Content Placeholder 2"/>
          <p:cNvSpPr>
            <a:spLocks noGrp="1"/>
          </p:cNvSpPr>
          <p:nvPr>
            <p:ph idx="1"/>
          </p:nvPr>
        </p:nvSpPr>
        <p:spPr/>
        <p:txBody>
          <a:bodyPr/>
          <a:lstStyle/>
          <a:p>
            <a:r>
              <a:rPr lang="zh-CN" altLang="en-US" sz="2400" dirty="0" smtClean="0"/>
              <a:t>曲面</a:t>
            </a:r>
            <a:r>
              <a:rPr lang="zh-CN" altLang="en-US" sz="2400" dirty="0"/>
              <a:t>上某一点的颜色取决于</a:t>
            </a:r>
            <a:r>
              <a:rPr lang="zh-CN" altLang="en-US" sz="2400" dirty="0">
                <a:solidFill>
                  <a:srgbClr val="0000FF"/>
                </a:solidFill>
              </a:rPr>
              <a:t>光照与材质之间的多次作用</a:t>
            </a:r>
          </a:p>
          <a:p>
            <a:r>
              <a:rPr lang="zh-CN" altLang="en-US" sz="2400" dirty="0" smtClean="0"/>
              <a:t>相互作用的三大分类：</a:t>
            </a:r>
            <a:endParaRPr lang="en-US" altLang="zh-CN" sz="2400" dirty="0" smtClean="0"/>
          </a:p>
          <a:p>
            <a:pPr lvl="1"/>
            <a:r>
              <a:rPr lang="zh-CN" altLang="en-US" sz="1800" b="1" dirty="0" smtClean="0"/>
              <a:t>镜面反射</a:t>
            </a:r>
            <a:r>
              <a:rPr lang="zh-CN" altLang="en-US" sz="1800" dirty="0" smtClean="0"/>
              <a:t>：如镜子</a:t>
            </a:r>
            <a:endParaRPr lang="en-US" altLang="zh-CN" sz="1800" dirty="0" smtClean="0"/>
          </a:p>
          <a:p>
            <a:pPr lvl="2"/>
            <a:r>
              <a:rPr lang="zh-CN" altLang="en-US" sz="1800" dirty="0" smtClean="0"/>
              <a:t>可能有一部分入射光线被吸收，但是所有反射出去的光线都沿着同一个方向，反射光线的方向服从入射角等于反射角这一规律</a:t>
            </a:r>
            <a:endParaRPr lang="en-US" altLang="zh-CN" sz="1800" dirty="0" smtClean="0"/>
          </a:p>
          <a:p>
            <a:pPr lvl="1"/>
            <a:r>
              <a:rPr lang="zh-CN" altLang="en-US" sz="1800" b="1" dirty="0" smtClean="0"/>
              <a:t>漫反射</a:t>
            </a:r>
            <a:r>
              <a:rPr lang="zh-CN" altLang="en-US" sz="1800" dirty="0" smtClean="0"/>
              <a:t>：如墙面</a:t>
            </a:r>
            <a:endParaRPr lang="en-US" altLang="zh-CN" sz="1800" dirty="0" smtClean="0"/>
          </a:p>
          <a:p>
            <a:pPr lvl="2"/>
            <a:r>
              <a:rPr lang="zh-CN" altLang="en-US" sz="1800" dirty="0" smtClean="0"/>
              <a:t>向各个方向散射的光线强度都相等</a:t>
            </a:r>
            <a:endParaRPr lang="en-US" altLang="zh-CN" sz="1800" dirty="0" smtClean="0"/>
          </a:p>
          <a:p>
            <a:pPr lvl="1"/>
            <a:r>
              <a:rPr lang="zh-CN" altLang="en-US" sz="1800" b="1" dirty="0" smtClean="0"/>
              <a:t>折射</a:t>
            </a:r>
            <a:r>
              <a:rPr lang="zh-CN" altLang="en-US" sz="1800" dirty="0" smtClean="0"/>
              <a:t>：如玻璃和水</a:t>
            </a:r>
            <a:endParaRPr lang="en-US" altLang="zh-CN" sz="1800" dirty="0" smtClean="0"/>
          </a:p>
          <a:p>
            <a:pPr lvl="2"/>
            <a:r>
              <a:rPr lang="zh-CN" altLang="en-US" sz="1800" dirty="0" smtClean="0"/>
              <a:t>半透明表面，允许入射光线的一部分进入表面并且从对象的另一个位置再发射出去</a:t>
            </a:r>
            <a:endParaRPr lang="en-US" altLang="zh-CN" sz="1800" dirty="0" smtClean="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smtClean="0">
                <a:latin typeface="微软雅黑" panose="020B0503020204020204" pitchFamily="34" charset="-122"/>
                <a:ea typeface="微软雅黑" panose="020B0503020204020204" pitchFamily="34" charset="-122"/>
              </a:rPr>
              <a:t>折射</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28601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光的无穷次反射和吸收过程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376472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光照模型</a:t>
            </a:r>
            <a:endParaRPr lang="zh-CN" altLang="en-US" dirty="0"/>
          </a:p>
        </p:txBody>
      </p:sp>
      <p:sp>
        <p:nvSpPr>
          <p:cNvPr id="3" name="内容占位符 2"/>
          <p:cNvSpPr>
            <a:spLocks noGrp="1"/>
          </p:cNvSpPr>
          <p:nvPr>
            <p:ph idx="1"/>
          </p:nvPr>
        </p:nvSpPr>
        <p:spPr>
          <a:xfrm>
            <a:off x="628650" y="1316830"/>
            <a:ext cx="7886700" cy="5176045"/>
          </a:xfrm>
        </p:spPr>
        <p:txBody>
          <a:bodyPr>
            <a:normAutofit/>
          </a:bodyPr>
          <a:lstStyle/>
          <a:p>
            <a:r>
              <a:rPr lang="zh-CN" altLang="en-US" sz="2400" dirty="0"/>
              <a:t>全局</a:t>
            </a:r>
            <a:r>
              <a:rPr lang="zh-CN" altLang="en-US" sz="2400" dirty="0" smtClean="0"/>
              <a:t>光照模型</a:t>
            </a:r>
            <a:endParaRPr lang="en-US" altLang="zh-CN" sz="2400" dirty="0" smtClean="0"/>
          </a:p>
          <a:p>
            <a:pPr lvl="1"/>
            <a:r>
              <a:rPr lang="zh-CN" altLang="en-US" sz="1800" dirty="0" smtClean="0"/>
              <a:t>明暗</a:t>
            </a:r>
            <a:r>
              <a:rPr lang="zh-CN" altLang="en-US" sz="1800" dirty="0"/>
              <a:t>处理需要全局计算</a:t>
            </a:r>
            <a:r>
              <a:rPr lang="zh-CN" altLang="en-US" sz="1800" dirty="0" smtClean="0"/>
              <a:t>，即</a:t>
            </a:r>
            <a:r>
              <a:rPr lang="zh-CN" altLang="en-US" sz="1800" dirty="0"/>
              <a:t>包含了所有</a:t>
            </a:r>
            <a:r>
              <a:rPr lang="zh-CN" altLang="en-US" sz="1800" dirty="0" smtClean="0"/>
              <a:t>的对象</a:t>
            </a:r>
            <a:r>
              <a:rPr lang="zh-CN" altLang="en-US" sz="1800" dirty="0"/>
              <a:t>和</a:t>
            </a:r>
            <a:r>
              <a:rPr lang="zh-CN" altLang="en-US" sz="1800" dirty="0" smtClean="0"/>
              <a:t>光源</a:t>
            </a:r>
            <a:endParaRPr lang="en-US" altLang="zh-CN" sz="1800" dirty="0" smtClean="0"/>
          </a:p>
          <a:p>
            <a:pPr lvl="1"/>
            <a:r>
              <a:rPr lang="zh-CN" altLang="en-US" sz="1800" dirty="0" smtClean="0"/>
              <a:t>过于复杂，与</a:t>
            </a:r>
            <a:r>
              <a:rPr lang="zh-CN" altLang="en-US" sz="1800" dirty="0"/>
              <a:t>流水线模型不兼容</a:t>
            </a:r>
            <a:endParaRPr lang="en-US" altLang="zh-CN" sz="1800" dirty="0" smtClean="0"/>
          </a:p>
          <a:p>
            <a:endParaRPr lang="en-US" altLang="zh-CN" sz="2400" dirty="0" smtClean="0"/>
          </a:p>
          <a:p>
            <a:endParaRPr lang="en-US" altLang="zh-CN" sz="2400" dirty="0" smtClean="0"/>
          </a:p>
          <a:p>
            <a:endParaRPr lang="en-US" altLang="zh-CN" sz="2400" dirty="0" smtClean="0"/>
          </a:p>
          <a:p>
            <a:endParaRPr lang="en-US" altLang="zh-CN" sz="2400" dirty="0"/>
          </a:p>
          <a:p>
            <a:endParaRPr lang="en-US" altLang="zh-CN" sz="2400" dirty="0" smtClean="0"/>
          </a:p>
          <a:p>
            <a:endParaRPr lang="en-US" altLang="zh-CN" sz="2400" dirty="0" smtClean="0"/>
          </a:p>
          <a:p>
            <a:r>
              <a:rPr lang="zh-CN" altLang="en-US" sz="2400" dirty="0" smtClean="0">
                <a:solidFill>
                  <a:srgbClr val="0000FF"/>
                </a:solidFill>
              </a:rPr>
              <a:t>局部</a:t>
            </a:r>
            <a:r>
              <a:rPr lang="zh-CN" altLang="en-US" sz="2400" dirty="0">
                <a:solidFill>
                  <a:srgbClr val="0000FF"/>
                </a:solidFill>
              </a:rPr>
              <a:t>光照模型</a:t>
            </a:r>
            <a:endParaRPr lang="en-US" altLang="zh-CN" sz="1800" dirty="0">
              <a:solidFill>
                <a:srgbClr val="0000FF"/>
              </a:solidFill>
            </a:endParaRPr>
          </a:p>
          <a:p>
            <a:pPr lvl="1">
              <a:buClr>
                <a:schemeClr val="tx1"/>
              </a:buClr>
            </a:pPr>
            <a:r>
              <a:rPr lang="zh-CN" altLang="en-US" sz="1800" dirty="0"/>
              <a:t>在图形硬件管线中</a:t>
            </a:r>
            <a:r>
              <a:rPr lang="zh-CN" altLang="en-US" sz="1800" dirty="0" smtClean="0"/>
              <a:t>，对每个对象单独进行</a:t>
            </a:r>
            <a:r>
              <a:rPr lang="zh-CN" altLang="en-US" sz="1800" dirty="0"/>
              <a:t>明暗</a:t>
            </a:r>
            <a:r>
              <a:rPr lang="zh-CN" altLang="en-US" sz="1800" dirty="0" smtClean="0"/>
              <a:t>处理</a:t>
            </a:r>
            <a:endParaRPr lang="en-US" altLang="zh-CN" sz="1800" dirty="0" smtClean="0"/>
          </a:p>
          <a:p>
            <a:pPr lvl="1">
              <a:buClr>
                <a:schemeClr val="tx1"/>
              </a:buClr>
            </a:pPr>
            <a:r>
              <a:rPr lang="zh-CN" altLang="en-US" sz="1800" dirty="0" smtClean="0"/>
              <a:t>存在</a:t>
            </a:r>
            <a:r>
              <a:rPr lang="zh-CN" altLang="en-US" sz="1800" dirty="0"/>
              <a:t>许多方法逼近全局</a:t>
            </a:r>
            <a:r>
              <a:rPr lang="zh-CN" altLang="en-US" sz="1800" dirty="0" smtClean="0"/>
              <a:t>效果</a:t>
            </a:r>
            <a:endParaRPr lang="en-US" altLang="zh-CN" sz="1800" dirty="0"/>
          </a:p>
          <a:p>
            <a:pPr lvl="1">
              <a:buClr>
                <a:schemeClr val="tx1"/>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9644" y="2459428"/>
            <a:ext cx="3640565"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810" y="2459428"/>
            <a:ext cx="3640566"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8"/>
          <p:cNvSpPr/>
          <p:nvPr/>
        </p:nvSpPr>
        <p:spPr>
          <a:xfrm>
            <a:off x="6065820" y="4507246"/>
            <a:ext cx="2591607" cy="338554"/>
          </a:xfrm>
          <a:prstGeom prst="rect">
            <a:avLst/>
          </a:prstGeom>
        </p:spPr>
        <p:txBody>
          <a:bodyPr wrap="none">
            <a:spAutoFit/>
          </a:bodyPr>
          <a:lstStyle/>
          <a:p>
            <a:pPr algn="r">
              <a:defRPr/>
            </a:pPr>
            <a:r>
              <a:rPr lang="en-US" altLang="zh-CN" sz="1600" dirty="0"/>
              <a:t>Assassin’s Creed: Revelations</a:t>
            </a:r>
          </a:p>
        </p:txBody>
      </p:sp>
      <p:sp>
        <p:nvSpPr>
          <p:cNvPr id="11" name="矩形 7"/>
          <p:cNvSpPr/>
          <p:nvPr/>
        </p:nvSpPr>
        <p:spPr>
          <a:xfrm>
            <a:off x="2560122" y="4507246"/>
            <a:ext cx="2261260" cy="338554"/>
          </a:xfrm>
          <a:prstGeom prst="rect">
            <a:avLst/>
          </a:prstGeom>
        </p:spPr>
        <p:txBody>
          <a:bodyPr wrap="none">
            <a:spAutoFit/>
          </a:bodyPr>
          <a:lstStyle/>
          <a:p>
            <a:pPr algn="r">
              <a:defRPr/>
            </a:pPr>
            <a:r>
              <a:rPr lang="en-US" altLang="zh-CN" sz="1600" dirty="0"/>
              <a:t>Need for Speed: The Run</a:t>
            </a:r>
            <a:endParaRPr lang="zh-CN" altLang="en-US" sz="1600" dirty="0"/>
          </a:p>
        </p:txBody>
      </p:sp>
    </p:spTree>
    <p:extLst>
      <p:ext uri="{BB962C8B-B14F-4D97-AF65-F5344CB8AC3E}">
        <p14:creationId xmlns:p14="http://schemas.microsoft.com/office/powerpoint/2010/main" val="20308598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8" name="文本框 7"/>
          <p:cNvSpPr txBox="1"/>
          <p:nvPr/>
        </p:nvSpPr>
        <p:spPr>
          <a:xfrm>
            <a:off x="4021786" y="3389111"/>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光源</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568959" y="1316831"/>
            <a:ext cx="3450350" cy="3723722"/>
          </a:xfrm>
          <a:prstGeom prst="rect">
            <a:avLst/>
          </a:prstGeom>
        </p:spPr>
      </p:pic>
      <p:sp>
        <p:nvSpPr>
          <p:cNvPr id="2" name="标题 1"/>
          <p:cNvSpPr>
            <a:spLocks noGrp="1"/>
          </p:cNvSpPr>
          <p:nvPr>
            <p:ph type="title"/>
          </p:nvPr>
        </p:nvSpPr>
        <p:spPr/>
        <p:txBody>
          <a:bodyPr/>
          <a:lstStyle/>
          <a:p>
            <a:r>
              <a:rPr lang="zh-CN" altLang="en-US" dirty="0"/>
              <a:t>光源的描述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5202655" cy="4351338"/>
              </a:xfrm>
            </p:spPr>
            <p:txBody>
              <a:bodyPr>
                <a:normAutofit/>
              </a:bodyPr>
              <a:lstStyle/>
              <a:p>
                <a:r>
                  <a:rPr lang="zh-CN" altLang="en-US" sz="2400" dirty="0"/>
                  <a:t>光线从光源表面离开的方式有两种</a:t>
                </a:r>
                <a:r>
                  <a:rPr lang="en-US" altLang="zh-CN" sz="2400" dirty="0"/>
                  <a:t>:</a:t>
                </a:r>
                <a:endParaRPr lang="en-US" altLang="zh-CN" sz="1800" dirty="0"/>
              </a:p>
              <a:p>
                <a:pPr lvl="1">
                  <a:buClr>
                    <a:schemeClr val="tx1"/>
                  </a:buClr>
                </a:pPr>
                <a:r>
                  <a:rPr lang="zh-CN" altLang="en-US" sz="1800" dirty="0"/>
                  <a:t>自</a:t>
                </a:r>
                <a:r>
                  <a:rPr lang="zh-CN" altLang="en-US" sz="1800" dirty="0" smtClean="0"/>
                  <a:t>发射（通过内部能量来源发射光线）</a:t>
                </a:r>
                <a:endParaRPr lang="zh-CN" altLang="en-US" sz="1800" dirty="0"/>
              </a:p>
              <a:p>
                <a:pPr lvl="1">
                  <a:buClr>
                    <a:schemeClr val="tx1"/>
                  </a:buClr>
                </a:pPr>
                <a:r>
                  <a:rPr lang="zh-CN" altLang="en-US" sz="1800" dirty="0" smtClean="0"/>
                  <a:t>反射（在简单光源模型里不考虑）</a:t>
                </a:r>
                <a:endParaRPr lang="en-US" altLang="zh-CN" sz="1800" dirty="0"/>
              </a:p>
              <a:p>
                <a:endParaRPr lang="en-US" altLang="zh-CN" sz="2400" dirty="0"/>
              </a:p>
              <a:p>
                <a:r>
                  <a:rPr lang="zh-CN" altLang="en-US" sz="2400" dirty="0" smtClean="0"/>
                  <a:t>在</a:t>
                </a:r>
                <a:r>
                  <a:rPr lang="zh-CN" altLang="en-US" sz="2400" dirty="0"/>
                  <a:t>表面上任一点</a:t>
                </a:r>
                <a14:m>
                  <m:oMath xmlns:m="http://schemas.openxmlformats.org/officeDocument/2006/math">
                    <m:r>
                      <a:rPr lang="en-US" altLang="zh-CN" sz="2400" i="1" dirty="0" smtClean="0">
                        <a:solidFill>
                          <a:srgbClr val="0000FF"/>
                        </a:solidFill>
                        <a:latin typeface="Cambria Math" charset="0"/>
                      </a:rPr>
                      <m:t>(</m:t>
                    </m:r>
                    <m:r>
                      <a:rPr lang="en-US" altLang="zh-CN" sz="2400" i="1" dirty="0" err="1">
                        <a:solidFill>
                          <a:srgbClr val="0000FF"/>
                        </a:solidFill>
                        <a:latin typeface="Cambria Math" charset="0"/>
                      </a:rPr>
                      <m:t>𝑥</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𝑦</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𝑧</m:t>
                    </m:r>
                    <m:r>
                      <a:rPr lang="en-US" altLang="zh-CN" sz="2400" i="1" dirty="0">
                        <a:solidFill>
                          <a:srgbClr val="0000FF"/>
                        </a:solidFill>
                        <a:latin typeface="Cambria Math" charset="0"/>
                      </a:rPr>
                      <m:t>)</m:t>
                    </m:r>
                  </m:oMath>
                </a14:m>
                <a:r>
                  <a:rPr lang="zh-CN" altLang="en-US" sz="2400" dirty="0"/>
                  <a:t>所发出的</a:t>
                </a:r>
                <a:r>
                  <a:rPr lang="zh-CN" altLang="en-US" sz="2400" dirty="0" smtClean="0"/>
                  <a:t>光可以</a:t>
                </a:r>
                <a:r>
                  <a:rPr lang="zh-CN" altLang="en-US" sz="2400" dirty="0"/>
                  <a:t>用</a:t>
                </a:r>
                <a14:m>
                  <m:oMath xmlns:m="http://schemas.openxmlformats.org/officeDocument/2006/math">
                    <m:r>
                      <a:rPr lang="en-US" altLang="zh-CN" sz="2400" i="1" dirty="0" smtClean="0">
                        <a:solidFill>
                          <a:srgbClr val="0000FF"/>
                        </a:solidFill>
                        <a:latin typeface="Cambria Math" charset="0"/>
                      </a:rPr>
                      <m:t>𝜃</m:t>
                    </m:r>
                    <m:r>
                      <a:rPr lang="zh-CN" altLang="en-US" sz="2400" i="1" dirty="0">
                        <a:solidFill>
                          <a:srgbClr val="0000FF"/>
                        </a:solidFill>
                        <a:latin typeface="Cambria Math" charset="0"/>
                      </a:rPr>
                      <m:t>，</m:t>
                    </m:r>
                    <m:r>
                      <a:rPr lang="en-US" altLang="zh-CN" sz="2400" i="1" dirty="0">
                        <a:solidFill>
                          <a:srgbClr val="0000FF"/>
                        </a:solidFill>
                        <a:latin typeface="Cambria Math" charset="0"/>
                      </a:rPr>
                      <m:t>𝜑</m:t>
                    </m:r>
                  </m:oMath>
                </a14:m>
                <a:r>
                  <a:rPr lang="zh-CN" altLang="en-US" sz="2400" dirty="0" smtClean="0"/>
                  <a:t>两个方位角</a:t>
                </a:r>
                <a:r>
                  <a:rPr lang="zh-CN" altLang="en-US" sz="2400" dirty="0"/>
                  <a:t>表示</a:t>
                </a:r>
                <a:r>
                  <a:rPr lang="zh-CN" altLang="en-US" sz="2400" dirty="0" smtClean="0"/>
                  <a:t>以及每个</a:t>
                </a:r>
                <a:r>
                  <a:rPr lang="zh-CN" altLang="en-US" sz="2400" dirty="0"/>
                  <a:t>波长</a:t>
                </a:r>
                <a14:m>
                  <m:oMath xmlns:m="http://schemas.openxmlformats.org/officeDocument/2006/math">
                    <m:r>
                      <a:rPr lang="en-US" altLang="zh-CN" sz="2400" i="1" dirty="0" smtClean="0">
                        <a:solidFill>
                          <a:srgbClr val="0000FF"/>
                        </a:solidFill>
                        <a:latin typeface="Cambria Math" charset="0"/>
                      </a:rPr>
                      <m:t>𝜆</m:t>
                    </m:r>
                  </m:oMath>
                </a14:m>
                <a:r>
                  <a:rPr lang="zh-CN" altLang="en-US" sz="2400" dirty="0"/>
                  <a:t>的强度确定</a:t>
                </a:r>
                <a:endParaRPr lang="en-US" altLang="zh-CN" sz="1800" dirty="0"/>
              </a:p>
              <a:p>
                <a:pPr lvl="1">
                  <a:buClr>
                    <a:schemeClr val="tx1"/>
                  </a:buClr>
                </a:pPr>
                <a:r>
                  <a:rPr lang="zh-CN" altLang="en-US" sz="1800" dirty="0" smtClean="0"/>
                  <a:t>照明函数</a:t>
                </a:r>
                <a:r>
                  <a:rPr lang="zh-CN" altLang="en-US" sz="1800" dirty="0"/>
                  <a:t>有六个变量</a:t>
                </a:r>
                <a:endParaRPr lang="en-US" altLang="zh-CN" sz="1800" dirty="0"/>
              </a:p>
              <a:p>
                <a:pPr marL="457200" lvl="1" indent="0">
                  <a:buClr>
                    <a:schemeClr val="tx1"/>
                  </a:buClr>
                  <a:buNone/>
                </a:pPr>
                <a:endParaRPr lang="zh-CN" altLang="en-US" sz="1800" dirty="0"/>
              </a:p>
              <a:p>
                <a:pPr marL="0" indent="0">
                  <a:buNone/>
                </a:pPr>
                <a:endParaRPr lang="en-US" altLang="zh-CN" sz="1800" dirty="0"/>
              </a:p>
              <a:p>
                <a:pPr marL="0" indent="0">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5202655" cy="4351338"/>
              </a:xfrm>
              <a:blipFill>
                <a:blip r:embed="rId3"/>
                <a:stretch>
                  <a:fillRect l="-468" t="-1961" r="-163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6" name="图片 5"/>
          <p:cNvPicPr>
            <a:picLocks noChangeAspect="1"/>
          </p:cNvPicPr>
          <p:nvPr/>
        </p:nvPicPr>
        <p:blipFill>
          <a:blip r:embed="rId4"/>
          <a:stretch>
            <a:fillRect/>
          </a:stretch>
        </p:blipFill>
        <p:spPr>
          <a:xfrm>
            <a:off x="1209449" y="4361207"/>
            <a:ext cx="2665380" cy="496153"/>
          </a:xfrm>
          <a:prstGeom prst="rect">
            <a:avLst/>
          </a:prstGeom>
        </p:spPr>
      </p:pic>
    </p:spTree>
    <p:extLst>
      <p:ext uri="{BB962C8B-B14F-4D97-AF65-F5344CB8AC3E}">
        <p14:creationId xmlns:p14="http://schemas.microsoft.com/office/powerpoint/2010/main" val="5313222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光源的总贡献</a:t>
            </a:r>
            <a:endParaRPr lang="en-US" dirty="0"/>
          </a:p>
        </p:txBody>
      </p:sp>
      <p:sp>
        <p:nvSpPr>
          <p:cNvPr id="3" name="Content Placeholder 2"/>
          <p:cNvSpPr>
            <a:spLocks noGrp="1"/>
          </p:cNvSpPr>
          <p:nvPr>
            <p:ph idx="1"/>
          </p:nvPr>
        </p:nvSpPr>
        <p:spPr>
          <a:xfrm>
            <a:off x="628650" y="1316830"/>
            <a:ext cx="7886700" cy="5063187"/>
          </a:xfrm>
        </p:spPr>
        <p:txBody>
          <a:bodyPr>
            <a:normAutofit/>
          </a:bodyPr>
          <a:lstStyle/>
          <a:p>
            <a:r>
              <a:rPr lang="zh-CN" altLang="en-US" sz="2400" dirty="0" smtClean="0"/>
              <a:t>对于被光源照射的一个对象，我们</a:t>
            </a:r>
            <a:r>
              <a:rPr lang="zh-CN" altLang="en-US" sz="2400" dirty="0"/>
              <a:t>需要</a:t>
            </a:r>
            <a:r>
              <a:rPr lang="zh-CN" altLang="en-US" sz="2400" dirty="0" smtClean="0"/>
              <a:t>对在</a:t>
            </a:r>
            <a:r>
              <a:rPr lang="zh-CN" altLang="en-US" sz="2400" dirty="0"/>
              <a:t>光源面上的所有点进行光强</a:t>
            </a:r>
            <a:r>
              <a:rPr lang="zh-CN" altLang="en-US" sz="2400" dirty="0" smtClean="0"/>
              <a:t>积分得到光源对对象的总贡献</a:t>
            </a:r>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endParaRPr lang="en-US" altLang="zh-CN" sz="2400" dirty="0"/>
          </a:p>
          <a:p>
            <a:r>
              <a:rPr lang="zh-CN" altLang="en-US" sz="2400" dirty="0" smtClean="0"/>
              <a:t>一般情况下，求这样的积分都是很困难的</a:t>
            </a:r>
            <a:endParaRPr lang="en-US" altLang="zh-CN" sz="2400" dirty="0" smtClean="0"/>
          </a:p>
          <a:p>
            <a:r>
              <a:rPr lang="zh-CN" altLang="en-US" sz="2400" dirty="0" smtClean="0">
                <a:solidFill>
                  <a:srgbClr val="0000FF"/>
                </a:solidFill>
              </a:rPr>
              <a:t>通常用多个基本简单光源来近似</a:t>
            </a:r>
            <a:endParaRPr lang="zh-CN" altLang="en-US" sz="24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pic>
        <p:nvPicPr>
          <p:cNvPr id="5" name="图片 8"/>
          <p:cNvPicPr>
            <a:picLocks noChangeAspect="1"/>
          </p:cNvPicPr>
          <p:nvPr/>
        </p:nvPicPr>
        <p:blipFill>
          <a:blip r:embed="rId2"/>
          <a:stretch>
            <a:fillRect/>
          </a:stretch>
        </p:blipFill>
        <p:spPr>
          <a:xfrm>
            <a:off x="1707274" y="2106134"/>
            <a:ext cx="5729451" cy="3018426"/>
          </a:xfrm>
          <a:prstGeom prst="rect">
            <a:avLst/>
          </a:prstGeom>
        </p:spPr>
      </p:pic>
    </p:spTree>
    <p:extLst>
      <p:ext uri="{BB962C8B-B14F-4D97-AF65-F5344CB8AC3E}">
        <p14:creationId xmlns:p14="http://schemas.microsoft.com/office/powerpoint/2010/main" val="292960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光源的</a:t>
            </a:r>
            <a:r>
              <a:rPr lang="zh-CN" altLang="en-US" dirty="0" smtClean="0"/>
              <a:t>颜色</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554033"/>
              </a:xfrm>
            </p:spPr>
            <p:txBody>
              <a:bodyPr>
                <a:normAutofit/>
              </a:bodyPr>
              <a:lstStyle/>
              <a:p>
                <a:r>
                  <a:rPr lang="zh-CN" altLang="en-US" sz="2400" dirty="0" smtClean="0"/>
                  <a:t>光源</a:t>
                </a:r>
                <a:r>
                  <a:rPr lang="zh-CN" altLang="en-US" sz="2400" dirty="0"/>
                  <a:t>不但发射出不同量的不同频率光，而且它们</a:t>
                </a:r>
                <a:r>
                  <a:rPr lang="zh-CN" altLang="en-US" sz="2400" dirty="0" smtClean="0"/>
                  <a:t>的方向属性随着频率也可能不同</a:t>
                </a:r>
                <a:endParaRPr lang="en-US" altLang="zh-CN" sz="1800" dirty="0" smtClean="0"/>
              </a:p>
              <a:p>
                <a:pPr lvl="1">
                  <a:buClr>
                    <a:schemeClr val="tx1"/>
                  </a:buClr>
                </a:pPr>
                <a:r>
                  <a:rPr lang="zh-CN" altLang="en-US" sz="1800" dirty="0" smtClean="0"/>
                  <a:t>真正</a:t>
                </a:r>
                <a:r>
                  <a:rPr lang="zh-CN" altLang="en-US" sz="1800" dirty="0"/>
                  <a:t>的物理</a:t>
                </a:r>
                <a:r>
                  <a:rPr lang="zh-CN" altLang="en-US" sz="1800" dirty="0" smtClean="0"/>
                  <a:t>模型会比较复杂</a:t>
                </a:r>
                <a:endParaRPr lang="en-US" altLang="zh-CN" sz="1800" dirty="0" smtClean="0"/>
              </a:p>
              <a:p>
                <a:pPr lvl="1">
                  <a:buClr>
                    <a:schemeClr val="tx1"/>
                  </a:buClr>
                </a:pPr>
                <a:endParaRPr lang="en-US" altLang="zh-CN" sz="2400" dirty="0"/>
              </a:p>
              <a:p>
                <a:r>
                  <a:rPr lang="zh-CN" altLang="en-US" sz="2400" dirty="0"/>
                  <a:t>人的视觉系统是基于</a:t>
                </a:r>
                <a:r>
                  <a:rPr lang="zh-CN" altLang="en-US" sz="2400" dirty="0" smtClean="0"/>
                  <a:t>三色</a:t>
                </a:r>
                <a:r>
                  <a:rPr lang="zh-CN" altLang="en-US" sz="2400" dirty="0"/>
                  <a:t>理论</a:t>
                </a:r>
                <a:r>
                  <a:rPr lang="zh-CN" altLang="en-US" sz="2400" dirty="0" smtClean="0"/>
                  <a:t>的</a:t>
                </a:r>
                <a:endParaRPr lang="en-US" altLang="zh-CN" sz="2400" dirty="0" smtClean="0"/>
              </a:p>
              <a:p>
                <a:pPr lvl="1"/>
                <a:r>
                  <a:rPr lang="zh-CN" altLang="en-US" sz="1800" dirty="0" smtClean="0"/>
                  <a:t>我们感知的只是三刺激值，而不是光线能量按波长的完整分布</a:t>
                </a:r>
                <a:endParaRPr lang="en-US" altLang="zh-CN" sz="1800" dirty="0" smtClean="0"/>
              </a:p>
              <a:p>
                <a:endParaRPr lang="en-US" altLang="zh-CN" sz="1800" dirty="0"/>
              </a:p>
              <a:p>
                <a:r>
                  <a:rPr lang="zh-CN" altLang="en-US" sz="2400" dirty="0"/>
                  <a:t>在大多数应用中，可以</a:t>
                </a:r>
                <a:r>
                  <a:rPr lang="zh-CN" altLang="en-US" sz="2400" dirty="0" smtClean="0"/>
                  <a:t>用</a:t>
                </a:r>
                <a:r>
                  <a:rPr lang="en-US" altLang="zh-CN" sz="2400" dirty="0" smtClean="0"/>
                  <a:t>RGB</a:t>
                </a:r>
                <a:r>
                  <a:rPr lang="zh-CN" altLang="en-US" sz="2400" dirty="0" smtClean="0"/>
                  <a:t>三</a:t>
                </a:r>
                <a:r>
                  <a:rPr lang="zh-CN" altLang="en-US" sz="2400" dirty="0"/>
                  <a:t>种</a:t>
                </a:r>
                <a:r>
                  <a:rPr lang="zh-CN" altLang="en-US" sz="2400" dirty="0" smtClean="0"/>
                  <a:t>成分的强度</a:t>
                </a:r>
                <a:r>
                  <a:rPr lang="zh-CN" altLang="en-US" sz="2400" dirty="0"/>
                  <a:t>表示</a:t>
                </a:r>
                <a:r>
                  <a:rPr lang="zh-CN" altLang="en-US" sz="2400" dirty="0" smtClean="0"/>
                  <a:t>光源</a:t>
                </a:r>
                <a:endParaRPr lang="en-US" altLang="zh-CN" sz="1800" dirty="0"/>
              </a:p>
              <a:p>
                <a:pPr lvl="1">
                  <a:buClr>
                    <a:schemeClr val="tx1"/>
                  </a:buClr>
                </a:pPr>
                <a:r>
                  <a:rPr lang="zh-CN" altLang="en-US" sz="1800" dirty="0"/>
                  <a:t>光亮度</a:t>
                </a:r>
                <a:r>
                  <a:rPr lang="en-US" altLang="zh-CN" sz="1800" dirty="0"/>
                  <a:t>(luminance)</a:t>
                </a:r>
                <a:r>
                  <a:rPr lang="zh-CN" altLang="en-US" sz="1800" dirty="0"/>
                  <a:t>函数为</a:t>
                </a:r>
                <a:r>
                  <a:rPr lang="zh-CN" altLang="en-US" sz="1800" dirty="0" smtClean="0"/>
                  <a:t> </a:t>
                </a:r>
                <a14:m>
                  <m:oMath xmlns:m="http://schemas.openxmlformats.org/officeDocument/2006/math">
                    <m:r>
                      <a:rPr lang="en-US" altLang="zh-CN" sz="1800" i="1" dirty="0" smtClean="0">
                        <a:latin typeface="Cambria Math" charset="0"/>
                      </a:rPr>
                      <m:t>𝐼</m:t>
                    </m:r>
                    <m:r>
                      <a:rPr lang="en-US" altLang="zh-CN" sz="1800" i="1" dirty="0" smtClean="0">
                        <a:latin typeface="Cambria Math" charset="0"/>
                      </a:rPr>
                      <m:t>=[</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𝑟</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a:latin typeface="Cambria Math" charset="0"/>
                          </a:rPr>
                          <m:t>𝐼</m:t>
                        </m:r>
                      </m:e>
                      <m:sub>
                        <m:r>
                          <a:rPr lang="en-US" altLang="zh-CN" sz="1800" b="0" i="1" dirty="0" smtClean="0">
                            <a:latin typeface="Cambria Math" charset="0"/>
                          </a:rPr>
                          <m:t>𝑔</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𝑏</m:t>
                        </m:r>
                      </m:sub>
                    </m:sSub>
                    <m:r>
                      <a:rPr lang="en-US" altLang="zh-CN" sz="1800" i="1" dirty="0">
                        <a:latin typeface="Cambria Math" charset="0"/>
                      </a:rPr>
                      <m:t>]</m:t>
                    </m:r>
                  </m:oMath>
                </a14:m>
                <a:endParaRPr lang="en-US" altLang="zh-CN" sz="1800" dirty="0" smtClean="0"/>
              </a:p>
              <a:p>
                <a:pPr lvl="1">
                  <a:buClr>
                    <a:schemeClr val="tx1"/>
                  </a:buClr>
                </a:pPr>
                <a:endParaRPr lang="en-US" altLang="zh-CN" sz="1800" dirty="0"/>
              </a:p>
              <a:p>
                <a:r>
                  <a:rPr lang="zh-CN" altLang="en-US" sz="2400" dirty="0" smtClean="0">
                    <a:solidFill>
                      <a:srgbClr val="0000FF"/>
                    </a:solidFill>
                  </a:rPr>
                  <a:t>在后面建模中，对三个颜色分量进行独立但相似的计算</a:t>
                </a:r>
                <a:endParaRPr lang="en-US" altLang="zh-CN" sz="2400" dirty="0">
                  <a:solidFill>
                    <a:srgbClr val="0000FF"/>
                  </a:solidFill>
                </a:endParaRPr>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554033"/>
              </a:xfrm>
              <a:blipFill rotWithShape="0">
                <a:blip r:embed="rId2"/>
                <a:stretch>
                  <a:fillRect l="-309" t="-1874"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spTree>
    <p:extLst>
      <p:ext uri="{BB962C8B-B14F-4D97-AF65-F5344CB8AC3E}">
        <p14:creationId xmlns:p14="http://schemas.microsoft.com/office/powerpoint/2010/main" val="33743275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简单光源模型</a:t>
            </a:r>
            <a:endParaRPr lang="en-US" dirty="0"/>
          </a:p>
        </p:txBody>
      </p:sp>
      <p:sp>
        <p:nvSpPr>
          <p:cNvPr id="3" name="Content Placeholder 2"/>
          <p:cNvSpPr>
            <a:spLocks noGrp="1"/>
          </p:cNvSpPr>
          <p:nvPr>
            <p:ph idx="1"/>
          </p:nvPr>
        </p:nvSpPr>
        <p:spPr/>
        <p:txBody>
          <a:bodyPr/>
          <a:lstStyle/>
          <a:p>
            <a:r>
              <a:rPr lang="zh-CN" altLang="en-US" sz="2400" dirty="0"/>
              <a:t>基本</a:t>
            </a:r>
            <a:r>
              <a:rPr lang="zh-CN" altLang="en-US" sz="2400" dirty="0" smtClean="0"/>
              <a:t>光源：</a:t>
            </a:r>
            <a:endParaRPr lang="en-US" altLang="zh-CN" sz="2400" dirty="0" smtClean="0"/>
          </a:p>
          <a:p>
            <a:pPr lvl="1"/>
            <a:r>
              <a:rPr lang="zh-CN" altLang="en-US" sz="1800" dirty="0" smtClean="0"/>
              <a:t>环境光</a:t>
            </a:r>
            <a:endParaRPr lang="en-US" altLang="zh-CN" sz="1800" dirty="0" smtClean="0"/>
          </a:p>
          <a:p>
            <a:pPr lvl="1"/>
            <a:r>
              <a:rPr lang="zh-CN" altLang="en-US" sz="1800" dirty="0" smtClean="0"/>
              <a:t>点光源</a:t>
            </a:r>
            <a:endParaRPr lang="en-US" altLang="zh-CN" sz="1800" dirty="0" smtClean="0"/>
          </a:p>
          <a:p>
            <a:pPr lvl="1"/>
            <a:r>
              <a:rPr lang="zh-CN" altLang="en-US" sz="1800" dirty="0" smtClean="0"/>
              <a:t>聚光灯</a:t>
            </a:r>
            <a:endParaRPr lang="en-US" altLang="zh-CN" sz="1800" dirty="0" smtClean="0"/>
          </a:p>
          <a:p>
            <a:pPr lvl="1"/>
            <a:r>
              <a:rPr lang="zh-CN" altLang="en-US" sz="1800" dirty="0" smtClean="0"/>
              <a:t>远</a:t>
            </a:r>
            <a:r>
              <a:rPr lang="zh-CN" altLang="en-US" sz="1800" dirty="0"/>
              <a:t>距离光源</a:t>
            </a:r>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5" name="图片 4"/>
          <p:cNvPicPr>
            <a:picLocks noChangeAspect="1"/>
          </p:cNvPicPr>
          <p:nvPr/>
        </p:nvPicPr>
        <p:blipFill>
          <a:blip r:embed="rId2"/>
          <a:stretch>
            <a:fillRect/>
          </a:stretch>
        </p:blipFill>
        <p:spPr>
          <a:xfrm>
            <a:off x="628650" y="3787129"/>
            <a:ext cx="2331923" cy="1371293"/>
          </a:xfrm>
          <a:prstGeom prst="rect">
            <a:avLst/>
          </a:prstGeom>
        </p:spPr>
      </p:pic>
      <p:pic>
        <p:nvPicPr>
          <p:cNvPr id="6" name="图片 4"/>
          <p:cNvPicPr>
            <a:picLocks noChangeAspect="1"/>
          </p:cNvPicPr>
          <p:nvPr/>
        </p:nvPicPr>
        <p:blipFill>
          <a:blip r:embed="rId3"/>
          <a:stretch>
            <a:fillRect/>
          </a:stretch>
        </p:blipFill>
        <p:spPr>
          <a:xfrm>
            <a:off x="3464232" y="3367484"/>
            <a:ext cx="2462114" cy="2286252"/>
          </a:xfrm>
          <a:prstGeom prst="rect">
            <a:avLst/>
          </a:prstGeom>
        </p:spPr>
      </p:pic>
      <p:pic>
        <p:nvPicPr>
          <p:cNvPr id="7" name="图片 4"/>
          <p:cNvPicPr>
            <a:picLocks noChangeAspect="1"/>
          </p:cNvPicPr>
          <p:nvPr/>
        </p:nvPicPr>
        <p:blipFill>
          <a:blip r:embed="rId4"/>
          <a:stretch>
            <a:fillRect/>
          </a:stretch>
        </p:blipFill>
        <p:spPr>
          <a:xfrm>
            <a:off x="6355018" y="2924226"/>
            <a:ext cx="2399583" cy="2336511"/>
          </a:xfrm>
          <a:prstGeom prst="rect">
            <a:avLst/>
          </a:prstGeom>
        </p:spPr>
      </p:pic>
      <p:sp>
        <p:nvSpPr>
          <p:cNvPr id="8" name="Rectangle 7"/>
          <p:cNvSpPr/>
          <p:nvPr/>
        </p:nvSpPr>
        <p:spPr>
          <a:xfrm>
            <a:off x="1356029" y="5429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429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718821" y="5429179"/>
            <a:ext cx="1338828" cy="369332"/>
          </a:xfrm>
          <a:prstGeom prst="rect">
            <a:avLst/>
          </a:prstGeom>
        </p:spPr>
        <p:txBody>
          <a:bodyPr wrap="none">
            <a:spAutoFit/>
          </a:bodyPr>
          <a:lstStyle/>
          <a:p>
            <a:r>
              <a:rPr lang="zh-CN" altLang="en-US" b="1" dirty="0"/>
              <a:t>远距离光源</a:t>
            </a:r>
            <a:endParaRPr lang="en-US" altLang="zh-CN" b="1" dirty="0"/>
          </a:p>
        </p:txBody>
      </p:sp>
    </p:spTree>
    <p:extLst>
      <p:ext uri="{BB962C8B-B14F-4D97-AF65-F5344CB8AC3E}">
        <p14:creationId xmlns:p14="http://schemas.microsoft.com/office/powerpoint/2010/main" val="20431317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环境光</a:t>
            </a:r>
          </a:p>
        </p:txBody>
      </p:sp>
      <p:sp>
        <p:nvSpPr>
          <p:cNvPr id="3" name="内容占位符 2"/>
          <p:cNvSpPr>
            <a:spLocks noGrp="1"/>
          </p:cNvSpPr>
          <p:nvPr>
            <p:ph idx="1"/>
          </p:nvPr>
        </p:nvSpPr>
        <p:spPr/>
        <p:txBody>
          <a:bodyPr>
            <a:normAutofit/>
          </a:bodyPr>
          <a:lstStyle/>
          <a:p>
            <a:r>
              <a:rPr lang="zh-CN" altLang="en-US" sz="2400" dirty="0" smtClean="0"/>
              <a:t>环境</a:t>
            </a:r>
            <a:r>
              <a:rPr lang="zh-CN" altLang="en-US" sz="2400" dirty="0"/>
              <a:t>光是指多个经过复杂的漫反射形成的背景光强</a:t>
            </a:r>
            <a:endParaRPr lang="en-US" altLang="zh-CN" sz="1800" dirty="0"/>
          </a:p>
          <a:p>
            <a:pPr lvl="1">
              <a:buClr>
                <a:schemeClr val="tx1"/>
              </a:buClr>
            </a:pPr>
            <a:r>
              <a:rPr lang="zh-CN" altLang="en-US" sz="1800" dirty="0" smtClean="0"/>
              <a:t>严格</a:t>
            </a:r>
            <a:r>
              <a:rPr lang="zh-CN" altLang="en-US" sz="1800" dirty="0"/>
              <a:t>意义上说，环境光也是来自于某个光源，但</a:t>
            </a:r>
            <a:r>
              <a:rPr lang="zh-CN" altLang="en-US" sz="1800" dirty="0" smtClean="0"/>
              <a:t>由于在</a:t>
            </a:r>
            <a:r>
              <a:rPr lang="zh-CN" altLang="en-US" sz="1800" dirty="0"/>
              <a:t>光照计算中进行了某些简化，需要用环境光来</a:t>
            </a:r>
            <a:r>
              <a:rPr lang="zh-CN" altLang="en-US" sz="1800" dirty="0" smtClean="0"/>
              <a:t>模拟多次</a:t>
            </a:r>
            <a:r>
              <a:rPr lang="zh-CN" altLang="en-US" sz="1800" dirty="0"/>
              <a:t>反射后的</a:t>
            </a:r>
            <a:r>
              <a:rPr lang="zh-CN" altLang="en-US" sz="1800" dirty="0" smtClean="0"/>
              <a:t>效果</a:t>
            </a:r>
            <a:endParaRPr lang="en-US" altLang="zh-CN" sz="1800" dirty="0" smtClean="0"/>
          </a:p>
          <a:p>
            <a:pPr lvl="1">
              <a:buClr>
                <a:schemeClr val="tx1"/>
              </a:buClr>
            </a:pPr>
            <a:r>
              <a:rPr lang="zh-CN" altLang="en-US" sz="1800" dirty="0"/>
              <a:t>在图形管线中采用简单的</a:t>
            </a:r>
            <a:r>
              <a:rPr lang="zh-CN" altLang="en-US" sz="1800" dirty="0">
                <a:solidFill>
                  <a:srgbClr val="0000FF"/>
                </a:solidFill>
              </a:rPr>
              <a:t>均匀光强描述</a:t>
            </a:r>
            <a:endParaRPr lang="en-US" altLang="zh-CN" sz="1800" dirty="0">
              <a:solidFill>
                <a:srgbClr val="0000FF"/>
              </a:solidFill>
            </a:endParaRPr>
          </a:p>
          <a:p>
            <a:pPr lvl="1">
              <a:buClr>
                <a:schemeClr val="tx1"/>
              </a:buClr>
            </a:pPr>
            <a:endParaRPr lang="en-US" altLang="zh-CN" sz="1800" dirty="0"/>
          </a:p>
          <a:p>
            <a:pPr marL="457200" lvl="1" indent="0">
              <a:buClr>
                <a:schemeClr val="tx1"/>
              </a:buClr>
              <a:buNone/>
            </a:pPr>
            <a:endParaRPr lang="en-US" altLang="zh-CN" sz="2400" dirty="0"/>
          </a:p>
          <a:p>
            <a:r>
              <a:rPr lang="zh-CN" altLang="en-US" sz="2400" dirty="0"/>
              <a:t>光照模型</a:t>
            </a:r>
            <a:endParaRPr lang="en-US" altLang="zh-CN" sz="1800" dirty="0"/>
          </a:p>
          <a:p>
            <a:pPr lvl="1">
              <a:buClr>
                <a:schemeClr val="tx1"/>
              </a:buClr>
            </a:pPr>
            <a:r>
              <a:rPr lang="zh-CN" altLang="en-US" sz="1800" dirty="0" smtClean="0"/>
              <a:t>由三</a:t>
            </a:r>
            <a:r>
              <a:rPr lang="zh-CN" altLang="en-US" sz="1800" dirty="0"/>
              <a:t>个颜色</a:t>
            </a:r>
            <a:r>
              <a:rPr lang="zh-CN" altLang="en-US" sz="1800" dirty="0" smtClean="0"/>
              <a:t>分量确定</a:t>
            </a:r>
            <a:endParaRPr lang="en-US" altLang="zh-CN" sz="1800" dirty="0"/>
          </a:p>
          <a:p>
            <a:pPr lvl="1">
              <a:buClr>
                <a:schemeClr val="tx1"/>
              </a:buClr>
            </a:pPr>
            <a:r>
              <a:rPr lang="zh-CN" altLang="en-US" sz="1800" dirty="0"/>
              <a:t>环境光强是由下式确定的</a:t>
            </a:r>
            <a:r>
              <a:rPr lang="zh-CN" altLang="en-US" sz="1800" dirty="0" smtClean="0"/>
              <a:t>，</a:t>
            </a:r>
            <a:r>
              <a:rPr lang="zh-CN" altLang="en-US" sz="1800" dirty="0" smtClean="0">
                <a:solidFill>
                  <a:srgbClr val="0000FF"/>
                </a:solidFill>
              </a:rPr>
              <a:t>环境中每个位置的环境光强度完全</a:t>
            </a:r>
            <a:r>
              <a:rPr lang="zh-CN" altLang="en-US" sz="1800" dirty="0">
                <a:solidFill>
                  <a:srgbClr val="0000FF"/>
                </a:solidFill>
              </a:rPr>
              <a:t>相同</a:t>
            </a:r>
            <a:endParaRPr lang="en-US" altLang="zh-CN" sz="1800" dirty="0">
              <a:solidFill>
                <a:srgbClr val="0000FF"/>
              </a:solidFill>
            </a:endParaRPr>
          </a:p>
          <a:p>
            <a:endParaRPr lang="en-US" altLang="zh-CN" sz="2400" dirty="0"/>
          </a:p>
          <a:p>
            <a:endParaRPr lang="en-US" altLang="zh-CN" sz="2400" dirty="0"/>
          </a:p>
          <a:p>
            <a:endParaRPr lang="zh-CN" altLang="en-US" sz="1800" dirty="0"/>
          </a:p>
          <a:p>
            <a:pPr marL="0" indent="0">
              <a:buNone/>
            </a:pPr>
            <a:endParaRPr lang="en-US" altLang="zh-CN" sz="18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2"/>
          <a:stretch>
            <a:fillRect/>
          </a:stretch>
        </p:blipFill>
        <p:spPr>
          <a:xfrm>
            <a:off x="3161632" y="4769427"/>
            <a:ext cx="1947284" cy="1586923"/>
          </a:xfrm>
          <a:prstGeom prst="rect">
            <a:avLst/>
          </a:prstGeom>
        </p:spPr>
      </p:pic>
    </p:spTree>
    <p:extLst>
      <p:ext uri="{BB962C8B-B14F-4D97-AF65-F5344CB8AC3E}">
        <p14:creationId xmlns:p14="http://schemas.microsoft.com/office/powerpoint/2010/main" val="3589222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335014" y="3664800"/>
            <a:ext cx="4306590" cy="2532502"/>
          </a:xfrm>
          <a:prstGeom prst="rect">
            <a:avLst/>
          </a:prstGeom>
        </p:spPr>
      </p:pic>
      <p:sp>
        <p:nvSpPr>
          <p:cNvPr id="2" name="标题 1"/>
          <p:cNvSpPr>
            <a:spLocks noGrp="1"/>
          </p:cNvSpPr>
          <p:nvPr>
            <p:ph type="title"/>
          </p:nvPr>
        </p:nvSpPr>
        <p:spPr/>
        <p:txBody>
          <a:bodyPr/>
          <a:lstStyle/>
          <a:p>
            <a:r>
              <a:rPr lang="zh-CN" altLang="en-US" dirty="0"/>
              <a:t>点光源</a:t>
            </a:r>
          </a:p>
        </p:txBody>
      </p:sp>
      <p:sp>
        <p:nvSpPr>
          <p:cNvPr id="3" name="内容占位符 2"/>
          <p:cNvSpPr>
            <a:spLocks noGrp="1"/>
          </p:cNvSpPr>
          <p:nvPr>
            <p:ph idx="1"/>
          </p:nvPr>
        </p:nvSpPr>
        <p:spPr/>
        <p:txBody>
          <a:bodyPr>
            <a:normAutofit/>
          </a:bodyPr>
          <a:lstStyle/>
          <a:p>
            <a:r>
              <a:rPr lang="zh-CN" altLang="en-US" sz="2400" dirty="0"/>
              <a:t>理想的点光源</a:t>
            </a:r>
            <a:r>
              <a:rPr lang="zh-CN" altLang="en-US" sz="2400" dirty="0">
                <a:solidFill>
                  <a:srgbClr val="0000FF"/>
                </a:solidFill>
              </a:rPr>
              <a:t>向各个方向发射的光线的强度相等</a:t>
            </a:r>
            <a:endParaRPr lang="en-US" altLang="zh-CN" sz="2400" dirty="0">
              <a:solidFill>
                <a:srgbClr val="0000FF"/>
              </a:solidFill>
            </a:endParaRPr>
          </a:p>
          <a:p>
            <a:endParaRPr lang="en-US" altLang="zh-CN" sz="2400" dirty="0" smtClean="0"/>
          </a:p>
          <a:p>
            <a:r>
              <a:rPr lang="zh-CN" altLang="en-US" sz="2400" dirty="0" smtClean="0"/>
              <a:t>由</a:t>
            </a:r>
            <a:r>
              <a:rPr lang="zh-CN" altLang="en-US" sz="2400" dirty="0"/>
              <a:t>位置和颜色</a:t>
            </a:r>
            <a:r>
              <a:rPr lang="zh-CN" altLang="en-US" sz="2400" dirty="0" smtClean="0"/>
              <a:t>表示：</a:t>
            </a:r>
            <a:endParaRPr lang="en-US" altLang="zh-CN" sz="1800" dirty="0"/>
          </a:p>
          <a:p>
            <a:pPr marL="0" indent="0">
              <a:buNone/>
            </a:pPr>
            <a:endParaRPr lang="en-US" altLang="zh-CN" sz="2400" dirty="0"/>
          </a:p>
          <a:p>
            <a:r>
              <a:rPr lang="zh-CN" altLang="en-US" sz="2400" dirty="0" smtClean="0"/>
              <a:t>在</a:t>
            </a:r>
            <a:r>
              <a:rPr lang="zh-CN" altLang="en-US" sz="2400" dirty="0"/>
              <a:t>点</a:t>
            </a:r>
            <a:r>
              <a:rPr lang="en-US" altLang="zh-CN" sz="2400" dirty="0"/>
              <a:t>p</a:t>
            </a:r>
            <a:r>
              <a:rPr lang="zh-CN" altLang="en-US" sz="2400" dirty="0" smtClean="0">
                <a:solidFill>
                  <a:srgbClr val="0000FF"/>
                </a:solidFill>
              </a:rPr>
              <a:t>接收的</a:t>
            </a:r>
            <a:r>
              <a:rPr lang="zh-CN" altLang="en-US" sz="2400" dirty="0">
                <a:solidFill>
                  <a:srgbClr val="0000FF"/>
                </a:solidFill>
              </a:rPr>
              <a:t>光亮度反比于光源与点的</a:t>
            </a:r>
            <a:r>
              <a:rPr lang="zh-CN" altLang="en-US" sz="2400" dirty="0" smtClean="0">
                <a:solidFill>
                  <a:srgbClr val="0000FF"/>
                </a:solidFill>
              </a:rPr>
              <a:t>距离的平方</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6" name="图片 5"/>
          <p:cNvPicPr>
            <a:picLocks noChangeAspect="1"/>
          </p:cNvPicPr>
          <p:nvPr/>
        </p:nvPicPr>
        <p:blipFill>
          <a:blip r:embed="rId3"/>
          <a:stretch>
            <a:fillRect/>
          </a:stretch>
        </p:blipFill>
        <p:spPr>
          <a:xfrm>
            <a:off x="4098471" y="1908923"/>
            <a:ext cx="2024000" cy="1104066"/>
          </a:xfrm>
          <a:prstGeom prst="rect">
            <a:avLst/>
          </a:prstGeom>
        </p:spPr>
      </p:pic>
      <p:pic>
        <p:nvPicPr>
          <p:cNvPr id="7" name="图片 6"/>
          <p:cNvPicPr>
            <a:picLocks noChangeAspect="1"/>
          </p:cNvPicPr>
          <p:nvPr/>
        </p:nvPicPr>
        <p:blipFill>
          <a:blip r:embed="rId4"/>
          <a:stretch>
            <a:fillRect/>
          </a:stretch>
        </p:blipFill>
        <p:spPr>
          <a:xfrm>
            <a:off x="1167625" y="3909112"/>
            <a:ext cx="3167389" cy="780436"/>
          </a:xfrm>
          <a:prstGeom prst="rect">
            <a:avLst/>
          </a:prstGeom>
        </p:spPr>
      </p:pic>
    </p:spTree>
    <p:extLst>
      <p:ext uri="{BB962C8B-B14F-4D97-AF65-F5344CB8AC3E}">
        <p14:creationId xmlns:p14="http://schemas.microsoft.com/office/powerpoint/2010/main" val="26299321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点光源</a:t>
            </a:r>
            <a:endParaRPr lang="en-US" dirty="0"/>
          </a:p>
        </p:txBody>
      </p:sp>
      <p:sp>
        <p:nvSpPr>
          <p:cNvPr id="3" name="Content Placeholder 2"/>
          <p:cNvSpPr>
            <a:spLocks noGrp="1"/>
          </p:cNvSpPr>
          <p:nvPr>
            <p:ph idx="1"/>
          </p:nvPr>
        </p:nvSpPr>
        <p:spPr>
          <a:xfrm>
            <a:off x="628651" y="1316831"/>
            <a:ext cx="5266824" cy="4650832"/>
          </a:xfrm>
        </p:spPr>
        <p:txBody>
          <a:bodyPr>
            <a:normAutofit/>
          </a:bodyPr>
          <a:lstStyle/>
          <a:p>
            <a:r>
              <a:rPr lang="zh-CN" altLang="en-US" sz="2400" dirty="0" smtClean="0"/>
              <a:t>在</a:t>
            </a:r>
            <a:r>
              <a:rPr lang="zh-CN" altLang="en-US" sz="2400" dirty="0"/>
              <a:t>计算机图形学中大量应用点光源，是因为它易于</a:t>
            </a:r>
            <a:r>
              <a:rPr lang="zh-CN" altLang="en-US" sz="2400" dirty="0" smtClean="0"/>
              <a:t>使用</a:t>
            </a:r>
            <a:endParaRPr lang="en-US" altLang="zh-CN" sz="2400" dirty="0" smtClean="0"/>
          </a:p>
          <a:p>
            <a:endParaRPr lang="zh-CN" altLang="en-US" sz="2400" dirty="0"/>
          </a:p>
          <a:p>
            <a:r>
              <a:rPr lang="zh-CN" altLang="en-US" sz="2400" dirty="0"/>
              <a:t>但不能很好地反映物理现实</a:t>
            </a:r>
          </a:p>
          <a:p>
            <a:pPr lvl="1">
              <a:buClr>
                <a:schemeClr val="tx1"/>
              </a:buClr>
            </a:pPr>
            <a:r>
              <a:rPr lang="zh-CN" altLang="en-US" sz="1800" dirty="0" smtClean="0"/>
              <a:t>只</a:t>
            </a:r>
            <a:r>
              <a:rPr lang="zh-CN" altLang="en-US" sz="1800" dirty="0"/>
              <a:t>有点光源的场景得到的图像中对比度比较高</a:t>
            </a:r>
            <a:r>
              <a:rPr lang="zh-CN" altLang="en-US" sz="1800" dirty="0" smtClean="0"/>
              <a:t>；对象</a:t>
            </a:r>
            <a:r>
              <a:rPr lang="zh-CN" altLang="en-US" sz="1800" dirty="0"/>
              <a:t>显得要么很亮，要么很暗</a:t>
            </a:r>
            <a:endParaRPr lang="en-US" altLang="zh-CN" sz="1800" dirty="0"/>
          </a:p>
          <a:p>
            <a:pPr lvl="1">
              <a:buClr>
                <a:schemeClr val="tx1"/>
              </a:buClr>
            </a:pPr>
            <a:r>
              <a:rPr lang="zh-CN" altLang="en-US" sz="1800" dirty="0"/>
              <a:t>而真实的光源由于</a:t>
            </a:r>
            <a:r>
              <a:rPr lang="zh-CN" altLang="en-US" sz="1800" dirty="0" smtClean="0"/>
              <a:t>尺寸不可忽略，生成场景的亮度变化会比较</a:t>
            </a:r>
            <a:r>
              <a:rPr lang="zh-CN" altLang="en-US" sz="1800" dirty="0"/>
              <a:t>柔</a:t>
            </a:r>
            <a:r>
              <a:rPr lang="zh-CN" altLang="en-US" sz="1800" dirty="0" smtClean="0"/>
              <a:t>和</a:t>
            </a:r>
            <a:endParaRPr lang="en-US" altLang="zh-CN" sz="1800" dirty="0" smtClean="0"/>
          </a:p>
          <a:p>
            <a:pPr lvl="2">
              <a:buClr>
                <a:schemeClr val="tx1"/>
              </a:buClr>
            </a:pPr>
            <a:r>
              <a:rPr lang="zh-CN" altLang="en-US" sz="1800" dirty="0"/>
              <a:t>完全在阴影中的区域称为</a:t>
            </a:r>
            <a:r>
              <a:rPr lang="zh-CN" altLang="en-US" sz="1800" dirty="0" smtClean="0">
                <a:solidFill>
                  <a:srgbClr val="0000FF"/>
                </a:solidFill>
              </a:rPr>
              <a:t>本影</a:t>
            </a:r>
            <a:endParaRPr lang="en-US" altLang="zh-CN" sz="1800" dirty="0" smtClean="0">
              <a:solidFill>
                <a:srgbClr val="0000FF"/>
              </a:solidFill>
            </a:endParaRPr>
          </a:p>
          <a:p>
            <a:pPr lvl="2">
              <a:buClr>
                <a:schemeClr val="tx1"/>
              </a:buClr>
            </a:pPr>
            <a:r>
              <a:rPr lang="zh-CN" altLang="en-US" sz="1800" dirty="0" smtClean="0"/>
              <a:t>部分</a:t>
            </a:r>
            <a:r>
              <a:rPr lang="zh-CN" altLang="en-US" sz="1800" dirty="0"/>
              <a:t>在阴影中的区域称为</a:t>
            </a:r>
            <a:r>
              <a:rPr lang="zh-CN" altLang="en-US" sz="1800" dirty="0" smtClean="0">
                <a:solidFill>
                  <a:srgbClr val="0000FF"/>
                </a:solidFill>
              </a:rPr>
              <a:t>半影</a:t>
            </a:r>
            <a:endParaRPr lang="en-US" altLang="zh-CN" sz="1800" dirty="0" smtClean="0">
              <a:solidFill>
                <a:srgbClr val="0000FF"/>
              </a:solidFill>
            </a:endParaRPr>
          </a:p>
          <a:p>
            <a:pPr lvl="1">
              <a:buClr>
                <a:schemeClr val="tx1"/>
              </a:buClr>
            </a:pPr>
            <a:endParaRPr lang="en-US" altLang="zh-CN" sz="1800" dirty="0" smtClean="0"/>
          </a:p>
          <a:p>
            <a:r>
              <a:rPr lang="zh-CN" altLang="en-US" sz="2400" dirty="0" smtClean="0"/>
              <a:t>可以</a:t>
            </a:r>
            <a:r>
              <a:rPr lang="zh-CN" altLang="en-US" sz="2400" dirty="0"/>
              <a:t>在点光源中加入环境光，降低高对比度的问题</a:t>
            </a:r>
            <a:endParaRPr lang="en-US" altLang="zh-CN" sz="2400" dirty="0"/>
          </a:p>
          <a:p>
            <a:pPr lvl="1">
              <a:buClr>
                <a:schemeClr val="tx1"/>
              </a:buClr>
            </a:pPr>
            <a:endParaRPr lang="en-US" altLang="zh-CN" sz="24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17</a:t>
            </a:fld>
            <a:endParaRPr lang="zh-CN" altLang="en-US" dirty="0"/>
          </a:p>
        </p:txBody>
      </p:sp>
      <p:pic>
        <p:nvPicPr>
          <p:cNvPr id="5" name="图片 7"/>
          <p:cNvPicPr>
            <a:picLocks noChangeAspect="1"/>
          </p:cNvPicPr>
          <p:nvPr/>
        </p:nvPicPr>
        <p:blipFill>
          <a:blip r:embed="rId2"/>
          <a:stretch>
            <a:fillRect/>
          </a:stretch>
        </p:blipFill>
        <p:spPr>
          <a:xfrm>
            <a:off x="6427520" y="3655912"/>
            <a:ext cx="2267927" cy="2457223"/>
          </a:xfrm>
          <a:prstGeom prst="rect">
            <a:avLst/>
          </a:prstGeom>
        </p:spPr>
      </p:pic>
      <p:pic>
        <p:nvPicPr>
          <p:cNvPr id="6" name="图片 6"/>
          <p:cNvPicPr>
            <a:picLocks noChangeAspect="1"/>
          </p:cNvPicPr>
          <p:nvPr/>
        </p:nvPicPr>
        <p:blipFill>
          <a:blip r:embed="rId3"/>
          <a:stretch>
            <a:fillRect/>
          </a:stretch>
        </p:blipFill>
        <p:spPr>
          <a:xfrm>
            <a:off x="6449044" y="970345"/>
            <a:ext cx="1863683" cy="2154216"/>
          </a:xfrm>
          <a:prstGeom prst="rect">
            <a:avLst/>
          </a:prstGeom>
        </p:spPr>
      </p:pic>
    </p:spTree>
    <p:extLst>
      <p:ext uri="{BB962C8B-B14F-4D97-AF65-F5344CB8AC3E}">
        <p14:creationId xmlns:p14="http://schemas.microsoft.com/office/powerpoint/2010/main" val="1356521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聚光灯</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4825666" cy="4626769"/>
              </a:xfrm>
            </p:spPr>
            <p:txBody>
              <a:bodyPr>
                <a:normAutofit/>
              </a:bodyPr>
              <a:lstStyle/>
              <a:p>
                <a:r>
                  <a:rPr lang="zh-CN" altLang="en-US" sz="2400" dirty="0" smtClean="0"/>
                  <a:t>具有一个比较的窄的照明范围，通常为圆锥形半无穷区域</a:t>
                </a:r>
                <a:endParaRPr lang="zh-CN" altLang="en-US" sz="1800" dirty="0"/>
              </a:p>
              <a:p>
                <a:pPr lvl="1">
                  <a:buClr>
                    <a:schemeClr val="tx1"/>
                  </a:buClr>
                </a:pPr>
                <a:r>
                  <a:rPr lang="zh-CN" altLang="en-US" sz="1800" dirty="0"/>
                  <a:t>可以给点光源加上一定的限制得到</a:t>
                </a:r>
                <a:endParaRPr lang="en-US" altLang="zh-CN" sz="1800" dirty="0"/>
              </a:p>
              <a:p>
                <a:pPr lvl="1">
                  <a:buClr>
                    <a:schemeClr val="tx1"/>
                  </a:buClr>
                </a:pPr>
                <a:r>
                  <a:rPr lang="zh-CN" altLang="en-US" sz="1800" dirty="0" smtClean="0"/>
                  <a:t>锥</a:t>
                </a:r>
                <a:r>
                  <a:rPr lang="zh-CN" altLang="en-US" sz="1800" dirty="0"/>
                  <a:t>的顶点在</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𝑃</m:t>
                        </m:r>
                      </m:e>
                      <m:sub>
                        <m:r>
                          <a:rPr lang="en-US" altLang="zh-CN" sz="1800" b="0" i="1" dirty="0" smtClean="0">
                            <a:latin typeface="Cambria Math" charset="0"/>
                          </a:rPr>
                          <m:t>𝑠</m:t>
                        </m:r>
                      </m:sub>
                    </m:sSub>
                  </m:oMath>
                </a14:m>
                <a:r>
                  <a:rPr lang="en-US" altLang="zh-CN" sz="1800" dirty="0" smtClean="0"/>
                  <a:t>, </a:t>
                </a:r>
                <a:r>
                  <a:rPr lang="zh-CN" altLang="en-US" sz="1800" dirty="0"/>
                  <a:t>而中心轴方向为</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𝐼</m:t>
                        </m:r>
                      </m:e>
                      <m:sub>
                        <m:r>
                          <a:rPr lang="en-US" altLang="zh-CN" sz="1800" b="0" i="1" dirty="0" smtClean="0">
                            <a:latin typeface="Cambria Math" charset="0"/>
                          </a:rPr>
                          <m:t>𝑠</m:t>
                        </m:r>
                      </m:sub>
                    </m:sSub>
                  </m:oMath>
                </a14:m>
                <a:endParaRPr lang="en-US" altLang="zh-CN" sz="1800" dirty="0"/>
              </a:p>
              <a:p>
                <a:pPr lvl="1">
                  <a:buClr>
                    <a:schemeClr val="tx1"/>
                  </a:buClr>
                </a:pPr>
                <a:r>
                  <a:rPr lang="zh-CN" altLang="en-US" sz="1800" dirty="0" smtClean="0"/>
                  <a:t>如果</a:t>
                </a:r>
                <a14:m>
                  <m:oMath xmlns:m="http://schemas.openxmlformats.org/officeDocument/2006/math">
                    <m:r>
                      <a:rPr lang="en-US" altLang="zh-CN" sz="1800" i="1" dirty="0" smtClean="0">
                        <a:latin typeface="Cambria Math" charset="0"/>
                      </a:rPr>
                      <m:t>𝜃</m:t>
                    </m:r>
                    <m:r>
                      <a:rPr lang="en-US" altLang="zh-CN" sz="1800" i="1" dirty="0" smtClean="0">
                        <a:latin typeface="Cambria Math" charset="0"/>
                      </a:rPr>
                      <m:t>=180° </m:t>
                    </m:r>
                  </m:oMath>
                </a14:m>
                <a:r>
                  <a:rPr lang="zh-CN" altLang="en-US" sz="1800" dirty="0" smtClean="0"/>
                  <a:t>，聚光灯</a:t>
                </a:r>
                <a:r>
                  <a:rPr lang="zh-CN" altLang="en-US" sz="1800" dirty="0"/>
                  <a:t>成为点</a:t>
                </a:r>
                <a:r>
                  <a:rPr lang="zh-CN" altLang="en-US" sz="1800" dirty="0" smtClean="0"/>
                  <a:t>光源</a:t>
                </a:r>
                <a:endParaRPr lang="en-US" altLang="zh-CN" sz="1800" dirty="0" smtClean="0"/>
              </a:p>
              <a:p>
                <a:pPr lvl="1">
                  <a:buClr>
                    <a:schemeClr val="tx1"/>
                  </a:buClr>
                </a:pPr>
                <a:endParaRPr lang="en-US" altLang="zh-CN" sz="1800" dirty="0"/>
              </a:p>
              <a:p>
                <a:endParaRPr lang="en-US" altLang="zh-CN" sz="2400" dirty="0"/>
              </a:p>
              <a:p>
                <a:r>
                  <a:rPr lang="zh-CN" altLang="en-US" sz="2400" dirty="0" smtClean="0"/>
                  <a:t>光亮度的</a:t>
                </a:r>
                <a:r>
                  <a:rPr lang="zh-CN" altLang="en-US" sz="2400" dirty="0"/>
                  <a:t>分布</a:t>
                </a:r>
              </a:p>
              <a:p>
                <a:pPr lvl="1"/>
                <a:r>
                  <a:rPr lang="zh-CN" altLang="en-US" sz="1800" dirty="0"/>
                  <a:t>通常绝大多数光集中在照明锥的中心</a:t>
                </a:r>
              </a:p>
              <a:p>
                <a:pPr lvl="1"/>
                <a:r>
                  <a:rPr lang="zh-CN" altLang="en-US" sz="1800" dirty="0" smtClean="0">
                    <a:solidFill>
                      <a:srgbClr val="0000FF"/>
                    </a:solidFill>
                  </a:rPr>
                  <a:t>照明</a:t>
                </a:r>
                <a:r>
                  <a:rPr lang="zh-CN" altLang="en-US" sz="1800" dirty="0">
                    <a:solidFill>
                      <a:srgbClr val="0000FF"/>
                    </a:solidFill>
                  </a:rPr>
                  <a:t>强度</a:t>
                </a:r>
                <a:r>
                  <a:rPr lang="zh-CN" altLang="en-US" sz="1800" dirty="0" smtClean="0">
                    <a:solidFill>
                      <a:srgbClr val="0000FF"/>
                    </a:solidFill>
                  </a:rPr>
                  <a:t>是顶点指向材料表面的向量</a:t>
                </a:r>
                <a14:m>
                  <m:oMath xmlns:m="http://schemas.openxmlformats.org/officeDocument/2006/math">
                    <m:r>
                      <a:rPr lang="en-US" altLang="zh-CN" sz="1800" i="1" dirty="0" smtClean="0">
                        <a:solidFill>
                          <a:srgbClr val="0000FF"/>
                        </a:solidFill>
                        <a:latin typeface="Cambria Math" charset="0"/>
                      </a:rPr>
                      <m:t>𝑠</m:t>
                    </m:r>
                  </m:oMath>
                </a14:m>
                <a:r>
                  <a:rPr lang="zh-CN" altLang="en-US" sz="1800" dirty="0">
                    <a:solidFill>
                      <a:srgbClr val="0000FF"/>
                    </a:solidFill>
                  </a:rPr>
                  <a:t>与中心</a:t>
                </a:r>
                <a:r>
                  <a:rPr lang="zh-CN" altLang="en-US" sz="1800" dirty="0" smtClean="0">
                    <a:solidFill>
                      <a:srgbClr val="0000FF"/>
                    </a:solidFill>
                  </a:rPr>
                  <a:t>轴的夹角</a:t>
                </a:r>
                <a14:m>
                  <m:oMath xmlns:m="http://schemas.openxmlformats.org/officeDocument/2006/math">
                    <m:r>
                      <a:rPr lang="zh-CN" altLang="en-US" sz="1800" i="1" dirty="0" smtClean="0">
                        <a:solidFill>
                          <a:srgbClr val="0000FF"/>
                        </a:solidFill>
                        <a:latin typeface="Cambria Math" charset="0"/>
                        <a:ea typeface="Cambria Math" charset="0"/>
                        <a:cs typeface="Cambria Math" charset="0"/>
                      </a:rPr>
                      <m:t>𝜙</m:t>
                    </m:r>
                  </m:oMath>
                </a14:m>
                <a:r>
                  <a:rPr lang="zh-CN" altLang="en-US" sz="1800" dirty="0">
                    <a:solidFill>
                      <a:srgbClr val="0000FF"/>
                    </a:solidFill>
                  </a:rPr>
                  <a:t>的函数</a:t>
                </a:r>
              </a:p>
              <a:p>
                <a:pPr>
                  <a:buClr>
                    <a:schemeClr val="tx1"/>
                  </a:buClr>
                </a:pPr>
                <a:endParaRPr lang="en-US" altLang="zh-CN" sz="2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4825666" cy="4626769"/>
              </a:xfrm>
              <a:blipFill rotWithShape="0">
                <a:blip r:embed="rId2"/>
                <a:stretch>
                  <a:fillRect l="-505" t="-1845" r="-16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5" name="图片 4"/>
          <p:cNvPicPr>
            <a:picLocks noChangeAspect="1"/>
          </p:cNvPicPr>
          <p:nvPr/>
        </p:nvPicPr>
        <p:blipFill>
          <a:blip r:embed="rId3"/>
          <a:stretch>
            <a:fillRect/>
          </a:stretch>
        </p:blipFill>
        <p:spPr>
          <a:xfrm>
            <a:off x="5909361" y="1106175"/>
            <a:ext cx="2433038" cy="2259253"/>
          </a:xfrm>
          <a:prstGeom prst="rect">
            <a:avLst/>
          </a:prstGeom>
        </p:spPr>
      </p:pic>
      <p:pic>
        <p:nvPicPr>
          <p:cNvPr id="10" name="图片 5"/>
          <p:cNvPicPr>
            <a:picLocks noChangeAspect="1"/>
          </p:cNvPicPr>
          <p:nvPr/>
        </p:nvPicPr>
        <p:blipFill>
          <a:blip r:embed="rId4"/>
          <a:stretch>
            <a:fillRect/>
          </a:stretch>
        </p:blipFill>
        <p:spPr>
          <a:xfrm>
            <a:off x="6059225" y="3651730"/>
            <a:ext cx="2133311" cy="1866078"/>
          </a:xfrm>
          <a:prstGeom prst="rect">
            <a:avLst/>
          </a:prstGeom>
        </p:spPr>
      </p:pic>
    </p:spTree>
    <p:extLst>
      <p:ext uri="{BB962C8B-B14F-4D97-AF65-F5344CB8AC3E}">
        <p14:creationId xmlns:p14="http://schemas.microsoft.com/office/powerpoint/2010/main" val="40417305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聚光灯</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smtClean="0"/>
                  <a:t>可以采用各种方式定义照明</a:t>
                </a:r>
                <a:r>
                  <a:rPr lang="zh-CN" altLang="en-US" sz="2400" dirty="0"/>
                  <a:t>强度函数</a:t>
                </a:r>
                <a:r>
                  <a:rPr lang="en-US" altLang="zh-CN" sz="2400" dirty="0"/>
                  <a:t>	</a:t>
                </a:r>
                <a:endParaRPr lang="en-US" altLang="zh-CN" sz="1800" dirty="0"/>
              </a:p>
              <a:p>
                <a:pPr lvl="1">
                  <a:buClr>
                    <a:schemeClr val="tx1"/>
                  </a:buClr>
                </a:pPr>
                <a:r>
                  <a:rPr lang="zh-CN" altLang="en-US" sz="1800" dirty="0"/>
                  <a:t>通常定义为</a:t>
                </a:r>
                <a14:m>
                  <m:oMath xmlns:m="http://schemas.openxmlformats.org/officeDocument/2006/math">
                    <m:r>
                      <a:rPr lang="en-US" altLang="zh-CN" sz="1800" i="1" dirty="0" smtClean="0">
                        <a:latin typeface="Cambria Math" charset="0"/>
                      </a:rPr>
                      <m:t>𝑐𝑜𝑠</m:t>
                    </m:r>
                    <m:r>
                      <a:rPr lang="en-US" altLang="zh-CN" sz="1800" i="1" baseline="30000" dirty="0" err="1">
                        <a:latin typeface="Cambria Math" charset="0"/>
                      </a:rPr>
                      <m:t>𝑒</m:t>
                    </m:r>
                    <m:r>
                      <a:rPr lang="en-US" altLang="zh-CN" sz="1800" i="1" dirty="0" smtClean="0">
                        <a:latin typeface="Cambria Math" charset="0"/>
                        <a:ea typeface="Cambria Math" charset="0"/>
                        <a:cs typeface="Cambria Math" charset="0"/>
                      </a:rPr>
                      <m:t>𝜙</m:t>
                    </m:r>
                  </m:oMath>
                </a14:m>
                <a:r>
                  <a:rPr lang="zh-CN" altLang="en-US" sz="1800" dirty="0" smtClean="0"/>
                  <a:t>，</a:t>
                </a:r>
                <a:r>
                  <a:rPr lang="zh-CN" altLang="en-US" sz="1800" dirty="0" smtClean="0">
                    <a:solidFill>
                      <a:schemeClr val="tx1"/>
                    </a:solidFill>
                  </a:rPr>
                  <a:t>指数</a:t>
                </a:r>
                <a14:m>
                  <m:oMath xmlns:m="http://schemas.openxmlformats.org/officeDocument/2006/math">
                    <m:r>
                      <a:rPr lang="en-US" altLang="zh-CN" sz="1800" i="1" dirty="0" smtClean="0">
                        <a:solidFill>
                          <a:schemeClr val="tx1"/>
                        </a:solidFill>
                        <a:latin typeface="Cambria Math" charset="0"/>
                      </a:rPr>
                      <m:t>𝑒</m:t>
                    </m:r>
                  </m:oMath>
                </a14:m>
                <a:r>
                  <a:rPr lang="zh-CN" altLang="en-US" sz="1800" dirty="0">
                    <a:solidFill>
                      <a:schemeClr val="tx1"/>
                    </a:solidFill>
                  </a:rPr>
                  <a:t>确定</a:t>
                </a:r>
                <a:r>
                  <a:rPr lang="zh-CN" altLang="en-US" sz="1800" dirty="0">
                    <a:solidFill>
                      <a:srgbClr val="0000FF"/>
                    </a:solidFill>
                  </a:rPr>
                  <a:t>光强度衰减的快慢</a:t>
                </a:r>
                <a:endParaRPr lang="en-US" altLang="zh-CN" sz="1800" dirty="0">
                  <a:solidFill>
                    <a:srgbClr val="0000FF"/>
                  </a:solidFill>
                </a:endParaRPr>
              </a:p>
              <a:p>
                <a:pPr lvl="1">
                  <a:buClr>
                    <a:schemeClr val="tx1"/>
                  </a:buClr>
                </a:pPr>
                <a:r>
                  <a:rPr lang="zh-CN" altLang="en-US" sz="1800" dirty="0"/>
                  <a:t>之所以采用余弦函数，是因为在这种情况下</a:t>
                </a:r>
                <a:r>
                  <a:rPr lang="zh-CN" altLang="en-US" sz="1800" dirty="0" smtClean="0"/>
                  <a:t>，它的计算非常方便：</a:t>
                </a:r>
                <a14:m>
                  <m:oMath xmlns:m="http://schemas.openxmlformats.org/officeDocument/2006/math">
                    <m:r>
                      <m:rPr>
                        <m:sty m:val="p"/>
                      </m:rPr>
                      <a:rPr lang="en-US" altLang="zh-CN" sz="1800" i="1" dirty="0" smtClean="0">
                        <a:solidFill>
                          <a:srgbClr val="0000FF"/>
                        </a:solidFill>
                        <a:latin typeface="Cambria Math" charset="0"/>
                      </a:rPr>
                      <m:t>cos</m:t>
                    </m:r>
                    <m:r>
                      <a:rPr lang="en-US" altLang="zh-CN" sz="1800" i="1" dirty="0" smtClean="0">
                        <a:solidFill>
                          <a:srgbClr val="0000FF"/>
                        </a:solidFill>
                        <a:latin typeface="Cambria Math" charset="0"/>
                        <a:ea typeface="Cambria Math" charset="0"/>
                        <a:cs typeface="Cambria Math" charset="0"/>
                      </a:rPr>
                      <m:t>𝜙</m:t>
                    </m:r>
                    <m:r>
                      <a:rPr lang="en-US" altLang="zh-CN" sz="1800" i="1" dirty="0">
                        <a:solidFill>
                          <a:srgbClr val="0000FF"/>
                        </a:solidFill>
                        <a:latin typeface="Cambria Math" charset="0"/>
                      </a:rPr>
                      <m:t> = </m:t>
                    </m:r>
                    <m:r>
                      <a:rPr lang="en-US" altLang="zh-CN" sz="1800" i="1" dirty="0" err="1">
                        <a:solidFill>
                          <a:srgbClr val="0000FF"/>
                        </a:solidFill>
                        <a:latin typeface="Cambria Math" charset="0"/>
                      </a:rPr>
                      <m:t>𝑠</m:t>
                    </m:r>
                    <m:r>
                      <a:rPr lang="en-US" altLang="zh-CN" sz="1800" i="1" dirty="0" err="1">
                        <a:solidFill>
                          <a:srgbClr val="0000FF"/>
                        </a:solidFill>
                        <a:latin typeface="Cambria Math" charset="0"/>
                      </a:rPr>
                      <m:t>⋅</m:t>
                    </m:r>
                    <m:r>
                      <a:rPr lang="en-US" altLang="zh-CN" sz="1800" i="1" dirty="0" err="1">
                        <a:solidFill>
                          <a:srgbClr val="0000FF"/>
                        </a:solidFill>
                        <a:latin typeface="Cambria Math" charset="0"/>
                      </a:rPr>
                      <m:t>𝑙</m:t>
                    </m:r>
                  </m:oMath>
                </a14:m>
                <a:r>
                  <a:rPr lang="en-US" altLang="zh-CN" sz="1800" dirty="0"/>
                  <a:t>.</a:t>
                </a: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6" name="图片 5"/>
          <p:cNvPicPr>
            <a:picLocks noChangeAspect="1"/>
          </p:cNvPicPr>
          <p:nvPr/>
        </p:nvPicPr>
        <p:blipFill>
          <a:blip r:embed="rId3"/>
          <a:stretch>
            <a:fillRect/>
          </a:stretch>
        </p:blipFill>
        <p:spPr>
          <a:xfrm>
            <a:off x="1799044" y="3166968"/>
            <a:ext cx="2133311" cy="1866078"/>
          </a:xfrm>
          <a:prstGeom prst="rect">
            <a:avLst/>
          </a:prstGeom>
        </p:spPr>
      </p:pic>
      <p:pic>
        <p:nvPicPr>
          <p:cNvPr id="7" name="图片 6"/>
          <p:cNvPicPr>
            <a:picLocks noChangeAspect="1"/>
          </p:cNvPicPr>
          <p:nvPr/>
        </p:nvPicPr>
        <p:blipFill>
          <a:blip r:embed="rId4"/>
          <a:stretch>
            <a:fillRect/>
          </a:stretch>
        </p:blipFill>
        <p:spPr>
          <a:xfrm>
            <a:off x="5824394" y="3166968"/>
            <a:ext cx="2063917" cy="1872024"/>
          </a:xfrm>
          <a:prstGeom prst="rect">
            <a:avLst/>
          </a:prstGeom>
        </p:spPr>
      </p:pic>
      <p:sp>
        <p:nvSpPr>
          <p:cNvPr id="8" name="文本框 7"/>
          <p:cNvSpPr txBox="1"/>
          <p:nvPr/>
        </p:nvSpPr>
        <p:spPr>
          <a:xfrm>
            <a:off x="891043"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真实衰减</a:t>
            </a:r>
          </a:p>
        </p:txBody>
      </p:sp>
      <p:sp>
        <p:nvSpPr>
          <p:cNvPr id="9" name="文本框 8"/>
          <p:cNvSpPr txBox="1"/>
          <p:nvPr/>
        </p:nvSpPr>
        <p:spPr>
          <a:xfrm>
            <a:off x="4840356"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具体实现</a:t>
            </a:r>
          </a:p>
        </p:txBody>
      </p:sp>
    </p:spTree>
    <p:extLst>
      <p:ext uri="{BB962C8B-B14F-4D97-AF65-F5344CB8AC3E}">
        <p14:creationId xmlns:p14="http://schemas.microsoft.com/office/powerpoint/2010/main" val="683696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471444" y="3172358"/>
            <a:ext cx="2704163" cy="2633085"/>
          </a:xfrm>
          <a:prstGeom prst="rect">
            <a:avLst/>
          </a:prstGeom>
        </p:spPr>
      </p:pic>
      <p:sp>
        <p:nvSpPr>
          <p:cNvPr id="2" name="标题 1"/>
          <p:cNvSpPr>
            <a:spLocks noGrp="1"/>
          </p:cNvSpPr>
          <p:nvPr>
            <p:ph type="title"/>
          </p:nvPr>
        </p:nvSpPr>
        <p:spPr/>
        <p:txBody>
          <a:bodyPr/>
          <a:lstStyle/>
          <a:p>
            <a:r>
              <a:rPr lang="zh-CN" altLang="en-US" dirty="0" smtClean="0"/>
              <a:t>远距离光源</a:t>
            </a:r>
            <a:endParaRPr lang="zh-CN" altLang="en-US" dirty="0"/>
          </a:p>
        </p:txBody>
      </p:sp>
      <p:sp>
        <p:nvSpPr>
          <p:cNvPr id="3" name="内容占位符 2"/>
          <p:cNvSpPr>
            <a:spLocks noGrp="1"/>
          </p:cNvSpPr>
          <p:nvPr>
            <p:ph idx="1"/>
          </p:nvPr>
        </p:nvSpPr>
        <p:spPr/>
        <p:txBody>
          <a:bodyPr>
            <a:normAutofit/>
          </a:bodyPr>
          <a:lstStyle/>
          <a:p>
            <a:r>
              <a:rPr lang="zh-CN" altLang="en-US" sz="2400" dirty="0"/>
              <a:t>远距离光源即在无穷远处的光源，光线为</a:t>
            </a:r>
            <a:r>
              <a:rPr lang="zh-CN" altLang="en-US" sz="2400" dirty="0" smtClean="0"/>
              <a:t>平行线</a:t>
            </a:r>
            <a:endParaRPr lang="en-US" altLang="zh-CN" sz="2400" dirty="0" smtClean="0"/>
          </a:p>
          <a:p>
            <a:pPr lvl="1">
              <a:buClr>
                <a:schemeClr val="tx1"/>
              </a:buClr>
            </a:pPr>
            <a:r>
              <a:rPr lang="zh-CN" altLang="en-US" sz="1800" dirty="0"/>
              <a:t>在光照计算中，需要计算从光源到当前点的向量</a:t>
            </a:r>
          </a:p>
          <a:p>
            <a:pPr lvl="1">
              <a:buClr>
                <a:schemeClr val="tx1"/>
              </a:buClr>
            </a:pPr>
            <a:r>
              <a:rPr lang="zh-CN" altLang="en-US" sz="1800" dirty="0" smtClean="0"/>
              <a:t>如果</a:t>
            </a:r>
            <a:r>
              <a:rPr lang="zh-CN" altLang="en-US" sz="1800" dirty="0"/>
              <a:t>光源在无穷远，该向量为常数</a:t>
            </a:r>
          </a:p>
          <a:p>
            <a:pPr lvl="1">
              <a:buClr>
                <a:schemeClr val="tx1"/>
              </a:buClr>
            </a:pPr>
            <a:r>
              <a:rPr lang="zh-CN" altLang="en-US" sz="1800" dirty="0"/>
              <a:t>太阳光是无穷远光源的典型代表</a:t>
            </a:r>
          </a:p>
          <a:p>
            <a:pPr lvl="1"/>
            <a:endParaRPr lang="en-US" altLang="zh-CN" sz="1000" dirty="0"/>
          </a:p>
          <a:p>
            <a:pPr marL="457200" lvl="1" indent="0">
              <a:buClr>
                <a:schemeClr val="tx1"/>
              </a:buClr>
              <a:buNone/>
            </a:pPr>
            <a:endParaRPr lang="en-US" altLang="zh-CN" sz="2400" dirty="0"/>
          </a:p>
          <a:p>
            <a:r>
              <a:rPr lang="zh-CN" altLang="en-US" sz="2400" dirty="0"/>
              <a:t>远距离光源的齐次坐标</a:t>
            </a:r>
            <a:r>
              <a:rPr lang="zh-CN" altLang="en-US" sz="2400" dirty="0" smtClean="0"/>
              <a:t>描述：</a:t>
            </a:r>
            <a:endParaRPr lang="zh-CN" altLang="en-US" sz="1800" dirty="0"/>
          </a:p>
          <a:p>
            <a:pPr marL="0" indent="0">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6" name="图片 5"/>
          <p:cNvPicPr>
            <a:picLocks noChangeAspect="1"/>
          </p:cNvPicPr>
          <p:nvPr/>
        </p:nvPicPr>
        <p:blipFill>
          <a:blip r:embed="rId3"/>
          <a:stretch>
            <a:fillRect/>
          </a:stretch>
        </p:blipFill>
        <p:spPr>
          <a:xfrm>
            <a:off x="2675388" y="4031542"/>
            <a:ext cx="1244171" cy="1542167"/>
          </a:xfrm>
          <a:prstGeom prst="rect">
            <a:avLst/>
          </a:prstGeom>
        </p:spPr>
      </p:pic>
    </p:spTree>
    <p:extLst>
      <p:ext uri="{BB962C8B-B14F-4D97-AF65-F5344CB8AC3E}">
        <p14:creationId xmlns:p14="http://schemas.microsoft.com/office/powerpoint/2010/main" val="53198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8" name="文本框 7"/>
          <p:cNvSpPr txBox="1"/>
          <p:nvPr/>
        </p:nvSpPr>
        <p:spPr>
          <a:xfrm>
            <a:off x="2805111" y="3389111"/>
            <a:ext cx="3541354" cy="646331"/>
          </a:xfrm>
          <a:prstGeom prst="rect">
            <a:avLst/>
          </a:prstGeom>
          <a:noFill/>
        </p:spPr>
        <p:txBody>
          <a:bodyPr wrap="none" rtlCol="0">
            <a:spAutoFit/>
          </a:bodyPr>
          <a:lstStyle/>
          <a:p>
            <a:pPr algn="ctr"/>
            <a:r>
              <a:rPr lang="en-US" altLang="zh-CN" sz="3600" b="1" dirty="0" err="1">
                <a:latin typeface="微软雅黑" panose="020B0503020204020204" pitchFamily="34" charset="-122"/>
                <a:ea typeface="微软雅黑" panose="020B0503020204020204" pitchFamily="34" charset="-122"/>
              </a:rPr>
              <a:t>Phong</a:t>
            </a:r>
            <a:r>
              <a:rPr lang="zh-CN" altLang="en-US" sz="3600" b="1" dirty="0">
                <a:latin typeface="微软雅黑" panose="020B0503020204020204" pitchFamily="34" charset="-122"/>
                <a:ea typeface="微软雅黑" panose="020B0503020204020204" pitchFamily="34" charset="-122"/>
              </a:rPr>
              <a:t>反射模型</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99687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反射模型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smtClean="0"/>
                  <a:t>真实</a:t>
                </a:r>
                <a:r>
                  <a:rPr lang="zh-CN" altLang="en-US" sz="2400" dirty="0"/>
                  <a:t>光照的</a:t>
                </a:r>
                <a:r>
                  <a:rPr lang="zh-CN" altLang="en-US" sz="2400" dirty="0" smtClean="0"/>
                  <a:t>简化</a:t>
                </a:r>
                <a:endParaRPr lang="en-US" altLang="zh-CN" sz="2400" dirty="0"/>
              </a:p>
              <a:p>
                <a:pPr lvl="1"/>
                <a:r>
                  <a:rPr lang="zh-CN" altLang="en-US" sz="1800" dirty="0" smtClean="0"/>
                  <a:t>计算效率高</a:t>
                </a:r>
                <a:endParaRPr lang="en-US" altLang="zh-CN" sz="1800" dirty="0" smtClean="0"/>
              </a:p>
              <a:p>
                <a:pPr lvl="1"/>
                <a:r>
                  <a:rPr lang="zh-CN" altLang="en-US" sz="1800" dirty="0" smtClean="0"/>
                  <a:t>和物理事实足够接近</a:t>
                </a:r>
                <a:endParaRPr lang="en-US" altLang="zh-CN" sz="1800" dirty="0"/>
              </a:p>
              <a:p>
                <a:pPr lvl="1"/>
                <a:r>
                  <a:rPr lang="zh-CN" altLang="en-US" sz="1600" dirty="0"/>
                  <a:t>适合图形管线实现</a:t>
                </a:r>
                <a:endParaRPr lang="en-US" altLang="zh-CN" sz="1600" dirty="0"/>
              </a:p>
              <a:p>
                <a:endParaRPr lang="en-US" altLang="zh-CN" sz="2400" dirty="0" smtClean="0"/>
              </a:p>
              <a:p>
                <a:r>
                  <a:rPr lang="zh-CN" altLang="en-US" sz="2400" dirty="0" smtClean="0"/>
                  <a:t>该</a:t>
                </a:r>
                <a:r>
                  <a:rPr lang="zh-CN" altLang="en-US" sz="2400" dirty="0"/>
                  <a:t>模型使用四个向量描述曲面上</a:t>
                </a:r>
                <a14:m>
                  <m:oMath xmlns:m="http://schemas.openxmlformats.org/officeDocument/2006/math">
                    <m:r>
                      <a:rPr lang="en-US" altLang="zh-CN" sz="2400" i="1" dirty="0" smtClean="0">
                        <a:latin typeface="Cambria Math" charset="0"/>
                      </a:rPr>
                      <m:t>𝑝</m:t>
                    </m:r>
                  </m:oMath>
                </a14:m>
                <a:r>
                  <a:rPr lang="zh-CN" altLang="en-US" sz="2400" dirty="0" smtClean="0"/>
                  <a:t>点的</a:t>
                </a:r>
                <a:r>
                  <a:rPr lang="zh-CN" altLang="en-US" sz="2400" dirty="0"/>
                  <a:t>光照效果：</a:t>
                </a:r>
                <a:endParaRPr lang="en-US" altLang="zh-CN" sz="2400" dirty="0"/>
              </a:p>
              <a:p>
                <a:pPr lvl="1"/>
                <a:r>
                  <a:rPr lang="zh-CN" altLang="en-US" sz="1800" dirty="0"/>
                  <a:t>曲面法向量</a:t>
                </a:r>
                <a14:m>
                  <m:oMath xmlns:m="http://schemas.openxmlformats.org/officeDocument/2006/math">
                    <m:r>
                      <a:rPr lang="en-US" altLang="zh-CN" sz="1800" i="1" dirty="0" smtClean="0">
                        <a:latin typeface="Cambria Math" charset="0"/>
                      </a:rPr>
                      <m:t>𝑛</m:t>
                    </m:r>
                  </m:oMath>
                </a14:m>
                <a:endParaRPr lang="en-US" altLang="zh-CN" sz="1800" dirty="0"/>
              </a:p>
              <a:p>
                <a:pPr lvl="1"/>
                <a:r>
                  <a:rPr lang="zh-CN" altLang="en-US" sz="1800" dirty="0"/>
                  <a:t>视线方向</a:t>
                </a:r>
                <a14:m>
                  <m:oMath xmlns:m="http://schemas.openxmlformats.org/officeDocument/2006/math">
                    <m:r>
                      <a:rPr lang="en-US" altLang="zh-CN" sz="1800" i="1" dirty="0" smtClean="0">
                        <a:latin typeface="Cambria Math" charset="0"/>
                      </a:rPr>
                      <m:t>𝑣</m:t>
                    </m:r>
                  </m:oMath>
                </a14:m>
                <a:endParaRPr lang="en-US" altLang="zh-CN" sz="1800" dirty="0"/>
              </a:p>
              <a:p>
                <a:pPr lvl="1"/>
                <a:r>
                  <a:rPr lang="zh-CN" altLang="en-US" sz="1800" dirty="0"/>
                  <a:t>入射方向</a:t>
                </a:r>
                <a14:m>
                  <m:oMath xmlns:m="http://schemas.openxmlformats.org/officeDocument/2006/math">
                    <m:r>
                      <a:rPr lang="en-US" altLang="zh-CN" sz="1800" i="1" dirty="0" smtClean="0">
                        <a:latin typeface="Cambria Math" charset="0"/>
                      </a:rPr>
                      <m:t>𝑙</m:t>
                    </m:r>
                  </m:oMath>
                </a14:m>
                <a:endParaRPr lang="en-US" altLang="zh-CN" sz="1800" dirty="0"/>
              </a:p>
              <a:p>
                <a:pPr lvl="1"/>
                <a:r>
                  <a:rPr lang="zh-CN" altLang="en-US" sz="1800" dirty="0"/>
                  <a:t>反射方向</a:t>
                </a:r>
                <a14:m>
                  <m:oMath xmlns:m="http://schemas.openxmlformats.org/officeDocument/2006/math">
                    <m:r>
                      <a:rPr lang="en-US" altLang="zh-CN" sz="1800" i="1" dirty="0" smtClean="0">
                        <a:latin typeface="Cambria Math" charset="0"/>
                      </a:rPr>
                      <m:t>𝑟</m:t>
                    </m:r>
                  </m:oMath>
                </a14:m>
                <a:endParaRPr lang="en-US" altLang="zh-CN" sz="1800" dirty="0"/>
              </a:p>
              <a:p>
                <a:pPr marL="360000" lvl="1" indent="-360000">
                  <a:spcBef>
                    <a:spcPts val="1000"/>
                  </a:spcBef>
                  <a:buClr>
                    <a:srgbClr val="94003F"/>
                  </a:buClr>
                  <a:buSzPct val="70000"/>
                  <a:buFont typeface="Wingdings" panose="05000000000000000000" pitchFamily="2" charset="2"/>
                  <a:buChar char="u"/>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5" name="图片 4"/>
          <p:cNvPicPr>
            <a:picLocks noChangeAspect="1"/>
          </p:cNvPicPr>
          <p:nvPr/>
        </p:nvPicPr>
        <p:blipFill>
          <a:blip r:embed="rId3"/>
          <a:stretch>
            <a:fillRect/>
          </a:stretch>
        </p:blipFill>
        <p:spPr>
          <a:xfrm>
            <a:off x="4371384" y="3883461"/>
            <a:ext cx="3344869" cy="2214459"/>
          </a:xfrm>
          <a:prstGeom prst="rect">
            <a:avLst/>
          </a:prstGeom>
        </p:spPr>
      </p:pic>
    </p:spTree>
    <p:extLst>
      <p:ext uri="{BB962C8B-B14F-4D97-AF65-F5344CB8AC3E}">
        <p14:creationId xmlns:p14="http://schemas.microsoft.com/office/powerpoint/2010/main" val="23769548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光源模型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err="1" smtClean="0"/>
                  <a:t>Phong</a:t>
                </a:r>
                <a:r>
                  <a:rPr lang="zh-CN" altLang="en-US" sz="2400" dirty="0" smtClean="0"/>
                  <a:t>反射模型考虑了光线和材料之间三种相互作用：</a:t>
                </a:r>
                <a:endParaRPr lang="en-US" altLang="zh-CN" sz="2400" dirty="0" smtClean="0"/>
              </a:p>
              <a:p>
                <a:pPr lvl="1"/>
                <a:r>
                  <a:rPr lang="zh-CN" altLang="en-US" sz="1800" dirty="0" smtClean="0">
                    <a:solidFill>
                      <a:srgbClr val="0000FF"/>
                    </a:solidFill>
                  </a:rPr>
                  <a:t>环境光反射</a:t>
                </a:r>
                <a:endParaRPr lang="en-US" altLang="zh-CN" sz="1800" dirty="0" smtClean="0">
                  <a:solidFill>
                    <a:srgbClr val="0000FF"/>
                  </a:solidFill>
                </a:endParaRPr>
              </a:p>
              <a:p>
                <a:pPr lvl="1"/>
                <a:r>
                  <a:rPr lang="zh-CN" altLang="en-US" sz="1800" dirty="0" smtClean="0">
                    <a:solidFill>
                      <a:srgbClr val="0000FF"/>
                    </a:solidFill>
                  </a:rPr>
                  <a:t>漫反射</a:t>
                </a:r>
                <a:endParaRPr lang="en-US" altLang="zh-CN" sz="1800" dirty="0" smtClean="0">
                  <a:solidFill>
                    <a:srgbClr val="0000FF"/>
                  </a:solidFill>
                </a:endParaRPr>
              </a:p>
              <a:p>
                <a:pPr lvl="1"/>
                <a:r>
                  <a:rPr lang="zh-CN" altLang="en-US" sz="1800" dirty="0" smtClean="0">
                    <a:solidFill>
                      <a:srgbClr val="0000FF"/>
                    </a:solidFill>
                  </a:rPr>
                  <a:t>镜面反射</a:t>
                </a:r>
                <a:endParaRPr lang="en-US" altLang="zh-CN" sz="1800" dirty="0" smtClean="0">
                  <a:solidFill>
                    <a:srgbClr val="0000FF"/>
                  </a:solidFill>
                </a:endParaRPr>
              </a:p>
              <a:p>
                <a:endParaRPr lang="en-US" altLang="zh-CN" sz="2400" dirty="0"/>
              </a:p>
              <a:p>
                <a:r>
                  <a:rPr lang="zh-CN" altLang="en-US" sz="2400" dirty="0" smtClean="0"/>
                  <a:t>假定有一组点光源，对于每一个颜色分量，每个点光源都有相应独立的三个光照</a:t>
                </a:r>
                <a:r>
                  <a:rPr lang="zh-CN" altLang="en-US" sz="2400" dirty="0"/>
                  <a:t>分量：</a:t>
                </a:r>
                <a:endParaRPr lang="en-US" altLang="zh-CN" sz="1800" dirty="0"/>
              </a:p>
              <a:p>
                <a:pPr lvl="1">
                  <a:buClr>
                    <a:schemeClr val="tx1"/>
                  </a:buClr>
                </a:pPr>
                <a:r>
                  <a:rPr lang="zh-CN" altLang="en-US" sz="1800" dirty="0"/>
                  <a:t>环境</a:t>
                </a:r>
                <a:r>
                  <a:rPr lang="zh-CN" altLang="en-US" sz="1800" dirty="0" smtClean="0"/>
                  <a:t>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a:t>
                </a:r>
                <a:r>
                  <a:rPr lang="zh-CN" altLang="en-US" sz="1800" dirty="0" smtClean="0"/>
                  <a:t>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a:t>
                </a:r>
                <a:r>
                  <a:rPr lang="zh-CN" altLang="en-US" sz="1800" dirty="0" smtClean="0"/>
                  <a:t>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3"/>
          <a:stretch>
            <a:fillRect/>
          </a:stretch>
        </p:blipFill>
        <p:spPr>
          <a:xfrm>
            <a:off x="4266482" y="3922921"/>
            <a:ext cx="2958205" cy="1175164"/>
          </a:xfrm>
          <a:prstGeom prst="rect">
            <a:avLst/>
          </a:prstGeom>
        </p:spPr>
      </p:pic>
    </p:spTree>
    <p:extLst>
      <p:ext uri="{BB962C8B-B14F-4D97-AF65-F5344CB8AC3E}">
        <p14:creationId xmlns:p14="http://schemas.microsoft.com/office/powerpoint/2010/main" val="17730773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smtClean="0"/>
                  <a:t>反射</a:t>
                </a:r>
                <a:r>
                  <a:rPr lang="zh-CN" altLang="en-US" sz="2400" dirty="0"/>
                  <a:t>模型：</a:t>
                </a:r>
                <a:endParaRPr lang="en-US" altLang="zh-CN" sz="1800" dirty="0"/>
              </a:p>
              <a:p>
                <a:pPr lvl="1">
                  <a:buClr>
                    <a:schemeClr val="tx1"/>
                  </a:buClr>
                </a:pPr>
                <a:r>
                  <a:rPr lang="zh-CN" altLang="en-US" sz="1800" dirty="0"/>
                  <a:t>需要计算出入射光线的</a:t>
                </a:r>
                <a:r>
                  <a:rPr lang="zh-CN" altLang="en-US" sz="1800" dirty="0" smtClean="0"/>
                  <a:t>每个光照分量</a:t>
                </a:r>
                <a:r>
                  <a:rPr lang="zh-CN" altLang="en-US" sz="1800" dirty="0"/>
                  <a:t>在曲面上</a:t>
                </a:r>
                <a14:m>
                  <m:oMath xmlns:m="http://schemas.openxmlformats.org/officeDocument/2006/math">
                    <m:r>
                      <a:rPr lang="en-US" altLang="zh-CN" sz="1800" b="1" i="1" dirty="0">
                        <a:latin typeface="Cambria Math" charset="0"/>
                      </a:rPr>
                      <m:t>𝒑</m:t>
                    </m:r>
                  </m:oMath>
                </a14:m>
                <a:r>
                  <a:rPr lang="zh-CN" altLang="en-US" sz="1800" dirty="0"/>
                  <a:t>点</a:t>
                </a:r>
                <a:r>
                  <a:rPr lang="zh-CN" altLang="en-US" sz="1800" dirty="0" smtClean="0"/>
                  <a:t>的</a:t>
                </a:r>
                <a:r>
                  <a:rPr lang="zh-CN" altLang="en-US" sz="1800" dirty="0" smtClean="0">
                    <a:solidFill>
                      <a:srgbClr val="0000FF"/>
                    </a:solidFill>
                  </a:rPr>
                  <a:t>反射率 </a:t>
                </a:r>
                <a:endParaRPr lang="en-US" altLang="zh-CN" sz="1800" dirty="0">
                  <a:solidFill>
                    <a:srgbClr val="0000FF"/>
                  </a:solidFill>
                </a:endParaRPr>
              </a:p>
              <a:p>
                <a:pPr lvl="1">
                  <a:buClr>
                    <a:schemeClr val="tx1"/>
                  </a:buClr>
                </a:pPr>
                <a:endParaRPr lang="en-US" altLang="zh-CN" sz="1800" dirty="0" smtClean="0"/>
              </a:p>
              <a:p>
                <a:pPr lvl="1">
                  <a:buClr>
                    <a:schemeClr val="tx1"/>
                  </a:buClr>
                </a:pPr>
                <a:endParaRPr lang="en-US" altLang="zh-CN" sz="1800" dirty="0"/>
              </a:p>
              <a:p>
                <a:pPr lvl="1">
                  <a:buClr>
                    <a:schemeClr val="tx1"/>
                  </a:buClr>
                </a:pPr>
                <a:endParaRPr lang="en-US" altLang="zh-CN" sz="1800" dirty="0" smtClean="0"/>
              </a:p>
              <a:p>
                <a:pPr lvl="1">
                  <a:buClr>
                    <a:schemeClr val="tx1"/>
                  </a:buClr>
                </a:pPr>
                <a:endParaRPr lang="en-US" altLang="zh-CN" sz="1800" dirty="0"/>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smtClean="0"/>
                  <a:t>点红色分量的</a:t>
                </a:r>
                <a:r>
                  <a:rPr lang="zh-CN" altLang="en-US" sz="1800" dirty="0"/>
                  <a:t>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smtClean="0"/>
                  <a:t>点总光强为各个颜色分量光强汇总（省略光源和颜色下标）：</a:t>
                </a:r>
                <a:endParaRPr lang="en-US" altLang="zh-CN" sz="1800" dirty="0" smtClean="0"/>
              </a:p>
              <a:p>
                <a:pPr lvl="1">
                  <a:buClr>
                    <a:schemeClr val="tx1"/>
                  </a:buClr>
                </a:pPr>
                <a:endParaRPr lang="en-US" altLang="zh-CN" sz="1800" dirty="0"/>
              </a:p>
              <a:p>
                <a:pPr lvl="1">
                  <a:buClr>
                    <a:schemeClr val="tx1"/>
                  </a:buClr>
                </a:pPr>
                <a:endParaRPr lang="en-US" altLang="zh-CN" sz="1800" dirty="0" smtClean="0">
                  <a:solidFill>
                    <a:srgbClr val="0000FF"/>
                  </a:solidFill>
                </a:endParaRPr>
              </a:p>
              <a:p>
                <a:pPr lvl="1">
                  <a:buClr>
                    <a:schemeClr val="tx1"/>
                  </a:buClr>
                </a:pPr>
                <a:endParaRPr lang="en-US" altLang="zh-CN" sz="1800" dirty="0" smtClean="0">
                  <a:solidFill>
                    <a:srgbClr val="0000FF"/>
                  </a:solidFill>
                </a:endParaRPr>
              </a:p>
              <a:p>
                <a:pPr lvl="1">
                  <a:buClr>
                    <a:schemeClr val="tx1"/>
                  </a:buClr>
                </a:pPr>
                <a:r>
                  <a:rPr lang="zh-CN" altLang="en-US" sz="1800" dirty="0" smtClean="0">
                    <a:solidFill>
                      <a:srgbClr val="0000FF"/>
                    </a:solidFill>
                  </a:rPr>
                  <a:t>反射率</a:t>
                </a:r>
                <a:r>
                  <a:rPr lang="zh-CN" altLang="en-US" sz="1800" dirty="0" smtClean="0"/>
                  <a:t>取决</a:t>
                </a:r>
                <a:r>
                  <a:rPr lang="zh-CN" altLang="en-US" sz="1800" dirty="0"/>
                  <a:t>于曲面材质、光线方向、光源距离、视点位置等</a:t>
                </a:r>
                <a:r>
                  <a:rPr lang="zh-CN" altLang="en-US" sz="1800" dirty="0" smtClean="0"/>
                  <a:t>因素</a:t>
                </a: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80388" y="3299641"/>
            <a:ext cx="3546512" cy="807693"/>
          </a:xfrm>
          <a:prstGeom prst="rect">
            <a:avLst/>
          </a:prstGeom>
        </p:spPr>
      </p:pic>
      <p:pic>
        <p:nvPicPr>
          <p:cNvPr id="11" name="图片 10"/>
          <p:cNvPicPr>
            <a:picLocks noChangeAspect="1"/>
          </p:cNvPicPr>
          <p:nvPr/>
        </p:nvPicPr>
        <p:blipFill>
          <a:blip r:embed="rId5"/>
          <a:stretch>
            <a:fillRect/>
          </a:stretch>
        </p:blipFill>
        <p:spPr>
          <a:xfrm>
            <a:off x="2107909" y="4725113"/>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739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环境光反射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环境光是由于在场景中光源与对象间的多次反射而</a:t>
                </a:r>
                <a:r>
                  <a:rPr lang="zh-CN" altLang="en-US" sz="2400" dirty="0" smtClean="0"/>
                  <a:t>导致</a:t>
                </a:r>
                <a:endParaRPr lang="zh-CN" altLang="en-US" sz="2400" dirty="0"/>
              </a:p>
              <a:p>
                <a:r>
                  <a:rPr lang="zh-CN" altLang="en-US" sz="2400" dirty="0"/>
                  <a:t>环境光的量与颜色依赖于</a:t>
                </a:r>
                <a:r>
                  <a:rPr lang="zh-CN" altLang="en-US" sz="2400" dirty="0">
                    <a:solidFill>
                      <a:srgbClr val="0000FF"/>
                    </a:solidFill>
                  </a:rPr>
                  <a:t>光源的颜色</a:t>
                </a:r>
                <a:r>
                  <a:rPr lang="zh-CN" altLang="en-US" sz="2400" dirty="0"/>
                  <a:t>和</a:t>
                </a:r>
                <a:r>
                  <a:rPr lang="zh-CN" altLang="en-US" sz="2400" dirty="0">
                    <a:solidFill>
                      <a:srgbClr val="0000FF"/>
                    </a:solidFill>
                  </a:rPr>
                  <a:t>对象的材料属性</a:t>
                </a:r>
              </a:p>
              <a:p>
                <a:r>
                  <a:rPr lang="zh-CN" altLang="en-US" sz="2400" dirty="0" smtClean="0"/>
                  <a:t>在表面上</a:t>
                </a:r>
                <a:r>
                  <a:rPr lang="zh-CN" altLang="en-US" sz="2400" dirty="0" smtClean="0">
                    <a:solidFill>
                      <a:srgbClr val="0000FF"/>
                    </a:solidFill>
                  </a:rPr>
                  <a:t>所有点处的环境光强度</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𝐼</m:t>
                        </m:r>
                      </m:e>
                      <m:sub>
                        <m:r>
                          <a:rPr lang="en-US" altLang="zh-CN" sz="2400" i="1" dirty="0" smtClean="0">
                            <a:solidFill>
                              <a:srgbClr val="0000FF"/>
                            </a:solidFill>
                            <a:latin typeface="Cambria Math" charset="0"/>
                          </a:rPr>
                          <m:t>𝑎</m:t>
                        </m:r>
                      </m:sub>
                    </m:sSub>
                  </m:oMath>
                </a14:m>
                <a:r>
                  <a:rPr lang="zh-CN" altLang="en-US" sz="2400" dirty="0" smtClean="0">
                    <a:solidFill>
                      <a:srgbClr val="0000FF"/>
                    </a:solidFill>
                  </a:rPr>
                  <a:t>都是相同的</a:t>
                </a:r>
                <a:endParaRPr lang="en-US" altLang="zh-CN" sz="2400" dirty="0" smtClean="0">
                  <a:solidFill>
                    <a:srgbClr val="0000FF"/>
                  </a:solidFill>
                </a:endParaRPr>
              </a:p>
              <a:p>
                <a:r>
                  <a:rPr lang="zh-CN" altLang="en-US" sz="2400" dirty="0" smtClean="0">
                    <a:solidFill>
                      <a:srgbClr val="0000FF"/>
                    </a:solidFill>
                  </a:rPr>
                  <a:t>反射率由环境光反射系数</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𝑘</m:t>
                        </m:r>
                      </m:e>
                      <m:sub>
                        <m:r>
                          <a:rPr lang="en-US" altLang="zh-CN" sz="2400" i="1" dirty="0" smtClean="0">
                            <a:solidFill>
                              <a:srgbClr val="0000FF"/>
                            </a:solidFill>
                            <a:latin typeface="Cambria Math" charset="0"/>
                          </a:rPr>
                          <m:t>𝑎</m:t>
                        </m:r>
                      </m:sub>
                    </m:sSub>
                  </m:oMath>
                </a14:m>
                <a:r>
                  <a:rPr lang="zh-CN" altLang="en-US" sz="2400" dirty="0" smtClean="0">
                    <a:solidFill>
                      <a:srgbClr val="0000FF"/>
                    </a:solidFill>
                  </a:rPr>
                  <a:t>确定</a:t>
                </a:r>
                <a:r>
                  <a:rPr lang="zh-CN" altLang="en-US" sz="2400" dirty="0" smtClean="0"/>
                  <a:t>，即</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charset="0"/>
                          </a:rPr>
                          <m:t>𝑅</m:t>
                        </m:r>
                      </m:e>
                      <m:sub>
                        <m:r>
                          <a:rPr lang="en-US" altLang="zh-CN" sz="2400" i="1" dirty="0" smtClean="0">
                            <a:latin typeface="Cambria Math" charset="0"/>
                          </a:rPr>
                          <m:t>𝑎</m:t>
                        </m:r>
                      </m:sub>
                    </m:sSub>
                    <m:r>
                      <a:rPr lang="en-US" altLang="zh-CN" sz="2400" b="0" i="1" dirty="0" smtClean="0">
                        <a:latin typeface="Cambria Math" charset="0"/>
                      </a:rPr>
                      <m:t>=</m:t>
                    </m:r>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i="1" dirty="0">
                            <a:latin typeface="Cambria Math" charset="0"/>
                          </a:rPr>
                          <m:t>𝑎</m:t>
                        </m:r>
                      </m:sub>
                    </m:sSub>
                  </m:oMath>
                </a14:m>
                <a:r>
                  <a:rPr lang="zh-CN" altLang="en-US" sz="2400" dirty="0" smtClean="0"/>
                  <a:t> </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968312" y="3128975"/>
                <a:ext cx="39565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a:rPr lang="en-US" altLang="zh-CN" sz="3200" b="0" i="1" smtClean="0">
                              <a:latin typeface="Cambria Math" charset="0"/>
                            </a:rPr>
                            <m:t>𝑎</m:t>
                          </m:r>
                        </m:sub>
                      </m:sSub>
                      <m:r>
                        <a:rPr lang="en-US" altLang="zh-CN" sz="3200" b="0" i="1" smtClean="0">
                          <a:latin typeface="Cambria Math" charset="0"/>
                        </a:rPr>
                        <m:t>=</m:t>
                      </m:r>
                      <m:sSub>
                        <m:sSubPr>
                          <m:ctrlPr>
                            <a:rPr lang="en-US" altLang="zh-CN" sz="3200" b="0" i="1" smtClean="0">
                              <a:latin typeface="Cambria Math" panose="02040503050406030204" pitchFamily="18" charset="0"/>
                            </a:rPr>
                          </m:ctrlPr>
                        </m:sSubPr>
                        <m:e>
                          <m:r>
                            <a:rPr lang="en-US" altLang="zh-CN" sz="3200" b="0" i="1" smtClean="0">
                              <a:latin typeface="Cambria Math" charset="0"/>
                            </a:rPr>
                            <m:t>𝑘</m:t>
                          </m:r>
                        </m:e>
                        <m:sub>
                          <m:r>
                            <a:rPr lang="en-US" altLang="zh-CN" sz="3200" b="0" i="1" smtClean="0">
                              <a:latin typeface="Cambria Math" charset="0"/>
                            </a:rPr>
                            <m:t>𝑎</m:t>
                          </m:r>
                        </m:sub>
                      </m:sSub>
                      <m:sSub>
                        <m:sSubPr>
                          <m:ctrlPr>
                            <a:rPr lang="en-US" altLang="zh-CN" sz="3200" b="0" i="1" smtClean="0">
                              <a:latin typeface="Cambria Math" panose="02040503050406030204" pitchFamily="18" charset="0"/>
                            </a:rPr>
                          </m:ctrlPr>
                        </m:sSubPr>
                        <m:e>
                          <m:r>
                            <a:rPr lang="en-US" altLang="zh-CN" sz="3200" b="0" i="1" smtClean="0">
                              <a:latin typeface="Cambria Math" charset="0"/>
                            </a:rPr>
                            <m:t>𝐿</m:t>
                          </m:r>
                        </m:e>
                        <m:sub>
                          <m:r>
                            <a:rPr lang="en-US" altLang="zh-CN" sz="3200" b="0" i="1" smtClean="0">
                              <a:latin typeface="Cambria Math" charset="0"/>
                            </a:rPr>
                            <m:t>𝑎</m:t>
                          </m:r>
                        </m:sub>
                      </m:sSub>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a:rPr lang="en-US" altLang="zh-CN" sz="3200" b="0" i="1" smtClean="0">
                              <a:latin typeface="Cambria Math" charset="0"/>
                              <a:ea typeface="Cambria Math" charset="0"/>
                              <a:cs typeface="Cambria Math" charset="0"/>
                            </a:rPr>
                            <m:t>𝑎</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5" name="TextBox 4"/>
              <p:cNvSpPr txBox="1">
                <a:spLocks noRot="1" noChangeAspect="1" noMove="1" noResize="1" noEditPoints="1" noAdjustHandles="1" noChangeArrowheads="1" noChangeShapeType="1" noTextEdit="1"/>
              </p:cNvSpPr>
              <p:nvPr/>
            </p:nvSpPr>
            <p:spPr>
              <a:xfrm>
                <a:off x="1968312" y="3128975"/>
                <a:ext cx="3956531" cy="4924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0617" y="3719287"/>
                <a:ext cx="6095708" cy="400110"/>
              </a:xfrm>
              <a:prstGeom prst="rect">
                <a:avLst/>
              </a:prstGeom>
            </p:spPr>
            <p:txBody>
              <a:bodyPr wrap="none">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a14:m>
                <a:r>
                  <a:rPr lang="zh-CN" altLang="en-US" sz="2000" dirty="0">
                    <a:latin typeface="微软雅黑" panose="020B0503020204020204" pitchFamily="34" charset="-122"/>
                    <a:ea typeface="微软雅黑" panose="020B0503020204020204" pitchFamily="34" charset="-122"/>
                  </a:rPr>
                  <a:t>可以代表任何单独的光源，也可以代表全局环境光</a:t>
                </a:r>
                <a:endParaRPr lang="en-US" sz="2000" dirty="0">
                  <a:latin typeface="微软雅黑" panose="020B0503020204020204" pitchFamily="34" charset="-122"/>
                  <a:ea typeface="微软雅黑" panose="020B0503020204020204" pitchFamily="34"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1050617" y="3719287"/>
                <a:ext cx="6095708" cy="400110"/>
              </a:xfrm>
              <a:prstGeom prst="rect">
                <a:avLst/>
              </a:prstGeom>
              <a:blipFill rotWithShape="0">
                <a:blip r:embed="rId4"/>
                <a:stretch>
                  <a:fillRect t="-7576" r="-500" b="-25758"/>
                </a:stretch>
              </a:blipFill>
            </p:spPr>
            <p:txBody>
              <a:bodyPr/>
              <a:lstStyle/>
              <a:p>
                <a:r>
                  <a:rPr lang="en-US">
                    <a:noFill/>
                  </a:rPr>
                  <a:t> </a:t>
                </a:r>
              </a:p>
            </p:txBody>
          </p:sp>
        </mc:Fallback>
      </mc:AlternateContent>
      <p:sp>
        <p:nvSpPr>
          <p:cNvPr id="7" name="TextBox 1"/>
          <p:cNvSpPr txBox="1"/>
          <p:nvPr/>
        </p:nvSpPr>
        <p:spPr>
          <a:xfrm>
            <a:off x="1859504" y="6173840"/>
            <a:ext cx="4602222" cy="312714"/>
          </a:xfrm>
          <a:prstGeom prst="rect">
            <a:avLst/>
          </a:prstGeom>
          <a:noFill/>
        </p:spPr>
        <p:txBody>
          <a:bodyPr wrap="none" lIns="0" tIns="0" rIns="0" rtlCol="0">
            <a:spAutoFit/>
          </a:bodyPr>
          <a:lstStyle/>
          <a:p>
            <a:pPr algn="ctr">
              <a:lnSpc>
                <a:spcPts val="2200"/>
              </a:lnSpc>
            </a:pPr>
            <a:r>
              <a:rPr lang="en-US" altLang="zh-CN" b="1" dirty="0" smtClean="0">
                <a:solidFill>
                  <a:srgbClr val="000000"/>
                </a:solidFill>
                <a:latin typeface="Microsoft YaHei" charset="-122"/>
                <a:ea typeface="Microsoft YaHei" charset="-122"/>
                <a:cs typeface="Microsoft YaHei" charset="-122"/>
              </a:rPr>
              <a:t>环境光反射系数依次为</a:t>
            </a:r>
            <a:r>
              <a:rPr lang="en-US" altLang="zh-CN" b="1" dirty="0">
                <a:solidFill>
                  <a:srgbClr val="000000"/>
                </a:solidFill>
                <a:latin typeface="Microsoft YaHei" charset="-122"/>
                <a:ea typeface="Microsoft YaHei" charset="-122"/>
                <a:cs typeface="Microsoft YaHei" charset="-122"/>
              </a:rPr>
              <a:t>0.0,</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0.1,</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0.3,</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0.5,</a:t>
            </a:r>
            <a:r>
              <a:rPr lang="en-US" altLang="zh-CN" b="1" dirty="0">
                <a:latin typeface="Microsoft YaHei" charset="-122"/>
                <a:ea typeface="Microsoft YaHei" charset="-122"/>
                <a:cs typeface="Microsoft YaHei" charset="-122"/>
              </a:rPr>
              <a:t> </a:t>
            </a:r>
            <a:r>
              <a:rPr lang="en-US" altLang="zh-CN" b="1" dirty="0" smtClean="0">
                <a:solidFill>
                  <a:srgbClr val="000000"/>
                </a:solidFill>
                <a:latin typeface="Microsoft YaHei" charset="-122"/>
                <a:ea typeface="Microsoft YaHei" charset="-122"/>
                <a:cs typeface="Microsoft YaHei" charset="-122"/>
              </a:rPr>
              <a:t>0.7</a:t>
            </a:r>
            <a:endParaRPr lang="en-US" altLang="zh-CN" b="1" dirty="0">
              <a:solidFill>
                <a:srgbClr val="000000"/>
              </a:solidFill>
              <a:latin typeface="Microsoft YaHei" charset="-122"/>
              <a:ea typeface="Microsoft YaHei" charset="-122"/>
              <a:cs typeface="Microsoft YaHei" charset="-122"/>
            </a:endParaRPr>
          </a:p>
        </p:txBody>
      </p:sp>
      <p:pic>
        <p:nvPicPr>
          <p:cNvPr id="8" name="图片 5"/>
          <p:cNvPicPr>
            <a:picLocks noChangeAspect="1"/>
          </p:cNvPicPr>
          <p:nvPr/>
        </p:nvPicPr>
        <p:blipFill>
          <a:blip r:embed="rId5"/>
          <a:stretch>
            <a:fillRect/>
          </a:stretch>
        </p:blipFill>
        <p:spPr>
          <a:xfrm>
            <a:off x="1400677" y="4367232"/>
            <a:ext cx="5519876" cy="1656642"/>
          </a:xfrm>
          <a:prstGeom prst="rect">
            <a:avLst/>
          </a:prstGeom>
        </p:spPr>
      </p:pic>
    </p:spTree>
    <p:extLst>
      <p:ext uri="{BB962C8B-B14F-4D97-AF65-F5344CB8AC3E}">
        <p14:creationId xmlns:p14="http://schemas.microsoft.com/office/powerpoint/2010/main" val="13997818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p:sp>
        <p:nvSpPr>
          <p:cNvPr id="3" name="内容占位符 2"/>
          <p:cNvSpPr>
            <a:spLocks noGrp="1"/>
          </p:cNvSpPr>
          <p:nvPr>
            <p:ph idx="1"/>
          </p:nvPr>
        </p:nvSpPr>
        <p:spPr>
          <a:xfrm>
            <a:off x="628650" y="1316831"/>
            <a:ext cx="4248150" cy="4351338"/>
          </a:xfrm>
        </p:spPr>
        <p:txBody>
          <a:bodyPr>
            <a:normAutofit/>
          </a:bodyPr>
          <a:lstStyle/>
          <a:p>
            <a:r>
              <a:rPr lang="en-US" altLang="zh-CN" sz="2400" dirty="0" smtClean="0"/>
              <a:t>Lambert</a:t>
            </a:r>
            <a:r>
              <a:rPr lang="zh-CN" altLang="en-US" sz="2400" dirty="0" smtClean="0"/>
              <a:t>表面</a:t>
            </a:r>
            <a:endParaRPr lang="zh-CN" altLang="en-US" sz="2400" dirty="0"/>
          </a:p>
          <a:p>
            <a:pPr lvl="1">
              <a:buClr>
                <a:schemeClr val="tx1"/>
              </a:buClr>
            </a:pPr>
            <a:r>
              <a:rPr lang="zh-CN" altLang="en-US" sz="1800" dirty="0">
                <a:solidFill>
                  <a:srgbClr val="0000FF"/>
                </a:solidFill>
              </a:rPr>
              <a:t>光线向各个方向均匀地反射</a:t>
            </a:r>
          </a:p>
          <a:p>
            <a:pPr lvl="1">
              <a:buClr>
                <a:schemeClr val="tx1"/>
              </a:buClr>
            </a:pPr>
            <a:r>
              <a:rPr lang="zh-CN" altLang="en-US" sz="1800" dirty="0"/>
              <a:t>在所有的观察者看来亮度都一样</a:t>
            </a:r>
            <a:endParaRPr lang="en-US" altLang="zh-CN" sz="1800" dirty="0"/>
          </a:p>
          <a:p>
            <a:pPr lvl="1">
              <a:buClr>
                <a:schemeClr val="tx1"/>
              </a:buClr>
            </a:pPr>
            <a:r>
              <a:rPr lang="zh-CN" altLang="en-US" sz="1800" dirty="0" smtClean="0"/>
              <a:t>模拟</a:t>
            </a:r>
            <a:r>
              <a:rPr lang="zh-CN" altLang="en-US" sz="1800" dirty="0"/>
              <a:t>粗糙表面</a:t>
            </a:r>
            <a:endParaRPr lang="en-US" altLang="zh-CN" sz="1800" dirty="0"/>
          </a:p>
          <a:p>
            <a:pPr lvl="1">
              <a:buClr>
                <a:schemeClr val="tx1"/>
              </a:buClr>
            </a:pPr>
            <a:r>
              <a:rPr lang="zh-CN" altLang="en-US" sz="1800" dirty="0" smtClean="0"/>
              <a:t>理想的</a:t>
            </a:r>
            <a:r>
              <a:rPr lang="zh-CN" altLang="en-US" sz="1800" dirty="0"/>
              <a:t>漫反射</a:t>
            </a:r>
          </a:p>
          <a:p>
            <a:pPr marL="0" indent="0">
              <a:buNone/>
            </a:pPr>
            <a:endParaRPr lang="en-US" altLang="zh-CN" sz="2400" dirty="0"/>
          </a:p>
          <a:p>
            <a:r>
              <a:rPr lang="en-US" altLang="zh-CN" sz="2400" dirty="0"/>
              <a:t>Lambert</a:t>
            </a:r>
            <a:r>
              <a:rPr lang="zh-CN" altLang="en-US" sz="2400" dirty="0"/>
              <a:t>定律：</a:t>
            </a:r>
          </a:p>
          <a:p>
            <a:pPr lvl="1">
              <a:buClr>
                <a:schemeClr val="tx1"/>
              </a:buClr>
            </a:pPr>
            <a:r>
              <a:rPr lang="zh-CN" altLang="en-US" sz="1800" dirty="0" smtClean="0"/>
              <a:t>只有入射光线的垂直分量才对照明起作用</a:t>
            </a:r>
            <a:endParaRPr lang="en-US" altLang="zh-CN" sz="1800" dirty="0" smtClean="0"/>
          </a:p>
          <a:p>
            <a:pPr lvl="1">
              <a:buClr>
                <a:schemeClr val="tx1"/>
              </a:buClr>
            </a:pPr>
            <a:r>
              <a:rPr lang="zh-CN" altLang="en-US" sz="1800" dirty="0" smtClean="0"/>
              <a:t>光强</a:t>
            </a:r>
            <a:r>
              <a:rPr lang="zh-CN" altLang="en-US" sz="1800" dirty="0"/>
              <a:t>取决于垂直分量</a:t>
            </a:r>
            <a:endParaRPr lang="en-US" altLang="zh-CN" sz="18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7" name="图片 6"/>
          <p:cNvPicPr>
            <a:picLocks noChangeAspect="1"/>
          </p:cNvPicPr>
          <p:nvPr/>
        </p:nvPicPr>
        <p:blipFill>
          <a:blip r:embed="rId2"/>
          <a:stretch>
            <a:fillRect/>
          </a:stretch>
        </p:blipFill>
        <p:spPr>
          <a:xfrm>
            <a:off x="5275348" y="1158303"/>
            <a:ext cx="3516856" cy="1849592"/>
          </a:xfrm>
          <a:prstGeom prst="rect">
            <a:avLst/>
          </a:prstGeom>
        </p:spPr>
      </p:pic>
      <p:pic>
        <p:nvPicPr>
          <p:cNvPr id="10" name="图片 9"/>
          <p:cNvPicPr>
            <a:picLocks noChangeAspect="1"/>
          </p:cNvPicPr>
          <p:nvPr/>
        </p:nvPicPr>
        <p:blipFill>
          <a:blip r:embed="rId3"/>
          <a:stretch>
            <a:fillRect/>
          </a:stretch>
        </p:blipFill>
        <p:spPr>
          <a:xfrm>
            <a:off x="1592012" y="5566376"/>
            <a:ext cx="1414341" cy="342859"/>
          </a:xfrm>
          <a:prstGeom prst="rect">
            <a:avLst/>
          </a:prstGeom>
        </p:spPr>
      </p:pic>
      <p:pic>
        <p:nvPicPr>
          <p:cNvPr id="11" name="图片 10"/>
          <p:cNvPicPr>
            <a:picLocks noChangeAspect="1"/>
          </p:cNvPicPr>
          <p:nvPr/>
        </p:nvPicPr>
        <p:blipFill>
          <a:blip r:embed="rId4"/>
          <a:stretch>
            <a:fillRect/>
          </a:stretch>
        </p:blipFill>
        <p:spPr>
          <a:xfrm>
            <a:off x="1592012" y="4937786"/>
            <a:ext cx="1693285" cy="362038"/>
          </a:xfrm>
          <a:prstGeom prst="rect">
            <a:avLst/>
          </a:prstGeom>
        </p:spPr>
      </p:pic>
      <p:pic>
        <p:nvPicPr>
          <p:cNvPr id="19" name="图片 7"/>
          <p:cNvPicPr>
            <a:picLocks noChangeAspect="1"/>
          </p:cNvPicPr>
          <p:nvPr/>
        </p:nvPicPr>
        <p:blipFill>
          <a:blip r:embed="rId5"/>
          <a:stretch>
            <a:fillRect/>
          </a:stretch>
        </p:blipFill>
        <p:spPr>
          <a:xfrm>
            <a:off x="5399453" y="3721958"/>
            <a:ext cx="3392751" cy="1942191"/>
          </a:xfrm>
          <a:prstGeom prst="rect">
            <a:avLst/>
          </a:prstGeom>
        </p:spPr>
      </p:pic>
      <p:sp>
        <p:nvSpPr>
          <p:cNvPr id="5" name="TextBox 4"/>
          <p:cNvSpPr txBox="1"/>
          <p:nvPr/>
        </p:nvSpPr>
        <p:spPr>
          <a:xfrm>
            <a:off x="5381071" y="5906954"/>
            <a:ext cx="3057247"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正午时最亮，黎明和黄昏时最暗</a:t>
            </a:r>
            <a:endParaRPr 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18920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smtClean="0"/>
                  <a:t>漫反射系数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𝑑</m:t>
                        </m:r>
                      </m:sub>
                    </m:sSub>
                  </m:oMath>
                </a14:m>
                <a:r>
                  <a:rPr lang="zh-CN" altLang="en-US" sz="2400" dirty="0" smtClean="0">
                    <a:latin typeface="Cambria Math" charset="0"/>
                  </a:rPr>
                  <a:t>：</a:t>
                </a:r>
                <a:endParaRPr lang="en-US" altLang="zh-CN" sz="2400" dirty="0" smtClean="0">
                  <a:latin typeface="Cambria Math" charset="0"/>
                </a:endParaRPr>
              </a:p>
              <a:p>
                <a:pPr lvl="1"/>
                <a14:m>
                  <m:oMath xmlns:m="http://schemas.openxmlformats.org/officeDocument/2006/math">
                    <m:r>
                      <a:rPr lang="zh-CN" altLang="en-US" sz="1800" i="1" dirty="0" smtClean="0">
                        <a:latin typeface="Cambria Math" charset="0"/>
                      </a:rPr>
                      <m:t>表示</m:t>
                    </m:r>
                  </m:oMath>
                </a14:m>
                <a:r>
                  <a:rPr lang="zh-CN" altLang="en-US" sz="1800" dirty="0" smtClean="0"/>
                  <a:t>在入射的漫反射光中有多大一部分被反射出去</a:t>
                </a:r>
                <a:endParaRPr lang="en-US" altLang="zh-CN" sz="1800" dirty="0" smtClean="0"/>
              </a:p>
              <a:p>
                <a:pPr lvl="1"/>
                <a:endParaRPr lang="en-US" altLang="zh-CN" sz="1800" dirty="0" smtClean="0"/>
              </a:p>
              <a:p>
                <a:r>
                  <a:rPr lang="zh-CN" altLang="en-US" sz="2400" dirty="0" smtClean="0"/>
                  <a:t>漫反射光强公式：</a:t>
                </a:r>
                <a:endParaRPr lang="en-US" altLang="zh-CN" sz="2400" dirty="0" smtClean="0"/>
              </a:p>
              <a:p>
                <a:endParaRPr lang="en-US" altLang="zh-CN" sz="2400" dirty="0"/>
              </a:p>
              <a:p>
                <a:endParaRPr lang="en-US" altLang="zh-CN" sz="2400" dirty="0" smtClean="0"/>
              </a:p>
              <a:p>
                <a:endParaRPr lang="en-US" altLang="zh-CN" sz="2400" dirty="0" smtClean="0"/>
              </a:p>
              <a:p>
                <a:r>
                  <a:rPr lang="zh-CN" altLang="en-US" sz="2400" dirty="0" smtClean="0"/>
                  <a:t>考虑传播过程的</a:t>
                </a:r>
                <a:r>
                  <a:rPr lang="zh-CN" altLang="en-US" sz="2400" dirty="0" smtClean="0">
                    <a:solidFill>
                      <a:srgbClr val="0000FF"/>
                    </a:solidFill>
                  </a:rPr>
                  <a:t>衰减</a:t>
                </a:r>
                <a:r>
                  <a:rPr lang="zh-CN" altLang="en-US" sz="2400" dirty="0" smtClean="0"/>
                  <a:t>：</a:t>
                </a:r>
                <a:endParaRPr lang="zh-CN" altLang="en-US" sz="2400" dirty="0"/>
              </a:p>
              <a:p>
                <a:pPr>
                  <a:buClr>
                    <a:srgbClr val="94003F"/>
                  </a:buClr>
                </a:pPr>
                <a:endParaRPr lang="en-US" altLang="zh-CN" sz="2400" dirty="0"/>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9" name="图片 8"/>
          <p:cNvPicPr>
            <a:picLocks noChangeAspect="1"/>
          </p:cNvPicPr>
          <p:nvPr/>
        </p:nvPicPr>
        <p:blipFill>
          <a:blip r:embed="rId3"/>
          <a:stretch>
            <a:fillRect/>
          </a:stretch>
        </p:blipFill>
        <p:spPr>
          <a:xfrm>
            <a:off x="4945857" y="2556316"/>
            <a:ext cx="3093145" cy="2483825"/>
          </a:xfrm>
          <a:prstGeom prst="rect">
            <a:avLst/>
          </a:prstGeom>
        </p:spPr>
      </p:pic>
      <p:pic>
        <p:nvPicPr>
          <p:cNvPr id="14" name="图片 13"/>
          <p:cNvPicPr>
            <a:picLocks noChangeAspect="1"/>
          </p:cNvPicPr>
          <p:nvPr/>
        </p:nvPicPr>
        <p:blipFill>
          <a:blip r:embed="rId4"/>
          <a:stretch>
            <a:fillRect/>
          </a:stretch>
        </p:blipFill>
        <p:spPr>
          <a:xfrm>
            <a:off x="1124694" y="3055901"/>
            <a:ext cx="2332379" cy="436599"/>
          </a:xfrm>
          <a:prstGeom prst="rect">
            <a:avLst/>
          </a:prstGeom>
        </p:spPr>
      </p:pic>
      <p:pic>
        <p:nvPicPr>
          <p:cNvPr id="15" name="图片 14"/>
          <p:cNvPicPr>
            <a:picLocks noChangeAspect="1"/>
          </p:cNvPicPr>
          <p:nvPr/>
        </p:nvPicPr>
        <p:blipFill>
          <a:blip r:embed="rId5"/>
          <a:stretch>
            <a:fillRect/>
          </a:stretch>
        </p:blipFill>
        <p:spPr>
          <a:xfrm>
            <a:off x="1031183" y="4836954"/>
            <a:ext cx="3988489" cy="913332"/>
          </a:xfrm>
          <a:prstGeom prst="rect">
            <a:avLst/>
          </a:prstGeom>
        </p:spPr>
      </p:pic>
      <p:sp>
        <p:nvSpPr>
          <p:cNvPr id="16" name="文本框 15"/>
          <p:cNvSpPr txBox="1"/>
          <p:nvPr/>
        </p:nvSpPr>
        <p:spPr>
          <a:xfrm>
            <a:off x="7869190" y="4284314"/>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材质</a:t>
            </a:r>
          </a:p>
        </p:txBody>
      </p:sp>
      <p:sp>
        <p:nvSpPr>
          <p:cNvPr id="17" name="文本框 16"/>
          <p:cNvSpPr txBox="1"/>
          <p:nvPr/>
        </p:nvSpPr>
        <p:spPr>
          <a:xfrm>
            <a:off x="4098471" y="325051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光源距离</a:t>
            </a:r>
          </a:p>
        </p:txBody>
      </p:sp>
      <p:cxnSp>
        <p:nvCxnSpPr>
          <p:cNvPr id="7" name="Straight Connector 6"/>
          <p:cNvCxnSpPr/>
          <p:nvPr/>
        </p:nvCxnSpPr>
        <p:spPr>
          <a:xfrm>
            <a:off x="1721792" y="5870864"/>
            <a:ext cx="20366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69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衰减因子</a:t>
            </a:r>
            <a:endParaRPr lang="en-US" dirty="0"/>
          </a:p>
        </p:txBody>
      </p:sp>
      <p:sp>
        <p:nvSpPr>
          <p:cNvPr id="3" name="Content Placeholder 2"/>
          <p:cNvSpPr>
            <a:spLocks noGrp="1"/>
          </p:cNvSpPr>
          <p:nvPr>
            <p:ph idx="1"/>
          </p:nvPr>
        </p:nvSpPr>
        <p:spPr/>
        <p:txBody>
          <a:bodyPr>
            <a:normAutofit/>
          </a:bodyPr>
          <a:lstStyle/>
          <a:p>
            <a:r>
              <a:rPr lang="zh-CN" altLang="en-US" sz="2400" dirty="0" smtClean="0"/>
              <a:t>衰减方式</a:t>
            </a:r>
            <a:endParaRPr lang="en-US" altLang="zh-CN" sz="2400" dirty="0" smtClean="0"/>
          </a:p>
          <a:p>
            <a:pPr lvl="1"/>
            <a:r>
              <a:rPr lang="zh-CN" altLang="en-US" sz="1800" dirty="0" smtClean="0"/>
              <a:t>从点光源到达对象表面的光强反比于两者之间距离的平方</a:t>
            </a:r>
          </a:p>
          <a:p>
            <a:endParaRPr lang="en-US" altLang="zh-CN" sz="2400" dirty="0" smtClean="0"/>
          </a:p>
          <a:p>
            <a:r>
              <a:rPr lang="zh-CN" altLang="en-US" sz="2400" dirty="0" smtClean="0"/>
              <a:t>向光强计算公式中相关项添加</a:t>
            </a:r>
            <a:r>
              <a:rPr lang="zh-CN" altLang="en-US" sz="2400" dirty="0"/>
              <a:t>形式</a:t>
            </a:r>
            <a:r>
              <a:rPr lang="zh-CN" altLang="en-US" sz="2400" dirty="0" smtClean="0"/>
              <a:t>为</a:t>
            </a:r>
            <a:r>
              <a:rPr lang="en-US" altLang="zh-CN" sz="2400" dirty="0"/>
              <a:t/>
            </a:r>
            <a:br>
              <a:rPr lang="en-US" altLang="zh-CN" sz="2400" dirty="0"/>
            </a:br>
            <a:r>
              <a:rPr lang="en-US" altLang="zh-CN" sz="2400" dirty="0"/>
              <a:t/>
            </a:r>
            <a:br>
              <a:rPr lang="en-US" altLang="zh-CN" sz="2400" dirty="0"/>
            </a:br>
            <a:endParaRPr lang="en-US" altLang="zh-CN" sz="2400" dirty="0" smtClean="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endParaRPr lang="en-US" altLang="zh-CN" sz="2400" dirty="0" smtClean="0">
              <a:solidFill>
                <a:srgbClr val="000000"/>
              </a:solidFill>
              <a:latin typeface="华文新魏" pitchFamily="18" charset="0"/>
              <a:cs typeface="华文新魏" pitchFamily="18" charset="0"/>
            </a:endParaRPr>
          </a:p>
          <a:p>
            <a:endParaRPr lang="en-US" altLang="zh-CN" sz="2400" dirty="0" smtClean="0">
              <a:solidFill>
                <a:srgbClr val="000000"/>
              </a:solidFill>
              <a:latin typeface="华文新魏" pitchFamily="18" charset="0"/>
              <a:cs typeface="华文新魏" pitchFamily="18" charset="0"/>
            </a:endParaRPr>
          </a:p>
          <a:p>
            <a:r>
              <a:rPr lang="en-US" altLang="zh-CN" sz="2400" dirty="0" smtClean="0">
                <a:solidFill>
                  <a:srgbClr val="000000"/>
                </a:solidFill>
                <a:latin typeface="华文新魏" pitchFamily="18" charset="0"/>
                <a:cs typeface="华文新魏" pitchFamily="18" charset="0"/>
              </a:rPr>
              <a:t>常数与线性项</a:t>
            </a:r>
            <a:r>
              <a:rPr lang="zh-CN" altLang="en-US" sz="2400" dirty="0" smtClean="0">
                <a:solidFill>
                  <a:srgbClr val="000000"/>
                </a:solidFill>
                <a:latin typeface="华文新魏" pitchFamily="18" charset="0"/>
                <a:cs typeface="华文新魏" pitchFamily="18" charset="0"/>
              </a:rPr>
              <a:t>使照明</a:t>
            </a:r>
            <a:r>
              <a:rPr lang="en-US" altLang="zh-CN" sz="2400" dirty="0" smtClean="0">
                <a:solidFill>
                  <a:srgbClr val="000000"/>
                </a:solidFill>
                <a:latin typeface="华文新魏" pitchFamily="18" charset="0"/>
                <a:cs typeface="华文新魏" pitchFamily="18" charset="0"/>
              </a:rPr>
              <a:t>效果</a:t>
            </a:r>
            <a:r>
              <a:rPr lang="zh-CN" altLang="en-US" sz="2400" dirty="0" smtClean="0">
                <a:solidFill>
                  <a:srgbClr val="000000"/>
                </a:solidFill>
                <a:latin typeface="华文新魏" pitchFamily="18" charset="0"/>
                <a:cs typeface="华文新魏" pitchFamily="18" charset="0"/>
              </a:rPr>
              <a:t>更加柔和</a:t>
            </a:r>
            <a:endParaRPr lang="en-US" altLang="zh-CN" sz="2400" dirty="0">
              <a:solidFill>
                <a:srgbClr val="000000"/>
              </a:solidFill>
              <a:latin typeface="华文新魏" pitchFamily="18" charset="0"/>
              <a:cs typeface="华文新魏" pitchFamily="18" charset="0"/>
            </a:endParaRP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mc:AlternateContent xmlns:mc="http://schemas.openxmlformats.org/markup-compatibility/2006" xmlns:a14="http://schemas.microsoft.com/office/drawing/2010/main">
        <mc:Choice Requires="a14">
          <p:sp>
            <p:nvSpPr>
              <p:cNvPr id="5" name="Rectangle 4"/>
              <p:cNvSpPr/>
              <p:nvPr/>
            </p:nvSpPr>
            <p:spPr>
              <a:xfrm>
                <a:off x="3442916" y="2980761"/>
                <a:ext cx="1789208" cy="788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altLang="zh-CN" sz="2400" i="1">
                              <a:latin typeface="Cambria Math" panose="02040503050406030204" pitchFamily="18" charset="0"/>
                              <a:ea typeface="微软雅黑" panose="020B0503020204020204" pitchFamily="34" charset="-122"/>
                            </a:rPr>
                          </m:ctrlPr>
                        </m:fPr>
                        <m:num>
                          <m:r>
                            <a:rPr lang="en-US" altLang="zh-CN" sz="2400">
                              <a:latin typeface="Cambria Math" charset="0"/>
                              <a:ea typeface="微软雅黑" panose="020B0503020204020204" pitchFamily="34" charset="-122"/>
                            </a:rPr>
                            <m:t>1</m:t>
                          </m:r>
                        </m:num>
                        <m:den>
                          <m:r>
                            <m:rPr>
                              <m:nor/>
                            </m:rPr>
                            <a:rPr lang="en-US" altLang="zh-CN" sz="2400" dirty="0">
                              <a:latin typeface="微软雅黑" panose="020B0503020204020204" pitchFamily="34" charset="-122"/>
                              <a:ea typeface="微软雅黑" panose="020B0503020204020204" pitchFamily="34" charset="-122"/>
                            </a:rPr>
                            <m:t>a</m:t>
                          </m:r>
                          <m:r>
                            <m:rPr>
                              <m:nor/>
                            </m:rPr>
                            <a:rPr lang="en-US" altLang="zh-CN" sz="2400" dirty="0">
                              <a:latin typeface="微软雅黑" panose="020B0503020204020204" pitchFamily="34" charset="-122"/>
                              <a:ea typeface="微软雅黑" panose="020B0503020204020204" pitchFamily="34" charset="-122"/>
                            </a:rPr>
                            <m:t>+</m:t>
                          </m:r>
                          <m:r>
                            <m:rPr>
                              <m:nor/>
                            </m:rPr>
                            <a:rPr lang="en-US" altLang="zh-CN" sz="2400" dirty="0">
                              <a:latin typeface="微软雅黑" panose="020B0503020204020204" pitchFamily="34" charset="-122"/>
                              <a:ea typeface="微软雅黑" panose="020B0503020204020204" pitchFamily="34" charset="-122"/>
                            </a:rPr>
                            <m:t>bd</m:t>
                          </m:r>
                          <m:r>
                            <m:rPr>
                              <m:nor/>
                            </m:rPr>
                            <a:rPr lang="en-US" altLang="zh-CN" sz="2400" dirty="0">
                              <a:latin typeface="微软雅黑" panose="020B0503020204020204" pitchFamily="34" charset="-122"/>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m:rPr>
                                  <m:nor/>
                                </m:rPr>
                                <a:rPr lang="en-US" altLang="zh-CN" sz="2400" dirty="0">
                                  <a:latin typeface="微软雅黑" panose="020B0503020204020204" pitchFamily="34" charset="-122"/>
                                  <a:ea typeface="微软雅黑" panose="020B0503020204020204" pitchFamily="34" charset="-122"/>
                                </a:rPr>
                                <m:t>cd</m:t>
                              </m:r>
                            </m:e>
                            <m:sup>
                              <m:r>
                                <a:rPr lang="en-US" altLang="zh-CN" sz="2400" dirty="0">
                                  <a:latin typeface="Cambria Math" charset="0"/>
                                  <a:ea typeface="微软雅黑" panose="020B0503020204020204" pitchFamily="34" charset="-122"/>
                                </a:rPr>
                                <m:t>2</m:t>
                              </m:r>
                            </m:sup>
                          </m:sSup>
                        </m:den>
                      </m:f>
                    </m:oMath>
                  </m:oMathPara>
                </a14:m>
                <a:endParaRPr lang="en-US" sz="2400" dirty="0">
                  <a:latin typeface="微软雅黑" panose="020B0503020204020204" pitchFamily="34" charset="-122"/>
                  <a:ea typeface="微软雅黑" panose="020B0503020204020204" pitchFamily="34" charset="-122"/>
                </a:endParaRPr>
              </a:p>
            </p:txBody>
          </p:sp>
        </mc:Choice>
        <mc:Fallback xmlns="">
          <p:sp>
            <p:nvSpPr>
              <p:cNvPr id="5" name="Rectangle 4"/>
              <p:cNvSpPr>
                <a:spLocks noRot="1" noChangeAspect="1" noMove="1" noResize="1" noEditPoints="1" noAdjustHandles="1" noChangeArrowheads="1" noChangeShapeType="1" noTextEdit="1"/>
              </p:cNvSpPr>
              <p:nvPr/>
            </p:nvSpPr>
            <p:spPr>
              <a:xfrm>
                <a:off x="3442916" y="2980761"/>
                <a:ext cx="1789208" cy="788999"/>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1748" y="3963017"/>
                <a:ext cx="4065665" cy="461665"/>
              </a:xfrm>
              <a:prstGeom prst="rect">
                <a:avLst/>
              </a:prstGeom>
            </p:spPr>
            <p:txBody>
              <a:bodyPr wrap="none">
                <a:spAutoFit/>
              </a:bodyPr>
              <a:lstStyle/>
              <a:p>
                <a:r>
                  <a:rPr lang="zh-CN" altLang="en-US" sz="2400" dirty="0" smtClean="0">
                    <a:latin typeface="微软雅黑" panose="020B0503020204020204" pitchFamily="34" charset="-122"/>
                    <a:ea typeface="微软雅黑" panose="020B0503020204020204" pitchFamily="34" charset="-122"/>
                  </a:rPr>
                  <a:t>的</a:t>
                </a:r>
                <a:r>
                  <a:rPr lang="zh-CN" altLang="en-US" sz="2400" dirty="0" smtClean="0">
                    <a:solidFill>
                      <a:srgbClr val="0000FF"/>
                    </a:solidFill>
                    <a:latin typeface="微软雅黑" panose="020B0503020204020204" pitchFamily="34" charset="-122"/>
                    <a:ea typeface="微软雅黑" panose="020B0503020204020204" pitchFamily="34" charset="-122"/>
                  </a:rPr>
                  <a:t>衰减因子</a:t>
                </a:r>
                <a:r>
                  <a:rPr lang="zh-CN" altLang="en-US" sz="2400"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dirty="0">
                        <a:latin typeface="Cambria Math" charset="0"/>
                        <a:ea typeface="微软雅黑" panose="020B0503020204020204" pitchFamily="34" charset="-122"/>
                      </a:rPr>
                      <m:t>𝑑</m:t>
                    </m:r>
                  </m:oMath>
                </a14:m>
                <a:r>
                  <a:rPr lang="zh-CN" altLang="en-US" sz="2400" dirty="0">
                    <a:latin typeface="微软雅黑" panose="020B0503020204020204" pitchFamily="34" charset="-122"/>
                    <a:ea typeface="微软雅黑" panose="020B0503020204020204" pitchFamily="34" charset="-122"/>
                  </a:rPr>
                  <a:t>表示距离</a:t>
                </a:r>
              </a:p>
            </p:txBody>
          </p:sp>
        </mc:Choice>
        <mc:Fallback xmlns="">
          <p:sp>
            <p:nvSpPr>
              <p:cNvPr id="6" name="Rectangle 5"/>
              <p:cNvSpPr>
                <a:spLocks noRot="1" noChangeAspect="1" noMove="1" noResize="1" noEditPoints="1" noAdjustHandles="1" noChangeArrowheads="1" noChangeShapeType="1" noTextEdit="1"/>
              </p:cNvSpPr>
              <p:nvPr/>
            </p:nvSpPr>
            <p:spPr>
              <a:xfrm>
                <a:off x="1051748" y="3963017"/>
                <a:ext cx="4065665" cy="461665"/>
              </a:xfrm>
              <a:prstGeom prst="rect">
                <a:avLst/>
              </a:prstGeom>
              <a:blipFill rotWithShape="0">
                <a:blip r:embed="rId3"/>
                <a:stretch>
                  <a:fillRect l="-2402" t="-10526" r="-1351" b="-28947"/>
                </a:stretch>
              </a:blipFill>
            </p:spPr>
            <p:txBody>
              <a:bodyPr/>
              <a:lstStyle/>
              <a:p>
                <a:r>
                  <a:rPr lang="en-US">
                    <a:noFill/>
                  </a:rPr>
                  <a:t> </a:t>
                </a:r>
              </a:p>
            </p:txBody>
          </p:sp>
        </mc:Fallback>
      </mc:AlternateContent>
    </p:spTree>
    <p:extLst>
      <p:ext uri="{BB962C8B-B14F-4D97-AF65-F5344CB8AC3E}">
        <p14:creationId xmlns:p14="http://schemas.microsoft.com/office/powerpoint/2010/main" val="11120330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漫</a:t>
            </a:r>
            <a:r>
              <a:rPr lang="zh-CN" altLang="en-US" dirty="0" smtClean="0"/>
              <a:t>反射系数</a:t>
            </a:r>
            <a:r>
              <a:rPr lang="zh-CN" altLang="en-US" dirty="0"/>
              <a:t>的影响</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sp>
        <p:nvSpPr>
          <p:cNvPr id="6" name="TextBox 1"/>
          <p:cNvSpPr txBox="1"/>
          <p:nvPr/>
        </p:nvSpPr>
        <p:spPr>
          <a:xfrm>
            <a:off x="820883" y="3295294"/>
            <a:ext cx="2047182" cy="802784"/>
          </a:xfrm>
          <a:prstGeom prst="rect">
            <a:avLst/>
          </a:prstGeom>
          <a:noFill/>
        </p:spPr>
        <p:txBody>
          <a:bodyPr wrap="square" lIns="0" tIns="0" rIns="0" rtlCol="0">
            <a:spAutoFit/>
          </a:bodyPr>
          <a:lstStyle/>
          <a:p>
            <a:pPr>
              <a:lnSpc>
                <a:spcPts val="1700"/>
              </a:lnSpc>
              <a:tabLst/>
            </a:pPr>
            <a:r>
              <a:rPr lang="en-US" altLang="zh-CN" sz="1800" b="1" dirty="0" smtClean="0">
                <a:solidFill>
                  <a:srgbClr val="000000"/>
                </a:solidFill>
                <a:latin typeface="Microsoft YaHei" charset="-122"/>
                <a:ea typeface="Microsoft YaHei" charset="-122"/>
                <a:cs typeface="Microsoft YaHei" charset="-122"/>
              </a:rPr>
              <a:t>漫反射系数依次为</a:t>
            </a:r>
          </a:p>
          <a:p>
            <a:pPr>
              <a:lnSpc>
                <a:spcPts val="2100"/>
              </a:lnSpc>
              <a:tabLst/>
            </a:pPr>
            <a:r>
              <a:rPr lang="en-US" altLang="zh-CN" sz="1800" b="1" dirty="0" smtClean="0">
                <a:solidFill>
                  <a:srgbClr val="000000"/>
                </a:solidFill>
                <a:latin typeface="Microsoft YaHei" charset="-122"/>
                <a:ea typeface="Microsoft YaHei" charset="-122"/>
                <a:cs typeface="Microsoft YaHei" charset="-122"/>
              </a:rPr>
              <a:t>0.0,</a:t>
            </a:r>
            <a:r>
              <a:rPr lang="en-US" altLang="zh-CN" sz="1800" b="1" dirty="0" smtClean="0">
                <a:latin typeface="Microsoft YaHei" charset="-122"/>
                <a:ea typeface="Microsoft YaHei" charset="-122"/>
                <a:cs typeface="Microsoft YaHei" charset="-122"/>
              </a:rPr>
              <a:t> </a:t>
            </a:r>
            <a:r>
              <a:rPr lang="en-US" altLang="zh-CN" sz="1800" b="1" dirty="0" smtClean="0">
                <a:solidFill>
                  <a:srgbClr val="000000"/>
                </a:solidFill>
                <a:latin typeface="Microsoft YaHei" charset="-122"/>
                <a:ea typeface="Microsoft YaHei" charset="-122"/>
                <a:cs typeface="Microsoft YaHei" charset="-122"/>
              </a:rPr>
              <a:t>0.2,</a:t>
            </a:r>
            <a:r>
              <a:rPr lang="en-US" altLang="zh-CN" sz="1800" b="1" dirty="0" smtClean="0">
                <a:latin typeface="Microsoft YaHei" charset="-122"/>
                <a:ea typeface="Microsoft YaHei" charset="-122"/>
                <a:cs typeface="Microsoft YaHei" charset="-122"/>
              </a:rPr>
              <a:t> </a:t>
            </a:r>
            <a:r>
              <a:rPr lang="en-US" altLang="zh-CN" sz="1800" b="1" dirty="0" smtClean="0">
                <a:solidFill>
                  <a:srgbClr val="000000"/>
                </a:solidFill>
                <a:latin typeface="Microsoft YaHei" charset="-122"/>
                <a:ea typeface="Microsoft YaHei" charset="-122"/>
                <a:cs typeface="Microsoft YaHei" charset="-122"/>
              </a:rPr>
              <a:t>0.4,</a:t>
            </a:r>
            <a:r>
              <a:rPr lang="en-US" altLang="zh-CN" sz="1800" b="1" dirty="0" smtClean="0">
                <a:latin typeface="Microsoft YaHei" charset="-122"/>
                <a:ea typeface="Microsoft YaHei" charset="-122"/>
                <a:cs typeface="Microsoft YaHei" charset="-122"/>
              </a:rPr>
              <a:t> </a:t>
            </a:r>
          </a:p>
          <a:p>
            <a:pPr>
              <a:lnSpc>
                <a:spcPts val="2100"/>
              </a:lnSpc>
              <a:tabLst/>
            </a:pPr>
            <a:r>
              <a:rPr lang="en-US" altLang="zh-CN" sz="1800" b="1" dirty="0" smtClean="0">
                <a:solidFill>
                  <a:srgbClr val="000000"/>
                </a:solidFill>
                <a:latin typeface="Microsoft YaHei" charset="-122"/>
                <a:ea typeface="Microsoft YaHei" charset="-122"/>
                <a:cs typeface="Microsoft YaHei" charset="-122"/>
              </a:rPr>
              <a:t>0.6,</a:t>
            </a:r>
            <a:r>
              <a:rPr lang="zh-CN" altLang="en-US" sz="1800" b="1" dirty="0" smtClean="0">
                <a:solidFill>
                  <a:srgbClr val="000000"/>
                </a:solidFill>
                <a:latin typeface="Microsoft YaHei" charset="-122"/>
                <a:ea typeface="Microsoft YaHei" charset="-122"/>
                <a:cs typeface="Microsoft YaHei" charset="-122"/>
              </a:rPr>
              <a:t> </a:t>
            </a:r>
            <a:r>
              <a:rPr lang="en-US" altLang="zh-CN" sz="1800" b="1" dirty="0" smtClean="0">
                <a:solidFill>
                  <a:srgbClr val="000000"/>
                </a:solidFill>
                <a:latin typeface="Microsoft YaHei" charset="-122"/>
                <a:ea typeface="Microsoft YaHei" charset="-122"/>
                <a:cs typeface="Microsoft YaHei" charset="-122"/>
              </a:rPr>
              <a:t>0.8,</a:t>
            </a:r>
            <a:r>
              <a:rPr lang="en-US" altLang="zh-CN" sz="1800" b="1" dirty="0" smtClean="0">
                <a:latin typeface="Microsoft YaHei" charset="-122"/>
                <a:ea typeface="Microsoft YaHei" charset="-122"/>
                <a:cs typeface="Microsoft YaHei" charset="-122"/>
              </a:rPr>
              <a:t> </a:t>
            </a:r>
            <a:r>
              <a:rPr lang="en-US" altLang="zh-CN" sz="1800" b="1" dirty="0" smtClean="0">
                <a:solidFill>
                  <a:srgbClr val="000000"/>
                </a:solidFill>
                <a:latin typeface="Microsoft YaHei" charset="-122"/>
                <a:ea typeface="Microsoft YaHei" charset="-122"/>
                <a:cs typeface="Microsoft YaHei" charset="-122"/>
              </a:rPr>
              <a:t>1.0</a:t>
            </a:r>
          </a:p>
        </p:txBody>
      </p:sp>
      <p:pic>
        <p:nvPicPr>
          <p:cNvPr id="8" name="图片 6"/>
          <p:cNvPicPr>
            <a:picLocks noChangeAspect="1"/>
          </p:cNvPicPr>
          <p:nvPr/>
        </p:nvPicPr>
        <p:blipFill>
          <a:blip r:embed="rId2"/>
          <a:stretch>
            <a:fillRect/>
          </a:stretch>
        </p:blipFill>
        <p:spPr>
          <a:xfrm>
            <a:off x="2993649" y="1737567"/>
            <a:ext cx="5219700" cy="4105275"/>
          </a:xfrm>
          <a:prstGeom prst="rect">
            <a:avLst/>
          </a:prstGeom>
        </p:spPr>
      </p:pic>
    </p:spTree>
    <p:extLst>
      <p:ext uri="{BB962C8B-B14F-4D97-AF65-F5344CB8AC3E}">
        <p14:creationId xmlns:p14="http://schemas.microsoft.com/office/powerpoint/2010/main" val="18262787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p:sp>
        <p:nvSpPr>
          <p:cNvPr id="3" name="内容占位符 2"/>
          <p:cNvSpPr>
            <a:spLocks noGrp="1"/>
          </p:cNvSpPr>
          <p:nvPr>
            <p:ph idx="1"/>
          </p:nvPr>
        </p:nvSpPr>
        <p:spPr>
          <a:xfrm>
            <a:off x="628650" y="1316831"/>
            <a:ext cx="7886700" cy="4867402"/>
          </a:xfrm>
        </p:spPr>
        <p:txBody>
          <a:bodyPr>
            <a:normAutofit/>
          </a:bodyPr>
          <a:lstStyle/>
          <a:p>
            <a:r>
              <a:rPr lang="zh-CN" altLang="en-US" sz="2400" dirty="0"/>
              <a:t>镜面反射</a:t>
            </a:r>
            <a:endParaRPr lang="en-US" altLang="zh-CN" sz="1800" dirty="0"/>
          </a:p>
          <a:p>
            <a:pPr lvl="1">
              <a:buClr>
                <a:schemeClr val="tx1"/>
              </a:buClr>
            </a:pPr>
            <a:r>
              <a:rPr lang="zh-CN" altLang="en-US" sz="1800" dirty="0"/>
              <a:t>光滑表面显出镜面</a:t>
            </a:r>
            <a:r>
              <a:rPr lang="zh-CN" altLang="en-US" sz="1800" dirty="0" smtClean="0"/>
              <a:t>高光</a:t>
            </a:r>
            <a:endParaRPr lang="en-US" altLang="zh-CN" sz="1800" dirty="0" smtClean="0"/>
          </a:p>
          <a:p>
            <a:pPr lvl="2">
              <a:buClr>
                <a:schemeClr val="tx1"/>
              </a:buClr>
            </a:pPr>
            <a:r>
              <a:rPr lang="zh-CN" altLang="en-US" sz="1800" dirty="0" smtClean="0"/>
              <a:t>因为入射光被</a:t>
            </a:r>
            <a:r>
              <a:rPr lang="zh-CN" altLang="en-US" sz="1800" dirty="0"/>
              <a:t>反射后，绝大多数集中在反射方向</a:t>
            </a:r>
            <a:r>
              <a:rPr lang="zh-CN" altLang="en-US" sz="1800" dirty="0" smtClean="0"/>
              <a:t>周围</a:t>
            </a:r>
            <a:endParaRPr lang="en-US" altLang="zh-CN" sz="1800" dirty="0" smtClean="0"/>
          </a:p>
          <a:p>
            <a:pPr lvl="1">
              <a:buClr>
                <a:schemeClr val="tx1"/>
              </a:buClr>
            </a:pPr>
            <a:r>
              <a:rPr lang="zh-CN" altLang="en-US" sz="1800" dirty="0" smtClean="0"/>
              <a:t>这些高光通常表现出与环境光和漫反射不同的颜色</a:t>
            </a:r>
            <a:endParaRPr lang="en-US" altLang="zh-CN" sz="1800" dirty="0" smtClean="0"/>
          </a:p>
          <a:p>
            <a:pPr lvl="2">
              <a:buClr>
                <a:schemeClr val="tx1"/>
              </a:buClr>
            </a:pPr>
            <a:r>
              <a:rPr lang="zh-CN" altLang="en-US" sz="1800" dirty="0" smtClean="0"/>
              <a:t>如蓝色球在白光照射下的白色高光</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smtClean="0"/>
          </a:p>
          <a:p>
            <a:pPr lvl="1">
              <a:buClr>
                <a:schemeClr val="tx1"/>
              </a:buClr>
            </a:pPr>
            <a:endParaRPr lang="en-US" altLang="zh-CN" sz="1800" dirty="0"/>
          </a:p>
          <a:p>
            <a:pPr lvl="1">
              <a:buClr>
                <a:schemeClr val="tx1"/>
              </a:buClr>
            </a:pPr>
            <a:endParaRPr lang="en-US" altLang="zh-CN" sz="2400" dirty="0" smtClean="0"/>
          </a:p>
          <a:p>
            <a:r>
              <a:rPr lang="zh-CN" altLang="en-US" sz="2400" dirty="0" smtClean="0"/>
              <a:t>大多数</a:t>
            </a:r>
            <a:r>
              <a:rPr lang="zh-CN" altLang="en-US" sz="2400" dirty="0"/>
              <a:t>曲面既不是</a:t>
            </a:r>
            <a:r>
              <a:rPr lang="zh-CN" altLang="en-US" sz="2400" dirty="0" smtClean="0"/>
              <a:t>理想漫反射曲面，也</a:t>
            </a:r>
            <a:r>
              <a:rPr lang="zh-CN" altLang="en-US" sz="2400" dirty="0"/>
              <a:t>不是真正的</a:t>
            </a:r>
            <a:r>
              <a:rPr lang="zh-CN" altLang="en-US" sz="2400" dirty="0" smtClean="0"/>
              <a:t>镜面</a:t>
            </a: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p:cNvPicPr>
            <a:picLocks noChangeAspect="1"/>
          </p:cNvPicPr>
          <p:nvPr/>
        </p:nvPicPr>
        <p:blipFill>
          <a:blip r:embed="rId2"/>
          <a:stretch>
            <a:fillRect/>
          </a:stretch>
        </p:blipFill>
        <p:spPr>
          <a:xfrm>
            <a:off x="1561060" y="3073215"/>
            <a:ext cx="2149113" cy="2146994"/>
          </a:xfrm>
          <a:prstGeom prst="rect">
            <a:avLst/>
          </a:prstGeom>
        </p:spPr>
      </p:pic>
      <p:pic>
        <p:nvPicPr>
          <p:cNvPr id="11" name="图片 5"/>
          <p:cNvPicPr>
            <a:picLocks noChangeAspect="1"/>
          </p:cNvPicPr>
          <p:nvPr/>
        </p:nvPicPr>
        <p:blipFill>
          <a:blip r:embed="rId3"/>
          <a:stretch>
            <a:fillRect/>
          </a:stretch>
        </p:blipFill>
        <p:spPr>
          <a:xfrm>
            <a:off x="4722793" y="3204032"/>
            <a:ext cx="3319028" cy="1885360"/>
          </a:xfrm>
          <a:prstGeom prst="rect">
            <a:avLst/>
          </a:prstGeom>
        </p:spPr>
      </p:pic>
    </p:spTree>
    <p:extLst>
      <p:ext uri="{BB962C8B-B14F-4D97-AF65-F5344CB8AC3E}">
        <p14:creationId xmlns:p14="http://schemas.microsoft.com/office/powerpoint/2010/main" val="7966883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332622"/>
              </a:xfrm>
            </p:spPr>
            <p:txBody>
              <a:bodyPr>
                <a:normAutofit/>
              </a:bodyPr>
              <a:lstStyle/>
              <a:p>
                <a:r>
                  <a:rPr lang="zh-CN" altLang="en-US" sz="2400" dirty="0" smtClean="0"/>
                  <a:t>镜面反射</a:t>
                </a:r>
                <a:r>
                  <a:rPr lang="zh-CN" altLang="en-US" sz="2400" dirty="0"/>
                  <a:t>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𝑠</m:t>
                        </m:r>
                      </m:sub>
                    </m:sSub>
                  </m:oMath>
                </a14:m>
                <a:r>
                  <a:rPr lang="zh-CN" altLang="en-US" sz="2400" dirty="0">
                    <a:latin typeface="Cambria Math" charset="0"/>
                  </a:rPr>
                  <a:t>：</a:t>
                </a:r>
                <a:endParaRPr lang="en-US" altLang="zh-CN" sz="2400" dirty="0">
                  <a:latin typeface="Cambria Math" charset="0"/>
                </a:endParaRPr>
              </a:p>
              <a:p>
                <a:pPr lvl="1"/>
                <a14:m>
                  <m:oMath xmlns:m="http://schemas.openxmlformats.org/officeDocument/2006/math">
                    <m:r>
                      <a:rPr lang="zh-CN" altLang="en-US" sz="1800" i="1" dirty="0">
                        <a:latin typeface="Cambria Math" charset="0"/>
                      </a:rPr>
                      <m:t>表示</m:t>
                    </m:r>
                  </m:oMath>
                </a14:m>
                <a:r>
                  <a:rPr lang="zh-CN" altLang="en-US" sz="1800" dirty="0"/>
                  <a:t>在入射</a:t>
                </a:r>
                <a:r>
                  <a:rPr lang="zh-CN" altLang="en-US" sz="1800" dirty="0" smtClean="0"/>
                  <a:t>的镜面射光</a:t>
                </a:r>
                <a:r>
                  <a:rPr lang="zh-CN" altLang="en-US" sz="1800" dirty="0"/>
                  <a:t>中有多大一部分被反射出去</a:t>
                </a:r>
                <a:endParaRPr lang="en-US" altLang="zh-CN" sz="1800" dirty="0"/>
              </a:p>
              <a:p>
                <a:endParaRPr lang="en-US" altLang="zh-CN" sz="2400" dirty="0" smtClean="0"/>
              </a:p>
              <a:p>
                <a:r>
                  <a:rPr lang="zh-CN" altLang="en-US" sz="2400" dirty="0" smtClean="0"/>
                  <a:t>镜面反射光强公式：</a:t>
                </a:r>
                <a:endParaRPr lang="en-US" altLang="zh-CN" sz="1800" dirty="0"/>
              </a:p>
              <a:p>
                <a:pPr lvl="1">
                  <a:buClr>
                    <a:schemeClr val="tx1"/>
                  </a:buClr>
                </a:pPr>
                <a14:m>
                  <m:oMath xmlns:m="http://schemas.openxmlformats.org/officeDocument/2006/math">
                    <m:r>
                      <a:rPr lang="en-US" altLang="zh-CN" sz="1800" b="1" i="1" dirty="0" smtClean="0">
                        <a:latin typeface="Cambria Math" charset="0"/>
                        <a:ea typeface="Cambria Math" charset="0"/>
                        <a:cs typeface="Cambria Math" charset="0"/>
                      </a:rPr>
                      <m:t>𝝓</m:t>
                    </m:r>
                  </m:oMath>
                </a14:m>
                <a:r>
                  <a:rPr lang="zh-CN" altLang="en-US" sz="1800" dirty="0" smtClean="0"/>
                  <a:t>：</a:t>
                </a:r>
                <a:r>
                  <a:rPr lang="zh-CN" altLang="en-US" sz="1800" dirty="0"/>
                  <a:t>视线与反射光线的夹角</a:t>
                </a:r>
                <a:endParaRPr lang="en-US" altLang="zh-CN" sz="1800" dirty="0"/>
              </a:p>
              <a:p>
                <a:pPr lvl="1">
                  <a:buClr>
                    <a:schemeClr val="tx1"/>
                  </a:buClr>
                </a:pPr>
                <a14:m>
                  <m:oMath xmlns:m="http://schemas.openxmlformats.org/officeDocument/2006/math">
                    <m:r>
                      <a:rPr lang="el-GR" altLang="zh-CN" sz="1800" b="1" i="1" dirty="0" smtClean="0">
                        <a:latin typeface="Cambria Math" charset="0"/>
                      </a:rPr>
                      <m:t>𝜶</m:t>
                    </m:r>
                  </m:oMath>
                </a14:m>
                <a:r>
                  <a:rPr lang="zh-CN" altLang="en-US" sz="1800" dirty="0"/>
                  <a:t>：高光系数，决定了反射光的衰减</a:t>
                </a:r>
                <a:r>
                  <a:rPr lang="zh-CN" altLang="en-US" sz="1800" dirty="0" smtClean="0"/>
                  <a:t>程度</a:t>
                </a:r>
                <a:endParaRPr lang="en-US" altLang="zh-CN" sz="1800" dirty="0" smtClean="0"/>
              </a:p>
              <a:p>
                <a:pPr lvl="1">
                  <a:buClr>
                    <a:schemeClr val="tx1"/>
                  </a:buClr>
                </a:pPr>
                <a:endParaRPr lang="en-US" altLang="zh-CN" sz="1800" dirty="0"/>
              </a:p>
              <a:p>
                <a:pPr lvl="1">
                  <a:buClr>
                    <a:schemeClr val="tx1"/>
                  </a:buClr>
                </a:pPr>
                <a:endParaRPr lang="en-US" altLang="zh-CN" sz="1800" dirty="0" smtClean="0"/>
              </a:p>
              <a:p>
                <a:pPr lvl="1">
                  <a:buClr>
                    <a:schemeClr val="tx1"/>
                  </a:buClr>
                </a:pPr>
                <a:endParaRPr lang="en-US" altLang="zh-CN" sz="1800" dirty="0"/>
              </a:p>
              <a:p>
                <a:pPr lvl="1">
                  <a:buClr>
                    <a:schemeClr val="tx1"/>
                  </a:buClr>
                </a:pPr>
                <a:endParaRPr lang="en-US" altLang="zh-CN" sz="1800" dirty="0" smtClean="0"/>
              </a:p>
              <a:p>
                <a:pPr lvl="1">
                  <a:buClr>
                    <a:schemeClr val="tx1"/>
                  </a:buClr>
                </a:pPr>
                <a:endParaRPr lang="en-US" altLang="zh-CN" sz="1800" dirty="0"/>
              </a:p>
              <a:p>
                <a:pPr lvl="1">
                  <a:buClr>
                    <a:schemeClr val="tx1"/>
                  </a:buClr>
                </a:pPr>
                <a:endParaRPr lang="en-US" altLang="zh-CN" sz="1800" dirty="0" smtClean="0"/>
              </a:p>
              <a:p>
                <a:pPr lvl="1">
                  <a:buClr>
                    <a:schemeClr val="tx1"/>
                  </a:buClr>
                </a:pPr>
                <a:endParaRPr lang="en-US" altLang="zh-CN" sz="1800" dirty="0"/>
              </a:p>
              <a:p>
                <a:pPr lvl="1">
                  <a:buClr>
                    <a:schemeClr val="tx1"/>
                  </a:buClr>
                </a:pPr>
                <a:r>
                  <a:rPr lang="zh-CN" altLang="en-US" sz="1800" dirty="0" smtClean="0"/>
                  <a:t>同样</a:t>
                </a:r>
                <a:r>
                  <a:rPr lang="zh-CN" altLang="en-US" sz="1800" dirty="0"/>
                  <a:t>可以考虑传播过程中的衰减</a:t>
                </a:r>
                <a:endParaRPr lang="en-US" altLang="zh-CN" sz="1800" dirty="0"/>
              </a:p>
              <a:p>
                <a:pPr lvl="1">
                  <a:buClr>
                    <a:schemeClr val="tx1"/>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332622"/>
              </a:xfrm>
              <a:blipFill rotWithShape="0">
                <a:blip r:embed="rId2"/>
                <a:stretch>
                  <a:fillRect l="-309" t="-160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mc:Choice xmlns:a14="http://schemas.microsoft.com/office/drawing/2010/main" Requires="a14">
          <p:sp>
            <p:nvSpPr>
              <p:cNvPr id="9" name="Rectangle 8"/>
              <p:cNvSpPr/>
              <p:nvPr/>
            </p:nvSpPr>
            <p:spPr>
              <a:xfrm>
                <a:off x="3474620" y="2470080"/>
                <a:ext cx="3388685" cy="523220"/>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rPr>
                        <m:t>𝑰</m:t>
                      </m:r>
                      <m:r>
                        <a:rPr lang="en-US" altLang="zh-CN" sz="2800" b="1" i="1" baseline="-25000" dirty="0" smtClean="0">
                          <a:latin typeface="Cambria Math" charset="0"/>
                        </a:rPr>
                        <m:t>𝒔</m:t>
                      </m:r>
                      <m:r>
                        <a:rPr lang="en-US" altLang="zh-CN" sz="2800" b="1" i="1" baseline="-25000" dirty="0">
                          <a:latin typeface="Cambria Math" charset="0"/>
                        </a:rPr>
                        <m:t> </m:t>
                      </m:r>
                      <m:r>
                        <a:rPr lang="en-US" altLang="zh-CN" sz="2800" b="1" i="1" dirty="0">
                          <a:latin typeface="Cambria Math" charset="0"/>
                        </a:rPr>
                        <m:t>= </m:t>
                      </m:r>
                      <m:r>
                        <a:rPr lang="en-US" altLang="zh-CN" sz="2800" b="1" i="1" dirty="0" err="1">
                          <a:latin typeface="Cambria Math" charset="0"/>
                        </a:rPr>
                        <m:t>𝒌</m:t>
                      </m:r>
                      <m:r>
                        <a:rPr lang="en-US" altLang="zh-CN" sz="2800" b="1" i="1" baseline="-25000" dirty="0" err="1">
                          <a:latin typeface="Cambria Math" charset="0"/>
                        </a:rPr>
                        <m:t>𝒔</m:t>
                      </m:r>
                      <m:r>
                        <a:rPr lang="en-US" altLang="zh-CN" sz="2800" b="1" i="1" dirty="0">
                          <a:latin typeface="Cambria Math" charset="0"/>
                        </a:rPr>
                        <m:t> </m:t>
                      </m:r>
                      <m:sSub>
                        <m:sSubPr>
                          <m:ctrlPr>
                            <a:rPr lang="en-US" altLang="zh-CN" sz="2800" b="1" i="1" dirty="0" smtClean="0">
                              <a:latin typeface="Cambria Math" panose="02040503050406030204" pitchFamily="18" charset="0"/>
                            </a:rPr>
                          </m:ctrlPr>
                        </m:sSubPr>
                        <m:e>
                          <m:r>
                            <a:rPr lang="en-US" altLang="zh-CN" sz="2800" b="1" i="1" dirty="0" smtClean="0">
                              <a:latin typeface="Cambria Math" panose="02040503050406030204" pitchFamily="18" charset="0"/>
                            </a:rPr>
                            <m:t>𝑳</m:t>
                          </m:r>
                        </m:e>
                        <m:sub>
                          <m:r>
                            <a:rPr lang="en-US" altLang="zh-CN" sz="2800" b="1" i="1" dirty="0" smtClean="0">
                              <a:latin typeface="Cambria Math" charset="0"/>
                            </a:rPr>
                            <m:t>𝒔</m:t>
                          </m:r>
                        </m:sub>
                      </m:sSub>
                      <m:r>
                        <a:rPr lang="en-US" altLang="zh-CN" sz="2800" b="1" i="1" dirty="0">
                          <a:latin typeface="Cambria Math" charset="0"/>
                        </a:rPr>
                        <m:t> </m:t>
                      </m:r>
                      <m:r>
                        <m:rPr>
                          <m:sty m:val="p"/>
                        </m:rPr>
                        <a:rPr lang="en-US" altLang="zh-CN" sz="2800" b="1" i="1" dirty="0">
                          <a:latin typeface="Cambria Math" charset="0"/>
                        </a:rPr>
                        <m:t>cos</m:t>
                      </m:r>
                      <m:r>
                        <a:rPr lang="el-GR" altLang="zh-CN" sz="2800" b="1" i="1" baseline="30000" dirty="0">
                          <a:latin typeface="Cambria Math" charset="0"/>
                        </a:rPr>
                        <m:t>𝜶</m:t>
                      </m:r>
                      <m:r>
                        <a:rPr lang="el-GR" altLang="zh-CN" sz="2800" b="1" i="1" dirty="0" smtClean="0">
                          <a:latin typeface="Cambria Math" charset="0"/>
                          <a:ea typeface="Cambria Math" charset="0"/>
                          <a:cs typeface="Cambria Math" charset="0"/>
                        </a:rPr>
                        <m:t>𝝓</m:t>
                      </m:r>
                    </m:oMath>
                  </m:oMathPara>
                </a14:m>
                <a:endParaRPr lang="en-US" altLang="zh-CN" sz="2800" b="1" dirty="0"/>
              </a:p>
            </p:txBody>
          </p:sp>
        </mc:Choice>
        <mc:Fallback>
          <p:sp>
            <p:nvSpPr>
              <p:cNvPr id="9" name="Rectangle 8"/>
              <p:cNvSpPr>
                <a:spLocks noRot="1" noChangeAspect="1" noMove="1" noResize="1" noEditPoints="1" noAdjustHandles="1" noChangeArrowheads="1" noChangeShapeType="1" noTextEdit="1"/>
              </p:cNvSpPr>
              <p:nvPr/>
            </p:nvSpPr>
            <p:spPr>
              <a:xfrm>
                <a:off x="3474620" y="2470080"/>
                <a:ext cx="3388685" cy="523220"/>
              </a:xfrm>
              <a:prstGeom prst="rect">
                <a:avLst/>
              </a:prstGeom>
              <a:blipFill>
                <a:blip r:embed="rId3"/>
                <a:stretch>
                  <a:fillRect/>
                </a:stretch>
              </a:blipFill>
            </p:spPr>
            <p:txBody>
              <a:bodyPr/>
              <a:lstStyle/>
              <a:p>
                <a:r>
                  <a:rPr lang="zh-CN" altLang="en-US">
                    <a:noFill/>
                  </a:rPr>
                  <a:t> </a:t>
                </a:r>
              </a:p>
            </p:txBody>
          </p:sp>
        </mc:Fallback>
      </mc:AlternateContent>
      <p:pic>
        <p:nvPicPr>
          <p:cNvPr id="10" name="图片 9"/>
          <p:cNvPicPr>
            <a:picLocks noChangeAspect="1"/>
          </p:cNvPicPr>
          <p:nvPr/>
        </p:nvPicPr>
        <p:blipFill>
          <a:blip r:embed="rId4"/>
          <a:stretch>
            <a:fillRect/>
          </a:stretch>
        </p:blipFill>
        <p:spPr>
          <a:xfrm>
            <a:off x="1340517" y="3680557"/>
            <a:ext cx="2870766" cy="1900580"/>
          </a:xfrm>
          <a:prstGeom prst="rect">
            <a:avLst/>
          </a:prstGeom>
        </p:spPr>
      </p:pic>
      <p:pic>
        <p:nvPicPr>
          <p:cNvPr id="7" name="图片 6"/>
          <p:cNvPicPr>
            <a:picLocks noChangeAspect="1"/>
          </p:cNvPicPr>
          <p:nvPr/>
        </p:nvPicPr>
        <p:blipFill>
          <a:blip r:embed="rId5"/>
          <a:stretch>
            <a:fillRect/>
          </a:stretch>
        </p:blipFill>
        <p:spPr>
          <a:xfrm>
            <a:off x="5283963" y="3681481"/>
            <a:ext cx="2789093" cy="1756314"/>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3169915" y="4506685"/>
                <a:ext cx="3047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charset="0"/>
                          <a:ea typeface="Cambria Math" charset="0"/>
                          <a:cs typeface="Cambria Math" charset="0"/>
                        </a:rPr>
                        <m:t>𝝓</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3169915" y="4506685"/>
                <a:ext cx="304705" cy="369332"/>
              </a:xfrm>
              <a:prstGeom prst="rect">
                <a:avLst/>
              </a:prstGeom>
              <a:blipFill rotWithShape="0">
                <a:blip r:embed="rId6"/>
                <a:stretch>
                  <a:fillRect l="-4000" r="-22000" b="-11475"/>
                </a:stretch>
              </a:blipFill>
            </p:spPr>
            <p:txBody>
              <a:bodyPr/>
              <a:lstStyle/>
              <a:p>
                <a:r>
                  <a:rPr lang="en-US">
                    <a:noFill/>
                  </a:rPr>
                  <a:t> </a:t>
                </a:r>
              </a:p>
            </p:txBody>
          </p:sp>
        </mc:Fallback>
      </mc:AlternateContent>
      <p:sp>
        <p:nvSpPr>
          <p:cNvPr id="12" name="Arc 11"/>
          <p:cNvSpPr/>
          <p:nvPr/>
        </p:nvSpPr>
        <p:spPr>
          <a:xfrm>
            <a:off x="2940511" y="4815513"/>
            <a:ext cx="229404" cy="176463"/>
          </a:xfrm>
          <a:prstGeom prst="arc">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483730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镜面反射参数的影响</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5" name="图片 4"/>
          <p:cNvPicPr>
            <a:picLocks noChangeAspect="1"/>
          </p:cNvPicPr>
          <p:nvPr/>
        </p:nvPicPr>
        <p:blipFill>
          <a:blip r:embed="rId2"/>
          <a:stretch>
            <a:fillRect/>
          </a:stretch>
        </p:blipFill>
        <p:spPr>
          <a:xfrm>
            <a:off x="1235353" y="1749786"/>
            <a:ext cx="7343850" cy="4662467"/>
          </a:xfrm>
          <a:prstGeom prst="rect">
            <a:avLst/>
          </a:prstGeom>
        </p:spPr>
      </p:pic>
      <p:sp>
        <p:nvSpPr>
          <p:cNvPr id="10" name="文本框 9"/>
          <p:cNvSpPr txBox="1"/>
          <p:nvPr/>
        </p:nvSpPr>
        <p:spPr>
          <a:xfrm>
            <a:off x="1235353" y="1328930"/>
            <a:ext cx="7343850" cy="369332"/>
          </a:xfrm>
          <a:prstGeom prst="rect">
            <a:avLst/>
          </a:prstGeom>
          <a:noFill/>
        </p:spPr>
        <p:txBody>
          <a:bodyPr wrap="square" rtlCol="0">
            <a:spAutoFit/>
          </a:bodyPr>
          <a:lstStyle/>
          <a:p>
            <a:r>
              <a:rPr lang="el-GR" altLang="zh-CN" dirty="0"/>
              <a:t>α </a:t>
            </a:r>
            <a:r>
              <a:rPr lang="en-US" altLang="zh-CN" dirty="0"/>
              <a:t>        </a:t>
            </a:r>
            <a:r>
              <a:rPr lang="el-GR" altLang="zh-CN" dirty="0"/>
              <a:t>3</a:t>
            </a:r>
            <a:r>
              <a:rPr lang="en-US" altLang="zh-CN" dirty="0"/>
              <a:t>                         </a:t>
            </a:r>
            <a:r>
              <a:rPr lang="el-GR" altLang="zh-CN" dirty="0"/>
              <a:t> 6 </a:t>
            </a:r>
            <a:r>
              <a:rPr lang="en-US" altLang="zh-CN" dirty="0"/>
              <a:t>                         </a:t>
            </a:r>
            <a:r>
              <a:rPr lang="el-GR" altLang="zh-CN" dirty="0"/>
              <a:t>9 </a:t>
            </a:r>
            <a:r>
              <a:rPr lang="en-US" altLang="zh-CN" dirty="0"/>
              <a:t>                       </a:t>
            </a:r>
            <a:r>
              <a:rPr lang="el-GR" altLang="zh-CN" dirty="0"/>
              <a:t>25 </a:t>
            </a:r>
            <a:r>
              <a:rPr lang="en-US" altLang="zh-CN" dirty="0"/>
              <a:t>                     </a:t>
            </a:r>
            <a:r>
              <a:rPr lang="el-GR" altLang="zh-CN" dirty="0"/>
              <a:t>200</a:t>
            </a:r>
            <a:endParaRPr lang="zh-CN" altLang="en-US" dirty="0"/>
          </a:p>
        </p:txBody>
      </p:sp>
      <p:sp>
        <p:nvSpPr>
          <p:cNvPr id="11" name="文本框 10"/>
          <p:cNvSpPr txBox="1"/>
          <p:nvPr/>
        </p:nvSpPr>
        <p:spPr>
          <a:xfrm rot="16200000">
            <a:off x="-966756" y="3933146"/>
            <a:ext cx="3785652" cy="618564"/>
          </a:xfrm>
          <a:prstGeom prst="rect">
            <a:avLst/>
          </a:prstGeom>
          <a:noFill/>
        </p:spPr>
        <p:txBody>
          <a:bodyPr vert="eaVert" wrap="square" rtlCol="0">
            <a:spAutoFit/>
          </a:bodyPr>
          <a:lstStyle/>
          <a:p>
            <a:r>
              <a:rPr lang="en-US" altLang="zh-CN" dirty="0"/>
              <a:t>0.25</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0.50</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0.75</a:t>
            </a:r>
            <a:endParaRPr lang="zh-CN" altLang="en-US" dirty="0"/>
          </a:p>
        </p:txBody>
      </p:sp>
      <p:sp>
        <p:nvSpPr>
          <p:cNvPr id="12" name="文本框 11"/>
          <p:cNvSpPr txBox="1"/>
          <p:nvPr/>
        </p:nvSpPr>
        <p:spPr>
          <a:xfrm>
            <a:off x="155121" y="3573187"/>
            <a:ext cx="461665" cy="1015663"/>
          </a:xfrm>
          <a:prstGeom prst="rect">
            <a:avLst/>
          </a:prstGeom>
          <a:noFill/>
        </p:spPr>
        <p:txBody>
          <a:bodyPr vert="eaVert" wrap="none" rtlCol="0">
            <a:spAutoFit/>
          </a:bodyPr>
          <a:lstStyle/>
          <a:p>
            <a:r>
              <a:rPr lang="zh-CN" altLang="en-US" b="1" dirty="0">
                <a:latin typeface="Microsoft YaHei" charset="-122"/>
                <a:ea typeface="Microsoft YaHei" charset="-122"/>
                <a:cs typeface="Microsoft YaHei" charset="-122"/>
              </a:rPr>
              <a:t>反射系数</a:t>
            </a:r>
          </a:p>
        </p:txBody>
      </p:sp>
      <p:sp>
        <p:nvSpPr>
          <p:cNvPr id="6" name="Rectangle 5"/>
          <p:cNvSpPr/>
          <p:nvPr/>
        </p:nvSpPr>
        <p:spPr>
          <a:xfrm>
            <a:off x="4353280" y="1031740"/>
            <a:ext cx="1107996" cy="369332"/>
          </a:xfrm>
          <a:prstGeom prst="rect">
            <a:avLst/>
          </a:prstGeom>
        </p:spPr>
        <p:txBody>
          <a:bodyPr wrap="none">
            <a:spAutoFit/>
          </a:bodyPr>
          <a:lstStyle/>
          <a:p>
            <a:r>
              <a:rPr lang="zh-CN" altLang="en-US" b="1" dirty="0" smtClean="0">
                <a:latin typeface="Microsoft YaHei" charset="-122"/>
                <a:ea typeface="Microsoft YaHei" charset="-122"/>
                <a:cs typeface="Microsoft YaHei" charset="-122"/>
              </a:rPr>
              <a:t>高光系数</a:t>
            </a:r>
            <a:endParaRPr lang="zh-CN" altLang="en-US" b="1"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793937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模型总结</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a:t>
            </a:r>
            <a:r>
              <a:rPr lang="zh-CN" altLang="en-US" sz="2400" dirty="0" smtClean="0"/>
              <a:t>为三种光分量的效果叠加</a:t>
            </a:r>
            <a:endParaRPr lang="en-US" altLang="zh-CN" sz="2400" dirty="0" smtClean="0"/>
          </a:p>
          <a:p>
            <a:pPr lvl="1"/>
            <a:r>
              <a:rPr lang="zh-CN" altLang="en-US" sz="1800" dirty="0" smtClean="0"/>
              <a:t>环境光反射</a:t>
            </a:r>
            <a:r>
              <a:rPr lang="en-US" altLang="zh-CN" sz="1800" dirty="0" smtClean="0"/>
              <a:t>+</a:t>
            </a:r>
            <a:r>
              <a:rPr lang="zh-CN" altLang="en-US" sz="1800" dirty="0"/>
              <a:t>漫</a:t>
            </a:r>
            <a:r>
              <a:rPr lang="zh-CN" altLang="en-US" sz="1800" dirty="0" smtClean="0"/>
              <a:t>反射</a:t>
            </a:r>
            <a:r>
              <a:rPr lang="en-US" altLang="zh-CN" sz="1800" dirty="0" smtClean="0"/>
              <a:t>+</a:t>
            </a:r>
            <a:r>
              <a:rPr lang="zh-CN" altLang="en-US" sz="1800" dirty="0"/>
              <a:t>镜面</a:t>
            </a:r>
            <a:r>
              <a:rPr lang="zh-CN" altLang="en-US" sz="1800" dirty="0" smtClean="0"/>
              <a:t>反射：</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a:t>
            </a:r>
            <a:r>
              <a:rPr lang="zh-CN" altLang="en-US" sz="1800" dirty="0" smtClean="0"/>
              <a:t>计算</a:t>
            </a:r>
            <a:endParaRPr lang="en-US" altLang="zh-CN" sz="1800" dirty="0" smtClean="0"/>
          </a:p>
          <a:p>
            <a:pPr lvl="1">
              <a:buClr>
                <a:schemeClr val="tx1"/>
              </a:buClr>
            </a:pPr>
            <a:r>
              <a:rPr lang="zh-CN" altLang="en-US" sz="1800" dirty="0" smtClean="0"/>
              <a:t>用</a:t>
            </a:r>
            <a:r>
              <a:rPr lang="zh-CN" altLang="en-US" sz="1800" dirty="0"/>
              <a:t>局部模型近似全局光照</a:t>
            </a:r>
            <a:r>
              <a:rPr lang="zh-CN" altLang="en-US" sz="1800" dirty="0" smtClean="0"/>
              <a:t>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6" name="图片 5"/>
          <p:cNvPicPr>
            <a:picLocks noChangeAspect="1"/>
          </p:cNvPicPr>
          <p:nvPr/>
        </p:nvPicPr>
        <p:blipFill>
          <a:blip r:embed="rId2"/>
          <a:stretch>
            <a:fillRect/>
          </a:stretch>
        </p:blipFill>
        <p:spPr>
          <a:xfrm>
            <a:off x="1229071" y="2555183"/>
            <a:ext cx="7209247" cy="658533"/>
          </a:xfrm>
          <a:prstGeom prst="rect">
            <a:avLst/>
          </a:prstGeom>
        </p:spPr>
      </p:pic>
      <p:pic>
        <p:nvPicPr>
          <p:cNvPr id="7" name="图片 9"/>
          <p:cNvPicPr>
            <a:picLocks noChangeAspect="1"/>
          </p:cNvPicPr>
          <p:nvPr/>
        </p:nvPicPr>
        <p:blipFill>
          <a:blip r:embed="rId3"/>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4"/>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smtClean="0">
                  <a:latin typeface="Microsoft YaHei" charset="-122"/>
                  <a:ea typeface="Microsoft YaHei" charset="-122"/>
                  <a:cs typeface="Microsoft YaHei" charset="-122"/>
                </a:rPr>
                <a:t>   环境光反射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漫反射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镜面反射           </a:t>
              </a:r>
              <a:r>
                <a:rPr lang="en-US" altLang="zh-CN" sz="1400" b="1" dirty="0" smtClean="0">
                  <a:latin typeface="Microsoft YaHei" charset="-122"/>
                  <a:ea typeface="Microsoft YaHei" charset="-122"/>
                  <a:cs typeface="Microsoft YaHei" charset="-122"/>
                </a:rPr>
                <a:t>=         </a:t>
              </a:r>
              <a:r>
                <a:rPr lang="en-US" altLang="zh-CN" sz="1400" b="1" dirty="0" err="1" smtClean="0">
                  <a:latin typeface="Microsoft YaHei" charset="-122"/>
                  <a:ea typeface="Microsoft YaHei" charset="-122"/>
                  <a:cs typeface="Microsoft YaHei" charset="-122"/>
                </a:rPr>
                <a:t>Phong</a:t>
              </a:r>
              <a:r>
                <a:rPr lang="zh-CN" altLang="en-US" sz="1400" b="1" dirty="0" smtClean="0">
                  <a:latin typeface="Microsoft YaHei" charset="-122"/>
                  <a:ea typeface="Microsoft YaHei" charset="-122"/>
                  <a:cs typeface="Microsoft YaHei" charset="-122"/>
                </a:rPr>
                <a:t>反射</a:t>
              </a:r>
              <a:endParaRPr lang="zh-CN" altLang="en-US" sz="1400" b="1" dirty="0">
                <a:latin typeface="Microsoft YaHei" charset="-122"/>
                <a:ea typeface="Microsoft YaHei" charset="-122"/>
                <a:cs typeface="Microsoft YaHei" charset="-122"/>
              </a:endParaRPr>
            </a:p>
          </p:txBody>
        </p:sp>
      </p:grpSp>
    </p:spTree>
    <p:extLst>
      <p:ext uri="{BB962C8B-B14F-4D97-AF65-F5344CB8AC3E}">
        <p14:creationId xmlns:p14="http://schemas.microsoft.com/office/powerpoint/2010/main" val="85775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 </a:t>
            </a:r>
            <a:r>
              <a:rPr lang="en-US" altLang="zh-CN" dirty="0" smtClean="0"/>
              <a:t>3.3</a:t>
            </a:r>
            <a:endParaRPr lang="en-US" dirty="0"/>
          </a:p>
        </p:txBody>
      </p:sp>
      <p:sp>
        <p:nvSpPr>
          <p:cNvPr id="3" name="Content Placeholder 2"/>
          <p:cNvSpPr>
            <a:spLocks noGrp="1"/>
          </p:cNvSpPr>
          <p:nvPr>
            <p:ph idx="1"/>
          </p:nvPr>
        </p:nvSpPr>
        <p:spPr/>
        <p:txBody>
          <a:bodyPr/>
          <a:lstStyle/>
          <a:p>
            <a:r>
              <a:rPr lang="en-US" b="1" dirty="0" err="1" smtClean="0"/>
              <a:t>Phong</a:t>
            </a:r>
            <a:r>
              <a:rPr lang="zh-CN" altLang="en-US" b="1" dirty="0"/>
              <a:t>反射模型（</a:t>
            </a:r>
            <a:r>
              <a:rPr lang="en-US" b="1" dirty="0"/>
              <a:t>1</a:t>
            </a:r>
            <a:r>
              <a:rPr lang="zh-CN" altLang="en-US" b="1" dirty="0" smtClean="0"/>
              <a:t>）</a:t>
            </a:r>
            <a:endParaRPr lang="en-US" altLang="zh-CN" b="1" dirty="0" smtClean="0"/>
          </a:p>
          <a:p>
            <a:pPr lvl="1"/>
            <a:r>
              <a:rPr lang="zh-CN" altLang="en-US" dirty="0" smtClean="0"/>
              <a:t>了解</a:t>
            </a:r>
            <a:r>
              <a:rPr lang="en-US" altLang="zh-CN" dirty="0"/>
              <a:t>OpenGL</a:t>
            </a:r>
            <a:r>
              <a:rPr lang="zh-CN" altLang="en-US" dirty="0"/>
              <a:t>中基本的光照模型</a:t>
            </a:r>
          </a:p>
          <a:p>
            <a:pPr lvl="1"/>
            <a:r>
              <a:rPr lang="zh-CN" altLang="en-US" dirty="0" smtClean="0"/>
              <a:t>掌握</a:t>
            </a:r>
            <a:r>
              <a:rPr lang="en-US" altLang="zh-CN" dirty="0"/>
              <a:t>OpenGL</a:t>
            </a:r>
            <a:r>
              <a:rPr lang="zh-CN" altLang="en-US" dirty="0"/>
              <a:t>中实现基于顶点的光照计算</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5" name="Picture 4"/>
          <p:cNvPicPr/>
          <p:nvPr/>
        </p:nvPicPr>
        <p:blipFill>
          <a:blip r:embed="rId2"/>
          <a:stretch>
            <a:fillRect/>
          </a:stretch>
        </p:blipFill>
        <p:spPr>
          <a:xfrm>
            <a:off x="2639845" y="2698082"/>
            <a:ext cx="3527425" cy="3730625"/>
          </a:xfrm>
          <a:prstGeom prst="rect">
            <a:avLst/>
          </a:prstGeom>
        </p:spPr>
      </p:pic>
    </p:spTree>
    <p:extLst>
      <p:ext uri="{BB962C8B-B14F-4D97-AF65-F5344CB8AC3E}">
        <p14:creationId xmlns:p14="http://schemas.microsoft.com/office/powerpoint/2010/main" val="20137003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10729</TotalTime>
  <Words>1393</Words>
  <Application>Microsoft Office PowerPoint</Application>
  <PresentationFormat>全屏显示(4:3)</PresentationFormat>
  <Paragraphs>382</Paragraphs>
  <Slides>34</Slides>
  <Notes>4</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34</vt:i4>
      </vt:variant>
    </vt:vector>
  </HeadingPairs>
  <TitlesOfParts>
    <vt:vector size="46" baseType="lpstr">
      <vt:lpstr>04b</vt:lpstr>
      <vt:lpstr>Mangal</vt:lpstr>
      <vt:lpstr>华文新魏</vt:lpstr>
      <vt:lpstr>宋体</vt:lpstr>
      <vt:lpstr>Microsoft YaHei</vt:lpstr>
      <vt:lpstr>Microsoft YaHei</vt:lpstr>
      <vt:lpstr>Arial</vt:lpstr>
      <vt:lpstr>Calibri</vt:lpstr>
      <vt:lpstr>Cambria Math</vt:lpstr>
      <vt:lpstr>Wingdings</vt:lpstr>
      <vt:lpstr>Office 主题</vt:lpstr>
      <vt:lpstr>1_Office 主题</vt:lpstr>
      <vt:lpstr>PowerPoint 演示文稿</vt:lpstr>
      <vt:lpstr>知识点回顾</vt:lpstr>
      <vt:lpstr>大纲</vt:lpstr>
      <vt:lpstr>内容提要</vt:lpstr>
      <vt:lpstr>大纲</vt:lpstr>
      <vt:lpstr>真实感绘制</vt:lpstr>
      <vt:lpstr>光线与材质</vt:lpstr>
      <vt:lpstr>绘制方程</vt:lpstr>
      <vt:lpstr>光照模型</vt:lpstr>
      <vt:lpstr>大纲</vt:lpstr>
      <vt:lpstr>光源的描述</vt:lpstr>
      <vt:lpstr>光源的总贡献</vt:lpstr>
      <vt:lpstr>光源的颜色</vt:lpstr>
      <vt:lpstr>简单光源模型</vt:lpstr>
      <vt:lpstr>环境光</vt:lpstr>
      <vt:lpstr>点光源</vt:lpstr>
      <vt:lpstr>点光源</vt:lpstr>
      <vt:lpstr>聚光灯</vt:lpstr>
      <vt:lpstr>聚光灯</vt:lpstr>
      <vt:lpstr>远距离光源</vt:lpstr>
      <vt:lpstr>大纲</vt:lpstr>
      <vt:lpstr>Phong反射模型</vt:lpstr>
      <vt:lpstr>光源模型</vt:lpstr>
      <vt:lpstr>光照计算</vt:lpstr>
      <vt:lpstr>环境光反射</vt:lpstr>
      <vt:lpstr>漫反射</vt:lpstr>
      <vt:lpstr>漫反射</vt:lpstr>
      <vt:lpstr>衰减因子</vt:lpstr>
      <vt:lpstr>漫反射系数的影响</vt:lpstr>
      <vt:lpstr>镜面反射</vt:lpstr>
      <vt:lpstr>镜面反射</vt:lpstr>
      <vt:lpstr>镜面反射参数的影响</vt:lpstr>
      <vt:lpstr>Phong模型总结</vt:lpstr>
      <vt:lpstr>实验 3.3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周 漾</cp:lastModifiedBy>
  <cp:revision>639</cp:revision>
  <dcterms:created xsi:type="dcterms:W3CDTF">2016-08-04T07:29:19Z</dcterms:created>
  <dcterms:modified xsi:type="dcterms:W3CDTF">2023-11-08T07:55:37Z</dcterms:modified>
</cp:coreProperties>
</file>