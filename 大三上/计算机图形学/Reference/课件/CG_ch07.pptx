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71"/>
  </p:notesMasterIdLst>
  <p:sldIdLst>
    <p:sldId id="475" r:id="rId3"/>
    <p:sldId id="470" r:id="rId4"/>
    <p:sldId id="471" r:id="rId5"/>
    <p:sldId id="472" r:id="rId6"/>
    <p:sldId id="477" r:id="rId7"/>
    <p:sldId id="474" r:id="rId8"/>
    <p:sldId id="473" r:id="rId9"/>
    <p:sldId id="258" r:id="rId10"/>
    <p:sldId id="358" r:id="rId11"/>
    <p:sldId id="261" r:id="rId12"/>
    <p:sldId id="266" r:id="rId13"/>
    <p:sldId id="267" r:id="rId14"/>
    <p:sldId id="275" r:id="rId15"/>
    <p:sldId id="286" r:id="rId16"/>
    <p:sldId id="290" r:id="rId17"/>
    <p:sldId id="292" r:id="rId18"/>
    <p:sldId id="328" r:id="rId19"/>
    <p:sldId id="329" r:id="rId20"/>
    <p:sldId id="330" r:id="rId21"/>
    <p:sldId id="332" r:id="rId22"/>
    <p:sldId id="393" r:id="rId23"/>
    <p:sldId id="336" r:id="rId24"/>
    <p:sldId id="337" r:id="rId25"/>
    <p:sldId id="479" r:id="rId26"/>
    <p:sldId id="339" r:id="rId27"/>
    <p:sldId id="340" r:id="rId28"/>
    <p:sldId id="342" r:id="rId29"/>
    <p:sldId id="465" r:id="rId30"/>
    <p:sldId id="345" r:id="rId31"/>
    <p:sldId id="348" r:id="rId32"/>
    <p:sldId id="480" r:id="rId33"/>
    <p:sldId id="359" r:id="rId34"/>
    <p:sldId id="360" r:id="rId35"/>
    <p:sldId id="361" r:id="rId36"/>
    <p:sldId id="366" r:id="rId37"/>
    <p:sldId id="367" r:id="rId38"/>
    <p:sldId id="372" r:id="rId39"/>
    <p:sldId id="375" r:id="rId40"/>
    <p:sldId id="376" r:id="rId41"/>
    <p:sldId id="464" r:id="rId42"/>
    <p:sldId id="373" r:id="rId43"/>
    <p:sldId id="463" r:id="rId44"/>
    <p:sldId id="379" r:id="rId45"/>
    <p:sldId id="381" r:id="rId46"/>
    <p:sldId id="382" r:id="rId47"/>
    <p:sldId id="481" r:id="rId48"/>
    <p:sldId id="384" r:id="rId49"/>
    <p:sldId id="386" r:id="rId50"/>
    <p:sldId id="391" r:id="rId51"/>
    <p:sldId id="392" r:id="rId52"/>
    <p:sldId id="394" r:id="rId53"/>
    <p:sldId id="395" r:id="rId54"/>
    <p:sldId id="396" r:id="rId55"/>
    <p:sldId id="406" r:id="rId56"/>
    <p:sldId id="407" r:id="rId57"/>
    <p:sldId id="482" r:id="rId58"/>
    <p:sldId id="428" r:id="rId59"/>
    <p:sldId id="429" r:id="rId60"/>
    <p:sldId id="430" r:id="rId61"/>
    <p:sldId id="431" r:id="rId62"/>
    <p:sldId id="433" r:id="rId63"/>
    <p:sldId id="434" r:id="rId64"/>
    <p:sldId id="436" r:id="rId65"/>
    <p:sldId id="437" r:id="rId66"/>
    <p:sldId id="466" r:id="rId67"/>
    <p:sldId id="467" r:id="rId68"/>
    <p:sldId id="483" r:id="rId69"/>
    <p:sldId id="469" r:id="rId7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4023F"/>
    <a:srgbClr val="AD438E"/>
    <a:srgbClr val="94003F"/>
    <a:srgbClr val="A50021"/>
    <a:srgbClr val="FF91C8"/>
    <a:srgbClr val="D6EAF8"/>
    <a:srgbClr val="464DD9"/>
    <a:srgbClr val="99CC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6337" autoAdjust="0"/>
    <p:restoredTop sz="94660"/>
  </p:normalViewPr>
  <p:slideViewPr>
    <p:cSldViewPr snapToGrid="0">
      <p:cViewPr varScale="1">
        <p:scale>
          <a:sx n="166" d="100"/>
          <a:sy n="166" d="100"/>
        </p:scale>
        <p:origin x="155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64AA-669E-4804-A1D5-94FA36B6DCCD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C56F0-BEE5-4715-8E33-DABC78619D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748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1DC56F0-BEE5-4715-8E33-DABC78619DE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566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BE31F-852E-4C21-A5BF-45A621D063B7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465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94023F"/>
              </a:buClr>
              <a:defRPr/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D8B5D-A758-4441-AB52-89DDE7AF36E5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1524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77614-659B-42BB-94D6-453193BCDAC9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27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9A146-8CD6-4CAA-B3D3-2C21DC42388C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5320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B5B9-9CF5-47F0-9553-3F68E4080617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259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754A2-9B8A-4D21-BA10-2D4311C5CCE9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110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81895-D564-41D2-A6FC-FB534A16877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0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9337D-A0CC-4C7E-87C9-35D7F76F26E6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4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11D75-C662-4506-9923-F360C490CD83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82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D6D4-6C22-42E4-BD00-B5AB433AEB75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77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094D1-277E-4F0D-A9D3-6C723ED9405F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99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EBE31F-852E-4C21-A5BF-45A621D063B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2582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D8B5D-A758-4441-AB52-89DDE7AF36E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8318" y="6492875"/>
            <a:ext cx="775255" cy="365125"/>
          </a:xfrm>
        </p:spPr>
        <p:txBody>
          <a:bodyPr/>
          <a:lstStyle>
            <a:lvl1pPr algn="ctr"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376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CD77614-659B-42BB-94D6-453193BCDAC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5454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79A146-8CD6-4CAA-B3D3-2C21DC42388C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37225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36B5B9-9CF5-47F0-9553-3F68E408061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3963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A754A2-9B8A-4D21-BA10-2D4311C5CCE9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18504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081895-D564-41D2-A6FC-FB534A16877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1980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D9337D-A0CC-4C7E-87C9-35D7F76F26E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2256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A811D75-C662-4506-9923-F360C490CD8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523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DDD6D4-6C22-42E4-BD00-B5AB433AEB75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1315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0094D1-277E-4F0D-A9D3-6C723ED9405F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990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60000" lvl="0" indent="-3600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9402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204977B-C4EC-482F-96C1-0349DC329330}" type="datetime1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EB792F4E-54C0-4D36-B331-9C6FCFE9A34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754069" y="95705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8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VCC@SZU</a:t>
            </a:r>
            <a:endParaRPr lang="zh-CN" altLang="en-US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328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7030A0"/>
        </a:buClr>
        <a:buSzPct val="70000"/>
        <a:buFont typeface="Wingdings" panose="05000000000000000000" pitchFamily="2" charset="2"/>
        <a:buChar char="u"/>
        <a:defRPr lang="zh-CN" altLang="en-US" sz="2800" b="0" kern="1200" dirty="0" smtClean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121" y="95705"/>
            <a:ext cx="7886700" cy="532945"/>
          </a:xfrm>
          <a:prstGeom prst="rect">
            <a:avLst/>
          </a:prstGeom>
          <a:noFill/>
        </p:spPr>
        <p:txBody>
          <a:bodyPr/>
          <a:lstStyle/>
          <a:p>
            <a:pPr marL="0" lv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1683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04977B-C4EC-482F-96C1-0349DC329330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2023/11/29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792F4E-54C0-4D36-B331-9C6FCFE9A340}" type="slidenum">
              <a:rPr kumimoji="0" lang="zh-CN" altLang="en-US" sz="16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5710" y="144689"/>
            <a:ext cx="135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VCC@SZU</a:t>
            </a:r>
          </a:p>
        </p:txBody>
      </p:sp>
    </p:spTree>
    <p:extLst>
      <p:ext uri="{BB962C8B-B14F-4D97-AF65-F5344CB8AC3E}">
        <p14:creationId xmlns:p14="http://schemas.microsoft.com/office/powerpoint/2010/main" val="408041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altLang="en-US" sz="3200" b="1" kern="1200" cap="none" spc="0" dirty="0">
          <a:ln w="0"/>
          <a:solidFill>
            <a:schemeClr val="bg1"/>
          </a:solidFill>
          <a:effectLst>
            <a:outerShdw blurRad="38100" dist="19050" dir="2700000" algn="tl" rotWithShape="0">
              <a:schemeClr val="dk1">
                <a:alpha val="40000"/>
              </a:schemeClr>
            </a:outerShdw>
          </a:effectLst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90000"/>
        </a:lnSpc>
        <a:spcBef>
          <a:spcPts val="1000"/>
        </a:spcBef>
        <a:buClr>
          <a:srgbClr val="94003F"/>
        </a:buClr>
        <a:buSzPct val="70000"/>
        <a:buFont typeface="Wingdings" panose="05000000000000000000" pitchFamily="2" charset="2"/>
        <a:buChar char="u"/>
        <a:defRPr sz="2800" b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04b" panose="00000400000000000000" pitchFamily="2" charset="0"/>
        <a:buChar char="-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69977849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69977849" TargetMode="External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69977849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369977849" TargetMode="External"/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988" y="207807"/>
            <a:ext cx="972064" cy="9720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576" y="3086551"/>
            <a:ext cx="7156402" cy="53908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87380" y="1688450"/>
            <a:ext cx="710963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94003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计算机图形学</a:t>
            </a:r>
          </a:p>
        </p:txBody>
      </p:sp>
      <p:pic>
        <p:nvPicPr>
          <p:cNvPr id="7" name="Picture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6282" y="207808"/>
            <a:ext cx="972064" cy="97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主要</a:t>
            </a:r>
            <a:r>
              <a:rPr lang="zh-CN" altLang="en-US" dirty="0"/>
              <a:t>任务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819274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图形绘制系统的</a:t>
            </a:r>
            <a:r>
              <a:rPr lang="en-US" altLang="zh-CN" sz="2400" dirty="0"/>
              <a:t>4</a:t>
            </a:r>
            <a:r>
              <a:rPr lang="zh-CN" altLang="en-US" sz="2400" dirty="0"/>
              <a:t>个主要</a:t>
            </a:r>
            <a:r>
              <a:rPr lang="zh-CN" altLang="en-US" sz="2400" dirty="0" smtClean="0"/>
              <a:t>任务：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建模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几何处理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光栅化</a:t>
            </a:r>
            <a:endParaRPr lang="en-US" altLang="zh-CN" sz="1800" dirty="0" smtClean="0"/>
          </a:p>
          <a:p>
            <a:pPr lvl="1"/>
            <a:r>
              <a:rPr lang="zh-CN" altLang="en-US" sz="1800" dirty="0" smtClean="0"/>
              <a:t>片元处理</a:t>
            </a:r>
            <a:endParaRPr lang="zh-CN" altLang="en-US" sz="1800" dirty="0"/>
          </a:p>
          <a:p>
            <a:endParaRPr lang="en-US" altLang="zh-CN" sz="2400" dirty="0" smtClean="0"/>
          </a:p>
          <a:p>
            <a:endParaRPr lang="en-US" altLang="zh-CN" sz="2400" dirty="0"/>
          </a:p>
          <a:p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</a:t>
            </a:fld>
            <a:endParaRPr lang="zh-CN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839984" y="3572106"/>
            <a:ext cx="7985961" cy="623063"/>
            <a:chOff x="490352" y="4486020"/>
            <a:chExt cx="8403651" cy="655651"/>
          </a:xfrm>
        </p:grpSpPr>
        <p:sp>
          <p:nvSpPr>
            <p:cNvPr id="9" name="矩形 7"/>
            <p:cNvSpPr/>
            <p:nvPr/>
          </p:nvSpPr>
          <p:spPr>
            <a:xfrm>
              <a:off x="490352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8"/>
            <p:cNvSpPr txBox="1"/>
            <p:nvPr/>
          </p:nvSpPr>
          <p:spPr>
            <a:xfrm>
              <a:off x="721550" y="4615290"/>
              <a:ext cx="7013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建模</a:t>
              </a:r>
              <a:endParaRPr lang="zh-CN" altLang="en-US" dirty="0"/>
            </a:p>
          </p:txBody>
        </p:sp>
        <p:cxnSp>
          <p:nvCxnSpPr>
            <p:cNvPr id="11" name="直接箭头连接符 10"/>
            <p:cNvCxnSpPr>
              <a:stCxn id="15" idx="3"/>
            </p:cNvCxnSpPr>
            <p:nvPr/>
          </p:nvCxnSpPr>
          <p:spPr>
            <a:xfrm>
              <a:off x="1654134" y="4799950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/>
            <p:cNvSpPr/>
            <p:nvPr/>
          </p:nvSpPr>
          <p:spPr>
            <a:xfrm>
              <a:off x="2287979" y="4493419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526971" y="4490598"/>
              <a:ext cx="701386" cy="646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几何处理</a:t>
              </a:r>
              <a:endParaRPr lang="zh-CN" altLang="en-US" dirty="0"/>
            </a:p>
          </p:txBody>
        </p:sp>
        <p:cxnSp>
          <p:nvCxnSpPr>
            <p:cNvPr id="14" name="直接箭头连接符 13"/>
            <p:cNvCxnSpPr>
              <a:stCxn id="19" idx="3"/>
            </p:cNvCxnSpPr>
            <p:nvPr/>
          </p:nvCxnSpPr>
          <p:spPr>
            <a:xfrm>
              <a:off x="3451763" y="4799952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/>
            <p:cNvSpPr/>
            <p:nvPr/>
          </p:nvSpPr>
          <p:spPr>
            <a:xfrm>
              <a:off x="4085608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221999" y="4612462"/>
              <a:ext cx="959462" cy="3886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光栅化</a:t>
              </a:r>
              <a:endParaRPr lang="zh-CN" altLang="en-US" dirty="0"/>
            </a:p>
          </p:txBody>
        </p:sp>
        <p:cxnSp>
          <p:nvCxnSpPr>
            <p:cNvPr id="17" name="直接箭头连接符 16"/>
            <p:cNvCxnSpPr>
              <a:stCxn id="22" idx="3"/>
            </p:cNvCxnSpPr>
            <p:nvPr/>
          </p:nvCxnSpPr>
          <p:spPr>
            <a:xfrm>
              <a:off x="5249389" y="4797128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/>
            <p:cNvSpPr/>
            <p:nvPr/>
          </p:nvSpPr>
          <p:spPr>
            <a:xfrm>
              <a:off x="5937786" y="4490596"/>
              <a:ext cx="1163782" cy="613063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76778" y="4495338"/>
              <a:ext cx="701386" cy="64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片</a:t>
              </a:r>
              <a:r>
                <a:rPr lang="zh-CN" altLang="en-US" dirty="0" smtClean="0"/>
                <a:t>元处理</a:t>
              </a:r>
              <a:endParaRPr lang="zh-CN" altLang="en-US" dirty="0"/>
            </a:p>
          </p:txBody>
        </p:sp>
        <p:cxnSp>
          <p:nvCxnSpPr>
            <p:cNvPr id="20" name="直接箭头连接符 19"/>
            <p:cNvCxnSpPr/>
            <p:nvPr/>
          </p:nvCxnSpPr>
          <p:spPr>
            <a:xfrm>
              <a:off x="7101570" y="4797126"/>
              <a:ext cx="63384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/>
            <p:cNvSpPr/>
            <p:nvPr/>
          </p:nvSpPr>
          <p:spPr>
            <a:xfrm>
              <a:off x="7730221" y="4486020"/>
              <a:ext cx="1163782" cy="613063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889580" y="4607890"/>
              <a:ext cx="987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/>
                <a:t>帧缓存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03882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几何</a:t>
            </a:r>
            <a:r>
              <a:rPr lang="zh-CN" altLang="en-US" dirty="0"/>
              <a:t>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5071937"/>
          </a:xfrm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几何处理阶段的</a:t>
            </a:r>
            <a:r>
              <a:rPr lang="zh-CN" altLang="en-US" sz="2400" dirty="0" smtClean="0"/>
              <a:t>目的：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确定哪些几何对象要被显示</a:t>
            </a:r>
            <a:r>
              <a:rPr lang="zh-CN" altLang="en-US" sz="1800" dirty="0" smtClean="0"/>
              <a:t>，并把明暗值或者颜色值赋给其</a:t>
            </a:r>
            <a:r>
              <a:rPr lang="zh-CN" altLang="en-US" sz="1800" b="1" dirty="0" smtClean="0">
                <a:solidFill>
                  <a:srgbClr val="FF0000"/>
                </a:solidFill>
              </a:rPr>
              <a:t>顶点</a:t>
            </a:r>
            <a:endParaRPr lang="en-US" altLang="zh-CN" sz="1800" b="1" dirty="0" smtClean="0">
              <a:solidFill>
                <a:srgbClr val="FF0000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</a:t>
            </a:r>
            <a:r>
              <a:rPr lang="zh-CN" altLang="en-US" sz="2400" dirty="0" smtClean="0"/>
              <a:t>处理的</a:t>
            </a:r>
            <a:r>
              <a:rPr lang="en-US" altLang="zh-CN" sz="2400" dirty="0" smtClean="0"/>
              <a:t>4</a:t>
            </a:r>
            <a:r>
              <a:rPr lang="zh-CN" altLang="en-US" sz="2400" dirty="0" smtClean="0"/>
              <a:t>个处理过程：</a:t>
            </a:r>
            <a:endParaRPr lang="en-US" altLang="zh-CN" sz="2400" dirty="0" smtClean="0"/>
          </a:p>
          <a:p>
            <a:pPr lvl="1"/>
            <a:r>
              <a:rPr lang="zh-CN" altLang="en-US" sz="1800" dirty="0" smtClean="0"/>
              <a:t>投影：</a:t>
            </a:r>
            <a:endParaRPr lang="en-US" altLang="zh-CN" sz="1800" dirty="0" smtClean="0"/>
          </a:p>
          <a:p>
            <a:pPr lvl="2"/>
            <a:r>
              <a:rPr lang="zh-CN" altLang="en-US" sz="1600" dirty="0" smtClean="0"/>
              <a:t>模型</a:t>
            </a:r>
            <a:r>
              <a:rPr lang="zh-CN" altLang="en-US" sz="1600" dirty="0"/>
              <a:t>－视图变换，将顶点变换至相机坐标系</a:t>
            </a:r>
            <a:endParaRPr lang="en-US" altLang="zh-CN" sz="1600" dirty="0"/>
          </a:p>
          <a:p>
            <a:pPr lvl="2">
              <a:buClr>
                <a:schemeClr val="tx1"/>
              </a:buClr>
            </a:pPr>
            <a:r>
              <a:rPr lang="zh-CN" altLang="en-US" sz="1600" dirty="0" smtClean="0"/>
              <a:t>投影规范化，</a:t>
            </a:r>
            <a:r>
              <a:rPr lang="zh-CN" altLang="en-US" sz="1600" dirty="0"/>
              <a:t>将顶点变换至规范</a:t>
            </a:r>
            <a:r>
              <a:rPr lang="zh-CN" altLang="en-US" sz="1600" dirty="0" smtClean="0"/>
              <a:t>的视见体内</a:t>
            </a:r>
            <a:endParaRPr lang="en-US" altLang="zh-CN" sz="16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图元</a:t>
            </a:r>
            <a:r>
              <a:rPr lang="zh-CN" altLang="en-US" sz="1800" dirty="0" smtClean="0"/>
              <a:t>组装：把顶点组合成对象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>
                <a:solidFill>
                  <a:srgbClr val="0000FF"/>
                </a:solidFill>
              </a:rPr>
              <a:t>裁剪：将位于视见体外的几何图元进行裁剪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明暗处理：模拟光照效果，确定最终颜色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几何处理阶段</a:t>
            </a:r>
            <a:r>
              <a:rPr lang="zh-CN" altLang="en-US" sz="2400" dirty="0" smtClean="0"/>
              <a:t>针对三维顶点</a:t>
            </a:r>
            <a:r>
              <a:rPr lang="zh-CN" altLang="en-US" sz="2400" dirty="0"/>
              <a:t>进行处理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主要是浮点数运算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33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光栅化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光栅化</a:t>
            </a:r>
            <a:r>
              <a:rPr lang="en-US" altLang="zh-CN" sz="2400" dirty="0"/>
              <a:t>/</a:t>
            </a:r>
            <a:r>
              <a:rPr lang="zh-CN" altLang="en-US" sz="2400" dirty="0"/>
              <a:t>扫描转化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基于顶点给出表示对象的一组像素就称为光栅化（</a:t>
            </a:r>
            <a:r>
              <a:rPr lang="en-US" altLang="zh-CN" sz="1800" dirty="0"/>
              <a:t>rasterization</a:t>
            </a:r>
            <a:r>
              <a:rPr lang="zh-CN" altLang="en-US" sz="1800" dirty="0"/>
              <a:t>）或者扫描转化（</a:t>
            </a:r>
            <a:r>
              <a:rPr lang="en-US" altLang="zh-CN" sz="1800" dirty="0"/>
              <a:t>scan conversion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光栅化产生</a:t>
            </a:r>
            <a:r>
              <a:rPr lang="zh-CN" altLang="en-US" sz="1800" dirty="0">
                <a:solidFill>
                  <a:srgbClr val="0000FF"/>
                </a:solidFill>
              </a:rPr>
              <a:t>片元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2">
              <a:buClr>
                <a:schemeClr val="tx1"/>
              </a:buClr>
            </a:pPr>
            <a:endParaRPr lang="en-US" altLang="zh-CN" sz="1800" dirty="0"/>
          </a:p>
          <a:p>
            <a:endParaRPr lang="en-US" altLang="zh-CN" sz="2400" dirty="0" smtClean="0"/>
          </a:p>
          <a:p>
            <a:r>
              <a:rPr lang="zh-CN" altLang="en-US" sz="2400" dirty="0" smtClean="0"/>
              <a:t>屏幕</a:t>
            </a:r>
            <a:r>
              <a:rPr lang="zh-CN" altLang="en-US" sz="2400" dirty="0"/>
              <a:t>坐标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光栅化将归一化坐标转化为屏幕坐标：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608" y="4411951"/>
            <a:ext cx="3581933" cy="1613879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0515" y="4253545"/>
            <a:ext cx="3203965" cy="1799514"/>
          </a:xfrm>
          <a:prstGeom prst="rect">
            <a:avLst/>
          </a:prstGeom>
        </p:spPr>
      </p:pic>
      <p:grpSp>
        <p:nvGrpSpPr>
          <p:cNvPr id="12" name="Group 4"/>
          <p:cNvGrpSpPr>
            <a:grpSpLocks/>
          </p:cNvGrpSpPr>
          <p:nvPr/>
        </p:nvGrpSpPr>
        <p:grpSpPr bwMode="auto">
          <a:xfrm>
            <a:off x="5670832" y="2153691"/>
            <a:ext cx="2370989" cy="1755764"/>
            <a:chOff x="431" y="1725"/>
            <a:chExt cx="2112" cy="1478"/>
          </a:xfrm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720" y="1823"/>
              <a:ext cx="1728" cy="1124"/>
            </a:xfrm>
            <a:custGeom>
              <a:avLst/>
              <a:gdLst>
                <a:gd name="T0" fmla="*/ 1620 w 4320"/>
                <a:gd name="T1" fmla="*/ 0 h 2808"/>
                <a:gd name="T2" fmla="*/ 0 w 4320"/>
                <a:gd name="T3" fmla="*/ 2184 h 2808"/>
                <a:gd name="T4" fmla="*/ 0 w 4320"/>
                <a:gd name="T5" fmla="*/ 2808 h 2808"/>
                <a:gd name="T6" fmla="*/ 4320 w 4320"/>
                <a:gd name="T7" fmla="*/ 2808 h 2808"/>
                <a:gd name="T8" fmla="*/ 1620 w 4320"/>
                <a:gd name="T9" fmla="*/ 0 h 28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20" h="2808">
                  <a:moveTo>
                    <a:pt x="1620" y="0"/>
                  </a:moveTo>
                  <a:lnTo>
                    <a:pt x="0" y="2184"/>
                  </a:lnTo>
                  <a:lnTo>
                    <a:pt x="0" y="2808"/>
                  </a:lnTo>
                  <a:lnTo>
                    <a:pt x="4320" y="2808"/>
                  </a:lnTo>
                  <a:lnTo>
                    <a:pt x="1620" y="0"/>
                  </a:lnTo>
                  <a:close/>
                </a:path>
              </a:pathLst>
            </a:custGeom>
            <a:solidFill>
              <a:srgbClr val="FFFFFF"/>
            </a:solidFill>
            <a:ln w="28575" cmpd="sng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6"/>
            <p:cNvSpPr>
              <a:spLocks noChangeAspect="1" noChangeArrowheads="1"/>
            </p:cNvSpPr>
            <p:nvPr/>
          </p:nvSpPr>
          <p:spPr bwMode="auto">
            <a:xfrm>
              <a:off x="43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7"/>
            <p:cNvSpPr>
              <a:spLocks noChangeAspect="1" noChangeArrowheads="1"/>
            </p:cNvSpPr>
            <p:nvPr/>
          </p:nvSpPr>
          <p:spPr bwMode="auto">
            <a:xfrm>
              <a:off x="43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8"/>
            <p:cNvSpPr>
              <a:spLocks noChangeAspect="1" noChangeArrowheads="1"/>
            </p:cNvSpPr>
            <p:nvPr/>
          </p:nvSpPr>
          <p:spPr bwMode="auto">
            <a:xfrm>
              <a:off x="43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9"/>
            <p:cNvSpPr>
              <a:spLocks noChangeAspect="1" noChangeArrowheads="1"/>
            </p:cNvSpPr>
            <p:nvPr/>
          </p:nvSpPr>
          <p:spPr bwMode="auto">
            <a:xfrm>
              <a:off x="43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Rectangle 10"/>
            <p:cNvSpPr>
              <a:spLocks noChangeAspect="1" noChangeArrowheads="1"/>
            </p:cNvSpPr>
            <p:nvPr/>
          </p:nvSpPr>
          <p:spPr bwMode="auto">
            <a:xfrm>
              <a:off x="43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1"/>
            <p:cNvSpPr>
              <a:spLocks noChangeAspect="1" noChangeArrowheads="1"/>
            </p:cNvSpPr>
            <p:nvPr/>
          </p:nvSpPr>
          <p:spPr bwMode="auto">
            <a:xfrm>
              <a:off x="43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12"/>
            <p:cNvSpPr>
              <a:spLocks noChangeAspect="1" noChangeArrowheads="1"/>
            </p:cNvSpPr>
            <p:nvPr/>
          </p:nvSpPr>
          <p:spPr bwMode="auto">
            <a:xfrm>
              <a:off x="43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13"/>
            <p:cNvSpPr>
              <a:spLocks noChangeAspect="1" noChangeArrowheads="1"/>
            </p:cNvSpPr>
            <p:nvPr/>
          </p:nvSpPr>
          <p:spPr bwMode="auto">
            <a:xfrm>
              <a:off x="64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14"/>
            <p:cNvSpPr>
              <a:spLocks noChangeAspect="1" noChangeArrowheads="1"/>
            </p:cNvSpPr>
            <p:nvPr/>
          </p:nvSpPr>
          <p:spPr bwMode="auto">
            <a:xfrm>
              <a:off x="64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15"/>
            <p:cNvSpPr>
              <a:spLocks noChangeAspect="1" noChangeArrowheads="1"/>
            </p:cNvSpPr>
            <p:nvPr/>
          </p:nvSpPr>
          <p:spPr bwMode="auto">
            <a:xfrm>
              <a:off x="64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16"/>
            <p:cNvSpPr>
              <a:spLocks noChangeAspect="1" noChangeArrowheads="1"/>
            </p:cNvSpPr>
            <p:nvPr/>
          </p:nvSpPr>
          <p:spPr bwMode="auto">
            <a:xfrm>
              <a:off x="64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17"/>
            <p:cNvSpPr>
              <a:spLocks noChangeAspect="1" noChangeArrowheads="1"/>
            </p:cNvSpPr>
            <p:nvPr/>
          </p:nvSpPr>
          <p:spPr bwMode="auto">
            <a:xfrm>
              <a:off x="64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18"/>
            <p:cNvSpPr>
              <a:spLocks noChangeAspect="1" noChangeArrowheads="1"/>
            </p:cNvSpPr>
            <p:nvPr/>
          </p:nvSpPr>
          <p:spPr bwMode="auto">
            <a:xfrm>
              <a:off x="64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19"/>
            <p:cNvSpPr>
              <a:spLocks noChangeAspect="1" noChangeArrowheads="1"/>
            </p:cNvSpPr>
            <p:nvPr/>
          </p:nvSpPr>
          <p:spPr bwMode="auto">
            <a:xfrm>
              <a:off x="64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0"/>
            <p:cNvSpPr>
              <a:spLocks noChangeAspect="1" noChangeArrowheads="1"/>
            </p:cNvSpPr>
            <p:nvPr/>
          </p:nvSpPr>
          <p:spPr bwMode="auto">
            <a:xfrm>
              <a:off x="854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1"/>
            <p:cNvSpPr>
              <a:spLocks noChangeAspect="1" noChangeArrowheads="1"/>
            </p:cNvSpPr>
            <p:nvPr/>
          </p:nvSpPr>
          <p:spPr bwMode="auto">
            <a:xfrm>
              <a:off x="854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Rectangle 22"/>
            <p:cNvSpPr>
              <a:spLocks noChangeAspect="1" noChangeArrowheads="1"/>
            </p:cNvSpPr>
            <p:nvPr/>
          </p:nvSpPr>
          <p:spPr bwMode="auto">
            <a:xfrm>
              <a:off x="854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23"/>
            <p:cNvSpPr>
              <a:spLocks noChangeAspect="1" noChangeArrowheads="1"/>
            </p:cNvSpPr>
            <p:nvPr/>
          </p:nvSpPr>
          <p:spPr bwMode="auto">
            <a:xfrm>
              <a:off x="854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Rectangle 24"/>
            <p:cNvSpPr>
              <a:spLocks noChangeAspect="1" noChangeArrowheads="1"/>
            </p:cNvSpPr>
            <p:nvPr/>
          </p:nvSpPr>
          <p:spPr bwMode="auto">
            <a:xfrm>
              <a:off x="854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5"/>
            <p:cNvSpPr>
              <a:spLocks noChangeAspect="1" noChangeArrowheads="1"/>
            </p:cNvSpPr>
            <p:nvPr/>
          </p:nvSpPr>
          <p:spPr bwMode="auto">
            <a:xfrm>
              <a:off x="854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Rectangle 26"/>
            <p:cNvSpPr>
              <a:spLocks noChangeAspect="1" noChangeArrowheads="1"/>
            </p:cNvSpPr>
            <p:nvPr/>
          </p:nvSpPr>
          <p:spPr bwMode="auto">
            <a:xfrm>
              <a:off x="854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Rectangle 27"/>
            <p:cNvSpPr>
              <a:spLocks noChangeAspect="1" noChangeArrowheads="1"/>
            </p:cNvSpPr>
            <p:nvPr/>
          </p:nvSpPr>
          <p:spPr bwMode="auto">
            <a:xfrm>
              <a:off x="1065" y="1725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Rectangle 28"/>
            <p:cNvSpPr>
              <a:spLocks noChangeAspect="1" noChangeArrowheads="1"/>
            </p:cNvSpPr>
            <p:nvPr/>
          </p:nvSpPr>
          <p:spPr bwMode="auto">
            <a:xfrm>
              <a:off x="1065" y="1936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Rectangle 29"/>
            <p:cNvSpPr>
              <a:spLocks noChangeAspect="1" noChangeArrowheads="1"/>
            </p:cNvSpPr>
            <p:nvPr/>
          </p:nvSpPr>
          <p:spPr bwMode="auto">
            <a:xfrm>
              <a:off x="1065" y="2147"/>
              <a:ext cx="212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Rectangle 30"/>
            <p:cNvSpPr>
              <a:spLocks noChangeAspect="1" noChangeArrowheads="1"/>
            </p:cNvSpPr>
            <p:nvPr/>
          </p:nvSpPr>
          <p:spPr bwMode="auto">
            <a:xfrm>
              <a:off x="1065" y="2359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Rectangle 31"/>
            <p:cNvSpPr>
              <a:spLocks noChangeAspect="1" noChangeArrowheads="1"/>
            </p:cNvSpPr>
            <p:nvPr/>
          </p:nvSpPr>
          <p:spPr bwMode="auto">
            <a:xfrm>
              <a:off x="1065" y="2570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Rectangle 32"/>
            <p:cNvSpPr>
              <a:spLocks noChangeAspect="1" noChangeArrowheads="1"/>
            </p:cNvSpPr>
            <p:nvPr/>
          </p:nvSpPr>
          <p:spPr bwMode="auto">
            <a:xfrm>
              <a:off x="1065" y="2781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33"/>
            <p:cNvSpPr>
              <a:spLocks noChangeAspect="1" noChangeArrowheads="1"/>
            </p:cNvSpPr>
            <p:nvPr/>
          </p:nvSpPr>
          <p:spPr bwMode="auto">
            <a:xfrm>
              <a:off x="1065" y="2992"/>
              <a:ext cx="212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34"/>
            <p:cNvSpPr>
              <a:spLocks noChangeAspect="1" noChangeArrowheads="1"/>
            </p:cNvSpPr>
            <p:nvPr/>
          </p:nvSpPr>
          <p:spPr bwMode="auto">
            <a:xfrm>
              <a:off x="1277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Rectangle 35"/>
            <p:cNvSpPr>
              <a:spLocks noChangeAspect="1" noChangeArrowheads="1"/>
            </p:cNvSpPr>
            <p:nvPr/>
          </p:nvSpPr>
          <p:spPr bwMode="auto">
            <a:xfrm>
              <a:off x="1277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36"/>
            <p:cNvSpPr>
              <a:spLocks noChangeAspect="1" noChangeArrowheads="1"/>
            </p:cNvSpPr>
            <p:nvPr/>
          </p:nvSpPr>
          <p:spPr bwMode="auto">
            <a:xfrm>
              <a:off x="1277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37"/>
            <p:cNvSpPr>
              <a:spLocks noChangeAspect="1" noChangeArrowheads="1"/>
            </p:cNvSpPr>
            <p:nvPr/>
          </p:nvSpPr>
          <p:spPr bwMode="auto">
            <a:xfrm>
              <a:off x="1277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Rectangle 38"/>
            <p:cNvSpPr>
              <a:spLocks noChangeAspect="1" noChangeArrowheads="1"/>
            </p:cNvSpPr>
            <p:nvPr/>
          </p:nvSpPr>
          <p:spPr bwMode="auto">
            <a:xfrm>
              <a:off x="1277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39"/>
            <p:cNvSpPr>
              <a:spLocks noChangeAspect="1" noChangeArrowheads="1"/>
            </p:cNvSpPr>
            <p:nvPr/>
          </p:nvSpPr>
          <p:spPr bwMode="auto">
            <a:xfrm>
              <a:off x="1277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40"/>
            <p:cNvSpPr>
              <a:spLocks noChangeAspect="1" noChangeArrowheads="1"/>
            </p:cNvSpPr>
            <p:nvPr/>
          </p:nvSpPr>
          <p:spPr bwMode="auto">
            <a:xfrm>
              <a:off x="1277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Rectangle 41"/>
            <p:cNvSpPr>
              <a:spLocks noChangeAspect="1" noChangeArrowheads="1"/>
            </p:cNvSpPr>
            <p:nvPr/>
          </p:nvSpPr>
          <p:spPr bwMode="auto">
            <a:xfrm>
              <a:off x="1488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Rectangle 42"/>
            <p:cNvSpPr>
              <a:spLocks noChangeAspect="1" noChangeArrowheads="1"/>
            </p:cNvSpPr>
            <p:nvPr/>
          </p:nvSpPr>
          <p:spPr bwMode="auto">
            <a:xfrm>
              <a:off x="1488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Rectangle 43"/>
            <p:cNvSpPr>
              <a:spLocks noChangeAspect="1" noChangeArrowheads="1"/>
            </p:cNvSpPr>
            <p:nvPr/>
          </p:nvSpPr>
          <p:spPr bwMode="auto">
            <a:xfrm>
              <a:off x="1488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Rectangle 44"/>
            <p:cNvSpPr>
              <a:spLocks noChangeAspect="1" noChangeArrowheads="1"/>
            </p:cNvSpPr>
            <p:nvPr/>
          </p:nvSpPr>
          <p:spPr bwMode="auto">
            <a:xfrm>
              <a:off x="1488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Rectangle 45"/>
            <p:cNvSpPr>
              <a:spLocks noChangeAspect="1" noChangeArrowheads="1"/>
            </p:cNvSpPr>
            <p:nvPr/>
          </p:nvSpPr>
          <p:spPr bwMode="auto">
            <a:xfrm>
              <a:off x="1488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Rectangle 46"/>
            <p:cNvSpPr>
              <a:spLocks noChangeAspect="1" noChangeArrowheads="1"/>
            </p:cNvSpPr>
            <p:nvPr/>
          </p:nvSpPr>
          <p:spPr bwMode="auto">
            <a:xfrm>
              <a:off x="1488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47"/>
            <p:cNvSpPr>
              <a:spLocks noChangeAspect="1" noChangeArrowheads="1"/>
            </p:cNvSpPr>
            <p:nvPr/>
          </p:nvSpPr>
          <p:spPr bwMode="auto">
            <a:xfrm>
              <a:off x="1488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48"/>
            <p:cNvSpPr>
              <a:spLocks noChangeAspect="1" noChangeArrowheads="1"/>
            </p:cNvSpPr>
            <p:nvPr/>
          </p:nvSpPr>
          <p:spPr bwMode="auto">
            <a:xfrm>
              <a:off x="1700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Rectangle 49"/>
            <p:cNvSpPr>
              <a:spLocks noChangeAspect="1" noChangeArrowheads="1"/>
            </p:cNvSpPr>
            <p:nvPr/>
          </p:nvSpPr>
          <p:spPr bwMode="auto">
            <a:xfrm>
              <a:off x="1700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Rectangle 50"/>
            <p:cNvSpPr>
              <a:spLocks noChangeAspect="1" noChangeArrowheads="1"/>
            </p:cNvSpPr>
            <p:nvPr/>
          </p:nvSpPr>
          <p:spPr bwMode="auto">
            <a:xfrm>
              <a:off x="1700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Rectangle 51"/>
            <p:cNvSpPr>
              <a:spLocks noChangeAspect="1" noChangeArrowheads="1"/>
            </p:cNvSpPr>
            <p:nvPr/>
          </p:nvSpPr>
          <p:spPr bwMode="auto">
            <a:xfrm>
              <a:off x="1700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Rectangle 52"/>
            <p:cNvSpPr>
              <a:spLocks noChangeAspect="1" noChangeArrowheads="1"/>
            </p:cNvSpPr>
            <p:nvPr/>
          </p:nvSpPr>
          <p:spPr bwMode="auto">
            <a:xfrm>
              <a:off x="1700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Rectangle 53"/>
            <p:cNvSpPr>
              <a:spLocks noChangeAspect="1" noChangeArrowheads="1"/>
            </p:cNvSpPr>
            <p:nvPr/>
          </p:nvSpPr>
          <p:spPr bwMode="auto">
            <a:xfrm>
              <a:off x="1700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Rectangle 54"/>
            <p:cNvSpPr>
              <a:spLocks noChangeAspect="1" noChangeArrowheads="1"/>
            </p:cNvSpPr>
            <p:nvPr/>
          </p:nvSpPr>
          <p:spPr bwMode="auto">
            <a:xfrm>
              <a:off x="1700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Rectangle 55"/>
            <p:cNvSpPr>
              <a:spLocks noChangeAspect="1" noChangeArrowheads="1"/>
            </p:cNvSpPr>
            <p:nvPr/>
          </p:nvSpPr>
          <p:spPr bwMode="auto">
            <a:xfrm>
              <a:off x="1911" y="1725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Rectangle 56"/>
            <p:cNvSpPr>
              <a:spLocks noChangeAspect="1" noChangeArrowheads="1"/>
            </p:cNvSpPr>
            <p:nvPr/>
          </p:nvSpPr>
          <p:spPr bwMode="auto">
            <a:xfrm>
              <a:off x="1911" y="1936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Rectangle 57"/>
            <p:cNvSpPr>
              <a:spLocks noChangeAspect="1" noChangeArrowheads="1"/>
            </p:cNvSpPr>
            <p:nvPr/>
          </p:nvSpPr>
          <p:spPr bwMode="auto">
            <a:xfrm>
              <a:off x="1911" y="2147"/>
              <a:ext cx="210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Rectangle 58"/>
            <p:cNvSpPr>
              <a:spLocks noChangeAspect="1" noChangeArrowheads="1"/>
            </p:cNvSpPr>
            <p:nvPr/>
          </p:nvSpPr>
          <p:spPr bwMode="auto">
            <a:xfrm>
              <a:off x="1911" y="2359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Rectangle 59"/>
            <p:cNvSpPr>
              <a:spLocks noChangeAspect="1" noChangeArrowheads="1"/>
            </p:cNvSpPr>
            <p:nvPr/>
          </p:nvSpPr>
          <p:spPr bwMode="auto">
            <a:xfrm>
              <a:off x="1911" y="2570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Rectangle 60"/>
            <p:cNvSpPr>
              <a:spLocks noChangeAspect="1" noChangeArrowheads="1"/>
            </p:cNvSpPr>
            <p:nvPr/>
          </p:nvSpPr>
          <p:spPr bwMode="auto">
            <a:xfrm>
              <a:off x="1911" y="2781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Rectangle 61"/>
            <p:cNvSpPr>
              <a:spLocks noChangeAspect="1" noChangeArrowheads="1"/>
            </p:cNvSpPr>
            <p:nvPr/>
          </p:nvSpPr>
          <p:spPr bwMode="auto">
            <a:xfrm>
              <a:off x="1911" y="2992"/>
              <a:ext cx="210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Rectangle 62"/>
            <p:cNvSpPr>
              <a:spLocks noChangeAspect="1" noChangeArrowheads="1"/>
            </p:cNvSpPr>
            <p:nvPr/>
          </p:nvSpPr>
          <p:spPr bwMode="auto">
            <a:xfrm>
              <a:off x="2121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63"/>
            <p:cNvSpPr>
              <a:spLocks noChangeAspect="1" noChangeArrowheads="1"/>
            </p:cNvSpPr>
            <p:nvPr/>
          </p:nvSpPr>
          <p:spPr bwMode="auto">
            <a:xfrm>
              <a:off x="2121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Rectangle 64"/>
            <p:cNvSpPr>
              <a:spLocks noChangeAspect="1" noChangeArrowheads="1"/>
            </p:cNvSpPr>
            <p:nvPr/>
          </p:nvSpPr>
          <p:spPr bwMode="auto">
            <a:xfrm>
              <a:off x="2121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Rectangle 65"/>
            <p:cNvSpPr>
              <a:spLocks noChangeAspect="1" noChangeArrowheads="1"/>
            </p:cNvSpPr>
            <p:nvPr/>
          </p:nvSpPr>
          <p:spPr bwMode="auto">
            <a:xfrm>
              <a:off x="2121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Rectangle 66"/>
            <p:cNvSpPr>
              <a:spLocks noChangeAspect="1" noChangeArrowheads="1"/>
            </p:cNvSpPr>
            <p:nvPr/>
          </p:nvSpPr>
          <p:spPr bwMode="auto">
            <a:xfrm>
              <a:off x="2121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Rectangle 67"/>
            <p:cNvSpPr>
              <a:spLocks noChangeAspect="1" noChangeArrowheads="1"/>
            </p:cNvSpPr>
            <p:nvPr/>
          </p:nvSpPr>
          <p:spPr bwMode="auto">
            <a:xfrm>
              <a:off x="2121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Rectangle 68"/>
            <p:cNvSpPr>
              <a:spLocks noChangeAspect="1" noChangeArrowheads="1"/>
            </p:cNvSpPr>
            <p:nvPr/>
          </p:nvSpPr>
          <p:spPr bwMode="auto">
            <a:xfrm>
              <a:off x="2121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Rectangle 69"/>
            <p:cNvSpPr>
              <a:spLocks noChangeAspect="1" noChangeArrowheads="1"/>
            </p:cNvSpPr>
            <p:nvPr/>
          </p:nvSpPr>
          <p:spPr bwMode="auto">
            <a:xfrm>
              <a:off x="2332" y="1725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70"/>
            <p:cNvSpPr>
              <a:spLocks noChangeAspect="1" noChangeArrowheads="1"/>
            </p:cNvSpPr>
            <p:nvPr/>
          </p:nvSpPr>
          <p:spPr bwMode="auto">
            <a:xfrm>
              <a:off x="2332" y="1936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Rectangle 71"/>
            <p:cNvSpPr>
              <a:spLocks noChangeAspect="1" noChangeArrowheads="1"/>
            </p:cNvSpPr>
            <p:nvPr/>
          </p:nvSpPr>
          <p:spPr bwMode="auto">
            <a:xfrm>
              <a:off x="2332" y="2147"/>
              <a:ext cx="211" cy="2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Rectangle 72"/>
            <p:cNvSpPr>
              <a:spLocks noChangeAspect="1" noChangeArrowheads="1"/>
            </p:cNvSpPr>
            <p:nvPr/>
          </p:nvSpPr>
          <p:spPr bwMode="auto">
            <a:xfrm>
              <a:off x="2332" y="2359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Rectangle 73"/>
            <p:cNvSpPr>
              <a:spLocks noChangeAspect="1" noChangeArrowheads="1"/>
            </p:cNvSpPr>
            <p:nvPr/>
          </p:nvSpPr>
          <p:spPr bwMode="auto">
            <a:xfrm>
              <a:off x="2332" y="2570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Rectangle 74"/>
            <p:cNvSpPr>
              <a:spLocks noChangeAspect="1" noChangeArrowheads="1"/>
            </p:cNvSpPr>
            <p:nvPr/>
          </p:nvSpPr>
          <p:spPr bwMode="auto">
            <a:xfrm>
              <a:off x="2332" y="2781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Rectangle 75"/>
            <p:cNvSpPr>
              <a:spLocks noChangeAspect="1" noChangeArrowheads="1"/>
            </p:cNvSpPr>
            <p:nvPr/>
          </p:nvSpPr>
          <p:spPr bwMode="auto">
            <a:xfrm>
              <a:off x="2332" y="2992"/>
              <a:ext cx="211" cy="21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Oval 76"/>
            <p:cNvSpPr>
              <a:spLocks noChangeAspect="1" noChangeArrowheads="1"/>
            </p:cNvSpPr>
            <p:nvPr/>
          </p:nvSpPr>
          <p:spPr bwMode="auto">
            <a:xfrm>
              <a:off x="1326" y="1785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5" name="Oval 77"/>
            <p:cNvSpPr>
              <a:spLocks noChangeAspect="1" noChangeArrowheads="1"/>
            </p:cNvSpPr>
            <p:nvPr/>
          </p:nvSpPr>
          <p:spPr bwMode="auto">
            <a:xfrm>
              <a:off x="675" y="2653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6" name="Oval 78"/>
            <p:cNvSpPr>
              <a:spLocks noChangeAspect="1" noChangeArrowheads="1"/>
            </p:cNvSpPr>
            <p:nvPr/>
          </p:nvSpPr>
          <p:spPr bwMode="auto">
            <a:xfrm>
              <a:off x="675" y="2880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87" name="Oval 79"/>
            <p:cNvSpPr>
              <a:spLocks noChangeAspect="1" noChangeArrowheads="1"/>
            </p:cNvSpPr>
            <p:nvPr/>
          </p:nvSpPr>
          <p:spPr bwMode="auto">
            <a:xfrm>
              <a:off x="2393" y="2886"/>
              <a:ext cx="91" cy="91"/>
            </a:xfrm>
            <a:prstGeom prst="ellipse">
              <a:avLst/>
            </a:prstGeom>
            <a:solidFill>
              <a:srgbClr val="0000FF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88" name="Text Box 80"/>
          <p:cNvSpPr txBox="1">
            <a:spLocks noChangeArrowheads="1"/>
          </p:cNvSpPr>
          <p:nvPr/>
        </p:nvSpPr>
        <p:spPr bwMode="auto">
          <a:xfrm>
            <a:off x="6408215" y="2497637"/>
            <a:ext cx="64928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altLang="zh-CN" sz="6000" dirty="0">
                <a:solidFill>
                  <a:srgbClr val="33CC33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8152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–</a:t>
            </a:r>
            <a:r>
              <a:rPr lang="zh-CN" altLang="en-US" dirty="0" smtClean="0"/>
              <a:t> 相交测试</a:t>
            </a:r>
            <a:r>
              <a:rPr lang="en-US" altLang="zh-CN" dirty="0" smtClean="0"/>
              <a:t>/</a:t>
            </a:r>
            <a:r>
              <a:rPr lang="zh-CN" altLang="en-US" dirty="0" smtClean="0"/>
              <a:t>奇偶测试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如何区分内部与外部？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比较常用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从一点</a:t>
            </a:r>
            <a:r>
              <a:rPr lang="en-US" altLang="zh-CN" sz="1800" dirty="0"/>
              <a:t>p</a:t>
            </a:r>
            <a:r>
              <a:rPr lang="zh-CN" altLang="en-US" sz="1800" dirty="0"/>
              <a:t>引射线，如果与多边形边界交点数为偶数，则</a:t>
            </a:r>
            <a:r>
              <a:rPr lang="en-US" altLang="zh-CN" sz="1800" dirty="0"/>
              <a:t>p</a:t>
            </a:r>
            <a:r>
              <a:rPr lang="zh-CN" altLang="en-US" sz="1800" dirty="0"/>
              <a:t>在多边形外，否则在多边形内部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如果交点为顶点，需要特别处理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通常射线就是扫描线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425" y="2955055"/>
            <a:ext cx="3060759" cy="32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35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008" y="3247842"/>
            <a:ext cx="4894039" cy="22322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环绕测试法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首先根据多边形的边界建立一条环路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从一个顶点出发，依次遍历各边，最后回到该顶点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1800" dirty="0"/>
          </a:p>
          <a:p>
            <a:r>
              <a:rPr lang="zh-CN" altLang="en-US" sz="2400" dirty="0"/>
              <a:t>一点的</a:t>
            </a:r>
            <a:r>
              <a:rPr lang="zh-CN" altLang="en-US" sz="2400" dirty="0" smtClean="0"/>
              <a:t>环绕次数</a:t>
            </a:r>
            <a:r>
              <a:rPr lang="zh-CN" altLang="en-US" sz="2400" dirty="0"/>
              <a:t>计算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被多边形各边按上述环路遍历所环绕的次数</a:t>
            </a:r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顺时针</a:t>
            </a:r>
            <a:r>
              <a:rPr lang="zh-CN" altLang="en-US" sz="1800" dirty="0"/>
              <a:t>方向为</a:t>
            </a:r>
            <a:r>
              <a:rPr lang="zh-CN" altLang="en-US" sz="1800" dirty="0" smtClean="0"/>
              <a:t>正</a:t>
            </a:r>
            <a:endParaRPr lang="zh-CN" altLang="en-US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 smtClean="0"/>
              <a:t>逆时针</a:t>
            </a:r>
            <a:r>
              <a:rPr lang="zh-CN" altLang="en-US" sz="1800" dirty="0"/>
              <a:t>方向为负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dirty="0"/>
          </a:p>
          <a:p>
            <a:r>
              <a:rPr lang="zh-CN" altLang="en-US" sz="2400" dirty="0"/>
              <a:t>内外检测</a:t>
            </a:r>
            <a:endParaRPr lang="en-US" altLang="zh-CN" sz="24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如果环绕数不等于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就</a:t>
            </a:r>
            <a:r>
              <a:rPr lang="zh-CN" altLang="en-US" sz="1800" dirty="0"/>
              <a:t>是内部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9025" y="3425766"/>
            <a:ext cx="25950" cy="646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1425" y="3578166"/>
            <a:ext cx="25950" cy="6467"/>
          </a:xfrm>
          <a:prstGeom prst="rect">
            <a:avLst/>
          </a:prstGeom>
        </p:spPr>
      </p:pic>
      <p:pic>
        <p:nvPicPr>
          <p:cNvPr id="9" name="Winding_Number_Animation_Small_d0aFMv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745224" y="1037028"/>
            <a:ext cx="2295152" cy="186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582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知识点回顾 </a:t>
            </a:r>
            <a:r>
              <a:rPr lang="en-US" altLang="zh-CN" dirty="0" smtClean="0"/>
              <a:t>-</a:t>
            </a:r>
            <a:r>
              <a:rPr lang="zh-CN" altLang="en-US" dirty="0" smtClean="0"/>
              <a:t> 片元</a:t>
            </a:r>
            <a:r>
              <a:rPr lang="zh-CN" altLang="en-US" dirty="0"/>
              <a:t>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zh-CN" altLang="en-US" sz="2400" dirty="0"/>
              <a:t>片元处理阶段的目的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r>
              <a:rPr lang="zh-CN" altLang="en-US" sz="1800" dirty="0"/>
              <a:t>综合多种因素，从光栅后得到的片元数据中确定最终的像素颜色</a:t>
            </a:r>
            <a:endParaRPr lang="en-US" altLang="zh-CN" sz="1800" dirty="0"/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>
                <a:solidFill>
                  <a:srgbClr val="0000FF"/>
                </a:solidFill>
              </a:rPr>
              <a:t>纹理映射</a:t>
            </a:r>
            <a:endParaRPr lang="en-US" altLang="zh-CN" sz="1800" dirty="0">
              <a:solidFill>
                <a:srgbClr val="0000FF"/>
              </a:solidFill>
            </a:endParaRPr>
          </a:p>
          <a:p>
            <a:pPr lvl="1">
              <a:buClr>
                <a:schemeClr val="tx1"/>
              </a:buClr>
            </a:pPr>
            <a:endParaRPr lang="en-US" altLang="zh-CN" sz="2400" dirty="0"/>
          </a:p>
          <a:p>
            <a:r>
              <a:rPr lang="zh-CN" altLang="en-US" sz="2400" dirty="0"/>
              <a:t>隐藏面消除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r>
              <a:rPr lang="zh-CN" altLang="en-US" sz="2400" dirty="0"/>
              <a:t>透明</a:t>
            </a:r>
            <a:endParaRPr lang="en-US" altLang="zh-CN" sz="2400" dirty="0"/>
          </a:p>
          <a:p>
            <a:endParaRPr lang="en-US" altLang="zh-CN" sz="2000" dirty="0"/>
          </a:p>
          <a:p>
            <a:r>
              <a:rPr lang="zh-CN" altLang="en-US" sz="2400" dirty="0"/>
              <a:t>反走样</a:t>
            </a:r>
            <a:endParaRPr lang="en-US" altLang="zh-CN" sz="32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 marL="0" indent="0">
              <a:buClr>
                <a:srgbClr val="94003F"/>
              </a:buClr>
              <a:buNone/>
            </a:pP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298" y="2520572"/>
            <a:ext cx="4875502" cy="33306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144683" y="589585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透明绘制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5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椭圆 8"/>
          <p:cNvSpPr/>
          <p:nvPr/>
        </p:nvSpPr>
        <p:spPr>
          <a:xfrm>
            <a:off x="3650349" y="1520687"/>
            <a:ext cx="2177274" cy="2177274"/>
          </a:xfrm>
          <a:prstGeom prst="ellips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9128" y="3850885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离散技术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28428" y="2780384"/>
            <a:ext cx="15325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200" b="1" dirty="0" smtClean="0">
                <a:solidFill>
                  <a:schemeClr val="bg1"/>
                </a:solidFill>
              </a:rPr>
              <a:t>Chapter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328896" y="1367763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500" b="1" dirty="0" smtClean="0">
                <a:solidFill>
                  <a:schemeClr val="bg1"/>
                </a:solidFill>
              </a:rPr>
              <a:t>7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663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内容提要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缓存与图像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>
                <a:solidFill>
                  <a:srgbClr val="00B0F0"/>
                </a:solidFill>
              </a:rPr>
              <a:t>纹理</a:t>
            </a:r>
            <a:r>
              <a:rPr lang="zh-CN" altLang="en-US" sz="2400" dirty="0" smtClean="0">
                <a:solidFill>
                  <a:srgbClr val="00B0F0"/>
                </a:solidFill>
              </a:rPr>
              <a:t>映射</a:t>
            </a:r>
            <a:endParaRPr lang="en-US" altLang="zh-CN" sz="2400" dirty="0" smtClean="0">
              <a:solidFill>
                <a:srgbClr val="00B0F0"/>
              </a:solidFill>
            </a:endParaRPr>
          </a:p>
          <a:p>
            <a:pPr>
              <a:buClr>
                <a:srgbClr val="94003F"/>
              </a:buClr>
            </a:pPr>
            <a:r>
              <a:rPr lang="en-US" altLang="zh-CN" sz="2400" dirty="0">
                <a:solidFill>
                  <a:srgbClr val="00B0F0"/>
                </a:solidFill>
              </a:rPr>
              <a:t>OpenGL</a:t>
            </a:r>
            <a:r>
              <a:rPr lang="zh-CN" altLang="en-US" sz="2400" dirty="0"/>
              <a:t>的纹理映射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其它类型映射方法</a:t>
            </a:r>
            <a:endParaRPr lang="en-US" altLang="zh-CN" sz="2400" dirty="0" smtClean="0"/>
          </a:p>
          <a:p>
            <a:pPr marL="817200" lvl="2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环境映射、凹凸映射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合成技术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15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70205" y="346846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缓存与图像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1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628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缓存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已接触过两</a:t>
            </a:r>
            <a:r>
              <a:rPr lang="zh-CN" altLang="en-US" sz="2400" dirty="0" smtClean="0"/>
              <a:t>种</a:t>
            </a:r>
            <a:r>
              <a:rPr lang="zh-CN" altLang="en-US" sz="2400" dirty="0"/>
              <a:t>缓存</a:t>
            </a:r>
            <a:r>
              <a:rPr lang="zh-CN" altLang="en-US" sz="2400" dirty="0" smtClean="0"/>
              <a:t>：</a:t>
            </a:r>
            <a:r>
              <a:rPr lang="zh-CN" altLang="en-US" sz="2400" dirty="0" smtClean="0">
                <a:solidFill>
                  <a:srgbClr val="0000FF"/>
                </a:solidFill>
              </a:rPr>
              <a:t>颜色</a:t>
            </a:r>
            <a:r>
              <a:rPr lang="zh-CN" altLang="en-US" sz="2400" dirty="0">
                <a:solidFill>
                  <a:srgbClr val="0000FF"/>
                </a:solidFill>
              </a:rPr>
              <a:t>缓存</a:t>
            </a:r>
            <a:r>
              <a:rPr lang="zh-CN" altLang="en-US" sz="2400" dirty="0" smtClean="0"/>
              <a:t>与</a:t>
            </a:r>
            <a:r>
              <a:rPr lang="zh-CN" altLang="en-US" sz="2400" dirty="0" smtClean="0">
                <a:solidFill>
                  <a:srgbClr val="0000FF"/>
                </a:solidFill>
              </a:rPr>
              <a:t>深度</a:t>
            </a:r>
            <a:r>
              <a:rPr lang="zh-CN" altLang="en-US" sz="2400" dirty="0">
                <a:solidFill>
                  <a:srgbClr val="0000FF"/>
                </a:solidFill>
              </a:rPr>
              <a:t>缓存</a:t>
            </a:r>
            <a:endParaRPr lang="zh-CN" altLang="en-US" sz="1600" dirty="0">
              <a:solidFill>
                <a:srgbClr val="0000FF"/>
              </a:solidFill>
            </a:endParaRP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缓存本质上都</a:t>
            </a:r>
            <a:r>
              <a:rPr lang="zh-CN" altLang="en-US" sz="2400" dirty="0"/>
              <a:t>是离散的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由其空间分辨率（</a:t>
            </a:r>
            <a:r>
              <a:rPr lang="en-US" altLang="zh-CN" sz="1600" dirty="0"/>
              <a:t>n × m )</a:t>
            </a:r>
            <a:r>
              <a:rPr lang="zh-CN" altLang="en-US" sz="1600" dirty="0" smtClean="0"/>
              <a:t>和深度（或者精度，每个</a:t>
            </a:r>
            <a:r>
              <a:rPr lang="zh-CN" altLang="en-US" sz="1600" dirty="0"/>
              <a:t>像素的位数）</a:t>
            </a:r>
            <a:r>
              <a:rPr lang="en-US" altLang="zh-CN" sz="1600" dirty="0"/>
              <a:t>k</a:t>
            </a:r>
            <a:r>
              <a:rPr lang="zh-CN" altLang="en-US" sz="1600" dirty="0" smtClean="0"/>
              <a:t>确定</a:t>
            </a:r>
            <a:endParaRPr lang="zh-CN" altLang="en-US" sz="16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4" name="灯片编号占位符 2"/>
          <p:cNvSpPr txBox="1">
            <a:spLocks/>
          </p:cNvSpPr>
          <p:nvPr/>
        </p:nvSpPr>
        <p:spPr>
          <a:xfrm>
            <a:off x="8451988" y="6492875"/>
            <a:ext cx="762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6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B792F4E-54C0-4D36-B331-9C6FCFE9A340}" type="slidenum">
              <a:rPr lang="zh-CN" altLang="en-US" smtClean="0"/>
              <a:pPr/>
              <a:t>11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357" y="2991882"/>
            <a:ext cx="3770363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2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的帧缓存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35775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图形系统可以将各种不同类型的缓存用于绘制任务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smtClean="0"/>
              <a:t>包括</a:t>
            </a:r>
            <a:r>
              <a:rPr lang="zh-CN" altLang="en-US" sz="1800">
                <a:solidFill>
                  <a:srgbClr val="0000FF"/>
                </a:solidFill>
              </a:rPr>
              <a:t>前端和</a:t>
            </a:r>
            <a:r>
              <a:rPr lang="zh-CN" altLang="en-US" sz="1800" dirty="0" smtClean="0">
                <a:solidFill>
                  <a:srgbClr val="0000FF"/>
                </a:solidFill>
              </a:rPr>
              <a:t>后端缓存</a:t>
            </a:r>
            <a:r>
              <a:rPr lang="zh-CN" altLang="en-US" sz="1800" dirty="0" smtClean="0"/>
              <a:t>（何时用到？）、深度缓存等等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通常每次只处理其中的一个缓存，因此用缓存来表示一个帧缓存组成部分中的一个特定</a:t>
            </a:r>
            <a:r>
              <a:rPr lang="zh-CN" altLang="en-US" sz="1800" dirty="0" smtClean="0"/>
              <a:t>缓存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各种</a:t>
            </a:r>
            <a:r>
              <a:rPr lang="zh-CN" altLang="en-US" sz="1800" dirty="0"/>
              <a:t>缓存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空间分辨率一样，</a:t>
            </a:r>
            <a:r>
              <a:rPr lang="zh-CN" altLang="en-US" sz="1800" dirty="0" smtClean="0"/>
              <a:t>但深度值</a:t>
            </a:r>
            <a:r>
              <a:rPr lang="en-US" altLang="zh-CN" sz="1800" dirty="0" smtClean="0"/>
              <a:t>k</a:t>
            </a:r>
            <a:r>
              <a:rPr lang="zh-CN" altLang="en-US" sz="1800" dirty="0" smtClean="0"/>
              <a:t>可以</a:t>
            </a:r>
            <a:r>
              <a:rPr lang="zh-CN" altLang="en-US" sz="1800" dirty="0"/>
              <a:t>不</a:t>
            </a:r>
            <a:r>
              <a:rPr lang="zh-CN" altLang="en-US" sz="1800" dirty="0" smtClean="0"/>
              <a:t>一样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00" y="3355107"/>
            <a:ext cx="4001311" cy="25751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8650" y="3598917"/>
            <a:ext cx="37433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94003F"/>
              </a:buClr>
              <a:buFont typeface="Arial" charset="0"/>
              <a:buChar char="•"/>
            </a:pPr>
            <a:r>
              <a:rPr lang="zh-CN" altLang="en-US" sz="16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颜色缓存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去确定可以表示的颜色多少，通常在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RGB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模式中为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24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位，在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RGBA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模式中为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32</a:t>
            </a:r>
            <a:r>
              <a:rPr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位</a:t>
            </a:r>
            <a:endParaRPr lang="en-US" altLang="zh-CN" sz="1600" dirty="0" smtClean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rgbClr val="94003F"/>
              </a:buClr>
              <a:buFont typeface="Arial" charset="0"/>
              <a:buChar char="•"/>
            </a:pPr>
            <a:endParaRPr lang="zh-CN" alt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  <a:p>
            <a:pPr marL="285750" indent="-285750">
              <a:buClr>
                <a:srgbClr val="94003F"/>
              </a:buClr>
              <a:buFont typeface="Arial" charset="0"/>
              <a:buChar char="•"/>
            </a:pPr>
            <a:r>
              <a:rPr lang="zh-CN" altLang="en-US" sz="1600" dirty="0">
                <a:solidFill>
                  <a:srgbClr val="0000FF"/>
                </a:solidFill>
                <a:latin typeface="Microsoft YaHei" charset="-122"/>
                <a:ea typeface="Microsoft YaHei" charset="-122"/>
                <a:cs typeface="Microsoft YaHei" charset="-122"/>
              </a:rPr>
              <a:t>深度缓存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K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值确定深度的分辨率，通常是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32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位，这样与浮点数或整数的精度匹配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008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数字图像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4770460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有时简称为图像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在程序中的图像以像素阵列表示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其大小与类型各异，具体与图像的类型有关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对于</a:t>
            </a:r>
            <a:r>
              <a:rPr lang="en-US" altLang="zh-CN" sz="1600" dirty="0" smtClean="0"/>
              <a:t>RGB</a:t>
            </a:r>
            <a:r>
              <a:rPr lang="zh-CN" altLang="en-US" sz="1600" dirty="0" smtClean="0"/>
              <a:t>图像，一个字节表示一个颜色成分，因此可以如下定义</a:t>
            </a:r>
            <a:r>
              <a:rPr lang="en-US" altLang="zh-CN" sz="1600" dirty="0" smtClean="0"/>
              <a:t>512×512</a:t>
            </a:r>
            <a:r>
              <a:rPr lang="zh-CN" altLang="en-US" sz="1600" dirty="0" smtClean="0"/>
              <a:t>图像</a:t>
            </a:r>
            <a:endParaRPr lang="en-US" altLang="zh-CN" sz="1600" dirty="0" smtClean="0"/>
          </a:p>
          <a:p>
            <a:pPr marL="457200" lvl="1" indent="0">
              <a:buClr>
                <a:srgbClr val="94003F"/>
              </a:buClr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</a:p>
          <a:p>
            <a:pPr lvl="1">
              <a:buClr>
                <a:srgbClr val="94003F"/>
              </a:buClr>
            </a:pP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如果处理的是黑白图像或者强度图像，那么可以定义为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常用</a:t>
            </a:r>
            <a:r>
              <a:rPr lang="zh-CN" altLang="en-US" sz="2400" dirty="0"/>
              <a:t>格式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/>
              <a:t>GIF, TIFF, PS, EPS</a:t>
            </a:r>
            <a:r>
              <a:rPr lang="zh-CN" altLang="en-US" sz="1600" dirty="0"/>
              <a:t>以及</a:t>
            </a:r>
            <a:r>
              <a:rPr lang="en-US" altLang="zh-CN" sz="1600" dirty="0"/>
              <a:t>JPEG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以某种顺序存贮数据，并进行必要的无损压缩或者有损编码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>
                <a:solidFill>
                  <a:srgbClr val="0000FF"/>
                </a:solidFill>
              </a:rPr>
              <a:t>OpenGL</a:t>
            </a:r>
            <a:r>
              <a:rPr lang="zh-CN" altLang="en-US" sz="1600" dirty="0">
                <a:solidFill>
                  <a:srgbClr val="0000FF"/>
                </a:solidFill>
              </a:rPr>
              <a:t>中不包含任何解析已有图像格式的函数与功能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lvl="1">
              <a:buClr>
                <a:srgbClr val="94003F"/>
              </a:buClr>
            </a:pPr>
            <a:r>
              <a:rPr lang="zh-CN" altLang="en-US" sz="1600" dirty="0">
                <a:solidFill>
                  <a:srgbClr val="0000FF"/>
                </a:solidFill>
              </a:rPr>
              <a:t>在</a:t>
            </a:r>
            <a:r>
              <a:rPr lang="en-US" altLang="zh-CN" sz="1600" dirty="0">
                <a:solidFill>
                  <a:srgbClr val="0000FF"/>
                </a:solidFill>
              </a:rPr>
              <a:t>OpenGL</a:t>
            </a:r>
            <a:r>
              <a:rPr lang="zh-CN" altLang="en-US" sz="1600" dirty="0">
                <a:solidFill>
                  <a:srgbClr val="0000FF"/>
                </a:solidFill>
              </a:rPr>
              <a:t>中的图像就是内存中的存贮标准数据类型的数组</a:t>
            </a:r>
            <a:endParaRPr lang="en-US" altLang="zh-CN" sz="1600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916214" y="3653881"/>
            <a:ext cx="4364514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lvl="1">
              <a:buClr>
                <a:srgbClr val="94003F"/>
              </a:buClr>
            </a:pPr>
            <a:r>
              <a:rPr lang="en-US" altLang="zh-CN" dirty="0" err="1">
                <a:solidFill>
                  <a:srgbClr val="0000FF"/>
                </a:solidFill>
              </a:rPr>
              <a:t>GLubyte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/>
              <a:t>myimage</a:t>
            </a:r>
            <a:r>
              <a:rPr lang="en-US" altLang="zh-CN" dirty="0"/>
              <a:t> [512] [512] ;</a:t>
            </a:r>
            <a:endParaRPr lang="zh-CN" altLang="en-US" dirty="0"/>
          </a:p>
        </p:txBody>
      </p:sp>
      <p:sp>
        <p:nvSpPr>
          <p:cNvPr id="6" name="矩形 6"/>
          <p:cNvSpPr/>
          <p:nvPr/>
        </p:nvSpPr>
        <p:spPr>
          <a:xfrm>
            <a:off x="1916214" y="2781034"/>
            <a:ext cx="4364514" cy="369332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lvl="1"/>
            <a:r>
              <a:rPr lang="en-US" altLang="zh-CN" dirty="0" err="1">
                <a:solidFill>
                  <a:srgbClr val="0000FF"/>
                </a:solidFill>
              </a:rPr>
              <a:t>GLubyte</a:t>
            </a:r>
            <a:r>
              <a:rPr lang="en-US" altLang="zh-CN" dirty="0">
                <a:solidFill>
                  <a:srgbClr val="0000FF"/>
                </a:solidFill>
              </a:rPr>
              <a:t> </a:t>
            </a:r>
            <a:r>
              <a:rPr lang="en-US" altLang="zh-CN" dirty="0" err="1"/>
              <a:t>myimage</a:t>
            </a:r>
            <a:r>
              <a:rPr lang="en-US" altLang="zh-CN" dirty="0"/>
              <a:t> [512] [512] [3] </a:t>
            </a:r>
            <a:r>
              <a:rPr lang="en-US" altLang="zh-CN" dirty="0" smtClean="0"/>
              <a:t>;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6049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缓存的写操作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在现代的计算机图形系统中，用户程序既可以向缓存写入内容，也可以从中读出内容</a:t>
            </a:r>
            <a:endParaRPr lang="en-US" altLang="zh-CN" sz="2400" dirty="0" smtClean="0"/>
          </a:p>
          <a:p>
            <a:pPr marL="0" indent="0">
              <a:buClr>
                <a:srgbClr val="94003F"/>
              </a:buClr>
              <a:buNone/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与通常的计算机内存读写操作不同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很少情形下</a:t>
            </a:r>
            <a:r>
              <a:rPr lang="zh-CN" altLang="en-US" sz="1800" dirty="0" smtClean="0"/>
              <a:t>只想读写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一</a:t>
            </a:r>
            <a:r>
              <a:rPr lang="zh-CN" altLang="en-US" sz="1800" dirty="0"/>
              <a:t>个像素，而是读写一</a:t>
            </a:r>
            <a:r>
              <a:rPr lang="zh-CN" altLang="en-US" sz="1800" dirty="0" smtClean="0"/>
              <a:t>个</a:t>
            </a:r>
            <a:r>
              <a:rPr lang="zh-CN" altLang="en-US" sz="1800" dirty="0"/>
              <a:t>矩形</a:t>
            </a:r>
            <a:r>
              <a:rPr lang="zh-CN" altLang="en-US" sz="1800" dirty="0" smtClean="0"/>
              <a:t>的</a:t>
            </a:r>
            <a:r>
              <a:rPr lang="zh-CN" altLang="en-US" sz="1800" dirty="0"/>
              <a:t>像素块（</a:t>
            </a:r>
            <a:r>
              <a:rPr lang="zh-CN" altLang="en-US" sz="1800" dirty="0" smtClean="0">
                <a:solidFill>
                  <a:srgbClr val="0000FF"/>
                </a:solidFill>
              </a:rPr>
              <a:t>位块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假设要把</a:t>
            </a:r>
            <a:r>
              <a:rPr lang="zh-CN" altLang="en-US" sz="2400" dirty="0" smtClean="0"/>
              <a:t>源</a:t>
            </a:r>
            <a:r>
              <a:rPr lang="zh-CN" altLang="en-US" sz="2400" dirty="0"/>
              <a:t>缓存</a:t>
            </a:r>
            <a:r>
              <a:rPr lang="zh-CN" altLang="en-US" sz="2400" dirty="0" smtClean="0"/>
              <a:t>中</a:t>
            </a:r>
            <a:r>
              <a:rPr lang="zh-CN" altLang="en-US" sz="2400" dirty="0"/>
              <a:t>的一块</a:t>
            </a:r>
            <a:r>
              <a:rPr lang="en-US" altLang="zh-CN" sz="2400" dirty="0" err="1"/>
              <a:t>n×m</a:t>
            </a:r>
            <a:r>
              <a:rPr lang="zh-CN" altLang="en-US" sz="2400" dirty="0"/>
              <a:t>像素复制到</a:t>
            </a:r>
            <a:r>
              <a:rPr lang="zh-CN" altLang="en-US" sz="2400" dirty="0" smtClean="0"/>
              <a:t>目标缓存中</a:t>
            </a:r>
            <a:r>
              <a:rPr lang="zh-CN" altLang="en-US" sz="2400" dirty="0"/>
              <a:t>，那么进行这种操作的</a:t>
            </a:r>
            <a:r>
              <a:rPr lang="zh-CN" altLang="en-US" sz="2400" dirty="0">
                <a:solidFill>
                  <a:srgbClr val="0000FF"/>
                </a:solidFill>
              </a:rPr>
              <a:t>位块传递函数</a:t>
            </a:r>
            <a:r>
              <a:rPr lang="zh-CN" altLang="en-US" sz="2400" dirty="0"/>
              <a:t>应当具有</a:t>
            </a:r>
            <a:r>
              <a:rPr lang="zh-CN" altLang="en-US" sz="2400" dirty="0" smtClean="0"/>
              <a:t>形式：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矩形 6"/>
          <p:cNvSpPr/>
          <p:nvPr/>
        </p:nvSpPr>
        <p:spPr>
          <a:xfrm>
            <a:off x="1149531" y="5021838"/>
            <a:ext cx="3411835" cy="646331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b="1" dirty="0" err="1" smtClean="0"/>
              <a:t>write_block</a:t>
            </a:r>
            <a:r>
              <a:rPr lang="zh-CN" altLang="en-US" b="1" dirty="0" smtClean="0"/>
              <a:t> </a:t>
            </a:r>
            <a:r>
              <a:rPr lang="en-US" altLang="zh-CN" dirty="0" smtClean="0"/>
              <a:t>( source, n, m, x, y,</a:t>
            </a:r>
          </a:p>
          <a:p>
            <a:pPr>
              <a:buClr>
                <a:srgbClr val="94003F"/>
              </a:buClr>
            </a:pPr>
            <a:r>
              <a:rPr lang="en-US" altLang="zh-CN" dirty="0" smtClean="0"/>
              <a:t>                    </a:t>
            </a:r>
            <a:r>
              <a:rPr lang="zh-CN" altLang="en-US" dirty="0" smtClean="0"/>
              <a:t>    </a:t>
            </a:r>
            <a:r>
              <a:rPr lang="en-US" altLang="zh-CN" dirty="0" smtClean="0"/>
              <a:t>destination, u, v)</a:t>
            </a:r>
            <a:endParaRPr lang="en-US" altLang="zh-C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339" y="4630115"/>
            <a:ext cx="3143975" cy="207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44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写入模式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Clr>
                    <a:srgbClr val="94003F"/>
                  </a:buClr>
                </a:pPr>
                <a:r>
                  <a:rPr lang="en-US" altLang="zh-CN" sz="2400" dirty="0" smtClean="0"/>
                  <a:t>OpenGL</a:t>
                </a:r>
                <a:r>
                  <a:rPr lang="zh-CN" altLang="en-US" sz="2400" dirty="0" smtClean="0"/>
                  <a:t>支持</a:t>
                </a:r>
                <a:r>
                  <a:rPr lang="en-US" altLang="zh-CN" sz="2400" dirty="0" smtClean="0"/>
                  <a:t>16</a:t>
                </a:r>
                <a:r>
                  <a:rPr lang="zh-CN" altLang="en-US" sz="2400" dirty="0" smtClean="0"/>
                  <a:t>种不同的写入模式（</a:t>
                </a:r>
                <a:r>
                  <a:rPr lang="en-US" altLang="zh-CN" sz="2400" dirty="0" smtClean="0"/>
                  <a:t>16</a:t>
                </a:r>
                <a:r>
                  <a:rPr lang="zh-CN" altLang="en-US" sz="2400" dirty="0" smtClean="0"/>
                  <a:t>个不同的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FF"/>
                        </a:solidFill>
                        <a:latin typeface="Cambria Math" charset="0"/>
                      </a:rPr>
                      <m:t>𝑓</m:t>
                    </m:r>
                  </m:oMath>
                </a14:m>
                <a:r>
                  <a:rPr lang="zh-CN" altLang="en-US" sz="2400" dirty="0" smtClean="0"/>
                  <a:t>）：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 smtClean="0"/>
                  <a:t>在写入源像素之前会读出</a:t>
                </a:r>
                <a:r>
                  <a:rPr lang="zh-CN" altLang="en-US" sz="1800" dirty="0"/>
                  <a:t>目标缓存中的</a:t>
                </a:r>
                <a:r>
                  <a:rPr lang="zh-CN" altLang="en-US" sz="1800" dirty="0" smtClean="0"/>
                  <a:t>像素</a:t>
                </a:r>
                <a:endParaRPr lang="en-US" altLang="zh-CN" sz="18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 smtClean="0"/>
                  <a:t>这也</a:t>
                </a:r>
                <a:r>
                  <a:rPr lang="zh-CN" altLang="en-US" sz="1800" dirty="0"/>
                  <a:t>是位块传递</a:t>
                </a:r>
                <a:r>
                  <a:rPr lang="zh-CN" altLang="en-US" sz="1800" dirty="0" smtClean="0"/>
                  <a:t>操作与</a:t>
                </a:r>
                <a:r>
                  <a:rPr lang="zh-CN" altLang="en-US" sz="1800" dirty="0"/>
                  <a:t>读写内存不同</a:t>
                </a:r>
                <a:r>
                  <a:rPr lang="zh-CN" altLang="en-US" sz="1800" dirty="0" smtClean="0"/>
                  <a:t>的另一个地方</a:t>
                </a:r>
                <a:endParaRPr lang="en-US" altLang="zh-CN" sz="9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16" y="2636998"/>
            <a:ext cx="6658194" cy="3291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6551157" y="3859323"/>
                <a:ext cx="14906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94003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𝑑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’= 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𝑓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 (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𝑠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, 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𝑑</m:t>
                      </m:r>
                      <m:r>
                        <a:rPr lang="en-US" altLang="zh-CN" i="1" dirty="0" smtClean="0">
                          <a:solidFill>
                            <a:srgbClr val="0000FF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157" y="3859323"/>
                <a:ext cx="1490664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96721" b="-1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922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16</a:t>
            </a:r>
            <a:r>
              <a:rPr lang="zh-CN" altLang="en-US" dirty="0"/>
              <a:t>种</a:t>
            </a:r>
            <a:r>
              <a:rPr lang="zh-CN" altLang="en-US" dirty="0" smtClean="0"/>
              <a:t>逻辑运算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源像素与目标像素逐位结合在一起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有</a:t>
            </a:r>
            <a:r>
              <a:rPr lang="en-US" altLang="zh-CN" sz="2400" dirty="0" smtClean="0"/>
              <a:t>16</a:t>
            </a:r>
            <a:r>
              <a:rPr lang="zh-CN" altLang="en-US" sz="2400" dirty="0" smtClean="0"/>
              <a:t>种可选的函数（表格中的每列为一种）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156414" y="49911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替换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99" y="2447948"/>
            <a:ext cx="7648575" cy="2543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251746" y="4991123"/>
            <a:ext cx="5757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XOR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4751805" y="4991123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OR</a:t>
            </a:r>
            <a:endParaRPr lang="zh-CN" altLang="en-US" dirty="0"/>
          </a:p>
        </p:txBody>
      </p:sp>
      <p:pic>
        <p:nvPicPr>
          <p:cNvPr id="10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879" y="5137758"/>
            <a:ext cx="2825238" cy="16615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525121" y="2486862"/>
            <a:ext cx="294598" cy="24639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367689" y="4989682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AND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571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560106" y="33891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纹理映射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2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06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几何建模的局限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虽然图形显示卡可以每秒钟显示多达一千万个多边形，但这个速度并不能满足模拟任何现象的要求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云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地貌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树皮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毛发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水波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火焰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mr-IN" altLang="zh-CN" sz="1800" dirty="0" smtClean="0"/>
              <a:t>…</a:t>
            </a:r>
            <a:endParaRPr lang="en-U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84" b="29510"/>
          <a:stretch/>
        </p:blipFill>
        <p:spPr bwMode="auto">
          <a:xfrm>
            <a:off x="2946285" y="2339472"/>
            <a:ext cx="2973025" cy="17712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3468" y="3003391"/>
            <a:ext cx="2281508" cy="2350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418" y="4407840"/>
            <a:ext cx="2962885" cy="1734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3455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桔子的模型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考虑如何建立桔子（或其它水果）的模型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用着色的球表示桔子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太</a:t>
            </a:r>
            <a:r>
              <a:rPr lang="zh-CN" altLang="en-US" sz="1600" dirty="0" smtClean="0"/>
              <a:t>简单，不够逼真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用</a:t>
            </a:r>
            <a:r>
              <a:rPr lang="zh-CN" altLang="en-US" sz="1800" dirty="0"/>
              <a:t>更复杂形状代替球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球体并没有强调曲面的特征（微凹，</a:t>
            </a:r>
            <a:r>
              <a:rPr lang="en-US" altLang="zh-CN" sz="1600" dirty="0" smtClean="0"/>
              <a:t>dimples)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为了模拟所有的微凹，需要相当多的多边形</a:t>
            </a:r>
            <a:endParaRPr lang="en-US" altLang="zh-CN" sz="16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负荷过重，无法绘制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更好的办法：</a:t>
            </a:r>
            <a:r>
              <a:rPr lang="zh-CN" altLang="en-US" sz="2400" dirty="0" smtClean="0">
                <a:solidFill>
                  <a:srgbClr val="0000FF"/>
                </a:solidFill>
              </a:rPr>
              <a:t>通过贴图映射的方式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800" dirty="0"/>
              <a:t>获取真实桔子的照片，扫描后把结果“粘贴”到简单的球模型上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87" b="96418" l="2903" r="977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655" y="1653039"/>
            <a:ext cx="2440290" cy="2637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712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三种映射方法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>
                <a:solidFill>
                  <a:srgbClr val="0000FF"/>
                </a:solidFill>
              </a:rPr>
              <a:t>纹理映射</a:t>
            </a:r>
            <a:endParaRPr lang="en-US" altLang="zh-CN" sz="2400" dirty="0" smtClean="0">
              <a:solidFill>
                <a:srgbClr val="0000FF"/>
              </a:solidFill>
            </a:endParaRP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把图像映射到光滑表面，从而给表面增加细节特征</a:t>
            </a:r>
            <a:endParaRPr lang="en-US" altLang="zh-CN" sz="16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环境</a:t>
            </a:r>
            <a:r>
              <a:rPr lang="zh-CN" altLang="en-US" sz="2400" dirty="0"/>
              <a:t>映射</a:t>
            </a:r>
            <a:r>
              <a:rPr lang="zh-CN" altLang="en-US" sz="2400" dirty="0" smtClean="0"/>
              <a:t>（或叫反射</a:t>
            </a:r>
            <a:r>
              <a:rPr lang="zh-CN" altLang="en-US" sz="2400" dirty="0"/>
              <a:t>映射）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利用环境的图像进行纹理映射，可以模拟高度镜面曲面</a:t>
            </a: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凹凸</a:t>
            </a:r>
            <a:r>
              <a:rPr lang="zh-CN" altLang="en-US" sz="2400" dirty="0"/>
              <a:t>映射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对法向量进行了扰动，从而使表面看起来有微小的起伏变化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3"/>
          <p:cNvPicPr>
            <a:picLocks noChangeAspect="1"/>
          </p:cNvPicPr>
          <p:nvPr/>
        </p:nvPicPr>
        <p:blipFill rotWithShape="1">
          <a:blip r:embed="rId2"/>
          <a:srcRect b="12188"/>
          <a:stretch/>
        </p:blipFill>
        <p:spPr>
          <a:xfrm>
            <a:off x="289335" y="3857268"/>
            <a:ext cx="4513960" cy="2007953"/>
          </a:xfrm>
          <a:prstGeom prst="rect">
            <a:avLst/>
          </a:prstGeom>
        </p:spPr>
      </p:pic>
      <p:pic>
        <p:nvPicPr>
          <p:cNvPr id="6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41" y="3695311"/>
            <a:ext cx="2375487" cy="2383234"/>
          </a:xfrm>
          <a:prstGeom prst="rect">
            <a:avLst/>
          </a:prstGeom>
        </p:spPr>
      </p:pic>
      <p:pic>
        <p:nvPicPr>
          <p:cNvPr id="7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600" y="3883394"/>
            <a:ext cx="2230581" cy="21762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3771" y="586522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几何模型</a:t>
            </a:r>
            <a:endParaRPr lang="en-US" sz="1600" b="1" dirty="0"/>
          </a:p>
        </p:txBody>
      </p:sp>
      <p:sp>
        <p:nvSpPr>
          <p:cNvPr id="9" name="Rectangle 8"/>
          <p:cNvSpPr/>
          <p:nvPr/>
        </p:nvSpPr>
        <p:spPr>
          <a:xfrm>
            <a:off x="3053395" y="586522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/>
              <a:t>纹理映射</a:t>
            </a:r>
            <a:endParaRPr lang="en-US" sz="1600" b="1" dirty="0"/>
          </a:p>
        </p:txBody>
      </p:sp>
      <p:sp>
        <p:nvSpPr>
          <p:cNvPr id="10" name="Rectangle 9"/>
          <p:cNvSpPr/>
          <p:nvPr/>
        </p:nvSpPr>
        <p:spPr>
          <a:xfrm>
            <a:off x="7451208" y="586522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smtClean="0"/>
              <a:t>凹凸映射</a:t>
            </a:r>
            <a:endParaRPr lang="en-US" sz="1600" b="1" dirty="0"/>
          </a:p>
        </p:txBody>
      </p:sp>
      <p:sp>
        <p:nvSpPr>
          <p:cNvPr id="11" name="Rectangle 10"/>
          <p:cNvSpPr/>
          <p:nvPr/>
        </p:nvSpPr>
        <p:spPr>
          <a:xfrm>
            <a:off x="5285923" y="5865221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/>
              <a:t>环境映射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539229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纹理映射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pic>
        <p:nvPicPr>
          <p:cNvPr id="5" name="Picture 4" descr="hipp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912" y="1306877"/>
            <a:ext cx="8113776" cy="5136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003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如何实现？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虽然映射的想法很简单，即把图像映射到曲面上，但由于这时要用到三四个坐标系，因此实现起来并不容易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95" y="2488572"/>
            <a:ext cx="5390390" cy="335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042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993897"/>
            <a:ext cx="5218460" cy="330428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坐标系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纹理坐标系</a:t>
            </a:r>
            <a:endParaRPr lang="en-US" altLang="zh-CN" sz="2400" dirty="0"/>
          </a:p>
          <a:p>
            <a:pPr lvl="1">
              <a:buClr>
                <a:srgbClr val="94003F"/>
              </a:buClr>
              <a:buSzPct val="70000"/>
            </a:pPr>
            <a:r>
              <a:rPr lang="zh-CN" altLang="en-US" sz="1600" dirty="0"/>
              <a:t>用来表示纹理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参数坐标系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可以用来建立曲面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  <a:buSzPct val="70000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世界坐标</a:t>
            </a:r>
            <a:r>
              <a:rPr lang="zh-CN" altLang="en-US" sz="2400" dirty="0"/>
              <a:t>系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从概念上说，就是映射发生的地方</a:t>
            </a:r>
            <a:endParaRPr lang="en-US" altLang="zh-CN" sz="16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屏幕</a:t>
            </a:r>
            <a:r>
              <a:rPr lang="zh-CN" altLang="en-US" sz="2400" dirty="0"/>
              <a:t>坐标系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最终图像显示的地方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579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坐标系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5" name="Picture 2" descr="https://pic4.zhimg.com/v2-e0c6b27ce2127aaca6e74548c05c8303_r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7" r="11799"/>
          <a:stretch/>
        </p:blipFill>
        <p:spPr bwMode="auto">
          <a:xfrm>
            <a:off x="950177" y="1601067"/>
            <a:ext cx="7332985" cy="2969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/>
          <p:cNvSpPr/>
          <p:nvPr/>
        </p:nvSpPr>
        <p:spPr>
          <a:xfrm>
            <a:off x="1658700" y="4842719"/>
            <a:ext cx="573746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图形学基础 </a:t>
            </a:r>
            <a:r>
              <a:rPr lang="en-US" altLang="zh-CN" dirty="0"/>
              <a:t>- </a:t>
            </a:r>
            <a:r>
              <a:rPr lang="zh-CN" altLang="en-US" dirty="0"/>
              <a:t>纹理 </a:t>
            </a:r>
            <a:r>
              <a:rPr lang="en-US" altLang="zh-CN" dirty="0"/>
              <a:t>- </a:t>
            </a:r>
            <a:r>
              <a:rPr lang="zh-CN" altLang="en-US" dirty="0"/>
              <a:t>纹理映射流程 </a:t>
            </a:r>
            <a:r>
              <a:rPr lang="en-US" altLang="zh-CN" dirty="0"/>
              <a:t>- </a:t>
            </a:r>
            <a:r>
              <a:rPr lang="zh-CN" altLang="en-US" dirty="0"/>
              <a:t>杨鼎超的文章 </a:t>
            </a:r>
            <a:r>
              <a:rPr lang="en-US" altLang="zh-CN" dirty="0"/>
              <a:t>- </a:t>
            </a:r>
            <a:r>
              <a:rPr lang="zh-CN" altLang="en-US" dirty="0"/>
              <a:t>知</a:t>
            </a:r>
            <a:r>
              <a:rPr lang="zh-CN" altLang="en-US" dirty="0" smtClean="0"/>
              <a:t>乎</a:t>
            </a:r>
            <a:endParaRPr lang="en-US" altLang="zh-CN" dirty="0" smtClean="0"/>
          </a:p>
          <a:p>
            <a:r>
              <a:rPr lang="zh-CN" altLang="en-US" dirty="0" smtClean="0"/>
              <a:t> </a:t>
            </a:r>
            <a:r>
              <a:rPr lang="en-US" altLang="zh-CN" dirty="0">
                <a:hlinkClick r:id="rId3"/>
              </a:rPr>
              <a:t>https://</a:t>
            </a:r>
            <a:r>
              <a:rPr lang="en-US" altLang="zh-CN" dirty="0" smtClean="0">
                <a:hlinkClick r:id="rId3"/>
              </a:rPr>
              <a:t>zhuanlan.zhihu.com/p/369977849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519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映射函数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</p:spPr>
            <p:txBody>
              <a:bodyPr>
                <a:normAutofit lnSpcReduction="10000"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基本问题就是如何定义映射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 smtClean="0">
                    <a:solidFill>
                      <a:srgbClr val="0000FF"/>
                    </a:solidFill>
                  </a:rPr>
                  <a:t>考虑从纹理坐标到曲面上一点的映射</a:t>
                </a:r>
                <a:endParaRPr lang="en-US" altLang="zh-CN" sz="1800" dirty="0" smtClean="0">
                  <a:solidFill>
                    <a:srgbClr val="0000FF"/>
                  </a:solidFill>
                </a:endParaRPr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endParaRPr lang="en-US" altLang="zh-CN" sz="2400" dirty="0" smtClean="0"/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r>
                  <a:rPr lang="zh-CN" altLang="en-US" sz="2400" dirty="0" smtClean="0"/>
                  <a:t>直观</a:t>
                </a:r>
                <a:r>
                  <a:rPr lang="zh-CN" altLang="en-US" sz="2400" dirty="0"/>
                  <a:t>地看，应当需要三个</a:t>
                </a:r>
                <a:r>
                  <a:rPr lang="zh-CN" altLang="en-US" sz="2400" dirty="0" smtClean="0"/>
                  <a:t>函数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600" dirty="0" smtClean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虽然从概念上讲，最终必定用到上述的函数，但实际采用的却是间接的方法</a:t>
                </a:r>
                <a:endParaRPr lang="en-US" altLang="zh-CN" sz="1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0"/>
                <a:ext cx="7886700" cy="5083969"/>
              </a:xfrm>
              <a:blipFill rotWithShape="0">
                <a:blip r:embed="rId2"/>
                <a:stretch>
                  <a:fillRect l="-309" t="-2398" r="-850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238" y="3291869"/>
            <a:ext cx="4334871" cy="233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925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逆映射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我们需要的是逆向操作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/>
                  <a:t>给定一个像素，我们想知道它对应于</a:t>
                </a:r>
                <a:r>
                  <a:rPr lang="zh-CN" altLang="en-US" sz="1600" dirty="0" smtClean="0"/>
                  <a:t>对象上的</a:t>
                </a:r>
                <a:r>
                  <a:rPr lang="zh-CN" altLang="en-US" sz="1600" dirty="0"/>
                  <a:t>哪个点</a:t>
                </a:r>
                <a:endParaRPr lang="en-US" altLang="zh-CN" sz="1600" dirty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/>
                  <a:t>给定对象上的一个点，我们想知道它对应于纹理中的哪个</a:t>
                </a:r>
                <a:r>
                  <a:rPr lang="zh-CN" altLang="en-US" sz="1600" dirty="0" smtClean="0"/>
                  <a:t>点</a:t>
                </a: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此时需要如下形式的逆映射</a:t>
                </a:r>
                <a:endParaRPr lang="en-US" altLang="zh-CN" sz="2400" dirty="0"/>
              </a:p>
              <a:p>
                <a:pPr lvl="1">
                  <a:buClr>
                    <a:srgbClr val="94003F"/>
                  </a:buClr>
                </a:pP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 ), 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𝑡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(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 smtClean="0">
                        <a:latin typeface="Cambria Math" charset="0"/>
                      </a:rPr>
                      <m:t> )</m:t>
                    </m:r>
                  </m:oMath>
                </a14:m>
                <a:endParaRPr lang="en-US" altLang="zh-CN" sz="2400" dirty="0" smtClean="0"/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r>
                  <a:rPr lang="zh-CN" altLang="en-US" sz="2400" dirty="0" smtClean="0"/>
                  <a:t>这样的函数一般是很难求出来的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  <a:buSzPct val="70000"/>
                </a:pPr>
                <a:r>
                  <a:rPr lang="zh-CN" altLang="en-US" sz="1600" dirty="0"/>
                  <a:t>假设要计算中心在</a:t>
                </a:r>
                <a:r>
                  <a:rPr lang="en-US" altLang="zh-CN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6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 dirty="0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600" i="1" dirty="0" smtClean="0">
                            <a:latin typeface="Cambria Math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altLang="zh-CN" sz="1600" dirty="0"/>
                  <a:t>)</a:t>
                </a:r>
                <a:r>
                  <a:rPr lang="zh-CN" altLang="en-US" sz="1600" dirty="0"/>
                  <a:t>的一个矩形像素的</a:t>
                </a:r>
                <a:r>
                  <a:rPr lang="zh-CN" altLang="en-US" sz="1600" dirty="0" smtClean="0"/>
                  <a:t>颜色，对</a:t>
                </a:r>
                <a:r>
                  <a:rPr lang="zh-CN" altLang="en-US" sz="1600" dirty="0"/>
                  <a:t>应于对象</a:t>
                </a:r>
                <a:r>
                  <a:rPr lang="zh-CN" altLang="en-US" sz="1600" dirty="0" smtClean="0"/>
                  <a:t>上点</a:t>
                </a:r>
                <a14:m>
                  <m:oMath xmlns:m="http://schemas.openxmlformats.org/officeDocument/2006/math">
                    <m:r>
                      <a:rPr lang="en-US" altLang="zh-CN" sz="1600" i="1" dirty="0">
                        <a:latin typeface="Cambria Math" charset="0"/>
                      </a:rPr>
                      <m:t>(</m:t>
                    </m:r>
                    <m:r>
                      <a:rPr lang="en-US" altLang="zh-CN" sz="1600" i="1" dirty="0">
                        <a:latin typeface="Cambria Math" charset="0"/>
                      </a:rPr>
                      <m:t>𝑥</m:t>
                    </m:r>
                    <m:r>
                      <a:rPr lang="en-US" altLang="zh-CN" sz="1600" i="1" dirty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>
                        <a:latin typeface="Cambria Math" charset="0"/>
                      </a:rPr>
                      <m:t>𝑦</m:t>
                    </m:r>
                    <m:r>
                      <a:rPr lang="en-US" altLang="zh-CN" sz="1600" i="1" dirty="0">
                        <a:latin typeface="Cambria Math" charset="0"/>
                      </a:rPr>
                      <m:t>, </m:t>
                    </m:r>
                    <m:r>
                      <a:rPr lang="en-US" altLang="zh-CN" sz="1600" i="1" dirty="0">
                        <a:latin typeface="Cambria Math" charset="0"/>
                      </a:rPr>
                      <m:t>𝑧</m:t>
                    </m:r>
                    <m:r>
                      <a:rPr lang="en-US" altLang="zh-CN" sz="1600" i="1" dirty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sz="1600" dirty="0"/>
              </a:p>
              <a:p>
                <a:pPr lvl="1">
                  <a:buClr>
                    <a:srgbClr val="94003F"/>
                  </a:buClr>
                  <a:buSzPct val="70000"/>
                </a:pPr>
                <a:r>
                  <a:rPr lang="zh-CN" altLang="en-US" sz="1600" dirty="0"/>
                  <a:t>如果对象是弯曲的，那么矩形像素的原像是一个曲边</a:t>
                </a:r>
                <a:r>
                  <a:rPr lang="zh-CN" altLang="en-US" sz="1600" dirty="0" smtClean="0"/>
                  <a:t>四边形</a:t>
                </a:r>
                <a:endParaRPr lang="zh-CN" altLang="en-US" sz="1600" dirty="0"/>
              </a:p>
              <a:p>
                <a:pPr lvl="1">
                  <a:buClr>
                    <a:srgbClr val="94003F"/>
                  </a:buClr>
                  <a:buSzPct val="70000"/>
                </a:pPr>
                <a:r>
                  <a:rPr lang="zh-CN" altLang="en-US" sz="1600" dirty="0"/>
                  <a:t>这个曲边四边形在纹理上的原像才是当前矩形像素的</a:t>
                </a:r>
                <a:r>
                  <a:rPr lang="zh-CN" altLang="en-US" sz="1600" dirty="0" smtClean="0"/>
                  <a:t>颜色有</a:t>
                </a:r>
                <a:r>
                  <a:rPr lang="zh-CN" altLang="en-US" sz="1600" dirty="0"/>
                  <a:t>贡献的纹理元素</a:t>
                </a:r>
              </a:p>
              <a:p>
                <a:pPr marL="685800" lvl="2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endParaRPr lang="en-US" altLang="zh-CN" sz="16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097" y="4322279"/>
            <a:ext cx="5427418" cy="2418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18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像素赋色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927215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先不管如何定义逆映射，只考虑如何确定当前像素的颜色（或者说明暗效果</a:t>
            </a:r>
            <a:r>
              <a:rPr lang="en-US" altLang="zh-CN" sz="2400" dirty="0"/>
              <a:t>)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用当前像素块的原像的中心对应的纹理元的颜色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会出现走样</a:t>
            </a:r>
            <a:r>
              <a:rPr lang="zh-CN" altLang="en-US" sz="1800" dirty="0"/>
              <a:t>（</a:t>
            </a:r>
            <a:r>
              <a:rPr lang="en-US" altLang="zh-CN" sz="1800" dirty="0" smtClean="0"/>
              <a:t>aliasing)</a:t>
            </a:r>
            <a:r>
              <a:rPr lang="zh-CN" altLang="en-US" sz="1800" dirty="0" smtClean="0"/>
              <a:t>问题，特别是对于周期性纹理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当</a:t>
            </a:r>
            <a:r>
              <a:rPr lang="zh-CN" altLang="en-US" sz="1800" dirty="0"/>
              <a:t>不考虑像素是有一定的大小时</a:t>
            </a:r>
            <a:r>
              <a:rPr lang="zh-CN" altLang="en-US" sz="1800" dirty="0" smtClean="0"/>
              <a:t>，会出现网纹状走样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6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4625" b="20512"/>
          <a:stretch/>
        </p:blipFill>
        <p:spPr>
          <a:xfrm>
            <a:off x="1913197" y="3780437"/>
            <a:ext cx="5317605" cy="23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70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像素赋色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927215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一种更好的方法：用在纹理原像上对应区域的明暗效果的平均值赋给当前像素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很难</a:t>
            </a:r>
            <a:r>
              <a:rPr lang="zh-CN" altLang="en-US" sz="1800" dirty="0" smtClean="0"/>
              <a:t>实现，且不</a:t>
            </a:r>
            <a:r>
              <a:rPr lang="zh-CN" altLang="en-US" sz="1800" dirty="0"/>
              <a:t>是完美的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下图经</a:t>
            </a:r>
            <a:r>
              <a:rPr lang="zh-CN" altLang="en-US" sz="1800" dirty="0"/>
              <a:t>上述处理</a:t>
            </a:r>
            <a:r>
              <a:rPr lang="zh-CN" altLang="en-US" sz="1800" dirty="0" smtClean="0"/>
              <a:t>后也</a:t>
            </a:r>
            <a:r>
              <a:rPr lang="zh-CN" altLang="en-US" sz="1800" dirty="0"/>
              <a:t>得不到所需要</a:t>
            </a:r>
            <a:r>
              <a:rPr lang="zh-CN" altLang="en-US" sz="1800" dirty="0" smtClean="0"/>
              <a:t>的结果</a:t>
            </a:r>
            <a:endParaRPr lang="zh-CN" altLang="en-US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但这个问题来自于</a:t>
            </a:r>
            <a:r>
              <a:rPr lang="zh-CN" altLang="en-US" sz="1800" dirty="0" smtClean="0"/>
              <a:t>低分辨率</a:t>
            </a:r>
            <a:r>
              <a:rPr lang="zh-CN" altLang="en-US" sz="1800" dirty="0"/>
              <a:t>的局限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对于规则纹理，</a:t>
            </a:r>
            <a:r>
              <a:rPr lang="zh-CN" altLang="en-US" sz="1800" dirty="0" smtClean="0"/>
              <a:t>这种走样瑕疵非常</a:t>
            </a:r>
            <a:r>
              <a:rPr lang="zh-CN" altLang="en-US" sz="1800" dirty="0"/>
              <a:t>明显</a:t>
            </a:r>
          </a:p>
          <a:p>
            <a:pPr lvl="1">
              <a:buClr>
                <a:srgbClr val="94003F"/>
              </a:buClr>
            </a:pPr>
            <a:endParaRPr lang="zh-CN" altLang="en-US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6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28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4625" b="20512"/>
          <a:stretch/>
        </p:blipFill>
        <p:spPr>
          <a:xfrm>
            <a:off x="1913197" y="3780437"/>
            <a:ext cx="5317605" cy="239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20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953" y="3932740"/>
            <a:ext cx="3854397" cy="274333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线性纹理映射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1"/>
                <a:ext cx="7886700" cy="4888026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考虑由参数方程定义的曲面</a:t>
                </a:r>
                <a:endParaRPr lang="en-US" altLang="zh-CN" sz="2400" dirty="0" smtClean="0"/>
              </a:p>
              <a:p>
                <a:pPr marL="0" indent="0">
                  <a:buClr>
                    <a:srgbClr val="94003F"/>
                  </a:buClr>
                  <a:buNone/>
                </a:pP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)=(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16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此时通常采用如下形式的线性映射关系，从纹理元素对应到曲面上的点：</a:t>
                </a:r>
                <a:endParaRPr lang="en-US" altLang="zh-CN" sz="2400" dirty="0" smtClean="0"/>
              </a:p>
              <a:p>
                <a:pPr marL="0" indent="0">
                  <a:buClr>
                    <a:srgbClr val="94003F"/>
                  </a:buClr>
                  <a:buNone/>
                </a:pPr>
                <a:r>
                  <a:rPr lang="en-US" altLang="zh-CN" sz="2400" dirty="0"/>
                  <a:t> </a:t>
                </a:r>
                <a:r>
                  <a:rPr lang="en-US" altLang="zh-CN" sz="2400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𝑎𝑠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400" b="0" i="1" dirty="0" smtClean="0">
                        <a:latin typeface="Cambria Math" charset="0"/>
                      </a:rPr>
                      <m:t>  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𝑑𝑠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𝑒𝑡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altLang="zh-CN" sz="18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800" dirty="0" smtClean="0"/>
                  <a:t>只要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𝑎𝑒</m:t>
                    </m:r>
                    <m:r>
                      <a:rPr lang="en-US" altLang="zh-CN" sz="1800" i="1" dirty="0" err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altLang="zh-CN" sz="1800" i="1" dirty="0" err="1" smtClean="0">
                        <a:latin typeface="Cambria Math" panose="02040503050406030204" pitchFamily="18" charset="0"/>
                      </a:rPr>
                      <m:t>𝑏𝑑</m:t>
                    </m:r>
                  </m:oMath>
                </a14:m>
                <a:r>
                  <a:rPr lang="en-US" altLang="zh-CN" sz="1800" dirty="0" smtClean="0"/>
                  <a:t>,</a:t>
                </a:r>
                <a:r>
                  <a:rPr lang="zh-CN" altLang="en-US" sz="1800" dirty="0" smtClean="0"/>
                  <a:t>上述映射是可逆的</a:t>
                </a:r>
                <a:endParaRPr lang="en-US" altLang="zh-CN" sz="1800" dirty="0" smtClean="0"/>
              </a:p>
              <a:p>
                <a:pPr lvl="1">
                  <a:buClr>
                    <a:srgbClr val="94003F"/>
                  </a:buClr>
                </a:pPr>
                <a:endParaRPr lang="en-US" altLang="zh-CN" sz="1800" dirty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600" dirty="0" smtClean="0"/>
                  <a:t>特点：</a:t>
                </a:r>
                <a:endParaRPr lang="en-US" altLang="zh-CN" sz="26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/>
                  <a:t>很容易</a:t>
                </a:r>
                <a:r>
                  <a:rPr lang="zh-CN" altLang="en-US" sz="1600" dirty="0" smtClean="0"/>
                  <a:t>应用</a:t>
                </a:r>
                <a:endParaRPr lang="en-US" altLang="zh-CN" sz="1600" dirty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/>
                  <a:t>没有考虑曲面的</a:t>
                </a:r>
                <a:r>
                  <a:rPr lang="zh-CN" altLang="en-US" sz="1600" dirty="0" smtClean="0"/>
                  <a:t>弯曲</a:t>
                </a:r>
                <a:endParaRPr lang="en-US" altLang="zh-CN" sz="1600" dirty="0" smtClean="0"/>
              </a:p>
              <a:p>
                <a:pPr lvl="2">
                  <a:buClr>
                    <a:srgbClr val="94003F"/>
                  </a:buClr>
                </a:pPr>
                <a:r>
                  <a:rPr lang="zh-CN" altLang="en-US" sz="1600" dirty="0" smtClean="0"/>
                  <a:t>纹理</a:t>
                </a:r>
                <a:r>
                  <a:rPr lang="zh-CN" altLang="en-US" sz="1600" dirty="0"/>
                  <a:t>中不同方向进行了不同拉伸</a:t>
                </a:r>
                <a:endParaRPr lang="en-US" altLang="zh-CN" sz="1600" dirty="0"/>
              </a:p>
              <a:p>
                <a:pPr lvl="1">
                  <a:buClr>
                    <a:srgbClr val="94003F"/>
                  </a:buClr>
                </a:pPr>
                <a:endParaRPr lang="en-US" altLang="zh-CN" sz="18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1"/>
                <a:ext cx="7886700" cy="4888026"/>
              </a:xfrm>
              <a:blipFill rotWithShape="0">
                <a:blip r:embed="rId3"/>
                <a:stretch>
                  <a:fillRect l="-464" t="-1746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8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两步映射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993481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解决映射问题的另外一种方法：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首先把纹理映射到一个简单的中间曲面， 例如：映射到圆柱上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再从</a:t>
            </a:r>
            <a:r>
              <a:rPr lang="zh-CN" altLang="en-US" sz="1800" dirty="0"/>
              <a:t>中间对象</a:t>
            </a:r>
            <a:r>
              <a:rPr lang="zh-CN" altLang="en-US" sz="1800" dirty="0" smtClean="0"/>
              <a:t>到实际对象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映射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从实际对象的法向到中间形状</a:t>
            </a:r>
            <a:endParaRPr lang="en-US" altLang="zh-CN" sz="1600" dirty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从</a:t>
            </a:r>
            <a:r>
              <a:rPr lang="zh-CN" altLang="en-US" sz="1600" dirty="0"/>
              <a:t>中间形状的法向到实际</a:t>
            </a:r>
            <a:r>
              <a:rPr lang="zh-CN" altLang="en-US" sz="1600" dirty="0" smtClean="0"/>
              <a:t>对象</a:t>
            </a:r>
            <a:endParaRPr lang="en-US" altLang="zh-CN" sz="16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从中间形状的中心开始的向量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30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13102"/>
          <a:stretch/>
        </p:blipFill>
        <p:spPr>
          <a:xfrm>
            <a:off x="1550442" y="2182566"/>
            <a:ext cx="3227366" cy="2102563"/>
          </a:xfrm>
          <a:prstGeom prst="rect">
            <a:avLst/>
          </a:prstGeom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7589" y="4381630"/>
            <a:ext cx="4140822" cy="22220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55298" y="438163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 smtClean="0"/>
              <a:t>中间对象</a:t>
            </a:r>
            <a:endParaRPr lang="en-US" sz="1600" b="1" dirty="0"/>
          </a:p>
        </p:txBody>
      </p:sp>
      <p:pic>
        <p:nvPicPr>
          <p:cNvPr id="9" name="Picture 6" descr="TXIM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3" r="27995" b="17647"/>
          <a:stretch>
            <a:fillRect/>
          </a:stretch>
        </p:blipFill>
        <p:spPr bwMode="auto">
          <a:xfrm>
            <a:off x="6355298" y="2363448"/>
            <a:ext cx="1295089" cy="1606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159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复杂表面参数化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pic>
        <p:nvPicPr>
          <p:cNvPr id="2050" name="Picture 2" descr="https://pic4.zhimg.com/v2-052254f217e1deb1515a66da3dee11af_r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67" r="19147"/>
          <a:stretch/>
        </p:blipFill>
        <p:spPr bwMode="auto">
          <a:xfrm>
            <a:off x="1160148" y="1322138"/>
            <a:ext cx="5880133" cy="377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1160148" y="5396808"/>
            <a:ext cx="651086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图形学基础 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-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纹理 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-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纹理映射流程 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-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杨鼎超的文章 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- 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知乎 </a:t>
            </a:r>
            <a:endParaRPr lang="en-US" altLang="zh-CN" dirty="0" smtClean="0">
              <a:solidFill>
                <a:srgbClr val="121212"/>
              </a:solidFill>
              <a:latin typeface="-apple-system"/>
            </a:endParaRPr>
          </a:p>
          <a:p>
            <a:r>
              <a:rPr lang="en-US" altLang="zh-CN" dirty="0" smtClean="0">
                <a:solidFill>
                  <a:srgbClr val="121212"/>
                </a:solidFill>
                <a:latin typeface="-apple-system"/>
                <a:hlinkClick r:id="rId3"/>
              </a:rPr>
              <a:t>https</a:t>
            </a:r>
            <a:r>
              <a:rPr lang="en-US" altLang="zh-CN" dirty="0">
                <a:solidFill>
                  <a:srgbClr val="121212"/>
                </a:solidFill>
                <a:latin typeface="-apple-system"/>
                <a:hlinkClick r:id="rId3"/>
              </a:rPr>
              <a:t>://</a:t>
            </a:r>
            <a:r>
              <a:rPr lang="en-US" altLang="zh-CN" dirty="0" smtClean="0">
                <a:solidFill>
                  <a:srgbClr val="121212"/>
                </a:solidFill>
                <a:latin typeface="-apple-system"/>
                <a:hlinkClick r:id="rId3"/>
              </a:rPr>
              <a:t>zhuanlan.zhihu.com/p/369977849</a:t>
            </a:r>
            <a:endParaRPr lang="en-US" altLang="zh-CN" dirty="0" smtClean="0">
              <a:solidFill>
                <a:srgbClr val="121212"/>
              </a:solidFill>
              <a:latin typeface="-apple-system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9952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16621" y="3364107"/>
            <a:ext cx="4354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OpenGL</a:t>
            </a:r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的纹理映射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3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473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OpenGL</a:t>
            </a:r>
            <a:r>
              <a:rPr lang="zh-CN" altLang="en-US" dirty="0" smtClean="0"/>
              <a:t>与纹理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en-US" altLang="zh-CN" sz="2400" dirty="0" smtClean="0"/>
              <a:t>OpenGL</a:t>
            </a:r>
            <a:r>
              <a:rPr lang="zh-CN" altLang="en-US" sz="2400" dirty="0" smtClean="0"/>
              <a:t>支持许多纹理映射选项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 smtClean="0"/>
              <a:t>OpenGL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1.0</a:t>
            </a:r>
            <a:r>
              <a:rPr lang="zh-CN" altLang="en-US" sz="1600" dirty="0" smtClean="0"/>
              <a:t>能将一维和二维纹理映射到一维至四维的图形对象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现在的版本提供了三</a:t>
            </a:r>
            <a:r>
              <a:rPr lang="zh-CN" altLang="en-US" sz="1600" dirty="0"/>
              <a:t>维</a:t>
            </a:r>
            <a:r>
              <a:rPr lang="zh-CN" altLang="en-US" sz="1600" dirty="0" smtClean="0"/>
              <a:t>纹理映射，且得到大部分图形硬件的支持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本节只讨论从</a:t>
            </a:r>
            <a:r>
              <a:rPr lang="zh-CN" altLang="en-US" sz="2400" dirty="0" smtClean="0">
                <a:solidFill>
                  <a:srgbClr val="0000FF"/>
                </a:solidFill>
              </a:rPr>
              <a:t>二维纹理</a:t>
            </a:r>
            <a:r>
              <a:rPr lang="zh-CN" altLang="en-US" sz="2400" dirty="0" smtClean="0"/>
              <a:t>到</a:t>
            </a:r>
            <a:r>
              <a:rPr lang="zh-CN" altLang="en-US" sz="2400" dirty="0" smtClean="0">
                <a:solidFill>
                  <a:srgbClr val="0000FF"/>
                </a:solidFill>
              </a:rPr>
              <a:t>曲面</a:t>
            </a:r>
            <a:r>
              <a:rPr lang="zh-CN" altLang="en-US" sz="2400" dirty="0" smtClean="0"/>
              <a:t>的映射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图像与几何分别经过不同的流水线，在片元处理中汇合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复杂纹理并不影响几何的</a:t>
            </a:r>
            <a:r>
              <a:rPr lang="zh-CN" altLang="en-US" sz="1800" dirty="0" smtClean="0"/>
              <a:t>复杂性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非常有效，因为在经过所有的操作后，减少了许多不必要的映射</a:t>
            </a:r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>
              <a:buClr>
                <a:srgbClr val="94003F"/>
              </a:buClr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33</a:t>
            </a:fld>
            <a:endParaRPr lang="zh-CN" altLang="en-US"/>
          </a:p>
        </p:txBody>
      </p:sp>
      <p:grpSp>
        <p:nvGrpSpPr>
          <p:cNvPr id="5" name="组合 40"/>
          <p:cNvGrpSpPr/>
          <p:nvPr/>
        </p:nvGrpSpPr>
        <p:grpSpPr>
          <a:xfrm>
            <a:off x="992416" y="4029368"/>
            <a:ext cx="7159167" cy="1930741"/>
            <a:chOff x="432754" y="3424328"/>
            <a:chExt cx="7884855" cy="2126450"/>
          </a:xfrm>
        </p:grpSpPr>
        <p:sp>
          <p:nvSpPr>
            <p:cNvPr id="6" name="矩形 5"/>
            <p:cNvSpPr/>
            <p:nvPr/>
          </p:nvSpPr>
          <p:spPr>
            <a:xfrm>
              <a:off x="1404376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几何处理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226831" y="343057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光栅化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049286" y="3430577"/>
              <a:ext cx="1445868" cy="80083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片元处理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71741" y="3424328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帧缓存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32754" y="367140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顶点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1" name="直接箭头连接符 24"/>
            <p:cNvCxnSpPr/>
            <p:nvPr/>
          </p:nvCxnSpPr>
          <p:spPr>
            <a:xfrm flipV="1">
              <a:off x="1036506" y="381632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接箭头连接符 25"/>
            <p:cNvCxnSpPr/>
            <p:nvPr/>
          </p:nvCxnSpPr>
          <p:spPr>
            <a:xfrm>
              <a:off x="285896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26"/>
            <p:cNvCxnSpPr/>
            <p:nvPr/>
          </p:nvCxnSpPr>
          <p:spPr>
            <a:xfrm>
              <a:off x="4681416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接箭头连接符 27"/>
            <p:cNvCxnSpPr/>
            <p:nvPr/>
          </p:nvCxnSpPr>
          <p:spPr>
            <a:xfrm>
              <a:off x="6503871" y="3816325"/>
              <a:ext cx="3765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矩形 28"/>
            <p:cNvSpPr/>
            <p:nvPr/>
          </p:nvSpPr>
          <p:spPr>
            <a:xfrm>
              <a:off x="1413093" y="4749947"/>
              <a:ext cx="1445868" cy="80083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像素处理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6" name="文本框 29"/>
            <p:cNvSpPr txBox="1"/>
            <p:nvPr/>
          </p:nvSpPr>
          <p:spPr>
            <a:xfrm>
              <a:off x="441471" y="499077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华文楷体" panose="02010600040101010101" pitchFamily="2" charset="-122"/>
                  <a:ea typeface="华文楷体" panose="02010600040101010101" pitchFamily="2" charset="-122"/>
                </a:rPr>
                <a:t>像素</a:t>
              </a:r>
              <a:endParaRPr lang="zh-CN" altLang="en-US" sz="1600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cxnSp>
          <p:nvCxnSpPr>
            <p:cNvPr id="17" name="直接箭头连接符 30"/>
            <p:cNvCxnSpPr/>
            <p:nvPr/>
          </p:nvCxnSpPr>
          <p:spPr>
            <a:xfrm flipV="1">
              <a:off x="1045223" y="5135695"/>
              <a:ext cx="376587" cy="1810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连接符 32"/>
            <p:cNvCxnSpPr/>
            <p:nvPr/>
          </p:nvCxnSpPr>
          <p:spPr>
            <a:xfrm>
              <a:off x="2858961" y="5150363"/>
              <a:ext cx="2257784" cy="1466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33"/>
            <p:cNvCxnSpPr>
              <a:endCxn id="11" idx="2"/>
            </p:cNvCxnSpPr>
            <p:nvPr/>
          </p:nvCxnSpPr>
          <p:spPr>
            <a:xfrm flipV="1">
              <a:off x="5116745" y="4231408"/>
              <a:ext cx="655475" cy="93362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Rectangle 19"/>
          <p:cNvSpPr/>
          <p:nvPr/>
        </p:nvSpPr>
        <p:spPr>
          <a:xfrm>
            <a:off x="3291794" y="5960109"/>
            <a:ext cx="285206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像素流水线和几何绘制流水线</a:t>
            </a:r>
            <a:endParaRPr lang="en-US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59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应用纹理需要下面三个基本步骤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指定纹理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创建纹理对象</a:t>
            </a:r>
            <a:endParaRPr lang="en-US" altLang="zh-CN" sz="1600" dirty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读入或生成纹理图像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建立纹理映射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将</a:t>
            </a:r>
            <a:r>
              <a:rPr lang="zh-CN" altLang="en-US" sz="1600" dirty="0"/>
              <a:t>纹理坐标赋给每个片元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将纹理施加给每个片元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点采样，线性滤波</a:t>
            </a:r>
            <a:r>
              <a:rPr lang="mr-IN" altLang="zh-CN" sz="1600" dirty="0" smtClean="0"/>
              <a:t>…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34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271" y="1429458"/>
            <a:ext cx="2270532" cy="39033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81485" y="5362893"/>
            <a:ext cx="435351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纹理（下方）是</a:t>
            </a:r>
            <a:r>
              <a:rPr lang="en-US" altLang="zh-CN" sz="1600" dirty="0">
                <a:latin typeface="Microsoft YaHei" charset="-122"/>
                <a:ea typeface="Microsoft YaHei" charset="-122"/>
                <a:cs typeface="Microsoft YaHei" charset="-122"/>
              </a:rPr>
              <a:t>256×256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的图像，它被映射到一</a:t>
            </a:r>
            <a:r>
              <a:rPr lang="zh-CN" altLang="en-US" sz="1600" dirty="0" smtClean="0">
                <a:latin typeface="Microsoft YaHei" charset="-122"/>
                <a:ea typeface="Microsoft YaHei" charset="-122"/>
                <a:cs typeface="Microsoft YaHei" charset="-122"/>
              </a:rPr>
              <a:t>个矩形</a:t>
            </a:r>
            <a:r>
              <a:rPr lang="zh-CN" altLang="en-US" sz="1600" dirty="0">
                <a:latin typeface="Microsoft YaHei" charset="-122"/>
                <a:ea typeface="Microsoft YaHei" charset="-122"/>
                <a:cs typeface="Microsoft YaHei" charset="-122"/>
              </a:rPr>
              <a:t>上，经透视投影后的结果显示在上方</a:t>
            </a:r>
            <a:endParaRPr lang="en-US" altLang="zh-CN" sz="1600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2520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创建纹理对象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调用</a:t>
            </a:r>
            <a:r>
              <a:rPr lang="en-US" altLang="zh-CN" sz="2400" dirty="0" err="1" smtClean="0"/>
              <a:t>glGenTextures</a:t>
            </a:r>
            <a:r>
              <a:rPr lang="zh-CN" altLang="en-US" sz="2400" dirty="0" smtClean="0"/>
              <a:t>获得一些未使用过的标识符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使用</a:t>
            </a:r>
            <a:r>
              <a:rPr lang="en-US" altLang="zh-CN" sz="2400" dirty="0" err="1" smtClean="0"/>
              <a:t>glBindTexture</a:t>
            </a:r>
            <a:r>
              <a:rPr lang="zh-CN" altLang="en-US" sz="2400" dirty="0" smtClean="0"/>
              <a:t>生成一个新的纹理对象</a:t>
            </a:r>
            <a:endParaRPr lang="en-US" altLang="zh-CN" sz="2400" dirty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 smtClean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 smtClean="0"/>
          </a:p>
          <a:p>
            <a:pPr marL="457200" lvl="1" indent="0">
              <a:buClr>
                <a:srgbClr val="94003F"/>
              </a:buClr>
              <a:buNone/>
            </a:pPr>
            <a:endParaRPr lang="en-US" altLang="zh-CN" sz="1600" dirty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可使用</a:t>
            </a:r>
            <a:r>
              <a:rPr lang="en-US" altLang="zh-CN" sz="2400" dirty="0" err="1" smtClean="0"/>
              <a:t>glDeleteTextures</a:t>
            </a:r>
            <a:r>
              <a:rPr lang="zh-CN" altLang="en-US" sz="2400" dirty="0" smtClean="0"/>
              <a:t>删除不再使用的对象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149532" y="3724597"/>
            <a:ext cx="376464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glBindTexture</a:t>
            </a:r>
            <a:r>
              <a:rPr lang="en-US" altLang="zh-CN" sz="1600" dirty="0"/>
              <a:t>(GL_TEXTURE_2D,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[0</a:t>
            </a:r>
            <a:r>
              <a:rPr lang="en-US" altLang="zh-CN" sz="1600" dirty="0" smtClean="0"/>
              <a:t>]);</a:t>
            </a:r>
            <a:endParaRPr lang="en-US" altLang="zh-CN" sz="1600" dirty="0"/>
          </a:p>
        </p:txBody>
      </p:sp>
      <p:sp>
        <p:nvSpPr>
          <p:cNvPr id="7" name="矩形 6"/>
          <p:cNvSpPr/>
          <p:nvPr/>
        </p:nvSpPr>
        <p:spPr>
          <a:xfrm>
            <a:off x="1149532" y="1873359"/>
            <a:ext cx="2625815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Gluint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[1];</a:t>
            </a:r>
          </a:p>
          <a:p>
            <a:pPr>
              <a:buClr>
                <a:srgbClr val="94003F"/>
              </a:buClr>
            </a:pPr>
            <a:r>
              <a:rPr lang="en-US" altLang="zh-CN" sz="1600" b="1" dirty="0" err="1"/>
              <a:t>glGenTextures</a:t>
            </a:r>
            <a:r>
              <a:rPr lang="en-US" altLang="zh-CN" sz="1600" dirty="0"/>
              <a:t>(1, </a:t>
            </a:r>
            <a:r>
              <a:rPr lang="en-US" altLang="zh-CN" sz="1600" dirty="0" err="1"/>
              <a:t>mytex</a:t>
            </a:r>
            <a:r>
              <a:rPr lang="en-US" altLang="zh-CN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446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指定纹理图像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利用</a:t>
            </a:r>
            <a:r>
              <a:rPr lang="en-US" altLang="zh-CN" sz="2400" dirty="0" smtClean="0"/>
              <a:t>CPU</a:t>
            </a:r>
            <a:r>
              <a:rPr lang="zh-CN" altLang="en-US" sz="2400" dirty="0" smtClean="0"/>
              <a:t>内存中的纹理元素数组定义纹理图像</a:t>
            </a:r>
            <a:endParaRPr lang="en-US" altLang="zh-CN" sz="16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  <a:p>
            <a:pPr lvl="1">
              <a:buClr>
                <a:srgbClr val="94003F"/>
              </a:buClr>
            </a:pP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zh-CN" altLang="en-US" sz="2200" dirty="0" smtClean="0"/>
              <a:t>指定二维纹理</a:t>
            </a:r>
            <a:endParaRPr lang="en-US" altLang="zh-CN" sz="2200" dirty="0" smtClean="0"/>
          </a:p>
          <a:p>
            <a:pPr lvl="1">
              <a:buClr>
                <a:srgbClr val="94003F"/>
              </a:buClr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36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135017" y="1837073"/>
            <a:ext cx="3069430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>
                <a:solidFill>
                  <a:srgbClr val="0000FF"/>
                </a:solidFill>
              </a:rPr>
              <a:t>Glubyte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my_texels</a:t>
            </a:r>
            <a:r>
              <a:rPr lang="en-US" altLang="zh-CN" sz="1600" dirty="0"/>
              <a:t>[512][</a:t>
            </a:r>
            <a:r>
              <a:rPr lang="en-US" altLang="zh-CN" sz="1600" dirty="0" smtClean="0"/>
              <a:t>512][3];</a:t>
            </a:r>
            <a:endParaRPr lang="en-US" altLang="zh-CN" sz="1600" dirty="0"/>
          </a:p>
        </p:txBody>
      </p:sp>
      <p:sp>
        <p:nvSpPr>
          <p:cNvPr id="6" name="矩形 6"/>
          <p:cNvSpPr/>
          <p:nvPr/>
        </p:nvSpPr>
        <p:spPr>
          <a:xfrm>
            <a:off x="1135017" y="3554665"/>
            <a:ext cx="7137446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(target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level,</a:t>
            </a:r>
            <a:r>
              <a:rPr lang="zh-CN" altLang="en-US" sz="1600" dirty="0" smtClean="0"/>
              <a:t> </a:t>
            </a:r>
            <a:r>
              <a:rPr lang="en-US" altLang="zh-CN" sz="1600" dirty="0" err="1" smtClean="0"/>
              <a:t>iformat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w,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h,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border, </a:t>
            </a:r>
            <a:r>
              <a:rPr lang="en-US" altLang="zh-CN" sz="1600" dirty="0"/>
              <a:t>format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type,</a:t>
            </a:r>
            <a:r>
              <a:rPr lang="zh-CN" altLang="en-US" sz="1600" dirty="0" smtClean="0"/>
              <a:t> </a:t>
            </a:r>
            <a:r>
              <a:rPr lang="en-US" altLang="zh-CN" sz="1600" dirty="0" err="1" smtClean="0"/>
              <a:t>texels</a:t>
            </a:r>
            <a:r>
              <a:rPr lang="en-US" altLang="zh-CN" sz="1600" dirty="0"/>
              <a:t>) ;</a:t>
            </a:r>
          </a:p>
        </p:txBody>
      </p:sp>
      <p:sp>
        <p:nvSpPr>
          <p:cNvPr id="8" name="矩形 6"/>
          <p:cNvSpPr/>
          <p:nvPr/>
        </p:nvSpPr>
        <p:spPr>
          <a:xfrm>
            <a:off x="2938628" y="2695869"/>
            <a:ext cx="5333835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 algn="r">
              <a:buClr>
                <a:srgbClr val="94003F"/>
              </a:buClr>
            </a:pPr>
            <a:r>
              <a:rPr lang="en-US" altLang="zh-CN" sz="1600" b="1" dirty="0" smtClean="0"/>
              <a:t>glTexImage2D</a:t>
            </a:r>
            <a:r>
              <a:rPr lang="en-US" altLang="zh-CN" sz="1600" dirty="0" smtClean="0"/>
              <a:t>(GL_TEXTURE_2D,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0,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GL_RGB,</a:t>
            </a:r>
            <a:r>
              <a:rPr lang="zh-CN" altLang="en-US" sz="1600" dirty="0" smtClean="0"/>
              <a:t>  </a:t>
            </a:r>
            <a:r>
              <a:rPr lang="en-US" altLang="zh-CN" sz="1600" dirty="0" smtClean="0"/>
              <a:t>512,</a:t>
            </a:r>
            <a:r>
              <a:rPr lang="zh-CN" altLang="en-US" sz="1600" dirty="0" smtClean="0"/>
              <a:t>  </a:t>
            </a:r>
            <a:r>
              <a:rPr lang="en-US" altLang="zh-CN" sz="1600" dirty="0" smtClean="0"/>
              <a:t>512,</a:t>
            </a:r>
            <a:r>
              <a:rPr lang="zh-CN" altLang="en-US" sz="1600" dirty="0" smtClean="0"/>
              <a:t>  </a:t>
            </a:r>
            <a:r>
              <a:rPr lang="en-US" altLang="zh-CN" sz="1600" dirty="0" smtClean="0"/>
              <a:t>0,</a:t>
            </a:r>
            <a:r>
              <a:rPr lang="zh-CN" altLang="en-US" sz="1600" dirty="0" smtClean="0"/>
              <a:t>                        </a:t>
            </a:r>
            <a:r>
              <a:rPr lang="en-US" altLang="zh-CN" sz="1600" dirty="0" smtClean="0"/>
              <a:t>GL_RGB,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GL_UNSIGNED_BYTE,</a:t>
            </a:r>
            <a:r>
              <a:rPr lang="zh-CN" altLang="en-US" sz="1600" dirty="0" smtClean="0"/>
              <a:t> </a:t>
            </a:r>
            <a:r>
              <a:rPr lang="en-US" altLang="zh-CN" sz="1600" dirty="0" err="1" smtClean="0"/>
              <a:t>my_texels</a:t>
            </a:r>
            <a:r>
              <a:rPr lang="en-US" altLang="zh-CN" sz="1600" dirty="0"/>
              <a:t>) </a:t>
            </a:r>
            <a:r>
              <a:rPr lang="en-US" altLang="zh-CN" sz="1600" dirty="0" smtClean="0"/>
              <a:t>;</a:t>
            </a:r>
            <a:r>
              <a:rPr lang="zh-CN" altLang="en-US" sz="1600" dirty="0" smtClean="0"/>
              <a:t> </a:t>
            </a:r>
            <a:endParaRPr lang="en-US" altLang="zh-CN" sz="1600" dirty="0"/>
          </a:p>
        </p:txBody>
      </p:sp>
      <p:sp>
        <p:nvSpPr>
          <p:cNvPr id="9" name="矩形 6"/>
          <p:cNvSpPr/>
          <p:nvPr/>
        </p:nvSpPr>
        <p:spPr>
          <a:xfrm>
            <a:off x="1135017" y="3936344"/>
            <a:ext cx="7137446" cy="1815882"/>
          </a:xfrm>
          <a:prstGeom prst="rect">
            <a:avLst/>
          </a:prstGeom>
          <a:solidFill>
            <a:schemeClr val="accent2">
              <a:lumMod val="20000"/>
              <a:lumOff val="80000"/>
              <a:alpha val="52941"/>
            </a:scheme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/>
              <a:t>target: </a:t>
            </a:r>
            <a:r>
              <a:rPr lang="zh-CN" altLang="en-US" sz="1600" dirty="0"/>
              <a:t>纹理的</a:t>
            </a:r>
            <a:r>
              <a:rPr lang="zh-CN" altLang="en-US" sz="1600" dirty="0" smtClean="0"/>
              <a:t>类型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 smtClean="0"/>
              <a:t>level</a:t>
            </a:r>
            <a:r>
              <a:rPr lang="en-US" altLang="zh-CN" sz="1600" dirty="0"/>
              <a:t>: </a:t>
            </a:r>
            <a:r>
              <a:rPr lang="zh-CN" altLang="en-US" sz="1600" dirty="0"/>
              <a:t>用于</a:t>
            </a:r>
            <a:r>
              <a:rPr lang="en-US" altLang="zh-CN" sz="1600" dirty="0" err="1" smtClean="0"/>
              <a:t>mipmapping</a:t>
            </a:r>
            <a:r>
              <a:rPr lang="zh-CN" altLang="en-US" sz="1600" dirty="0" smtClean="0"/>
              <a:t>映射，是否使用多分辨率纹理</a:t>
            </a:r>
            <a:r>
              <a:rPr lang="en-US" altLang="zh-CN" sz="1600" dirty="0" smtClean="0"/>
              <a:t>(</a:t>
            </a:r>
            <a:r>
              <a:rPr lang="zh-CN" altLang="en-US" sz="1600" dirty="0"/>
              <a:t>稍后讨论</a:t>
            </a:r>
            <a:r>
              <a:rPr lang="en-US" altLang="zh-CN" sz="1600" dirty="0" smtClean="0"/>
              <a:t>)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 err="1" smtClean="0"/>
              <a:t>iformat</a:t>
            </a:r>
            <a:r>
              <a:rPr lang="en-US" altLang="zh-CN" sz="1600" dirty="0" smtClean="0"/>
              <a:t>: </a:t>
            </a:r>
            <a:r>
              <a:rPr lang="zh-CN" altLang="en-US" sz="1600" dirty="0" smtClean="0"/>
              <a:t>纹理在纹理内存中的存储方式</a:t>
            </a:r>
            <a:endParaRPr lang="zh-CN" altLang="en-US" sz="1600" dirty="0"/>
          </a:p>
          <a:p>
            <a:pPr>
              <a:buClr>
                <a:srgbClr val="94003F"/>
              </a:buClr>
            </a:pPr>
            <a:r>
              <a:rPr lang="en-US" altLang="zh-CN" sz="1600" dirty="0" err="1" smtClean="0"/>
              <a:t>w,h</a:t>
            </a:r>
            <a:r>
              <a:rPr lang="en-US" altLang="zh-CN" sz="1600" dirty="0"/>
              <a:t>: </a:t>
            </a:r>
            <a:r>
              <a:rPr lang="zh-CN" altLang="en-US" sz="1600" dirty="0" smtClean="0"/>
              <a:t>内存中纹理图像的大小</a:t>
            </a:r>
            <a:endParaRPr lang="zh-CN" altLang="en-US" sz="1600" dirty="0"/>
          </a:p>
          <a:p>
            <a:pPr>
              <a:buClr>
                <a:srgbClr val="94003F"/>
              </a:buClr>
            </a:pPr>
            <a:r>
              <a:rPr lang="en-US" altLang="zh-CN" sz="1600" dirty="0" smtClean="0"/>
              <a:t>border</a:t>
            </a:r>
            <a:r>
              <a:rPr lang="en-US" altLang="zh-CN" sz="1600" dirty="0"/>
              <a:t>: </a:t>
            </a:r>
            <a:r>
              <a:rPr lang="zh-CN" altLang="en-US" sz="1600" dirty="0"/>
              <a:t>用于光滑</a:t>
            </a:r>
            <a:r>
              <a:rPr lang="zh-CN" altLang="en-US" sz="1600" dirty="0" smtClean="0"/>
              <a:t>处理，不再使用，通常设置为</a:t>
            </a:r>
            <a:r>
              <a:rPr lang="en-US" altLang="zh-CN" sz="1600" dirty="0" smtClean="0"/>
              <a:t>0</a:t>
            </a:r>
            <a:endParaRPr lang="en-US" altLang="zh-CN" sz="1600" dirty="0"/>
          </a:p>
          <a:p>
            <a:pPr>
              <a:buClr>
                <a:srgbClr val="94003F"/>
              </a:buClr>
            </a:pPr>
            <a:r>
              <a:rPr lang="en-US" altLang="zh-CN" sz="1600" dirty="0" smtClean="0"/>
              <a:t>format</a:t>
            </a:r>
            <a:r>
              <a:rPr lang="zh-CN" altLang="en-US" sz="1600" dirty="0"/>
              <a:t>与</a:t>
            </a:r>
            <a:r>
              <a:rPr lang="en-US" altLang="zh-CN" sz="1600" dirty="0"/>
              <a:t>type: </a:t>
            </a:r>
            <a:r>
              <a:rPr lang="zh-CN" altLang="en-US" sz="1600" dirty="0" smtClean="0"/>
              <a:t>描述图像的像素在处理器内存中的存储方式</a:t>
            </a:r>
            <a:endParaRPr lang="en-US" altLang="zh-CN" sz="1600" dirty="0" smtClean="0"/>
          </a:p>
          <a:p>
            <a:pPr>
              <a:buClr>
                <a:srgbClr val="94003F"/>
              </a:buClr>
            </a:pPr>
            <a:r>
              <a:rPr lang="en-US" altLang="zh-CN" sz="1600" dirty="0" err="1" smtClean="0"/>
              <a:t>texels</a:t>
            </a:r>
            <a:r>
              <a:rPr lang="en-US" altLang="zh-CN" sz="1600" dirty="0"/>
              <a:t>: </a:t>
            </a:r>
            <a:r>
              <a:rPr lang="zh-CN" altLang="en-US" sz="1600" dirty="0"/>
              <a:t>指向纹理元素数组的指针</a:t>
            </a:r>
          </a:p>
        </p:txBody>
      </p:sp>
    </p:spTree>
    <p:extLst>
      <p:ext uri="{BB962C8B-B14F-4D97-AF65-F5344CB8AC3E}">
        <p14:creationId xmlns:p14="http://schemas.microsoft.com/office/powerpoint/2010/main" val="1698577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纹理坐标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基于参数纹理坐标，把</a:t>
            </a:r>
            <a:r>
              <a:rPr lang="zh-CN" altLang="en-US" sz="2400" dirty="0"/>
              <a:t>纹理坐标作为顶点的属性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将纹理坐标传送到顶点着色器中，</a:t>
            </a:r>
            <a:r>
              <a:rPr lang="zh-CN" altLang="en-US" sz="2400" dirty="0">
                <a:solidFill>
                  <a:srgbClr val="0000FF"/>
                </a:solidFill>
              </a:rPr>
              <a:t>顶点纹理坐标经过光栅化模块的插值计算得到片元的纹理坐标</a:t>
            </a:r>
            <a:endParaRPr lang="en-US" altLang="zh-CN" sz="2400" dirty="0">
              <a:solidFill>
                <a:srgbClr val="0000FF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37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8" y="2594862"/>
            <a:ext cx="7583073" cy="360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92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插值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应用双线性插值从给定的纹理坐标中求出</a:t>
            </a:r>
            <a:r>
              <a:rPr lang="zh-CN" altLang="en-US" sz="2400" dirty="0" smtClean="0"/>
              <a:t>适当的</a:t>
            </a:r>
            <a:r>
              <a:rPr lang="zh-CN" altLang="en-US" sz="2400" dirty="0"/>
              <a:t>纹理</a:t>
            </a:r>
            <a:r>
              <a:rPr lang="zh-CN" altLang="en-US" sz="2400" dirty="0" smtClean="0"/>
              <a:t>元素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可以只应用纹理的</a:t>
            </a:r>
            <a:r>
              <a:rPr lang="zh-CN" altLang="en-US" sz="2400" dirty="0" smtClean="0"/>
              <a:t>一部分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方法是只应用纹理坐标的一部分，如最大纹理坐标为</a:t>
            </a:r>
            <a:r>
              <a:rPr lang="en-US" altLang="zh-CN" sz="1800" dirty="0"/>
              <a:t>(</a:t>
            </a:r>
            <a:r>
              <a:rPr lang="en-US" altLang="zh-CN" sz="1800" dirty="0" smtClean="0"/>
              <a:t>0.5,0.5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将棋盘纹理映射到一个四边形上：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38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931" y="3188345"/>
            <a:ext cx="6477414" cy="298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4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对于</a:t>
            </a:r>
            <a:r>
              <a:rPr lang="zh-CN" altLang="en-US" sz="2400" dirty="0"/>
              <a:t>一般的多边形</a:t>
            </a:r>
            <a:r>
              <a:rPr lang="zh-CN" altLang="en-US" sz="2400" dirty="0" smtClean="0"/>
              <a:t>，必须重新确定顶点的纹理坐标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使用同一纹理进行纹理映射，可能会出现变形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下图显示了是用不同纹理坐标的结果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梯形出现失真的情况是因为被当做两个三角形进行绘制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39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70" y="3260770"/>
            <a:ext cx="7402659" cy="2407399"/>
          </a:xfrm>
          <a:prstGeom prst="rect">
            <a:avLst/>
          </a:prstGeom>
        </p:spPr>
      </p:pic>
      <p:pic>
        <p:nvPicPr>
          <p:cNvPr id="7" name="图片 4"/>
          <p:cNvPicPr>
            <a:picLocks noChangeAspect="1"/>
          </p:cNvPicPr>
          <p:nvPr/>
        </p:nvPicPr>
        <p:blipFill rotWithShape="1">
          <a:blip r:embed="rId3"/>
          <a:srcRect r="54835" b="11212"/>
          <a:stretch/>
        </p:blipFill>
        <p:spPr>
          <a:xfrm>
            <a:off x="7146967" y="1678266"/>
            <a:ext cx="1368383" cy="12384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07976" y="5889366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0000FF"/>
                </a:solidFill>
              </a:rPr>
              <a:t>分别采用了何种纹理映射？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35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纹理参数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7886700" cy="5379804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en-US" altLang="zh-CN" sz="2400" dirty="0"/>
              <a:t>OpenGL</a:t>
            </a:r>
            <a:r>
              <a:rPr lang="zh-CN" altLang="en-US" sz="2400" dirty="0"/>
              <a:t>中有许多办法确定纹理的使用</a:t>
            </a:r>
            <a:r>
              <a:rPr lang="zh-CN" altLang="en-US" sz="2400" dirty="0" smtClean="0"/>
              <a:t>方式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en-US" altLang="zh-CN" sz="1800" dirty="0">
                <a:solidFill>
                  <a:srgbClr val="0000FF"/>
                </a:solidFill>
              </a:rPr>
              <a:t>Wrapping</a:t>
            </a:r>
            <a:r>
              <a:rPr lang="zh-CN" altLang="en-US" sz="1800" dirty="0">
                <a:solidFill>
                  <a:srgbClr val="0000FF"/>
                </a:solidFill>
              </a:rPr>
              <a:t>参数</a:t>
            </a:r>
            <a:r>
              <a:rPr lang="zh-CN" altLang="en-US" sz="1800" dirty="0"/>
              <a:t>确定当</a:t>
            </a:r>
            <a:r>
              <a:rPr lang="en-US" altLang="zh-CN" sz="1800" dirty="0"/>
              <a:t>s, t</a:t>
            </a:r>
            <a:r>
              <a:rPr lang="zh-CN" altLang="en-US" sz="1800" dirty="0"/>
              <a:t>的值超出</a:t>
            </a:r>
            <a:r>
              <a:rPr lang="en-US" altLang="zh-CN" sz="1800" dirty="0"/>
              <a:t>[0,1]</a:t>
            </a:r>
            <a:r>
              <a:rPr lang="zh-CN" altLang="en-US" sz="1800" dirty="0"/>
              <a:t>区间后的处理</a:t>
            </a:r>
            <a:r>
              <a:rPr lang="zh-CN" altLang="en-US" sz="1800" dirty="0" smtClean="0"/>
              <a:t>方法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截断：若</a:t>
            </a:r>
            <a:r>
              <a:rPr lang="en-US" altLang="zh-CN" sz="1600" dirty="0"/>
              <a:t>s, t&gt;1</a:t>
            </a:r>
            <a:r>
              <a:rPr lang="zh-CN" altLang="en-US" sz="1600" dirty="0"/>
              <a:t>就取</a:t>
            </a:r>
            <a:r>
              <a:rPr lang="en-US" altLang="zh-CN" sz="1600" dirty="0"/>
              <a:t>1</a:t>
            </a:r>
            <a:r>
              <a:rPr lang="zh-CN" altLang="en-US" sz="1600" dirty="0"/>
              <a:t>，若</a:t>
            </a:r>
            <a:r>
              <a:rPr lang="en-US" altLang="zh-CN" sz="1600" dirty="0"/>
              <a:t>s, t&lt;0</a:t>
            </a:r>
            <a:r>
              <a:rPr lang="zh-CN" altLang="en-US" sz="1600" dirty="0"/>
              <a:t>就取</a:t>
            </a:r>
            <a:r>
              <a:rPr lang="en-US" altLang="zh-CN" sz="1600" dirty="0"/>
              <a:t>0</a:t>
            </a:r>
          </a:p>
          <a:p>
            <a:pPr lvl="2">
              <a:buClr>
                <a:srgbClr val="94003F"/>
              </a:buClr>
            </a:pPr>
            <a:r>
              <a:rPr lang="zh-CN" altLang="en-US" sz="1600" dirty="0"/>
              <a:t>重复：应用</a:t>
            </a:r>
            <a:r>
              <a:rPr lang="en-US" altLang="zh-CN" sz="1600" dirty="0"/>
              <a:t>s, t</a:t>
            </a:r>
            <a:r>
              <a:rPr lang="zh-CN" altLang="en-US" sz="1600" dirty="0"/>
              <a:t>模</a:t>
            </a:r>
            <a:r>
              <a:rPr lang="en-US" altLang="zh-CN" sz="1600" dirty="0"/>
              <a:t>1</a:t>
            </a:r>
            <a:r>
              <a:rPr lang="zh-CN" altLang="en-US" sz="1600" dirty="0"/>
              <a:t>的</a:t>
            </a:r>
            <a:r>
              <a:rPr lang="zh-CN" altLang="en-US" sz="1600" dirty="0" smtClean="0"/>
              <a:t>值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en-US" altLang="zh-CN" sz="1800" dirty="0" smtClean="0">
                <a:solidFill>
                  <a:srgbClr val="0000FF"/>
                </a:solidFill>
              </a:rPr>
              <a:t>Filter</a:t>
            </a:r>
            <a:r>
              <a:rPr lang="zh-CN" altLang="en-US" sz="1800" dirty="0" smtClean="0">
                <a:solidFill>
                  <a:srgbClr val="0000FF"/>
                </a:solidFill>
              </a:rPr>
              <a:t>模式</a:t>
            </a:r>
            <a:r>
              <a:rPr lang="zh-CN" altLang="en-US" sz="1800" dirty="0" smtClean="0"/>
              <a:t>决定了以何种方式对纹理进行采样</a:t>
            </a:r>
            <a:endParaRPr lang="zh-CN" altLang="en-US" sz="1800" dirty="0"/>
          </a:p>
          <a:p>
            <a:pPr lvl="1">
              <a:buClr>
                <a:srgbClr val="94003F"/>
              </a:buClr>
            </a:pPr>
            <a:r>
              <a:rPr lang="en-US" altLang="zh-CN" sz="1800" dirty="0" err="1" smtClean="0">
                <a:solidFill>
                  <a:srgbClr val="0000FF"/>
                </a:solidFill>
              </a:rPr>
              <a:t>Mipmapping</a:t>
            </a:r>
            <a:r>
              <a:rPr lang="zh-CN" altLang="en-US" sz="1800" dirty="0">
                <a:solidFill>
                  <a:srgbClr val="0000FF"/>
                </a:solidFill>
              </a:rPr>
              <a:t>技术</a:t>
            </a:r>
            <a:r>
              <a:rPr lang="zh-CN" altLang="en-US" sz="1800" dirty="0"/>
              <a:t>使得能以不同的分辨率应用纹理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>
                <a:solidFill>
                  <a:srgbClr val="0000FF"/>
                </a:solidFill>
              </a:rPr>
              <a:t>绘制模式</a:t>
            </a:r>
            <a:r>
              <a:rPr lang="zh-CN" altLang="en-US" sz="1800" dirty="0" smtClean="0"/>
              <a:t>确定</a:t>
            </a:r>
            <a:r>
              <a:rPr lang="zh-CN" altLang="en-US" sz="1800" dirty="0"/>
              <a:t>纹理映射与明暗处理的交互</a:t>
            </a:r>
            <a:r>
              <a:rPr lang="zh-CN" altLang="en-US" sz="1800" dirty="0" smtClean="0"/>
              <a:t>作用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40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233801" y="2729025"/>
            <a:ext cx="639572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(GL_TEXTURE_2D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GL_TEXTURE_WRAP_S,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GL_CLAMP</a:t>
            </a:r>
            <a:r>
              <a:rPr lang="en-US" altLang="zh-CN" sz="1600" dirty="0"/>
              <a:t>)</a:t>
            </a:r>
          </a:p>
        </p:txBody>
      </p:sp>
      <p:sp>
        <p:nvSpPr>
          <p:cNvPr id="6" name="矩形 6"/>
          <p:cNvSpPr/>
          <p:nvPr/>
        </p:nvSpPr>
        <p:spPr>
          <a:xfrm>
            <a:off x="1233800" y="3144077"/>
            <a:ext cx="6395725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 smtClean="0"/>
              <a:t>glTexParameteri</a:t>
            </a:r>
            <a:r>
              <a:rPr lang="en-US" altLang="zh-CN" sz="1600" dirty="0" smtClean="0"/>
              <a:t>(GL_TEXTURE_2D,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GL_TEXTURE_WRAP_T,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GL_REPEAT</a:t>
            </a:r>
            <a:r>
              <a:rPr lang="en-US" altLang="zh-CN" sz="1600" dirty="0"/>
              <a:t>)</a:t>
            </a:r>
            <a:endParaRPr lang="en-US" altLang="zh-CN" sz="2600" dirty="0"/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581" y="3542567"/>
            <a:ext cx="5315780" cy="1874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41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纹理采样器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顶点着色器只关心纹理坐标，与纹理对象没有任何关系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只有在片元着色器中把颜色赋给片元是才需要用到纹理本身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将所有与纹理相关的东西关联起来的关键是一个称为</a:t>
            </a:r>
            <a:r>
              <a:rPr lang="zh-CN" altLang="en-US" sz="2400" dirty="0">
                <a:solidFill>
                  <a:srgbClr val="0000FF"/>
                </a:solidFill>
              </a:rPr>
              <a:t>采样器（</a:t>
            </a:r>
            <a:r>
              <a:rPr lang="en-US" altLang="zh-CN" sz="2400" dirty="0">
                <a:solidFill>
                  <a:srgbClr val="0000FF"/>
                </a:solidFill>
              </a:rPr>
              <a:t>sampler</a:t>
            </a:r>
            <a:r>
              <a:rPr lang="zh-CN" altLang="en-US" sz="2400" dirty="0">
                <a:solidFill>
                  <a:srgbClr val="0000FF"/>
                </a:solidFill>
              </a:rPr>
              <a:t>）</a:t>
            </a:r>
            <a:r>
              <a:rPr lang="zh-CN" altLang="en-US" sz="2400" dirty="0"/>
              <a:t>的新的变量</a:t>
            </a:r>
            <a:r>
              <a:rPr lang="zh-CN" altLang="en-US" sz="2400" dirty="0" smtClean="0"/>
              <a:t>类型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它</a:t>
            </a:r>
            <a:r>
              <a:rPr lang="zh-CN" altLang="en-US" sz="1800" dirty="0"/>
              <a:t>通常只出现在片元着色器</a:t>
            </a:r>
            <a:r>
              <a:rPr lang="zh-CN" altLang="en-US" sz="1800" dirty="0" smtClean="0"/>
              <a:t>中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通过采样器来访问纹理对象，包括它的所有参数</a:t>
            </a:r>
            <a:endParaRPr lang="en-US" altLang="zh-CN" sz="1800" dirty="0"/>
          </a:p>
          <a:p>
            <a:pPr>
              <a:buClr>
                <a:srgbClr val="94003F"/>
              </a:buClr>
            </a:pPr>
            <a:endParaRPr lang="en-US" altLang="zh-CN" sz="2400" b="1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采样器的类型说明了要访问的纹理类型：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一维纹理（</a:t>
            </a:r>
            <a:r>
              <a:rPr lang="en-US" altLang="zh-CN" sz="1800" dirty="0" smtClean="0"/>
              <a:t>sampler1D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二维</a:t>
            </a:r>
            <a:r>
              <a:rPr lang="zh-CN" altLang="en-US" sz="1800" dirty="0"/>
              <a:t>纹理（</a:t>
            </a:r>
            <a:r>
              <a:rPr lang="en-US" altLang="zh-CN" sz="1800" dirty="0" smtClean="0"/>
              <a:t>sampler2D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三维</a:t>
            </a:r>
            <a:r>
              <a:rPr lang="zh-CN" altLang="en-US" sz="1800" dirty="0"/>
              <a:t>纹理（</a:t>
            </a:r>
            <a:r>
              <a:rPr lang="en-US" altLang="zh-CN" sz="1800" dirty="0" smtClean="0"/>
              <a:t>sampler3D</a:t>
            </a:r>
            <a:r>
              <a:rPr lang="zh-CN" altLang="en-US" sz="1800" dirty="0" smtClean="0"/>
              <a:t>）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一些特殊的纹理类型，如立方体贴图纹理（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samplerCube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）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51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纹理采样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当把纹理坐标映射到纹素数组时，正好得到对应纹素的中心位置，这种情况很少出现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解决方法：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dirty="0" smtClean="0"/>
              <a:t>点采样</a:t>
            </a:r>
            <a:endParaRPr lang="en-US" altLang="zh-CN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找到一个纹素的位置，使其最佳逼近通过光栅化模块插值计算的纹理坐标</a:t>
            </a:r>
            <a:endParaRPr lang="en-US" altLang="zh-CN" sz="1600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容易产生走样误差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dirty="0" smtClean="0"/>
              <a:t>线性滤波</a:t>
            </a:r>
            <a:endParaRPr lang="en-US" altLang="zh-CN" dirty="0" smtClean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对最靠近它周围的一组纹素计算加权平均，并把该值作为纹理坐标映射到纹素数组时的纹素值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42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127" y="4445907"/>
            <a:ext cx="3504131" cy="204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81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t="15073" b="17150"/>
          <a:stretch/>
        </p:blipFill>
        <p:spPr>
          <a:xfrm>
            <a:off x="833625" y="2046515"/>
            <a:ext cx="7742579" cy="1948927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放大与缩小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可以是多个像素覆盖一个纹理元素（放大</a:t>
            </a:r>
            <a:r>
              <a:rPr lang="zh-CN" altLang="en-US" sz="2400" dirty="0" smtClean="0"/>
              <a:t>），</a:t>
            </a:r>
            <a:r>
              <a:rPr lang="zh-CN" altLang="en-US" sz="2400" dirty="0"/>
              <a:t>也</a:t>
            </a:r>
            <a:r>
              <a:rPr lang="zh-CN" altLang="en-US" sz="2400" dirty="0" smtClean="0"/>
              <a:t>可以</a:t>
            </a:r>
            <a:r>
              <a:rPr lang="zh-CN" altLang="en-US" sz="2400" dirty="0"/>
              <a:t>是多个纹理元素覆盖一个像素（缩小）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解决方法：</a:t>
            </a:r>
            <a:endParaRPr lang="en-US" altLang="zh-CN" sz="24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应用点采样（最近纹理元素）或者线性滤波（</a:t>
            </a:r>
            <a:r>
              <a:rPr lang="en-US" altLang="zh-CN" sz="1800" dirty="0" smtClean="0"/>
              <a:t>2x2</a:t>
            </a:r>
            <a:r>
              <a:rPr lang="zh-CN" altLang="en-US" sz="1800" dirty="0" smtClean="0"/>
              <a:t>滤波）得到纹理值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43</a:t>
            </a:fld>
            <a:endParaRPr lang="zh-CN" altLang="en-US" dirty="0">
              <a:solidFill>
                <a:prstClr val="black"/>
              </a:solidFill>
            </a:endParaRPr>
          </a:p>
        </p:txBody>
      </p:sp>
      <p:pic>
        <p:nvPicPr>
          <p:cNvPr id="7" name="图片 4"/>
          <p:cNvPicPr>
            <a:picLocks noChangeAspect="1"/>
          </p:cNvPicPr>
          <p:nvPr/>
        </p:nvPicPr>
        <p:blipFill rotWithShape="1">
          <a:blip r:embed="rId3"/>
          <a:srcRect t="10209" b="6470"/>
          <a:stretch/>
        </p:blipFill>
        <p:spPr>
          <a:xfrm>
            <a:off x="1896273" y="4808283"/>
            <a:ext cx="5617281" cy="1947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4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滤波模式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/>
                  <a:t>模式</a:t>
                </a:r>
                <a:r>
                  <a:rPr lang="zh-CN" altLang="en-US" sz="2400" dirty="0" smtClean="0"/>
                  <a:t>指定</a:t>
                </a:r>
                <a:endParaRPr lang="en-US" altLang="zh-CN" sz="24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 smtClean="0"/>
                  <a:t>点采样：</a:t>
                </a:r>
                <a:endParaRPr lang="en-US" altLang="zh-CN" sz="1600" dirty="0" smtClean="0"/>
              </a:p>
              <a:p>
                <a:pPr lvl="1">
                  <a:buClr>
                    <a:srgbClr val="94003F"/>
                  </a:buClr>
                </a:pPr>
                <a:endParaRPr lang="en-US" altLang="zh-CN" sz="1600" dirty="0"/>
              </a:p>
              <a:p>
                <a:pPr lvl="1">
                  <a:buClr>
                    <a:srgbClr val="94003F"/>
                  </a:buClr>
                </a:pPr>
                <a:endParaRPr lang="en-US" altLang="zh-CN" sz="1600" dirty="0" smtClean="0"/>
              </a:p>
              <a:p>
                <a:pPr lvl="1">
                  <a:buClr>
                    <a:srgbClr val="94003F"/>
                  </a:buClr>
                </a:pPr>
                <a:endParaRPr lang="en-US" altLang="zh-CN" sz="1600" dirty="0"/>
              </a:p>
              <a:p>
                <a:pPr lvl="1">
                  <a:buClr>
                    <a:srgbClr val="94003F"/>
                  </a:buClr>
                </a:pPr>
                <a:endParaRPr lang="en-US" altLang="zh-CN" sz="1600" dirty="0" smtClean="0"/>
              </a:p>
              <a:p>
                <a:pPr lvl="1">
                  <a:buClr>
                    <a:srgbClr val="94003F"/>
                  </a:buClr>
                </a:pPr>
                <a:r>
                  <a:rPr lang="zh-CN" altLang="en-US" sz="1600" dirty="0" smtClean="0"/>
                  <a:t>线性滤波： </a:t>
                </a:r>
                <a:r>
                  <a:rPr lang="en-US" altLang="zh-CN" sz="1600" dirty="0" smtClean="0"/>
                  <a:t>GL_NEAREST</a:t>
                </a:r>
                <a:r>
                  <a:rPr lang="zh-CN" altLang="en-US" sz="1600" dirty="0" smtClean="0"/>
                  <a:t> </a:t>
                </a:r>
                <a14:m>
                  <m:oMath xmlns:m="http://schemas.openxmlformats.org/officeDocument/2006/math">
                    <m:r>
                      <a:rPr lang="is-IS" altLang="zh-CN" sz="16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→</m:t>
                    </m:r>
                  </m:oMath>
                </a14:m>
                <a:r>
                  <a:rPr lang="zh-CN" altLang="en-US" sz="1600" dirty="0" smtClean="0"/>
                  <a:t> 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</a:rPr>
                  <a:t>GL_LINEAR</a:t>
                </a:r>
              </a:p>
              <a:p>
                <a:pPr marL="228600" lvl="1" indent="-360000">
                  <a:spcBef>
                    <a:spcPts val="1000"/>
                  </a:spcBef>
                  <a:buClr>
                    <a:srgbClr val="94003F"/>
                  </a:buClr>
                  <a:buSzPct val="70000"/>
                  <a:buFont typeface="Wingdings" panose="05000000000000000000" pitchFamily="2" charset="2"/>
                  <a:buChar char="u"/>
                </a:pPr>
                <a:endParaRPr lang="en-US" altLang="zh-CN" sz="24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44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153972" y="2109795"/>
            <a:ext cx="7284346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 (GL_TEXTURE_2D, GL_TEXTURE_</a:t>
            </a:r>
            <a:r>
              <a:rPr lang="en-US" altLang="zh-CN" sz="1600" dirty="0">
                <a:solidFill>
                  <a:srgbClr val="FF0000"/>
                </a:solidFill>
              </a:rPr>
              <a:t>MAG</a:t>
            </a:r>
            <a:r>
              <a:rPr lang="en-US" altLang="zh-CN" sz="1600" dirty="0"/>
              <a:t>_FILTER</a:t>
            </a:r>
            <a:r>
              <a:rPr lang="en-US" altLang="zh-CN" sz="1600" dirty="0" smtClean="0"/>
              <a:t>, </a:t>
            </a:r>
            <a:r>
              <a:rPr lang="en-US" altLang="zh-CN" sz="1600" dirty="0">
                <a:solidFill>
                  <a:srgbClr val="FF0000"/>
                </a:solidFill>
              </a:rPr>
              <a:t>GL_NEAREST</a:t>
            </a:r>
            <a:r>
              <a:rPr lang="en-US" altLang="zh-CN" sz="1600" dirty="0"/>
              <a:t>) ;</a:t>
            </a:r>
            <a:r>
              <a:rPr lang="zh-CN" altLang="en-US" sz="1600" dirty="0"/>
              <a:t> </a:t>
            </a:r>
            <a:endParaRPr lang="en-US" altLang="zh-CN" sz="1600" dirty="0"/>
          </a:p>
        </p:txBody>
      </p:sp>
      <p:sp>
        <p:nvSpPr>
          <p:cNvPr id="6" name="矩形 6"/>
          <p:cNvSpPr/>
          <p:nvPr/>
        </p:nvSpPr>
        <p:spPr>
          <a:xfrm>
            <a:off x="1153972" y="2608690"/>
            <a:ext cx="7284346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dirty="0"/>
              <a:t> (GL_TEXTURE_2D, </a:t>
            </a:r>
            <a:r>
              <a:rPr lang="en-US" altLang="zh-CN" sz="1600" dirty="0" smtClean="0"/>
              <a:t>GL_TEXTURE_</a:t>
            </a:r>
            <a:r>
              <a:rPr lang="en-US" altLang="zh-CN" sz="1600" dirty="0" smtClean="0">
                <a:solidFill>
                  <a:srgbClr val="FF0000"/>
                </a:solidFill>
              </a:rPr>
              <a:t>MIN</a:t>
            </a:r>
            <a:r>
              <a:rPr lang="en-US" altLang="zh-CN" sz="1600" dirty="0" smtClean="0"/>
              <a:t>_FILTER, </a:t>
            </a:r>
            <a:r>
              <a:rPr lang="en-US" altLang="zh-CN" sz="1600" dirty="0">
                <a:solidFill>
                  <a:srgbClr val="FF0000"/>
                </a:solidFill>
              </a:rPr>
              <a:t>GL_NEAREST</a:t>
            </a:r>
            <a:r>
              <a:rPr lang="en-US" altLang="zh-CN" sz="1600" dirty="0" smtClean="0"/>
              <a:t>) </a:t>
            </a:r>
            <a:r>
              <a:rPr lang="en-US" altLang="zh-CN" sz="1600" dirty="0"/>
              <a:t>;</a:t>
            </a:r>
          </a:p>
        </p:txBody>
      </p:sp>
      <p:sp>
        <p:nvSpPr>
          <p:cNvPr id="7" name="矩形 6"/>
          <p:cNvSpPr/>
          <p:nvPr/>
        </p:nvSpPr>
        <p:spPr>
          <a:xfrm>
            <a:off x="2535645" y="1316831"/>
            <a:ext cx="4479518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 err="1"/>
              <a:t>glTexParameteri</a:t>
            </a:r>
            <a:r>
              <a:rPr lang="en-US" altLang="zh-CN" sz="1600" b="1" dirty="0"/>
              <a:t> </a:t>
            </a:r>
            <a:r>
              <a:rPr lang="en-US" altLang="zh-CN" sz="1600" dirty="0"/>
              <a:t>(target, type, mode</a:t>
            </a:r>
            <a:r>
              <a:rPr lang="en-US" altLang="zh-CN" sz="1600" dirty="0" smtClean="0"/>
              <a:t>);</a:t>
            </a:r>
            <a:endParaRPr lang="en-US" altLang="zh-CN" sz="1600" dirty="0"/>
          </a:p>
        </p:txBody>
      </p:sp>
      <p:pic>
        <p:nvPicPr>
          <p:cNvPr id="11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1513" y="3640293"/>
            <a:ext cx="5480570" cy="311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75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Mipmapping</a:t>
            </a:r>
            <a:r>
              <a:rPr lang="zh-CN" altLang="en-US" dirty="0" smtClean="0"/>
              <a:t>技术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用于处理</a:t>
            </a:r>
            <a:r>
              <a:rPr lang="zh-CN" altLang="en-US" sz="2400" dirty="0" smtClean="0">
                <a:solidFill>
                  <a:srgbClr val="0000FF"/>
                </a:solidFill>
              </a:rPr>
              <a:t>纹理缩小</a:t>
            </a:r>
            <a:r>
              <a:rPr lang="zh-CN" altLang="en-US" sz="2400" dirty="0" smtClean="0"/>
              <a:t>的问题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en-US" altLang="zh-CN" sz="2400" dirty="0" err="1" smtClean="0"/>
              <a:t>Mipmapping</a:t>
            </a:r>
            <a:r>
              <a:rPr lang="zh-CN" altLang="en-US" sz="2400" dirty="0" smtClean="0"/>
              <a:t>技术对纹理进行</a:t>
            </a:r>
            <a:r>
              <a:rPr lang="zh-CN" altLang="en-US" sz="2400" dirty="0"/>
              <a:t>预先滤波，降低</a:t>
            </a:r>
            <a:r>
              <a:rPr lang="zh-CN" altLang="en-US" sz="2400" dirty="0" smtClean="0"/>
              <a:t>分辨率</a:t>
            </a: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对于非常小的要加纹理的</a:t>
            </a:r>
            <a:r>
              <a:rPr lang="zh-CN" altLang="en-US" sz="2400" dirty="0" smtClean="0"/>
              <a:t>对象</a:t>
            </a:r>
            <a:r>
              <a:rPr lang="zh-CN" altLang="en-US" sz="2400" dirty="0"/>
              <a:t>，</a:t>
            </a:r>
            <a:r>
              <a:rPr lang="zh-CN" altLang="en-US" sz="2400" dirty="0" smtClean="0"/>
              <a:t>可以</a:t>
            </a:r>
            <a:r>
              <a:rPr lang="zh-CN" altLang="en-US" sz="2400" b="1" dirty="0"/>
              <a:t>减小的插值误差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纹理定义时</a:t>
            </a:r>
            <a:r>
              <a:rPr lang="zh-CN" altLang="en-US" sz="2400" dirty="0" smtClean="0"/>
              <a:t>声明</a:t>
            </a:r>
            <a:r>
              <a:rPr lang="en-US" altLang="zh-CN" sz="2400" dirty="0" err="1" smtClean="0"/>
              <a:t>Mipmap</a:t>
            </a:r>
            <a:r>
              <a:rPr lang="zh-CN" altLang="en-US" sz="2400" dirty="0" smtClean="0"/>
              <a:t>的</a:t>
            </a:r>
            <a:r>
              <a:rPr lang="zh-CN" altLang="en-US" sz="2400" dirty="0"/>
              <a:t>层次</a:t>
            </a: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049431" y="3235909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b="1" dirty="0"/>
              <a:t>glTexImage2D</a:t>
            </a:r>
            <a:r>
              <a:rPr lang="en-US" altLang="zh-CN" sz="1600" dirty="0"/>
              <a:t>(GL_TEXTURE_*D, </a:t>
            </a:r>
            <a:r>
              <a:rPr lang="en-US" altLang="zh-CN" sz="1600" dirty="0">
                <a:solidFill>
                  <a:srgbClr val="0000FF"/>
                </a:solidFill>
              </a:rPr>
              <a:t>level</a:t>
            </a:r>
            <a:r>
              <a:rPr lang="en-US" altLang="zh-CN" sz="1600" dirty="0"/>
              <a:t>, …);</a:t>
            </a:r>
          </a:p>
        </p:txBody>
      </p:sp>
      <p:pic>
        <p:nvPicPr>
          <p:cNvPr id="8" name="Picture 5" descr="Mipma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2293" y="3881437"/>
            <a:ext cx="5459413" cy="261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86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Mipmapping</a:t>
            </a:r>
            <a:r>
              <a:rPr lang="zh-CN" altLang="en-US" dirty="0"/>
              <a:t>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pic>
        <p:nvPicPr>
          <p:cNvPr id="4098" name="Picture 2" descr="https://pic2.zhimg.com/v2-875127835761dd80510e3f6fa055d9f9_r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48" r="19672"/>
          <a:stretch/>
        </p:blipFill>
        <p:spPr bwMode="auto">
          <a:xfrm>
            <a:off x="155121" y="884988"/>
            <a:ext cx="3845071" cy="3197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14829" r="14927"/>
          <a:stretch/>
        </p:blipFill>
        <p:spPr>
          <a:xfrm>
            <a:off x="3236747" y="3569156"/>
            <a:ext cx="5539963" cy="2923719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642000" y="1633533"/>
            <a:ext cx="3188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Mipmap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纹理（纹理金字塔）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56334" y="2792936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确定渲染像素所需金字塔层级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下箭头 9"/>
          <p:cNvSpPr/>
          <p:nvPr/>
        </p:nvSpPr>
        <p:spPr>
          <a:xfrm>
            <a:off x="6167418" y="3162268"/>
            <a:ext cx="252512" cy="4068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箭头 10"/>
          <p:cNvSpPr/>
          <p:nvPr/>
        </p:nvSpPr>
        <p:spPr>
          <a:xfrm flipH="1">
            <a:off x="4000192" y="1721522"/>
            <a:ext cx="585369" cy="2250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6339" y="2574857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1.0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42758" y="1654067"/>
            <a:ext cx="644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0.75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38699" y="1318751"/>
            <a:ext cx="510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0.5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376905" y="983435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0.25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132808" y="5094573"/>
            <a:ext cx="30816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图形学基础 </a:t>
            </a:r>
            <a:r>
              <a:rPr lang="en-US" altLang="zh-CN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 </a:t>
            </a:r>
            <a:r>
              <a:rPr lang="en-US" altLang="zh-CN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纹理映射流程 </a:t>
            </a:r>
            <a:r>
              <a:rPr lang="en-US" altLang="zh-CN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杨鼎超的文章 </a:t>
            </a:r>
            <a:r>
              <a:rPr lang="en-US" altLang="zh-CN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知乎 </a:t>
            </a:r>
            <a:r>
              <a:rPr lang="en-US" altLang="zh-CN" sz="12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https://</a:t>
            </a:r>
            <a:r>
              <a:rPr lang="en-US" altLang="zh-CN" sz="1200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zhuanlan.zhihu.com/p/369977849</a:t>
            </a:r>
            <a:endParaRPr lang="en-US" altLang="zh-CN" sz="1200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9531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Mipmapping</a:t>
            </a:r>
            <a:r>
              <a:rPr lang="zh-CN" altLang="en-US" dirty="0"/>
              <a:t>技术</a:t>
            </a:r>
            <a:endParaRPr lang="zh-CN" altLang="en-US" b="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47</a:t>
            </a:fld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71" y="1389529"/>
            <a:ext cx="7759916" cy="499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34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/>
          <p:nvPr/>
        </p:nvPicPr>
        <p:blipFill rotWithShape="1">
          <a:blip r:embed="rId2"/>
          <a:srcRect l="11188" t="30756" r="6540" b="30756"/>
          <a:stretch/>
        </p:blipFill>
        <p:spPr>
          <a:xfrm>
            <a:off x="3126267" y="5071261"/>
            <a:ext cx="2880852" cy="1426369"/>
          </a:xfrm>
          <a:prstGeom prst="rect">
            <a:avLst/>
          </a:prstGeom>
        </p:spPr>
      </p:pic>
      <p:sp>
        <p:nvSpPr>
          <p:cNvPr id="5" name="矩形 6"/>
          <p:cNvSpPr/>
          <p:nvPr/>
        </p:nvSpPr>
        <p:spPr>
          <a:xfrm>
            <a:off x="1416660" y="3635256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b="1" dirty="0"/>
              <a:t> = texture2D</a:t>
            </a:r>
            <a:r>
              <a:rPr lang="en-US" altLang="zh-CN" sz="1600" dirty="0"/>
              <a:t>( texture, </a:t>
            </a:r>
            <a:r>
              <a:rPr lang="en-US" altLang="zh-CN" sz="1600" dirty="0" err="1"/>
              <a:t>texCoord</a:t>
            </a:r>
            <a:r>
              <a:rPr lang="en-US" altLang="zh-CN" sz="1600" dirty="0"/>
              <a:t> );</a:t>
            </a:r>
          </a:p>
        </p:txBody>
      </p:sp>
      <p:pic>
        <p:nvPicPr>
          <p:cNvPr id="7" name="Picture 6"/>
          <p:cNvPicPr/>
          <p:nvPr/>
        </p:nvPicPr>
        <p:blipFill rotWithShape="1">
          <a:blip r:embed="rId3"/>
          <a:srcRect l="13423" t="34333" r="8799" b="30713"/>
          <a:stretch/>
        </p:blipFill>
        <p:spPr>
          <a:xfrm>
            <a:off x="1191086" y="4050225"/>
            <a:ext cx="2723536" cy="1295400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 rotWithShape="1">
          <a:blip r:embed="rId4"/>
          <a:srcRect l="11137" t="32523" r="10241" b="28989"/>
          <a:stretch/>
        </p:blipFill>
        <p:spPr>
          <a:xfrm>
            <a:off x="4938362" y="4004295"/>
            <a:ext cx="2753032" cy="14263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最终绘制方式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在片元着色器中设置</a:t>
            </a:r>
            <a:r>
              <a:rPr lang="zh-CN" altLang="en-US" sz="2400" dirty="0"/>
              <a:t>纹理和物体表面颜色处理</a:t>
            </a:r>
            <a:r>
              <a:rPr lang="zh-CN" altLang="en-US" sz="2400" dirty="0" smtClean="0"/>
              <a:t>方式</a:t>
            </a:r>
            <a:endParaRPr lang="en-US" altLang="zh-CN" sz="16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b="1" dirty="0" smtClean="0"/>
              <a:t>融合</a:t>
            </a:r>
            <a:r>
              <a:rPr lang="zh-CN" altLang="en-US" sz="1800" dirty="0" smtClean="0"/>
              <a:t>：将纹理的颜色与明暗值的颜色进行融合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800" dirty="0" smtClean="0"/>
              <a:t>可以是对应分量相乘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r>
              <a:rPr lang="zh-CN" altLang="en-US" sz="1800" dirty="0" smtClean="0"/>
              <a:t>也可以是简单的线性组合</a:t>
            </a:r>
            <a:endParaRPr lang="en-US" altLang="zh-CN" sz="1800" dirty="0" smtClean="0"/>
          </a:p>
          <a:p>
            <a:pPr lvl="2">
              <a:buClr>
                <a:srgbClr val="94003F"/>
              </a:buClr>
            </a:pP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b="1" dirty="0" smtClean="0"/>
              <a:t>贴图</a:t>
            </a:r>
            <a:r>
              <a:rPr lang="zh-CN" altLang="en-US" sz="1800" dirty="0" smtClean="0"/>
              <a:t>：片元的颜色完全由纹理的颜色决定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48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矩形 6"/>
          <p:cNvSpPr/>
          <p:nvPr/>
        </p:nvSpPr>
        <p:spPr>
          <a:xfrm>
            <a:off x="1363196" y="2767025"/>
            <a:ext cx="6274734" cy="338554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en-US" altLang="zh-CN" sz="1600" dirty="0" err="1"/>
              <a:t>fColor</a:t>
            </a:r>
            <a:r>
              <a:rPr lang="en-US" altLang="zh-CN" sz="1600" dirty="0"/>
              <a:t> = color </a:t>
            </a:r>
            <a:r>
              <a:rPr lang="en-US" altLang="zh-CN" sz="1600" dirty="0" smtClean="0"/>
              <a:t>*0.5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+ </a:t>
            </a:r>
            <a:r>
              <a:rPr lang="en-US" altLang="zh-CN" sz="1600" b="1" dirty="0"/>
              <a:t>texture2D</a:t>
            </a:r>
            <a:r>
              <a:rPr lang="en-US" altLang="zh-CN" sz="1600" dirty="0"/>
              <a:t>( texture, </a:t>
            </a:r>
            <a:r>
              <a:rPr lang="en-US" altLang="zh-CN" sz="1600" dirty="0" err="1" smtClean="0"/>
              <a:t>texCoord</a:t>
            </a:r>
            <a:r>
              <a:rPr lang="en-US" altLang="zh-CN" sz="1600" dirty="0" smtClean="0"/>
              <a:t>)</a:t>
            </a:r>
            <a:r>
              <a:rPr lang="zh-CN" altLang="en-US" sz="1600" dirty="0" smtClean="0"/>
              <a:t> * </a:t>
            </a:r>
            <a:r>
              <a:rPr lang="en-US" altLang="zh-CN" sz="1600" dirty="0" smtClean="0"/>
              <a:t>0.5;</a:t>
            </a:r>
            <a:endParaRPr lang="en-US" altLang="zh-CN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2024830" y="5282914"/>
            <a:ext cx="1109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/>
              <a:t>初始明暗值</a:t>
            </a:r>
            <a:endParaRPr lang="en-US" sz="1400" dirty="0"/>
          </a:p>
        </p:txBody>
      </p:sp>
      <p:sp>
        <p:nvSpPr>
          <p:cNvPr id="12" name="TextBox 11"/>
          <p:cNvSpPr txBox="1"/>
          <p:nvPr/>
        </p:nvSpPr>
        <p:spPr>
          <a:xfrm>
            <a:off x="5976238" y="5276776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纹理贴图</a:t>
            </a:r>
            <a:endParaRPr lang="en-US" sz="1400" dirty="0"/>
          </a:p>
        </p:txBody>
      </p:sp>
      <p:sp>
        <p:nvSpPr>
          <p:cNvPr id="13" name="TextBox 12"/>
          <p:cNvSpPr txBox="1"/>
          <p:nvPr/>
        </p:nvSpPr>
        <p:spPr>
          <a:xfrm>
            <a:off x="4294823" y="643858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/>
              <a:t>融合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631783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多重纹理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通常一个几何对象上只有一个纹理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有</a:t>
            </a:r>
            <a:r>
              <a:rPr lang="zh-CN" altLang="en-US" sz="2400" dirty="0"/>
              <a:t>许多渲染效果需要多次应用</a:t>
            </a:r>
            <a:r>
              <a:rPr lang="zh-CN" altLang="en-US" sz="2400" dirty="0" smtClean="0"/>
              <a:t>纹理</a:t>
            </a:r>
            <a:endParaRPr lang="zh-CN" altLang="en-US" sz="2400" dirty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例：已有纹理的表面上有其它物体的阴影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此时</a:t>
            </a:r>
            <a:r>
              <a:rPr lang="zh-CN" altLang="en-US" sz="1600" dirty="0"/>
              <a:t>需要给阴影加上</a:t>
            </a:r>
            <a:r>
              <a:rPr lang="zh-CN" altLang="en-US" sz="1600" dirty="0" smtClean="0"/>
              <a:t>纹理</a:t>
            </a:r>
            <a:endParaRPr lang="en-US" altLang="zh-CN" sz="16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多重纹理的工作</a:t>
            </a:r>
            <a:r>
              <a:rPr lang="zh-CN" altLang="en-US" sz="2400" dirty="0" smtClean="0"/>
              <a:t>流程：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49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t="25521" b="20189"/>
          <a:stretch/>
        </p:blipFill>
        <p:spPr>
          <a:xfrm>
            <a:off x="628650" y="3422874"/>
            <a:ext cx="8040221" cy="996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404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纹理生成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纹理的主要一个应用就</a:t>
            </a:r>
            <a:r>
              <a:rPr lang="zh-CN" altLang="en-US" sz="2400" dirty="0" smtClean="0"/>
              <a:t>是不用生成大量的几何对象就可以为对象表面提供复杂的特征信息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高端</a:t>
            </a:r>
            <a:r>
              <a:rPr lang="zh-CN" altLang="en-US" sz="2400" dirty="0"/>
              <a:t>图形系统可以实时</a:t>
            </a:r>
            <a:r>
              <a:rPr lang="zh-CN" altLang="en-US" sz="2400" dirty="0" smtClean="0"/>
              <a:t>生成二维纹</a:t>
            </a:r>
            <a:r>
              <a:rPr lang="zh-CN" altLang="en-US" sz="2400" dirty="0"/>
              <a:t>映射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对于每一帧图像，纹理被映射到对象上，几乎与不进行纹理映射的</a:t>
            </a:r>
            <a:r>
              <a:rPr lang="zh-CN" altLang="en-US" sz="1800" dirty="0" smtClean="0"/>
              <a:t>对象显示</a:t>
            </a:r>
            <a:r>
              <a:rPr lang="zh-CN" altLang="en-US" sz="1800" dirty="0"/>
              <a:t>频率</a:t>
            </a:r>
            <a:r>
              <a:rPr lang="zh-CN" altLang="en-US" sz="1800" dirty="0" smtClean="0"/>
              <a:t>相同</a:t>
            </a:r>
            <a:endParaRPr lang="en-US" altLang="zh-CN" sz="2200" dirty="0" smtClean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/>
              <a:t>现在的微机显卡也包含了大量纹理内存，从而可以</a:t>
            </a:r>
            <a:r>
              <a:rPr lang="zh-CN" altLang="en-US" sz="2400" dirty="0" smtClean="0"/>
              <a:t>使得</a:t>
            </a:r>
            <a:r>
              <a:rPr lang="zh-CN" altLang="en-US" sz="2400" dirty="0"/>
              <a:t>游戏开发人员应用纹理映射的方法创建复杂的</a:t>
            </a:r>
            <a:r>
              <a:rPr lang="zh-CN" altLang="en-US" sz="2400" dirty="0" smtClean="0"/>
              <a:t>动画效果</a:t>
            </a:r>
            <a:endParaRPr lang="en-US" altLang="zh-CN" sz="2400" dirty="0" smtClean="0"/>
          </a:p>
          <a:p>
            <a:pPr marL="3600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常用生成方式：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50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82" y="4597823"/>
            <a:ext cx="2223247" cy="1667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1" r="20039" b="-831"/>
          <a:stretch/>
        </p:blipFill>
        <p:spPr bwMode="auto">
          <a:xfrm>
            <a:off x="3531015" y="4802889"/>
            <a:ext cx="1469207" cy="137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矩形 5"/>
          <p:cNvSpPr/>
          <p:nvPr/>
        </p:nvSpPr>
        <p:spPr>
          <a:xfrm>
            <a:off x="2135648" y="5914513"/>
            <a:ext cx="263712" cy="266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1840" b="29510"/>
          <a:stretch/>
        </p:blipFill>
        <p:spPr bwMode="auto">
          <a:xfrm>
            <a:off x="3641305" y="4634571"/>
            <a:ext cx="344833" cy="336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矩形 11"/>
          <p:cNvSpPr/>
          <p:nvPr/>
        </p:nvSpPr>
        <p:spPr>
          <a:xfrm>
            <a:off x="3623545" y="4640402"/>
            <a:ext cx="353604" cy="3308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2779" y="5234628"/>
            <a:ext cx="367836" cy="370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048" y="4634571"/>
            <a:ext cx="1624305" cy="163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右箭头 5"/>
          <p:cNvSpPr/>
          <p:nvPr/>
        </p:nvSpPr>
        <p:spPr>
          <a:xfrm>
            <a:off x="6367507" y="5284610"/>
            <a:ext cx="135649" cy="293860"/>
          </a:xfrm>
          <a:prstGeom prst="rightArrow">
            <a:avLst>
              <a:gd name="adj1" fmla="val 50000"/>
              <a:gd name="adj2" fmla="val 6343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79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523835" y="3364107"/>
            <a:ext cx="433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其它</a:t>
            </a:r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altLang="en-US" sz="3600" b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的映射方法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80" y="191390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362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环境映射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具有完美反射特征的表面会形成周围环境的</a:t>
            </a:r>
            <a:r>
              <a:rPr lang="zh-CN" altLang="en-US" sz="2400" dirty="0" smtClean="0"/>
              <a:t>影像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这种影像具有</a:t>
            </a:r>
            <a:r>
              <a:rPr lang="zh-CN" altLang="en-US" sz="2400" dirty="0" smtClean="0"/>
              <a:t>变形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它是全局</a:t>
            </a:r>
            <a:r>
              <a:rPr lang="zh-CN" altLang="en-US" sz="1800" dirty="0" smtClean="0"/>
              <a:t>效果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如果不知道周围的信息，无法得到花瓶上各点的最终状态</a:t>
            </a:r>
            <a:endParaRPr lang="en-US" altLang="zh-CN" sz="18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52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06" y="3068016"/>
            <a:ext cx="3238971" cy="328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5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解决方法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基于物理模型的渲染</a:t>
            </a:r>
            <a:r>
              <a:rPr lang="zh-CN" altLang="en-US" sz="2400" dirty="0" smtClean="0"/>
              <a:t>方法的全局渲染可以得到类似效果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例如：光线跟踪－－但太耗时，无法用于实时程序中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需要</a:t>
            </a:r>
            <a:r>
              <a:rPr lang="zh-CN" altLang="en-US" sz="1600" dirty="0"/>
              <a:t>对场景进行完整</a:t>
            </a:r>
            <a:r>
              <a:rPr lang="zh-CN" altLang="en-US" sz="1600" dirty="0" smtClean="0"/>
              <a:t>建模</a:t>
            </a:r>
            <a:endParaRPr lang="en-US" altLang="zh-CN" sz="16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环境映射是对这种全局渲染方式的一种近似</a:t>
            </a:r>
            <a:endParaRPr lang="en-US" altLang="zh-CN" sz="2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53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Picture 7" descr="ENVM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9489" y="3213279"/>
            <a:ext cx="3538829" cy="26541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ENVM2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2" t="23570" r="7814" b="5717"/>
          <a:stretch>
            <a:fillRect/>
          </a:stretch>
        </p:blipFill>
        <p:spPr bwMode="auto">
          <a:xfrm>
            <a:off x="766872" y="3216243"/>
            <a:ext cx="3660482" cy="2651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145707" y="604857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smtClean="0"/>
              <a:t>环境映射</a:t>
            </a:r>
            <a:endParaRPr lang="en-US" sz="1400" dirty="0"/>
          </a:p>
        </p:txBody>
      </p:sp>
      <p:sp>
        <p:nvSpPr>
          <p:cNvPr id="8" name="TextBox 7"/>
          <p:cNvSpPr txBox="1"/>
          <p:nvPr/>
        </p:nvSpPr>
        <p:spPr>
          <a:xfrm>
            <a:off x="6497968" y="604857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/>
              <a:t>光线跟踪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6142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凹凸映射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1"/>
            <a:ext cx="6048597" cy="4351338"/>
          </a:xfrm>
        </p:spPr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仍然考虑桔子的</a:t>
            </a:r>
            <a:r>
              <a:rPr lang="zh-CN" altLang="en-US" sz="2400" dirty="0" smtClean="0"/>
              <a:t>模型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借用纹理映射的思路，可以把一个真实桔子的照片贴到球面上模拟桔子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但</a:t>
            </a:r>
            <a:r>
              <a:rPr lang="zh-CN" altLang="en-US" sz="1800" dirty="0"/>
              <a:t>如果移动了光源或者旋转对象，就会发现我们有的还是桔子模型的</a:t>
            </a:r>
            <a:r>
              <a:rPr lang="zh-CN" altLang="en-US" sz="1800" dirty="0" smtClean="0"/>
              <a:t>图像，而不是</a:t>
            </a:r>
            <a:r>
              <a:rPr lang="zh-CN" altLang="en-US" sz="1800" dirty="0"/>
              <a:t>真实桔子的图像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因为</a:t>
            </a:r>
            <a:r>
              <a:rPr lang="zh-CN" altLang="en-US" sz="1800" dirty="0"/>
              <a:t>真实桔子的特征是在表面上有很多小形状变化，但不是颜色的变化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纹理</a:t>
            </a:r>
            <a:r>
              <a:rPr lang="zh-CN" altLang="en-US" sz="1800" dirty="0"/>
              <a:t>映射不能模拟形状变化</a:t>
            </a:r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采用</a:t>
            </a:r>
            <a:r>
              <a:rPr lang="zh-CN" altLang="en-US" sz="2400" dirty="0"/>
              <a:t>凹凸映射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54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87" b="96418" l="2903" r="977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0985" y="1456659"/>
            <a:ext cx="2100542" cy="2269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343309" y="4286331"/>
            <a:ext cx="6577947" cy="2373335"/>
            <a:chOff x="576" y="2016"/>
            <a:chExt cx="4490" cy="1620"/>
          </a:xfrm>
        </p:grpSpPr>
        <p:pic>
          <p:nvPicPr>
            <p:cNvPr id="7" name="Picture 5" descr="sphere1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016"/>
              <a:ext cx="1360" cy="1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7" descr="swirly2bump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18" y="2016"/>
              <a:ext cx="1361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9" descr="sphere_bumpy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05" y="2016"/>
              <a:ext cx="1361" cy="1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 Box 20"/>
            <p:cNvSpPr txBox="1">
              <a:spLocks noChangeArrowheads="1"/>
            </p:cNvSpPr>
            <p:nvPr/>
          </p:nvSpPr>
          <p:spPr bwMode="auto">
            <a:xfrm>
              <a:off x="711" y="3398"/>
              <a:ext cx="122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/>
                <a:t>Original shading</a:t>
              </a:r>
            </a:p>
          </p:txBody>
        </p:sp>
        <p:sp>
          <p:nvSpPr>
            <p:cNvPr id="11" name="Text Box 21"/>
            <p:cNvSpPr txBox="1">
              <a:spLocks noChangeArrowheads="1"/>
            </p:cNvSpPr>
            <p:nvPr/>
          </p:nvSpPr>
          <p:spPr bwMode="auto">
            <a:xfrm>
              <a:off x="2064" y="3398"/>
              <a:ext cx="155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CN" sz="1600" dirty="0"/>
                <a:t>Bump map texture</a:t>
              </a:r>
            </a:p>
          </p:txBody>
        </p:sp>
        <p:sp>
          <p:nvSpPr>
            <p:cNvPr id="12" name="Text Box 22"/>
            <p:cNvSpPr txBox="1">
              <a:spLocks noChangeArrowheads="1"/>
            </p:cNvSpPr>
            <p:nvPr/>
          </p:nvSpPr>
          <p:spPr bwMode="auto">
            <a:xfrm>
              <a:off x="3884" y="3405"/>
              <a:ext cx="108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zh-CN" sz="1600"/>
                <a:t>Bump mapped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37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基本想法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在生成图像时的光照模型中对曲面的法向进行</a:t>
            </a:r>
            <a:r>
              <a:rPr lang="zh-CN" altLang="en-US" sz="2400" dirty="0" smtClean="0"/>
              <a:t>随机扰动</a:t>
            </a:r>
            <a:endParaRPr lang="zh-CN" altLang="en-US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如此</a:t>
            </a:r>
            <a:r>
              <a:rPr lang="zh-CN" altLang="en-US" sz="2400" dirty="0"/>
              <a:t>得到的图像就会显现出形状变化的错觉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55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663" y="2936221"/>
            <a:ext cx="3142777" cy="3074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388" y="2891089"/>
            <a:ext cx="3023375" cy="302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" name="Right Arrow 6"/>
          <p:cNvSpPr>
            <a:spLocks noChangeArrowheads="1"/>
          </p:cNvSpPr>
          <p:nvPr/>
        </p:nvSpPr>
        <p:spPr bwMode="auto">
          <a:xfrm>
            <a:off x="4384675" y="4151709"/>
            <a:ext cx="503238" cy="504825"/>
          </a:xfrm>
          <a:prstGeom prst="rightArrow">
            <a:avLst>
              <a:gd name="adj1" fmla="val 50000"/>
              <a:gd name="adj2" fmla="val 50000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algn="l" eaLnBrk="0" hangingPunct="0">
              <a:spcBef>
                <a:spcPct val="20000"/>
              </a:spcBef>
              <a:buFont typeface="Wingdings 2" charset="2"/>
              <a:buChar char="¡"/>
              <a:defRPr sz="2800" b="1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1pPr>
            <a:lvl2pPr marL="742950" indent="-285750" algn="l" eaLnBrk="0" hangingPunct="0">
              <a:spcBef>
                <a:spcPct val="20000"/>
              </a:spcBef>
              <a:buSzPct val="80000"/>
              <a:buFont typeface="Wingdings" charset="2"/>
              <a:buChar char="l"/>
              <a:defRPr sz="20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2pPr>
            <a:lvl3pPr marL="1143000" indent="-228600" algn="l" eaLnBrk="0" hangingPunct="0">
              <a:spcBef>
                <a:spcPct val="20000"/>
              </a:spcBef>
              <a:buSzPct val="130000"/>
              <a:buFont typeface="Wingdings" charset="2"/>
              <a:buChar char="§"/>
              <a:defRPr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3pPr>
            <a:lvl4pPr marL="1600200" indent="-228600" algn="l" eaLnBrk="0" hangingPunct="0">
              <a:spcBef>
                <a:spcPct val="20000"/>
              </a:spcBef>
              <a:buSzPct val="130000"/>
              <a:buChar char="•"/>
              <a:defRPr sz="16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4pPr>
            <a:lvl5pPr marL="2057400" indent="-228600" algn="l" eaLnBrk="0" hangingPunct="0">
              <a:spcBef>
                <a:spcPct val="20000"/>
              </a:spcBef>
              <a:buFont typeface="Wingdings" charset="2"/>
              <a:buChar char="§"/>
              <a:defRPr sz="14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14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14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14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charset="2"/>
              <a:buChar char="§"/>
              <a:defRPr sz="1400">
                <a:solidFill>
                  <a:srgbClr val="000000"/>
                </a:solidFill>
                <a:latin typeface="华文新魏" charset="-122"/>
                <a:ea typeface="华文新魏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b="0">
              <a:solidFill>
                <a:srgbClr val="3333FF"/>
              </a:solidFill>
              <a:latin typeface="Trebuchet MS" charset="0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89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纹理</a:t>
            </a:r>
            <a:r>
              <a:rPr lang="zh-CN" altLang="en-US" dirty="0" smtClean="0"/>
              <a:t>映射小结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pic>
        <p:nvPicPr>
          <p:cNvPr id="5122" name="Picture 2" descr="https://pic4.zhimg.com/v2-8b5fc92a339a303857bfe4419749ee2f_r.jpg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6" r="8135" b="20916"/>
          <a:stretch/>
        </p:blipFill>
        <p:spPr bwMode="auto">
          <a:xfrm>
            <a:off x="463768" y="1280551"/>
            <a:ext cx="8335395" cy="2009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963258" y="3491209"/>
            <a:ext cx="747506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投影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：将三维物体坐标转化为二维参数空间 </a:t>
            </a:r>
            <a:r>
              <a:rPr lang="en-US" altLang="zh-CN" sz="1600" dirty="0" err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坐标，实时渲染中，</a:t>
            </a:r>
            <a:r>
              <a:rPr lang="en-US" altLang="zh-CN" sz="1600" dirty="0" err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坐标通常是保存在顶点信息</a:t>
            </a:r>
            <a:r>
              <a:rPr lang="zh-CN" altLang="en-US" sz="1600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1600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16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：将 </a:t>
            </a:r>
            <a:r>
              <a:rPr lang="en-US" altLang="zh-CN" sz="1600" dirty="0" err="1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uv</a:t>
            </a:r>
            <a:r>
              <a:rPr lang="en-US" altLang="zh-CN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坐标经过处理变换后，根据实际的纹理尺寸，转化为纹理空间坐标，此时也可能有</a:t>
            </a:r>
            <a:r>
              <a:rPr lang="zh-CN" altLang="en-US" sz="1600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小数</a:t>
            </a:r>
            <a:endParaRPr lang="en-US" altLang="zh-CN" sz="1600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16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采样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：依据纹理空间坐标，对纹理进行采样，要处理放大和缩小两个情况，其中缩小的情况更为复杂，牵涉到各向异性过滤的</a:t>
            </a:r>
            <a:r>
              <a:rPr lang="zh-CN" altLang="en-US" sz="1600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endParaRPr lang="en-US" altLang="zh-CN" sz="1600" dirty="0" smtClean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 sz="1600" dirty="0">
              <a:solidFill>
                <a:srgbClr val="12121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sz="1600" b="1" dirty="0" smtClean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</a:t>
            </a:r>
            <a:r>
              <a:rPr lang="zh-CN" altLang="en-US" sz="1600" b="1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r>
              <a:rPr lang="zh-CN" altLang="en-US" sz="1600" dirty="0">
                <a:solidFill>
                  <a:srgbClr val="12121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：通过采样得到纹理值后，往往不能直接使用，还需要进行相应转换才能使用</a:t>
            </a:r>
            <a:endParaRPr lang="zh-CN" altLang="en-US" sz="1600" b="0" i="0" dirty="0">
              <a:solidFill>
                <a:srgbClr val="121212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743068" y="6341831"/>
            <a:ext cx="41637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图形学基础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纹理映射流程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杨鼎超的文章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知乎 </a:t>
            </a:r>
            <a:r>
              <a:rPr lang="en-US" altLang="zh-CN" sz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</a:t>
            </a:r>
            <a:r>
              <a:rPr lang="en-US" altLang="zh-CN" sz="1200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zhuanlan.zhihu.com/p/369977849</a:t>
            </a:r>
            <a:endParaRPr lang="en-US" altLang="zh-CN" sz="1200" dirty="0" smtClean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9567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200401" y="2094748"/>
            <a:ext cx="3032598" cy="796287"/>
          </a:xfrm>
          <a:prstGeom prst="roundRect">
            <a:avLst>
              <a:gd name="adj" fmla="val 50000"/>
            </a:avLst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5418743" y="2115257"/>
            <a:ext cx="788833" cy="749851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大纲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677997" y="336410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合成技术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76147" y="2138948"/>
            <a:ext cx="175560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bg1"/>
                </a:solidFill>
              </a:rPr>
              <a:t>Section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523179" y="1913900"/>
            <a:ext cx="61427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6600" b="1" i="1" dirty="0" smtClean="0">
                <a:solidFill>
                  <a:srgbClr val="94003F"/>
                </a:solidFill>
              </a:rPr>
              <a:t>4</a:t>
            </a:r>
            <a:endParaRPr lang="zh-CN" altLang="en-US" sz="6600" b="1" i="1" dirty="0">
              <a:solidFill>
                <a:srgbClr val="94003F"/>
              </a:solidFill>
            </a:endParaRPr>
          </a:p>
        </p:txBody>
      </p:sp>
      <p:sp>
        <p:nvSpPr>
          <p:cNvPr id="6" name="等腰三角形 5"/>
          <p:cNvSpPr/>
          <p:nvPr/>
        </p:nvSpPr>
        <p:spPr>
          <a:xfrm rot="10800000">
            <a:off x="4447572" y="2804325"/>
            <a:ext cx="492176" cy="321924"/>
          </a:xfrm>
          <a:prstGeom prst="triangle">
            <a:avLst/>
          </a:prstGeom>
          <a:solidFill>
            <a:srgbClr val="9400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08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透明度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16830"/>
            <a:ext cx="3429000" cy="4798219"/>
          </a:xfrm>
        </p:spPr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不透明物体不会</a:t>
            </a:r>
            <a:r>
              <a:rPr lang="zh-CN" altLang="en-US" sz="2400" dirty="0" smtClean="0"/>
              <a:t>允许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光线通过</a:t>
            </a:r>
            <a:endParaRPr lang="zh-CN" altLang="en-US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完全</a:t>
            </a:r>
            <a:r>
              <a:rPr lang="zh-CN" altLang="en-US" sz="2400" dirty="0"/>
              <a:t>透明物体允许</a:t>
            </a:r>
            <a:r>
              <a:rPr lang="zh-CN" altLang="en-US" sz="2400" dirty="0" smtClean="0"/>
              <a:t>所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有光线</a:t>
            </a:r>
            <a:r>
              <a:rPr lang="zh-CN" altLang="en-US" sz="2400" dirty="0"/>
              <a:t>通过</a:t>
            </a:r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半透明</a:t>
            </a:r>
            <a:r>
              <a:rPr lang="zh-CN" altLang="en-US" sz="2400" dirty="0"/>
              <a:t>物体允许</a:t>
            </a:r>
            <a:r>
              <a:rPr lang="zh-CN" altLang="en-US" sz="2400" dirty="0" smtClean="0"/>
              <a:t>部分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光线通过</a:t>
            </a:r>
            <a:endParaRPr lang="zh-CN" altLang="en-US" sz="2400" dirty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en-US" altLang="zh-CN" sz="2400" dirty="0" smtClean="0"/>
              <a:t>α</a:t>
            </a:r>
            <a:r>
              <a:rPr lang="zh-CN" altLang="en-US" sz="2400" dirty="0"/>
              <a:t>为不透明度，</a:t>
            </a:r>
            <a:r>
              <a:rPr lang="zh-CN" altLang="en-US" sz="2400" dirty="0" smtClean="0"/>
              <a:t>透明</a:t>
            </a:r>
            <a:r>
              <a:rPr lang="en-US" altLang="zh-CN" sz="2400" dirty="0" smtClean="0"/>
              <a:t>    </a:t>
            </a:r>
            <a:r>
              <a:rPr lang="zh-CN" altLang="en-US" sz="2400" dirty="0" smtClean="0"/>
              <a:t>度等于</a:t>
            </a:r>
            <a:r>
              <a:rPr lang="en-US" altLang="zh-CN" sz="2400" dirty="0"/>
              <a:t>1 – α</a:t>
            </a: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58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119" y="1523311"/>
            <a:ext cx="4582283" cy="42961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699052" y="5505317"/>
                <a:ext cx="20896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 smtClean="0"/>
                  <a:t>半透明曲面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𝛼</m:t>
                    </m:r>
                    <m:r>
                      <a:rPr lang="en-US" altLang="zh-CN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=0.5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9052" y="5505317"/>
                <a:ext cx="2089611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2624" t="-13115" b="-19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6305107" y="3492500"/>
            <a:ext cx="627321" cy="1919472"/>
          </a:xfrm>
          <a:prstGeom prst="straightConnector1">
            <a:avLst/>
          </a:prstGeom>
          <a:ln w="158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35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完全基于物理方法建立透明度的模型是非常困难</a:t>
            </a:r>
            <a:r>
              <a:rPr lang="zh-CN" altLang="en-US" sz="2400" dirty="0" smtClean="0"/>
              <a:t>的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600" dirty="0"/>
              <a:t>光线在物体内部与材料的交互作用相当复杂</a:t>
            </a:r>
          </a:p>
          <a:p>
            <a:pPr lvl="1">
              <a:buClr>
                <a:srgbClr val="94003F"/>
              </a:buClr>
            </a:pPr>
            <a:r>
              <a:rPr lang="en-US" altLang="zh-CN" sz="1600" dirty="0" smtClean="0"/>
              <a:t>API</a:t>
            </a:r>
            <a:r>
              <a:rPr lang="zh-CN" altLang="en-US" sz="1600" dirty="0"/>
              <a:t>采用的流水线体系</a:t>
            </a: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59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243" y="2801294"/>
            <a:ext cx="5711341" cy="315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710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写入的模式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利用</a:t>
            </a:r>
            <a:r>
              <a:rPr lang="en-US" altLang="zh-CN" sz="2400" dirty="0"/>
              <a:t>RGBA</a:t>
            </a:r>
            <a:r>
              <a:rPr lang="zh-CN" altLang="en-US" sz="2400" dirty="0" smtClean="0"/>
              <a:t>（或</a:t>
            </a:r>
            <a:r>
              <a:rPr lang="en-US" altLang="zh-CN" sz="2400" dirty="0" smtClean="0"/>
              <a:t>RGBα</a:t>
            </a:r>
            <a:r>
              <a:rPr lang="en-US" altLang="zh-CN" sz="2400" dirty="0"/>
              <a:t>)</a:t>
            </a:r>
            <a:r>
              <a:rPr lang="zh-CN" altLang="en-US" sz="2400" dirty="0"/>
              <a:t>中的</a:t>
            </a:r>
            <a:r>
              <a:rPr lang="en-US" altLang="zh-CN" sz="2400" dirty="0"/>
              <a:t>A</a:t>
            </a:r>
            <a:r>
              <a:rPr lang="zh-CN" altLang="en-US" sz="2400" dirty="0"/>
              <a:t>分量存贮不透明度</a:t>
            </a:r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在</a:t>
            </a:r>
            <a:r>
              <a:rPr lang="zh-CN" altLang="en-US" sz="2400" dirty="0"/>
              <a:t>输出结果过程中，可以对写入模式进行扩展，使</a:t>
            </a:r>
            <a:r>
              <a:rPr lang="zh-CN" altLang="en-US" sz="2400" dirty="0" smtClean="0"/>
              <a:t>之应用</a:t>
            </a:r>
            <a:r>
              <a:rPr lang="en-US" altLang="zh-CN" sz="2400" dirty="0"/>
              <a:t>RGBA</a:t>
            </a:r>
            <a:r>
              <a:rPr lang="zh-CN" altLang="en-US" sz="2400" dirty="0"/>
              <a:t>值</a:t>
            </a: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60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8" y="2920791"/>
            <a:ext cx="8811935" cy="303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68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OpenGL</a:t>
            </a:r>
            <a:r>
              <a:rPr lang="zh-CN" altLang="en-US" dirty="0"/>
              <a:t>的融合功能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94003F"/>
              </a:buClr>
            </a:pPr>
            <a:r>
              <a:rPr lang="zh-CN" altLang="en-US" sz="2400" dirty="0"/>
              <a:t>必须激活融合功能，并且指定源与目标</a:t>
            </a:r>
            <a:r>
              <a:rPr lang="zh-CN" altLang="en-US" sz="2400" dirty="0" smtClean="0"/>
              <a:t>因子</a:t>
            </a: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endParaRPr lang="en-US" altLang="zh-CN" sz="2400" dirty="0" smtClean="0"/>
          </a:p>
          <a:p>
            <a:pPr marL="228600" lvl="1" indent="-360000">
              <a:spcBef>
                <a:spcPts val="1000"/>
              </a:spcBef>
              <a:buClr>
                <a:srgbClr val="94003F"/>
              </a:buClr>
              <a:buSzPct val="70000"/>
              <a:buFont typeface="Wingdings" panose="05000000000000000000" pitchFamily="2" charset="2"/>
              <a:buChar char="u"/>
            </a:pPr>
            <a:r>
              <a:rPr lang="zh-CN" altLang="en-US" sz="2400" dirty="0" smtClean="0"/>
              <a:t>只</a:t>
            </a:r>
            <a:r>
              <a:rPr lang="zh-CN" altLang="en-US" sz="2400" dirty="0"/>
              <a:t>支持下列几种因子</a:t>
            </a:r>
          </a:p>
          <a:p>
            <a:pPr lvl="1">
              <a:buClr>
                <a:srgbClr val="94003F"/>
              </a:buClr>
            </a:pPr>
            <a:r>
              <a:rPr lang="fr-FR" altLang="zh-CN" sz="1600" dirty="0" smtClean="0"/>
              <a:t>GL_ZERO</a:t>
            </a:r>
            <a:r>
              <a:rPr lang="fr-FR" altLang="zh-CN" sz="1600" dirty="0"/>
              <a:t>, GL_ONE</a:t>
            </a:r>
          </a:p>
          <a:p>
            <a:pPr lvl="1">
              <a:buClr>
                <a:srgbClr val="94003F"/>
              </a:buClr>
            </a:pPr>
            <a:r>
              <a:rPr lang="fr-FR" altLang="zh-CN" sz="1600" dirty="0" smtClean="0"/>
              <a:t>GL_SRC_ALPHA</a:t>
            </a:r>
            <a:r>
              <a:rPr lang="fr-FR" altLang="zh-CN" sz="1600" dirty="0"/>
              <a:t>, GL_ONE_MINUS_SRC_ALPHA</a:t>
            </a:r>
          </a:p>
          <a:p>
            <a:pPr lvl="1">
              <a:buClr>
                <a:srgbClr val="94003F"/>
              </a:buClr>
            </a:pPr>
            <a:r>
              <a:rPr lang="fr-FR" altLang="zh-CN" sz="1600" dirty="0" smtClean="0"/>
              <a:t>GL_DST_ALPHA</a:t>
            </a:r>
            <a:r>
              <a:rPr lang="fr-FR" altLang="zh-CN" sz="1600" dirty="0"/>
              <a:t>, GL_ONE_MINUS_DST_ALPHA</a:t>
            </a:r>
          </a:p>
          <a:p>
            <a:pPr lvl="1">
              <a:buClr>
                <a:srgbClr val="94003F"/>
              </a:buClr>
            </a:pPr>
            <a:r>
              <a:rPr lang="zh-CN" altLang="en-US" sz="1600" dirty="0" smtClean="0"/>
              <a:t>详细</a:t>
            </a:r>
            <a:r>
              <a:rPr lang="zh-CN" altLang="en-US" sz="1600" dirty="0"/>
              <a:t>清单见</a:t>
            </a:r>
            <a:r>
              <a:rPr lang="fr-FR" altLang="zh-CN" sz="1600" dirty="0"/>
              <a:t>OpenGL</a:t>
            </a:r>
            <a:r>
              <a:rPr lang="zh-CN" altLang="en-US" sz="1600" dirty="0"/>
              <a:t>手册</a:t>
            </a:r>
            <a:endParaRPr lang="en-US" altLang="zh-CN" sz="14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61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矩形 6"/>
          <p:cNvSpPr/>
          <p:nvPr/>
        </p:nvSpPr>
        <p:spPr>
          <a:xfrm>
            <a:off x="1150545" y="1884523"/>
            <a:ext cx="6274734" cy="584775"/>
          </a:xfrm>
          <a:prstGeom prst="rect">
            <a:avLst/>
          </a:prstGeom>
          <a:solidFill>
            <a:srgbClr val="BDD7EE">
              <a:alpha val="52941"/>
            </a:srgbClr>
          </a:solidFill>
        </p:spPr>
        <p:txBody>
          <a:bodyPr wrap="square">
            <a:spAutoFit/>
          </a:bodyPr>
          <a:lstStyle/>
          <a:p>
            <a:pPr>
              <a:buClr>
                <a:srgbClr val="94003F"/>
              </a:buClr>
            </a:pPr>
            <a:r>
              <a:rPr lang="fr-FR" altLang="zh-CN" sz="1600" b="1" dirty="0" err="1"/>
              <a:t>glEnable</a:t>
            </a:r>
            <a:r>
              <a:rPr lang="fr-FR" altLang="zh-CN" sz="1600" dirty="0"/>
              <a:t>(GL_BLEND);</a:t>
            </a:r>
          </a:p>
          <a:p>
            <a:pPr>
              <a:buClr>
                <a:srgbClr val="94003F"/>
              </a:buClr>
            </a:pPr>
            <a:r>
              <a:rPr lang="fr-FR" altLang="zh-CN" sz="1600" b="1" dirty="0" err="1" smtClean="0"/>
              <a:t>glBlendFunc</a:t>
            </a:r>
            <a:r>
              <a:rPr lang="fr-FR" altLang="zh-CN" sz="1600" dirty="0" smtClean="0"/>
              <a:t>(</a:t>
            </a:r>
            <a:r>
              <a:rPr lang="fr-FR" altLang="zh-CN" sz="1600" dirty="0" err="1" smtClean="0"/>
              <a:t>source_fac</a:t>
            </a:r>
            <a:r>
              <a:rPr lang="en-US" altLang="zh-CN" sz="1600" dirty="0" smtClean="0"/>
              <a:t>tor</a:t>
            </a:r>
            <a:r>
              <a:rPr lang="fr-FR" altLang="zh-CN" sz="1600" dirty="0" smtClean="0"/>
              <a:t>,</a:t>
            </a:r>
            <a:r>
              <a:rPr lang="zh-CN" altLang="en-US" sz="1600" dirty="0" smtClean="0"/>
              <a:t> </a:t>
            </a:r>
            <a:r>
              <a:rPr lang="fr-FR" altLang="zh-CN" sz="1600" dirty="0" err="1" smtClean="0"/>
              <a:t>dest_fac</a:t>
            </a:r>
            <a:r>
              <a:rPr lang="en-US" altLang="zh-CN" sz="1600" dirty="0" smtClean="0"/>
              <a:t>tor</a:t>
            </a:r>
            <a:r>
              <a:rPr lang="fr-FR" altLang="zh-CN" sz="1600" dirty="0" smtClean="0"/>
              <a:t>);</a:t>
            </a:r>
            <a:endParaRPr lang="fr-FR" altLang="zh-CN" sz="1600" dirty="0"/>
          </a:p>
        </p:txBody>
      </p:sp>
    </p:spTree>
    <p:extLst>
      <p:ext uri="{BB962C8B-B14F-4D97-AF65-F5344CB8AC3E}">
        <p14:creationId xmlns:p14="http://schemas.microsoft.com/office/powerpoint/2010/main" val="15009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16831"/>
                <a:ext cx="7886700" cy="4988276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假设初始时指定不透明背景颜色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,1)</m:t>
                    </m:r>
                  </m:oMath>
                </a14:m>
                <a:endParaRPr lang="en-US" altLang="zh-CN" sz="2400" dirty="0"/>
              </a:p>
              <a:p>
                <a:pPr lvl="1">
                  <a:lnSpc>
                    <a:spcPct val="100000"/>
                  </a:lnSpc>
                  <a:buClr>
                    <a:srgbClr val="94003F"/>
                  </a:buClr>
                </a:pPr>
                <a:r>
                  <a:rPr lang="zh-CN" altLang="en-US" sz="1800" dirty="0"/>
                  <a:t>这就是初始的目标颜色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现在</a:t>
                </a:r>
                <a:r>
                  <a:rPr lang="zh-CN" altLang="en-US" sz="2400" dirty="0"/>
                  <a:t>想把它与一个颜色为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𝐺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latin typeface="Cambria Math" charset="0"/>
                          </a:rPr>
                          <m:t>𝐵</m:t>
                        </m:r>
                      </m:e>
                      <m:sub>
                        <m:r>
                          <a:rPr lang="en-US" altLang="zh-CN" sz="2400" i="1" dirty="0" smtClean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zh-CN" sz="2400" i="1" dirty="0">
                            <a:latin typeface="Cambria Math" charset="0"/>
                          </a:rPr>
                          <m:t>𝛼</m:t>
                        </m:r>
                      </m:e>
                      <m:sub>
                        <m:r>
                          <a:rPr lang="el-GR" altLang="zh-CN" sz="2400" i="1" dirty="0"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l-GR" altLang="zh-CN" sz="2400" i="1" dirty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的透明</a:t>
                </a:r>
                <a:r>
                  <a:rPr lang="zh-CN" altLang="en-US" sz="2400" dirty="0" smtClean="0"/>
                  <a:t>多边形进行</a:t>
                </a:r>
                <a:r>
                  <a:rPr lang="zh-CN" altLang="en-US" sz="2400" dirty="0"/>
                  <a:t>融合</a:t>
                </a:r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可以分别</a:t>
                </a:r>
                <a:r>
                  <a:rPr lang="zh-CN" altLang="en-US" sz="2400" dirty="0"/>
                  <a:t>把源融合因子和目标融合因子</a:t>
                </a:r>
                <a:r>
                  <a:rPr lang="zh-CN" altLang="en-US" sz="2400" dirty="0" smtClean="0"/>
                  <a:t>选择为</a:t>
                </a:r>
                <a:r>
                  <a:rPr lang="en-US" altLang="zh-CN" sz="2400" dirty="0" smtClean="0">
                    <a:solidFill>
                      <a:srgbClr val="0000FF"/>
                    </a:solidFill>
                  </a:rPr>
                  <a:t>GL_SRC_ALPHA</a:t>
                </a:r>
                <a:r>
                  <a:rPr lang="zh-CN" altLang="en-US" sz="2400" dirty="0" smtClean="0"/>
                  <a:t>和</a:t>
                </a:r>
                <a:r>
                  <a:rPr lang="en-US" altLang="zh-CN" sz="2400" dirty="0" smtClean="0">
                    <a:solidFill>
                      <a:srgbClr val="0000FF"/>
                    </a:solidFill>
                  </a:rPr>
                  <a:t>GL_ONE_MINUS_SRC_ALPHA</a:t>
                </a:r>
                <a:r>
                  <a:rPr lang="en-US" altLang="zh-CN" sz="2400" dirty="0" smtClean="0"/>
                  <a:t>,</a:t>
                </a:r>
                <a:r>
                  <a:rPr lang="zh-CN" altLang="en-US" sz="2400" dirty="0" smtClean="0"/>
                  <a:t>则</a:t>
                </a:r>
              </a:p>
              <a:p>
                <a:pPr marL="0" indent="0">
                  <a:buClr>
                    <a:srgbClr val="94003F"/>
                  </a:buClr>
                  <a:buNone/>
                </a:pPr>
                <a:endParaRPr lang="en-US" altLang="zh-CN" sz="2400" dirty="0"/>
              </a:p>
              <a:p>
                <a:pPr marL="0" indent="0">
                  <a:buClr>
                    <a:srgbClr val="94003F"/>
                  </a:buCl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 smtClean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 dirty="0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charset="0"/>
                        </a:rPr>
                        <m:t>’= </m:t>
                      </m:r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altLang="zh-CN" sz="2400" i="1" dirty="0">
                              <a:latin typeface="Cambria Math" charset="0"/>
                            </a:rPr>
                            <m:t>𝛼</m:t>
                          </m:r>
                        </m:e>
                        <m:sub>
                          <m:r>
                            <a:rPr lang="el-GR" altLang="zh-CN" sz="24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 dirty="0">
                          <a:latin typeface="Cambria Math" charset="0"/>
                        </a:rPr>
                        <m:t>+ 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charset="0"/>
                            </a:rPr>
                            <m:t>1 – 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l-GR" altLang="zh-CN" sz="2400" i="1" dirty="0">
                                  <a:latin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l-GR" altLang="zh-CN" sz="2400" i="1" dirty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 dirty="0">
                              <a:latin typeface="Cambria Math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i="1" dirty="0">
                          <a:latin typeface="Cambria Math" charset="0"/>
                        </a:rPr>
                        <m:t>, ……</m:t>
                      </m:r>
                    </m:oMath>
                  </m:oMathPara>
                </a14:m>
                <a:endParaRPr lang="en-US" altLang="zh-CN" sz="2400" dirty="0"/>
              </a:p>
              <a:p>
                <a:pPr>
                  <a:buClr>
                    <a:srgbClr val="94003F"/>
                  </a:buClr>
                </a:pPr>
                <a:endParaRPr lang="en-US" altLang="zh-CN" sz="2400" dirty="0" smtClean="0"/>
              </a:p>
              <a:p>
                <a:pPr>
                  <a:buClr>
                    <a:srgbClr val="94003F"/>
                  </a:buClr>
                </a:pPr>
                <a:r>
                  <a:rPr lang="zh-CN" altLang="en-US" sz="2400" dirty="0" smtClean="0"/>
                  <a:t>注意</a:t>
                </a:r>
                <a:r>
                  <a:rPr lang="zh-CN" altLang="en-US" sz="2400" dirty="0"/>
                  <a:t>：无论多边形是透明的，还是不透明的，该</a:t>
                </a:r>
                <a:r>
                  <a:rPr lang="zh-CN" altLang="en-US" sz="2400" dirty="0" smtClean="0"/>
                  <a:t>公式都</a:t>
                </a:r>
                <a:endParaRPr lang="en-US" altLang="zh-CN" sz="2400" dirty="0" smtClean="0"/>
              </a:p>
              <a:p>
                <a:pPr marL="0" indent="0">
                  <a:buClr>
                    <a:srgbClr val="94003F"/>
                  </a:buClr>
                  <a:buNone/>
                </a:pPr>
                <a:r>
                  <a:rPr lang="en-US" altLang="zh-CN" sz="2400" dirty="0" smtClean="0"/>
                  <a:t>    </a:t>
                </a:r>
                <a:r>
                  <a:rPr lang="zh-CN" altLang="en-US" sz="2400" dirty="0" smtClean="0"/>
                  <a:t>成立</a:t>
                </a:r>
                <a:endParaRPr lang="en-US" altLang="zh-CN" sz="140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16831"/>
                <a:ext cx="7886700" cy="4988276"/>
              </a:xfrm>
              <a:blipFill rotWithShape="0">
                <a:blip r:embed="rId2"/>
                <a:stretch>
                  <a:fillRect l="-309" t="-1711" r="-8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62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030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与顺序有关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对一个不透明对象和半透明对象进行合成时，会出现一个微妙的但是视觉上看来又明显的错误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使用融合时，不会开启隐藏面消除功能，因为如果不这样的话，那些被遮挡的多边形就不会被光栅化，从而也就不会对最终图像有贡献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endParaRPr lang="en-US" altLang="zh-CN" sz="2400" dirty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这</a:t>
            </a:r>
            <a:r>
              <a:rPr lang="zh-CN" altLang="en-US" sz="2400" dirty="0"/>
              <a:t>幅图像正确吗</a:t>
            </a:r>
            <a:r>
              <a:rPr lang="zh-CN" altLang="en-US" sz="2400" dirty="0" smtClean="0"/>
              <a:t>？</a:t>
            </a:r>
            <a:endParaRPr lang="en-US" altLang="zh-CN" sz="2400" dirty="0"/>
          </a:p>
          <a:p>
            <a:pPr lvl="1">
              <a:lnSpc>
                <a:spcPct val="100000"/>
              </a:lnSpc>
              <a:buClr>
                <a:srgbClr val="94003F"/>
              </a:buClr>
            </a:pPr>
            <a:r>
              <a:rPr lang="zh-CN" altLang="en-US" sz="1800" dirty="0"/>
              <a:t>可能不正确</a:t>
            </a:r>
          </a:p>
          <a:p>
            <a:pPr lvl="1">
              <a:lnSpc>
                <a:spcPct val="100000"/>
              </a:lnSpc>
              <a:buClr>
                <a:srgbClr val="94003F"/>
              </a:buClr>
            </a:pPr>
            <a:r>
              <a:rPr lang="zh-CN" altLang="en-US" sz="1800" dirty="0" smtClean="0"/>
              <a:t>多边形</a:t>
            </a:r>
            <a:r>
              <a:rPr lang="zh-CN" altLang="en-US" sz="1800" dirty="0"/>
              <a:t>的显示顺序就是</a:t>
            </a:r>
            <a:r>
              <a:rPr lang="zh-CN" altLang="en-US" sz="1800" dirty="0" smtClean="0"/>
              <a:t>它们</a:t>
            </a:r>
            <a:endParaRPr lang="en-US" altLang="zh-CN" sz="1800" dirty="0" smtClean="0"/>
          </a:p>
          <a:p>
            <a:pPr marL="457200" lvl="1" indent="0">
              <a:lnSpc>
                <a:spcPct val="100000"/>
              </a:lnSpc>
              <a:buClr>
                <a:srgbClr val="94003F"/>
              </a:buClr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</a:t>
            </a:r>
            <a:r>
              <a:rPr lang="zh-CN" altLang="en-US" sz="1800" dirty="0" smtClean="0"/>
              <a:t>通过流水线</a:t>
            </a:r>
            <a:r>
              <a:rPr lang="zh-CN" altLang="en-US" sz="1800" dirty="0"/>
              <a:t>的顺序</a:t>
            </a:r>
          </a:p>
          <a:p>
            <a:pPr lvl="1">
              <a:lnSpc>
                <a:spcPct val="100000"/>
              </a:lnSpc>
              <a:buClr>
                <a:srgbClr val="94003F"/>
              </a:buClr>
            </a:pPr>
            <a:r>
              <a:rPr lang="zh-CN" altLang="en-US" sz="1800" dirty="0" smtClean="0"/>
              <a:t>融合</a:t>
            </a:r>
            <a:r>
              <a:rPr lang="zh-CN" altLang="en-US" sz="1800" dirty="0"/>
              <a:t>函数是与顺序相关的</a:t>
            </a:r>
            <a:endParaRPr lang="en-US" altLang="zh-CN" sz="16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63</a:t>
            </a:fld>
            <a:endParaRPr lang="zh-CN" altLang="en-US">
              <a:solidFill>
                <a:prstClr val="black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285" y="3099872"/>
            <a:ext cx="3671126" cy="3575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5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解决顺序问题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94003F"/>
              </a:buClr>
            </a:pPr>
            <a:r>
              <a:rPr lang="zh-CN" altLang="en-US" sz="2400" dirty="0" smtClean="0"/>
              <a:t>可以像往常一样开启隐藏面消除功能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当要绘制任何</a:t>
            </a:r>
            <a:r>
              <a:rPr lang="zh-CN" altLang="en-US" sz="2400" b="1" dirty="0" smtClean="0"/>
              <a:t>半透明</a:t>
            </a:r>
            <a:r>
              <a:rPr lang="zh-CN" altLang="en-US" sz="2400" dirty="0" smtClean="0"/>
              <a:t>多边形时，把</a:t>
            </a:r>
            <a:r>
              <a:rPr lang="en-US" altLang="zh-CN" sz="2400" dirty="0" smtClean="0"/>
              <a:t>Z</a:t>
            </a:r>
            <a:r>
              <a:rPr lang="zh-CN" altLang="en-US" sz="2400" dirty="0" smtClean="0"/>
              <a:t>缓存设成</a:t>
            </a:r>
            <a:r>
              <a:rPr lang="zh-CN" altLang="en-US" sz="2400" b="1" dirty="0" smtClean="0"/>
              <a:t>只读</a:t>
            </a:r>
            <a:r>
              <a:rPr lang="zh-CN" altLang="en-US" sz="2400" dirty="0" smtClean="0"/>
              <a:t>状态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/>
              <a:t>用</a:t>
            </a:r>
            <a:r>
              <a:rPr lang="en-US" altLang="zh-CN" sz="1800" dirty="0" err="1"/>
              <a:t>glDepthMask</a:t>
            </a:r>
            <a:r>
              <a:rPr lang="en-US" altLang="zh-CN" sz="1800" dirty="0"/>
              <a:t>(GL_FALSE)</a:t>
            </a:r>
            <a:r>
              <a:rPr lang="zh-CN" altLang="en-US" sz="1800" dirty="0"/>
              <a:t>进行显示，会使深度缓冲区处于只读状态</a:t>
            </a:r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如果被已绘制的不透明多边形遮挡，则舍弃</a:t>
            </a:r>
            <a:endParaRPr lang="en-US" altLang="zh-CN" sz="18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否则，将这个半透明多边形的颜色与位于后面的多边形进行融合</a:t>
            </a:r>
            <a:endParaRPr lang="en-US" altLang="zh-CN" sz="18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/>
              <a:t>当要</a:t>
            </a:r>
            <a:r>
              <a:rPr lang="zh-CN" altLang="en-US" sz="2400" dirty="0" smtClean="0"/>
              <a:t>绘制</a:t>
            </a:r>
            <a:r>
              <a:rPr lang="zh-CN" altLang="en-US" sz="2400" b="1" dirty="0" smtClean="0"/>
              <a:t>不透明</a:t>
            </a:r>
            <a:r>
              <a:rPr lang="zh-CN" altLang="en-US" sz="2400" dirty="0"/>
              <a:t>多边</a:t>
            </a:r>
            <a:r>
              <a:rPr lang="zh-CN" altLang="en-US" sz="2400" dirty="0" smtClean="0"/>
              <a:t>形时，重新</a:t>
            </a:r>
            <a:r>
              <a:rPr lang="zh-CN" altLang="en-US" sz="2400" b="1" dirty="0" smtClean="0"/>
              <a:t>开启隐藏面消除</a:t>
            </a:r>
            <a:r>
              <a:rPr lang="zh-CN" altLang="en-US" sz="2400" dirty="0" smtClean="0"/>
              <a:t>功能</a:t>
            </a:r>
            <a:endParaRPr lang="en-US" altLang="zh-CN" sz="2400" dirty="0" smtClean="0"/>
          </a:p>
          <a:p>
            <a:pPr>
              <a:buClr>
                <a:srgbClr val="94003F"/>
              </a:buClr>
            </a:pPr>
            <a:endParaRPr lang="en-US" altLang="zh-CN" sz="2400" dirty="0" smtClean="0"/>
          </a:p>
          <a:p>
            <a:pPr>
              <a:buClr>
                <a:srgbClr val="94003F"/>
              </a:buClr>
            </a:pPr>
            <a:r>
              <a:rPr lang="zh-CN" altLang="en-US" sz="2400" dirty="0" smtClean="0"/>
              <a:t>按照上述算法合成的图像仍然会有瑕疵</a:t>
            </a:r>
            <a:endParaRPr lang="en-US" altLang="zh-CN" sz="2400" dirty="0" smtClean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因为按任意顺序绘制半透明多边形</a:t>
            </a:r>
            <a:endParaRPr lang="en-US" altLang="zh-CN" sz="1800" dirty="0"/>
          </a:p>
          <a:p>
            <a:pPr lvl="1">
              <a:buClr>
                <a:srgbClr val="94003F"/>
              </a:buClr>
            </a:pPr>
            <a:r>
              <a:rPr lang="zh-CN" altLang="en-US" sz="1800" dirty="0" smtClean="0"/>
              <a:t>解决方法：对半透明多</a:t>
            </a:r>
            <a:r>
              <a:rPr lang="zh-CN" altLang="en-US" sz="1800" dirty="0"/>
              <a:t>边形进行</a:t>
            </a:r>
            <a:r>
              <a:rPr lang="zh-CN" altLang="en-US" sz="1800" dirty="0" smtClean="0"/>
              <a:t>排序</a:t>
            </a:r>
            <a:endParaRPr lang="en-US" altLang="zh-CN" sz="1800" dirty="0"/>
          </a:p>
          <a:p>
            <a:pPr lvl="2">
              <a:buClr>
                <a:srgbClr val="94003F"/>
              </a:buClr>
            </a:pPr>
            <a:r>
              <a:rPr lang="zh-CN" altLang="en-US" sz="1600" dirty="0" smtClean="0"/>
              <a:t>首先开启隐藏面消除功能并绘制所有不透明多边形</a:t>
            </a:r>
            <a:r>
              <a:rPr lang="zh-CN" altLang="en-US" sz="1600" dirty="0"/>
              <a:t>，然后把</a:t>
            </a:r>
            <a:r>
              <a:rPr lang="en-US" altLang="zh-CN" sz="1600" dirty="0"/>
              <a:t>Z</a:t>
            </a:r>
            <a:r>
              <a:rPr lang="zh-CN" altLang="en-US" sz="1600" dirty="0"/>
              <a:t>缓存设成只读</a:t>
            </a:r>
            <a:r>
              <a:rPr lang="zh-CN" altLang="en-US" sz="1600" dirty="0" smtClean="0"/>
              <a:t>状态，按从后往前的顺序绘制半透明多边形</a:t>
            </a:r>
            <a:endParaRPr lang="en-US" altLang="zh-CN" sz="1600" dirty="0"/>
          </a:p>
          <a:p>
            <a:pPr lvl="1">
              <a:buClr>
                <a:srgbClr val="94003F"/>
              </a:buClr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>
                <a:solidFill>
                  <a:prstClr val="black"/>
                </a:solidFill>
              </a:rPr>
              <a:pPr/>
              <a:t>64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044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 </a:t>
            </a:r>
            <a:r>
              <a:rPr lang="en-US" altLang="zh-CN" dirty="0" smtClean="0"/>
              <a:t>4.1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简单</a:t>
            </a:r>
            <a:r>
              <a:rPr lang="zh-CN" altLang="en-US" dirty="0"/>
              <a:t>可扩展曲面纹</a:t>
            </a:r>
            <a:r>
              <a:rPr lang="zh-CN" altLang="en-US" dirty="0" smtClean="0"/>
              <a:t>理映射 </a:t>
            </a:r>
            <a:r>
              <a:rPr lang="mr-IN" altLang="zh-CN" dirty="0">
                <a:solidFill>
                  <a:srgbClr val="FF0000"/>
                </a:solidFill>
              </a:rPr>
              <a:t>–</a:t>
            </a:r>
            <a:r>
              <a:rPr lang="zh-CN" altLang="en-US" dirty="0">
                <a:solidFill>
                  <a:srgbClr val="FF0000"/>
                </a:solidFill>
              </a:rPr>
              <a:t> 提交</a:t>
            </a:r>
            <a:r>
              <a:rPr lang="zh-CN" altLang="en-US">
                <a:solidFill>
                  <a:srgbClr val="FF0000"/>
                </a:solidFill>
              </a:rPr>
              <a:t>实验</a:t>
            </a:r>
            <a:r>
              <a:rPr lang="zh-CN" altLang="en-US" smtClean="0">
                <a:solidFill>
                  <a:srgbClr val="FF0000"/>
                </a:solidFill>
              </a:rPr>
              <a:t>报告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了解三维曲面和纹理映基本知识</a:t>
            </a:r>
          </a:p>
          <a:p>
            <a:pPr lvl="1"/>
            <a:r>
              <a:rPr lang="zh-CN" altLang="en-US" dirty="0" smtClean="0"/>
              <a:t>了解</a:t>
            </a:r>
            <a:r>
              <a:rPr lang="zh-CN" altLang="en-US" dirty="0"/>
              <a:t>从图片文件载入纹理数据基本步骤</a:t>
            </a:r>
          </a:p>
          <a:p>
            <a:pPr lvl="1"/>
            <a:r>
              <a:rPr lang="zh-CN" altLang="en-US" dirty="0" smtClean="0"/>
              <a:t>掌握</a:t>
            </a:r>
            <a:r>
              <a:rPr lang="zh-CN" altLang="en-US" dirty="0"/>
              <a:t>三维曲面绘制过程中纹理坐标和几何坐标的</a:t>
            </a:r>
            <a:r>
              <a:rPr lang="zh-CN" altLang="en-US" dirty="0" smtClean="0"/>
              <a:t>使用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65</a:t>
            </a:fld>
            <a:endParaRPr lang="zh-CN" altLang="en-US" dirty="0"/>
          </a:p>
        </p:txBody>
      </p:sp>
      <p:pic>
        <p:nvPicPr>
          <p:cNvPr id="6" name="Picture 5"/>
          <p:cNvPicPr/>
          <p:nvPr/>
        </p:nvPicPr>
        <p:blipFill rotWithShape="1">
          <a:blip r:embed="rId2"/>
          <a:srcRect b="15575"/>
          <a:stretch/>
        </p:blipFill>
        <p:spPr bwMode="auto">
          <a:xfrm>
            <a:off x="1460078" y="3083441"/>
            <a:ext cx="5667922" cy="307281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5596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 </a:t>
            </a:r>
            <a:r>
              <a:rPr lang="en-US" altLang="zh-CN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带纹理的</a:t>
            </a:r>
            <a:r>
              <a:rPr lang="en-US" altLang="zh-CN" dirty="0"/>
              <a:t>OBJ</a:t>
            </a:r>
            <a:r>
              <a:rPr lang="zh-CN" altLang="en-US" dirty="0"/>
              <a:t>文件读取和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读取</a:t>
            </a:r>
            <a:r>
              <a:rPr lang="zh-CN" altLang="en-US" dirty="0"/>
              <a:t>带纹理的</a:t>
            </a:r>
            <a:r>
              <a:rPr lang="en-US" dirty="0" err="1"/>
              <a:t>obj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载入</a:t>
            </a:r>
            <a:r>
              <a:rPr lang="zh-CN" altLang="en-US" dirty="0"/>
              <a:t>相应的纹理图片</a:t>
            </a:r>
            <a:r>
              <a:rPr lang="zh-CN" altLang="en-US" dirty="0" smtClean="0"/>
              <a:t>文件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zh-CN" altLang="en-US" dirty="0"/>
              <a:t>带纹理的模型显示在程序窗口中</a:t>
            </a:r>
            <a:r>
              <a:rPr lang="en-US" dirty="0"/>
              <a:t> 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截止</a:t>
            </a:r>
            <a:r>
              <a:rPr lang="zh-CN" altLang="en-US" dirty="0"/>
              <a:t>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23:59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66</a:t>
            </a:fld>
            <a:endParaRPr lang="zh-CN" altLang="en-US" dirty="0"/>
          </a:p>
        </p:txBody>
      </p:sp>
      <p:pic>
        <p:nvPicPr>
          <p:cNvPr id="5" name="Picture 4"/>
          <p:cNvPicPr/>
          <p:nvPr/>
        </p:nvPicPr>
        <p:blipFill rotWithShape="1">
          <a:blip r:embed="rId2"/>
          <a:srcRect t="15638"/>
          <a:stretch/>
        </p:blipFill>
        <p:spPr bwMode="auto">
          <a:xfrm>
            <a:off x="1639079" y="3597017"/>
            <a:ext cx="5274310" cy="2603500"/>
          </a:xfrm>
          <a:prstGeom prst="rect">
            <a:avLst/>
          </a:prstGeom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2481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虚拟场景</a:t>
            </a:r>
            <a:r>
              <a:rPr lang="zh-CN" altLang="en-US" dirty="0" smtClean="0"/>
              <a:t>建模</a:t>
            </a:r>
            <a:endParaRPr lang="en-US" altLang="en-US" dirty="0"/>
          </a:p>
          <a:p>
            <a:pPr lvl="1"/>
            <a:r>
              <a:rPr lang="zh-CN" altLang="en-US" dirty="0"/>
              <a:t>场景设计和</a:t>
            </a:r>
            <a:r>
              <a:rPr lang="zh-CN" altLang="en-US" dirty="0" smtClean="0"/>
              <a:t>显示；添加纹理；添加光照，</a:t>
            </a:r>
            <a:r>
              <a:rPr lang="zh-CN" altLang="en-US" dirty="0"/>
              <a:t>材质，阴影效果</a:t>
            </a:r>
            <a:r>
              <a:rPr lang="en-US" dirty="0"/>
              <a:t> </a:t>
            </a:r>
            <a:r>
              <a:rPr lang="en-US" dirty="0" smtClean="0"/>
              <a:t> </a:t>
            </a:r>
          </a:p>
          <a:p>
            <a:pPr lvl="1"/>
            <a:r>
              <a:rPr lang="zh-CN" altLang="en-US" dirty="0"/>
              <a:t>用户交互实现视角切换完成对场景的任意角度</a:t>
            </a:r>
            <a:r>
              <a:rPr lang="zh-CN" altLang="en-US" dirty="0" smtClean="0"/>
              <a:t>浏览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通过</a:t>
            </a:r>
            <a:r>
              <a:rPr lang="zh-CN" altLang="en-US" dirty="0"/>
              <a:t>交互控制</a:t>
            </a:r>
            <a:r>
              <a:rPr lang="zh-CN" altLang="en-US" dirty="0" smtClean="0"/>
              <a:t>物体变换</a:t>
            </a:r>
            <a:endParaRPr lang="en-US" altLang="zh-CN" dirty="0" smtClean="0"/>
          </a:p>
          <a:p>
            <a:pPr lvl="1"/>
            <a:r>
              <a:rPr lang="zh-CN" altLang="en-US" dirty="0"/>
              <a:t>截止时间：</a:t>
            </a:r>
            <a:r>
              <a:rPr lang="en-US" b="1" dirty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2024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02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en-US" b="1" dirty="0" smtClean="0">
                <a:solidFill>
                  <a:srgbClr val="FF0000"/>
                </a:solidFill>
              </a:rPr>
              <a:t> 23:59</a:t>
            </a:r>
            <a:endParaRPr lang="en-US" altLang="zh-CN" b="1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第</a:t>
            </a:r>
            <a:r>
              <a:rPr lang="en-US" b="1" dirty="0" smtClean="0">
                <a:solidFill>
                  <a:srgbClr val="FF0000"/>
                </a:solidFill>
              </a:rPr>
              <a:t>1</a:t>
            </a:r>
            <a:r>
              <a:rPr lang="en-US" altLang="zh-CN" b="1" dirty="0" smtClean="0">
                <a:solidFill>
                  <a:srgbClr val="FF0000"/>
                </a:solidFill>
              </a:rPr>
              <a:t>7</a:t>
            </a:r>
            <a:r>
              <a:rPr lang="zh-CN" altLang="en-US" b="1" dirty="0" smtClean="0">
                <a:solidFill>
                  <a:srgbClr val="FF0000"/>
                </a:solidFill>
              </a:rPr>
              <a:t>、</a:t>
            </a:r>
            <a:r>
              <a:rPr lang="en-US" altLang="zh-CN" b="1" dirty="0" smtClean="0">
                <a:solidFill>
                  <a:srgbClr val="FF0000"/>
                </a:solidFill>
              </a:rPr>
              <a:t>18</a:t>
            </a:r>
            <a:r>
              <a:rPr lang="zh-CN" altLang="en-US" b="1" dirty="0" smtClean="0">
                <a:solidFill>
                  <a:srgbClr val="FF0000"/>
                </a:solidFill>
              </a:rPr>
              <a:t>周</a:t>
            </a:r>
            <a:r>
              <a:rPr lang="zh-CN" altLang="en-US" b="1" dirty="0">
                <a:solidFill>
                  <a:srgbClr val="FF0000"/>
                </a:solidFill>
              </a:rPr>
              <a:t>（</a:t>
            </a:r>
            <a:r>
              <a:rPr lang="en-US" altLang="zh-CN" b="1" dirty="0" smtClean="0">
                <a:solidFill>
                  <a:srgbClr val="FF0000"/>
                </a:solidFill>
              </a:rPr>
              <a:t>2023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>
                <a:solidFill>
                  <a:srgbClr val="FF0000"/>
                </a:solidFill>
              </a:rPr>
              <a:t>12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27</a:t>
            </a:r>
            <a:r>
              <a:rPr lang="zh-CN" altLang="en-US" b="1" dirty="0" smtClean="0">
                <a:solidFill>
                  <a:srgbClr val="FF0000"/>
                </a:solidFill>
              </a:rPr>
              <a:t>日、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2024</a:t>
            </a:r>
            <a:r>
              <a:rPr lang="zh-CN" altLang="en-US" b="1" dirty="0" smtClean="0">
                <a:solidFill>
                  <a:srgbClr val="FF0000"/>
                </a:solidFill>
              </a:rPr>
              <a:t>年</a:t>
            </a:r>
            <a:r>
              <a:rPr lang="en-US" altLang="zh-CN" b="1" dirty="0" smtClean="0">
                <a:solidFill>
                  <a:srgbClr val="FF0000"/>
                </a:solidFill>
              </a:rPr>
              <a:t>01</a:t>
            </a:r>
            <a:r>
              <a:rPr lang="zh-CN" altLang="en-US" b="1" dirty="0" smtClean="0">
                <a:solidFill>
                  <a:srgbClr val="FF0000"/>
                </a:solidFill>
              </a:rPr>
              <a:t>月</a:t>
            </a:r>
            <a:r>
              <a:rPr lang="en-US" altLang="zh-CN" b="1" dirty="0" smtClean="0">
                <a:solidFill>
                  <a:srgbClr val="FF0000"/>
                </a:solidFill>
              </a:rPr>
              <a:t>03</a:t>
            </a:r>
            <a:r>
              <a:rPr lang="zh-CN" altLang="en-US" b="1" dirty="0" smtClean="0">
                <a:solidFill>
                  <a:srgbClr val="FF0000"/>
                </a:solidFill>
              </a:rPr>
              <a:t>日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b="1" dirty="0" smtClean="0">
                <a:solidFill>
                  <a:srgbClr val="FF0000"/>
                </a:solidFill>
              </a:rPr>
              <a:t>将</a:t>
            </a:r>
            <a:r>
              <a:rPr lang="zh-CN" altLang="en-US" b="1" dirty="0">
                <a:solidFill>
                  <a:srgbClr val="FF0000"/>
                </a:solidFill>
              </a:rPr>
              <a:t>安排课程大作业答辩</a:t>
            </a:r>
            <a:r>
              <a:rPr lang="zh-CN" altLang="en-US" dirty="0" smtClean="0"/>
              <a:t>，自愿优先，否则按照</a:t>
            </a:r>
            <a:r>
              <a:rPr lang="zh-CN" altLang="en-US" dirty="0"/>
              <a:t>学号顺序，每人上台展示自己的期末大作业</a:t>
            </a:r>
            <a:r>
              <a:rPr lang="zh-CN" altLang="en-US" dirty="0" smtClean="0"/>
              <a:t>。</a:t>
            </a:r>
            <a:endParaRPr lang="en-US" dirty="0"/>
          </a:p>
          <a:p>
            <a:pPr lvl="1"/>
            <a:endParaRPr lang="en-US" b="1" dirty="0">
              <a:solidFill>
                <a:srgbClr val="FF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67</a:t>
            </a:fld>
            <a:endParaRPr lang="zh-CN" altLang="en-US" dirty="0"/>
          </a:p>
        </p:txBody>
      </p:sp>
      <p:pic>
        <p:nvPicPr>
          <p:cNvPr id="6" name="Picture 5" descr="C:\Users\xieke\Documents\Tencent Files\2314228897\Image\C2C\FCQHRQJIU96ZXZ){6JJF{RX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56" y="4059477"/>
            <a:ext cx="3678865" cy="261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5" y="4059477"/>
            <a:ext cx="2566284" cy="26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9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期末大作业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16830"/>
            <a:ext cx="7886700" cy="4860685"/>
          </a:xfrm>
        </p:spPr>
        <p:txBody>
          <a:bodyPr>
            <a:normAutofit/>
          </a:bodyPr>
          <a:lstStyle/>
          <a:p>
            <a:pPr lvl="0">
              <a:spcAft>
                <a:spcPts val="600"/>
              </a:spcAft>
            </a:pPr>
            <a:r>
              <a:rPr lang="zh-CN" altLang="en-US" sz="2400" dirty="0" smtClean="0"/>
              <a:t>上传压缩包“</a:t>
            </a:r>
            <a:r>
              <a:rPr lang="zh-CN" altLang="en-US" sz="2400" b="1" dirty="0">
                <a:solidFill>
                  <a:srgbClr val="FF0000"/>
                </a:solidFill>
              </a:rPr>
              <a:t>学号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姓名</a:t>
            </a:r>
            <a:r>
              <a:rPr lang="en-US" altLang="en-US" sz="2400" b="1" dirty="0">
                <a:solidFill>
                  <a:srgbClr val="FF0000"/>
                </a:solidFill>
              </a:rPr>
              <a:t>_</a:t>
            </a:r>
            <a:r>
              <a:rPr lang="zh-CN" altLang="en-US" sz="2400" b="1" dirty="0">
                <a:solidFill>
                  <a:srgbClr val="FF0000"/>
                </a:solidFill>
              </a:rPr>
              <a:t>期末大作业</a:t>
            </a:r>
            <a:r>
              <a:rPr lang="zh-CN" altLang="en-US" sz="2400" dirty="0" smtClean="0"/>
              <a:t>”，包括：</a:t>
            </a:r>
            <a:endParaRPr lang="en-US" altLang="zh-CN" sz="2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过程说明</a:t>
            </a:r>
            <a:r>
              <a:rPr lang="zh-CN" altLang="en-US" sz="1800" dirty="0"/>
              <a:t>报告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填写</a:t>
            </a:r>
            <a:r>
              <a:rPr lang="en-US" altLang="en-US" sz="1600" dirty="0" smtClean="0"/>
              <a:t>“</a:t>
            </a:r>
            <a:r>
              <a:rPr lang="zh-CN" altLang="en-US" sz="1600" dirty="0" smtClean="0"/>
              <a:t>以</a:t>
            </a:r>
            <a:r>
              <a:rPr lang="zh-CN" altLang="en-US" sz="1600" dirty="0"/>
              <a:t>论文、报告等形式考核专用答题纸</a:t>
            </a:r>
            <a:r>
              <a:rPr lang="en-US" altLang="en-US" sz="1600" dirty="0"/>
              <a:t>.</a:t>
            </a:r>
            <a:r>
              <a:rPr lang="en-US" altLang="en-US" sz="1600" dirty="0" smtClean="0"/>
              <a:t>doc</a:t>
            </a:r>
            <a:r>
              <a:rPr lang="zh-CN" altLang="en-US" sz="1600" dirty="0" smtClean="0"/>
              <a:t>”，</a:t>
            </a:r>
            <a:r>
              <a:rPr lang="zh-CN" altLang="en-US" sz="1600" dirty="0"/>
              <a:t>并重命名为“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答题纸</a:t>
            </a:r>
            <a:r>
              <a:rPr lang="zh-CN" altLang="en-US" sz="1600" dirty="0"/>
              <a:t>”</a:t>
            </a:r>
            <a:endParaRPr lang="en-US" altLang="zh-CN" sz="16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使用</a:t>
            </a:r>
            <a:r>
              <a:rPr lang="zh-CN" altLang="en-US" sz="1800" dirty="0"/>
              <a:t>说明书</a:t>
            </a:r>
            <a:r>
              <a:rPr lang="zh-CN" altLang="en-US" sz="1800" dirty="0" smtClean="0"/>
              <a:t>：</a:t>
            </a:r>
            <a:endParaRPr lang="en-US" altLang="zh-CN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自行</a:t>
            </a:r>
            <a:r>
              <a:rPr lang="zh-CN" altLang="en-US" sz="1600" dirty="0"/>
              <a:t>撰写一个</a:t>
            </a:r>
            <a:r>
              <a:rPr lang="en-US" altLang="en-US" sz="1600" dirty="0"/>
              <a:t>word</a:t>
            </a:r>
            <a:r>
              <a:rPr lang="zh-CN" altLang="en-US" sz="1600" dirty="0"/>
              <a:t>文档，命名为“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使用说明书</a:t>
            </a:r>
            <a:r>
              <a:rPr lang="zh-CN" altLang="en-US" sz="1600" dirty="0" smtClean="0"/>
              <a:t>”</a:t>
            </a:r>
            <a:endParaRPr lang="en-US" altLang="zh-CN" sz="16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 smtClean="0"/>
              <a:t>内容</a:t>
            </a:r>
            <a:r>
              <a:rPr lang="zh-CN" altLang="en-US" sz="1600" dirty="0"/>
              <a:t>必须</a:t>
            </a:r>
            <a:r>
              <a:rPr lang="zh-CN" altLang="en-US" sz="1600" dirty="0" smtClean="0"/>
              <a:t>包含：</a:t>
            </a:r>
            <a:endParaRPr lang="en-US" altLang="zh-CN" sz="16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一</a:t>
            </a:r>
            <a:r>
              <a:rPr lang="zh-CN" altLang="en-US" sz="1400" dirty="0"/>
              <a:t>张有代表性</a:t>
            </a:r>
            <a:r>
              <a:rPr lang="zh-CN" altLang="en-US" sz="1400" dirty="0" smtClean="0"/>
              <a:t>的场景绘制截图</a:t>
            </a:r>
            <a:endParaRPr lang="en-US" altLang="zh-CN" sz="1400" dirty="0" smtClean="0"/>
          </a:p>
          <a:p>
            <a:pPr lvl="4">
              <a:spcAft>
                <a:spcPts val="600"/>
              </a:spcAft>
            </a:pPr>
            <a:r>
              <a:rPr lang="zh-CN" altLang="en-US" sz="1400" dirty="0" smtClean="0"/>
              <a:t>将图片单独保存并一起上传，</a:t>
            </a:r>
            <a:r>
              <a:rPr lang="zh-CN" altLang="en-US" sz="1400" dirty="0"/>
              <a:t>命名为“</a:t>
            </a:r>
            <a:r>
              <a:rPr lang="zh-CN" altLang="en-US" sz="1400" dirty="0">
                <a:solidFill>
                  <a:srgbClr val="FF0000"/>
                </a:solidFill>
              </a:rPr>
              <a:t>学号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姓名</a:t>
            </a:r>
            <a:r>
              <a:rPr lang="en-US" altLang="zh-CN" sz="1400" dirty="0">
                <a:solidFill>
                  <a:srgbClr val="FF0000"/>
                </a:solidFill>
              </a:rPr>
              <a:t>_</a:t>
            </a:r>
            <a:r>
              <a:rPr lang="zh-CN" altLang="en-US" sz="1400" dirty="0">
                <a:solidFill>
                  <a:srgbClr val="FF0000"/>
                </a:solidFill>
              </a:rPr>
              <a:t>场景截图</a:t>
            </a:r>
            <a:r>
              <a:rPr lang="zh-CN" altLang="en-US" sz="1400" dirty="0" smtClean="0"/>
              <a:t>”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场景中模型</a:t>
            </a:r>
            <a:r>
              <a:rPr lang="zh-CN" altLang="en-US" sz="1400" dirty="0"/>
              <a:t>的层次结构</a:t>
            </a:r>
            <a:r>
              <a:rPr lang="zh-CN" altLang="en-US" sz="1400" dirty="0" smtClean="0"/>
              <a:t>框图</a:t>
            </a:r>
            <a:endParaRPr lang="en-US" altLang="zh-CN" sz="1400" dirty="0" smtClean="0"/>
          </a:p>
          <a:p>
            <a:pPr lvl="3">
              <a:spcAft>
                <a:spcPts val="600"/>
              </a:spcAft>
            </a:pPr>
            <a:r>
              <a:rPr lang="zh-CN" altLang="en-US" sz="1400" dirty="0" smtClean="0"/>
              <a:t>鼠标</a:t>
            </a:r>
            <a:r>
              <a:rPr lang="zh-CN" altLang="en-US" sz="1400" dirty="0"/>
              <a:t>和键盘的具体交互用</a:t>
            </a:r>
            <a:r>
              <a:rPr lang="zh-CN" altLang="en-US" sz="1400" dirty="0" smtClean="0"/>
              <a:t>法</a:t>
            </a:r>
            <a:endParaRPr lang="en-US" altLang="zh-CN" sz="1400" dirty="0" smtClean="0"/>
          </a:p>
          <a:p>
            <a:pPr lvl="1">
              <a:spcAft>
                <a:spcPts val="600"/>
              </a:spcAft>
            </a:pPr>
            <a:r>
              <a:rPr lang="zh-CN" altLang="en-US" sz="1800" dirty="0" smtClean="0"/>
              <a:t>源代</a:t>
            </a:r>
            <a:r>
              <a:rPr lang="zh-CN" altLang="en-US" sz="1800" dirty="0"/>
              <a:t>码压缩包</a:t>
            </a:r>
            <a:r>
              <a:rPr lang="en-US" sz="1800" dirty="0"/>
              <a:t> </a:t>
            </a:r>
            <a:r>
              <a:rPr lang="zh-CN" altLang="en-US" sz="1800" dirty="0" smtClean="0"/>
              <a:t>：</a:t>
            </a:r>
            <a:endParaRPr lang="en-US" sz="1800" dirty="0" smtClean="0"/>
          </a:p>
          <a:p>
            <a:pPr lvl="2">
              <a:spcAft>
                <a:spcPts val="600"/>
              </a:spcAft>
            </a:pPr>
            <a:r>
              <a:rPr lang="zh-CN" altLang="en-US" sz="1600" dirty="0"/>
              <a:t>命名为“</a:t>
            </a:r>
            <a:r>
              <a:rPr lang="zh-CN" altLang="en-US" sz="1600" dirty="0">
                <a:solidFill>
                  <a:srgbClr val="FF0000"/>
                </a:solidFill>
              </a:rPr>
              <a:t>学号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姓名</a:t>
            </a:r>
            <a:r>
              <a:rPr lang="en-US" altLang="zh-CN" sz="1600" dirty="0">
                <a:solidFill>
                  <a:srgbClr val="FF0000"/>
                </a:solidFill>
              </a:rPr>
              <a:t>_</a:t>
            </a:r>
            <a:r>
              <a:rPr lang="zh-CN" altLang="en-US" sz="1600" dirty="0">
                <a:solidFill>
                  <a:srgbClr val="FF0000"/>
                </a:solidFill>
              </a:rPr>
              <a:t>源代码</a:t>
            </a:r>
            <a:r>
              <a:rPr lang="zh-CN" altLang="en-US" sz="1600" dirty="0"/>
              <a:t>”</a:t>
            </a:r>
            <a:endParaRPr lang="en-US" altLang="en-US" sz="16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2F4E-54C0-4D36-B331-9C6FCFE9A340}" type="slidenum">
              <a:rPr lang="zh-CN" altLang="en-US" smtClean="0"/>
              <a:pPr/>
              <a:t>68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83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7867</TotalTime>
  <Words>3932</Words>
  <Application>Microsoft Office PowerPoint</Application>
  <PresentationFormat>全屏显示(4:3)</PresentationFormat>
  <Paragraphs>660</Paragraphs>
  <Slides>68</Slides>
  <Notes>1</Notes>
  <HiddenSlides>0</HiddenSlides>
  <MMClips>1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4" baseType="lpstr">
      <vt:lpstr>04b</vt:lpstr>
      <vt:lpstr>-apple-system</vt:lpstr>
      <vt:lpstr>굴림</vt:lpstr>
      <vt:lpstr>Mangal</vt:lpstr>
      <vt:lpstr>ＭＳ Ｐゴシック</vt:lpstr>
      <vt:lpstr>华文楷体</vt:lpstr>
      <vt:lpstr>宋体</vt:lpstr>
      <vt:lpstr>微软雅黑</vt:lpstr>
      <vt:lpstr>微软雅黑</vt:lpstr>
      <vt:lpstr>Arial</vt:lpstr>
      <vt:lpstr>Calibri</vt:lpstr>
      <vt:lpstr>Cambria Math</vt:lpstr>
      <vt:lpstr>Trebuchet MS</vt:lpstr>
      <vt:lpstr>Wingdings</vt:lpstr>
      <vt:lpstr>Office 主题</vt:lpstr>
      <vt:lpstr>1_Office 主题</vt:lpstr>
      <vt:lpstr>PowerPoint 演示文稿</vt:lpstr>
      <vt:lpstr>知识点回顾 - 主要任务</vt:lpstr>
      <vt:lpstr>知识点回顾 - 几何处理</vt:lpstr>
      <vt:lpstr>知识点回顾 - 光栅化</vt:lpstr>
      <vt:lpstr>知识点回顾 – 相交测试/奇偶测试</vt:lpstr>
      <vt:lpstr>知识点回顾 - 环绕测试法</vt:lpstr>
      <vt:lpstr>知识点回顾 - 片元处理</vt:lpstr>
      <vt:lpstr>大纲</vt:lpstr>
      <vt:lpstr>内容提要</vt:lpstr>
      <vt:lpstr>大纲</vt:lpstr>
      <vt:lpstr>缓存</vt:lpstr>
      <vt:lpstr>OpenGL的帧缓存</vt:lpstr>
      <vt:lpstr>数字图像</vt:lpstr>
      <vt:lpstr>缓存的写操作</vt:lpstr>
      <vt:lpstr>写入模式</vt:lpstr>
      <vt:lpstr>16种逻辑运算</vt:lpstr>
      <vt:lpstr>大纲</vt:lpstr>
      <vt:lpstr>几何建模的局限</vt:lpstr>
      <vt:lpstr>桔子的模型</vt:lpstr>
      <vt:lpstr>三种映射方法</vt:lpstr>
      <vt:lpstr>纹理映射</vt:lpstr>
      <vt:lpstr>如何实现？</vt:lpstr>
      <vt:lpstr>坐标系</vt:lpstr>
      <vt:lpstr>坐标系</vt:lpstr>
      <vt:lpstr>映射函数</vt:lpstr>
      <vt:lpstr>逆映射</vt:lpstr>
      <vt:lpstr>像素赋色</vt:lpstr>
      <vt:lpstr>像素赋色</vt:lpstr>
      <vt:lpstr>线性纹理映射</vt:lpstr>
      <vt:lpstr>两步映射</vt:lpstr>
      <vt:lpstr>复杂表面参数化</vt:lpstr>
      <vt:lpstr>大纲</vt:lpstr>
      <vt:lpstr>OpenGL与纹理</vt:lpstr>
      <vt:lpstr>基本策略</vt:lpstr>
      <vt:lpstr>创建纹理对象</vt:lpstr>
      <vt:lpstr>指定纹理图像</vt:lpstr>
      <vt:lpstr>纹理坐标</vt:lpstr>
      <vt:lpstr>插值</vt:lpstr>
      <vt:lpstr>变形</vt:lpstr>
      <vt:lpstr>纹理参数</vt:lpstr>
      <vt:lpstr>纹理采样器</vt:lpstr>
      <vt:lpstr>纹理采样</vt:lpstr>
      <vt:lpstr>放大与缩小</vt:lpstr>
      <vt:lpstr>滤波模式</vt:lpstr>
      <vt:lpstr>Mipmapping技术</vt:lpstr>
      <vt:lpstr>Mipmapping技术</vt:lpstr>
      <vt:lpstr>Mipmapping技术</vt:lpstr>
      <vt:lpstr>最终绘制方式</vt:lpstr>
      <vt:lpstr>多重纹理</vt:lpstr>
      <vt:lpstr>纹理生成</vt:lpstr>
      <vt:lpstr>大纲</vt:lpstr>
      <vt:lpstr>环境映射</vt:lpstr>
      <vt:lpstr>解决方法</vt:lpstr>
      <vt:lpstr>凹凸映射</vt:lpstr>
      <vt:lpstr>基本想法</vt:lpstr>
      <vt:lpstr>纹理映射小结</vt:lpstr>
      <vt:lpstr>大纲</vt:lpstr>
      <vt:lpstr>透明度</vt:lpstr>
      <vt:lpstr>物理模型</vt:lpstr>
      <vt:lpstr>写入的模式</vt:lpstr>
      <vt:lpstr>OpenGL的融合功能</vt:lpstr>
      <vt:lpstr>例子</vt:lpstr>
      <vt:lpstr>与顺序有关</vt:lpstr>
      <vt:lpstr>解决顺序问题</vt:lpstr>
      <vt:lpstr>实验 4.1</vt:lpstr>
      <vt:lpstr>实验 4</vt:lpstr>
      <vt:lpstr>期末大作业</vt:lpstr>
      <vt:lpstr>期末大作业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Ruizhen Hu</dc:creator>
  <cp:lastModifiedBy>周 漾</cp:lastModifiedBy>
  <cp:revision>261</cp:revision>
  <dcterms:created xsi:type="dcterms:W3CDTF">2016-08-04T07:29:19Z</dcterms:created>
  <dcterms:modified xsi:type="dcterms:W3CDTF">2023-11-29T05:57:21Z</dcterms:modified>
</cp:coreProperties>
</file>