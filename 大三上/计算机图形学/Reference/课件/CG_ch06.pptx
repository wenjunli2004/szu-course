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84" r:id="rId2"/>
    <p:sldMasterId id="2147483696" r:id="rId3"/>
  </p:sldMasterIdLst>
  <p:notesMasterIdLst>
    <p:notesMasterId r:id="rId79"/>
  </p:notesMasterIdLst>
  <p:sldIdLst>
    <p:sldId id="393" r:id="rId4"/>
    <p:sldId id="390" r:id="rId5"/>
    <p:sldId id="391" r:id="rId6"/>
    <p:sldId id="389" r:id="rId7"/>
    <p:sldId id="298" r:id="rId8"/>
    <p:sldId id="261" r:id="rId9"/>
    <p:sldId id="397" r:id="rId10"/>
    <p:sldId id="299" r:id="rId11"/>
    <p:sldId id="325" r:id="rId12"/>
    <p:sldId id="326" r:id="rId13"/>
    <p:sldId id="268" r:id="rId14"/>
    <p:sldId id="304" r:id="rId15"/>
    <p:sldId id="337" r:id="rId16"/>
    <p:sldId id="336" r:id="rId17"/>
    <p:sldId id="335" r:id="rId18"/>
    <p:sldId id="338" r:id="rId19"/>
    <p:sldId id="271" r:id="rId20"/>
    <p:sldId id="273" r:id="rId21"/>
    <p:sldId id="311" r:id="rId22"/>
    <p:sldId id="312" r:id="rId23"/>
    <p:sldId id="309" r:id="rId24"/>
    <p:sldId id="327" r:id="rId25"/>
    <p:sldId id="339" r:id="rId26"/>
    <p:sldId id="330" r:id="rId27"/>
    <p:sldId id="331" r:id="rId28"/>
    <p:sldId id="341" r:id="rId29"/>
    <p:sldId id="340" r:id="rId30"/>
    <p:sldId id="342" r:id="rId31"/>
    <p:sldId id="329" r:id="rId32"/>
    <p:sldId id="328" r:id="rId33"/>
    <p:sldId id="343" r:id="rId34"/>
    <p:sldId id="344" r:id="rId35"/>
    <p:sldId id="346" r:id="rId36"/>
    <p:sldId id="345" r:id="rId37"/>
    <p:sldId id="347" r:id="rId38"/>
    <p:sldId id="348" r:id="rId39"/>
    <p:sldId id="385" r:id="rId40"/>
    <p:sldId id="349" r:id="rId41"/>
    <p:sldId id="350" r:id="rId42"/>
    <p:sldId id="352" r:id="rId43"/>
    <p:sldId id="277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96" r:id="rId52"/>
    <p:sldId id="361" r:id="rId53"/>
    <p:sldId id="362" r:id="rId54"/>
    <p:sldId id="363" r:id="rId55"/>
    <p:sldId id="364" r:id="rId56"/>
    <p:sldId id="366" r:id="rId57"/>
    <p:sldId id="367" r:id="rId58"/>
    <p:sldId id="369" r:id="rId59"/>
    <p:sldId id="386" r:id="rId60"/>
    <p:sldId id="280" r:id="rId61"/>
    <p:sldId id="370" r:id="rId62"/>
    <p:sldId id="371" r:id="rId63"/>
    <p:sldId id="379" r:id="rId64"/>
    <p:sldId id="380" r:id="rId65"/>
    <p:sldId id="381" r:id="rId66"/>
    <p:sldId id="382" r:id="rId67"/>
    <p:sldId id="374" r:id="rId68"/>
    <p:sldId id="372" r:id="rId69"/>
    <p:sldId id="375" r:id="rId70"/>
    <p:sldId id="376" r:id="rId71"/>
    <p:sldId id="373" r:id="rId72"/>
    <p:sldId id="283" r:id="rId73"/>
    <p:sldId id="378" r:id="rId74"/>
    <p:sldId id="383" r:id="rId75"/>
    <p:sldId id="384" r:id="rId76"/>
    <p:sldId id="394" r:id="rId77"/>
    <p:sldId id="395" r:id="rId7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5B9BD5"/>
    <a:srgbClr val="464DD9"/>
    <a:srgbClr val="BDD7EE"/>
    <a:srgbClr val="A50021"/>
    <a:srgbClr val="7030A0"/>
    <a:srgbClr val="D5A6DF"/>
    <a:srgbClr val="FF91C8"/>
    <a:srgbClr val="99CC6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838" autoAdjust="0"/>
    <p:restoredTop sz="93883" autoAdjust="0"/>
  </p:normalViewPr>
  <p:slideViewPr>
    <p:cSldViewPr snapToGrid="0">
      <p:cViewPr varScale="1">
        <p:scale>
          <a:sx n="166" d="100"/>
          <a:sy n="166" d="100"/>
        </p:scale>
        <p:origin x="155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C56F0-BEE5-4715-8E33-DABC78619DE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243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This</a:t>
            </a:r>
            <a:r>
              <a:rPr lang="en-US" altLang="zh-CN" baseline="0" dirty="0"/>
              <a:t> section correspond to Sec. 2.1 of the text book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645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2.2 &amp; 2.3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961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2.4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529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669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2.6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8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</a:t>
            </a:r>
            <a:r>
              <a:rPr lang="en-US" altLang="zh-CN" baseline="0" dirty="0"/>
              <a:t> section correspond to sec. 2.7 of the text book.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17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EBE31F-852E-4C21-A5BF-45A621D063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644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D8B5D-A758-4441-AB52-89DDE7AF36E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878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D77614-659B-42BB-94D6-453193BCDAC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170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9A146-8CD6-4CAA-B3D3-2C21DC42388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303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36B5B9-9CF5-47F0-9553-3F68E408061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55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754A2-9B8A-4D21-BA10-2D4311C5CCE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865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81895-D564-41D2-A6FC-FB534A16877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8272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9337D-A0CC-4C7E-87C9-35D7F76F26E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499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11D75-C662-4506-9923-F360C490CD8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282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DD6D4-6C22-42E4-BD00-B5AB433AEB7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7801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0094D1-277E-4F0D-A9D3-6C723ED9405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770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EBE31F-852E-4C21-A5BF-45A621D063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4673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D8B5D-A758-4441-AB52-89DDE7AF36E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4353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D77614-659B-42BB-94D6-453193BCDAC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632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9A146-8CD6-4CAA-B3D3-2C21DC42388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0807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36B5B9-9CF5-47F0-9553-3F68E408061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8225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754A2-9B8A-4D21-BA10-2D4311C5CCE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767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81895-D564-41D2-A6FC-FB534A16877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2153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9337D-A0CC-4C7E-87C9-35D7F76F26E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6365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11D75-C662-4506-9923-F360C490CD8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6149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DD6D4-6C22-42E4-BD00-B5AB433AEB7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48137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0094D1-277E-4F0D-A9D3-6C723ED9405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05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2023/11/15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835710" y="144689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4977B-C4EC-482F-96C1-0349DC32933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835710" y="144689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105045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4977B-C4EC-482F-96C1-0349DC32933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754069" y="95705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VCC@SZU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68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" Target="slide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mp.weixin.qq.com/s/RY53e-OozTY4cAdzHYvFk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image" Target="../media/image3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image" Target="../media/image33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image" Target="../media/image3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huanlan.zhihu.com/p/106155534" TargetMode="External"/><Relationship Id="rId5" Type="http://schemas.openxmlformats.org/officeDocument/2006/relationships/hyperlink" Target="https://zhuanlan.zhihu.com/p/65466579" TargetMode="External"/><Relationship Id="rId4" Type="http://schemas.openxmlformats.org/officeDocument/2006/relationships/hyperlink" Target="https://zhuanlan.zhihu.com/p/65125995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3.emf"/><Relationship Id="rId5" Type="http://schemas.openxmlformats.org/officeDocument/2006/relationships/image" Target="../media/image23.emf"/><Relationship Id="rId4" Type="http://schemas.openxmlformats.org/officeDocument/2006/relationships/image" Target="../media/image47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emf"/><Relationship Id="rId4" Type="http://schemas.openxmlformats.org/officeDocument/2006/relationships/image" Target="../media/image60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23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23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image" Target="../media/image33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e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" y="207807"/>
            <a:ext cx="972064" cy="972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76" y="3086551"/>
            <a:ext cx="7156402" cy="53908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7380" y="1688450"/>
            <a:ext cx="71096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9400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计算机图形学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2" y="207808"/>
            <a:ext cx="972064" cy="9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3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mr-IN" altLang="zh-CN" dirty="0" smtClean="0"/>
              <a:t>–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Phong</a:t>
            </a:r>
            <a:r>
              <a:rPr lang="zh-CN" altLang="en-US" dirty="0" smtClean="0"/>
              <a:t>光照模型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对每个光源和每种颜色成分的光，光照模型可以表示</a:t>
            </a:r>
            <a:r>
              <a:rPr lang="zh-CN" altLang="en-US" sz="2400" dirty="0" smtClean="0"/>
              <a:t>为</a:t>
            </a:r>
            <a:r>
              <a:rPr lang="zh-CN" altLang="en-US" sz="2400" dirty="0" smtClean="0">
                <a:solidFill>
                  <a:srgbClr val="0000FF"/>
                </a:solidFill>
              </a:rPr>
              <a:t>三种光分量的效果叠加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sz="1800" dirty="0" smtClean="0"/>
              <a:t>环境光反射</a:t>
            </a:r>
            <a:r>
              <a:rPr lang="en-US" altLang="zh-CN" sz="1800" dirty="0" smtClean="0"/>
              <a:t>(a)+</a:t>
            </a:r>
            <a:r>
              <a:rPr lang="zh-CN" altLang="en-US" sz="1800" dirty="0"/>
              <a:t>漫</a:t>
            </a:r>
            <a:r>
              <a:rPr lang="zh-CN" altLang="en-US" sz="1800" dirty="0" smtClean="0"/>
              <a:t>反射</a:t>
            </a:r>
            <a:r>
              <a:rPr lang="en-US" altLang="zh-CN" sz="1800" dirty="0" smtClean="0"/>
              <a:t>(d)+</a:t>
            </a:r>
            <a:r>
              <a:rPr lang="zh-CN" altLang="en-US" sz="1800" dirty="0"/>
              <a:t>镜面</a:t>
            </a:r>
            <a:r>
              <a:rPr lang="zh-CN" altLang="en-US" sz="1800" dirty="0" smtClean="0"/>
              <a:t>反射</a:t>
            </a:r>
            <a:r>
              <a:rPr lang="en-US" altLang="zh-CN" sz="1800" dirty="0" smtClean="0"/>
              <a:t>(s)</a:t>
            </a:r>
            <a:r>
              <a:rPr lang="zh-CN" altLang="en-US" sz="1800" dirty="0" smtClean="0"/>
              <a:t>：</a:t>
            </a:r>
            <a:endParaRPr lang="en-US" altLang="zh-CN" sz="1800" dirty="0"/>
          </a:p>
          <a:p>
            <a:endParaRPr lang="en-US" altLang="zh-CN" sz="2400" dirty="0"/>
          </a:p>
          <a:p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需要针对每一个光源以及图元进行</a:t>
            </a:r>
            <a:r>
              <a:rPr lang="zh-CN" altLang="en-US" sz="1800" dirty="0" smtClean="0"/>
              <a:t>计算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用</a:t>
            </a:r>
            <a:r>
              <a:rPr lang="zh-CN" altLang="en-US" sz="1800" dirty="0"/>
              <a:t>局部模型近似全局光照</a:t>
            </a:r>
            <a:r>
              <a:rPr lang="zh-CN" altLang="en-US" sz="1800" dirty="0" smtClean="0"/>
              <a:t>效果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  <a:p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71" y="2555183"/>
            <a:ext cx="7209247" cy="658533"/>
          </a:xfrm>
          <a:prstGeom prst="rect">
            <a:avLst/>
          </a:prstGeom>
        </p:spPr>
      </p:pic>
      <p:pic>
        <p:nvPicPr>
          <p:cNvPr id="7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393" y="3107169"/>
            <a:ext cx="2031428" cy="1344899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921241" y="4528252"/>
            <a:ext cx="7490077" cy="2070371"/>
            <a:chOff x="1466657" y="3773909"/>
            <a:chExt cx="9215630" cy="254734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9712" y="3773909"/>
              <a:ext cx="9172575" cy="21717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466657" y="5942568"/>
              <a:ext cx="9172576" cy="378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   环境光反射         </a:t>
              </a:r>
              <a:r>
                <a:rPr lang="en-US" altLang="zh-CN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+    </a:t>
              </a:r>
              <a:r>
                <a:rPr lang="zh-CN" altLang="en-US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en-US" altLang="zh-CN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zh-CN" altLang="en-US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en-US" altLang="zh-CN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 </a:t>
              </a:r>
              <a:r>
                <a:rPr lang="zh-CN" altLang="en-US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   漫反射           </a:t>
              </a:r>
              <a:r>
                <a:rPr lang="en-US" altLang="zh-CN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+       </a:t>
              </a:r>
              <a:r>
                <a:rPr lang="zh-CN" altLang="en-US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  镜面反射           </a:t>
              </a:r>
              <a:r>
                <a:rPr lang="en-US" altLang="zh-CN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=         </a:t>
              </a:r>
              <a:r>
                <a:rPr lang="en-US" altLang="zh-CN" sz="1400" b="1" dirty="0" err="1" smtClean="0">
                  <a:latin typeface="Microsoft YaHei" charset="-122"/>
                  <a:ea typeface="Microsoft YaHei" charset="-122"/>
                  <a:cs typeface="Microsoft YaHei" charset="-122"/>
                </a:rPr>
                <a:t>Phong</a:t>
              </a:r>
              <a:r>
                <a:rPr lang="zh-CN" altLang="en-US" sz="1400" b="1" dirty="0" smtClean="0">
                  <a:latin typeface="Microsoft YaHei" charset="-122"/>
                  <a:ea typeface="Microsoft YaHei" charset="-122"/>
                  <a:cs typeface="Microsoft YaHei" charset="-122"/>
                </a:rPr>
                <a:t>反射</a:t>
              </a:r>
              <a:endParaRPr lang="zh-CN" altLang="en-US" sz="1400" b="1" dirty="0"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925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zh-CN" altLang="en-US" dirty="0" smtClean="0"/>
              <a:t>多边形着色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84292"/>
          </a:xfrm>
        </p:spPr>
        <p:txBody>
          <a:bodyPr>
            <a:normAutofit/>
          </a:bodyPr>
          <a:lstStyle/>
          <a:p>
            <a:r>
              <a:rPr lang="en-US" altLang="zh-CN" sz="2400" dirty="0" err="1"/>
              <a:t>Gouraud</a:t>
            </a:r>
            <a:r>
              <a:rPr lang="zh-CN" altLang="en-US" sz="2400" dirty="0" smtClean="0"/>
              <a:t>着色 </a:t>
            </a:r>
            <a:r>
              <a:rPr lang="en-US" altLang="zh-CN" sz="2400" dirty="0" smtClean="0"/>
              <a:t>vs.</a:t>
            </a:r>
            <a:r>
              <a:rPr lang="zh-CN" altLang="en-US" sz="2400" dirty="0" smtClean="0"/>
              <a:t> </a:t>
            </a:r>
            <a:r>
              <a:rPr lang="en-US" altLang="zh-CN" sz="2400" dirty="0" err="1"/>
              <a:t>Phong</a:t>
            </a:r>
            <a:r>
              <a:rPr lang="zh-CN" altLang="en-US" sz="2400" dirty="0"/>
              <a:t>着色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78653" y="2357835"/>
            <a:ext cx="2727854" cy="288499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5142068" y="2357834"/>
            <a:ext cx="2727832" cy="2884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47091" y="5457471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实验 </a:t>
            </a:r>
            <a:r>
              <a:rPr lang="en-US" altLang="zh-CN" b="1" dirty="0" smtClean="0"/>
              <a:t>3.3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10495" y="5457471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实验 </a:t>
            </a:r>
            <a:r>
              <a:rPr lang="en-US" altLang="zh-CN" b="1" dirty="0" smtClean="0"/>
              <a:t>3.4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154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57464" y="385088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从顶点到片元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>
                <a:solidFill>
                  <a:schemeClr val="bg1"/>
                </a:solidFill>
              </a:rPr>
              <a:t>6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4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图形绘制流水线的基本实现策略</a:t>
            </a:r>
            <a:endParaRPr lang="en-US" altLang="zh-CN" dirty="0" smtClean="0"/>
          </a:p>
          <a:p>
            <a:r>
              <a:rPr lang="zh-CN" altLang="en-US" dirty="0"/>
              <a:t>图形</a:t>
            </a:r>
            <a:r>
              <a:rPr lang="zh-CN" altLang="en-US" dirty="0" smtClean="0"/>
              <a:t>绘制系统的四个主要任务</a:t>
            </a:r>
            <a:endParaRPr lang="en-US" altLang="zh-CN" dirty="0" smtClean="0"/>
          </a:p>
          <a:p>
            <a:r>
              <a:rPr lang="zh-CN" altLang="en-US" dirty="0" smtClean="0"/>
              <a:t>裁剪</a:t>
            </a:r>
            <a:endParaRPr lang="en-US" altLang="zh-CN" dirty="0" smtClean="0"/>
          </a:p>
          <a:p>
            <a:r>
              <a:rPr lang="zh-CN" altLang="en-US" dirty="0" smtClean="0"/>
              <a:t>光栅化</a:t>
            </a:r>
            <a:endParaRPr lang="en-US" altLang="zh-CN" dirty="0" smtClean="0"/>
          </a:p>
          <a:p>
            <a:r>
              <a:rPr lang="zh-CN" altLang="en-US" dirty="0" smtClean="0"/>
              <a:t>隐藏面消除</a:t>
            </a:r>
            <a:endParaRPr lang="en-US" altLang="zh-CN" dirty="0" smtClean="0"/>
          </a:p>
          <a:p>
            <a:r>
              <a:rPr lang="zh-CN" altLang="en-US" dirty="0" smtClean="0"/>
              <a:t>反走样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6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754667" y="3371694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图形绘制流水线的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实现策略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2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图形开发的前世今生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765558" y="6016506"/>
            <a:ext cx="4230232" cy="584775"/>
          </a:xfrm>
          <a:prstGeom prst="rect">
            <a:avLst/>
          </a:prstGeom>
          <a:noFill/>
        </p:spPr>
        <p:txBody>
          <a:bodyPr wrap="square" rtlCol="0">
            <a:prstTxWarp prst="textCanUp">
              <a:avLst/>
            </a:prstTxWarp>
            <a:spAutoFit/>
          </a:bodyPr>
          <a:lstStyle/>
          <a:p>
            <a:r>
              <a:rPr lang="en-US" altLang="zh-CN" sz="1400" b="1" dirty="0">
                <a:solidFill>
                  <a:srgbClr val="FFC000"/>
                </a:solidFill>
              </a:rPr>
              <a:t>Microsoft</a:t>
            </a:r>
            <a:r>
              <a:rPr lang="en-US" altLang="zh-CN" sz="1200" b="1" baseline="30000" dirty="0">
                <a:solidFill>
                  <a:srgbClr val="FFC000"/>
                </a:solidFill>
              </a:rPr>
              <a:t>®</a:t>
            </a:r>
            <a:r>
              <a:rPr lang="en-US" altLang="zh-CN" sz="1400" b="1" dirty="0">
                <a:solidFill>
                  <a:srgbClr val="FFC000"/>
                </a:solidFill>
              </a:rPr>
              <a:t> never miss it</a:t>
            </a:r>
            <a:r>
              <a:rPr lang="zh-CN" altLang="en-US" sz="1400" b="1" dirty="0">
                <a:solidFill>
                  <a:srgbClr val="FFC000"/>
                </a:solidFill>
              </a:rPr>
              <a:t>！</a:t>
            </a:r>
          </a:p>
        </p:txBody>
      </p:sp>
      <p:cxnSp>
        <p:nvCxnSpPr>
          <p:cNvPr id="27" name="MH_Others_1"/>
          <p:cNvCxnSpPr/>
          <p:nvPr>
            <p:custDataLst>
              <p:tags r:id="rId1"/>
            </p:custDataLst>
          </p:nvPr>
        </p:nvCxnSpPr>
        <p:spPr>
          <a:xfrm>
            <a:off x="4582827" y="744718"/>
            <a:ext cx="7956" cy="5720401"/>
          </a:xfrm>
          <a:prstGeom prst="line">
            <a:avLst/>
          </a:prstGeom>
          <a:ln w="22225">
            <a:gradFill>
              <a:gsLst>
                <a:gs pos="0">
                  <a:srgbClr val="000000">
                    <a:alpha val="0"/>
                  </a:srgbClr>
                </a:gs>
                <a:gs pos="50000">
                  <a:srgbClr val="C0C0C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MH_Others_2"/>
          <p:cNvCxnSpPr/>
          <p:nvPr>
            <p:custDataLst>
              <p:tags r:id="rId2"/>
            </p:custDataLst>
          </p:nvPr>
        </p:nvCxnSpPr>
        <p:spPr>
          <a:xfrm flipH="1">
            <a:off x="3958821" y="1292861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H_Others_3"/>
          <p:cNvSpPr/>
          <p:nvPr>
            <p:custDataLst>
              <p:tags r:id="rId3"/>
            </p:custDataLst>
          </p:nvPr>
        </p:nvSpPr>
        <p:spPr>
          <a:xfrm>
            <a:off x="4520963" y="1241565"/>
            <a:ext cx="108000" cy="108000"/>
          </a:xfrm>
          <a:custGeom>
            <a:avLst/>
            <a:gdLst>
              <a:gd name="connsiteX0" fmla="*/ 75112 w 150224"/>
              <a:gd name="connsiteY0" fmla="*/ 0 h 150224"/>
              <a:gd name="connsiteX1" fmla="*/ 150224 w 150224"/>
              <a:gd name="connsiteY1" fmla="*/ 75112 h 150224"/>
              <a:gd name="connsiteX2" fmla="*/ 75112 w 150224"/>
              <a:gd name="connsiteY2" fmla="*/ 150224 h 150224"/>
              <a:gd name="connsiteX3" fmla="*/ 0 w 150224"/>
              <a:gd name="connsiteY3" fmla="*/ 75112 h 150224"/>
              <a:gd name="connsiteX4" fmla="*/ 75112 w 150224"/>
              <a:gd name="connsiteY4" fmla="*/ 0 h 15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4" h="150224">
                <a:moveTo>
                  <a:pt x="75112" y="0"/>
                </a:moveTo>
                <a:cubicBezTo>
                  <a:pt x="116595" y="0"/>
                  <a:pt x="150224" y="33629"/>
                  <a:pt x="150224" y="75112"/>
                </a:cubicBezTo>
                <a:cubicBezTo>
                  <a:pt x="150224" y="116595"/>
                  <a:pt x="116595" y="150224"/>
                  <a:pt x="75112" y="150224"/>
                </a:cubicBezTo>
                <a:cubicBezTo>
                  <a:pt x="33629" y="150224"/>
                  <a:pt x="0" y="116595"/>
                  <a:pt x="0" y="75112"/>
                </a:cubicBezTo>
                <a:cubicBezTo>
                  <a:pt x="0" y="33629"/>
                  <a:pt x="33629" y="0"/>
                  <a:pt x="75112" y="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MH_Number_1"/>
          <p:cNvSpPr/>
          <p:nvPr>
            <p:custDataLst>
              <p:tags r:id="rId4"/>
            </p:custDataLst>
          </p:nvPr>
        </p:nvSpPr>
        <p:spPr>
          <a:xfrm>
            <a:off x="3428762" y="1010692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F4D1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00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1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cxnSp>
        <p:nvCxnSpPr>
          <p:cNvPr id="31" name="MH_Others_4"/>
          <p:cNvCxnSpPr/>
          <p:nvPr>
            <p:custDataLst>
              <p:tags r:id="rId5"/>
            </p:custDataLst>
          </p:nvPr>
        </p:nvCxnSpPr>
        <p:spPr>
          <a:xfrm flipH="1">
            <a:off x="3975702" y="2504739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H_Others_5"/>
          <p:cNvSpPr/>
          <p:nvPr>
            <p:custDataLst>
              <p:tags r:id="rId6"/>
            </p:custDataLst>
          </p:nvPr>
        </p:nvSpPr>
        <p:spPr>
          <a:xfrm>
            <a:off x="4520963" y="2464825"/>
            <a:ext cx="108000" cy="108000"/>
          </a:xfrm>
          <a:custGeom>
            <a:avLst/>
            <a:gdLst>
              <a:gd name="connsiteX0" fmla="*/ 75112 w 150224"/>
              <a:gd name="connsiteY0" fmla="*/ 0 h 150224"/>
              <a:gd name="connsiteX1" fmla="*/ 150224 w 150224"/>
              <a:gd name="connsiteY1" fmla="*/ 75112 h 150224"/>
              <a:gd name="connsiteX2" fmla="*/ 75112 w 150224"/>
              <a:gd name="connsiteY2" fmla="*/ 150224 h 150224"/>
              <a:gd name="connsiteX3" fmla="*/ 0 w 150224"/>
              <a:gd name="connsiteY3" fmla="*/ 75112 h 150224"/>
              <a:gd name="connsiteX4" fmla="*/ 75112 w 150224"/>
              <a:gd name="connsiteY4" fmla="*/ 0 h 15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4" h="150224">
                <a:moveTo>
                  <a:pt x="75112" y="0"/>
                </a:moveTo>
                <a:cubicBezTo>
                  <a:pt x="116595" y="0"/>
                  <a:pt x="150224" y="33629"/>
                  <a:pt x="150224" y="75112"/>
                </a:cubicBezTo>
                <a:cubicBezTo>
                  <a:pt x="150224" y="116595"/>
                  <a:pt x="116595" y="150224"/>
                  <a:pt x="75112" y="150224"/>
                </a:cubicBezTo>
                <a:cubicBezTo>
                  <a:pt x="33629" y="150224"/>
                  <a:pt x="0" y="116595"/>
                  <a:pt x="0" y="75112"/>
                </a:cubicBezTo>
                <a:cubicBezTo>
                  <a:pt x="0" y="33629"/>
                  <a:pt x="33629" y="0"/>
                  <a:pt x="75112" y="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3" name="MH_Number_3"/>
          <p:cNvSpPr/>
          <p:nvPr>
            <p:custDataLst>
              <p:tags r:id="rId7"/>
            </p:custDataLst>
          </p:nvPr>
        </p:nvSpPr>
        <p:spPr>
          <a:xfrm>
            <a:off x="3428762" y="2225509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D5A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00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3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cxnSp>
        <p:nvCxnSpPr>
          <p:cNvPr id="34" name="MH_Others_6"/>
          <p:cNvCxnSpPr/>
          <p:nvPr>
            <p:custDataLst>
              <p:tags r:id="rId8"/>
            </p:custDataLst>
          </p:nvPr>
        </p:nvCxnSpPr>
        <p:spPr>
          <a:xfrm flipH="1">
            <a:off x="3967838" y="4616715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H_Others_7"/>
          <p:cNvSpPr/>
          <p:nvPr>
            <p:custDataLst>
              <p:tags r:id="rId9"/>
            </p:custDataLst>
          </p:nvPr>
        </p:nvSpPr>
        <p:spPr>
          <a:xfrm>
            <a:off x="4520963" y="4577254"/>
            <a:ext cx="108000" cy="108000"/>
          </a:xfrm>
          <a:custGeom>
            <a:avLst/>
            <a:gdLst>
              <a:gd name="connsiteX0" fmla="*/ 75112 w 150224"/>
              <a:gd name="connsiteY0" fmla="*/ 0 h 150224"/>
              <a:gd name="connsiteX1" fmla="*/ 150224 w 150224"/>
              <a:gd name="connsiteY1" fmla="*/ 75112 h 150224"/>
              <a:gd name="connsiteX2" fmla="*/ 75112 w 150224"/>
              <a:gd name="connsiteY2" fmla="*/ 150224 h 150224"/>
              <a:gd name="connsiteX3" fmla="*/ 0 w 150224"/>
              <a:gd name="connsiteY3" fmla="*/ 75112 h 150224"/>
              <a:gd name="connsiteX4" fmla="*/ 75112 w 150224"/>
              <a:gd name="connsiteY4" fmla="*/ 0 h 15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4" h="150224">
                <a:moveTo>
                  <a:pt x="75112" y="0"/>
                </a:moveTo>
                <a:cubicBezTo>
                  <a:pt x="116595" y="0"/>
                  <a:pt x="150224" y="33629"/>
                  <a:pt x="150224" y="75112"/>
                </a:cubicBezTo>
                <a:cubicBezTo>
                  <a:pt x="150224" y="116595"/>
                  <a:pt x="116595" y="150224"/>
                  <a:pt x="75112" y="150224"/>
                </a:cubicBezTo>
                <a:cubicBezTo>
                  <a:pt x="33629" y="150224"/>
                  <a:pt x="0" y="116595"/>
                  <a:pt x="0" y="75112"/>
                </a:cubicBezTo>
                <a:cubicBezTo>
                  <a:pt x="0" y="33629"/>
                  <a:pt x="33629" y="0"/>
                  <a:pt x="75112" y="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6" name="MH_Number_5"/>
          <p:cNvSpPr/>
          <p:nvPr>
            <p:custDataLst>
              <p:tags r:id="rId10"/>
            </p:custDataLst>
          </p:nvPr>
        </p:nvSpPr>
        <p:spPr>
          <a:xfrm>
            <a:off x="3428762" y="4344052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A50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00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6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cxnSp>
        <p:nvCxnSpPr>
          <p:cNvPr id="37" name="MH_Others_8"/>
          <p:cNvCxnSpPr/>
          <p:nvPr>
            <p:custDataLst>
              <p:tags r:id="rId11"/>
            </p:custDataLst>
          </p:nvPr>
        </p:nvCxnSpPr>
        <p:spPr>
          <a:xfrm>
            <a:off x="4590783" y="1756812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MH_Others_9"/>
          <p:cNvSpPr/>
          <p:nvPr>
            <p:custDataLst>
              <p:tags r:id="rId12"/>
            </p:custDataLst>
          </p:nvPr>
        </p:nvSpPr>
        <p:spPr>
          <a:xfrm>
            <a:off x="4523642" y="1696091"/>
            <a:ext cx="108000" cy="108000"/>
          </a:xfrm>
          <a:custGeom>
            <a:avLst/>
            <a:gdLst>
              <a:gd name="connsiteX0" fmla="*/ 75112 w 150224"/>
              <a:gd name="connsiteY0" fmla="*/ 0 h 150224"/>
              <a:gd name="connsiteX1" fmla="*/ 150224 w 150224"/>
              <a:gd name="connsiteY1" fmla="*/ 75112 h 150224"/>
              <a:gd name="connsiteX2" fmla="*/ 75112 w 150224"/>
              <a:gd name="connsiteY2" fmla="*/ 150224 h 150224"/>
              <a:gd name="connsiteX3" fmla="*/ 0 w 150224"/>
              <a:gd name="connsiteY3" fmla="*/ 75112 h 150224"/>
              <a:gd name="connsiteX4" fmla="*/ 75112 w 150224"/>
              <a:gd name="connsiteY4" fmla="*/ 0 h 15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4" h="150224">
                <a:moveTo>
                  <a:pt x="75112" y="0"/>
                </a:moveTo>
                <a:cubicBezTo>
                  <a:pt x="116595" y="0"/>
                  <a:pt x="150224" y="33629"/>
                  <a:pt x="150224" y="75112"/>
                </a:cubicBezTo>
                <a:cubicBezTo>
                  <a:pt x="150224" y="116595"/>
                  <a:pt x="116595" y="150224"/>
                  <a:pt x="75112" y="150224"/>
                </a:cubicBezTo>
                <a:cubicBezTo>
                  <a:pt x="33629" y="150224"/>
                  <a:pt x="0" y="116595"/>
                  <a:pt x="0" y="75112"/>
                </a:cubicBezTo>
                <a:cubicBezTo>
                  <a:pt x="0" y="33629"/>
                  <a:pt x="33629" y="0"/>
                  <a:pt x="75112" y="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9" name="MH_Number_2"/>
          <p:cNvSpPr/>
          <p:nvPr>
            <p:custDataLst>
              <p:tags r:id="rId13"/>
            </p:custDataLst>
          </p:nvPr>
        </p:nvSpPr>
        <p:spPr>
          <a:xfrm flipH="1">
            <a:off x="5197674" y="1476269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2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cxnSp>
        <p:nvCxnSpPr>
          <p:cNvPr id="40" name="MH_Others_10"/>
          <p:cNvCxnSpPr/>
          <p:nvPr>
            <p:custDataLst>
              <p:tags r:id="rId14"/>
            </p:custDataLst>
          </p:nvPr>
        </p:nvCxnSpPr>
        <p:spPr>
          <a:xfrm>
            <a:off x="4590783" y="3357142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H_Others_11"/>
          <p:cNvSpPr/>
          <p:nvPr>
            <p:custDataLst>
              <p:tags r:id="rId15"/>
            </p:custDataLst>
          </p:nvPr>
        </p:nvSpPr>
        <p:spPr>
          <a:xfrm>
            <a:off x="4523642" y="3305846"/>
            <a:ext cx="108000" cy="108000"/>
          </a:xfrm>
          <a:custGeom>
            <a:avLst/>
            <a:gdLst>
              <a:gd name="connsiteX0" fmla="*/ 75112 w 150224"/>
              <a:gd name="connsiteY0" fmla="*/ 0 h 150224"/>
              <a:gd name="connsiteX1" fmla="*/ 150224 w 150224"/>
              <a:gd name="connsiteY1" fmla="*/ 75112 h 150224"/>
              <a:gd name="connsiteX2" fmla="*/ 75112 w 150224"/>
              <a:gd name="connsiteY2" fmla="*/ 150224 h 150224"/>
              <a:gd name="connsiteX3" fmla="*/ 0 w 150224"/>
              <a:gd name="connsiteY3" fmla="*/ 75112 h 150224"/>
              <a:gd name="connsiteX4" fmla="*/ 75112 w 150224"/>
              <a:gd name="connsiteY4" fmla="*/ 0 h 15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4" h="150224">
                <a:moveTo>
                  <a:pt x="75112" y="0"/>
                </a:moveTo>
                <a:cubicBezTo>
                  <a:pt x="116595" y="0"/>
                  <a:pt x="150224" y="33629"/>
                  <a:pt x="150224" y="75112"/>
                </a:cubicBezTo>
                <a:cubicBezTo>
                  <a:pt x="150224" y="116595"/>
                  <a:pt x="116595" y="150224"/>
                  <a:pt x="75112" y="150224"/>
                </a:cubicBezTo>
                <a:cubicBezTo>
                  <a:pt x="33629" y="150224"/>
                  <a:pt x="0" y="116595"/>
                  <a:pt x="0" y="75112"/>
                </a:cubicBezTo>
                <a:cubicBezTo>
                  <a:pt x="0" y="33629"/>
                  <a:pt x="33629" y="0"/>
                  <a:pt x="75112" y="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2" name="MH_Number_4"/>
          <p:cNvSpPr/>
          <p:nvPr>
            <p:custDataLst>
              <p:tags r:id="rId16"/>
            </p:custDataLst>
          </p:nvPr>
        </p:nvSpPr>
        <p:spPr>
          <a:xfrm flipH="1">
            <a:off x="5197674" y="3082100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4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592010" y="1007343"/>
            <a:ext cx="1556798" cy="568721"/>
            <a:chOff x="2213096" y="1549803"/>
            <a:chExt cx="816469" cy="920618"/>
          </a:xfrm>
        </p:grpSpPr>
        <p:sp>
          <p:nvSpPr>
            <p:cNvPr id="45" name="矩形: 圆角 44"/>
            <p:cNvSpPr/>
            <p:nvPr/>
          </p:nvSpPr>
          <p:spPr>
            <a:xfrm>
              <a:off x="2213096" y="1549803"/>
              <a:ext cx="816469" cy="920618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矩形: 圆角 4"/>
            <p:cNvSpPr txBox="1"/>
            <p:nvPr/>
          </p:nvSpPr>
          <p:spPr>
            <a:xfrm>
              <a:off x="2237010" y="1573717"/>
              <a:ext cx="768641" cy="8727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dirty="0"/>
                <a:t>1992 OpenGL ARB 1.0</a:t>
              </a:r>
              <a:endParaRPr lang="zh-CN" altLang="en-US" sz="2000" kern="1200" dirty="0">
                <a:latin typeface="叶根友唐楷字体" panose="02010601030101010101" pitchFamily="2" charset="-122"/>
                <a:ea typeface="叶根友唐楷字体" panose="02010601030101010101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017950" y="1476269"/>
            <a:ext cx="1512000" cy="544313"/>
            <a:chOff x="7514252" y="787764"/>
            <a:chExt cx="1358973" cy="544313"/>
          </a:xfrm>
        </p:grpSpPr>
        <p:sp>
          <p:nvSpPr>
            <p:cNvPr id="48" name="矩形: 圆角 47">
              <a:hlinkClick r:id="rId30" action="ppaction://hlinksldjump"/>
            </p:cNvPr>
            <p:cNvSpPr/>
            <p:nvPr/>
          </p:nvSpPr>
          <p:spPr>
            <a:xfrm>
              <a:off x="7514252" y="787764"/>
              <a:ext cx="1358973" cy="544313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矩形: 圆角 4"/>
            <p:cNvSpPr txBox="1"/>
            <p:nvPr/>
          </p:nvSpPr>
          <p:spPr>
            <a:xfrm>
              <a:off x="7530194" y="803706"/>
              <a:ext cx="1327089" cy="5124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kern="1200" dirty="0">
                  <a:ea typeface="叶根友唐楷字体" panose="02010601030101010101" pitchFamily="2" charset="-122"/>
                </a:rPr>
                <a:t>1995 Direct3D 1.0</a:t>
              </a:r>
              <a:endParaRPr lang="zh-CN" altLang="en-US" kern="1200" dirty="0">
                <a:ea typeface="叶根友唐楷字体" panose="02010601030101010101" pitchFamily="2" charset="-122"/>
              </a:endParaRPr>
            </a:p>
          </p:txBody>
        </p:sp>
      </p:grpSp>
      <p:cxnSp>
        <p:nvCxnSpPr>
          <p:cNvPr id="43" name="MH_Others_4"/>
          <p:cNvCxnSpPr/>
          <p:nvPr>
            <p:custDataLst>
              <p:tags r:id="rId17"/>
            </p:custDataLst>
          </p:nvPr>
        </p:nvCxnSpPr>
        <p:spPr>
          <a:xfrm flipH="1">
            <a:off x="3958821" y="3359603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H_Number_3"/>
          <p:cNvSpPr/>
          <p:nvPr>
            <p:custDataLst>
              <p:tags r:id="rId18"/>
            </p:custDataLst>
          </p:nvPr>
        </p:nvSpPr>
        <p:spPr>
          <a:xfrm>
            <a:off x="3428762" y="3082100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00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4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166928" y="3091154"/>
            <a:ext cx="1981880" cy="568721"/>
            <a:chOff x="2213096" y="1549803"/>
            <a:chExt cx="816469" cy="920618"/>
          </a:xfrm>
        </p:grpSpPr>
        <p:sp>
          <p:nvSpPr>
            <p:cNvPr id="52" name="矩形: 圆角 51"/>
            <p:cNvSpPr/>
            <p:nvPr/>
          </p:nvSpPr>
          <p:spPr>
            <a:xfrm>
              <a:off x="2213096" y="1549803"/>
              <a:ext cx="816469" cy="920618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矩形: 圆角 4"/>
            <p:cNvSpPr txBox="1"/>
            <p:nvPr/>
          </p:nvSpPr>
          <p:spPr>
            <a:xfrm>
              <a:off x="2237010" y="1573717"/>
              <a:ext cx="768641" cy="8727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2009 OpenGL 3.1 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 </a:t>
              </a:r>
              <a:r>
                <a:rPr lang="zh-CN" altLang="en-US" dirty="0"/>
                <a:t>完全基于着色器</a:t>
              </a:r>
              <a:endParaRPr lang="zh-CN" altLang="en-US" sz="2000" kern="1200" dirty="0">
                <a:latin typeface="叶根友唐楷字体" panose="02010601030101010101" pitchFamily="2" charset="-122"/>
                <a:ea typeface="叶根友唐楷字体" panose="02010601030101010101" pitchFamily="2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119433" y="2237725"/>
            <a:ext cx="2029375" cy="568721"/>
            <a:chOff x="2213096" y="1549803"/>
            <a:chExt cx="816469" cy="920618"/>
          </a:xfrm>
        </p:grpSpPr>
        <p:sp>
          <p:nvSpPr>
            <p:cNvPr id="55" name="矩形: 圆角 54"/>
            <p:cNvSpPr/>
            <p:nvPr/>
          </p:nvSpPr>
          <p:spPr>
            <a:xfrm>
              <a:off x="2213096" y="1549803"/>
              <a:ext cx="816469" cy="920618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矩形: 圆角 4"/>
            <p:cNvSpPr txBox="1"/>
            <p:nvPr/>
          </p:nvSpPr>
          <p:spPr>
            <a:xfrm>
              <a:off x="2237010" y="1573717"/>
              <a:ext cx="768641" cy="8727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2004 OpenGL 2.0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 </a:t>
              </a:r>
              <a:r>
                <a:rPr lang="zh-CN" altLang="en-US" dirty="0"/>
                <a:t>顶点</a:t>
              </a:r>
              <a:r>
                <a:rPr lang="en-US" altLang="zh-CN" dirty="0"/>
                <a:t>/</a:t>
              </a:r>
              <a:r>
                <a:rPr lang="zh-CN" altLang="en-US" dirty="0"/>
                <a:t>片段着色器</a:t>
              </a:r>
              <a:endParaRPr lang="zh-CN" altLang="en-US" sz="2000" kern="1200" dirty="0">
                <a:latin typeface="叶根友唐楷字体" panose="02010601030101010101" pitchFamily="2" charset="-122"/>
                <a:ea typeface="叶根友唐楷字体" panose="02010601030101010101" pitchFamily="2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178937" y="5158341"/>
            <a:ext cx="1969871" cy="676498"/>
            <a:chOff x="2213096" y="1549803"/>
            <a:chExt cx="816469" cy="1095083"/>
          </a:xfrm>
        </p:grpSpPr>
        <p:sp>
          <p:nvSpPr>
            <p:cNvPr id="58" name="矩形: 圆角 57"/>
            <p:cNvSpPr/>
            <p:nvPr/>
          </p:nvSpPr>
          <p:spPr>
            <a:xfrm>
              <a:off x="2213096" y="1549803"/>
              <a:ext cx="816469" cy="920618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矩形: 圆角 4"/>
            <p:cNvSpPr txBox="1"/>
            <p:nvPr/>
          </p:nvSpPr>
          <p:spPr>
            <a:xfrm>
              <a:off x="2237010" y="1772097"/>
              <a:ext cx="768641" cy="8727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2015 HTML5</a:t>
              </a:r>
              <a:r>
                <a:rPr lang="zh-CN" altLang="en-US" dirty="0"/>
                <a:t>发布</a:t>
              </a:r>
              <a:r>
                <a:rPr lang="en-US" altLang="zh-CN" dirty="0"/>
                <a:t> </a:t>
              </a:r>
              <a:r>
                <a:rPr lang="en-US" altLang="zh-CN" dirty="0" err="1"/>
                <a:t>WebGL</a:t>
              </a:r>
              <a:r>
                <a:rPr lang="zh-CN" altLang="en-US" dirty="0"/>
                <a:t>流行</a:t>
              </a:r>
              <a:r>
                <a:rPr lang="en-US" altLang="zh-CN" dirty="0"/>
                <a:t> 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 </a:t>
              </a:r>
              <a:endParaRPr lang="zh-CN" altLang="en-US" sz="2000" kern="1200" dirty="0">
                <a:latin typeface="叶根友唐楷字体" panose="02010601030101010101" pitchFamily="2" charset="-122"/>
                <a:ea typeface="叶根友唐楷字体" panose="02010601030101010101" pitchFamily="2" charset="-122"/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269725" y="6041449"/>
            <a:ext cx="4230232" cy="584775"/>
          </a:xfrm>
          <a:prstGeom prst="rect">
            <a:avLst/>
          </a:prstGeom>
          <a:noFill/>
        </p:spPr>
        <p:txBody>
          <a:bodyPr wrap="square" rtlCol="0">
            <a:prstTxWarp prst="textCanUp">
              <a:avLst/>
            </a:prstTxWarp>
            <a:spAutoFit/>
          </a:bodyPr>
          <a:lstStyle/>
          <a:p>
            <a:r>
              <a:rPr lang="en-US" altLang="zh-CN" sz="1400" b="1" dirty="0">
                <a:solidFill>
                  <a:srgbClr val="00B0F0"/>
                </a:solidFill>
              </a:rPr>
              <a:t>OpenGL</a:t>
            </a:r>
            <a:r>
              <a:rPr lang="en-US" altLang="zh-CN" sz="1200" b="1" baseline="30000" dirty="0">
                <a:solidFill>
                  <a:srgbClr val="00B0F0"/>
                </a:solidFill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</a:rPr>
              <a:t> is the mainstream.</a:t>
            </a:r>
            <a:endParaRPr lang="zh-CN" altLang="en-US" sz="1400" b="1" dirty="0">
              <a:solidFill>
                <a:srgbClr val="00B0F0"/>
              </a:solidFill>
            </a:endParaRPr>
          </a:p>
        </p:txBody>
      </p:sp>
      <p:cxnSp>
        <p:nvCxnSpPr>
          <p:cNvPr id="61" name="MH_Others_8"/>
          <p:cNvCxnSpPr/>
          <p:nvPr>
            <p:custDataLst>
              <p:tags r:id="rId19"/>
            </p:custDataLst>
          </p:nvPr>
        </p:nvCxnSpPr>
        <p:spPr>
          <a:xfrm>
            <a:off x="4621186" y="2503159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MH_Number_2"/>
          <p:cNvSpPr/>
          <p:nvPr>
            <p:custDataLst>
              <p:tags r:id="rId20"/>
            </p:custDataLst>
          </p:nvPr>
        </p:nvSpPr>
        <p:spPr>
          <a:xfrm flipH="1">
            <a:off x="5188247" y="2225509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D5A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3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017950" y="2232043"/>
            <a:ext cx="1512000" cy="544313"/>
            <a:chOff x="7514252" y="787764"/>
            <a:chExt cx="1358973" cy="544313"/>
          </a:xfrm>
        </p:grpSpPr>
        <p:sp>
          <p:nvSpPr>
            <p:cNvPr id="64" name="矩形: 圆角 63">
              <a:hlinkClick r:id="rId30" action="ppaction://hlinksldjump"/>
            </p:cNvPr>
            <p:cNvSpPr/>
            <p:nvPr/>
          </p:nvSpPr>
          <p:spPr>
            <a:xfrm>
              <a:off x="7514252" y="787764"/>
              <a:ext cx="1358973" cy="544313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5" name="矩形: 圆角 4"/>
            <p:cNvSpPr txBox="1"/>
            <p:nvPr/>
          </p:nvSpPr>
          <p:spPr>
            <a:xfrm>
              <a:off x="7530194" y="803706"/>
              <a:ext cx="1327089" cy="5124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dirty="0">
                  <a:ea typeface="叶根友唐楷字体" panose="02010601030101010101" pitchFamily="2" charset="-122"/>
                </a:rPr>
                <a:t>2004</a:t>
              </a:r>
              <a:r>
                <a:rPr lang="en-US" altLang="zh-CN" kern="1200" dirty="0">
                  <a:ea typeface="叶根友唐楷字体" panose="02010601030101010101" pitchFamily="2" charset="-122"/>
                </a:rPr>
                <a:t> Direct3D 9.0c</a:t>
              </a:r>
              <a:endParaRPr lang="zh-CN" altLang="en-US" kern="1200" dirty="0">
                <a:ea typeface="叶根友唐楷字体" panose="02010601030101010101" pitchFamily="2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017949" y="3082100"/>
            <a:ext cx="1512000" cy="544313"/>
            <a:chOff x="7514252" y="787764"/>
            <a:chExt cx="1358973" cy="544313"/>
          </a:xfrm>
        </p:grpSpPr>
        <p:sp>
          <p:nvSpPr>
            <p:cNvPr id="67" name="矩形: 圆角 66">
              <a:hlinkClick r:id="rId30" action="ppaction://hlinksldjump"/>
            </p:cNvPr>
            <p:cNvSpPr/>
            <p:nvPr/>
          </p:nvSpPr>
          <p:spPr>
            <a:xfrm>
              <a:off x="7514252" y="787764"/>
              <a:ext cx="1358973" cy="544313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8" name="矩形: 圆角 4"/>
            <p:cNvSpPr txBox="1"/>
            <p:nvPr/>
          </p:nvSpPr>
          <p:spPr>
            <a:xfrm>
              <a:off x="7530194" y="803706"/>
              <a:ext cx="1327089" cy="5124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dirty="0">
                  <a:ea typeface="叶根友唐楷字体" panose="02010601030101010101" pitchFamily="2" charset="-122"/>
                </a:rPr>
                <a:t>2009</a:t>
              </a:r>
              <a:r>
                <a:rPr lang="en-US" altLang="zh-CN" kern="1200" dirty="0">
                  <a:ea typeface="叶根友唐楷字体" panose="02010601030101010101" pitchFamily="2" charset="-122"/>
                </a:rPr>
                <a:t> Direct3D 11.0</a:t>
              </a:r>
              <a:endParaRPr lang="zh-CN" altLang="en-US" kern="1200" dirty="0">
                <a:ea typeface="叶根友唐楷字体" panose="02010601030101010101" pitchFamily="2" charset="-122"/>
              </a:endParaRPr>
            </a:p>
          </p:txBody>
        </p:sp>
      </p:grpSp>
      <p:cxnSp>
        <p:nvCxnSpPr>
          <p:cNvPr id="69" name="MH_Others_10"/>
          <p:cNvCxnSpPr/>
          <p:nvPr>
            <p:custDataLst>
              <p:tags r:id="rId21"/>
            </p:custDataLst>
          </p:nvPr>
        </p:nvCxnSpPr>
        <p:spPr>
          <a:xfrm>
            <a:off x="4629689" y="4265773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MH_Number_4"/>
          <p:cNvSpPr/>
          <p:nvPr>
            <p:custDataLst>
              <p:tags r:id="rId22"/>
            </p:custDataLst>
          </p:nvPr>
        </p:nvSpPr>
        <p:spPr>
          <a:xfrm flipH="1">
            <a:off x="5197674" y="3989871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5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017949" y="3979735"/>
            <a:ext cx="1512000" cy="544313"/>
            <a:chOff x="7514252" y="787764"/>
            <a:chExt cx="1358973" cy="544313"/>
          </a:xfrm>
        </p:grpSpPr>
        <p:sp>
          <p:nvSpPr>
            <p:cNvPr id="72" name="矩形: 圆角 71">
              <a:hlinkClick r:id="rId30" action="ppaction://hlinksldjump"/>
            </p:cNvPr>
            <p:cNvSpPr/>
            <p:nvPr/>
          </p:nvSpPr>
          <p:spPr>
            <a:xfrm>
              <a:off x="7514252" y="787764"/>
              <a:ext cx="1358973" cy="544313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3" name="矩形: 圆角 4"/>
            <p:cNvSpPr txBox="1"/>
            <p:nvPr/>
          </p:nvSpPr>
          <p:spPr>
            <a:xfrm>
              <a:off x="7530194" y="803706"/>
              <a:ext cx="1327089" cy="5124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dirty="0">
                  <a:ea typeface="叶根友唐楷字体" panose="02010601030101010101" pitchFamily="2" charset="-122"/>
                </a:rPr>
                <a:t>2010</a:t>
              </a:r>
              <a:r>
                <a:rPr lang="en-US" altLang="zh-CN" kern="1200" dirty="0">
                  <a:ea typeface="叶根友唐楷字体" panose="02010601030101010101" pitchFamily="2" charset="-122"/>
                </a:rPr>
                <a:t> Kinect 1.0</a:t>
              </a:r>
              <a:r>
                <a:rPr lang="zh-CN" altLang="en-US" kern="1200" dirty="0">
                  <a:ea typeface="叶根友唐楷字体" panose="02010601030101010101" pitchFamily="2" charset="-122"/>
                </a:rPr>
                <a:t>发布</a:t>
              </a:r>
            </a:p>
          </p:txBody>
        </p:sp>
      </p:grpSp>
      <p:cxnSp>
        <p:nvCxnSpPr>
          <p:cNvPr id="74" name="MH_Others_10"/>
          <p:cNvCxnSpPr/>
          <p:nvPr>
            <p:custDataLst>
              <p:tags r:id="rId23"/>
            </p:custDataLst>
          </p:nvPr>
        </p:nvCxnSpPr>
        <p:spPr>
          <a:xfrm>
            <a:off x="4640040" y="5436193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MH_Number_4"/>
          <p:cNvSpPr/>
          <p:nvPr>
            <p:custDataLst>
              <p:tags r:id="rId24"/>
            </p:custDataLst>
          </p:nvPr>
        </p:nvSpPr>
        <p:spPr>
          <a:xfrm flipH="1">
            <a:off x="5197674" y="5154533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464D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7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017949" y="5148914"/>
            <a:ext cx="1512000" cy="544313"/>
            <a:chOff x="7514252" y="787764"/>
            <a:chExt cx="1358973" cy="544313"/>
          </a:xfrm>
        </p:grpSpPr>
        <p:sp>
          <p:nvSpPr>
            <p:cNvPr id="77" name="矩形: 圆角 76">
              <a:hlinkClick r:id="rId30" action="ppaction://hlinksldjump"/>
            </p:cNvPr>
            <p:cNvSpPr/>
            <p:nvPr/>
          </p:nvSpPr>
          <p:spPr>
            <a:xfrm>
              <a:off x="7514252" y="787764"/>
              <a:ext cx="1358973" cy="544313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8" name="矩形: 圆角 4"/>
            <p:cNvSpPr txBox="1"/>
            <p:nvPr/>
          </p:nvSpPr>
          <p:spPr>
            <a:xfrm>
              <a:off x="7530194" y="803706"/>
              <a:ext cx="1327089" cy="5124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dirty="0">
                  <a:ea typeface="叶根友唐楷字体" panose="02010601030101010101" pitchFamily="2" charset="-122"/>
                </a:rPr>
                <a:t>2015</a:t>
              </a:r>
              <a:r>
                <a:rPr lang="en-US" altLang="zh-CN" kern="1200" dirty="0">
                  <a:ea typeface="叶根友唐楷字体" panose="02010601030101010101" pitchFamily="2" charset="-122"/>
                </a:rPr>
                <a:t> HoloLens</a:t>
              </a:r>
              <a:r>
                <a:rPr lang="zh-CN" altLang="en-US" kern="1200" dirty="0">
                  <a:ea typeface="叶根友唐楷字体" panose="02010601030101010101" pitchFamily="2" charset="-122"/>
                </a:rPr>
                <a:t>发布</a:t>
              </a:r>
            </a:p>
          </p:txBody>
        </p:sp>
      </p:grpSp>
      <p:cxnSp>
        <p:nvCxnSpPr>
          <p:cNvPr id="79" name="MH_Others_6"/>
          <p:cNvCxnSpPr/>
          <p:nvPr>
            <p:custDataLst>
              <p:tags r:id="rId25"/>
            </p:custDataLst>
          </p:nvPr>
        </p:nvCxnSpPr>
        <p:spPr>
          <a:xfrm flipH="1">
            <a:off x="4032915" y="5436193"/>
            <a:ext cx="607125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MH_Number_5"/>
          <p:cNvSpPr/>
          <p:nvPr>
            <p:custDataLst>
              <p:tags r:id="rId26"/>
            </p:custDataLst>
          </p:nvPr>
        </p:nvSpPr>
        <p:spPr>
          <a:xfrm>
            <a:off x="3428762" y="5153507"/>
            <a:ext cx="617200" cy="565372"/>
          </a:xfrm>
          <a:custGeom>
            <a:avLst/>
            <a:gdLst>
              <a:gd name="connsiteX0" fmla="*/ 282686 w 617200"/>
              <a:gd name="connsiteY0" fmla="*/ 0 h 565372"/>
              <a:gd name="connsiteX1" fmla="*/ 559629 w 617200"/>
              <a:gd name="connsiteY1" fmla="*/ 225715 h 565372"/>
              <a:gd name="connsiteX2" fmla="*/ 561997 w 617200"/>
              <a:gd name="connsiteY2" fmla="*/ 249209 h 565372"/>
              <a:gd name="connsiteX3" fmla="*/ 617200 w 617200"/>
              <a:gd name="connsiteY3" fmla="*/ 282687 h 565372"/>
              <a:gd name="connsiteX4" fmla="*/ 561997 w 617200"/>
              <a:gd name="connsiteY4" fmla="*/ 316164 h 565372"/>
              <a:gd name="connsiteX5" fmla="*/ 559629 w 617200"/>
              <a:gd name="connsiteY5" fmla="*/ 339657 h 565372"/>
              <a:gd name="connsiteX6" fmla="*/ 282686 w 617200"/>
              <a:gd name="connsiteY6" fmla="*/ 565372 h 565372"/>
              <a:gd name="connsiteX7" fmla="*/ 0 w 617200"/>
              <a:gd name="connsiteY7" fmla="*/ 282686 h 565372"/>
              <a:gd name="connsiteX8" fmla="*/ 282686 w 617200"/>
              <a:gd name="connsiteY8" fmla="*/ 0 h 565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7200" h="565372">
                <a:moveTo>
                  <a:pt x="282686" y="0"/>
                </a:moveTo>
                <a:cubicBezTo>
                  <a:pt x="419294" y="0"/>
                  <a:pt x="533270" y="96900"/>
                  <a:pt x="559629" y="225715"/>
                </a:cubicBezTo>
                <a:lnTo>
                  <a:pt x="561997" y="249209"/>
                </a:lnTo>
                <a:lnTo>
                  <a:pt x="617200" y="282687"/>
                </a:lnTo>
                <a:lnTo>
                  <a:pt x="561997" y="316164"/>
                </a:lnTo>
                <a:lnTo>
                  <a:pt x="559629" y="339657"/>
                </a:lnTo>
                <a:cubicBezTo>
                  <a:pt x="533270" y="468472"/>
                  <a:pt x="419294" y="565372"/>
                  <a:pt x="282686" y="565372"/>
                </a:cubicBezTo>
                <a:cubicBezTo>
                  <a:pt x="126563" y="565372"/>
                  <a:pt x="0" y="438809"/>
                  <a:pt x="0" y="282686"/>
                </a:cubicBezTo>
                <a:cubicBezTo>
                  <a:pt x="0" y="126563"/>
                  <a:pt x="126563" y="0"/>
                  <a:pt x="282686" y="0"/>
                </a:cubicBezTo>
                <a:close/>
              </a:path>
            </a:pathLst>
          </a:custGeom>
          <a:solidFill>
            <a:srgbClr val="464D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36000" bIns="0"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  <a:latin typeface="Impact" panose="020B0806030902050204" pitchFamily="34" charset="0"/>
              </a:rPr>
              <a:t>7</a:t>
            </a:r>
            <a:endParaRPr lang="zh-CN" altLang="en-US" sz="3200" dirty="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276537" y="4316001"/>
            <a:ext cx="1872271" cy="568721"/>
            <a:chOff x="2213096" y="1549803"/>
            <a:chExt cx="816469" cy="920618"/>
          </a:xfrm>
        </p:grpSpPr>
        <p:sp>
          <p:nvSpPr>
            <p:cNvPr id="82" name="矩形: 圆角 81"/>
            <p:cNvSpPr/>
            <p:nvPr/>
          </p:nvSpPr>
          <p:spPr>
            <a:xfrm>
              <a:off x="2213096" y="1549803"/>
              <a:ext cx="816469" cy="920618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3" name="矩形: 圆角 4"/>
            <p:cNvSpPr txBox="1"/>
            <p:nvPr/>
          </p:nvSpPr>
          <p:spPr>
            <a:xfrm>
              <a:off x="2237010" y="1573717"/>
              <a:ext cx="768641" cy="8727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2012 OpenGL 4.1  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dirty="0"/>
                <a:t> </a:t>
              </a:r>
              <a:r>
                <a:rPr lang="zh-CN" altLang="en-US" dirty="0"/>
                <a:t>几何着色器</a:t>
              </a:r>
              <a:endParaRPr lang="zh-CN" altLang="en-US" sz="2000" kern="1200" dirty="0">
                <a:latin typeface="叶根友唐楷字体" panose="02010601030101010101" pitchFamily="2" charset="-122"/>
                <a:ea typeface="叶根友唐楷字体" panose="02010601030101010101" pitchFamily="2" charset="-122"/>
              </a:endParaRPr>
            </a:p>
          </p:txBody>
        </p:sp>
      </p:grpSp>
      <p:sp>
        <p:nvSpPr>
          <p:cNvPr id="84" name="MH_Others_7"/>
          <p:cNvSpPr/>
          <p:nvPr>
            <p:custDataLst>
              <p:tags r:id="rId27"/>
            </p:custDataLst>
          </p:nvPr>
        </p:nvSpPr>
        <p:spPr>
          <a:xfrm>
            <a:off x="4531958" y="4220602"/>
            <a:ext cx="108000" cy="108000"/>
          </a:xfrm>
          <a:custGeom>
            <a:avLst/>
            <a:gdLst>
              <a:gd name="connsiteX0" fmla="*/ 75112 w 150224"/>
              <a:gd name="connsiteY0" fmla="*/ 0 h 150224"/>
              <a:gd name="connsiteX1" fmla="*/ 150224 w 150224"/>
              <a:gd name="connsiteY1" fmla="*/ 75112 h 150224"/>
              <a:gd name="connsiteX2" fmla="*/ 75112 w 150224"/>
              <a:gd name="connsiteY2" fmla="*/ 150224 h 150224"/>
              <a:gd name="connsiteX3" fmla="*/ 0 w 150224"/>
              <a:gd name="connsiteY3" fmla="*/ 75112 h 150224"/>
              <a:gd name="connsiteX4" fmla="*/ 75112 w 150224"/>
              <a:gd name="connsiteY4" fmla="*/ 0 h 15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4" h="150224">
                <a:moveTo>
                  <a:pt x="75112" y="0"/>
                </a:moveTo>
                <a:cubicBezTo>
                  <a:pt x="116595" y="0"/>
                  <a:pt x="150224" y="33629"/>
                  <a:pt x="150224" y="75112"/>
                </a:cubicBezTo>
                <a:cubicBezTo>
                  <a:pt x="150224" y="116595"/>
                  <a:pt x="116595" y="150224"/>
                  <a:pt x="75112" y="150224"/>
                </a:cubicBezTo>
                <a:cubicBezTo>
                  <a:pt x="33629" y="150224"/>
                  <a:pt x="0" y="116595"/>
                  <a:pt x="0" y="75112"/>
                </a:cubicBezTo>
                <a:cubicBezTo>
                  <a:pt x="0" y="33629"/>
                  <a:pt x="33629" y="0"/>
                  <a:pt x="75112" y="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5" name="MH_Others_7"/>
          <p:cNvSpPr/>
          <p:nvPr>
            <p:custDataLst>
              <p:tags r:id="rId28"/>
            </p:custDataLst>
          </p:nvPr>
        </p:nvSpPr>
        <p:spPr>
          <a:xfrm>
            <a:off x="4531960" y="5389529"/>
            <a:ext cx="108000" cy="108000"/>
          </a:xfrm>
          <a:custGeom>
            <a:avLst/>
            <a:gdLst>
              <a:gd name="connsiteX0" fmla="*/ 75112 w 150224"/>
              <a:gd name="connsiteY0" fmla="*/ 0 h 150224"/>
              <a:gd name="connsiteX1" fmla="*/ 150224 w 150224"/>
              <a:gd name="connsiteY1" fmla="*/ 75112 h 150224"/>
              <a:gd name="connsiteX2" fmla="*/ 75112 w 150224"/>
              <a:gd name="connsiteY2" fmla="*/ 150224 h 150224"/>
              <a:gd name="connsiteX3" fmla="*/ 0 w 150224"/>
              <a:gd name="connsiteY3" fmla="*/ 75112 h 150224"/>
              <a:gd name="connsiteX4" fmla="*/ 75112 w 150224"/>
              <a:gd name="connsiteY4" fmla="*/ 0 h 150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224" h="150224">
                <a:moveTo>
                  <a:pt x="75112" y="0"/>
                </a:moveTo>
                <a:cubicBezTo>
                  <a:pt x="116595" y="0"/>
                  <a:pt x="150224" y="33629"/>
                  <a:pt x="150224" y="75112"/>
                </a:cubicBezTo>
                <a:cubicBezTo>
                  <a:pt x="150224" y="116595"/>
                  <a:pt x="116595" y="150224"/>
                  <a:pt x="75112" y="150224"/>
                </a:cubicBezTo>
                <a:cubicBezTo>
                  <a:pt x="33629" y="150224"/>
                  <a:pt x="0" y="116595"/>
                  <a:pt x="0" y="75112"/>
                </a:cubicBezTo>
                <a:cubicBezTo>
                  <a:pt x="0" y="33629"/>
                  <a:pt x="33629" y="0"/>
                  <a:pt x="75112" y="0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4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  <p:bldP spid="36" grpId="0" animBg="1"/>
      <p:bldP spid="39" grpId="0" animBg="1"/>
      <p:bldP spid="42" grpId="0" animBg="1"/>
      <p:bldP spid="50" grpId="0" animBg="1"/>
      <p:bldP spid="62" grpId="0" animBg="1"/>
      <p:bldP spid="70" grpId="0" animBg="1"/>
      <p:bldP spid="75" grpId="0" animBg="1"/>
      <p:bldP spid="8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 lnSpcReduction="10000"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如果</a:t>
            </a:r>
            <a:r>
              <a:rPr lang="zh-CN" altLang="en-US" sz="2400" dirty="0">
                <a:solidFill>
                  <a:srgbClr val="FF0000"/>
                </a:solidFill>
              </a:rPr>
              <a:t>没有</a:t>
            </a:r>
            <a:r>
              <a:rPr lang="zh-CN" altLang="en-US" sz="2400" dirty="0"/>
              <a:t>显卡，</a:t>
            </a:r>
            <a:r>
              <a:rPr lang="zh-CN" altLang="en-US" sz="2400" dirty="0">
                <a:solidFill>
                  <a:srgbClr val="FF0000"/>
                </a:solidFill>
              </a:rPr>
              <a:t>没有</a:t>
            </a:r>
            <a:r>
              <a:rPr lang="en-US" altLang="zh-CN" sz="2400" dirty="0"/>
              <a:t>OpenGL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2400" dirty="0" smtClean="0"/>
              <a:t>如何</a:t>
            </a:r>
            <a:r>
              <a:rPr lang="zh-CN" altLang="en-US" sz="2400" dirty="0"/>
              <a:t>绘制</a:t>
            </a:r>
            <a:r>
              <a:rPr lang="zh-CN" altLang="en-US" sz="24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三维</a:t>
            </a:r>
            <a:r>
              <a:rPr lang="zh-CN" altLang="en-US" sz="2400" dirty="0"/>
              <a:t>物体？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程序实现相机观察</a:t>
            </a:r>
            <a:r>
              <a:rPr lang="en-US" altLang="zh-CN" sz="1800" dirty="0"/>
              <a:t>&amp;</a:t>
            </a:r>
            <a:r>
              <a:rPr lang="zh-CN" altLang="en-US" sz="1800" dirty="0"/>
              <a:t>投影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剔除不可见三维数据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软件计算光照效果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软件光栅化，计算每个像素的颜色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使用显卡与</a:t>
            </a:r>
            <a:r>
              <a:rPr lang="en-US" altLang="zh-CN" sz="2400" dirty="0"/>
              <a:t>OpenGL</a:t>
            </a:r>
            <a:r>
              <a:rPr lang="zh-CN" altLang="en-US" sz="2400" dirty="0"/>
              <a:t>进行图形开发</a:t>
            </a: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是怎样一种体验？</a:t>
            </a:r>
            <a:endParaRPr lang="zh-CN" altLang="en-US" sz="1800" b="1" baseline="300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只需要准备好数据</a:t>
            </a:r>
            <a:r>
              <a:rPr lang="zh-CN" altLang="en-US" sz="1800" dirty="0" smtClean="0"/>
              <a:t>，设置好参数，把</a:t>
            </a:r>
            <a:r>
              <a:rPr lang="zh-CN" altLang="en-US" sz="1800" b="1" dirty="0">
                <a:solidFill>
                  <a:srgbClr val="00B0F0"/>
                </a:solidFill>
              </a:rPr>
              <a:t>琐碎的工作</a:t>
            </a:r>
            <a:r>
              <a:rPr lang="zh-CN" altLang="en-US" sz="1800" dirty="0"/>
              <a:t>交给硬件完成！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r>
              <a:rPr lang="zh-CN" altLang="en-US" sz="2400" dirty="0"/>
              <a:t>熟悉图形绘制流水线的作用：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理解</a:t>
            </a:r>
            <a:r>
              <a:rPr lang="zh-CN" altLang="en-US" sz="1800" dirty="0">
                <a:solidFill>
                  <a:srgbClr val="00B0F0"/>
                </a:solidFill>
              </a:rPr>
              <a:t>图形架构</a:t>
            </a:r>
            <a:r>
              <a:rPr lang="zh-CN" altLang="en-US" sz="1800" dirty="0"/>
              <a:t>的原理以及</a:t>
            </a:r>
            <a:r>
              <a:rPr lang="zh-CN" altLang="en-US" sz="1800" dirty="0">
                <a:solidFill>
                  <a:srgbClr val="00B0F0"/>
                </a:solidFill>
              </a:rPr>
              <a:t>图形</a:t>
            </a:r>
            <a:r>
              <a:rPr lang="en-US" altLang="zh-CN" sz="1800" dirty="0">
                <a:solidFill>
                  <a:srgbClr val="00B0F0"/>
                </a:solidFill>
              </a:rPr>
              <a:t>API</a:t>
            </a:r>
            <a:r>
              <a:rPr lang="zh-CN" altLang="en-US" sz="1800" dirty="0"/>
              <a:t>的设计原理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学会着色器编程，定制图形硬件管线的功能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跟踪最新的图形硬件（显卡）发展趋势</a:t>
            </a:r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图形绘制流水线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581" y="1316831"/>
            <a:ext cx="3059737" cy="173848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39035" y="316553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软件光栅化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01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图形绘制原理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计算机图形绘制的高层</a:t>
            </a:r>
            <a:r>
              <a:rPr lang="zh-CN" altLang="en-US" sz="2400" dirty="0" smtClean="0"/>
              <a:t>观点：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以应用程序为起点，而以图像的生成为终点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输入：顶点和状态变量，即几何对象、属性和相机参数等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输出：位于帧缓存中的彩色像素阵列</a:t>
            </a:r>
            <a:endParaRPr lang="en-US" altLang="zh-CN" sz="1800" dirty="0" smtClean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图形系统需要完成的任务：</a:t>
            </a:r>
            <a:endParaRPr lang="en-US" altLang="zh-CN" sz="24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几何变化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光照与明暗处理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隐藏面消除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图元光栅化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39" y="2793509"/>
            <a:ext cx="6554186" cy="1003428"/>
          </a:xfrm>
          <a:prstGeom prst="rect">
            <a:avLst/>
          </a:prstGeom>
        </p:spPr>
      </p:pic>
      <p:pic>
        <p:nvPicPr>
          <p:cNvPr id="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072" y="4797757"/>
            <a:ext cx="4887414" cy="135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5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</a:t>
            </a:r>
            <a:r>
              <a:rPr lang="zh-CN" altLang="en-US" dirty="0"/>
              <a:t>实现策略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25814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绘制流水线中两个关键的元素是：</a:t>
            </a:r>
            <a:r>
              <a:rPr lang="zh-CN" altLang="en-US" sz="2400" dirty="0" smtClean="0">
                <a:solidFill>
                  <a:srgbClr val="0000FF"/>
                </a:solidFill>
              </a:rPr>
              <a:t>几何图元</a:t>
            </a:r>
            <a:r>
              <a:rPr lang="zh-CN" altLang="en-US" sz="2400" dirty="0" smtClean="0"/>
              <a:t>和</a:t>
            </a:r>
            <a:r>
              <a:rPr lang="zh-CN" altLang="en-US" sz="2400" dirty="0" smtClean="0">
                <a:solidFill>
                  <a:srgbClr val="0000FF"/>
                </a:solidFill>
              </a:rPr>
              <a:t>像素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sz="1800" dirty="0" smtClean="0"/>
              <a:t>任何程序实现至少有两个循环，分别用来对几何图元和像素进行处理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那么应该使用哪个变量控制外层循环呢？</a:t>
            </a:r>
            <a:endParaRPr lang="en-US" altLang="zh-CN" sz="1800" dirty="0" smtClean="0"/>
          </a:p>
          <a:p>
            <a:pPr lvl="2">
              <a:buClr>
                <a:schemeClr val="tx1"/>
              </a:buClr>
            </a:pPr>
            <a:r>
              <a:rPr lang="zh-CN" altLang="en-US" sz="1600" dirty="0" smtClean="0"/>
              <a:t>几何图元：基于对象空间的方法</a:t>
            </a:r>
            <a:endParaRPr lang="en-US" altLang="zh-CN" sz="1600" dirty="0"/>
          </a:p>
          <a:p>
            <a:pPr lvl="2">
              <a:buClr>
                <a:schemeClr val="tx1"/>
              </a:buClr>
            </a:pPr>
            <a:r>
              <a:rPr lang="zh-CN" altLang="en-US" sz="1600" dirty="0" smtClean="0"/>
              <a:t>像素：基于图像空间的方法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r>
              <a:rPr lang="zh-CN" altLang="en-US" sz="2400" dirty="0"/>
              <a:t>基于对象空间的方法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对于</a:t>
            </a:r>
            <a:r>
              <a:rPr lang="zh-CN" altLang="en-US" sz="1800" dirty="0"/>
              <a:t>每个对象，确定它所覆盖的像素，并用对象的状态确定</a:t>
            </a:r>
            <a:r>
              <a:rPr lang="zh-CN" altLang="en-US" sz="1800" dirty="0" smtClean="0"/>
              <a:t>像素亮度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缺点：无法处理全局运算，不</a:t>
            </a:r>
            <a:r>
              <a:rPr lang="zh-CN" altLang="en-US" sz="1800" dirty="0"/>
              <a:t>能获得全局</a:t>
            </a:r>
            <a:r>
              <a:rPr lang="zh-CN" altLang="en-US" sz="1800" dirty="0" smtClean="0"/>
              <a:t>效果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r>
              <a:rPr lang="zh-CN" altLang="en-US" sz="2400" dirty="0"/>
              <a:t>基于图像空间的方法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对于</a:t>
            </a:r>
            <a:r>
              <a:rPr lang="zh-CN" altLang="en-US" sz="1800" dirty="0"/>
              <a:t>每个像素，确定投影到这个像素的离观察者最近的那个对象，从而基于该对象计算像素的</a:t>
            </a:r>
            <a:r>
              <a:rPr lang="zh-CN" altLang="en-US" sz="1800" dirty="0" smtClean="0"/>
              <a:t>亮度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优点：非常适合处理全局效果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缺点：无法事先确定哪些图元影响哪些像素，每个的像素计算量较</a:t>
            </a:r>
            <a:r>
              <a:rPr lang="zh-CN" altLang="en-US" sz="1800" dirty="0"/>
              <a:t>大</a:t>
            </a:r>
            <a:endParaRPr lang="zh-CN" altLang="en-US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76334" y="3395058"/>
            <a:ext cx="4161984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each_object</a:t>
            </a:r>
            <a:r>
              <a:rPr lang="en-US" altLang="zh-CN" dirty="0" smtClean="0">
                <a:latin typeface="ZztexMono-Regular"/>
              </a:rPr>
              <a:t>)</a:t>
            </a:r>
            <a:r>
              <a:rPr lang="zh-CN" altLang="en-US" dirty="0" smtClean="0">
                <a:latin typeface="ZztexMono-Regular"/>
              </a:rPr>
              <a:t>  </a:t>
            </a:r>
            <a:r>
              <a:rPr lang="en-US" altLang="zh-CN" dirty="0" smtClean="0"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render</a:t>
            </a:r>
            <a:r>
              <a:rPr lang="en-US" altLang="zh-CN" dirty="0">
                <a:latin typeface="ZztexMono-Regular"/>
              </a:rPr>
              <a:t>(object);</a:t>
            </a:r>
          </a:p>
        </p:txBody>
      </p:sp>
      <p:sp>
        <p:nvSpPr>
          <p:cNvPr id="11" name="矩形 10"/>
          <p:cNvSpPr/>
          <p:nvPr/>
        </p:nvSpPr>
        <p:spPr>
          <a:xfrm>
            <a:off x="4276334" y="4818602"/>
            <a:ext cx="4161984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ZztexMono-Regular"/>
              </a:rPr>
              <a:t>for</a:t>
            </a:r>
            <a:r>
              <a:rPr lang="en-US" altLang="zh-CN" dirty="0">
                <a:latin typeface="ZztexMono-Regular"/>
              </a:rPr>
              <a:t>(</a:t>
            </a:r>
            <a:r>
              <a:rPr lang="en-US" altLang="zh-CN" dirty="0" err="1">
                <a:latin typeface="ZztexMono-Regular"/>
              </a:rPr>
              <a:t>each_pixel</a:t>
            </a:r>
            <a:r>
              <a:rPr lang="en-US" altLang="zh-CN" dirty="0" smtClean="0">
                <a:latin typeface="ZztexMono-Regular"/>
              </a:rPr>
              <a:t>)</a:t>
            </a:r>
            <a:r>
              <a:rPr lang="zh-CN" altLang="en-US" dirty="0" smtClean="0">
                <a:latin typeface="ZztexMono-Regular"/>
              </a:rPr>
              <a:t>  </a:t>
            </a:r>
            <a:r>
              <a:rPr lang="en-US" altLang="zh-CN" dirty="0" smtClean="0">
                <a:latin typeface="ZztexMono-Regular"/>
              </a:rPr>
              <a:t> </a:t>
            </a:r>
            <a:r>
              <a:rPr lang="en-US" altLang="zh-CN" b="1" dirty="0">
                <a:latin typeface="ZztexMono-Regular"/>
              </a:rPr>
              <a:t>render</a:t>
            </a:r>
            <a:r>
              <a:rPr lang="en-US" altLang="zh-CN" dirty="0">
                <a:latin typeface="ZztexMono-Regular"/>
              </a:rPr>
              <a:t>(pixel);</a:t>
            </a:r>
          </a:p>
        </p:txBody>
      </p:sp>
      <p:pic>
        <p:nvPicPr>
          <p:cNvPr id="12" name="图片 5" descr="Green Question Mark Clip Art | Clipart Panda - Free Clipart Image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>
          <a:xfrm>
            <a:off x="6259930" y="2044528"/>
            <a:ext cx="1003017" cy="103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9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985500" y="3397820"/>
            <a:ext cx="34163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图形绘制系统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3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个主要任务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9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</a:t>
            </a:r>
            <a:r>
              <a:rPr lang="zh-CN" altLang="en-US" dirty="0"/>
              <a:t>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81927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图形绘制系统的</a:t>
            </a:r>
            <a:r>
              <a:rPr lang="en-US" altLang="zh-CN" sz="2400" dirty="0"/>
              <a:t>4</a:t>
            </a:r>
            <a:r>
              <a:rPr lang="zh-CN" altLang="en-US" sz="2400" dirty="0"/>
              <a:t>个主要</a:t>
            </a:r>
            <a:r>
              <a:rPr lang="zh-CN" altLang="en-US" sz="2400" dirty="0" smtClean="0"/>
              <a:t>任务：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建模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几何处理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光栅化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片元处理</a:t>
            </a:r>
            <a:endParaRPr lang="zh-CN" altLang="en-US" sz="18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839984" y="3572106"/>
            <a:ext cx="7985961" cy="623063"/>
            <a:chOff x="490352" y="4486020"/>
            <a:chExt cx="8403651" cy="655651"/>
          </a:xfrm>
        </p:grpSpPr>
        <p:sp>
          <p:nvSpPr>
            <p:cNvPr id="9" name="矩形 7"/>
            <p:cNvSpPr/>
            <p:nvPr/>
          </p:nvSpPr>
          <p:spPr>
            <a:xfrm>
              <a:off x="490352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8"/>
            <p:cNvSpPr txBox="1"/>
            <p:nvPr/>
          </p:nvSpPr>
          <p:spPr>
            <a:xfrm>
              <a:off x="721550" y="4615290"/>
              <a:ext cx="701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建模</a:t>
              </a:r>
              <a:endParaRPr lang="zh-CN" altLang="en-US" dirty="0"/>
            </a:p>
          </p:txBody>
        </p:sp>
        <p:cxnSp>
          <p:nvCxnSpPr>
            <p:cNvPr id="11" name="直接箭头连接符 10"/>
            <p:cNvCxnSpPr>
              <a:stCxn id="15" idx="3"/>
            </p:cNvCxnSpPr>
            <p:nvPr/>
          </p:nvCxnSpPr>
          <p:spPr>
            <a:xfrm>
              <a:off x="1654134" y="4799950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287979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26971" y="4490598"/>
              <a:ext cx="701386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几何处理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>
              <a:stCxn id="19" idx="3"/>
            </p:cNvCxnSpPr>
            <p:nvPr/>
          </p:nvCxnSpPr>
          <p:spPr>
            <a:xfrm>
              <a:off x="3451763" y="4799952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4085608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21999" y="4612462"/>
              <a:ext cx="959462" cy="38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光栅化</a:t>
              </a:r>
              <a:endParaRPr lang="zh-CN" altLang="en-US" dirty="0"/>
            </a:p>
          </p:txBody>
        </p:sp>
        <p:cxnSp>
          <p:nvCxnSpPr>
            <p:cNvPr id="17" name="直接箭头连接符 16"/>
            <p:cNvCxnSpPr>
              <a:stCxn id="22" idx="3"/>
            </p:cNvCxnSpPr>
            <p:nvPr/>
          </p:nvCxnSpPr>
          <p:spPr>
            <a:xfrm>
              <a:off x="5249389" y="4797128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5937786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76778" y="4495338"/>
              <a:ext cx="701386" cy="64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片</a:t>
              </a:r>
              <a:r>
                <a:rPr lang="zh-CN" altLang="en-US" dirty="0" smtClean="0"/>
                <a:t>元处理</a:t>
              </a:r>
              <a:endParaRPr lang="zh-CN" altLang="en-US" dirty="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101570" y="4797126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730221" y="4486020"/>
              <a:ext cx="1163782" cy="61306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89580" y="4607890"/>
              <a:ext cx="98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帧缓存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3132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建模方法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手工建模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三维扫描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程序建模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建模与图形管线的互动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通过多分辨建模提高图形管线的负担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LOD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FF0000"/>
                </a:solidFill>
              </a:rPr>
              <a:t>L</a:t>
            </a:r>
            <a:r>
              <a:rPr lang="en-US" altLang="zh-CN" sz="1800" dirty="0"/>
              <a:t>evel </a:t>
            </a:r>
            <a:r>
              <a:rPr lang="en-US" altLang="zh-CN" sz="1800" dirty="0">
                <a:solidFill>
                  <a:srgbClr val="FF0000"/>
                </a:solidFill>
              </a:rPr>
              <a:t>o</a:t>
            </a:r>
            <a:r>
              <a:rPr lang="en-US" altLang="zh-CN" sz="1800" dirty="0"/>
              <a:t>f </a:t>
            </a:r>
            <a:r>
              <a:rPr lang="en-US" altLang="zh-CN" sz="1800" dirty="0">
                <a:solidFill>
                  <a:srgbClr val="FF0000"/>
                </a:solidFill>
              </a:rPr>
              <a:t>D</a:t>
            </a:r>
            <a:r>
              <a:rPr lang="en-US" altLang="zh-CN" sz="1800" dirty="0"/>
              <a:t>etail</a:t>
            </a:r>
            <a:r>
              <a:rPr lang="zh-CN" altLang="en-US" sz="1800" dirty="0"/>
              <a:t>）技术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512" y="1102138"/>
            <a:ext cx="3679838" cy="204098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53511" y="3143121"/>
            <a:ext cx="18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Level of Detail</a:t>
            </a:r>
          </a:p>
        </p:txBody>
      </p:sp>
      <p:pic>
        <p:nvPicPr>
          <p:cNvPr id="1026" name="Picture 2" descr="https://tjones8866.files.wordpress.com/2013/10/plane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104" y="4287079"/>
            <a:ext cx="5718731" cy="2205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214609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几何处理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071937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几何处理阶段的</a:t>
            </a:r>
            <a:r>
              <a:rPr lang="zh-CN" altLang="en-US" sz="2400" dirty="0" smtClean="0"/>
              <a:t>目的：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确定哪些几何对象要被显示</a:t>
            </a:r>
            <a:r>
              <a:rPr lang="zh-CN" altLang="en-US" sz="1800" dirty="0" smtClean="0"/>
              <a:t>，并把</a:t>
            </a:r>
            <a:r>
              <a:rPr lang="zh-CN" altLang="en-US" sz="1800" b="1" dirty="0" smtClean="0"/>
              <a:t>明暗值</a:t>
            </a:r>
            <a:r>
              <a:rPr lang="zh-CN" altLang="en-US" sz="1800" dirty="0" smtClean="0"/>
              <a:t>或者</a:t>
            </a:r>
            <a:r>
              <a:rPr lang="zh-CN" altLang="en-US" sz="1800" b="1" dirty="0" smtClean="0"/>
              <a:t>颜色值</a:t>
            </a:r>
            <a:r>
              <a:rPr lang="zh-CN" altLang="en-US" sz="1800" dirty="0" smtClean="0"/>
              <a:t>赋给其</a:t>
            </a:r>
            <a:r>
              <a:rPr lang="zh-CN" altLang="en-US" sz="1800" b="1" dirty="0" smtClean="0">
                <a:solidFill>
                  <a:srgbClr val="0000FF"/>
                </a:solidFill>
              </a:rPr>
              <a:t>顶点</a:t>
            </a:r>
            <a:endParaRPr lang="en-US" altLang="zh-CN" sz="1800" b="1" dirty="0" smtClean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</a:t>
            </a:r>
            <a:r>
              <a:rPr lang="zh-CN" altLang="en-US" sz="2400" dirty="0" smtClean="0"/>
              <a:t>处理的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个处理过程：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投影：</a:t>
            </a:r>
            <a:endParaRPr lang="en-US" altLang="zh-CN" sz="1800" dirty="0" smtClean="0"/>
          </a:p>
          <a:p>
            <a:pPr lvl="2"/>
            <a:r>
              <a:rPr lang="zh-CN" altLang="en-US" sz="1600" dirty="0" smtClean="0"/>
              <a:t>模型</a:t>
            </a:r>
            <a:r>
              <a:rPr lang="zh-CN" altLang="en-US" sz="1600" dirty="0"/>
              <a:t>－视图变换，将顶点变换至相机坐标系</a:t>
            </a:r>
            <a:endParaRPr lang="en-US" altLang="zh-CN" sz="1600" dirty="0"/>
          </a:p>
          <a:p>
            <a:pPr lvl="2">
              <a:buClr>
                <a:schemeClr val="tx1"/>
              </a:buClr>
            </a:pPr>
            <a:r>
              <a:rPr lang="zh-CN" altLang="en-US" sz="1600" dirty="0" smtClean="0"/>
              <a:t>投影规范化，</a:t>
            </a:r>
            <a:r>
              <a:rPr lang="zh-CN" altLang="en-US" sz="1600" dirty="0"/>
              <a:t>将顶点变换至规范</a:t>
            </a:r>
            <a:r>
              <a:rPr lang="zh-CN" altLang="en-US" sz="1600" dirty="0" smtClean="0"/>
              <a:t>的视见体内</a:t>
            </a:r>
            <a:endParaRPr lang="en-US" altLang="zh-CN" sz="16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图元</a:t>
            </a:r>
            <a:r>
              <a:rPr lang="zh-CN" altLang="en-US" sz="1800" dirty="0" smtClean="0"/>
              <a:t>组装：把顶点组合成对象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>
                <a:solidFill>
                  <a:srgbClr val="0000FF"/>
                </a:solidFill>
              </a:rPr>
              <a:t>裁剪：将位于视见体外的几何图元进行裁剪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明暗处理：模拟光照效果，确定最终颜色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几何处理阶段</a:t>
            </a:r>
            <a:r>
              <a:rPr lang="zh-CN" altLang="en-US" sz="2400" dirty="0" smtClean="0"/>
              <a:t>针对三维顶点</a:t>
            </a:r>
            <a:r>
              <a:rPr lang="zh-CN" altLang="en-US" sz="2400" dirty="0"/>
              <a:t>进行处理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主要是浮点数运算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2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光栅化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光栅化</a:t>
            </a:r>
            <a:r>
              <a:rPr lang="en-US" altLang="zh-CN" sz="2400" dirty="0"/>
              <a:t>/</a:t>
            </a:r>
            <a:r>
              <a:rPr lang="zh-CN" altLang="en-US" sz="2400" dirty="0"/>
              <a:t>扫描转化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基于顶点给出表示对象的一组像素就称为光栅化（</a:t>
            </a:r>
            <a:r>
              <a:rPr lang="en-US" altLang="zh-CN" sz="1800" dirty="0"/>
              <a:t>rasterization</a:t>
            </a:r>
            <a:r>
              <a:rPr lang="zh-CN" altLang="en-US" sz="1800" dirty="0"/>
              <a:t>）或者扫描转化（</a:t>
            </a:r>
            <a:r>
              <a:rPr lang="en-US" altLang="zh-CN" sz="1800" dirty="0"/>
              <a:t>scan conversion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光栅化产生</a:t>
            </a:r>
            <a:r>
              <a:rPr lang="zh-CN" altLang="en-US" sz="1800" dirty="0">
                <a:solidFill>
                  <a:srgbClr val="0000FF"/>
                </a:solidFill>
              </a:rPr>
              <a:t>片元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2">
              <a:buClr>
                <a:schemeClr val="tx1"/>
              </a:buClr>
            </a:pPr>
            <a:endParaRPr lang="en-US" altLang="zh-CN" sz="1800" dirty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屏幕</a:t>
            </a:r>
            <a:r>
              <a:rPr lang="zh-CN" altLang="en-US" sz="2400" dirty="0"/>
              <a:t>坐标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光栅化将归一化坐标转化为屏幕坐标：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608" y="4411951"/>
            <a:ext cx="3581933" cy="161387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15" y="4253545"/>
            <a:ext cx="3203965" cy="1799514"/>
          </a:xfrm>
          <a:prstGeom prst="rect">
            <a:avLst/>
          </a:prstGeom>
        </p:spPr>
      </p:pic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5670832" y="2153691"/>
            <a:ext cx="2370989" cy="1755764"/>
            <a:chOff x="431" y="1725"/>
            <a:chExt cx="2112" cy="1478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720" y="1823"/>
              <a:ext cx="1728" cy="1124"/>
            </a:xfrm>
            <a:custGeom>
              <a:avLst/>
              <a:gdLst>
                <a:gd name="T0" fmla="*/ 1620 w 4320"/>
                <a:gd name="T1" fmla="*/ 0 h 2808"/>
                <a:gd name="T2" fmla="*/ 0 w 4320"/>
                <a:gd name="T3" fmla="*/ 2184 h 2808"/>
                <a:gd name="T4" fmla="*/ 0 w 4320"/>
                <a:gd name="T5" fmla="*/ 2808 h 2808"/>
                <a:gd name="T6" fmla="*/ 4320 w 4320"/>
                <a:gd name="T7" fmla="*/ 2808 h 2808"/>
                <a:gd name="T8" fmla="*/ 1620 w 4320"/>
                <a:gd name="T9" fmla="*/ 0 h 2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20" h="2808">
                  <a:moveTo>
                    <a:pt x="1620" y="0"/>
                  </a:moveTo>
                  <a:lnTo>
                    <a:pt x="0" y="2184"/>
                  </a:lnTo>
                  <a:lnTo>
                    <a:pt x="0" y="2808"/>
                  </a:lnTo>
                  <a:lnTo>
                    <a:pt x="4320" y="2808"/>
                  </a:lnTo>
                  <a:lnTo>
                    <a:pt x="162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6"/>
            <p:cNvSpPr>
              <a:spLocks noChangeAspect="1" noChangeArrowheads="1"/>
            </p:cNvSpPr>
            <p:nvPr/>
          </p:nvSpPr>
          <p:spPr bwMode="auto">
            <a:xfrm>
              <a:off x="43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7"/>
            <p:cNvSpPr>
              <a:spLocks noChangeAspect="1" noChangeArrowheads="1"/>
            </p:cNvSpPr>
            <p:nvPr/>
          </p:nvSpPr>
          <p:spPr bwMode="auto">
            <a:xfrm>
              <a:off x="43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8"/>
            <p:cNvSpPr>
              <a:spLocks noChangeAspect="1" noChangeArrowheads="1"/>
            </p:cNvSpPr>
            <p:nvPr/>
          </p:nvSpPr>
          <p:spPr bwMode="auto">
            <a:xfrm>
              <a:off x="43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9"/>
            <p:cNvSpPr>
              <a:spLocks noChangeAspect="1" noChangeArrowheads="1"/>
            </p:cNvSpPr>
            <p:nvPr/>
          </p:nvSpPr>
          <p:spPr bwMode="auto">
            <a:xfrm>
              <a:off x="43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0"/>
            <p:cNvSpPr>
              <a:spLocks noChangeAspect="1" noChangeArrowheads="1"/>
            </p:cNvSpPr>
            <p:nvPr/>
          </p:nvSpPr>
          <p:spPr bwMode="auto">
            <a:xfrm>
              <a:off x="43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1"/>
            <p:cNvSpPr>
              <a:spLocks noChangeAspect="1" noChangeArrowheads="1"/>
            </p:cNvSpPr>
            <p:nvPr/>
          </p:nvSpPr>
          <p:spPr bwMode="auto">
            <a:xfrm>
              <a:off x="43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12"/>
            <p:cNvSpPr>
              <a:spLocks noChangeAspect="1" noChangeArrowheads="1"/>
            </p:cNvSpPr>
            <p:nvPr/>
          </p:nvSpPr>
          <p:spPr bwMode="auto">
            <a:xfrm>
              <a:off x="43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13"/>
            <p:cNvSpPr>
              <a:spLocks noChangeAspect="1" noChangeArrowheads="1"/>
            </p:cNvSpPr>
            <p:nvPr/>
          </p:nvSpPr>
          <p:spPr bwMode="auto">
            <a:xfrm>
              <a:off x="64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14"/>
            <p:cNvSpPr>
              <a:spLocks noChangeAspect="1" noChangeArrowheads="1"/>
            </p:cNvSpPr>
            <p:nvPr/>
          </p:nvSpPr>
          <p:spPr bwMode="auto">
            <a:xfrm>
              <a:off x="64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15"/>
            <p:cNvSpPr>
              <a:spLocks noChangeAspect="1" noChangeArrowheads="1"/>
            </p:cNvSpPr>
            <p:nvPr/>
          </p:nvSpPr>
          <p:spPr bwMode="auto">
            <a:xfrm>
              <a:off x="64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16"/>
            <p:cNvSpPr>
              <a:spLocks noChangeAspect="1" noChangeArrowheads="1"/>
            </p:cNvSpPr>
            <p:nvPr/>
          </p:nvSpPr>
          <p:spPr bwMode="auto">
            <a:xfrm>
              <a:off x="64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17"/>
            <p:cNvSpPr>
              <a:spLocks noChangeAspect="1" noChangeArrowheads="1"/>
            </p:cNvSpPr>
            <p:nvPr/>
          </p:nvSpPr>
          <p:spPr bwMode="auto">
            <a:xfrm>
              <a:off x="64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18"/>
            <p:cNvSpPr>
              <a:spLocks noChangeAspect="1" noChangeArrowheads="1"/>
            </p:cNvSpPr>
            <p:nvPr/>
          </p:nvSpPr>
          <p:spPr bwMode="auto">
            <a:xfrm>
              <a:off x="64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19"/>
            <p:cNvSpPr>
              <a:spLocks noChangeAspect="1" noChangeArrowheads="1"/>
            </p:cNvSpPr>
            <p:nvPr/>
          </p:nvSpPr>
          <p:spPr bwMode="auto">
            <a:xfrm>
              <a:off x="64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0"/>
            <p:cNvSpPr>
              <a:spLocks noChangeAspect="1" noChangeArrowheads="1"/>
            </p:cNvSpPr>
            <p:nvPr/>
          </p:nvSpPr>
          <p:spPr bwMode="auto">
            <a:xfrm>
              <a:off x="854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1"/>
            <p:cNvSpPr>
              <a:spLocks noChangeAspect="1" noChangeArrowheads="1"/>
            </p:cNvSpPr>
            <p:nvPr/>
          </p:nvSpPr>
          <p:spPr bwMode="auto">
            <a:xfrm>
              <a:off x="854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22"/>
            <p:cNvSpPr>
              <a:spLocks noChangeAspect="1" noChangeArrowheads="1"/>
            </p:cNvSpPr>
            <p:nvPr/>
          </p:nvSpPr>
          <p:spPr bwMode="auto">
            <a:xfrm>
              <a:off x="854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3"/>
            <p:cNvSpPr>
              <a:spLocks noChangeAspect="1" noChangeArrowheads="1"/>
            </p:cNvSpPr>
            <p:nvPr/>
          </p:nvSpPr>
          <p:spPr bwMode="auto">
            <a:xfrm>
              <a:off x="854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24"/>
            <p:cNvSpPr>
              <a:spLocks noChangeAspect="1" noChangeArrowheads="1"/>
            </p:cNvSpPr>
            <p:nvPr/>
          </p:nvSpPr>
          <p:spPr bwMode="auto">
            <a:xfrm>
              <a:off x="854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5"/>
            <p:cNvSpPr>
              <a:spLocks noChangeAspect="1" noChangeArrowheads="1"/>
            </p:cNvSpPr>
            <p:nvPr/>
          </p:nvSpPr>
          <p:spPr bwMode="auto">
            <a:xfrm>
              <a:off x="854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26"/>
            <p:cNvSpPr>
              <a:spLocks noChangeAspect="1" noChangeArrowheads="1"/>
            </p:cNvSpPr>
            <p:nvPr/>
          </p:nvSpPr>
          <p:spPr bwMode="auto">
            <a:xfrm>
              <a:off x="854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27"/>
            <p:cNvSpPr>
              <a:spLocks noChangeAspect="1" noChangeArrowheads="1"/>
            </p:cNvSpPr>
            <p:nvPr/>
          </p:nvSpPr>
          <p:spPr bwMode="auto">
            <a:xfrm>
              <a:off x="1065" y="1725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28"/>
            <p:cNvSpPr>
              <a:spLocks noChangeAspect="1" noChangeArrowheads="1"/>
            </p:cNvSpPr>
            <p:nvPr/>
          </p:nvSpPr>
          <p:spPr bwMode="auto">
            <a:xfrm>
              <a:off x="1065" y="1936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29"/>
            <p:cNvSpPr>
              <a:spLocks noChangeAspect="1" noChangeArrowheads="1"/>
            </p:cNvSpPr>
            <p:nvPr/>
          </p:nvSpPr>
          <p:spPr bwMode="auto">
            <a:xfrm>
              <a:off x="1065" y="2147"/>
              <a:ext cx="212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0"/>
            <p:cNvSpPr>
              <a:spLocks noChangeAspect="1" noChangeArrowheads="1"/>
            </p:cNvSpPr>
            <p:nvPr/>
          </p:nvSpPr>
          <p:spPr bwMode="auto">
            <a:xfrm>
              <a:off x="1065" y="2359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1"/>
            <p:cNvSpPr>
              <a:spLocks noChangeAspect="1" noChangeArrowheads="1"/>
            </p:cNvSpPr>
            <p:nvPr/>
          </p:nvSpPr>
          <p:spPr bwMode="auto">
            <a:xfrm>
              <a:off x="1065" y="2570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2"/>
            <p:cNvSpPr>
              <a:spLocks noChangeAspect="1" noChangeArrowheads="1"/>
            </p:cNvSpPr>
            <p:nvPr/>
          </p:nvSpPr>
          <p:spPr bwMode="auto">
            <a:xfrm>
              <a:off x="1065" y="2781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33"/>
            <p:cNvSpPr>
              <a:spLocks noChangeAspect="1" noChangeArrowheads="1"/>
            </p:cNvSpPr>
            <p:nvPr/>
          </p:nvSpPr>
          <p:spPr bwMode="auto">
            <a:xfrm>
              <a:off x="1065" y="2992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34"/>
            <p:cNvSpPr>
              <a:spLocks noChangeAspect="1" noChangeArrowheads="1"/>
            </p:cNvSpPr>
            <p:nvPr/>
          </p:nvSpPr>
          <p:spPr bwMode="auto">
            <a:xfrm>
              <a:off x="1277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35"/>
            <p:cNvSpPr>
              <a:spLocks noChangeAspect="1" noChangeArrowheads="1"/>
            </p:cNvSpPr>
            <p:nvPr/>
          </p:nvSpPr>
          <p:spPr bwMode="auto">
            <a:xfrm>
              <a:off x="1277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36"/>
            <p:cNvSpPr>
              <a:spLocks noChangeAspect="1" noChangeArrowheads="1"/>
            </p:cNvSpPr>
            <p:nvPr/>
          </p:nvSpPr>
          <p:spPr bwMode="auto">
            <a:xfrm>
              <a:off x="1277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37"/>
            <p:cNvSpPr>
              <a:spLocks noChangeAspect="1" noChangeArrowheads="1"/>
            </p:cNvSpPr>
            <p:nvPr/>
          </p:nvSpPr>
          <p:spPr bwMode="auto">
            <a:xfrm>
              <a:off x="1277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38"/>
            <p:cNvSpPr>
              <a:spLocks noChangeAspect="1" noChangeArrowheads="1"/>
            </p:cNvSpPr>
            <p:nvPr/>
          </p:nvSpPr>
          <p:spPr bwMode="auto">
            <a:xfrm>
              <a:off x="1277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39"/>
            <p:cNvSpPr>
              <a:spLocks noChangeAspect="1" noChangeArrowheads="1"/>
            </p:cNvSpPr>
            <p:nvPr/>
          </p:nvSpPr>
          <p:spPr bwMode="auto">
            <a:xfrm>
              <a:off x="1277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40"/>
            <p:cNvSpPr>
              <a:spLocks noChangeAspect="1" noChangeArrowheads="1"/>
            </p:cNvSpPr>
            <p:nvPr/>
          </p:nvSpPr>
          <p:spPr bwMode="auto">
            <a:xfrm>
              <a:off x="1277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1"/>
            <p:cNvSpPr>
              <a:spLocks noChangeAspect="1" noChangeArrowheads="1"/>
            </p:cNvSpPr>
            <p:nvPr/>
          </p:nvSpPr>
          <p:spPr bwMode="auto">
            <a:xfrm>
              <a:off x="1488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42"/>
            <p:cNvSpPr>
              <a:spLocks noChangeAspect="1" noChangeArrowheads="1"/>
            </p:cNvSpPr>
            <p:nvPr/>
          </p:nvSpPr>
          <p:spPr bwMode="auto">
            <a:xfrm>
              <a:off x="1488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43"/>
            <p:cNvSpPr>
              <a:spLocks noChangeAspect="1" noChangeArrowheads="1"/>
            </p:cNvSpPr>
            <p:nvPr/>
          </p:nvSpPr>
          <p:spPr bwMode="auto">
            <a:xfrm>
              <a:off x="1488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4"/>
            <p:cNvSpPr>
              <a:spLocks noChangeAspect="1" noChangeArrowheads="1"/>
            </p:cNvSpPr>
            <p:nvPr/>
          </p:nvSpPr>
          <p:spPr bwMode="auto">
            <a:xfrm>
              <a:off x="1488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45"/>
            <p:cNvSpPr>
              <a:spLocks noChangeAspect="1" noChangeArrowheads="1"/>
            </p:cNvSpPr>
            <p:nvPr/>
          </p:nvSpPr>
          <p:spPr bwMode="auto">
            <a:xfrm>
              <a:off x="1488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46"/>
            <p:cNvSpPr>
              <a:spLocks noChangeAspect="1" noChangeArrowheads="1"/>
            </p:cNvSpPr>
            <p:nvPr/>
          </p:nvSpPr>
          <p:spPr bwMode="auto">
            <a:xfrm>
              <a:off x="1488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47"/>
            <p:cNvSpPr>
              <a:spLocks noChangeAspect="1" noChangeArrowheads="1"/>
            </p:cNvSpPr>
            <p:nvPr/>
          </p:nvSpPr>
          <p:spPr bwMode="auto">
            <a:xfrm>
              <a:off x="1488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48"/>
            <p:cNvSpPr>
              <a:spLocks noChangeAspect="1" noChangeArrowheads="1"/>
            </p:cNvSpPr>
            <p:nvPr/>
          </p:nvSpPr>
          <p:spPr bwMode="auto">
            <a:xfrm>
              <a:off x="1700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49"/>
            <p:cNvSpPr>
              <a:spLocks noChangeAspect="1" noChangeArrowheads="1"/>
            </p:cNvSpPr>
            <p:nvPr/>
          </p:nvSpPr>
          <p:spPr bwMode="auto">
            <a:xfrm>
              <a:off x="1700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50"/>
            <p:cNvSpPr>
              <a:spLocks noChangeAspect="1" noChangeArrowheads="1"/>
            </p:cNvSpPr>
            <p:nvPr/>
          </p:nvSpPr>
          <p:spPr bwMode="auto">
            <a:xfrm>
              <a:off x="1700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51"/>
            <p:cNvSpPr>
              <a:spLocks noChangeAspect="1" noChangeArrowheads="1"/>
            </p:cNvSpPr>
            <p:nvPr/>
          </p:nvSpPr>
          <p:spPr bwMode="auto">
            <a:xfrm>
              <a:off x="1700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52"/>
            <p:cNvSpPr>
              <a:spLocks noChangeAspect="1" noChangeArrowheads="1"/>
            </p:cNvSpPr>
            <p:nvPr/>
          </p:nvSpPr>
          <p:spPr bwMode="auto">
            <a:xfrm>
              <a:off x="1700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53"/>
            <p:cNvSpPr>
              <a:spLocks noChangeAspect="1" noChangeArrowheads="1"/>
            </p:cNvSpPr>
            <p:nvPr/>
          </p:nvSpPr>
          <p:spPr bwMode="auto">
            <a:xfrm>
              <a:off x="1700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54"/>
            <p:cNvSpPr>
              <a:spLocks noChangeAspect="1" noChangeArrowheads="1"/>
            </p:cNvSpPr>
            <p:nvPr/>
          </p:nvSpPr>
          <p:spPr bwMode="auto">
            <a:xfrm>
              <a:off x="1700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55"/>
            <p:cNvSpPr>
              <a:spLocks noChangeAspect="1" noChangeArrowheads="1"/>
            </p:cNvSpPr>
            <p:nvPr/>
          </p:nvSpPr>
          <p:spPr bwMode="auto">
            <a:xfrm>
              <a:off x="1911" y="1725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56"/>
            <p:cNvSpPr>
              <a:spLocks noChangeAspect="1" noChangeArrowheads="1"/>
            </p:cNvSpPr>
            <p:nvPr/>
          </p:nvSpPr>
          <p:spPr bwMode="auto">
            <a:xfrm>
              <a:off x="1911" y="1936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57"/>
            <p:cNvSpPr>
              <a:spLocks noChangeAspect="1" noChangeArrowheads="1"/>
            </p:cNvSpPr>
            <p:nvPr/>
          </p:nvSpPr>
          <p:spPr bwMode="auto">
            <a:xfrm>
              <a:off x="1911" y="2147"/>
              <a:ext cx="210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58"/>
            <p:cNvSpPr>
              <a:spLocks noChangeAspect="1" noChangeArrowheads="1"/>
            </p:cNvSpPr>
            <p:nvPr/>
          </p:nvSpPr>
          <p:spPr bwMode="auto">
            <a:xfrm>
              <a:off x="1911" y="2359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59"/>
            <p:cNvSpPr>
              <a:spLocks noChangeAspect="1" noChangeArrowheads="1"/>
            </p:cNvSpPr>
            <p:nvPr/>
          </p:nvSpPr>
          <p:spPr bwMode="auto">
            <a:xfrm>
              <a:off x="1911" y="2570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60"/>
            <p:cNvSpPr>
              <a:spLocks noChangeAspect="1" noChangeArrowheads="1"/>
            </p:cNvSpPr>
            <p:nvPr/>
          </p:nvSpPr>
          <p:spPr bwMode="auto">
            <a:xfrm>
              <a:off x="1911" y="2781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61"/>
            <p:cNvSpPr>
              <a:spLocks noChangeAspect="1" noChangeArrowheads="1"/>
            </p:cNvSpPr>
            <p:nvPr/>
          </p:nvSpPr>
          <p:spPr bwMode="auto">
            <a:xfrm>
              <a:off x="1911" y="2992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Rectangle 62"/>
            <p:cNvSpPr>
              <a:spLocks noChangeAspect="1" noChangeArrowheads="1"/>
            </p:cNvSpPr>
            <p:nvPr/>
          </p:nvSpPr>
          <p:spPr bwMode="auto">
            <a:xfrm>
              <a:off x="212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63"/>
            <p:cNvSpPr>
              <a:spLocks noChangeAspect="1" noChangeArrowheads="1"/>
            </p:cNvSpPr>
            <p:nvPr/>
          </p:nvSpPr>
          <p:spPr bwMode="auto">
            <a:xfrm>
              <a:off x="212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64"/>
            <p:cNvSpPr>
              <a:spLocks noChangeAspect="1" noChangeArrowheads="1"/>
            </p:cNvSpPr>
            <p:nvPr/>
          </p:nvSpPr>
          <p:spPr bwMode="auto">
            <a:xfrm>
              <a:off x="212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Rectangle 65"/>
            <p:cNvSpPr>
              <a:spLocks noChangeAspect="1" noChangeArrowheads="1"/>
            </p:cNvSpPr>
            <p:nvPr/>
          </p:nvSpPr>
          <p:spPr bwMode="auto">
            <a:xfrm>
              <a:off x="212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66"/>
            <p:cNvSpPr>
              <a:spLocks noChangeAspect="1" noChangeArrowheads="1"/>
            </p:cNvSpPr>
            <p:nvPr/>
          </p:nvSpPr>
          <p:spPr bwMode="auto">
            <a:xfrm>
              <a:off x="212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67"/>
            <p:cNvSpPr>
              <a:spLocks noChangeAspect="1" noChangeArrowheads="1"/>
            </p:cNvSpPr>
            <p:nvPr/>
          </p:nvSpPr>
          <p:spPr bwMode="auto">
            <a:xfrm>
              <a:off x="212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68"/>
            <p:cNvSpPr>
              <a:spLocks noChangeAspect="1" noChangeArrowheads="1"/>
            </p:cNvSpPr>
            <p:nvPr/>
          </p:nvSpPr>
          <p:spPr bwMode="auto">
            <a:xfrm>
              <a:off x="212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69"/>
            <p:cNvSpPr>
              <a:spLocks noChangeAspect="1" noChangeArrowheads="1"/>
            </p:cNvSpPr>
            <p:nvPr/>
          </p:nvSpPr>
          <p:spPr bwMode="auto">
            <a:xfrm>
              <a:off x="233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0"/>
            <p:cNvSpPr>
              <a:spLocks noChangeAspect="1" noChangeArrowheads="1"/>
            </p:cNvSpPr>
            <p:nvPr/>
          </p:nvSpPr>
          <p:spPr bwMode="auto">
            <a:xfrm>
              <a:off x="233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1"/>
            <p:cNvSpPr>
              <a:spLocks noChangeAspect="1" noChangeArrowheads="1"/>
            </p:cNvSpPr>
            <p:nvPr/>
          </p:nvSpPr>
          <p:spPr bwMode="auto">
            <a:xfrm>
              <a:off x="233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72"/>
            <p:cNvSpPr>
              <a:spLocks noChangeAspect="1" noChangeArrowheads="1"/>
            </p:cNvSpPr>
            <p:nvPr/>
          </p:nvSpPr>
          <p:spPr bwMode="auto">
            <a:xfrm>
              <a:off x="233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73"/>
            <p:cNvSpPr>
              <a:spLocks noChangeAspect="1" noChangeArrowheads="1"/>
            </p:cNvSpPr>
            <p:nvPr/>
          </p:nvSpPr>
          <p:spPr bwMode="auto">
            <a:xfrm>
              <a:off x="233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74"/>
            <p:cNvSpPr>
              <a:spLocks noChangeAspect="1" noChangeArrowheads="1"/>
            </p:cNvSpPr>
            <p:nvPr/>
          </p:nvSpPr>
          <p:spPr bwMode="auto">
            <a:xfrm>
              <a:off x="233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75"/>
            <p:cNvSpPr>
              <a:spLocks noChangeAspect="1" noChangeArrowheads="1"/>
            </p:cNvSpPr>
            <p:nvPr/>
          </p:nvSpPr>
          <p:spPr bwMode="auto">
            <a:xfrm>
              <a:off x="233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Oval 76"/>
            <p:cNvSpPr>
              <a:spLocks noChangeAspect="1" noChangeArrowheads="1"/>
            </p:cNvSpPr>
            <p:nvPr/>
          </p:nvSpPr>
          <p:spPr bwMode="auto">
            <a:xfrm>
              <a:off x="1326" y="1785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Oval 77"/>
            <p:cNvSpPr>
              <a:spLocks noChangeAspect="1" noChangeArrowheads="1"/>
            </p:cNvSpPr>
            <p:nvPr/>
          </p:nvSpPr>
          <p:spPr bwMode="auto">
            <a:xfrm>
              <a:off x="675" y="2653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Oval 78"/>
            <p:cNvSpPr>
              <a:spLocks noChangeAspect="1" noChangeArrowheads="1"/>
            </p:cNvSpPr>
            <p:nvPr/>
          </p:nvSpPr>
          <p:spPr bwMode="auto">
            <a:xfrm>
              <a:off x="675" y="2880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Oval 79"/>
            <p:cNvSpPr>
              <a:spLocks noChangeAspect="1" noChangeArrowheads="1"/>
            </p:cNvSpPr>
            <p:nvPr/>
          </p:nvSpPr>
          <p:spPr bwMode="auto">
            <a:xfrm>
              <a:off x="2393" y="2886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8" name="Text Box 80"/>
          <p:cNvSpPr txBox="1">
            <a:spLocks noChangeArrowheads="1"/>
          </p:cNvSpPr>
          <p:nvPr/>
        </p:nvSpPr>
        <p:spPr bwMode="auto">
          <a:xfrm>
            <a:off x="6408215" y="2497637"/>
            <a:ext cx="6492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6000" dirty="0">
                <a:solidFill>
                  <a:srgbClr val="33CC33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780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片元处理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片元处理阶段的目的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综合多种因素，从光栅后得到的片元数据中确定</a:t>
            </a:r>
            <a:r>
              <a:rPr lang="zh-CN" altLang="en-US" sz="1800" b="1" dirty="0"/>
              <a:t>最终的像素颜色</a:t>
            </a:r>
            <a:endParaRPr lang="en-US" altLang="zh-CN" sz="1800" b="1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纹理映射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隐藏面消除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透明</a:t>
            </a:r>
            <a:endParaRPr lang="en-US" altLang="zh-CN" sz="2400" dirty="0"/>
          </a:p>
          <a:p>
            <a:endParaRPr lang="en-US" altLang="zh-CN" sz="2000" dirty="0"/>
          </a:p>
          <a:p>
            <a:r>
              <a:rPr lang="zh-CN" altLang="en-US" sz="2400" dirty="0"/>
              <a:t>反走样</a:t>
            </a:r>
            <a:endParaRPr lang="en-US" altLang="zh-CN" sz="32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98" y="2520572"/>
            <a:ext cx="4875502" cy="33306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44683" y="58958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透明绘制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7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21790" y="338911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裁剪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6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裁剪的目的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用来确定哪些图元的那些部分可能会出现在屏幕上，并且把没有被裁减掉的图元送入光栅化模块中</a:t>
            </a:r>
            <a:endParaRPr lang="en-US" altLang="zh-CN" sz="2400" dirty="0" smtClean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需要把在</a:t>
            </a:r>
            <a:r>
              <a:rPr lang="zh-CN" altLang="en-US" sz="2400" dirty="0" smtClean="0">
                <a:solidFill>
                  <a:srgbClr val="0000FF"/>
                </a:solidFill>
              </a:rPr>
              <a:t>视见体</a:t>
            </a:r>
            <a:r>
              <a:rPr lang="zh-CN" altLang="en-US" sz="2400" dirty="0">
                <a:solidFill>
                  <a:srgbClr val="0000FF"/>
                </a:solidFill>
              </a:rPr>
              <a:t>外面</a:t>
            </a:r>
            <a:r>
              <a:rPr lang="zh-CN" altLang="en-US" sz="2400" dirty="0" smtClean="0">
                <a:solidFill>
                  <a:srgbClr val="0000FF"/>
                </a:solidFill>
              </a:rPr>
              <a:t>的图元删</a:t>
            </a:r>
            <a:r>
              <a:rPr lang="zh-CN" altLang="en-US" sz="2400" dirty="0">
                <a:solidFill>
                  <a:srgbClr val="0000FF"/>
                </a:solidFill>
              </a:rPr>
              <a:t>除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算法要基于用一列顶点表示的几何形状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在几何流水线体系的最后，顶点被集成为基本几何</a:t>
            </a:r>
            <a:r>
              <a:rPr lang="zh-CN" altLang="en-US" sz="1800" dirty="0" smtClean="0"/>
              <a:t>形状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 smtClean="0"/>
              <a:t>裁剪处理可以发生在观察流水线的一个或多个地方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建模器可能首先对图元进行裁剪处理，减少输入图元数量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当图元从三维对象投影为二维对象后也可以对它进行裁剪处理</a:t>
            </a:r>
            <a:endParaRPr lang="en-US" altLang="zh-CN" sz="1800" dirty="0" smtClean="0"/>
          </a:p>
          <a:p>
            <a:pPr lvl="1"/>
            <a:r>
              <a:rPr lang="zh-CN" altLang="en-US" sz="1800" dirty="0" smtClean="0">
                <a:solidFill>
                  <a:srgbClr val="0000FF"/>
                </a:solidFill>
              </a:rPr>
              <a:t>在</a:t>
            </a:r>
            <a:r>
              <a:rPr lang="en-US" altLang="zh-CN" sz="1800" dirty="0" smtClean="0">
                <a:solidFill>
                  <a:srgbClr val="0000FF"/>
                </a:solidFill>
              </a:rPr>
              <a:t>OpenGL</a:t>
            </a:r>
            <a:r>
              <a:rPr lang="zh-CN" altLang="en-US" sz="1800" dirty="0" smtClean="0">
                <a:solidFill>
                  <a:srgbClr val="0000FF"/>
                </a:solidFill>
              </a:rPr>
              <a:t>中，是用一个三维视见体对图元进行裁剪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95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二维裁剪</a:t>
            </a:r>
          </a:p>
          <a:p>
            <a:r>
              <a:rPr lang="zh-CN" altLang="en-US" sz="2400" dirty="0"/>
              <a:t>三维裁剪</a:t>
            </a:r>
            <a:endParaRPr lang="en-US" altLang="zh-CN" sz="2400" dirty="0"/>
          </a:p>
          <a:p>
            <a:r>
              <a:rPr lang="zh-CN" altLang="en-US" sz="2400" dirty="0"/>
              <a:t>对线段和多边形很容易进行</a:t>
            </a:r>
          </a:p>
          <a:p>
            <a:r>
              <a:rPr lang="zh-CN" altLang="en-US" sz="2400" dirty="0"/>
              <a:t>对于曲线和文本很难进行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首先转化为线段和多边形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33"/>
          <a:stretch/>
        </p:blipFill>
        <p:spPr>
          <a:xfrm>
            <a:off x="995945" y="4007078"/>
            <a:ext cx="6577879" cy="20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9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二维线段的裁剪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直接方法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计算线段与裁剪窗口边界的交点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缺点：低效，每次求交需要一次除法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marL="0" indent="0">
              <a:buNone/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8" name="AutoShape 4" descr="https://encrypted-tbn3.gstatic.com/images?q=tbn:ANd9GcTlHiEm_Ya5Ga-n4rzTQ22DWQ1SPE4vyZgAAsXVPPO0cdLHusRQ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85" y="3111048"/>
            <a:ext cx="6137829" cy="255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8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Cohen-Sutherland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算法思想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通过对端点编码的方式，尽可能</a:t>
            </a:r>
            <a:r>
              <a:rPr lang="zh-CN" altLang="en-US" sz="1800" dirty="0"/>
              <a:t>不经过求交就消除许多情形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从确定裁剪窗口边界的四条直线开始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11" y="2899559"/>
            <a:ext cx="5295477" cy="2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Case 1: </a:t>
            </a:r>
            <a:r>
              <a:rPr lang="zh-CN" altLang="en-US" sz="2400" dirty="0"/>
              <a:t>线段的两个端点都在四条直线内</a:t>
            </a:r>
            <a:r>
              <a:rPr lang="zh-CN" altLang="en-US" sz="2400" dirty="0" smtClean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原样绘制直线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en-US" altLang="zh-CN" sz="2400" dirty="0"/>
              <a:t>Case 2: </a:t>
            </a:r>
            <a:r>
              <a:rPr lang="zh-CN" altLang="en-US" sz="2400" dirty="0"/>
              <a:t>两个端点都在直线外，而且在一条直线的同侧</a:t>
            </a:r>
            <a:r>
              <a:rPr lang="zh-CN" altLang="en-US" sz="2400" dirty="0" smtClean="0"/>
              <a:t>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抛弃这条直线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75" y="3626607"/>
            <a:ext cx="6789857" cy="245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5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Case 3: </a:t>
            </a:r>
            <a:r>
              <a:rPr lang="zh-CN" altLang="en-US" sz="2400" dirty="0"/>
              <a:t>一个端点在内部，一个端点在外部</a:t>
            </a:r>
            <a:r>
              <a:rPr lang="zh-CN" altLang="en-US" sz="2400" dirty="0" smtClean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必须进行至少一次求交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en-US" altLang="zh-CN" sz="2400" dirty="0"/>
              <a:t>Case 4: </a:t>
            </a:r>
            <a:r>
              <a:rPr lang="zh-CN" altLang="en-US" sz="2400" dirty="0"/>
              <a:t>都在外面</a:t>
            </a:r>
            <a:r>
              <a:rPr lang="zh-CN" altLang="en-US" sz="2400" dirty="0" smtClean="0"/>
              <a:t>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仍</a:t>
            </a:r>
            <a:r>
              <a:rPr lang="zh-CN" altLang="en-US" sz="1800" dirty="0" smtClean="0"/>
              <a:t>可能部分</a:t>
            </a:r>
            <a:r>
              <a:rPr lang="zh-CN" altLang="en-US" sz="1800" dirty="0"/>
              <a:t>在</a:t>
            </a:r>
            <a:r>
              <a:rPr lang="zh-CN" altLang="en-US" sz="1800" dirty="0" smtClean="0"/>
              <a:t>内部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必须</a:t>
            </a:r>
            <a:r>
              <a:rPr lang="zh-CN" altLang="en-US" sz="1800" dirty="0"/>
              <a:t>进行至少一次求交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91" y="3765045"/>
            <a:ext cx="5534104" cy="288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5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延长四条边，把</a:t>
            </a:r>
            <a:r>
              <a:rPr lang="zh-CN" altLang="en-US" sz="2400" dirty="0"/>
              <a:t>空间分成九个区域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对于每个端点，定义一个编码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3</a:t>
            </a:r>
            <a:endParaRPr lang="en-US" altLang="zh-CN" sz="1800" baseline="-250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y&gt;</a:t>
            </a:r>
            <a:r>
              <a:rPr lang="en-US" altLang="zh-CN" sz="1800" dirty="0" err="1"/>
              <a:t>y</a:t>
            </a:r>
            <a:r>
              <a:rPr lang="en-US" altLang="zh-CN" sz="1800" baseline="-25000" dirty="0" err="1"/>
              <a:t>max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0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y&lt;</a:t>
            </a:r>
            <a:r>
              <a:rPr lang="en-US" altLang="zh-CN" sz="1800" dirty="0" err="1"/>
              <a:t>y</a:t>
            </a:r>
            <a:r>
              <a:rPr lang="en-US" altLang="zh-CN" sz="1800" baseline="-25000" dirty="0" err="1"/>
              <a:t>min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x&gt;</a:t>
            </a:r>
            <a:r>
              <a:rPr lang="en-US" altLang="zh-CN" sz="1800" dirty="0" err="1"/>
              <a:t>x</a:t>
            </a:r>
            <a:r>
              <a:rPr lang="en-US" altLang="zh-CN" sz="1800" baseline="-25000" dirty="0" err="1"/>
              <a:t>max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</a:t>
            </a:r>
            <a:r>
              <a:rPr lang="en-US" altLang="zh-CN" sz="1800" dirty="0"/>
              <a:t>x&lt;</a:t>
            </a:r>
            <a:r>
              <a:rPr lang="en-US" altLang="zh-CN" sz="1800" dirty="0" err="1"/>
              <a:t>x</a:t>
            </a:r>
            <a:r>
              <a:rPr lang="en-US" altLang="zh-CN" sz="1800" baseline="-25000" dirty="0" err="1"/>
              <a:t>min</a:t>
            </a:r>
            <a:r>
              <a:rPr lang="en-US" altLang="zh-CN" sz="1800" dirty="0"/>
              <a:t>, b</a:t>
            </a:r>
            <a:r>
              <a:rPr lang="en-US" altLang="zh-CN" sz="1800" baseline="-25000" dirty="0"/>
              <a:t>3</a:t>
            </a:r>
            <a:r>
              <a:rPr lang="en-US" altLang="zh-CN" sz="1800" dirty="0"/>
              <a:t> =1</a:t>
            </a:r>
            <a:r>
              <a:rPr lang="zh-CN" altLang="en-US" sz="1800" dirty="0"/>
              <a:t>，否则</a:t>
            </a:r>
            <a:r>
              <a:rPr lang="en-US" altLang="zh-CN" sz="1800" dirty="0"/>
              <a:t>=0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计算</a:t>
            </a:r>
            <a:r>
              <a:rPr lang="zh-CN" altLang="en-US" sz="2400" dirty="0" smtClean="0"/>
              <a:t>编码需要</a:t>
            </a:r>
            <a:r>
              <a:rPr lang="zh-CN" altLang="en-US" sz="2400" dirty="0"/>
              <a:t>四次减法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395" y="2873479"/>
            <a:ext cx="3954550" cy="213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考虑图中所示的五种</a:t>
            </a:r>
            <a:r>
              <a:rPr lang="zh-CN" altLang="en-US" sz="2400" dirty="0" smtClean="0"/>
              <a:t>情形</a:t>
            </a:r>
            <a:endParaRPr lang="en-US" altLang="zh-CN" sz="2400" b="1" dirty="0"/>
          </a:p>
          <a:p>
            <a:r>
              <a:rPr lang="en-US" altLang="zh-CN" sz="2400" dirty="0"/>
              <a:t>AB: </a:t>
            </a:r>
            <a:r>
              <a:rPr lang="zh-CN" altLang="en-US" sz="2400" dirty="0"/>
              <a:t>编码</a:t>
            </a:r>
            <a:r>
              <a:rPr lang="en-US" altLang="zh-CN" sz="2400" dirty="0"/>
              <a:t>(A) = </a:t>
            </a:r>
            <a:r>
              <a:rPr lang="zh-CN" altLang="en-US" sz="2400" dirty="0"/>
              <a:t>编码</a:t>
            </a:r>
            <a:r>
              <a:rPr lang="en-US" altLang="zh-CN" sz="2400" dirty="0"/>
              <a:t>(B) = 0000</a:t>
            </a:r>
            <a:r>
              <a:rPr lang="zh-CN" altLang="en-US" sz="2400" dirty="0" smtClean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en-US" altLang="zh-CN" sz="1800" dirty="0"/>
              <a:t>AB</a:t>
            </a:r>
            <a:r>
              <a:rPr lang="zh-CN" altLang="en-US" sz="1800" dirty="0"/>
              <a:t>为可接受线段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9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CD: </a:t>
            </a:r>
            <a:r>
              <a:rPr lang="zh-CN" altLang="en-US" sz="2400" dirty="0"/>
              <a:t>编码</a:t>
            </a:r>
            <a:r>
              <a:rPr lang="en-US" altLang="zh-CN" sz="2400" dirty="0"/>
              <a:t>(C) = 0000 </a:t>
            </a:r>
            <a:r>
              <a:rPr lang="zh-CN" altLang="en-US" sz="2400" dirty="0"/>
              <a:t>编码</a:t>
            </a:r>
            <a:r>
              <a:rPr lang="en-US" altLang="zh-CN" sz="2400" dirty="0"/>
              <a:t>(D) = 0010 ≠ </a:t>
            </a:r>
            <a:r>
              <a:rPr lang="en-US" altLang="zh-CN" sz="2400" dirty="0" smtClean="0"/>
              <a:t>0000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计算交点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在编码</a:t>
            </a:r>
            <a:r>
              <a:rPr lang="en-US" altLang="zh-CN" sz="1800" dirty="0"/>
              <a:t>(D)</a:t>
            </a:r>
            <a:r>
              <a:rPr lang="zh-CN" altLang="en-US" sz="1800" dirty="0"/>
              <a:t>中的</a:t>
            </a:r>
            <a:r>
              <a:rPr lang="en-US" altLang="zh-CN" sz="1800" dirty="0"/>
              <a:t>1</a:t>
            </a:r>
            <a:r>
              <a:rPr lang="zh-CN" altLang="en-US" sz="1800" dirty="0"/>
              <a:t>确定线段与哪条边相交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如果有一条从</a:t>
            </a:r>
            <a:r>
              <a:rPr lang="zh-CN" altLang="en-US" sz="1800" dirty="0" smtClean="0"/>
              <a:t>点</a:t>
            </a:r>
            <a:r>
              <a:rPr lang="en-US" altLang="zh-CN" sz="1800" smtClean="0"/>
              <a:t>C</a:t>
            </a:r>
            <a:r>
              <a:rPr lang="zh-CN" altLang="en-US" sz="1800" smtClean="0"/>
              <a:t>出发</a:t>
            </a:r>
            <a:r>
              <a:rPr lang="zh-CN" altLang="en-US" sz="1800" dirty="0"/>
              <a:t>的线段，另一端点的编码中有两个</a:t>
            </a:r>
            <a:r>
              <a:rPr lang="en-US" altLang="zh-CN" sz="1800" dirty="0"/>
              <a:t>1</a:t>
            </a:r>
            <a:r>
              <a:rPr lang="zh-CN" altLang="en-US" sz="1800" dirty="0"/>
              <a:t>，那么可能需要进行两次求交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8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7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EF: </a:t>
            </a:r>
            <a:r>
              <a:rPr lang="zh-CN" altLang="en-US" sz="2400" dirty="0"/>
              <a:t>编码</a:t>
            </a:r>
            <a:r>
              <a:rPr lang="en-US" altLang="zh-CN" sz="2400" dirty="0"/>
              <a:t>(E) </a:t>
            </a:r>
            <a:r>
              <a:rPr lang="zh-CN" altLang="en-US" sz="2400" dirty="0"/>
              <a:t>与编码</a:t>
            </a:r>
            <a:r>
              <a:rPr lang="en-US" altLang="zh-CN" sz="2400" dirty="0"/>
              <a:t>(F) </a:t>
            </a:r>
            <a:r>
              <a:rPr lang="zh-CN" altLang="en-US" sz="2400" dirty="0"/>
              <a:t>的逻辑和</a:t>
            </a:r>
            <a:r>
              <a:rPr lang="en-US" altLang="zh-CN" sz="2400" dirty="0"/>
              <a:t>= 0010 ≠ </a:t>
            </a:r>
            <a:r>
              <a:rPr lang="en-US" altLang="zh-CN" sz="2400" dirty="0" smtClean="0"/>
              <a:t>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即两个编码中有某一位同时等于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，表示线段</a:t>
            </a:r>
            <a:r>
              <a:rPr lang="zh-CN" altLang="en-US" sz="1800" dirty="0"/>
              <a:t>在相应边的外侧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应当抛弃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9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应用编码（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GH</a:t>
            </a:r>
            <a:r>
              <a:rPr lang="zh-CN" altLang="en-US" sz="2400" dirty="0"/>
              <a:t>与</a:t>
            </a:r>
            <a:r>
              <a:rPr lang="en-US" altLang="zh-CN" sz="2400" dirty="0"/>
              <a:t>IJ: </a:t>
            </a:r>
            <a:r>
              <a:rPr lang="zh-CN" altLang="en-US" sz="2400" dirty="0"/>
              <a:t>编码相同，也不全是零，但逻辑和为</a:t>
            </a:r>
            <a:r>
              <a:rPr lang="en-US" altLang="zh-CN" sz="2400" dirty="0" smtClean="0"/>
              <a:t>0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无法确定是否抛弃</a:t>
            </a: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需要通过</a:t>
            </a:r>
            <a:r>
              <a:rPr lang="zh-CN" altLang="en-US" sz="1800" dirty="0"/>
              <a:t>与窗口一条边求交缩短线段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计算新端点的</a:t>
            </a:r>
            <a:r>
              <a:rPr lang="zh-CN" altLang="en-US" sz="1800" dirty="0" smtClean="0"/>
              <a:t>编码，重新</a:t>
            </a:r>
            <a:r>
              <a:rPr lang="zh-CN" altLang="en-US" sz="1800" dirty="0"/>
              <a:t>执行前述算法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7" y="3830903"/>
            <a:ext cx="6242839" cy="26619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648" y="2820395"/>
            <a:ext cx="3055009" cy="165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1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三维</a:t>
            </a:r>
            <a:r>
              <a:rPr lang="en-US" altLang="zh-CN" dirty="0"/>
              <a:t>Cohen-Sutherland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利用</a:t>
            </a:r>
            <a:r>
              <a:rPr lang="en-US" altLang="zh-CN" sz="2400" dirty="0"/>
              <a:t>6</a:t>
            </a:r>
            <a:r>
              <a:rPr lang="zh-CN" altLang="en-US" sz="2400" dirty="0"/>
              <a:t>位进行编码</a:t>
            </a:r>
          </a:p>
          <a:p>
            <a:r>
              <a:rPr lang="zh-CN" altLang="en-US" sz="2400" dirty="0" smtClean="0"/>
              <a:t>与二维剪裁的主要区别是使用平面而不是直线裁剪线段</a:t>
            </a:r>
            <a:endParaRPr lang="en-US" altLang="zh-CN" sz="1800" dirty="0"/>
          </a:p>
          <a:p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35" y="2985938"/>
            <a:ext cx="4093254" cy="25336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454" y="2524027"/>
            <a:ext cx="3605051" cy="323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在绝大多数应用中，裁剪窗口相对于整个对象</a:t>
            </a:r>
            <a:r>
              <a:rPr lang="zh-CN" altLang="en-US" sz="2400" dirty="0" smtClean="0"/>
              <a:t>数据库而言</a:t>
            </a:r>
            <a:r>
              <a:rPr lang="zh-CN" altLang="en-US" sz="2400" dirty="0"/>
              <a:t>是比较小</a:t>
            </a:r>
            <a:r>
              <a:rPr lang="zh-CN" altLang="en-US" sz="2400" dirty="0" smtClean="0"/>
              <a:t>的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大多数线段是在窗口的一条边或多条边外面，从而可以基于编码把它们</a:t>
            </a:r>
            <a:r>
              <a:rPr lang="zh-CN" altLang="en-US" sz="1800" dirty="0" smtClean="0"/>
              <a:t>抛弃，效率高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当线段需要用多步进行缩短时，代码要被重复执行，这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时效率不高</a:t>
            </a:r>
            <a:endParaRPr lang="zh-CN" altLang="en-US" sz="18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96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Liang-</a:t>
            </a:r>
            <a:r>
              <a:rPr lang="en-US" altLang="zh-CN" dirty="0" err="1"/>
              <a:t>Barsky</a:t>
            </a:r>
            <a:r>
              <a:rPr lang="zh-CN" altLang="en-US" dirty="0"/>
              <a:t>裁剪算法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考虑线段的参数化表示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𝑝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(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)=(1 – 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)</m:t>
                    </m:r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+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 </m:t>
                    </m:r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, </m:t>
                    </m:r>
                    <m:r>
                      <a:rPr lang="zh-CN" altLang="en-US" sz="1800" b="0" i="1" dirty="0" smtClean="0">
                        <a:latin typeface="Cambria Math" charset="0"/>
                      </a:rPr>
                      <m:t> </m:t>
                    </m:r>
                    <m:r>
                      <a:rPr lang="en-US" altLang="zh-CN" sz="1800" i="1" dirty="0">
                        <a:latin typeface="Cambria Math" charset="0"/>
                      </a:rPr>
                      <m:t>0 ≤ </m:t>
                    </m:r>
                    <m:r>
                      <a:rPr lang="el-GR" altLang="zh-CN" sz="1800" i="1" dirty="0">
                        <a:latin typeface="Cambria Math" charset="0"/>
                      </a:rPr>
                      <m:t>𝛼</m:t>
                    </m:r>
                    <m:r>
                      <a:rPr lang="el-GR" altLang="zh-CN" sz="1800" i="1" dirty="0">
                        <a:latin typeface="Cambria Math" charset="0"/>
                      </a:rPr>
                      <m:t> ≤1</m:t>
                    </m:r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算法思路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在计算出来线段所在直线与窗口各边交点对应的</a:t>
                </a:r>
                <a:r>
                  <a:rPr lang="en-US" altLang="zh-CN" sz="1800" dirty="0"/>
                  <a:t>α</a:t>
                </a:r>
                <a:r>
                  <a:rPr lang="zh-CN" altLang="en-US" sz="1800" dirty="0"/>
                  <a:t>值后，我们可以通过这些参数值的顺序区分出各种情形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566" y="2354399"/>
            <a:ext cx="2689810" cy="198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1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pt-BR" sz="2400" dirty="0"/>
              <a:t>情形</a:t>
            </a:r>
            <a:r>
              <a:rPr lang="pt-BR" altLang="zh-CN" sz="2400" dirty="0"/>
              <a:t>(a): α</a:t>
            </a:r>
            <a:r>
              <a:rPr lang="pt-BR" altLang="zh-CN" sz="2400" baseline="-25000" dirty="0"/>
              <a:t>1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2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3</a:t>
            </a:r>
            <a:r>
              <a:rPr lang="pt-BR" altLang="zh-CN" sz="2400" dirty="0"/>
              <a:t> &lt; α</a:t>
            </a:r>
            <a:r>
              <a:rPr lang="pt-BR" altLang="zh-CN" sz="2400" baseline="-25000" dirty="0"/>
              <a:t>4</a:t>
            </a:r>
            <a:r>
              <a:rPr lang="zh-CN" altLang="en-US" sz="2400" dirty="0" smtClean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交点依次在右、顶、左、底边：缩短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情形</a:t>
            </a:r>
            <a:r>
              <a:rPr lang="en-US" altLang="zh-CN" sz="2400" dirty="0"/>
              <a:t>(b): </a:t>
            </a:r>
            <a:r>
              <a:rPr lang="el-GR" altLang="zh-CN" sz="2400" dirty="0"/>
              <a:t>α</a:t>
            </a:r>
            <a:r>
              <a:rPr lang="el-GR" altLang="zh-CN" sz="2400" baseline="-25000" dirty="0"/>
              <a:t>1</a:t>
            </a:r>
            <a:r>
              <a:rPr lang="el-GR" altLang="zh-CN" sz="2400" dirty="0"/>
              <a:t> &lt; α</a:t>
            </a:r>
            <a:r>
              <a:rPr lang="el-GR" altLang="zh-CN" sz="2400" baseline="-25000" dirty="0"/>
              <a:t>3</a:t>
            </a:r>
            <a:r>
              <a:rPr lang="el-GR" altLang="zh-CN" sz="2400" dirty="0"/>
              <a:t> &lt; α</a:t>
            </a:r>
            <a:r>
              <a:rPr lang="el-GR" altLang="zh-CN" sz="2400" baseline="-25000" dirty="0"/>
              <a:t>2 </a:t>
            </a:r>
            <a:r>
              <a:rPr lang="el-GR" altLang="zh-CN" sz="2400" dirty="0"/>
              <a:t>&lt; α</a:t>
            </a:r>
            <a:r>
              <a:rPr lang="el-GR" altLang="zh-CN" sz="2400" baseline="-25000" dirty="0"/>
              <a:t>4</a:t>
            </a:r>
            <a:r>
              <a:rPr lang="zh-CN" altLang="en-US" sz="2400" dirty="0" smtClean="0"/>
              <a:t>：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交点依次在右、左、顶、底：抛弃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71" y="3432233"/>
            <a:ext cx="7240050" cy="25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48433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400" dirty="0"/>
                  <a:t>交点的表示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charset="0"/>
                      </a:rPr>
                      <m:t>𝛼</m:t>
                    </m:r>
                    <m:r>
                      <a:rPr lang="el-GR" altLang="zh-CN" sz="2400" i="1" dirty="0" smtClean="0">
                        <a:latin typeface="Cambria Math" charset="0"/>
                      </a:rPr>
                      <m:t>=(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𝑚𝑎𝑥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1)/(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2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charset="0"/>
                      </a:rPr>
                      <m:t>1)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需要浮点除法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尽可能地避免交点计算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交点方程的重写：</a:t>
                </a:r>
                <a14:m>
                  <m:oMath xmlns:m="http://schemas.openxmlformats.org/officeDocument/2006/math">
                    <m:r>
                      <a:rPr lang="el-GR" altLang="zh-CN" sz="2400" i="1" dirty="0" smtClean="0">
                        <a:latin typeface="Cambria Math" charset="0"/>
                      </a:rPr>
                      <m:t>𝛼</m:t>
                    </m:r>
                    <m:r>
                      <a:rPr lang="el-GR" altLang="zh-CN" sz="2400" i="1" dirty="0" smtClean="0">
                        <a:latin typeface="Cambria Math" charset="0"/>
                      </a:rPr>
                      <m:t> (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2400" i="1" dirty="0">
                        <a:latin typeface="Cambria Math" charset="0"/>
                      </a:rPr>
                      <m:t>)=(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 err="1">
                        <a:latin typeface="Cambria Math" charset="0"/>
                      </a:rPr>
                      <m:t>𝑚𝑎𝑥</m:t>
                    </m:r>
                    <m:r>
                      <a:rPr lang="en-US" altLang="zh-CN" sz="2400" i="1" dirty="0">
                        <a:latin typeface="Cambria Math" charset="0"/>
                      </a:rPr>
                      <m:t> – </m:t>
                    </m:r>
                    <m:r>
                      <a:rPr lang="en-US" altLang="zh-CN" sz="2400" i="1" dirty="0">
                        <a:latin typeface="Cambria Math" charset="0"/>
                      </a:rPr>
                      <m:t>𝑦</m:t>
                    </m:r>
                    <m:r>
                      <a:rPr lang="en-US" altLang="zh-CN" sz="24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所需要的测试可以对</a:t>
                </a:r>
                <a:r>
                  <a:rPr lang="en-US" altLang="zh-CN" sz="1800" dirty="0" err="1"/>
                  <a:t>Δy</a:t>
                </a:r>
                <a:r>
                  <a:rPr lang="en-US" altLang="zh-CN" sz="1800" baseline="-25000" dirty="0" err="1"/>
                  <a:t>max</a:t>
                </a:r>
                <a:r>
                  <a:rPr lang="zh-CN" altLang="en-US" sz="1800" dirty="0"/>
                  <a:t>和</a:t>
                </a:r>
                <a:r>
                  <a:rPr lang="en-US" altLang="zh-CN" sz="1800" dirty="0" err="1"/>
                  <a:t>Δy</a:t>
                </a:r>
                <a:r>
                  <a:rPr lang="zh-CN" altLang="en-US" sz="1800" dirty="0"/>
                  <a:t>以及其它类似项进行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只有当需要对直线进行缩短时才需要把交点计算出来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算法优势</a:t>
                </a:r>
                <a:r>
                  <a:rPr lang="zh-CN" altLang="en-US" sz="2400" dirty="0" smtClean="0"/>
                  <a:t>：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与</a:t>
                </a:r>
                <a:r>
                  <a:rPr lang="en-US" altLang="zh-CN" sz="1800" dirty="0"/>
                  <a:t>Cohen-Sutherland</a:t>
                </a:r>
                <a:r>
                  <a:rPr lang="zh-CN" altLang="en-US" sz="1800" dirty="0"/>
                  <a:t>算法一样很简单地接受或抛弃直线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应用</a:t>
                </a:r>
                <a:r>
                  <a:rPr lang="en-US" altLang="zh-CN" sz="1800" dirty="0"/>
                  <a:t>α</a:t>
                </a:r>
                <a:r>
                  <a:rPr lang="zh-CN" altLang="en-US" sz="1800" dirty="0"/>
                  <a:t>值使得不必要像</a:t>
                </a:r>
                <a:r>
                  <a:rPr lang="en-US" altLang="zh-CN" sz="1800" dirty="0"/>
                  <a:t>Cohen-Sutherland</a:t>
                </a:r>
                <a:r>
                  <a:rPr lang="zh-CN" altLang="en-US" sz="1800" dirty="0"/>
                  <a:t>算法那样重复应用代码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可以推广到三维的</a:t>
                </a:r>
                <a:r>
                  <a:rPr lang="zh-CN" altLang="en-US" sz="1800" dirty="0" smtClean="0"/>
                  <a:t>情形</a:t>
                </a:r>
                <a:endParaRPr lang="en-US" altLang="zh-CN" sz="1800" dirty="0" smtClean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>
                  <a:buClr>
                    <a:schemeClr val="tx1"/>
                  </a:buClr>
                </a:pPr>
                <a:r>
                  <a:rPr lang="zh-CN" altLang="en-US" sz="2400" dirty="0"/>
                  <a:t>参考资料：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en-US" altLang="zh-CN" dirty="0">
                    <a:hlinkClick r:id="rId2"/>
                  </a:rPr>
                  <a:t>https://</a:t>
                </a:r>
                <a:r>
                  <a:rPr lang="en-US" altLang="zh-CN" dirty="0" smtClean="0">
                    <a:hlinkClick r:id="rId2"/>
                  </a:rPr>
                  <a:t>mp.weixin.qq.com/s/RY53e-OozTY4cAdzHYvFkQ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4843337"/>
              </a:xfrm>
              <a:blipFill>
                <a:blip r:embed="rId3"/>
                <a:stretch>
                  <a:fillRect l="-309" t="-2516" b="-1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3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05990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并不像线段裁剪那样简单</a:t>
            </a:r>
            <a:r>
              <a:rPr lang="zh-CN" altLang="en-US" sz="2400" dirty="0" smtClean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裁剪一条线段最多得到一条线段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裁剪一个多边形可以得到多个多边形</a:t>
            </a:r>
          </a:p>
          <a:p>
            <a:pPr lvl="1">
              <a:buClr>
                <a:schemeClr val="tx1"/>
              </a:buClr>
            </a:pP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 smtClean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 smtClean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 smtClean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然而</a:t>
            </a:r>
            <a:r>
              <a:rPr lang="zh-CN" altLang="en-US" sz="2400" dirty="0"/>
              <a:t>，裁剪凸多边形最多得到一个凸多边形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05" y="2616665"/>
            <a:ext cx="6015821" cy="246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7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划分与凸性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一种方法就是把非凸</a:t>
            </a:r>
            <a:r>
              <a:rPr lang="en-US" altLang="zh-CN" sz="2400" dirty="0"/>
              <a:t>(</a:t>
            </a:r>
            <a:r>
              <a:rPr lang="zh-CN" altLang="en-US" sz="2400" dirty="0"/>
              <a:t>凹</a:t>
            </a:r>
            <a:r>
              <a:rPr lang="en-US" altLang="zh-CN" sz="2400" dirty="0"/>
              <a:t>)</a:t>
            </a:r>
            <a:r>
              <a:rPr lang="zh-CN" altLang="en-US" sz="2400" dirty="0"/>
              <a:t>多边形用一组三角形代替</a:t>
            </a:r>
            <a:r>
              <a:rPr lang="zh-CN" altLang="en-US" sz="2400" dirty="0" smtClean="0"/>
              <a:t>，这个</a:t>
            </a:r>
            <a:r>
              <a:rPr lang="zh-CN" altLang="en-US" sz="2400" dirty="0"/>
              <a:t>过程</a:t>
            </a:r>
            <a:r>
              <a:rPr lang="zh-CN" altLang="en-US" sz="2400" dirty="0" smtClean="0"/>
              <a:t>称为剖分（</a:t>
            </a:r>
            <a:r>
              <a:rPr lang="en-US" altLang="zh-CN" sz="2400" dirty="0" smtClean="0"/>
              <a:t>tessellation</a:t>
            </a:r>
            <a:r>
              <a:rPr lang="zh-CN" altLang="en-US" sz="2400" dirty="0"/>
              <a:t>）</a:t>
            </a:r>
          </a:p>
          <a:p>
            <a:r>
              <a:rPr lang="zh-CN" altLang="en-US" sz="2400" dirty="0"/>
              <a:t>这同样也使得填充变得简单</a:t>
            </a:r>
          </a:p>
          <a:p>
            <a:r>
              <a:rPr lang="zh-CN" altLang="en-US" sz="2400" dirty="0" smtClean="0"/>
              <a:t>在</a:t>
            </a:r>
            <a:r>
              <a:rPr lang="en-US" altLang="zh-CN" sz="2400" dirty="0" smtClean="0"/>
              <a:t>OpenGL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4.1</a:t>
            </a:r>
            <a:r>
              <a:rPr lang="zh-CN" altLang="en-US" sz="2400" dirty="0"/>
              <a:t>中有</a:t>
            </a:r>
            <a:r>
              <a:rPr lang="zh-CN" altLang="en-US" sz="2400" dirty="0" smtClean="0"/>
              <a:t>剖分函数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900" y="3584633"/>
            <a:ext cx="6098250" cy="23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Sutherland-Hodgeman</a:t>
            </a:r>
            <a:r>
              <a:rPr lang="zh-CN" altLang="en-US" dirty="0" smtClean="0"/>
              <a:t>裁剪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认为</a:t>
            </a:r>
            <a:r>
              <a:rPr lang="zh-CN" altLang="en-US" sz="2400" dirty="0"/>
              <a:t>线段的裁剪就</a:t>
            </a:r>
            <a:r>
              <a:rPr lang="zh-CN" altLang="en-US" sz="2400" dirty="0" smtClean="0"/>
              <a:t>是一个黑盒子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输入：待剪裁线段的一对端点坐标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输出：没有</a:t>
            </a:r>
            <a:r>
              <a:rPr lang="zh-CN" altLang="en-US" sz="1800" dirty="0"/>
              <a:t>顶点或者裁剪后线段</a:t>
            </a:r>
            <a:r>
              <a:rPr lang="zh-CN" altLang="en-US" sz="1800" dirty="0" smtClean="0"/>
              <a:t>的一对顶点坐标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39" y="2713312"/>
            <a:ext cx="7518372" cy="305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6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线段裁剪的</a:t>
            </a:r>
            <a:r>
              <a:rPr lang="zh-CN" altLang="en-US" dirty="0" smtClean="0"/>
              <a:t>流水线结构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对窗口一边进行裁剪时，与其它边无关</a:t>
            </a:r>
            <a:endParaRPr lang="en-US" altLang="zh-CN" sz="2400" dirty="0"/>
          </a:p>
          <a:p>
            <a:pPr lvl="1"/>
            <a:r>
              <a:rPr lang="zh-CN" altLang="en-US" sz="1800" dirty="0"/>
              <a:t>在流水线中要用到四个独立的裁剪器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73" y="2478505"/>
            <a:ext cx="6759238" cy="40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3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多边剪裁</a:t>
            </a:r>
            <a:r>
              <a:rPr lang="zh-CN" altLang="en-US" dirty="0"/>
              <a:t>的流水线结构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23022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二维情况：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三维</a:t>
            </a:r>
            <a:r>
              <a:rPr lang="zh-CN" altLang="en-US" sz="2400" dirty="0"/>
              <a:t>：增加前与后</a:t>
            </a:r>
            <a:r>
              <a:rPr lang="zh-CN" altLang="en-US" sz="2400" dirty="0" smtClean="0"/>
              <a:t>裁剪器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346" y="2199512"/>
            <a:ext cx="6583801" cy="213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包围</a:t>
            </a:r>
            <a:r>
              <a:rPr lang="zh-CN" altLang="en-US" dirty="0" smtClean="0"/>
              <a:t>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不是直接对复杂多边形进行裁剪，而是先用一个方向</a:t>
            </a:r>
            <a:r>
              <a:rPr lang="zh-CN" altLang="en-US" sz="2400" dirty="0" smtClean="0"/>
              <a:t>与坐</a:t>
            </a:r>
            <a:r>
              <a:rPr lang="zh-CN" altLang="en-US" sz="2400" dirty="0"/>
              <a:t>标轴平行的立方体或其它形状包围多边</a:t>
            </a:r>
            <a:r>
              <a:rPr lang="zh-CN" altLang="en-US" sz="2400" dirty="0" smtClean="0"/>
              <a:t>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包围盒应尽可能得</a:t>
            </a:r>
            <a:r>
              <a:rPr lang="zh-CN" altLang="en-US" sz="1800" dirty="0" smtClean="0"/>
              <a:t>小：满足上述条件的最小矩形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容易计算出坐标的最大值与最</a:t>
            </a:r>
            <a:r>
              <a:rPr lang="zh-CN" altLang="en-US" sz="1800" dirty="0" smtClean="0"/>
              <a:t>小值</a:t>
            </a:r>
            <a:endParaRPr lang="en-US" altLang="zh-CN" sz="1800" dirty="0"/>
          </a:p>
          <a:p>
            <a:r>
              <a:rPr lang="zh-CN" altLang="en-US" sz="2400" dirty="0"/>
              <a:t>通过直接基于包围盒确定多边形的接受与抛弃</a:t>
            </a:r>
          </a:p>
          <a:p>
            <a:pPr lvl="1">
              <a:buClr>
                <a:schemeClr val="tx1"/>
              </a:buCl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628" y="3315901"/>
            <a:ext cx="3012771" cy="317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7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裁剪与可见性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在隐藏面消除中经常用到裁剪</a:t>
            </a:r>
          </a:p>
          <a:p>
            <a:endParaRPr lang="en-US" altLang="zh-CN" sz="2400" dirty="0"/>
          </a:p>
          <a:p>
            <a:r>
              <a:rPr lang="zh-CN" altLang="en-US" sz="2400" dirty="0"/>
              <a:t>实际上，对于裁剪与隐藏面消除，都是希望把看不到</a:t>
            </a:r>
            <a:r>
              <a:rPr lang="zh-CN" altLang="en-US" sz="2400" dirty="0" smtClean="0"/>
              <a:t>的对象</a:t>
            </a:r>
            <a:r>
              <a:rPr lang="zh-CN" altLang="en-US" sz="2400" dirty="0"/>
              <a:t>从视野中去掉</a:t>
            </a:r>
          </a:p>
          <a:p>
            <a:endParaRPr lang="en-US" altLang="zh-CN" sz="2400" dirty="0"/>
          </a:p>
          <a:p>
            <a:r>
              <a:rPr lang="zh-CN" altLang="en-US" sz="2400" dirty="0"/>
              <a:t>通过可以在处理过程中提早应用可见性或者遮挡检测</a:t>
            </a:r>
            <a:r>
              <a:rPr lang="zh-CN" altLang="en-US" sz="2400" dirty="0" smtClean="0"/>
              <a:t>，从而</a:t>
            </a:r>
            <a:r>
              <a:rPr lang="zh-CN" altLang="en-US" sz="2400" dirty="0"/>
              <a:t>在进入流水线体系</a:t>
            </a:r>
            <a:r>
              <a:rPr lang="zh-CN" altLang="en-US" sz="2400" dirty="0" smtClean="0"/>
              <a:t>之前消去</a:t>
            </a:r>
            <a:r>
              <a:rPr lang="zh-CN" altLang="en-US" sz="2400" dirty="0"/>
              <a:t>尽可能多的多边形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6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0964" y="338911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光栅化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4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0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光栅化（</a:t>
            </a:r>
            <a:r>
              <a:rPr lang="en-US" altLang="zh-CN" dirty="0"/>
              <a:t>rasterization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亦称为扫描转化（</a:t>
            </a:r>
            <a:r>
              <a:rPr lang="en-US" altLang="zh-CN" sz="2400" dirty="0"/>
              <a:t>scan conversion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把用一组顶点定义的对象内部的像素用相应的亮度</a:t>
            </a:r>
            <a:r>
              <a:rPr lang="zh-CN" altLang="en-US" sz="1800" dirty="0" smtClean="0"/>
              <a:t>激活</a:t>
            </a:r>
            <a:endParaRPr lang="en-US" altLang="zh-CN" sz="1800" dirty="0" smtClean="0"/>
          </a:p>
          <a:p>
            <a:pPr lvl="2">
              <a:buClr>
                <a:schemeClr val="tx1"/>
              </a:buClr>
            </a:pPr>
            <a:r>
              <a:rPr lang="zh-CN" altLang="en-US" sz="1800" dirty="0" smtClean="0"/>
              <a:t>线</a:t>
            </a:r>
            <a:r>
              <a:rPr lang="zh-CN" altLang="en-US" sz="1800" dirty="0"/>
              <a:t>段</a:t>
            </a:r>
          </a:p>
          <a:p>
            <a:pPr lvl="2">
              <a:buClr>
                <a:schemeClr val="tx1"/>
              </a:buClr>
            </a:pPr>
            <a:r>
              <a:rPr lang="zh-CN" altLang="en-US" sz="1800" dirty="0"/>
              <a:t>多边形：扫描转化</a:t>
            </a:r>
            <a:r>
              <a:rPr lang="en-US" altLang="zh-CN" sz="1800" dirty="0" smtClean="0"/>
              <a:t>=</a:t>
            </a:r>
            <a:r>
              <a:rPr lang="zh-CN" altLang="en-US" sz="1800" dirty="0" smtClean="0"/>
              <a:t>填充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 smtClean="0"/>
              <a:t>明暗</a:t>
            </a:r>
            <a:r>
              <a:rPr lang="zh-CN" altLang="en-US" sz="2400" dirty="0"/>
              <a:t>处理的结果由对象的颜色、纹理、以及明暗</a:t>
            </a:r>
            <a:r>
              <a:rPr lang="zh-CN" altLang="en-US" sz="2400" dirty="0" smtClean="0"/>
              <a:t>处理模型</a:t>
            </a:r>
            <a:r>
              <a:rPr lang="zh-CN" altLang="en-US" sz="2400" dirty="0"/>
              <a:t>确定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本节只考虑如何从顶点出发，确定恰当的像素表示</a:t>
            </a:r>
            <a:r>
              <a:rPr lang="zh-CN" altLang="en-US" sz="2400" dirty="0" smtClean="0"/>
              <a:t>几何对象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9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直线段的扫描转化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假设系统实现中有一个</a:t>
                </a:r>
                <a:r>
                  <a:rPr lang="en-US" altLang="zh-CN" sz="2400" dirty="0" err="1"/>
                  <a:t>write_pixel</a:t>
                </a:r>
                <a:r>
                  <a:rPr lang="zh-CN" altLang="en-US" sz="2400" dirty="0"/>
                  <a:t>函数来设置像素颜色</a:t>
                </a:r>
                <a:endParaRPr lang="en-US" altLang="zh-CN" sz="2400" dirty="0"/>
              </a:p>
              <a:p>
                <a:endParaRPr lang="en-US" altLang="zh-CN" sz="2400" dirty="0" smtClean="0"/>
              </a:p>
              <a:p>
                <a:endParaRPr lang="en-US" altLang="zh-CN" sz="2400" dirty="0" smtClean="0"/>
              </a:p>
              <a:p>
                <a:r>
                  <a:rPr lang="zh-CN" altLang="en-US" sz="2400" dirty="0" smtClean="0"/>
                  <a:t>首先考虑在窗口坐标系中端点坐标为整数的线段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:endParaRPr lang="en-US" altLang="zh-CN" sz="2400" dirty="0"/>
              </a:p>
              <a:p>
                <a:r>
                  <a:rPr lang="zh-CN" altLang="en-US" sz="2400" dirty="0" smtClean="0"/>
                  <a:t>斜率：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 dirty="0">
                        <a:latin typeface="Cambria Math" charset="0"/>
                      </a:rPr>
                      <m:t>/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312" y="3288068"/>
            <a:ext cx="3403993" cy="3387369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1644400" y="1911468"/>
            <a:ext cx="5125657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lvl="1"/>
            <a:r>
              <a:rPr lang="en-US" altLang="zh-CN" b="1" dirty="0" err="1" smtClean="0"/>
              <a:t>write_pixel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 </a:t>
            </a:r>
            <a:r>
              <a:rPr lang="en-US" altLang="zh-CN" dirty="0" smtClean="0"/>
              <a:t>ix</a:t>
            </a:r>
            <a:r>
              <a:rPr lang="en-US" altLang="zh-CN" dirty="0"/>
              <a:t>, 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iy</a:t>
            </a:r>
            <a:r>
              <a:rPr lang="en-US" altLang="zh-CN" dirty="0" smtClean="0"/>
              <a:t>, </a:t>
            </a:r>
            <a:r>
              <a:rPr lang="zh-CN" altLang="en-US" dirty="0"/>
              <a:t>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  </a:t>
            </a:r>
            <a:r>
              <a:rPr lang="en-US" altLang="zh-CN" dirty="0" smtClean="0"/>
              <a:t>value);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787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DDA</a:t>
            </a:r>
            <a:r>
              <a:rPr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400" dirty="0" smtClean="0"/>
                  <a:t>DDA: Digital Differential Analyzer </a:t>
                </a:r>
                <a:r>
                  <a:rPr lang="zh-CN" altLang="en-US" sz="2400" dirty="0"/>
                  <a:t>数字微分</a:t>
                </a:r>
                <a:r>
                  <a:rPr lang="zh-CN" altLang="en-US" sz="2400" dirty="0" smtClean="0"/>
                  <a:t>分析器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1800" dirty="0"/>
                  <a:t>DDA </a:t>
                </a:r>
                <a:r>
                  <a:rPr lang="zh-CN" altLang="en-US" sz="1800" dirty="0"/>
                  <a:t>过去是一个机械设备，用于求解微分方程的数值解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直线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𝑚𝑥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h</m:t>
                    </m:r>
                  </m:oMath>
                </a14:m>
                <a:r>
                  <a:rPr lang="zh-CN" altLang="en-US" sz="1800" dirty="0"/>
                  <a:t>满足微分方程</a:t>
                </a:r>
                <a:endParaRPr lang="en-US" altLang="zh-CN" sz="1800" dirty="0"/>
              </a:p>
              <a:p>
                <a:pPr marL="457200" lvl="1" indent="0">
                  <a:buClr>
                    <a:schemeClr val="tx1"/>
                  </a:buClr>
                  <a:buNone/>
                </a:pPr>
                <a:r>
                  <a:rPr lang="en-US" altLang="zh-CN" sz="1800" dirty="0"/>
                  <a:t>   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𝑑𝑦</m:t>
                    </m:r>
                    <m:r>
                      <a:rPr lang="en-US" altLang="zh-CN" sz="1800" i="1" dirty="0">
                        <a:latin typeface="Cambria Math" charset="0"/>
                      </a:rPr>
                      <m:t>/</m:t>
                    </m:r>
                    <m:r>
                      <a:rPr lang="en-US" altLang="zh-CN" sz="1800" i="1" dirty="0">
                        <a:latin typeface="Cambria Math" charset="0"/>
                      </a:rPr>
                      <m:t>𝑑𝑥</m:t>
                    </m:r>
                    <m:r>
                      <a:rPr lang="en-US" altLang="zh-CN" sz="1800" i="1" dirty="0">
                        <a:latin typeface="Cambria Math" charset="0"/>
                      </a:rPr>
                      <m:t> = </m:t>
                    </m:r>
                    <m:r>
                      <a:rPr lang="en-US" altLang="zh-CN" sz="1800" i="1" dirty="0">
                        <a:latin typeface="Cambria Math" charset="0"/>
                      </a:rPr>
                      <m:t>𝑚</m:t>
                    </m:r>
                    <m:r>
                      <a:rPr lang="en-US" altLang="zh-CN" sz="1800" i="1" dirty="0">
                        <a:latin typeface="Cambria Math" charset="0"/>
                      </a:rPr>
                      <m:t> = 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</a:rPr>
                      <m:t>/</m:t>
                    </m:r>
                    <m:sSub>
                      <m:sSub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1800" i="1" dirty="0">
                        <a:latin typeface="Cambria Math" charset="0"/>
                      </a:rPr>
                      <m:t> =(</m:t>
                    </m:r>
                    <m:r>
                      <a:rPr lang="en-US" altLang="zh-CN" sz="1800" i="1" dirty="0">
                        <a:latin typeface="Cambria Math" charset="0"/>
                      </a:rPr>
                      <m:t>𝑦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 –</m:t>
                    </m:r>
                    <m:r>
                      <a:rPr lang="en-US" altLang="zh-CN" sz="1800" i="1" dirty="0">
                        <a:latin typeface="Cambria Math" charset="0"/>
                      </a:rPr>
                      <m:t>𝑦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)/(</m:t>
                    </m:r>
                    <m:r>
                      <a:rPr lang="en-US" altLang="zh-CN" sz="1800" i="1" dirty="0">
                        <a:latin typeface="Cambria Math" charset="0"/>
                      </a:rPr>
                      <m:t>𝑥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2</m:t>
                    </m:r>
                    <m:r>
                      <a:rPr lang="en-US" altLang="zh-CN" sz="1800" i="1" dirty="0">
                        <a:latin typeface="Cambria Math" charset="0"/>
                      </a:rPr>
                      <m:t> – </m:t>
                    </m:r>
                    <m:r>
                      <a:rPr lang="en-US" altLang="zh-CN" sz="1800" i="1" dirty="0">
                        <a:latin typeface="Cambria Math" charset="0"/>
                      </a:rPr>
                      <m:t>𝑥</m:t>
                    </m:r>
                    <m:r>
                      <a:rPr lang="en-US" altLang="zh-CN" sz="1800" i="1" baseline="-25000" dirty="0">
                        <a:latin typeface="Cambria Math" charset="0"/>
                      </a:rPr>
                      <m:t>1</m:t>
                    </m:r>
                    <m:r>
                      <a:rPr lang="en-US" altLang="zh-CN" sz="1800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2400" dirty="0"/>
              </a:p>
              <a:p>
                <a:r>
                  <a:rPr lang="zh-CN" altLang="en-US" sz="2400" dirty="0"/>
                  <a:t>沿扫</a:t>
                </a:r>
                <a:r>
                  <a:rPr lang="zh-CN" altLang="en-US" sz="2400" dirty="0" smtClean="0"/>
                  <a:t>描线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 dirty="0">
                        <a:latin typeface="Cambria Math" charset="0"/>
                      </a:rPr>
                      <m:t>=1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54064" y="4120414"/>
            <a:ext cx="4202948" cy="1477328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for</a:t>
            </a:r>
            <a:r>
              <a:rPr lang="en-US" altLang="zh-CN" dirty="0"/>
              <a:t>(x = x1; x&lt;=x2; x++) </a:t>
            </a:r>
          </a:p>
          <a:p>
            <a:r>
              <a:rPr lang="en-US" altLang="zh-CN" dirty="0"/>
              <a:t>{</a:t>
            </a:r>
          </a:p>
          <a:p>
            <a:pPr lvl="1"/>
            <a:r>
              <a:rPr lang="en-US" altLang="zh-CN" dirty="0"/>
              <a:t>y+=m;</a:t>
            </a:r>
          </a:p>
          <a:p>
            <a:pPr lvl="1"/>
            <a:r>
              <a:rPr lang="en-US" altLang="zh-CN" b="1" dirty="0" err="1"/>
              <a:t>write_pixel</a:t>
            </a:r>
            <a:r>
              <a:rPr lang="en-US" altLang="zh-CN" dirty="0"/>
              <a:t>(x, </a:t>
            </a:r>
            <a:r>
              <a:rPr lang="en-US" altLang="zh-CN" b="1" dirty="0"/>
              <a:t>round</a:t>
            </a:r>
            <a:r>
              <a:rPr lang="en-US" altLang="zh-CN" dirty="0"/>
              <a:t>(y), </a:t>
            </a:r>
            <a:r>
              <a:rPr lang="en-US" altLang="zh-CN" dirty="0" err="1"/>
              <a:t>line_color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779" y="2970377"/>
            <a:ext cx="3746840" cy="182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9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利用对称性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只对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0≤|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|≤1</m:t>
                    </m:r>
                  </m:oMath>
                </a14:m>
                <a:r>
                  <a:rPr lang="zh-CN" altLang="en-US" sz="2400" dirty="0"/>
                  <a:t>的直线应用上述算法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𝑚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|&gt;1</m:t>
                    </m:r>
                  </m:oMath>
                </a14:m>
                <a:r>
                  <a:rPr lang="zh-CN" altLang="en-US" sz="2400" dirty="0"/>
                  <a:t>的直线，交换</a:t>
                </a:r>
                <a:r>
                  <a:rPr lang="en-US" altLang="zh-CN" sz="2400" dirty="0"/>
                  <a:t>x</a:t>
                </a:r>
                <a:r>
                  <a:rPr lang="zh-CN" altLang="en-US" sz="2400" dirty="0"/>
                  <a:t>与</a:t>
                </a:r>
                <a:r>
                  <a:rPr lang="en-US" altLang="zh-CN" sz="2400" dirty="0"/>
                  <a:t>y</a:t>
                </a:r>
                <a:r>
                  <a:rPr lang="zh-CN" altLang="en-US" sz="2400" dirty="0"/>
                  <a:t>的角色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对于每个</a:t>
                </a:r>
                <a:r>
                  <a:rPr lang="en-US" altLang="zh-CN" sz="1800" dirty="0"/>
                  <a:t>y</a:t>
                </a:r>
                <a:r>
                  <a:rPr lang="zh-CN" altLang="en-US" sz="1800" dirty="0"/>
                  <a:t>，找出最接近的整数</a:t>
                </a:r>
                <a:r>
                  <a:rPr lang="en-US" altLang="zh-CN" sz="1800" dirty="0"/>
                  <a:t>x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562" y="3253124"/>
            <a:ext cx="3001817" cy="298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0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err="1"/>
              <a:t>Bresenham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DDA</a:t>
            </a:r>
            <a:r>
              <a:rPr lang="zh-CN" altLang="en-US" sz="2400" dirty="0"/>
              <a:t>算法中每一步需要一次浮点加法</a:t>
            </a:r>
          </a:p>
          <a:p>
            <a:r>
              <a:rPr lang="zh-CN" altLang="en-US" sz="2400" dirty="0"/>
              <a:t>在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算法中可以不出现任何浮点运算</a:t>
            </a:r>
            <a:endParaRPr lang="en-US" altLang="zh-CN" sz="2400" dirty="0"/>
          </a:p>
          <a:p>
            <a:r>
              <a:rPr lang="zh-CN" altLang="en-US" sz="2400" dirty="0"/>
              <a:t>只考虑</a:t>
            </a:r>
            <a:r>
              <a:rPr lang="en-US" altLang="zh-CN" sz="2400" dirty="0"/>
              <a:t>0 ≤ m ≤1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情形</a:t>
            </a:r>
            <a:endParaRPr lang="zh-CN" altLang="en-US" sz="2400" dirty="0"/>
          </a:p>
          <a:p>
            <a:pPr lvl="1"/>
            <a:r>
              <a:rPr lang="zh-CN" altLang="en-US" sz="1600" dirty="0"/>
              <a:t>其它情形利用对称性处理</a:t>
            </a:r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假设</a:t>
            </a:r>
            <a:r>
              <a:rPr lang="zh-CN" altLang="en-US" sz="2400" dirty="0"/>
              <a:t>像素中心在半整数处</a:t>
            </a:r>
          </a:p>
          <a:p>
            <a:r>
              <a:rPr lang="zh-CN" altLang="en-US" sz="2400" dirty="0"/>
              <a:t>如果从一个已被确定激活的像素出发，那么下一像素的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可能位置只会有两种</a:t>
            </a:r>
            <a:r>
              <a:rPr lang="zh-CN" altLang="en-US" sz="2400" dirty="0" smtClean="0"/>
              <a:t>可能：</a:t>
            </a:r>
            <a:r>
              <a:rPr lang="en-US" altLang="zh-CN" sz="2400" dirty="0" smtClean="0"/>
              <a:t>(x+1, y)</a:t>
            </a:r>
            <a:r>
              <a:rPr lang="zh-CN" altLang="en-US" sz="2400" dirty="0" smtClean="0"/>
              <a:t>，或 </a:t>
            </a:r>
            <a:r>
              <a:rPr lang="en-US" altLang="zh-CN" sz="2400" dirty="0" smtClean="0"/>
              <a:t>(x+1, y+1)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8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可能像素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219" y="1605590"/>
            <a:ext cx="7886700" cy="4351338"/>
          </a:xfrm>
        </p:spPr>
        <p:txBody>
          <a:bodyPr>
            <a:normAutofit/>
          </a:bodyPr>
          <a:lstStyle/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594" y="3714525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994" y="3866925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043" y="1698402"/>
            <a:ext cx="5609902" cy="4145986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1784981" y="3771396"/>
            <a:ext cx="1938359" cy="9141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5307151" y="3866925"/>
            <a:ext cx="2031048" cy="2134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5335324" y="2833996"/>
            <a:ext cx="2073897" cy="10393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532154" y="37889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可能像素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5204" y="4685520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前一个像素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73805" y="251266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0 ≤ m ≤1</a:t>
            </a:r>
            <a:endParaRPr lang="zh-CN" altLang="en-US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687243" y="3169028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 = </a:t>
            </a:r>
            <a:r>
              <a:rPr lang="en-US" altLang="zh-CN" b="1" dirty="0" err="1"/>
              <a:t>Dy</a:t>
            </a:r>
            <a:r>
              <a:rPr lang="en-US" altLang="zh-CN" b="1" dirty="0"/>
              <a:t>/</a:t>
            </a:r>
            <a:r>
              <a:rPr lang="en-US" altLang="zh-CN" b="1" dirty="0" err="1"/>
              <a:t>Dx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9310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91325"/>
            <a:ext cx="7886700" cy="287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/>
              <a:t>d = </a:t>
            </a:r>
            <a:r>
              <a:rPr lang="en-US" altLang="zh-CN" sz="2000" dirty="0" err="1" smtClean="0"/>
              <a:t>Dx</a:t>
            </a:r>
            <a:r>
              <a:rPr lang="en-US" altLang="zh-CN" sz="2000" dirty="0" smtClean="0"/>
              <a:t> (a – b)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d</a:t>
            </a:r>
            <a:r>
              <a:rPr lang="zh-CN" altLang="en-US" sz="2000" dirty="0"/>
              <a:t>为整数</a:t>
            </a:r>
          </a:p>
          <a:p>
            <a:pPr marL="0" indent="0">
              <a:buNone/>
            </a:pPr>
            <a:r>
              <a:rPr lang="en-US" altLang="zh-CN" sz="2000" dirty="0"/>
              <a:t>d &lt; 0 </a:t>
            </a:r>
            <a:r>
              <a:rPr lang="zh-CN" altLang="en-US" sz="2000" dirty="0"/>
              <a:t>采用上像素</a:t>
            </a:r>
          </a:p>
          <a:p>
            <a:pPr marL="0" indent="0">
              <a:buNone/>
            </a:pPr>
            <a:r>
              <a:rPr lang="en-US" altLang="zh-CN" sz="2000" dirty="0"/>
              <a:t>d &gt; 0 </a:t>
            </a:r>
            <a:r>
              <a:rPr lang="zh-CN" altLang="en-US" sz="2000" dirty="0"/>
              <a:t>采用下像素</a:t>
            </a:r>
            <a:endParaRPr lang="en-US" altLang="zh-CN" sz="1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0" y="1783642"/>
            <a:ext cx="4846288" cy="360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0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err="1" smtClean="0"/>
              <a:t>Bresenham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15" b="2170"/>
          <a:stretch/>
        </p:blipFill>
        <p:spPr>
          <a:xfrm>
            <a:off x="5007404" y="793018"/>
            <a:ext cx="3237500" cy="56998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21943" y="1867779"/>
            <a:ext cx="2190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lang="en-US" altLang="zh-CN" dirty="0" err="1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mx+b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0&lt;m&lt;1</a:t>
            </a:r>
            <a:endParaRPr lang="en-US" altLang="zh-CN" dirty="0" smtClean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62578" y="1278296"/>
            <a:ext cx="2807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起点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(x1, y1), </a:t>
            </a:r>
            <a:r>
              <a:rPr lang="zh-CN" altLang="en-US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r>
              <a:rPr lang="en-US" altLang="zh-CN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(x2, y2)</a:t>
            </a:r>
            <a:endParaRPr lang="zh-CN" altLang="en-US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previe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01" y="2678949"/>
            <a:ext cx="2918621" cy="1927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5069372" y="2724070"/>
            <a:ext cx="1614547" cy="29077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870861" y="3952699"/>
            <a:ext cx="1658591" cy="29077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870861" y="4883909"/>
            <a:ext cx="2263090" cy="29077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53004" y="5327427"/>
            <a:ext cx="414318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参考资料：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hlinkClick r:id="rId4"/>
              </a:rPr>
              <a:t>https://zhuanlan.zhihu.com/p/65125995</a:t>
            </a:r>
            <a:endParaRPr lang="en-US" altLang="zh-CN" dirty="0" smtClean="0"/>
          </a:p>
          <a:p>
            <a:r>
              <a:rPr lang="en-US" altLang="zh-CN" dirty="0" smtClean="0">
                <a:hlinkClick r:id="rId5"/>
              </a:rPr>
              <a:t>https://zhuanlan.zhihu.com/p/65466579</a:t>
            </a:r>
            <a:endParaRPr lang="en-US" altLang="zh-CN" dirty="0" smtClean="0"/>
          </a:p>
          <a:p>
            <a:r>
              <a:rPr lang="zh-CN" altLang="en-US" dirty="0" smtClean="0">
                <a:hlinkClick r:id="rId6"/>
              </a:rPr>
              <a:t>https://zhuanlan.zhihu.com/p/106155534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0213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多边形的扫描转换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就</a:t>
            </a:r>
            <a:r>
              <a:rPr lang="zh-CN" altLang="en-US" sz="2400" dirty="0" smtClean="0"/>
              <a:t>是对多边形进行填充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第一个光栅系统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可以显示被填充的多边形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当时无法实时给多边形内部每个点着以不同颜色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 smtClean="0"/>
              <a:t>直线</a:t>
            </a:r>
            <a:r>
              <a:rPr lang="zh-CN" altLang="en-US" sz="2400" dirty="0"/>
              <a:t>的光栅化</a:t>
            </a:r>
            <a:r>
              <a:rPr lang="zh-CN" altLang="en-US" sz="2400" dirty="0" smtClean="0"/>
              <a:t>算法主要是</a:t>
            </a:r>
            <a:r>
              <a:rPr lang="en-US" altLang="zh-CN" sz="2400" dirty="0" err="1"/>
              <a:t>Bresenham</a:t>
            </a:r>
            <a:r>
              <a:rPr lang="zh-CN" altLang="en-US" sz="2400" dirty="0"/>
              <a:t>算法，而多边形</a:t>
            </a:r>
            <a:r>
              <a:rPr lang="zh-CN" altLang="en-US" sz="2400" dirty="0" smtClean="0"/>
              <a:t>的填充</a:t>
            </a:r>
            <a:r>
              <a:rPr lang="zh-CN" altLang="en-US" sz="2400" dirty="0"/>
              <a:t>算法有许多种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具体选择与系统的实现框架有关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0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内外检测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如何区分内部与外部？</a:t>
            </a:r>
            <a:endParaRPr lang="en-US" altLang="zh-CN" sz="2400" dirty="0"/>
          </a:p>
          <a:p>
            <a:pPr lvl="1"/>
            <a:r>
              <a:rPr lang="zh-CN" altLang="en-US" sz="1600" dirty="0" smtClean="0"/>
              <a:t>对于</a:t>
            </a:r>
            <a:r>
              <a:rPr lang="zh-CN" altLang="en-US" sz="1600" dirty="0"/>
              <a:t>凸多边形，很容易做到</a:t>
            </a:r>
          </a:p>
          <a:p>
            <a:pPr lvl="1"/>
            <a:r>
              <a:rPr lang="zh-CN" altLang="en-US" sz="1600" dirty="0"/>
              <a:t>对于非简单多边形，就非常困难</a:t>
            </a:r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相交测试或奇偶测试的</a:t>
            </a:r>
            <a:r>
              <a:rPr lang="zh-CN" altLang="en-US" sz="2400" dirty="0"/>
              <a:t>方法</a:t>
            </a:r>
          </a:p>
          <a:p>
            <a:pPr lvl="1"/>
            <a:r>
              <a:rPr lang="zh-CN" altLang="en-US" sz="1800" dirty="0"/>
              <a:t>统计与边界的交点</a:t>
            </a:r>
            <a:r>
              <a:rPr lang="zh-CN" altLang="en-US" sz="1800" dirty="0" smtClean="0"/>
              <a:t>数</a:t>
            </a:r>
            <a:endParaRPr lang="en-US" altLang="zh-CN" sz="1800" dirty="0" smtClean="0"/>
          </a:p>
          <a:p>
            <a:pPr lvl="1"/>
            <a:endParaRPr lang="zh-CN" altLang="en-US" sz="1800" dirty="0"/>
          </a:p>
          <a:p>
            <a:r>
              <a:rPr lang="zh-CN" altLang="en-US" sz="2400" dirty="0" smtClean="0"/>
              <a:t>环绕测试法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9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奇偶测试法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如何区分内部与外部？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比较常用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从一点</a:t>
            </a:r>
            <a:r>
              <a:rPr lang="en-US" altLang="zh-CN" sz="1800" dirty="0"/>
              <a:t>p</a:t>
            </a:r>
            <a:r>
              <a:rPr lang="zh-CN" altLang="en-US" sz="1800" dirty="0"/>
              <a:t>引射线，如果与多边形边界交点数为偶数，则</a:t>
            </a:r>
            <a:r>
              <a:rPr lang="en-US" altLang="zh-CN" sz="1800" dirty="0"/>
              <a:t>p</a:t>
            </a:r>
            <a:r>
              <a:rPr lang="zh-CN" altLang="en-US" sz="1800" dirty="0"/>
              <a:t>在多边形外，否则在多边形内部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如果交点为顶点，需要特别处理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通常射线就是扫描线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2955055"/>
            <a:ext cx="3060759" cy="32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6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08" y="3247842"/>
            <a:ext cx="4894039" cy="22322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环绕测试法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首先根据多边形的边界建立一条环路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从一个顶点出发，依次遍历各边，最后回到该顶点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一点的</a:t>
            </a:r>
            <a:r>
              <a:rPr lang="zh-CN" altLang="en-US" sz="2400" dirty="0" smtClean="0"/>
              <a:t>环绕次数</a:t>
            </a:r>
            <a:r>
              <a:rPr lang="zh-CN" altLang="en-US" sz="2400" dirty="0"/>
              <a:t>计算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被多边形各边按上述环路遍历所环绕的次数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顺时针</a:t>
            </a:r>
            <a:r>
              <a:rPr lang="zh-CN" altLang="en-US" sz="1800" dirty="0"/>
              <a:t>方向为</a:t>
            </a:r>
            <a:r>
              <a:rPr lang="zh-CN" altLang="en-US" sz="1800" dirty="0" smtClean="0"/>
              <a:t>正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逆时针</a:t>
            </a:r>
            <a:r>
              <a:rPr lang="zh-CN" altLang="en-US" sz="1800" dirty="0"/>
              <a:t>方向为负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r>
              <a:rPr lang="zh-CN" altLang="en-US" sz="2400" dirty="0"/>
              <a:t>内外检测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如果环绕数不等于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就</a:t>
            </a:r>
            <a:r>
              <a:rPr lang="zh-CN" altLang="en-US" sz="1800" dirty="0"/>
              <a:t>是内部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Winding_Number_Animation_Small_d0aFMv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745224" y="1037028"/>
            <a:ext cx="2295152" cy="186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9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与凹多边形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OpenGL</a:t>
            </a:r>
            <a:r>
              <a:rPr lang="zh-CN" altLang="en-US" sz="2400" dirty="0"/>
              <a:t>只保证正确填充凸多边形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实际应用时由用户保证这条约定被遵守，或者用其它</a:t>
            </a:r>
            <a:r>
              <a:rPr lang="zh-CN" altLang="en-US" sz="2400" dirty="0" smtClean="0"/>
              <a:t>软件</a:t>
            </a:r>
            <a:r>
              <a:rPr lang="zh-CN" altLang="en-US" sz="2400" dirty="0"/>
              <a:t>把给定多边形剖分为凸多边形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一般结果就是三角形的集合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好的剖分算法应当不生成过长或过细的三角形</a:t>
            </a:r>
          </a:p>
          <a:p>
            <a:pPr lvl="1">
              <a:buClr>
                <a:schemeClr val="tx1"/>
              </a:buClr>
            </a:pPr>
            <a:r>
              <a:rPr lang="en-US" altLang="zh-CN" sz="1800" dirty="0" smtClean="0"/>
              <a:t>OpenGL</a:t>
            </a:r>
            <a:r>
              <a:rPr lang="zh-CN" altLang="en-US" sz="1800" dirty="0" smtClean="0"/>
              <a:t> </a:t>
            </a:r>
            <a:r>
              <a:rPr lang="en-US" altLang="zh-CN" sz="1800" dirty="0" smtClean="0"/>
              <a:t>4.1</a:t>
            </a:r>
            <a:r>
              <a:rPr lang="zh-CN" altLang="en-US" sz="1800" dirty="0" smtClean="0"/>
              <a:t> 具有</a:t>
            </a:r>
            <a:r>
              <a:rPr lang="zh-CN" altLang="en-US" sz="1800" dirty="0"/>
              <a:t>功能实现这种剖分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869" y="4303949"/>
            <a:ext cx="1392624" cy="15660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755" y="4303949"/>
            <a:ext cx="1382712" cy="15759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729" y="4333685"/>
            <a:ext cx="1372800" cy="154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8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漫水填充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先用</a:t>
            </a:r>
            <a:r>
              <a:rPr lang="en-US" altLang="zh-CN" sz="2400" dirty="0" err="1" smtClean="0"/>
              <a:t>Bresenham</a:t>
            </a:r>
            <a:r>
              <a:rPr lang="zh-CN" altLang="en-US" sz="2400" dirty="0" smtClean="0"/>
              <a:t>算法将多边形的边光栅化</a:t>
            </a:r>
            <a:endParaRPr lang="en-US" altLang="zh-CN" sz="2400" dirty="0" smtClean="0"/>
          </a:p>
          <a:p>
            <a:r>
              <a:rPr lang="zh-CN" altLang="en-US" sz="2400" dirty="0" smtClean="0"/>
              <a:t>如果</a:t>
            </a:r>
            <a:r>
              <a:rPr lang="zh-CN" altLang="en-US" sz="2400" dirty="0"/>
              <a:t>已知位于多边形内部（</a:t>
            </a:r>
            <a:r>
              <a:rPr lang="en-US" altLang="zh-CN" sz="2400" dirty="0"/>
              <a:t>WHITE</a:t>
            </a:r>
            <a:r>
              <a:rPr lang="zh-CN" altLang="en-US" sz="2400" dirty="0"/>
              <a:t>）的一个</a:t>
            </a:r>
            <a:r>
              <a:rPr lang="zh-CN" altLang="en-US" sz="2400" dirty="0" smtClean="0"/>
              <a:t>点（种子点），那么可以</a:t>
            </a:r>
            <a:r>
              <a:rPr lang="zh-CN" altLang="en-US" sz="2400" dirty="0"/>
              <a:t>递归</a:t>
            </a:r>
            <a:r>
              <a:rPr lang="zh-CN" altLang="en-US" sz="2400" dirty="0" smtClean="0"/>
              <a:t>填充</a:t>
            </a:r>
            <a:endParaRPr lang="zh-CN" altLang="en-US" sz="2400" dirty="0"/>
          </a:p>
          <a:p>
            <a:r>
              <a:rPr lang="zh-CN" altLang="en-US" sz="2400" dirty="0"/>
              <a:t>把多边形内部转化为内部要填充的颜色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BLACK</a:t>
            </a:r>
            <a:r>
              <a:rPr lang="zh-CN" altLang="en-US" sz="2400" dirty="0" smtClean="0"/>
              <a:t>）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36415" y="3353554"/>
            <a:ext cx="3983641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 err="1"/>
              <a:t>flood_fill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/>
              <a:t> x,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/>
              <a:t> y)</a:t>
            </a:r>
          </a:p>
          <a:p>
            <a:r>
              <a:rPr lang="en-US" altLang="zh-CN" dirty="0"/>
              <a:t>{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if</a:t>
            </a:r>
            <a:r>
              <a:rPr lang="en-US" altLang="zh-CN" dirty="0"/>
              <a:t>(</a:t>
            </a:r>
            <a:r>
              <a:rPr lang="en-US" altLang="zh-CN" b="1" dirty="0" err="1"/>
              <a:t>read_pixel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)==WHITE)</a:t>
            </a:r>
          </a:p>
          <a:p>
            <a:pPr lvl="1"/>
            <a:r>
              <a:rPr lang="en-US" altLang="zh-CN" dirty="0"/>
              <a:t>{</a:t>
            </a:r>
          </a:p>
          <a:p>
            <a:pPr lvl="2"/>
            <a:r>
              <a:rPr lang="en-US" altLang="zh-CN" b="1" dirty="0" err="1"/>
              <a:t>write_pixel</a:t>
            </a:r>
            <a:r>
              <a:rPr lang="en-US" altLang="zh-CN" dirty="0"/>
              <a:t>(</a:t>
            </a:r>
            <a:r>
              <a:rPr lang="en-US" altLang="zh-CN" dirty="0" err="1"/>
              <a:t>x,y,BLACK</a:t>
            </a:r>
            <a:r>
              <a:rPr lang="en-US" altLang="zh-CN" dirty="0"/>
              <a:t>);</a:t>
            </a:r>
          </a:p>
          <a:p>
            <a:pPr lvl="2"/>
            <a:r>
              <a:rPr lang="en-US" altLang="zh-CN" b="1" dirty="0" err="1"/>
              <a:t>flood_fill</a:t>
            </a:r>
            <a:r>
              <a:rPr lang="en-US" altLang="zh-CN" dirty="0"/>
              <a:t>(x-1,y);</a:t>
            </a:r>
          </a:p>
          <a:p>
            <a:pPr lvl="2"/>
            <a:r>
              <a:rPr lang="en-US" altLang="zh-CN" b="1" dirty="0" err="1"/>
              <a:t>flood_fill</a:t>
            </a:r>
            <a:r>
              <a:rPr lang="en-US" altLang="zh-CN" dirty="0"/>
              <a:t>(x+1,y);</a:t>
            </a:r>
          </a:p>
          <a:p>
            <a:pPr lvl="2"/>
            <a:r>
              <a:rPr lang="en-US" altLang="zh-CN" b="1" dirty="0" err="1"/>
              <a:t>flood_fill</a:t>
            </a:r>
            <a:r>
              <a:rPr lang="en-US" altLang="zh-CN" dirty="0"/>
              <a:t>(x,y+1);</a:t>
            </a:r>
          </a:p>
          <a:p>
            <a:pPr lvl="2"/>
            <a:r>
              <a:rPr lang="en-US" altLang="zh-CN" b="1" dirty="0" err="1"/>
              <a:t>flood_fill</a:t>
            </a:r>
            <a:r>
              <a:rPr lang="en-US" altLang="zh-CN" dirty="0"/>
              <a:t>(x,y-1);</a:t>
            </a:r>
          </a:p>
          <a:p>
            <a:pPr lvl="1"/>
            <a:r>
              <a:rPr lang="en-US" altLang="zh-CN" dirty="0"/>
              <a:t>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77" y="3578166"/>
            <a:ext cx="2626593" cy="262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1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扫描线填充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通过维持一个特别的数据结构（结构中保存扫描线与 </a:t>
            </a:r>
            <a:r>
              <a:rPr lang="zh-CN" altLang="en-US" sz="2400" dirty="0" smtClean="0"/>
              <a:t>多</a:t>
            </a:r>
            <a:r>
              <a:rPr lang="zh-CN" altLang="en-US" sz="2400" dirty="0"/>
              <a:t>边形的交点）进行</a:t>
            </a:r>
            <a:r>
              <a:rPr lang="zh-CN" altLang="en-US" sz="2400" dirty="0" smtClean="0"/>
              <a:t>填充</a:t>
            </a:r>
            <a:endParaRPr lang="en-US" altLang="zh-CN" sz="2400" dirty="0" smtClean="0"/>
          </a:p>
          <a:p>
            <a:r>
              <a:rPr lang="zh-CN" altLang="en-US" sz="2400" dirty="0" smtClean="0"/>
              <a:t>把</a:t>
            </a:r>
            <a:r>
              <a:rPr lang="zh-CN" altLang="en-US" sz="2400" dirty="0"/>
              <a:t>多边形内部转化为内部要</a:t>
            </a:r>
            <a:r>
              <a:rPr lang="zh-CN" altLang="en-US" sz="2400" dirty="0" smtClean="0"/>
              <a:t>填充</a:t>
            </a:r>
            <a:r>
              <a:rPr lang="zh-CN" altLang="en-US" sz="2400" dirty="0"/>
              <a:t>的颜色（</a:t>
            </a:r>
            <a:r>
              <a:rPr lang="en-US" altLang="zh-CN" sz="2400" dirty="0"/>
              <a:t>BLACK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按扫描线进行排序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逐扫描线跨距</a:t>
            </a:r>
            <a:r>
              <a:rPr lang="en-US" altLang="zh-CN" sz="1800" dirty="0"/>
              <a:t>(span)</a:t>
            </a:r>
            <a:r>
              <a:rPr lang="zh-CN" altLang="en-US" sz="1800" dirty="0"/>
              <a:t>进行填充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74" y="3827982"/>
            <a:ext cx="7577401" cy="22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3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奇异情形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/>
              <a:t>可把</a:t>
            </a:r>
            <a:r>
              <a:rPr lang="zh-CN" altLang="en-US" sz="2400" dirty="0"/>
              <a:t>大多数多边形填充算法应用到其它形状上</a:t>
            </a:r>
          </a:p>
          <a:p>
            <a:pPr lvl="1"/>
            <a:r>
              <a:rPr lang="zh-CN" altLang="en-US" sz="1800" dirty="0"/>
              <a:t>必要的细节考虑</a:t>
            </a:r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即使</a:t>
            </a:r>
            <a:r>
              <a:rPr lang="zh-CN" altLang="en-US" sz="2400" dirty="0"/>
              <a:t>对于多边形</a:t>
            </a:r>
            <a:r>
              <a:rPr lang="zh-CN" altLang="en-US" sz="2400" dirty="0" smtClean="0"/>
              <a:t>，某些</a:t>
            </a:r>
            <a:r>
              <a:rPr lang="zh-CN" altLang="en-US" sz="2400" dirty="0"/>
              <a:t>算法也需要仔细考虑</a:t>
            </a:r>
          </a:p>
          <a:p>
            <a:pPr lvl="1"/>
            <a:r>
              <a:rPr lang="zh-CN" altLang="en-US" sz="1800" dirty="0"/>
              <a:t>奇偶检测方法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57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15"/>
          <a:stretch/>
        </p:blipFill>
        <p:spPr>
          <a:xfrm>
            <a:off x="1068813" y="3948363"/>
            <a:ext cx="3058026" cy="2407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28"/>
          <a:stretch/>
        </p:blipFill>
        <p:spPr>
          <a:xfrm>
            <a:off x="4677778" y="3566565"/>
            <a:ext cx="3058026" cy="25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29294" y="3389111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隐藏面消除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5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1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隐藏面消除在流水线中的位置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在顶点经过几何变换后，其所定义的几何对象经过了</a:t>
            </a:r>
            <a:r>
              <a:rPr lang="zh-CN" altLang="en-US" sz="2400" dirty="0" smtClean="0"/>
              <a:t>集成</a:t>
            </a:r>
            <a:r>
              <a:rPr lang="zh-CN" altLang="en-US" sz="2400" dirty="0"/>
              <a:t>与裁剪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得到的是一组点、线段和多边形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在最终的投影后，其中所有的图元都有可能出现在显示设备上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此时需要进行隐藏面</a:t>
            </a:r>
            <a:r>
              <a:rPr lang="zh-CN" altLang="en-US" sz="2400" dirty="0" smtClean="0"/>
              <a:t>消除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具有各种不同的出发点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52" y="4096834"/>
            <a:ext cx="3468278" cy="238624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679" y="4096834"/>
            <a:ext cx="3456846" cy="232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4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对象空间算法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66286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考虑由</a:t>
            </a:r>
            <a:r>
              <a:rPr lang="en-US" altLang="zh-CN" sz="2400" dirty="0"/>
              <a:t>k</a:t>
            </a:r>
            <a:r>
              <a:rPr lang="zh-CN" altLang="en-US" sz="2400" dirty="0"/>
              <a:t>个三维不透明多边形构成的场景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每个多边形认为是单独的一个对象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两两考虑对象，检测相互之间的位置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 具有各种不同的出发点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最糟糕的情形：</a:t>
            </a:r>
            <a:r>
              <a:rPr lang="en-US" altLang="zh-CN" sz="2400" dirty="0"/>
              <a:t>n</a:t>
            </a:r>
            <a:r>
              <a:rPr lang="zh-CN" altLang="en-US" sz="2400" dirty="0"/>
              <a:t>个多边形复杂度为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88" y="3185504"/>
            <a:ext cx="8323074" cy="16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3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画家算法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把多边形沿从后到前的顺序显示出来，从而被遮住</a:t>
            </a:r>
            <a:r>
              <a:rPr lang="zh-CN" altLang="en-US" sz="2400" dirty="0" smtClean="0"/>
              <a:t>的多边</a:t>
            </a:r>
            <a:r>
              <a:rPr lang="zh-CN" altLang="en-US" sz="2400" dirty="0"/>
              <a:t>形在显示时被重新激活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56" y="2365666"/>
            <a:ext cx="6954600" cy="243793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40617" y="4935285"/>
            <a:ext cx="351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从观察者的角度来说，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27193" y="4936722"/>
            <a:ext cx="166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3404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425" y="3088813"/>
            <a:ext cx="3557047" cy="326753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需要首先对多边形进行排序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排序的复杂度为</a:t>
            </a:r>
            <a:r>
              <a:rPr lang="en-US" altLang="zh-CN" sz="1800" dirty="0"/>
              <a:t>O(n log n)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并不是所有的多边形都完全在其它多边形的前面或后面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进行排序时，先处理简单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情形，再处理困难情形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7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简单情形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多边形</a:t>
            </a:r>
            <a:r>
              <a:rPr lang="en-US" altLang="zh-CN" sz="2400" dirty="0"/>
              <a:t>A</a:t>
            </a:r>
            <a:r>
              <a:rPr lang="zh-CN" altLang="en-US" sz="2400" dirty="0"/>
              <a:t>位于所有其它多边形后面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可以绘制出来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多边形在</a:t>
            </a:r>
            <a:r>
              <a:rPr lang="en-US" altLang="zh-CN" sz="2400" dirty="0"/>
              <a:t>z</a:t>
            </a:r>
            <a:r>
              <a:rPr lang="zh-CN" altLang="en-US" sz="2400" dirty="0"/>
              <a:t>方向有重叠，但在</a:t>
            </a:r>
            <a:r>
              <a:rPr lang="en-US" altLang="zh-CN" sz="2400" dirty="0"/>
              <a:t>x</a:t>
            </a:r>
            <a:r>
              <a:rPr lang="zh-CN" altLang="en-US" sz="2400" dirty="0"/>
              <a:t>或</a:t>
            </a:r>
            <a:r>
              <a:rPr lang="en-US" altLang="zh-CN" sz="2400" dirty="0"/>
              <a:t>y</a:t>
            </a:r>
            <a:r>
              <a:rPr lang="zh-CN" altLang="en-US" sz="2400" dirty="0"/>
              <a:t>方向没有重叠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可以分别显示绘制出来</a:t>
            </a:r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965" y="3977156"/>
            <a:ext cx="5219436" cy="17342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68" y="3432233"/>
            <a:ext cx="2734883" cy="251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9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复杂情形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99" y="1063791"/>
            <a:ext cx="3283259" cy="227531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85783" y="2726820"/>
            <a:ext cx="2432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在所有方向都有重叠，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但其中一个完全在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另</a:t>
            </a:r>
          </a:p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一个的一侧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621" y="628650"/>
            <a:ext cx="2858007" cy="271045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947628" y="27268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循环重叠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978" y="3951058"/>
            <a:ext cx="3501847" cy="262786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63825" y="50803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贯穿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939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402" y="3809235"/>
            <a:ext cx="3538137" cy="29772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背面剔除（</a:t>
            </a:r>
            <a:r>
              <a:rPr lang="en-US" altLang="zh-CN" dirty="0"/>
              <a:t>back-face removal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面是可见的，如果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–90°≤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𝜃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≤90°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等价于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 smtClean="0">
                        <a:latin typeface="Cambria Math" charset="0"/>
                      </a:rPr>
                      <m:t>cos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⁡</m:t>
                    </m:r>
                    <m:r>
                      <a:rPr lang="el-GR" altLang="zh-CN" sz="1800" i="1" dirty="0">
                        <a:latin typeface="Cambria Math" charset="0"/>
                      </a:rPr>
                      <m:t>𝜃</m:t>
                    </m:r>
                    <m:r>
                      <a:rPr lang="el-GR" altLang="zh-CN" sz="1800" i="1" dirty="0">
                        <a:latin typeface="Cambria Math" charset="0"/>
                      </a:rPr>
                      <m:t>≥0</m:t>
                    </m:r>
                  </m:oMath>
                </a14:m>
                <a:r>
                  <a:rPr lang="zh-CN" altLang="en-US" sz="1800" dirty="0"/>
                  <a:t>或者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𝑣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⋅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𝑛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 ≥ 0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平面具有形式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𝑎𝑥</m:t>
                    </m:r>
                    <m:r>
                      <a:rPr lang="en-US" altLang="zh-CN" sz="2400" b="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𝑏𝑦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+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𝑐𝑧</m:t>
                    </m:r>
                    <m:r>
                      <a:rPr lang="en-US" altLang="zh-CN" sz="2400" i="1" dirty="0">
                        <a:latin typeface="Cambria Math" charset="0"/>
                      </a:rPr>
                      <m:t>+</m:t>
                    </m:r>
                    <m:r>
                      <a:rPr lang="en-US" altLang="zh-CN" sz="2400" i="1" dirty="0">
                        <a:latin typeface="Cambria Math" charset="0"/>
                      </a:rPr>
                      <m:t>𝑑</m:t>
                    </m:r>
                    <m:r>
                      <a:rPr lang="en-US" altLang="zh-CN" sz="2400" i="1" dirty="0">
                        <a:latin typeface="Cambria Math" charset="0"/>
                      </a:rPr>
                      <m:t>=0, </m:t>
                    </m:r>
                  </m:oMath>
                </a14:m>
                <a:r>
                  <a:rPr lang="zh-CN" altLang="en-US" sz="2400" dirty="0"/>
                  <a:t>但对于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规范化</a:t>
                </a:r>
                <a:r>
                  <a:rPr lang="zh-CN" altLang="en-US" sz="2400" dirty="0" smtClean="0"/>
                  <a:t>视线向量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charset="0"/>
                      </a:rPr>
                      <m:t>=(0, 0, 1, 0)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只需要检测</a:t>
                </a:r>
                <a:r>
                  <a:rPr lang="en-US" altLang="zh-CN" sz="1800" dirty="0"/>
                  <a:t>c</a:t>
                </a:r>
                <a:r>
                  <a:rPr lang="zh-CN" altLang="en-US" sz="1800" dirty="0"/>
                  <a:t>的符号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在</a:t>
                </a:r>
                <a:r>
                  <a:rPr lang="en-US" altLang="zh-CN" sz="1800" dirty="0"/>
                  <a:t>OpenGL</a:t>
                </a:r>
                <a:r>
                  <a:rPr lang="zh-CN" altLang="en-US" sz="1800" dirty="0"/>
                  <a:t>中可以激活背面剔除功能，但是如果具有非凸对象，结果可能不正确</a:t>
                </a: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8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475" y="2422475"/>
            <a:ext cx="5501849" cy="34799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图像空间算法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对每条投影线（对于</a:t>
                </a:r>
                <a:r>
                  <a:rPr lang="en-US" altLang="zh-CN" sz="2400" dirty="0"/>
                  <a:t>n × m</a:t>
                </a:r>
                <a:r>
                  <a:rPr lang="zh-CN" altLang="en-US" sz="2400" dirty="0"/>
                  <a:t>分辨率的帧缓冲区，</a:t>
                </a:r>
                <a:r>
                  <a:rPr lang="zh-CN" altLang="en-US" sz="2400" dirty="0" smtClean="0"/>
                  <a:t>共有</a:t>
                </a:r>
                <a:r>
                  <a:rPr lang="en-US" altLang="zh-CN" sz="2400" dirty="0" smtClean="0"/>
                  <a:t>nm</a:t>
                </a:r>
                <a:r>
                  <a:rPr lang="zh-CN" altLang="en-US" sz="2400" dirty="0"/>
                  <a:t>条投影线），找到</a:t>
                </a:r>
                <a:r>
                  <a:rPr lang="en-US" altLang="zh-CN" sz="2400" dirty="0"/>
                  <a:t>k</a:t>
                </a:r>
                <a:r>
                  <a:rPr lang="zh-CN" altLang="en-US" sz="2400" dirty="0"/>
                  <a:t>个多边形中最近的那个</a:t>
                </a:r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复杂度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𝑂</m:t>
                    </m:r>
                    <m:r>
                      <a:rPr lang="zh-CN" altLang="en-US" sz="1800" i="1" dirty="0">
                        <a:latin typeface="Cambria Math" charset="0"/>
                      </a:rPr>
                      <m:t>（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𝑛𝑚𝑘</m:t>
                    </m:r>
                    <m:r>
                      <a:rPr lang="zh-CN" altLang="en-US" sz="1800" i="1" dirty="0">
                        <a:latin typeface="Cambria Math" charset="0"/>
                      </a:rPr>
                      <m:t>）</m:t>
                    </m:r>
                  </m:oMath>
                </a14:m>
                <a:endParaRPr lang="zh-CN" altLang="en-US" sz="1800" dirty="0"/>
              </a:p>
              <a:p>
                <a:pPr lvl="1">
                  <a:buClr>
                    <a:schemeClr val="tx1"/>
                  </a:buClr>
                </a:pPr>
                <a:r>
                  <a:rPr lang="zh-CN" altLang="en-US" sz="1800" dirty="0"/>
                  <a:t>光线跟踪中用到</a:t>
                </a:r>
              </a:p>
              <a:p>
                <a:pPr lvl="1">
                  <a:buClr>
                    <a:schemeClr val="tx1"/>
                  </a:buClr>
                </a:pPr>
                <a:r>
                  <a:rPr lang="en-US" altLang="zh-CN" sz="1800" dirty="0"/>
                  <a:t>z</a:t>
                </a:r>
                <a:r>
                  <a:rPr lang="zh-CN" altLang="en-US" sz="1800" dirty="0"/>
                  <a:t>缓冲区算法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1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471" y="2326370"/>
            <a:ext cx="4901031" cy="3969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</a:t>
            </a:r>
            <a:r>
              <a:rPr lang="zh-CN" altLang="en-US" dirty="0"/>
              <a:t>缓冲区算法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/>
              <a:t>应用一个称为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缓冲区或者深度缓冲区的地方存贮</a:t>
            </a:r>
            <a:r>
              <a:rPr lang="zh-CN" altLang="en-US" sz="2400" dirty="0" smtClean="0"/>
              <a:t>在每个</a:t>
            </a:r>
            <a:r>
              <a:rPr lang="zh-CN" altLang="en-US" sz="2400" dirty="0"/>
              <a:t>像素，到目前为止找到的最近对象的深度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但显示每个多边形时，把</a:t>
            </a:r>
          </a:p>
          <a:p>
            <a:pPr marL="0" indent="0">
              <a:buNone/>
            </a:pPr>
            <a:r>
              <a:rPr lang="zh-CN" altLang="en-US" sz="2400" dirty="0"/>
              <a:t>    它的深度与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缓冲区中存</a:t>
            </a:r>
          </a:p>
          <a:p>
            <a:pPr marL="0" indent="0">
              <a:buNone/>
            </a:pPr>
            <a:r>
              <a:rPr lang="zh-CN" altLang="en-US" sz="2400" dirty="0"/>
              <a:t>    贮的深度进行比较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如果新值小的话，把新的</a:t>
            </a:r>
          </a:p>
          <a:p>
            <a:pPr marL="0" indent="0">
              <a:buNone/>
            </a:pPr>
            <a:r>
              <a:rPr lang="zh-CN" altLang="en-US" sz="2400" dirty="0"/>
              <a:t>    亮度值放到颜色缓冲区中</a:t>
            </a:r>
            <a:r>
              <a:rPr lang="en-US" altLang="zh-CN" sz="2400" dirty="0"/>
              <a:t>	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并且用新深度更新</a:t>
            </a:r>
            <a:r>
              <a:rPr lang="en-US" altLang="zh-CN" sz="2400" dirty="0"/>
              <a:t>z</a:t>
            </a:r>
            <a:r>
              <a:rPr lang="zh-CN" altLang="en-US" sz="2400" dirty="0"/>
              <a:t>缓冲区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0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算法效率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如果逐条扫描线遍历，从左向右移动一条扫描线，</a:t>
                </a:r>
                <a:r>
                  <a:rPr lang="zh-CN" altLang="en-US" sz="2400" dirty="0" smtClean="0"/>
                  <a:t>那么</a:t>
                </a:r>
                <a:r>
                  <a:rPr lang="zh-CN" altLang="en-US" sz="2400" dirty="0"/>
                  <a:t>深度的改变满足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charset="0"/>
                      </a:rPr>
                      <m:t>𝑎</m:t>
                    </m:r>
                    <m:r>
                      <a:rPr lang="en-US" altLang="zh-CN" sz="1800" i="1" dirty="0" smtClean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𝑥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+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𝑏</m:t>
                    </m:r>
                    <m:r>
                      <a:rPr lang="en-US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𝑦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+</m:t>
                    </m:r>
                    <m:r>
                      <a:rPr lang="en-US" altLang="zh-CN" sz="1800" i="1" dirty="0" err="1">
                        <a:latin typeface="Cambria Math" charset="0"/>
                      </a:rPr>
                      <m:t>𝑐</m:t>
                    </m:r>
                    <m:r>
                      <a:rPr lang="en-US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1800" i="0" dirty="0">
                        <a:latin typeface="Cambria Math" charset="0"/>
                      </a:rPr>
                      <m:t>Δ</m:t>
                    </m:r>
                    <m:r>
                      <a:rPr lang="en-US" altLang="zh-CN" sz="1800" i="1" dirty="0">
                        <a:latin typeface="Cambria Math" charset="0"/>
                      </a:rPr>
                      <m:t>𝑧</m:t>
                    </m:r>
                    <m:r>
                      <a:rPr lang="en-US" altLang="zh-CN" sz="1800" i="1" dirty="0">
                        <a:latin typeface="Cambria Math" charset="0"/>
                      </a:rPr>
                      <m:t>=0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沿每条扫描线</a:t>
                </a:r>
                <a:endParaRPr lang="zh-CN" altLang="en-US" sz="1800" dirty="0"/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1800" i="0" dirty="0" smtClean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𝑦</m:t>
                    </m:r>
                    <m:r>
                      <a:rPr lang="pt-BR" altLang="zh-CN" sz="1800" i="1" dirty="0">
                        <a:latin typeface="Cambria Math" charset="0"/>
                      </a:rPr>
                      <m:t> = 0</m:t>
                    </m:r>
                  </m:oMath>
                </a14:m>
                <a:r>
                  <a:rPr lang="pt-BR" altLang="zh-CN" sz="1800" dirty="0"/>
                  <a:t>,</a:t>
                </a:r>
              </a:p>
              <a:p>
                <a:pPr lvl="1"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1800" i="0" dirty="0" smtClean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𝑧</m:t>
                    </m:r>
                    <m:r>
                      <a:rPr lang="pt-BR" altLang="zh-CN" sz="1800" i="1" dirty="0">
                        <a:latin typeface="Cambria Math" charset="0"/>
                      </a:rPr>
                      <m:t> = –</m:t>
                    </m:r>
                    <m:r>
                      <a:rPr lang="pt-BR" altLang="zh-CN" sz="1800" i="1" dirty="0">
                        <a:latin typeface="Cambria Math" charset="0"/>
                      </a:rPr>
                      <m:t>𝑎</m:t>
                    </m:r>
                    <m:r>
                      <a:rPr lang="pt-BR" altLang="zh-CN" sz="1800" i="1" dirty="0">
                        <a:latin typeface="Cambria Math" charset="0"/>
                      </a:rPr>
                      <m:t>/</m:t>
                    </m:r>
                    <m:r>
                      <a:rPr lang="pt-BR" altLang="zh-CN" sz="1800" i="1" dirty="0">
                        <a:latin typeface="Cambria Math" charset="0"/>
                      </a:rPr>
                      <m:t>𝑐</m:t>
                    </m:r>
                    <m:r>
                      <a:rPr lang="pt-BR" altLang="zh-CN" sz="1800" i="1" dirty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altLang="zh-CN" sz="1800" i="0" dirty="0">
                        <a:latin typeface="Cambria Math" charset="0"/>
                      </a:rPr>
                      <m:t>Δ</m:t>
                    </m:r>
                    <m:r>
                      <a:rPr lang="pt-BR" altLang="zh-CN" sz="1800" i="1" dirty="0">
                        <a:latin typeface="Cambria Math" charset="0"/>
                      </a:rPr>
                      <m:t>𝑥</m:t>
                    </m:r>
                  </m:oMath>
                </a14:m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r>
                  <a:rPr lang="zh-CN" altLang="en-US" sz="2400" dirty="0"/>
                  <a:t>在屏幕空间上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Δ</m:t>
                    </m:r>
                    <m:r>
                      <a:rPr lang="en-US" altLang="zh-CN" sz="2400" i="1" dirty="0" err="1">
                        <a:latin typeface="Cambria Math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charset="0"/>
                      </a:rPr>
                      <m:t>=1</m:t>
                    </m:r>
                  </m:oMath>
                </a14:m>
                <a:endParaRPr lang="en-US" altLang="zh-CN" sz="24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  <a:p>
                <a:pPr lvl="1">
                  <a:buClr>
                    <a:schemeClr val="tx1"/>
                  </a:buClr>
                </a:pP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961" r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62" y="1977279"/>
            <a:ext cx="4958138" cy="369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6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</a:t>
            </a:r>
            <a:r>
              <a:rPr lang="zh-CN" altLang="en-US" dirty="0"/>
              <a:t>缓冲区扫描线算法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在扫描线算法中把明暗处理算法与隐藏面消除算法</a:t>
            </a:r>
            <a:r>
              <a:rPr lang="zh-CN" altLang="en-US" sz="2400" dirty="0" smtClean="0"/>
              <a:t>结合</a:t>
            </a:r>
            <a:r>
              <a:rPr lang="zh-CN" altLang="en-US" sz="2400" dirty="0"/>
              <a:t>在一起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扫描线</a:t>
            </a:r>
            <a:r>
              <a:rPr lang="en-US" altLang="zh-CN" sz="1800" dirty="0"/>
              <a:t>i: </a:t>
            </a:r>
            <a:r>
              <a:rPr lang="zh-CN" altLang="en-US" sz="1800" dirty="0"/>
              <a:t>不需要深度信息，适合于没有多边形或者只有一个多边形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扫描线</a:t>
            </a:r>
            <a:r>
              <a:rPr lang="en-US" altLang="zh-CN" sz="1800" dirty="0"/>
              <a:t>j: </a:t>
            </a:r>
            <a:r>
              <a:rPr lang="zh-CN" altLang="en-US" sz="1800" dirty="0"/>
              <a:t>只有当遇到多个多边形时，才需要深度信息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257" y="3320911"/>
            <a:ext cx="4336336" cy="292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7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0965" y="338911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反走样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6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88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03584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理想的光栅化直线应当是一个像素宽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对于每个</a:t>
            </a:r>
            <a:r>
              <a:rPr lang="en-US" altLang="zh-CN" sz="2400" dirty="0"/>
              <a:t>x</a:t>
            </a:r>
            <a:r>
              <a:rPr lang="zh-CN" altLang="en-US" sz="2400" dirty="0"/>
              <a:t>选择最佳的</a:t>
            </a:r>
            <a:r>
              <a:rPr lang="en-US" altLang="zh-CN" sz="2400" dirty="0"/>
              <a:t>y</a:t>
            </a:r>
            <a:r>
              <a:rPr lang="zh-CN" altLang="en-US" sz="2400" dirty="0"/>
              <a:t>（或者反过来）会导致走样</a:t>
            </a:r>
            <a:r>
              <a:rPr lang="zh-CN" altLang="en-US" sz="2400" dirty="0" smtClean="0"/>
              <a:t>的光栅化</a:t>
            </a:r>
            <a:r>
              <a:rPr lang="zh-CN" altLang="en-US" sz="2400" dirty="0"/>
              <a:t>直线</a:t>
            </a: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179" y="1876158"/>
            <a:ext cx="2894915" cy="283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2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基于面积平均的反走样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对于每个</a:t>
            </a:r>
            <a:r>
              <a:rPr lang="en-US" altLang="zh-CN" sz="2400" dirty="0"/>
              <a:t>x</a:t>
            </a:r>
            <a:r>
              <a:rPr lang="zh-CN" altLang="en-US" sz="2400" dirty="0"/>
              <a:t>，把理想直线所覆盖的像素面积乘以颜色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501182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653582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805982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r="50114"/>
          <a:stretch/>
        </p:blipFill>
        <p:spPr>
          <a:xfrm>
            <a:off x="2265791" y="1971367"/>
            <a:ext cx="4135953" cy="153628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686220" y="35994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原始形状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56677" y="35994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反走样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68804" y="60076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放大显示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8"/>
          <p:cNvPicPr>
            <a:picLocks noChangeAspect="1"/>
          </p:cNvPicPr>
          <p:nvPr/>
        </p:nvPicPr>
        <p:blipFill rotWithShape="1">
          <a:blip r:embed="rId4"/>
          <a:srcRect l="49886"/>
          <a:stretch/>
        </p:blipFill>
        <p:spPr>
          <a:xfrm>
            <a:off x="2242395" y="4399090"/>
            <a:ext cx="4154806" cy="153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3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多边形的反走样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对于多边形，走样问题可能非常严重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边的锯齿形状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小多边形被忽略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需要进行颜色组合，从而可能一个多边形的颜色并不完全确定一个像素的颜色</a:t>
            </a:r>
            <a:endParaRPr lang="en-US" altLang="zh-CN" sz="18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5" y="3730566"/>
            <a:ext cx="25950" cy="64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255" y="3011169"/>
            <a:ext cx="3366202" cy="33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</a:t>
            </a:r>
            <a:r>
              <a:rPr lang="zh-CN" altLang="en-US" dirty="0" smtClean="0"/>
              <a:t>建模</a:t>
            </a:r>
            <a:endParaRPr lang="en-US" altLang="en-US" dirty="0"/>
          </a:p>
          <a:p>
            <a:pPr lvl="1"/>
            <a:r>
              <a:rPr lang="zh-CN" altLang="en-US" dirty="0"/>
              <a:t>场景设计和</a:t>
            </a:r>
            <a:r>
              <a:rPr lang="zh-CN" altLang="en-US" dirty="0" smtClean="0"/>
              <a:t>显示；添加纹理；添加光照，</a:t>
            </a:r>
            <a:r>
              <a:rPr lang="zh-CN" altLang="en-US" dirty="0"/>
              <a:t>材质，阴影效果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lvl="1"/>
            <a:r>
              <a:rPr lang="zh-CN" altLang="en-US" dirty="0"/>
              <a:t>用户交互实现视角切换完成对场景的任意角度</a:t>
            </a:r>
            <a:r>
              <a:rPr lang="zh-CN" altLang="en-US" dirty="0" smtClean="0"/>
              <a:t>浏览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zh-CN" altLang="en-US" dirty="0"/>
              <a:t>交互控制</a:t>
            </a:r>
            <a:r>
              <a:rPr lang="zh-CN" altLang="en-US" dirty="0" smtClean="0"/>
              <a:t>物体变换</a:t>
            </a:r>
            <a:endParaRPr lang="en-US" altLang="zh-CN" dirty="0" smtClean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20</a:t>
            </a:r>
            <a:r>
              <a:rPr lang="en-US" altLang="zh-CN" b="1" dirty="0" smtClean="0">
                <a:solidFill>
                  <a:srgbClr val="FF0000"/>
                </a:solidFill>
              </a:rPr>
              <a:t>23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26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en-US" b="1" dirty="0" smtClean="0">
                <a:solidFill>
                  <a:srgbClr val="FF0000"/>
                </a:solidFill>
              </a:rPr>
              <a:t> 23:59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</a:rPr>
              <a:t>17</a:t>
            </a:r>
            <a:r>
              <a:rPr lang="zh-CN" altLang="en-US" b="1" dirty="0" smtClean="0">
                <a:solidFill>
                  <a:srgbClr val="FF0000"/>
                </a:solidFill>
              </a:rPr>
              <a:t>周（</a:t>
            </a:r>
            <a:r>
              <a:rPr lang="en-US" altLang="zh-CN" b="1" dirty="0" smtClean="0">
                <a:solidFill>
                  <a:srgbClr val="FF0000"/>
                </a:solidFill>
              </a:rPr>
              <a:t>2023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26</a:t>
            </a:r>
            <a:r>
              <a:rPr lang="zh-CN" altLang="en-US" b="1" dirty="0" smtClean="0">
                <a:solidFill>
                  <a:srgbClr val="FF0000"/>
                </a:solidFill>
              </a:rPr>
              <a:t>日）理论</a:t>
            </a:r>
            <a:r>
              <a:rPr lang="zh-CN" altLang="en-US" b="1" dirty="0">
                <a:solidFill>
                  <a:srgbClr val="FF0000"/>
                </a:solidFill>
              </a:rPr>
              <a:t>课和实验课将安排课程大作业答辩</a:t>
            </a:r>
            <a:r>
              <a:rPr lang="zh-CN" altLang="en-US" dirty="0"/>
              <a:t>，按照学号顺序，每人上台展示自己的期末大</a:t>
            </a:r>
            <a:r>
              <a:rPr lang="zh-CN" altLang="en-US" dirty="0" smtClean="0"/>
              <a:t>作业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Picture 5" descr="C:\Users\xieke\Documents\Tencent Files\2314228897\Image\C2C\FCQHRQJIU96ZXZ){6JJF{RX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56" y="3739584"/>
            <a:ext cx="3678865" cy="261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3739584"/>
            <a:ext cx="2566284" cy="265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6068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400" dirty="0" smtClean="0"/>
              <a:t>上传压缩包“</a:t>
            </a:r>
            <a:r>
              <a:rPr lang="zh-CN" altLang="en-US" sz="2400" b="1" dirty="0">
                <a:solidFill>
                  <a:srgbClr val="FF0000"/>
                </a:solidFill>
              </a:rPr>
              <a:t>学号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姓名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期末大作业</a:t>
            </a:r>
            <a:r>
              <a:rPr lang="zh-CN" altLang="en-US" sz="2400" dirty="0" smtClean="0"/>
              <a:t>”，包括：</a:t>
            </a:r>
            <a:endParaRPr lang="en-US" altLang="zh-CN" sz="24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过程说明</a:t>
            </a:r>
            <a:r>
              <a:rPr lang="zh-CN" altLang="en-US" sz="1800" dirty="0"/>
              <a:t>报告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填写</a:t>
            </a:r>
            <a:r>
              <a:rPr lang="en-US" altLang="en-US" sz="1600" dirty="0" smtClean="0"/>
              <a:t>“</a:t>
            </a:r>
            <a:r>
              <a:rPr lang="zh-CN" altLang="en-US" sz="1600" dirty="0" smtClean="0"/>
              <a:t>以</a:t>
            </a:r>
            <a:r>
              <a:rPr lang="zh-CN" altLang="en-US" sz="1600" dirty="0"/>
              <a:t>论文、报告等形式考核专用答题纸</a:t>
            </a:r>
            <a:r>
              <a:rPr lang="en-US" altLang="en-US" sz="1600" dirty="0"/>
              <a:t>.</a:t>
            </a:r>
            <a:r>
              <a:rPr lang="en-US" altLang="en-US" sz="1600" dirty="0" smtClean="0"/>
              <a:t>doc</a:t>
            </a:r>
            <a:r>
              <a:rPr lang="zh-CN" altLang="en-US" sz="1600" dirty="0" smtClean="0"/>
              <a:t>”，</a:t>
            </a:r>
            <a:r>
              <a:rPr lang="zh-CN" altLang="en-US" sz="1600" dirty="0"/>
              <a:t>并重命名为“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答题纸</a:t>
            </a:r>
            <a:r>
              <a:rPr lang="zh-CN" altLang="en-US" sz="1600" dirty="0"/>
              <a:t>”</a:t>
            </a:r>
            <a:endParaRPr lang="en-US" altLang="zh-CN" sz="16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使用</a:t>
            </a:r>
            <a:r>
              <a:rPr lang="zh-CN" altLang="en-US" sz="1800" dirty="0"/>
              <a:t>说明书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自行</a:t>
            </a:r>
            <a:r>
              <a:rPr lang="zh-CN" altLang="en-US" sz="1600" dirty="0"/>
              <a:t>撰写一个</a:t>
            </a:r>
            <a:r>
              <a:rPr lang="en-US" altLang="en-US" sz="1600" dirty="0"/>
              <a:t>word</a:t>
            </a:r>
            <a:r>
              <a:rPr lang="zh-CN" altLang="en-US" sz="1600" dirty="0"/>
              <a:t>文档，命名为“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使用说明书</a:t>
            </a:r>
            <a:r>
              <a:rPr lang="zh-CN" altLang="en-US" sz="1600" dirty="0" smtClean="0"/>
              <a:t>”</a:t>
            </a:r>
            <a:endParaRPr lang="en-US" altLang="zh-CN" sz="16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内容</a:t>
            </a:r>
            <a:r>
              <a:rPr lang="zh-CN" altLang="en-US" sz="1600" dirty="0"/>
              <a:t>必须</a:t>
            </a:r>
            <a:r>
              <a:rPr lang="zh-CN" altLang="en-US" sz="1600" dirty="0" smtClean="0"/>
              <a:t>包含：</a:t>
            </a:r>
            <a:endParaRPr lang="en-US" altLang="zh-CN" sz="16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一</a:t>
            </a:r>
            <a:r>
              <a:rPr lang="zh-CN" altLang="en-US" sz="1400" dirty="0"/>
              <a:t>张有代表性</a:t>
            </a:r>
            <a:r>
              <a:rPr lang="zh-CN" altLang="en-US" sz="1400" dirty="0" smtClean="0"/>
              <a:t>的场景绘制截图</a:t>
            </a:r>
            <a:endParaRPr lang="en-US" altLang="zh-CN" sz="1400" dirty="0" smtClean="0"/>
          </a:p>
          <a:p>
            <a:pPr lvl="4">
              <a:spcAft>
                <a:spcPts val="600"/>
              </a:spcAft>
            </a:pPr>
            <a:r>
              <a:rPr lang="zh-CN" altLang="en-US" sz="1400" dirty="0" smtClean="0"/>
              <a:t>将图片单独保存并一起上传，</a:t>
            </a:r>
            <a:r>
              <a:rPr lang="zh-CN" altLang="en-US" sz="1400" dirty="0"/>
              <a:t>命名为“</a:t>
            </a:r>
            <a:r>
              <a:rPr lang="zh-CN" altLang="en-US" sz="1400" dirty="0">
                <a:solidFill>
                  <a:srgbClr val="FF0000"/>
                </a:solidFill>
              </a:rPr>
              <a:t>学号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姓名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场景截图</a:t>
            </a:r>
            <a:r>
              <a:rPr lang="zh-CN" altLang="en-US" sz="1400" dirty="0" smtClean="0"/>
              <a:t>”</a:t>
            </a:r>
            <a:endParaRPr lang="en-US" altLang="zh-CN" sz="14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场景中模型</a:t>
            </a:r>
            <a:r>
              <a:rPr lang="zh-CN" altLang="en-US" sz="1400" dirty="0"/>
              <a:t>的层次结构</a:t>
            </a:r>
            <a:r>
              <a:rPr lang="zh-CN" altLang="en-US" sz="1400" dirty="0" smtClean="0"/>
              <a:t>框图</a:t>
            </a:r>
            <a:endParaRPr lang="en-US" altLang="zh-CN" sz="14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鼠标</a:t>
            </a:r>
            <a:r>
              <a:rPr lang="zh-CN" altLang="en-US" sz="1400" dirty="0"/>
              <a:t>和键盘的具体交互用</a:t>
            </a:r>
            <a:r>
              <a:rPr lang="zh-CN" altLang="en-US" sz="1400" dirty="0" smtClean="0"/>
              <a:t>法</a:t>
            </a:r>
            <a:endParaRPr lang="en-US" altLang="zh-CN" sz="14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源代</a:t>
            </a:r>
            <a:r>
              <a:rPr lang="zh-CN" altLang="en-US" sz="1800" dirty="0"/>
              <a:t>码压缩包</a:t>
            </a:r>
            <a:r>
              <a:rPr lang="en-US" sz="1800" dirty="0"/>
              <a:t> </a:t>
            </a:r>
            <a:r>
              <a:rPr lang="zh-CN" altLang="en-US" sz="1800" dirty="0" smtClean="0"/>
              <a:t>：</a:t>
            </a:r>
            <a:endParaRPr lang="en-US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源代码</a:t>
            </a:r>
            <a:r>
              <a:rPr lang="zh-CN" altLang="en-US" sz="1600" dirty="0"/>
              <a:t>”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58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NUMBER"/>
  <p:tag name="ID" val="545834"/>
  <p:tag name="MH_ORDER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23221429"/>
  <p:tag name="MH_LIBRARY" val="CONTENTS"/>
  <p:tag name="MH_TYPE" val="OTHERS"/>
  <p:tag name="ID" val="545834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12512</TotalTime>
  <Words>3753</Words>
  <Application>Microsoft Office PowerPoint</Application>
  <PresentationFormat>全屏显示(4:3)</PresentationFormat>
  <Paragraphs>753</Paragraphs>
  <Slides>75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75</vt:i4>
      </vt:variant>
    </vt:vector>
  </HeadingPairs>
  <TitlesOfParts>
    <vt:vector size="90" baseType="lpstr">
      <vt:lpstr>04b</vt:lpstr>
      <vt:lpstr>Mangal</vt:lpstr>
      <vt:lpstr>ZztexMono-Regular</vt:lpstr>
      <vt:lpstr>宋体</vt:lpstr>
      <vt:lpstr>Microsoft YaHei</vt:lpstr>
      <vt:lpstr>Microsoft YaHei</vt:lpstr>
      <vt:lpstr>叶根友唐楷字体</vt:lpstr>
      <vt:lpstr>Arial</vt:lpstr>
      <vt:lpstr>Calibri</vt:lpstr>
      <vt:lpstr>Cambria Math</vt:lpstr>
      <vt:lpstr>Impact</vt:lpstr>
      <vt:lpstr>Wingdings</vt:lpstr>
      <vt:lpstr>Office 主题</vt:lpstr>
      <vt:lpstr>1_Office 主题</vt:lpstr>
      <vt:lpstr>3_Office 主题</vt:lpstr>
      <vt:lpstr>PowerPoint 演示文稿</vt:lpstr>
      <vt:lpstr>知识点回顾 – Phong光照模型</vt:lpstr>
      <vt:lpstr>知识点回顾 – 多边形着色</vt:lpstr>
      <vt:lpstr>大纲</vt:lpstr>
      <vt:lpstr>内容提要</vt:lpstr>
      <vt:lpstr>大纲</vt:lpstr>
      <vt:lpstr>图形开发的前世今生</vt:lpstr>
      <vt:lpstr>图形绘制流水线</vt:lpstr>
      <vt:lpstr>图形绘制原理</vt:lpstr>
      <vt:lpstr>基本实现策略</vt:lpstr>
      <vt:lpstr>大纲</vt:lpstr>
      <vt:lpstr>主要任务</vt:lpstr>
      <vt:lpstr>建模</vt:lpstr>
      <vt:lpstr>几何处理</vt:lpstr>
      <vt:lpstr>光栅化</vt:lpstr>
      <vt:lpstr>片元处理</vt:lpstr>
      <vt:lpstr>大纲</vt:lpstr>
      <vt:lpstr>裁剪的目的</vt:lpstr>
      <vt:lpstr>裁剪</vt:lpstr>
      <vt:lpstr>二维线段的裁剪</vt:lpstr>
      <vt:lpstr>Cohen-Sutherland算法</vt:lpstr>
      <vt:lpstr>算法分析（1）</vt:lpstr>
      <vt:lpstr>算法分析（2）</vt:lpstr>
      <vt:lpstr>定义编码</vt:lpstr>
      <vt:lpstr>应用编码（1）</vt:lpstr>
      <vt:lpstr>应用编码（2）</vt:lpstr>
      <vt:lpstr>应用编码（3）</vt:lpstr>
      <vt:lpstr>应用编码（4）</vt:lpstr>
      <vt:lpstr>三维Cohen-Sutherland算法</vt:lpstr>
      <vt:lpstr>效率</vt:lpstr>
      <vt:lpstr>Liang-Barsky裁剪算法</vt:lpstr>
      <vt:lpstr>算法分析</vt:lpstr>
      <vt:lpstr>算法效率</vt:lpstr>
      <vt:lpstr>多边形的裁剪</vt:lpstr>
      <vt:lpstr>划分与凸性</vt:lpstr>
      <vt:lpstr>Sutherland-Hodgeman裁剪</vt:lpstr>
      <vt:lpstr>线段裁剪的流水线结构</vt:lpstr>
      <vt:lpstr>多边剪裁的流水线结构</vt:lpstr>
      <vt:lpstr>包围盒</vt:lpstr>
      <vt:lpstr>裁剪与可见性</vt:lpstr>
      <vt:lpstr>大纲</vt:lpstr>
      <vt:lpstr>光栅化（rasterization）</vt:lpstr>
      <vt:lpstr>直线段的扫描转化</vt:lpstr>
      <vt:lpstr>DDA算法</vt:lpstr>
      <vt:lpstr>利用对称性</vt:lpstr>
      <vt:lpstr> Bresenham算法</vt:lpstr>
      <vt:lpstr>可能像素</vt:lpstr>
      <vt:lpstr>决策变量</vt:lpstr>
      <vt:lpstr> Bresenham算法</vt:lpstr>
      <vt:lpstr>多边形的扫描转换</vt:lpstr>
      <vt:lpstr>内外检测</vt:lpstr>
      <vt:lpstr>奇偶测试法</vt:lpstr>
      <vt:lpstr>环绕测试法</vt:lpstr>
      <vt:lpstr>OpenGL与凹多边形</vt:lpstr>
      <vt:lpstr>漫水填充方法</vt:lpstr>
      <vt:lpstr>扫描线填充</vt:lpstr>
      <vt:lpstr>奇异情形</vt:lpstr>
      <vt:lpstr>大纲</vt:lpstr>
      <vt:lpstr>隐藏面消除在流水线中的位置</vt:lpstr>
      <vt:lpstr>对象空间算法</vt:lpstr>
      <vt:lpstr>画家算法</vt:lpstr>
      <vt:lpstr>深度排序</vt:lpstr>
      <vt:lpstr>简单情形</vt:lpstr>
      <vt:lpstr>复杂情形</vt:lpstr>
      <vt:lpstr>背面剔除（back-face removal）</vt:lpstr>
      <vt:lpstr>图像空间算法</vt:lpstr>
      <vt:lpstr>z缓冲区算法</vt:lpstr>
      <vt:lpstr>算法效率</vt:lpstr>
      <vt:lpstr>z缓冲区扫描线算法</vt:lpstr>
      <vt:lpstr>大纲</vt:lpstr>
      <vt:lpstr>走样</vt:lpstr>
      <vt:lpstr>基于面积平均的反走样</vt:lpstr>
      <vt:lpstr>多边形的反走样</vt:lpstr>
      <vt:lpstr>期末大作业</vt:lpstr>
      <vt:lpstr>期末大作业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周 漾</cp:lastModifiedBy>
  <cp:revision>623</cp:revision>
  <dcterms:created xsi:type="dcterms:W3CDTF">2016-08-04T07:29:19Z</dcterms:created>
  <dcterms:modified xsi:type="dcterms:W3CDTF">2023-11-15T06:08:01Z</dcterms:modified>
</cp:coreProperties>
</file>