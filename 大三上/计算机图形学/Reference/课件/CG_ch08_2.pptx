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84" r:id="rId2"/>
  </p:sldMasterIdLst>
  <p:notesMasterIdLst>
    <p:notesMasterId r:id="rId29"/>
  </p:notesMasterIdLst>
  <p:sldIdLst>
    <p:sldId id="373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52" r:id="rId12"/>
    <p:sldId id="293" r:id="rId13"/>
    <p:sldId id="339" r:id="rId14"/>
    <p:sldId id="294" r:id="rId15"/>
    <p:sldId id="296" r:id="rId16"/>
    <p:sldId id="299" r:id="rId17"/>
    <p:sldId id="300" r:id="rId18"/>
    <p:sldId id="301" r:id="rId19"/>
    <p:sldId id="340" r:id="rId20"/>
    <p:sldId id="302" r:id="rId21"/>
    <p:sldId id="304" r:id="rId22"/>
    <p:sldId id="344" r:id="rId23"/>
    <p:sldId id="342" r:id="rId24"/>
    <p:sldId id="343" r:id="rId25"/>
    <p:sldId id="346" r:id="rId26"/>
    <p:sldId id="371" r:id="rId27"/>
    <p:sldId id="370" r:id="rId2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90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C56F0-BEE5-4715-8E33-DABC78619DE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075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EBE31F-852E-4C21-A5BF-45A621D063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D8B5D-A758-4441-AB52-89DDE7AF36E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849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D77614-659B-42BB-94D6-453193BCDAC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911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9A146-8CD6-4CAA-B3D3-2C21DC42388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517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36B5B9-9CF5-47F0-9553-3F68E408061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116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754A2-9B8A-4D21-BA10-2D4311C5CCE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495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81895-D564-41D2-A6FC-FB534A1687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445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9337D-A0CC-4C7E-87C9-35D7F76F26E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7065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11D75-C662-4506-9923-F360C490CD8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739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DD6D4-6C22-42E4-BD00-B5AB433AEB7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369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0094D1-277E-4F0D-A9D3-6C723ED9405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39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754069" y="95705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4977B-C4EC-482F-96C1-0349DC32933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35710" y="144689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333306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emf"/><Relationship Id="rId7" Type="http://schemas.openxmlformats.org/officeDocument/2006/relationships/image" Target="../media/image28.png"/><Relationship Id="rId12" Type="http://schemas.openxmlformats.org/officeDocument/2006/relationships/image" Target="../media/image3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emf"/><Relationship Id="rId5" Type="http://schemas.openxmlformats.org/officeDocument/2006/relationships/image" Target="../media/image26.png"/><Relationship Id="rId10" Type="http://schemas.openxmlformats.org/officeDocument/2006/relationships/image" Target="../media/image31.emf"/><Relationship Id="rId4" Type="http://schemas.openxmlformats.org/officeDocument/2006/relationships/image" Target="../media/image25.jpeg"/><Relationship Id="rId9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9400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计算机图形学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1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图</a:t>
            </a:r>
            <a:r>
              <a:rPr lang="zh-CN" altLang="en-US" dirty="0"/>
              <a:t>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大多数图形</a:t>
            </a:r>
            <a:r>
              <a:rPr lang="en-US" altLang="zh-CN" sz="2400" dirty="0" smtClean="0"/>
              <a:t>API</a:t>
            </a:r>
            <a:r>
              <a:rPr lang="zh-CN" altLang="en-US" sz="2400" dirty="0" smtClean="0"/>
              <a:t>对图元采取</a:t>
            </a:r>
            <a:r>
              <a:rPr lang="zh-CN" altLang="en-US" sz="2400" dirty="0" smtClean="0">
                <a:solidFill>
                  <a:srgbClr val="0000FF"/>
                </a:solidFill>
              </a:rPr>
              <a:t>最小完备</a:t>
            </a:r>
            <a:r>
              <a:rPr lang="zh-CN" altLang="en-US" sz="2400" dirty="0" smtClean="0"/>
              <a:t>的观点：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他们只包含少数的基本图元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而让用户通过这些基本的图元来构建更复杂的对象</a:t>
            </a:r>
            <a:endParaRPr lang="en-US" altLang="zh-CN" sz="1800" dirty="0" smtClean="0"/>
          </a:p>
          <a:p>
            <a:pPr lvl="1"/>
            <a:endParaRPr lang="en-US" sz="1800" dirty="0"/>
          </a:p>
          <a:p>
            <a:r>
              <a:rPr lang="zh-CN" altLang="en-US" sz="2600" dirty="0" smtClean="0"/>
              <a:t>这些基本图元通常被视为一些</a:t>
            </a:r>
            <a:r>
              <a:rPr lang="zh-CN" altLang="en-US" sz="2600" dirty="0" smtClean="0">
                <a:solidFill>
                  <a:srgbClr val="0000FF"/>
                </a:solidFill>
              </a:rPr>
              <a:t>图符</a:t>
            </a:r>
            <a:r>
              <a:rPr lang="zh-CN" altLang="en-US" sz="2600" dirty="0" smtClean="0"/>
              <a:t>（</a:t>
            </a:r>
            <a:r>
              <a:rPr lang="en-US" altLang="zh-CN" sz="2600" dirty="0" smtClean="0"/>
              <a:t>symbol</a:t>
            </a:r>
            <a:r>
              <a:rPr lang="zh-CN" altLang="en-US" sz="2600" dirty="0" smtClean="0"/>
              <a:t>），所要建模的世界可以看成由这些离散的图符组成</a:t>
            </a:r>
            <a:endParaRPr lang="en-US" altLang="zh-CN" sz="2600" dirty="0" smtClean="0"/>
          </a:p>
          <a:p>
            <a:endParaRPr lang="en-US" sz="2600" dirty="0"/>
          </a:p>
          <a:p>
            <a:r>
              <a:rPr lang="zh-CN" altLang="en-US" sz="2600" dirty="0" smtClean="0"/>
              <a:t>通常根据自身的几何特征表示为合适的大小和方位：</a:t>
            </a:r>
            <a:endParaRPr lang="en-US" altLang="zh-CN" sz="2600" dirty="0" smtClean="0"/>
          </a:p>
          <a:p>
            <a:pPr lvl="1"/>
            <a:r>
              <a:rPr lang="zh-CN" altLang="en-US" sz="1800" dirty="0" smtClean="0"/>
              <a:t>圆柱体：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中心轴与坐标系的某个主轴平行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高度为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个单位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半径为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个单位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底面圆心与坐标系的原点重合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00" y="4510300"/>
            <a:ext cx="2091661" cy="225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40804" y="49547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rgbClr val="0000FF"/>
                </a:solidFill>
              </a:rPr>
              <a:t>建模标架</a:t>
            </a:r>
            <a:endParaRPr lang="en-US" altLang="zh-CN" sz="1600" dirty="0" smtClean="0">
              <a:solidFill>
                <a:srgbClr val="0000FF"/>
              </a:solidFill>
            </a:endParaRPr>
          </a:p>
          <a:p>
            <a:pPr algn="ctr"/>
            <a:r>
              <a:rPr lang="zh-CN" altLang="en-US" sz="1600" dirty="0" smtClean="0">
                <a:solidFill>
                  <a:srgbClr val="0000FF"/>
                </a:solidFill>
              </a:rPr>
              <a:t>（对象标架）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实例</a:t>
            </a:r>
            <a:r>
              <a:rPr lang="zh-CN" altLang="en-US" dirty="0"/>
              <a:t>变换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81681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en-US" altLang="zh-CN" sz="2400" dirty="0" smtClean="0"/>
              <a:t>OpenGL</a:t>
            </a:r>
            <a:r>
              <a:rPr lang="zh-CN" altLang="en-US" sz="2400" dirty="0" smtClean="0"/>
              <a:t>应用程序中，必须通过几何变换把图符从</a:t>
            </a:r>
            <a:r>
              <a:rPr lang="zh-CN" altLang="en-US" sz="2400" dirty="0" smtClean="0">
                <a:solidFill>
                  <a:srgbClr val="0000FF"/>
                </a:solidFill>
              </a:rPr>
              <a:t>建模标架</a:t>
            </a:r>
            <a:r>
              <a:rPr lang="zh-CN" altLang="en-US" sz="2400" dirty="0" smtClean="0"/>
              <a:t>变换到</a:t>
            </a:r>
            <a:r>
              <a:rPr lang="zh-CN" altLang="en-US" sz="2400" dirty="0" smtClean="0">
                <a:solidFill>
                  <a:srgbClr val="0000FF"/>
                </a:solidFill>
              </a:rPr>
              <a:t>世界标架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得到</a:t>
            </a:r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（</a:t>
            </a:r>
            <a:r>
              <a:rPr lang="en-US" altLang="zh-CN" sz="2400" dirty="0"/>
              <a:t>instance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实例变化把每个图符实例按照所需的</a:t>
            </a:r>
            <a:r>
              <a:rPr lang="zh-CN" altLang="en-US" sz="2400" dirty="0" smtClean="0">
                <a:solidFill>
                  <a:srgbClr val="0000FF"/>
                </a:solidFill>
              </a:rPr>
              <a:t>大小</a:t>
            </a:r>
            <a:r>
              <a:rPr lang="zh-CN" altLang="en-US" sz="2400" dirty="0" smtClean="0"/>
              <a:t>，</a:t>
            </a:r>
            <a:r>
              <a:rPr lang="zh-CN" altLang="en-US" sz="2400" dirty="0" smtClean="0">
                <a:solidFill>
                  <a:srgbClr val="0000FF"/>
                </a:solidFill>
              </a:rPr>
              <a:t>方向</a:t>
            </a:r>
            <a:r>
              <a:rPr lang="zh-CN" altLang="en-US" sz="2400" dirty="0" smtClean="0"/>
              <a:t>和</a:t>
            </a:r>
            <a:r>
              <a:rPr lang="zh-CN" altLang="en-US" sz="2400" dirty="0" smtClean="0">
                <a:solidFill>
                  <a:srgbClr val="0000FF"/>
                </a:solidFill>
              </a:rPr>
              <a:t>位置</a:t>
            </a:r>
            <a:r>
              <a:rPr lang="zh-CN" altLang="en-US" sz="2400" dirty="0" smtClean="0"/>
              <a:t>放入到场景中：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 smtClean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003F"/>
              </a:buClr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17905"/>
            <a:ext cx="7673111" cy="2886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= 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𝑻𝑹𝑺</m:t>
                      </m:r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t="-143333" r="-4367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72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机器人</a:t>
            </a:r>
            <a:r>
              <a:rPr lang="zh-CN" altLang="en-US" dirty="0"/>
              <a:t>手臂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整体模型和各个部件：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7" y="2262673"/>
            <a:ext cx="7963785" cy="36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9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关联模型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机器人手臂就是一个</a:t>
            </a:r>
            <a:r>
              <a:rPr lang="zh-CN" altLang="en-US" sz="2400" dirty="0" smtClean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 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部件之间</a:t>
            </a:r>
            <a:r>
              <a:rPr lang="zh-CN" altLang="en-US" sz="2400" dirty="0"/>
              <a:t>在关节</a:t>
            </a:r>
            <a:r>
              <a:rPr lang="zh-CN" altLang="en-US" sz="2400" dirty="0" smtClean="0"/>
              <a:t>处连接</a:t>
            </a:r>
            <a:r>
              <a:rPr lang="zh-CN" altLang="en-US" sz="2400" dirty="0"/>
              <a:t>在一起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可以通过给定</a:t>
            </a:r>
            <a:r>
              <a:rPr lang="zh-CN" altLang="en-US" sz="2400" dirty="0" smtClean="0">
                <a:solidFill>
                  <a:srgbClr val="0000FF"/>
                </a:solidFill>
              </a:rPr>
              <a:t>关节角</a:t>
            </a:r>
            <a:r>
              <a:rPr lang="zh-CN" altLang="en-US" sz="2400" dirty="0" smtClean="0"/>
              <a:t>指定模型的状态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25" y="3020615"/>
            <a:ext cx="2215101" cy="3568591"/>
          </a:xfrm>
          <a:prstGeom prst="rect">
            <a:avLst/>
          </a:prstGeom>
        </p:spPr>
      </p:pic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47" y="3017748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4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变换矩阵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支架</a:t>
                </a:r>
                <a:r>
                  <a:rPr lang="zh-CN" altLang="en-US" sz="2400" dirty="0"/>
                  <a:t>的旋转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 smtClean="0"/>
                  <a:t>把</a:t>
                </a:r>
                <a:r>
                  <a:rPr lang="en-US" altLang="zh-CN" sz="1600" dirty="0" smtClean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600" dirty="0"/>
                  <a:t>应用到支架上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下臂</a:t>
                </a:r>
                <a:r>
                  <a:rPr lang="zh-CN" altLang="en-US" sz="2400" dirty="0"/>
                  <a:t>相对于支架部分部分平移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下</a:t>
                </a:r>
                <a:r>
                  <a:rPr lang="zh-CN" altLang="en-US" sz="2400" dirty="0"/>
                  <a:t>臂绕关节旋转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 smtClean="0"/>
                  <a:t>把</a:t>
                </a:r>
                <a:r>
                  <a:rPr lang="en-US" altLang="zh-CN" sz="1600" dirty="0" smtClean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应用</a:t>
                </a:r>
                <a:r>
                  <a:rPr lang="zh-CN" altLang="en-US" sz="1600" dirty="0"/>
                  <a:t>到下臂上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上臂</a:t>
                </a:r>
                <a:r>
                  <a:rPr lang="zh-CN" altLang="en-US" sz="2400" dirty="0"/>
                  <a:t>相对于下臂平移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上臂</a:t>
                </a:r>
                <a:r>
                  <a:rPr lang="zh-CN" altLang="en-US" sz="2400" dirty="0"/>
                  <a:t>绕关节旋转</a:t>
                </a:r>
                <a:r>
                  <a:rPr lang="zh-CN" altLang="en-US" sz="2400" dirty="0" smtClean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 smtClean="0"/>
                  <a:t>把</a:t>
                </a:r>
                <a:r>
                  <a:rPr lang="en-US" altLang="zh-CN" sz="1600" dirty="0" smtClean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 应用</a:t>
                </a:r>
                <a:r>
                  <a:rPr lang="zh-CN" altLang="en-US" sz="1600" dirty="0"/>
                  <a:t>到上臂上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6154173" y="510565"/>
            <a:ext cx="1073888" cy="1694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6164805" y="2359246"/>
            <a:ext cx="1063256" cy="15422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154173" y="4055527"/>
            <a:ext cx="1094197" cy="15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</a:t>
            </a:r>
            <a:r>
              <a:rPr lang="en-US" altLang="zh-CN" dirty="0" smtClean="0"/>
              <a:t>OpenGL</a:t>
            </a:r>
            <a:r>
              <a:rPr lang="zh-CN" altLang="en-US" dirty="0" smtClean="0"/>
              <a:t>实现</a:t>
            </a:r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以增量的方式改变模</a:t>
            </a:r>
            <a:r>
              <a:rPr lang="en-US" altLang="zh-CN" sz="2400" dirty="0" smtClean="0"/>
              <a:t>-</a:t>
            </a:r>
            <a:r>
              <a:rPr lang="zh-CN" altLang="en-US" sz="2400" dirty="0" smtClean="0"/>
              <a:t>视矩阵以体现运动联动性：</a:t>
            </a:r>
            <a:endParaRPr lang="en-US" altLang="zh-CN" sz="2400" dirty="0" smtClean="0"/>
          </a:p>
          <a:p>
            <a:pPr lvl="1"/>
            <a:r>
              <a:rPr lang="zh-CN" altLang="en-US" sz="1600" dirty="0" smtClean="0"/>
              <a:t>假设给定了三个关节角：</a:t>
            </a:r>
            <a:r>
              <a:rPr lang="en-US" sz="1600" dirty="0" smtClean="0"/>
              <a:t>Theta[Base]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sz="1600" dirty="0" smtClean="0"/>
              <a:t>Theta[</a:t>
            </a:r>
            <a:r>
              <a:rPr lang="en-US" sz="1600" dirty="0" err="1" smtClean="0"/>
              <a:t>LowerArm</a:t>
            </a:r>
            <a:r>
              <a:rPr lang="en-US" altLang="zh-CN" sz="1600" dirty="0" smtClean="0"/>
              <a:t>],</a:t>
            </a:r>
            <a:r>
              <a:rPr lang="zh-CN" altLang="en-US" sz="1600" dirty="0" smtClean="0"/>
              <a:t> </a:t>
            </a:r>
            <a:r>
              <a:rPr lang="en-US" sz="1600" dirty="0" smtClean="0"/>
              <a:t>Theta[</a:t>
            </a:r>
            <a:r>
              <a:rPr lang="en-US" sz="1600" dirty="0" err="1" smtClean="0"/>
              <a:t>UpperArm</a:t>
            </a:r>
            <a:r>
              <a:rPr lang="en-US" sz="1600" dirty="0"/>
              <a:t>]</a:t>
            </a:r>
            <a:r>
              <a:rPr lang="zh-CN" altLang="en-US" sz="1600" dirty="0" smtClean="0"/>
              <a:t> 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1010093" y="2188931"/>
            <a:ext cx="7634177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b="1" dirty="0" err="1"/>
              <a:t>RotateY</a:t>
            </a:r>
            <a:r>
              <a:rPr lang="en-US" dirty="0"/>
              <a:t>(Theta[Base] </a:t>
            </a:r>
            <a:r>
              <a:rPr lang="en-US" dirty="0" smtClean="0"/>
              <a:t>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支架变换</a:t>
            </a:r>
            <a:r>
              <a:rPr lang="zh-CN" altLang="en-US" dirty="0">
                <a:solidFill>
                  <a:schemeClr val="accent6"/>
                </a:solidFill>
              </a:rPr>
              <a:t>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smtClean="0"/>
              <a:t>base</a:t>
            </a:r>
            <a:r>
              <a:rPr lang="en-US" dirty="0" smtClean="0"/>
              <a:t>();</a:t>
            </a:r>
            <a:r>
              <a:rPr lang="zh-CN" altLang="en-US" dirty="0" smtClean="0"/>
              <a:t> 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绘制支架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 smtClean="0"/>
              <a:t>model_view</a:t>
            </a:r>
            <a:r>
              <a:rPr lang="en-US" dirty="0" smtClean="0"/>
              <a:t> = </a:t>
            </a:r>
            <a:r>
              <a:rPr lang="en-US" dirty="0" err="1" smtClean="0"/>
              <a:t>model_view</a:t>
            </a:r>
            <a:r>
              <a:rPr lang="zh-CN" altLang="en-US" dirty="0" smtClean="0"/>
              <a:t> * </a:t>
            </a:r>
            <a:r>
              <a:rPr lang="en-US" b="1" dirty="0" smtClean="0"/>
              <a:t>Translate</a:t>
            </a:r>
            <a:r>
              <a:rPr lang="en-US" dirty="0" smtClean="0"/>
              <a:t>(0.0</a:t>
            </a:r>
            <a:r>
              <a:rPr lang="en-US" dirty="0"/>
              <a:t>, BASE_HEIGHT, 0.0) </a:t>
            </a:r>
          </a:p>
          <a:p>
            <a:r>
              <a:rPr lang="en-US" dirty="0"/>
              <a:t>		    </a:t>
            </a:r>
            <a:r>
              <a:rPr lang="zh-CN" altLang="en-US" dirty="0" smtClean="0"/>
              <a:t>          * </a:t>
            </a:r>
            <a:r>
              <a:rPr lang="en-US" b="1" dirty="0" err="1" smtClean="0"/>
              <a:t>RotateZ</a:t>
            </a:r>
            <a:r>
              <a:rPr lang="en-US" dirty="0" smtClean="0"/>
              <a:t>(Theta[</a:t>
            </a:r>
            <a:r>
              <a:rPr lang="en-US" dirty="0" err="1" smtClean="0"/>
              <a:t>LowerArm</a:t>
            </a:r>
            <a:r>
              <a:rPr lang="en-US" dirty="0" smtClean="0"/>
              <a:t>]);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下臂变换</a:t>
            </a:r>
            <a:r>
              <a:rPr lang="zh-CN" altLang="en-US" dirty="0" smtClean="0">
                <a:solidFill>
                  <a:schemeClr val="accent6"/>
                </a:solidFill>
              </a:rPr>
              <a:t>矩阵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b="1" dirty="0" err="1" smtClean="0"/>
              <a:t>lower_arm</a:t>
            </a:r>
            <a:r>
              <a:rPr lang="en-US" dirty="0" smtClean="0"/>
              <a:t>();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绘制下臂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  <a:endParaRPr lang="en-US" dirty="0" smtClean="0"/>
          </a:p>
          <a:p>
            <a:r>
              <a:rPr lang="en-US" dirty="0" err="1" smtClean="0"/>
              <a:t>model_view</a:t>
            </a:r>
            <a:r>
              <a:rPr lang="en-US" dirty="0" smtClean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 smtClean="0"/>
              <a:t>Translate</a:t>
            </a:r>
            <a:r>
              <a:rPr lang="en-US" dirty="0" smtClean="0"/>
              <a:t>(0.0</a:t>
            </a:r>
            <a:r>
              <a:rPr lang="en-US" dirty="0"/>
              <a:t>, LOWER_ARM_HEIGHT, 0.0) </a:t>
            </a:r>
          </a:p>
          <a:p>
            <a:r>
              <a:rPr lang="en-US" dirty="0"/>
              <a:t>		    </a:t>
            </a:r>
            <a:r>
              <a:rPr lang="zh-CN" altLang="en-US" dirty="0" smtClean="0"/>
              <a:t>          * </a:t>
            </a:r>
            <a:r>
              <a:rPr lang="en-US" b="1" dirty="0" err="1" smtClean="0"/>
              <a:t>RotateZ</a:t>
            </a:r>
            <a:r>
              <a:rPr lang="en-US" dirty="0" smtClean="0"/>
              <a:t>(Theta[</a:t>
            </a:r>
            <a:r>
              <a:rPr lang="en-US" dirty="0" err="1" smtClean="0"/>
              <a:t>UpperArm</a:t>
            </a:r>
            <a:r>
              <a:rPr lang="en-US" dirty="0" smtClean="0"/>
              <a:t>]);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上臂变换矩阵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 smtClean="0"/>
              <a:t>upper_arm</a:t>
            </a:r>
            <a:r>
              <a:rPr lang="en-US" dirty="0" smtClean="0"/>
              <a:t>();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绘制上臂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1"/>
          <a:stretch/>
        </p:blipFill>
        <p:spPr>
          <a:xfrm>
            <a:off x="2283341" y="5237741"/>
            <a:ext cx="4322064" cy="15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4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</a:t>
            </a:r>
            <a:r>
              <a:rPr lang="en-US" altLang="zh-CN" dirty="0" smtClean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绘制每一个部件实例：</a:t>
            </a:r>
            <a:r>
              <a:rPr lang="zh-CN" altLang="en-US" dirty="0" smtClean="0">
                <a:solidFill>
                  <a:srgbClr val="0000FF"/>
                </a:solidFill>
              </a:rPr>
              <a:t>图符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zh-CN" altLang="en-US" dirty="0" smtClean="0">
                <a:solidFill>
                  <a:srgbClr val="0000FF"/>
                </a:solidFill>
              </a:rPr>
              <a:t>实例变换矩阵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dirty="0" smtClean="0"/>
              <a:t>实验</a:t>
            </a:r>
            <a:r>
              <a:rPr lang="zh-CN" altLang="en-US" dirty="0"/>
              <a:t>补充</a:t>
            </a:r>
            <a:r>
              <a:rPr lang="en-US" altLang="zh-CN" dirty="0" smtClean="0"/>
              <a:t>1</a:t>
            </a:r>
            <a:r>
              <a:rPr lang="zh-CN" altLang="en-US" dirty="0" smtClean="0"/>
              <a:t>中以</a:t>
            </a:r>
            <a:r>
              <a:rPr lang="zh-CN" altLang="en-US" dirty="0" smtClean="0">
                <a:solidFill>
                  <a:srgbClr val="0000FF"/>
                </a:solidFill>
              </a:rPr>
              <a:t>单位正方体</a:t>
            </a:r>
            <a:r>
              <a:rPr lang="zh-CN" altLang="en-US" dirty="0" smtClean="0"/>
              <a:t>作为图符：中心在原点，边长为</a:t>
            </a:r>
            <a:r>
              <a:rPr lang="en-US" altLang="zh-CN" dirty="0" smtClean="0"/>
              <a:t>1</a:t>
            </a:r>
          </a:p>
          <a:p>
            <a:pPr lvl="1"/>
            <a:r>
              <a:rPr lang="zh-CN" altLang="en-US" dirty="0" smtClean="0"/>
              <a:t>以上臂为例：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 rotWithShape="1">
          <a:blip r:embed="rId2"/>
          <a:srcRect r="48983"/>
          <a:stretch/>
        </p:blipFill>
        <p:spPr>
          <a:xfrm>
            <a:off x="3279523" y="2139772"/>
            <a:ext cx="1676107" cy="139394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366296" y="2722027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6242263" y="2086891"/>
            <a:ext cx="1199106" cy="1542049"/>
          </a:xfrm>
          <a:prstGeom prst="rect">
            <a:avLst/>
          </a:prstGeom>
        </p:spPr>
      </p:pic>
      <p:sp>
        <p:nvSpPr>
          <p:cNvPr id="6" name="矩形 6"/>
          <p:cNvSpPr/>
          <p:nvPr/>
        </p:nvSpPr>
        <p:spPr>
          <a:xfrm>
            <a:off x="797442" y="3628940"/>
            <a:ext cx="7878725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altLang="zh-CN" b="1" dirty="0" err="1" smtClean="0"/>
              <a:t>upper_arm</a:t>
            </a:r>
            <a:r>
              <a:rPr lang="en-US" dirty="0" smtClean="0"/>
              <a:t>()</a:t>
            </a:r>
            <a:endParaRPr lang="en-US" dirty="0"/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 </a:t>
            </a:r>
            <a:r>
              <a:rPr lang="en-US" i="1" dirty="0" smtClean="0">
                <a:solidFill>
                  <a:srgbClr val="0000FF"/>
                </a:solidFill>
              </a:rPr>
              <a:t>mat4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/>
              <a:t>instance = </a:t>
            </a:r>
            <a:r>
              <a:rPr lang="en-US" dirty="0" smtClean="0"/>
              <a:t> </a:t>
            </a:r>
            <a:r>
              <a:rPr lang="en-US" b="1" dirty="0"/>
              <a:t>Translate</a:t>
            </a:r>
            <a:r>
              <a:rPr lang="en-US" dirty="0"/>
              <a:t>( 0.0, 0.5 * </a:t>
            </a:r>
            <a:r>
              <a:rPr lang="en-US" altLang="zh-CN" dirty="0" smtClean="0"/>
              <a:t>UPPER</a:t>
            </a:r>
            <a:r>
              <a:rPr lang="en-US" dirty="0" smtClean="0"/>
              <a:t>_</a:t>
            </a:r>
            <a:r>
              <a:rPr lang="en-US" altLang="zh-CN" dirty="0" smtClean="0"/>
              <a:t>ARM_</a:t>
            </a:r>
            <a:r>
              <a:rPr lang="en-US" dirty="0" smtClean="0"/>
              <a:t>HEIGHT</a:t>
            </a:r>
            <a:r>
              <a:rPr lang="en-US" dirty="0"/>
              <a:t>, 0.0 ) </a:t>
            </a:r>
            <a:endParaRPr lang="en-US" dirty="0" smtClean="0"/>
          </a:p>
          <a:p>
            <a:pPr lvl="1"/>
            <a:r>
              <a:rPr lang="zh-CN" altLang="en-US" dirty="0"/>
              <a:t> </a:t>
            </a:r>
            <a:r>
              <a:rPr lang="zh-CN" altLang="en-US" dirty="0" smtClean="0"/>
              <a:t>                           </a:t>
            </a:r>
            <a:r>
              <a:rPr lang="en-US" dirty="0" smtClean="0"/>
              <a:t>* </a:t>
            </a:r>
            <a:r>
              <a:rPr lang="en-US" b="1" dirty="0" smtClean="0"/>
              <a:t>Scale</a:t>
            </a:r>
            <a:r>
              <a:rPr lang="en-US" dirty="0" smtClean="0"/>
              <a:t>(</a:t>
            </a:r>
            <a:r>
              <a:rPr lang="en-US" altLang="zh-CN" dirty="0" smtClean="0"/>
              <a:t>UA_</a:t>
            </a:r>
            <a:r>
              <a:rPr lang="en-US" dirty="0" smtClean="0"/>
              <a:t>WIDTH,</a:t>
            </a:r>
            <a:r>
              <a:rPr lang="zh-CN" altLang="en-US" dirty="0" smtClean="0"/>
              <a:t> </a:t>
            </a:r>
            <a:r>
              <a:rPr lang="en-US" altLang="zh-CN" dirty="0" smtClean="0"/>
              <a:t>UA_</a:t>
            </a:r>
            <a:r>
              <a:rPr lang="en-US" dirty="0" smtClean="0"/>
              <a:t>HEIGHT,</a:t>
            </a:r>
            <a:r>
              <a:rPr lang="zh-CN" altLang="en-US" dirty="0" smtClean="0"/>
              <a:t> </a:t>
            </a:r>
            <a:r>
              <a:rPr lang="en-US" altLang="zh-CN" dirty="0" smtClean="0"/>
              <a:t>UA_</a:t>
            </a:r>
            <a:r>
              <a:rPr lang="en-US" dirty="0" smtClean="0"/>
              <a:t>WIDTH </a:t>
            </a:r>
            <a:r>
              <a:rPr lang="en-US" dirty="0"/>
              <a:t>) </a:t>
            </a:r>
            <a:r>
              <a:rPr lang="en-US" dirty="0" smtClean="0"/>
              <a:t>;</a:t>
            </a:r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zh-CN" altLang="en-US" dirty="0" smtClean="0">
                <a:solidFill>
                  <a:schemeClr val="accent6"/>
                </a:solidFill>
              </a:rPr>
              <a:t>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按长宽高缩放正方体，并且</a:t>
            </a:r>
            <a:r>
              <a:rPr lang="zh-CN" altLang="en-US" dirty="0" smtClean="0">
                <a:solidFill>
                  <a:schemeClr val="accent6"/>
                </a:solidFill>
              </a:rPr>
              <a:t>平移使得底面在</a:t>
            </a:r>
            <a:r>
              <a:rPr lang="en-US" altLang="zh-CN" dirty="0" smtClean="0">
                <a:solidFill>
                  <a:schemeClr val="accent6"/>
                </a:solidFill>
              </a:rPr>
              <a:t>y=0</a:t>
            </a:r>
            <a:r>
              <a:rPr lang="zh-CN" altLang="en-US" dirty="0" smtClean="0">
                <a:solidFill>
                  <a:schemeClr val="accent6"/>
                </a:solidFill>
              </a:rPr>
              <a:t>上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b="1" dirty="0" smtClean="0"/>
              <a:t>glUniformMatrix4fv</a:t>
            </a:r>
            <a:r>
              <a:rPr lang="en-US" dirty="0" smtClean="0"/>
              <a:t>(</a:t>
            </a:r>
            <a:r>
              <a:rPr lang="en-US" dirty="0" err="1" smtClean="0"/>
              <a:t>ModelView</a:t>
            </a:r>
            <a:r>
              <a:rPr lang="en-US" dirty="0"/>
              <a:t>, 1, GL_TRUE, </a:t>
            </a:r>
            <a:r>
              <a:rPr lang="en-US" dirty="0" err="1">
                <a:solidFill>
                  <a:srgbClr val="FF0000"/>
                </a:solidFill>
              </a:rPr>
              <a:t>model_view</a:t>
            </a:r>
            <a:r>
              <a:rPr lang="en-US" dirty="0">
                <a:solidFill>
                  <a:srgbClr val="FF0000"/>
                </a:solidFill>
              </a:rPr>
              <a:t> * instance </a:t>
            </a:r>
            <a:r>
              <a:rPr lang="en-US" dirty="0" smtClean="0"/>
              <a:t>);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将完整的模</a:t>
            </a:r>
            <a:r>
              <a:rPr lang="en-US" altLang="zh-CN" dirty="0" smtClean="0">
                <a:solidFill>
                  <a:schemeClr val="accent6"/>
                </a:solidFill>
              </a:rPr>
              <a:t>-</a:t>
            </a:r>
            <a:r>
              <a:rPr lang="zh-CN" altLang="en-US" dirty="0" smtClean="0">
                <a:solidFill>
                  <a:schemeClr val="accent6"/>
                </a:solidFill>
              </a:rPr>
              <a:t>视矩阵</a:t>
            </a:r>
            <a:r>
              <a:rPr lang="zh-CN" altLang="en-US" dirty="0">
                <a:solidFill>
                  <a:schemeClr val="accent6"/>
                </a:solidFill>
              </a:rPr>
              <a:t>传给</a:t>
            </a:r>
            <a:r>
              <a:rPr lang="en-US" dirty="0" err="1">
                <a:solidFill>
                  <a:schemeClr val="accent6"/>
                </a:solidFill>
              </a:rPr>
              <a:t>shader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i="1" dirty="0" smtClean="0"/>
          </a:p>
          <a:p>
            <a:pPr lvl="1"/>
            <a:r>
              <a:rPr lang="zh-CN" altLang="en-US" i="1" dirty="0" smtClean="0"/>
              <a:t> </a:t>
            </a:r>
            <a:r>
              <a:rPr lang="en-US" b="1" dirty="0" err="1" smtClean="0"/>
              <a:t>glDrawArrays</a:t>
            </a:r>
            <a:r>
              <a:rPr lang="en-US" dirty="0"/>
              <a:t>( </a:t>
            </a:r>
            <a:r>
              <a:rPr lang="en-US" i="1" dirty="0"/>
              <a:t>GL_TRIANGLES</a:t>
            </a:r>
            <a:r>
              <a:rPr lang="en-US" dirty="0"/>
              <a:t>, 0, </a:t>
            </a:r>
            <a:r>
              <a:rPr lang="en-US" dirty="0" err="1"/>
              <a:t>NumVertices</a:t>
            </a:r>
            <a:r>
              <a:rPr lang="en-US" dirty="0"/>
              <a:t> </a:t>
            </a:r>
            <a:r>
              <a:rPr lang="en-US" dirty="0" smtClean="0"/>
              <a:t>);</a:t>
            </a:r>
            <a:r>
              <a:rPr lang="zh-CN" altLang="en-US" dirty="0" smtClean="0"/>
              <a:t>  </a:t>
            </a:r>
            <a:r>
              <a:rPr lang="en-US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绘制相应的三角</a:t>
            </a:r>
            <a:r>
              <a:rPr lang="zh-CN" altLang="en-US" dirty="0">
                <a:solidFill>
                  <a:schemeClr val="accent6"/>
                </a:solidFill>
              </a:rPr>
              <a:t>面片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 </a:t>
            </a:r>
            <a:endParaRPr lang="en-US" altLang="zh-C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38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实验补充 </a:t>
            </a:r>
            <a:r>
              <a:rPr lang="en-US" altLang="zh-CN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 smtClean="0"/>
              <a:t>-</a:t>
            </a:r>
            <a:r>
              <a:rPr lang="zh-CN" altLang="en-US" sz="2400" dirty="0" smtClean="0"/>
              <a:t>机械手臂</a:t>
            </a:r>
            <a:endParaRPr lang="en-US" altLang="zh-CN" sz="2400" dirty="0" smtClean="0"/>
          </a:p>
          <a:p>
            <a:pPr lvl="1"/>
            <a:r>
              <a:rPr lang="zh-CN" altLang="en-US" sz="1800" dirty="0"/>
              <a:t>了解层级建模基本概念</a:t>
            </a:r>
            <a:endParaRPr lang="en-US" altLang="en-US" sz="1800" dirty="0"/>
          </a:p>
          <a:p>
            <a:pPr lvl="1"/>
            <a:r>
              <a:rPr lang="zh-CN" altLang="en-US" sz="1800" dirty="0"/>
              <a:t>掌握简单平移，缩放，旋转的矩阵构建</a:t>
            </a:r>
            <a:endParaRPr lang="en-US" altLang="en-US" sz="1800" dirty="0"/>
          </a:p>
          <a:p>
            <a:pPr lvl="1"/>
            <a:r>
              <a:rPr lang="zh-CN" altLang="en-US" sz="1800" dirty="0"/>
              <a:t>了解变换矩在层级模型父子节点间的传递关系</a:t>
            </a:r>
            <a:endParaRPr lang="en-US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86" y="3085565"/>
            <a:ext cx="1780512" cy="284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892372" y="3085565"/>
            <a:ext cx="2679506" cy="2846648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329070" y="29239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高配版：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69219" y="29239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低配版：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48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 smtClean="0"/>
              <a:t>图符和实例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层级模型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机器人手臂的实现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机器人的实现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r>
              <a:rPr lang="zh-CN" altLang="en-US" dirty="0" smtClean="0"/>
              <a:t>动画</a:t>
            </a:r>
            <a:endParaRPr lang="en-US" altLang="zh-CN" dirty="0" smtClean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715614" y="1316831"/>
            <a:ext cx="7722704" cy="151142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16347" y="3364107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机器人的实现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34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因为结构比较简单，在实现时没有用树形数据结构去存储和操作，直接逐个绘制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772886" y="2305888"/>
            <a:ext cx="6361561" cy="329320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支架变换</a:t>
            </a:r>
            <a:r>
              <a:rPr lang="zh-CN" altLang="en-US" sz="1600" dirty="0" smtClean="0">
                <a:solidFill>
                  <a:schemeClr val="accent6"/>
                </a:solidFill>
              </a:rPr>
              <a:t>矩阵</a:t>
            </a:r>
            <a:endParaRPr lang="en-US" sz="1600" dirty="0" smtClean="0"/>
          </a:p>
          <a:p>
            <a:r>
              <a:rPr lang="en-US" sz="1600" dirty="0" err="1" smtClean="0"/>
              <a:t>model_view</a:t>
            </a:r>
            <a:r>
              <a:rPr lang="en-US" sz="1600" dirty="0" smtClean="0"/>
              <a:t> </a:t>
            </a:r>
            <a:r>
              <a:rPr lang="en-US" sz="1600" dirty="0"/>
              <a:t>= </a:t>
            </a:r>
            <a:r>
              <a:rPr lang="en-US" sz="1600" b="1" dirty="0" err="1"/>
              <a:t>RotateY</a:t>
            </a:r>
            <a:r>
              <a:rPr lang="en-US" sz="1600" dirty="0"/>
              <a:t>(Theta[Base] </a:t>
            </a:r>
            <a:r>
              <a:rPr lang="en-US" sz="1600" dirty="0" smtClean="0"/>
              <a:t>);</a:t>
            </a:r>
            <a:r>
              <a:rPr lang="zh-CN" altLang="en-US" sz="1600" dirty="0" smtClean="0"/>
              <a:t> </a:t>
            </a:r>
            <a:endParaRPr lang="en-US" altLang="zh-CN" sz="1600" dirty="0" smtClean="0"/>
          </a:p>
          <a:p>
            <a:r>
              <a:rPr lang="en-US" sz="1600" b="1" dirty="0" smtClean="0"/>
              <a:t>base</a:t>
            </a:r>
            <a:r>
              <a:rPr lang="en-US" sz="1600" dirty="0" smtClean="0"/>
              <a:t>();</a:t>
            </a:r>
            <a:r>
              <a:rPr lang="zh-CN" altLang="en-US" sz="1600" dirty="0" smtClean="0"/>
              <a:t>   </a:t>
            </a:r>
            <a:r>
              <a:rPr lang="en-US" sz="1600" dirty="0" smtClean="0">
                <a:solidFill>
                  <a:schemeClr val="accent6"/>
                </a:solidFill>
              </a:rPr>
              <a:t>//</a:t>
            </a:r>
            <a:r>
              <a:rPr lang="zh-CN" altLang="en-US" sz="1600" dirty="0" smtClean="0">
                <a:solidFill>
                  <a:schemeClr val="accent6"/>
                </a:solidFill>
              </a:rPr>
              <a:t>绘制支架</a:t>
            </a:r>
            <a:endParaRPr lang="en-US" altLang="zh-CN" sz="1600" dirty="0" smtClean="0">
              <a:solidFill>
                <a:schemeClr val="accent6"/>
              </a:solidFill>
            </a:endParaRP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下臂变换</a:t>
            </a:r>
            <a:r>
              <a:rPr lang="zh-CN" altLang="en-US" sz="1600" dirty="0" smtClean="0">
                <a:solidFill>
                  <a:schemeClr val="accent6"/>
                </a:solidFill>
              </a:rPr>
              <a:t>矩阵</a:t>
            </a:r>
            <a:endParaRPr lang="en-US" sz="1600" dirty="0" smtClean="0"/>
          </a:p>
          <a:p>
            <a:r>
              <a:rPr lang="en-US" sz="1600" dirty="0" err="1" smtClean="0"/>
              <a:t>model_view</a:t>
            </a:r>
            <a:r>
              <a:rPr lang="en-US" sz="1600" dirty="0" smtClean="0"/>
              <a:t> = </a:t>
            </a:r>
            <a:r>
              <a:rPr lang="en-US" sz="1600" dirty="0" err="1" smtClean="0"/>
              <a:t>model_view</a:t>
            </a:r>
            <a:r>
              <a:rPr lang="zh-CN" altLang="en-US" sz="1600" dirty="0" smtClean="0"/>
              <a:t> * </a:t>
            </a:r>
            <a:r>
              <a:rPr lang="en-US" sz="1600" b="1" dirty="0" smtClean="0"/>
              <a:t>Translate</a:t>
            </a:r>
            <a:r>
              <a:rPr lang="en-US" sz="1600" dirty="0" smtClean="0"/>
              <a:t>(0.0</a:t>
            </a:r>
            <a:r>
              <a:rPr lang="en-US" sz="1600" dirty="0"/>
              <a:t>, BASE_HEIGHT, 0.0) </a:t>
            </a:r>
          </a:p>
          <a:p>
            <a:r>
              <a:rPr lang="en-US" sz="1600" dirty="0"/>
              <a:t>		    </a:t>
            </a:r>
            <a:r>
              <a:rPr lang="zh-CN" altLang="en-US" sz="1600" dirty="0" smtClean="0"/>
              <a:t>     * </a:t>
            </a:r>
            <a:r>
              <a:rPr lang="en-US" sz="1600" b="1" dirty="0" err="1" smtClean="0"/>
              <a:t>RotateZ</a:t>
            </a:r>
            <a:r>
              <a:rPr lang="en-US" sz="1600" dirty="0" smtClean="0"/>
              <a:t>(Theta[</a:t>
            </a:r>
            <a:r>
              <a:rPr lang="en-US" sz="1600" dirty="0" err="1" smtClean="0"/>
              <a:t>LowerArm</a:t>
            </a:r>
            <a:r>
              <a:rPr lang="en-US" sz="1600" dirty="0" smtClean="0"/>
              <a:t>]);</a:t>
            </a:r>
            <a:r>
              <a:rPr lang="zh-CN" altLang="en-US" sz="1600" dirty="0" smtClean="0"/>
              <a:t>  </a:t>
            </a:r>
            <a:endParaRPr lang="en-US" altLang="zh-CN" sz="1600" dirty="0" smtClean="0"/>
          </a:p>
          <a:p>
            <a:r>
              <a:rPr lang="en-US" sz="1600" b="1" dirty="0" err="1" smtClean="0"/>
              <a:t>lower_arm</a:t>
            </a:r>
            <a:r>
              <a:rPr lang="en-US" sz="1600" dirty="0" smtClean="0"/>
              <a:t>();</a:t>
            </a:r>
            <a:r>
              <a:rPr lang="zh-CN" altLang="en-US" sz="1600" dirty="0" smtClean="0"/>
              <a:t>  </a:t>
            </a:r>
            <a:r>
              <a:rPr lang="en-US" sz="1600" dirty="0" smtClean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绘制下臂</a:t>
            </a:r>
            <a:endParaRPr lang="en-US" sz="1600" dirty="0">
              <a:solidFill>
                <a:schemeClr val="accent6"/>
              </a:solidFill>
            </a:endParaRPr>
          </a:p>
          <a:p>
            <a:r>
              <a:rPr lang="en-US" sz="1600" dirty="0"/>
              <a:t> </a:t>
            </a:r>
            <a:endParaRPr lang="en-US" sz="1600" dirty="0" smtClean="0"/>
          </a:p>
          <a:p>
            <a:r>
              <a:rPr lang="en-US" sz="1600" dirty="0">
                <a:solidFill>
                  <a:schemeClr val="accent6"/>
                </a:solidFill>
              </a:rPr>
              <a:t>//</a:t>
            </a:r>
            <a:r>
              <a:rPr lang="zh-CN" altLang="en-US" sz="1600" dirty="0">
                <a:solidFill>
                  <a:schemeClr val="accent6"/>
                </a:solidFill>
              </a:rPr>
              <a:t>上臂变换</a:t>
            </a:r>
            <a:r>
              <a:rPr lang="zh-CN" altLang="en-US" sz="1600" dirty="0" smtClean="0">
                <a:solidFill>
                  <a:schemeClr val="accent6"/>
                </a:solidFill>
              </a:rPr>
              <a:t>矩阵</a:t>
            </a:r>
            <a:endParaRPr lang="en-US" sz="1600" dirty="0" smtClean="0"/>
          </a:p>
          <a:p>
            <a:r>
              <a:rPr lang="en-US" sz="1600" dirty="0" err="1" smtClean="0"/>
              <a:t>model_view</a:t>
            </a:r>
            <a:r>
              <a:rPr lang="en-US" sz="1600" dirty="0" smtClean="0"/>
              <a:t> = </a:t>
            </a:r>
            <a:r>
              <a:rPr lang="en-US" sz="1600" dirty="0" err="1"/>
              <a:t>model_view</a:t>
            </a:r>
            <a:r>
              <a:rPr lang="zh-CN" altLang="en-US" sz="1600" dirty="0"/>
              <a:t> * </a:t>
            </a:r>
            <a:r>
              <a:rPr lang="en-US" sz="1600" b="1" dirty="0" smtClean="0"/>
              <a:t>Translate</a:t>
            </a:r>
            <a:r>
              <a:rPr lang="en-US" sz="1600" dirty="0" smtClean="0"/>
              <a:t>(0.0</a:t>
            </a:r>
            <a:r>
              <a:rPr lang="en-US" sz="1600" dirty="0"/>
              <a:t>, LOWER_ARM_HEIGHT, 0.0) </a:t>
            </a:r>
          </a:p>
          <a:p>
            <a:r>
              <a:rPr lang="en-US" sz="1600" dirty="0"/>
              <a:t>		    </a:t>
            </a:r>
            <a:r>
              <a:rPr lang="zh-CN" altLang="en-US" sz="1600" dirty="0" smtClean="0"/>
              <a:t>      * </a:t>
            </a:r>
            <a:r>
              <a:rPr lang="en-US" sz="1600" b="1" dirty="0" err="1" smtClean="0"/>
              <a:t>RotateZ</a:t>
            </a:r>
            <a:r>
              <a:rPr lang="en-US" sz="1600" dirty="0" smtClean="0"/>
              <a:t>(Theta[</a:t>
            </a:r>
            <a:r>
              <a:rPr lang="en-US" sz="1600" dirty="0" err="1" smtClean="0"/>
              <a:t>UpperArm</a:t>
            </a:r>
            <a:r>
              <a:rPr lang="en-US" sz="1600" dirty="0" smtClean="0"/>
              <a:t>]);</a:t>
            </a:r>
            <a:r>
              <a:rPr lang="zh-CN" altLang="en-US" sz="1600" dirty="0" smtClean="0"/>
              <a:t> </a:t>
            </a:r>
            <a:endParaRPr lang="en-US" altLang="zh-CN" sz="1600" dirty="0" smtClean="0"/>
          </a:p>
          <a:p>
            <a:r>
              <a:rPr lang="en-US" sz="1600" b="1" dirty="0" err="1" smtClean="0"/>
              <a:t>upper_arm</a:t>
            </a:r>
            <a:r>
              <a:rPr lang="en-US" sz="1600" dirty="0" smtClean="0"/>
              <a:t>();</a:t>
            </a:r>
            <a:r>
              <a:rPr lang="zh-CN" altLang="en-US" sz="1600" dirty="0" smtClean="0"/>
              <a:t>  </a:t>
            </a:r>
            <a:r>
              <a:rPr lang="en-US" sz="1600" dirty="0" smtClean="0">
                <a:solidFill>
                  <a:schemeClr val="accent6"/>
                </a:solidFill>
              </a:rPr>
              <a:t>//</a:t>
            </a:r>
            <a:r>
              <a:rPr lang="zh-CN" altLang="en-US" sz="1600" dirty="0" smtClean="0">
                <a:solidFill>
                  <a:schemeClr val="accent6"/>
                </a:solidFill>
              </a:rPr>
              <a:t>绘制上臂</a:t>
            </a:r>
            <a:endParaRPr lang="en-US" altLang="zh-CN" sz="1600" dirty="0">
              <a:solidFill>
                <a:schemeClr val="accent6"/>
              </a:solidFill>
            </a:endParaRPr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549" y="2193042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机器人的树结构</a:t>
            </a:r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但是对于具有更复杂的结构的模型，通过树结构的遍历来确定部件的绘制顺序会使更加便捷：</a:t>
            </a:r>
            <a:endParaRPr lang="en-US" altLang="zh-CN" sz="2400" dirty="0" smtClean="0"/>
          </a:p>
          <a:p>
            <a:pPr lvl="1"/>
            <a:r>
              <a:rPr lang="zh-CN" altLang="en-US" sz="1600" b="1" dirty="0" smtClean="0">
                <a:solidFill>
                  <a:srgbClr val="0000FF"/>
                </a:solidFill>
              </a:rPr>
              <a:t>先序遍历</a:t>
            </a:r>
            <a:r>
              <a:rPr lang="zh-CN" altLang="en-US" sz="1600" dirty="0" smtClean="0"/>
              <a:t>：沿着树左子树开始访问节点，一直遍历到树叶子节点，然后回溯到树上一层访问第一个右子树，照此一直递归下去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56" y="2982499"/>
            <a:ext cx="7469462" cy="369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5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带有矩阵的树结构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每一个节点需要定义一个相对于父节点的变换矩阵：</a:t>
                </a:r>
                <a:endParaRPr lang="en-US" altLang="zh-CN" sz="2400" dirty="0" smtClean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1600" dirty="0" smtClean="0"/>
                  <a:t>：</a:t>
                </a:r>
                <a:r>
                  <a:rPr lang="zh-CN" altLang="en-US" sz="1600" dirty="0"/>
                  <a:t>定位和定向</a:t>
                </a:r>
                <a:r>
                  <a:rPr lang="zh-CN" altLang="en-US" sz="1600" dirty="0" smtClean="0"/>
                  <a:t>整个模型，</a:t>
                </a:r>
                <a:r>
                  <a:rPr lang="zh-CN" altLang="en-US" sz="1600" dirty="0"/>
                  <a:t>它作用在根节点躯干上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：相对</a:t>
                </a:r>
                <a:r>
                  <a:rPr lang="zh-CN" altLang="en-US" sz="1600" dirty="0"/>
                  <a:t>于躯干定位头部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rua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lul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rul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：相对</a:t>
                </a:r>
                <a:r>
                  <a:rPr lang="zh-CN" altLang="en-US" sz="1600" dirty="0"/>
                  <a:t>于躯干</a:t>
                </a:r>
                <a:r>
                  <a:rPr lang="zh-CN" altLang="en-US" sz="1600" dirty="0" smtClean="0"/>
                  <a:t>定位</a:t>
                </a:r>
                <a:r>
                  <a:rPr lang="zh-CN" altLang="en-US" sz="1600" dirty="0"/>
                  <a:t>四肢的上半部分</a:t>
                </a:r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lla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rla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lll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rll</m:t>
                        </m:r>
                      </m:sub>
                    </m:sSub>
                  </m:oMath>
                </a14:m>
                <a:r>
                  <a:rPr lang="zh-CN" altLang="en-US" sz="1600" dirty="0" smtClean="0"/>
                  <a:t>：相对</a:t>
                </a:r>
                <a:r>
                  <a:rPr lang="zh-CN" altLang="en-US" sz="1600" dirty="0"/>
                  <a:t>于四肢的上半部分定位各自的下半部分</a:t>
                </a:r>
                <a:endParaRPr lang="en-US" altLang="zh-CN" sz="1600" dirty="0"/>
              </a:p>
              <a:p>
                <a:pPr lvl="1"/>
                <a:endParaRPr lang="en-US" sz="16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1793" y="3030279"/>
            <a:ext cx="7040095" cy="3645158"/>
            <a:chOff x="891793" y="3030279"/>
            <a:chExt cx="7040095" cy="364515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5055783" y="3343367"/>
                  <a:ext cx="2404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783" y="3343367"/>
                  <a:ext cx="240450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2500" r="-20000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602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基于堆栈的遍历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5010533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把模型视图矩阵设为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2400" dirty="0"/>
                  <a:t>，并绘制躯干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设置</a:t>
                </a:r>
                <a:r>
                  <a:rPr lang="zh-CN" altLang="en-US" sz="2400" dirty="0"/>
                  <a:t>模型视图矩阵</a:t>
                </a:r>
                <a:r>
                  <a:rPr lang="zh-CN" altLang="en-US" sz="2400" dirty="0" smtClean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，</a:t>
                </a:r>
                <a:r>
                  <a:rPr lang="zh-CN" altLang="en-US" sz="2400" dirty="0"/>
                  <a:t>并绘制头部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对于左臂，先应用矩阵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:r>
                  <a:rPr lang="zh-CN" altLang="en-US" sz="2400" dirty="0" smtClean="0"/>
                  <a:t>绘制左上臂，再</a:t>
                </a:r>
                <a:r>
                  <a:rPr lang="zh-CN" altLang="en-US" sz="2400" dirty="0"/>
                  <a:t>应用矩阵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charset="0"/>
                          </a:rPr>
                          <m:t>lla</m:t>
                        </m:r>
                      </m:sub>
                    </m:sSub>
                  </m:oMath>
                </a14:m>
                <a:r>
                  <a:rPr lang="zh-CN" altLang="en-US" sz="2400" dirty="0"/>
                  <a:t>，绘制</a:t>
                </a:r>
                <a:r>
                  <a:rPr lang="zh-CN" altLang="en-US" sz="2400" dirty="0" smtClean="0"/>
                  <a:t>左下臂</a:t>
                </a: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再依次对右臂、左腿和右腿进行类似的操作</a:t>
                </a: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在</a:t>
                </a:r>
                <a:r>
                  <a:rPr lang="zh-CN" altLang="en-US" sz="2400" dirty="0"/>
                  <a:t>实际应用时，没有必要自己重新</a:t>
                </a:r>
                <a:r>
                  <a:rPr lang="zh-CN" altLang="en-US" sz="2400" dirty="0" smtClean="0"/>
                  <a:t>计算如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lua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的矩阵或者应用</a:t>
                </a:r>
                <a:r>
                  <a:rPr lang="zh-CN" altLang="en-US" sz="2400" dirty="0"/>
                  <a:t>逆</a:t>
                </a:r>
                <a:r>
                  <a:rPr lang="zh-CN" altLang="en-US" sz="2400" dirty="0" smtClean="0"/>
                  <a:t>矩阵恢复上一级变换，</a:t>
                </a:r>
                <a:r>
                  <a:rPr lang="zh-CN" altLang="en-US" sz="2400" dirty="0"/>
                  <a:t>可以应用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矩阵堆栈</a:t>
                </a:r>
                <a:r>
                  <a:rPr lang="zh-CN" altLang="en-US" sz="2400" dirty="0"/>
                  <a:t>存贮矩阵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charset="0"/>
                      </a:rPr>
                      <m:t>M</m:t>
                    </m:r>
                  </m:oMath>
                </a14:m>
                <a:r>
                  <a:rPr lang="zh-CN" altLang="en-US" sz="2400" dirty="0"/>
                  <a:t>以及其它</a:t>
                </a:r>
                <a:r>
                  <a:rPr lang="zh-CN" altLang="en-US" sz="2400" dirty="0" smtClean="0"/>
                  <a:t>在遍历</a:t>
                </a:r>
                <a:r>
                  <a:rPr lang="zh-CN" altLang="en-US" sz="2400" dirty="0"/>
                  <a:t>树结构时遇到的矩阵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5010533"/>
              </a:xfrm>
              <a:blipFill rotWithShape="0">
                <a:blip r:embed="rId2"/>
                <a:stretch>
                  <a:fillRect l="-309" t="-1703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6417710" y="671352"/>
            <a:ext cx="2493295" cy="1290956"/>
            <a:chOff x="891793" y="3030279"/>
            <a:chExt cx="7040095" cy="3645158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 rotWithShape="1">
            <a:blip r:embed="rId3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7273" r="-27273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524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遍历代码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6"/>
              <p:cNvSpPr/>
              <p:nvPr/>
            </p:nvSpPr>
            <p:spPr>
              <a:xfrm>
                <a:off x="616689" y="1130721"/>
                <a:ext cx="4950417" cy="5509200"/>
              </a:xfrm>
              <a:prstGeom prst="rect">
                <a:avLst/>
              </a:prstGeom>
              <a:solidFill>
                <a:srgbClr val="BDD7EE">
                  <a:alpha val="52941"/>
                </a:srgb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i="1" dirty="0" err="1"/>
                  <a:t>RotateY</a:t>
                </a:r>
                <a:r>
                  <a:rPr lang="en-US" sz="1600" dirty="0"/>
                  <a:t>( theta[Torso] </a:t>
                </a:r>
                <a:r>
                  <a:rPr lang="en-US" sz="1600" dirty="0" smtClean="0"/>
                  <a:t>);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torso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躯干绘制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 smtClean="0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</a:t>
                </a:r>
                <a:r>
                  <a:rPr lang="en-US" sz="1600" dirty="0" smtClean="0"/>
                  <a:t>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 smtClean="0"/>
                  <a:t>model_view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*= </a:t>
                </a:r>
                <a:r>
                  <a:rPr lang="zh-CN" altLang="en-US" sz="1600" dirty="0"/>
                  <a:t>头结点局部变换矩阵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smtClean="0"/>
                  <a:t>head();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头部绘制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 smtClean="0">
                    <a:solidFill>
                      <a:srgbClr val="FF0000"/>
                    </a:solidFill>
                  </a:rPr>
                  <a:t>()</a:t>
                </a:r>
                <a:r>
                  <a:rPr lang="en-US" sz="1600" dirty="0" smtClean="0"/>
                  <a:t>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 smtClean="0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 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*= </a:t>
                </a:r>
                <a:r>
                  <a:rPr lang="zh-CN" altLang="en-US" sz="1600" dirty="0"/>
                  <a:t>左上臂局部变换矩阵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 smtClean="0"/>
                  <a:t>left_upper_arm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左上臂绘制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 smtClean="0"/>
                  <a:t>model_view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*= </a:t>
                </a:r>
                <a:r>
                  <a:rPr lang="zh-CN" altLang="en-US" sz="1600" dirty="0"/>
                  <a:t>左下臂局部变换矩阵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 smtClean="0"/>
                  <a:t>left_lower_arm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左下臂绘制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/>
                  <a:t>model_view</a:t>
                </a:r>
                <a:r>
                  <a:rPr lang="en-US" sz="1600" dirty="0"/>
                  <a:t> 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/>
                  <a:t> </a:t>
                </a:r>
              </a:p>
              <a:p>
                <a:r>
                  <a:rPr lang="en-US" sz="1600" dirty="0" err="1" smtClean="0">
                    <a:solidFill>
                      <a:srgbClr val="FF0000"/>
                    </a:solidFill>
                  </a:rPr>
                  <a:t>mvstack.push</a:t>
                </a:r>
                <a:r>
                  <a:rPr lang="en-US" sz="1600" dirty="0"/>
                  <a:t>( </a:t>
                </a:r>
                <a:r>
                  <a:rPr lang="en-US" sz="1600" dirty="0" err="1"/>
                  <a:t>model_view</a:t>
                </a:r>
                <a:r>
                  <a:rPr lang="en-US" sz="1600" dirty="0"/>
                  <a:t> ); </a:t>
                </a:r>
                <a:r>
                  <a:rPr lang="zh-CN" altLang="en-US" sz="1600" dirty="0" smtClean="0"/>
                  <a:t>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保存躯干变换矩阵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 smtClean="0"/>
                  <a:t>model_view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*= </a:t>
                </a:r>
                <a:r>
                  <a:rPr lang="zh-CN" altLang="en-US" sz="1600" dirty="0"/>
                  <a:t>右上臂局部变换矩阵</a:t>
                </a:r>
                <a:r>
                  <a:rPr lang="en-US" sz="1600" dirty="0"/>
                  <a:t>;</a:t>
                </a:r>
              </a:p>
              <a:p>
                <a:r>
                  <a:rPr lang="en-US" sz="1600" dirty="0" err="1" smtClean="0"/>
                  <a:t>right_upper_arm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右上臂绘制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 smtClean="0"/>
                  <a:t>model_view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*= </a:t>
                </a:r>
                <a:r>
                  <a:rPr lang="zh-CN" altLang="en-US" sz="1600" dirty="0"/>
                  <a:t>右下臂局部变换矩阵</a:t>
                </a:r>
                <a:endParaRPr lang="en-US" sz="1600" dirty="0"/>
              </a:p>
              <a:p>
                <a:r>
                  <a:rPr lang="en-US" sz="1600" dirty="0" err="1" smtClean="0"/>
                  <a:t>right_lower_arm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右下臂绘制</a:t>
                </a:r>
                <a:endParaRPr lang="en-US" sz="1600" dirty="0">
                  <a:solidFill>
                    <a:schemeClr val="accent6"/>
                  </a:solidFill>
                </a:endParaRPr>
              </a:p>
              <a:p>
                <a:r>
                  <a:rPr lang="en-US" sz="1600" dirty="0" err="1" smtClean="0"/>
                  <a:t>model_view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= </a:t>
                </a:r>
                <a:r>
                  <a:rPr lang="en-US" sz="1600" dirty="0" err="1">
                    <a:solidFill>
                      <a:srgbClr val="FF0000"/>
                    </a:solidFill>
                  </a:rPr>
                  <a:t>mvstack.pop</a:t>
                </a:r>
                <a:r>
                  <a:rPr lang="en-US" sz="1600" dirty="0" smtClean="0"/>
                  <a:t>();</a:t>
                </a:r>
                <a:r>
                  <a:rPr lang="zh-CN" altLang="en-US" sz="1600" dirty="0" smtClean="0"/>
                  <a:t>  </a:t>
                </a:r>
                <a:r>
                  <a:rPr lang="en-US" sz="1600" dirty="0" smtClean="0">
                    <a:solidFill>
                      <a:schemeClr val="accent6"/>
                    </a:solidFill>
                  </a:rPr>
                  <a:t>//</a:t>
                </a:r>
                <a:r>
                  <a:rPr lang="zh-CN" altLang="en-US" sz="1600" dirty="0">
                    <a:solidFill>
                      <a:schemeClr val="accent6"/>
                    </a:solidFill>
                  </a:rPr>
                  <a:t>恢复躯干变换</a:t>
                </a:r>
                <a:r>
                  <a:rPr lang="zh-CN" altLang="en-US" sz="1600" dirty="0" smtClean="0">
                    <a:solidFill>
                      <a:schemeClr val="accent6"/>
                    </a:solidFill>
                  </a:rPr>
                  <a:t>矩阵</a:t>
                </a:r>
                <a:endParaRPr lang="en-US" altLang="zh-CN" sz="1600" dirty="0">
                  <a:solidFill>
                    <a:schemeClr val="accent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⋮</m:t>
                      </m:r>
                    </m:oMath>
                  </m:oMathPara>
                </a14:m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89" y="1130721"/>
                <a:ext cx="4950417" cy="5509200"/>
              </a:xfrm>
              <a:prstGeom prst="rect">
                <a:avLst/>
              </a:prstGeom>
              <a:blipFill rotWithShape="0">
                <a:blip r:embed="rId2"/>
                <a:stretch>
                  <a:fillRect l="-616" t="-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3"/>
          <p:cNvPicPr>
            <a:picLocks noChangeAspect="1"/>
          </p:cNvPicPr>
          <p:nvPr/>
        </p:nvPicPr>
        <p:blipFill rotWithShape="1">
          <a:blip r:embed="rId3"/>
          <a:srcRect r="75391"/>
          <a:stretch/>
        </p:blipFill>
        <p:spPr>
          <a:xfrm>
            <a:off x="6453621" y="1258927"/>
            <a:ext cx="1606179" cy="322691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567106" y="4614530"/>
            <a:ext cx="3379210" cy="1749657"/>
            <a:chOff x="891793" y="3030279"/>
            <a:chExt cx="7040095" cy="3645158"/>
          </a:xfrm>
        </p:grpSpPr>
        <p:pic>
          <p:nvPicPr>
            <p:cNvPr id="10" name="图片 3"/>
            <p:cNvPicPr>
              <a:picLocks noChangeAspect="1"/>
            </p:cNvPicPr>
            <p:nvPr/>
          </p:nvPicPr>
          <p:blipFill rotWithShape="1">
            <a:blip r:embed="rId4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3226" r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582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部件绘制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示例代码中没有对状态进行修改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例如没有改变颜色，可以在各个部件绘制过程中分别赋色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对每一个部件，同样需要一个从</a:t>
            </a:r>
            <a:r>
              <a:rPr lang="zh-CN" altLang="en-US" sz="2400" dirty="0">
                <a:solidFill>
                  <a:srgbClr val="0000FF"/>
                </a:solidFill>
              </a:rPr>
              <a:t>图符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变换：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en-US" altLang="zh-CN" sz="1600" dirty="0" smtClean="0">
                <a:solidFill>
                  <a:srgbClr val="FF0000"/>
                </a:solidFill>
              </a:rPr>
              <a:t>push</a:t>
            </a:r>
            <a:r>
              <a:rPr lang="zh-CN" altLang="en-US" sz="1600" dirty="0" smtClean="0"/>
              <a:t>和</a:t>
            </a:r>
            <a:r>
              <a:rPr lang="en-US" altLang="zh-CN" sz="1600" dirty="0" smtClean="0">
                <a:solidFill>
                  <a:srgbClr val="FF0000"/>
                </a:solidFill>
              </a:rPr>
              <a:t>pop</a:t>
            </a:r>
            <a:r>
              <a:rPr lang="zh-CN" altLang="en-US" sz="1600" dirty="0" smtClean="0"/>
              <a:t>操作起到代码隔离作用，防止误操作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8056808" y="816936"/>
            <a:ext cx="917084" cy="1946918"/>
          </a:xfrm>
          <a:prstGeom prst="rect">
            <a:avLst/>
          </a:prstGeom>
          <a:ln>
            <a:noFill/>
          </a:ln>
        </p:spPr>
      </p:pic>
      <p:pic>
        <p:nvPicPr>
          <p:cNvPr id="8" name="图片 5"/>
          <p:cNvPicPr>
            <a:picLocks noChangeAspect="1"/>
          </p:cNvPicPr>
          <p:nvPr/>
        </p:nvPicPr>
        <p:blipFill rotWithShape="1">
          <a:blip r:embed="rId3"/>
          <a:srcRect r="48983"/>
          <a:stretch/>
        </p:blipFill>
        <p:spPr>
          <a:xfrm>
            <a:off x="7424976" y="2971743"/>
            <a:ext cx="1676107" cy="139394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5400000">
            <a:off x="8061714" y="4509778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7763813" y="4897144"/>
            <a:ext cx="1199106" cy="1542049"/>
          </a:xfrm>
          <a:prstGeom prst="rect">
            <a:avLst/>
          </a:prstGeom>
        </p:spPr>
      </p:pic>
      <p:sp>
        <p:nvSpPr>
          <p:cNvPr id="11" name="矩形 6"/>
          <p:cNvSpPr/>
          <p:nvPr/>
        </p:nvSpPr>
        <p:spPr>
          <a:xfrm>
            <a:off x="1013410" y="2899763"/>
            <a:ext cx="6170122" cy="3539430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Void </a:t>
            </a:r>
            <a:r>
              <a:rPr lang="en-US" altLang="zh-CN" sz="1400" b="1" dirty="0" err="1" smtClean="0"/>
              <a:t>upper_arm</a:t>
            </a:r>
            <a:r>
              <a:rPr lang="en-US" sz="1400" dirty="0" smtClean="0"/>
              <a:t>()</a:t>
            </a:r>
            <a:endParaRPr lang="en-US" sz="1400" dirty="0"/>
          </a:p>
          <a:p>
            <a:r>
              <a:rPr lang="en-US" sz="1400" dirty="0" smtClean="0"/>
              <a:t>{</a:t>
            </a:r>
          </a:p>
          <a:p>
            <a:r>
              <a:rPr lang="zh-CN" altLang="en-US" sz="1400" dirty="0" smtClean="0">
                <a:solidFill>
                  <a:srgbClr val="FF0000"/>
                </a:solidFill>
              </a:rPr>
              <a:t>            </a:t>
            </a:r>
            <a:r>
              <a:rPr lang="en-US" sz="1400" dirty="0" err="1" smtClean="0">
                <a:solidFill>
                  <a:srgbClr val="FF0000"/>
                </a:solidFill>
              </a:rPr>
              <a:t>mvstack.push</a:t>
            </a:r>
            <a:r>
              <a:rPr lang="en-US" sz="1400" dirty="0">
                <a:solidFill>
                  <a:srgbClr val="FF0000"/>
                </a:solidFill>
              </a:rPr>
              <a:t>( </a:t>
            </a:r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); </a:t>
            </a:r>
            <a:r>
              <a:rPr lang="zh-CN" altLang="en-US"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 smtClean="0">
                <a:solidFill>
                  <a:srgbClr val="FF0000"/>
                </a:solidFill>
              </a:rPr>
              <a:t>保存当前模</a:t>
            </a:r>
            <a:r>
              <a:rPr lang="en-US" altLang="zh-CN" sz="1400" dirty="0" smtClean="0">
                <a:solidFill>
                  <a:srgbClr val="FF0000"/>
                </a:solidFill>
              </a:rPr>
              <a:t>-</a:t>
            </a:r>
            <a:r>
              <a:rPr lang="zh-CN" altLang="en-US" sz="1400" dirty="0" smtClean="0">
                <a:solidFill>
                  <a:srgbClr val="FF0000"/>
                </a:solidFill>
              </a:rPr>
              <a:t>视变换</a:t>
            </a:r>
            <a:r>
              <a:rPr lang="zh-CN" altLang="en-US" sz="1400" dirty="0">
                <a:solidFill>
                  <a:srgbClr val="FF0000"/>
                </a:solidFill>
              </a:rPr>
              <a:t>矩阵</a:t>
            </a:r>
            <a:endParaRPr lang="en-US" sz="1400" dirty="0">
              <a:solidFill>
                <a:srgbClr val="FF0000"/>
              </a:solidFill>
            </a:endParaRPr>
          </a:p>
          <a:p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sz="1400" i="1" dirty="0" smtClean="0">
                <a:solidFill>
                  <a:srgbClr val="0000FF"/>
                </a:solidFill>
              </a:rPr>
              <a:t>mat4</a:t>
            </a:r>
            <a:r>
              <a:rPr lang="en-US" sz="1400" dirty="0" smtClean="0">
                <a:solidFill>
                  <a:srgbClr val="0000FF"/>
                </a:solidFill>
              </a:rPr>
              <a:t> </a:t>
            </a:r>
            <a:r>
              <a:rPr lang="en-US" sz="1400" dirty="0"/>
              <a:t>instance = </a:t>
            </a:r>
            <a:r>
              <a:rPr lang="en-US" sz="1400" dirty="0" smtClean="0"/>
              <a:t> </a:t>
            </a:r>
            <a:r>
              <a:rPr lang="en-US" sz="1400" b="1" dirty="0"/>
              <a:t>Translate</a:t>
            </a:r>
            <a:r>
              <a:rPr lang="en-US" sz="1400" dirty="0"/>
              <a:t>( 0.0, 0.5 * </a:t>
            </a:r>
            <a:r>
              <a:rPr lang="en-US" altLang="zh-CN" sz="1400" dirty="0" smtClean="0"/>
              <a:t>UPPER</a:t>
            </a:r>
            <a:r>
              <a:rPr lang="en-US" sz="1400" dirty="0" smtClean="0"/>
              <a:t>_</a:t>
            </a:r>
            <a:r>
              <a:rPr lang="en-US" altLang="zh-CN" sz="1400" dirty="0" smtClean="0"/>
              <a:t>ARM_</a:t>
            </a:r>
            <a:r>
              <a:rPr lang="en-US" sz="1400" dirty="0" smtClean="0"/>
              <a:t>HEIGHT</a:t>
            </a:r>
            <a:r>
              <a:rPr lang="en-US" sz="1400" dirty="0"/>
              <a:t>, 0.0 ) </a:t>
            </a:r>
            <a:endParaRPr lang="en-US" sz="1400" dirty="0" smtClean="0"/>
          </a:p>
          <a:p>
            <a:pPr lvl="1"/>
            <a:r>
              <a:rPr lang="zh-CN" altLang="en-US" sz="1400" dirty="0"/>
              <a:t> </a:t>
            </a:r>
            <a:r>
              <a:rPr lang="zh-CN" altLang="en-US" sz="1400" dirty="0" smtClean="0"/>
              <a:t>                            </a:t>
            </a:r>
            <a:r>
              <a:rPr lang="en-US" sz="1400" dirty="0" smtClean="0"/>
              <a:t>*</a:t>
            </a:r>
            <a:r>
              <a:rPr lang="zh-CN" altLang="en-US" sz="1400" dirty="0" smtClean="0"/>
              <a:t> </a:t>
            </a:r>
            <a:r>
              <a:rPr lang="en-US" sz="1400" b="1" dirty="0" smtClean="0"/>
              <a:t>Scale</a:t>
            </a:r>
            <a:r>
              <a:rPr lang="en-US" sz="1400" dirty="0" smtClean="0"/>
              <a:t>(</a:t>
            </a:r>
            <a:r>
              <a:rPr lang="en-US" altLang="zh-CN" sz="1400" dirty="0" smtClean="0"/>
              <a:t>UA_</a:t>
            </a:r>
            <a:r>
              <a:rPr lang="en-US" sz="1400" dirty="0" smtClean="0"/>
              <a:t>WIDTH,</a:t>
            </a:r>
            <a:r>
              <a:rPr lang="zh-CN" altLang="en-US" sz="1400" dirty="0" smtClean="0"/>
              <a:t> </a:t>
            </a:r>
            <a:r>
              <a:rPr lang="en-US" altLang="zh-CN" sz="1400" dirty="0" smtClean="0"/>
              <a:t>UA_</a:t>
            </a:r>
            <a:r>
              <a:rPr lang="en-US" sz="1400" dirty="0" smtClean="0"/>
              <a:t>HEIGHT,</a:t>
            </a:r>
            <a:r>
              <a:rPr lang="zh-CN" altLang="en-US" sz="1400" dirty="0" smtClean="0"/>
              <a:t> </a:t>
            </a:r>
            <a:r>
              <a:rPr lang="en-US" altLang="zh-CN" sz="1400" dirty="0" smtClean="0"/>
              <a:t>UA_</a:t>
            </a:r>
            <a:r>
              <a:rPr lang="en-US" sz="1400" dirty="0" smtClean="0"/>
              <a:t>WIDTH </a:t>
            </a:r>
            <a:r>
              <a:rPr lang="en-US" sz="1400" dirty="0"/>
              <a:t>) </a:t>
            </a:r>
            <a:r>
              <a:rPr lang="en-US" sz="1400" dirty="0" smtClean="0"/>
              <a:t>;</a:t>
            </a:r>
          </a:p>
          <a:p>
            <a:pPr lvl="1"/>
            <a:r>
              <a:rPr lang="zh-CN" altLang="en-US" sz="1400" dirty="0">
                <a:solidFill>
                  <a:schemeClr val="accent6"/>
                </a:solidFill>
              </a:rPr>
              <a:t> </a:t>
            </a:r>
            <a:r>
              <a:rPr lang="zh-CN" altLang="en-US" sz="1400" dirty="0" smtClean="0">
                <a:solidFill>
                  <a:schemeClr val="accent6"/>
                </a:solidFill>
              </a:rPr>
              <a:t> </a:t>
            </a:r>
            <a:r>
              <a:rPr lang="en-US" sz="1400" dirty="0" smtClean="0">
                <a:solidFill>
                  <a:schemeClr val="accent6"/>
                </a:solidFill>
              </a:rPr>
              <a:t>//</a:t>
            </a:r>
            <a:r>
              <a:rPr lang="zh-CN" altLang="en-US" sz="1400" dirty="0">
                <a:solidFill>
                  <a:schemeClr val="accent6"/>
                </a:solidFill>
              </a:rPr>
              <a:t>按长宽高缩放正方体，并且</a:t>
            </a:r>
            <a:r>
              <a:rPr lang="zh-CN" altLang="en-US" sz="1400" dirty="0" smtClean="0">
                <a:solidFill>
                  <a:schemeClr val="accent6"/>
                </a:solidFill>
              </a:rPr>
              <a:t>平移使得底面在</a:t>
            </a:r>
            <a:r>
              <a:rPr lang="en-US" altLang="zh-CN" sz="1400" dirty="0" smtClean="0">
                <a:solidFill>
                  <a:schemeClr val="accent6"/>
                </a:solidFill>
              </a:rPr>
              <a:t>y=0</a:t>
            </a:r>
            <a:r>
              <a:rPr lang="zh-CN" altLang="en-US" sz="1400" dirty="0" smtClean="0">
                <a:solidFill>
                  <a:schemeClr val="accent6"/>
                </a:solidFill>
              </a:rPr>
              <a:t>上</a:t>
            </a:r>
            <a:endParaRPr lang="en-US" altLang="zh-CN" sz="1400" dirty="0" smtClean="0">
              <a:solidFill>
                <a:schemeClr val="accent6"/>
              </a:solidFill>
            </a:endParaRPr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sz="1400" b="1" dirty="0" smtClean="0"/>
              <a:t>glUniformMatrix4fv</a:t>
            </a:r>
            <a:r>
              <a:rPr lang="en-US" sz="1400" dirty="0" smtClean="0"/>
              <a:t>(</a:t>
            </a:r>
            <a:r>
              <a:rPr lang="en-US" sz="1400" dirty="0" err="1" smtClean="0"/>
              <a:t>ModelView</a:t>
            </a:r>
            <a:r>
              <a:rPr lang="en-US" sz="1400" dirty="0"/>
              <a:t>, 1, GL_TRUE, </a:t>
            </a:r>
            <a:r>
              <a:rPr lang="en-US" sz="1400" dirty="0" err="1">
                <a:solidFill>
                  <a:srgbClr val="FF0000"/>
                </a:solidFill>
              </a:rPr>
              <a:t>model_view</a:t>
            </a:r>
            <a:r>
              <a:rPr lang="en-US" sz="1400" dirty="0">
                <a:solidFill>
                  <a:srgbClr val="FF0000"/>
                </a:solidFill>
              </a:rPr>
              <a:t> * instance </a:t>
            </a:r>
            <a:r>
              <a:rPr lang="en-US" sz="1400" dirty="0" smtClean="0"/>
              <a:t>);</a:t>
            </a:r>
            <a:r>
              <a:rPr lang="zh-CN" altLang="en-US" sz="1400" dirty="0" smtClean="0"/>
              <a:t> </a:t>
            </a:r>
            <a:endParaRPr lang="en-US" altLang="zh-CN" sz="1400" dirty="0" smtClean="0"/>
          </a:p>
          <a:p>
            <a:pPr lvl="1"/>
            <a:r>
              <a:rPr lang="zh-CN" altLang="en-US" sz="1400" dirty="0">
                <a:solidFill>
                  <a:schemeClr val="accent6"/>
                </a:solidFill>
              </a:rPr>
              <a:t> </a:t>
            </a:r>
            <a:r>
              <a:rPr lang="en-US" sz="1400" dirty="0" smtClean="0">
                <a:solidFill>
                  <a:schemeClr val="accent6"/>
                </a:solidFill>
              </a:rPr>
              <a:t>//</a:t>
            </a:r>
            <a:r>
              <a:rPr lang="zh-CN" altLang="en-US" sz="1400" dirty="0" smtClean="0">
                <a:solidFill>
                  <a:schemeClr val="accent6"/>
                </a:solidFill>
              </a:rPr>
              <a:t>将完整的模</a:t>
            </a:r>
            <a:r>
              <a:rPr lang="en-US" altLang="zh-CN" sz="1400" dirty="0" smtClean="0">
                <a:solidFill>
                  <a:schemeClr val="accent6"/>
                </a:solidFill>
              </a:rPr>
              <a:t>-</a:t>
            </a:r>
            <a:r>
              <a:rPr lang="zh-CN" altLang="en-US" sz="1400" dirty="0" smtClean="0">
                <a:solidFill>
                  <a:schemeClr val="accent6"/>
                </a:solidFill>
              </a:rPr>
              <a:t>视矩阵</a:t>
            </a:r>
            <a:r>
              <a:rPr lang="zh-CN" altLang="en-US" sz="1400" dirty="0">
                <a:solidFill>
                  <a:schemeClr val="accent6"/>
                </a:solidFill>
              </a:rPr>
              <a:t>传给</a:t>
            </a:r>
            <a:r>
              <a:rPr lang="en-US" sz="1400" dirty="0" err="1">
                <a:solidFill>
                  <a:schemeClr val="accent6"/>
                </a:solidFill>
              </a:rPr>
              <a:t>shader</a:t>
            </a:r>
            <a:endParaRPr lang="en-US" sz="1400" dirty="0">
              <a:solidFill>
                <a:schemeClr val="accent6"/>
              </a:solidFill>
            </a:endParaRPr>
          </a:p>
          <a:p>
            <a:pPr lvl="1"/>
            <a:endParaRPr lang="en-US" sz="1400" i="1" dirty="0" smtClean="0"/>
          </a:p>
          <a:p>
            <a:pPr lvl="1"/>
            <a:r>
              <a:rPr lang="zh-CN" altLang="en-US" sz="1400" dirty="0" smtClean="0">
                <a:solidFill>
                  <a:srgbClr val="FF0000"/>
                </a:solidFill>
              </a:rPr>
              <a:t> </a:t>
            </a:r>
            <a:r>
              <a:rPr lang="en-US" altLang="zh-CN" sz="1400" dirty="0" err="1" smtClean="0">
                <a:solidFill>
                  <a:srgbClr val="FF0000"/>
                </a:solidFill>
              </a:rPr>
              <a:t>colorCube</a:t>
            </a:r>
            <a:r>
              <a:rPr lang="en-US" altLang="zh-CN" sz="1400" dirty="0" smtClean="0">
                <a:solidFill>
                  <a:srgbClr val="FF0000"/>
                </a:solidFill>
              </a:rPr>
              <a:t>();</a:t>
            </a:r>
            <a:r>
              <a:rPr lang="zh-CN" altLang="en-US" sz="1400" dirty="0" smtClean="0">
                <a:solidFill>
                  <a:srgbClr val="FF0000"/>
                </a:solidFill>
              </a:rPr>
              <a:t>  </a:t>
            </a:r>
            <a:r>
              <a:rPr lang="en-US" altLang="zh-CN" sz="1400" dirty="0" smtClean="0">
                <a:solidFill>
                  <a:srgbClr val="FF0000"/>
                </a:solidFill>
              </a:rPr>
              <a:t>//</a:t>
            </a:r>
            <a:r>
              <a:rPr lang="zh-CN" altLang="en-US" sz="1400" dirty="0" smtClean="0">
                <a:solidFill>
                  <a:srgbClr val="FF0000"/>
                </a:solidFill>
              </a:rPr>
              <a:t> 给部件赋色</a:t>
            </a:r>
            <a:endParaRPr lang="en-US" sz="14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1400" i="1" dirty="0" smtClean="0"/>
              <a:t> </a:t>
            </a:r>
            <a:r>
              <a:rPr lang="en-US" sz="1400" b="1" dirty="0" err="1" smtClean="0"/>
              <a:t>glDrawArrays</a:t>
            </a:r>
            <a:r>
              <a:rPr lang="en-US" sz="1400" dirty="0"/>
              <a:t>( GL_TRIANGLES, 0, </a:t>
            </a:r>
            <a:r>
              <a:rPr lang="en-US" sz="1400" dirty="0" err="1"/>
              <a:t>NumVertices</a:t>
            </a:r>
            <a:r>
              <a:rPr lang="en-US" sz="1400" dirty="0"/>
              <a:t> </a:t>
            </a:r>
            <a:r>
              <a:rPr lang="en-US" sz="1400" dirty="0" smtClean="0"/>
              <a:t>);</a:t>
            </a:r>
            <a:r>
              <a:rPr lang="zh-CN" altLang="en-US" sz="1400" dirty="0" smtClean="0"/>
              <a:t>  </a:t>
            </a:r>
            <a:r>
              <a:rPr lang="en-US" sz="1400" dirty="0" smtClean="0">
                <a:solidFill>
                  <a:schemeClr val="accent6"/>
                </a:solidFill>
              </a:rPr>
              <a:t>//</a:t>
            </a:r>
            <a:r>
              <a:rPr lang="zh-CN" altLang="en-US" sz="1400" dirty="0" smtClean="0">
                <a:solidFill>
                  <a:schemeClr val="accent6"/>
                </a:solidFill>
              </a:rPr>
              <a:t>绘制相应的三角面片</a:t>
            </a:r>
            <a:endParaRPr lang="en-US" altLang="zh-CN" sz="1400" dirty="0" smtClean="0">
              <a:solidFill>
                <a:schemeClr val="accent6"/>
              </a:solidFill>
            </a:endParaRPr>
          </a:p>
          <a:p>
            <a:pPr lvl="1"/>
            <a:endParaRPr lang="en-US" sz="1400" dirty="0" smtClean="0"/>
          </a:p>
          <a:p>
            <a:pPr lvl="1"/>
            <a:r>
              <a:rPr lang="en-US" sz="1400" dirty="0" err="1" smtClean="0">
                <a:solidFill>
                  <a:srgbClr val="FF0000"/>
                </a:solidFill>
              </a:rPr>
              <a:t>model_view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= </a:t>
            </a:r>
            <a:r>
              <a:rPr lang="en-US" sz="1400" dirty="0" err="1">
                <a:solidFill>
                  <a:srgbClr val="FF0000"/>
                </a:solidFill>
              </a:rPr>
              <a:t>mvstack.pop</a:t>
            </a:r>
            <a:r>
              <a:rPr lang="en-US" sz="1400" dirty="0">
                <a:solidFill>
                  <a:srgbClr val="FF0000"/>
                </a:solidFill>
              </a:rPr>
              <a:t>();</a:t>
            </a:r>
            <a:r>
              <a:rPr lang="zh-CN" altLang="en-US" sz="1400" dirty="0">
                <a:solidFill>
                  <a:srgbClr val="FF0000"/>
                </a:solidFill>
              </a:rPr>
              <a:t>  </a:t>
            </a:r>
            <a:r>
              <a:rPr lang="en-US" sz="1400" dirty="0">
                <a:solidFill>
                  <a:srgbClr val="FF0000"/>
                </a:solidFill>
              </a:rPr>
              <a:t>//</a:t>
            </a:r>
            <a:r>
              <a:rPr lang="zh-CN" altLang="en-US" sz="1400" dirty="0" smtClean="0">
                <a:solidFill>
                  <a:srgbClr val="FF0000"/>
                </a:solidFill>
              </a:rPr>
              <a:t>恢复当前模</a:t>
            </a:r>
            <a:r>
              <a:rPr lang="en-US" altLang="zh-CN" sz="1400" dirty="0" smtClean="0">
                <a:solidFill>
                  <a:srgbClr val="FF0000"/>
                </a:solidFill>
              </a:rPr>
              <a:t>-</a:t>
            </a:r>
            <a:r>
              <a:rPr lang="zh-CN" altLang="en-US" sz="1400" dirty="0" smtClean="0">
                <a:solidFill>
                  <a:srgbClr val="FF0000"/>
                </a:solidFill>
              </a:rPr>
              <a:t>视</a:t>
            </a:r>
            <a:r>
              <a:rPr lang="zh-CN" altLang="en-US" sz="1400" dirty="0">
                <a:solidFill>
                  <a:srgbClr val="FF0000"/>
                </a:solidFill>
              </a:rPr>
              <a:t>变换</a:t>
            </a:r>
            <a:r>
              <a:rPr lang="zh-CN" altLang="en-US" sz="1400" dirty="0" smtClean="0">
                <a:solidFill>
                  <a:srgbClr val="FF0000"/>
                </a:solidFill>
              </a:rPr>
              <a:t>矩阵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/>
              <a:t>} </a:t>
            </a:r>
            <a:endParaRPr lang="en-US" altLang="zh-CN" sz="1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7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递归遍历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上述遍历代码</a:t>
            </a:r>
            <a:r>
              <a:rPr lang="zh-CN" altLang="en-US" sz="2400" dirty="0"/>
              <a:t>描述了特定的树结构，并采用了特定的</a:t>
            </a:r>
            <a:r>
              <a:rPr lang="zh-CN" altLang="en-US" sz="2400" dirty="0" smtClean="0"/>
              <a:t>遍历策略：先序遍历</a:t>
            </a:r>
            <a:endParaRPr lang="zh-CN" altLang="en-US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能否</a:t>
            </a:r>
            <a:r>
              <a:rPr lang="zh-CN" altLang="en-US" sz="1800" dirty="0" smtClean="0"/>
              <a:t>设计更</a:t>
            </a:r>
            <a:r>
              <a:rPr lang="zh-CN" altLang="en-US" sz="1800" dirty="0"/>
              <a:t>一般的</a:t>
            </a:r>
            <a:r>
              <a:rPr lang="zh-CN" altLang="en-US" sz="1800" dirty="0" smtClean="0"/>
              <a:t>方法，不需要将所有的节点按遍历顺序逐个写出呢？</a:t>
            </a:r>
            <a:r>
              <a:rPr lang="en-US" altLang="zh-CN" sz="1800" dirty="0" smtClean="0"/>
              <a:t>--</a:t>
            </a:r>
            <a:r>
              <a:rPr lang="zh-CN" altLang="en-US" sz="1800" dirty="0" smtClean="0"/>
              <a:t> </a:t>
            </a:r>
            <a:r>
              <a:rPr lang="zh-CN" altLang="en-US" sz="1800" dirty="0" smtClean="0">
                <a:solidFill>
                  <a:srgbClr val="0000FF"/>
                </a:solidFill>
              </a:rPr>
              <a:t>递归调用</a:t>
            </a:r>
            <a:r>
              <a:rPr lang="en-US" altLang="zh-CN" sz="1800" dirty="0" smtClean="0">
                <a:solidFill>
                  <a:srgbClr val="0000FF"/>
                </a:solidFill>
              </a:rPr>
              <a:t>:</a:t>
            </a:r>
          </a:p>
          <a:p>
            <a:pPr lvl="1">
              <a:buClr>
                <a:srgbClr val="94003F"/>
              </a:buClr>
            </a:pPr>
            <a:endParaRPr lang="zh-CN" altLang="en-US" sz="18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1252645" y="2888383"/>
            <a:ext cx="5041650" cy="260584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tabLst/>
            </a:pPr>
            <a:r>
              <a:rPr lang="en-US" altLang="zh-CN" sz="1600" dirty="0"/>
              <a:t>void   </a:t>
            </a:r>
            <a:r>
              <a:rPr lang="en-US" altLang="zh-CN" sz="1600" b="1" dirty="0"/>
              <a:t>traverse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treenode</a:t>
            </a:r>
            <a:r>
              <a:rPr lang="en-US" altLang="zh-CN" sz="1600" dirty="0"/>
              <a:t>   </a:t>
            </a:r>
            <a:r>
              <a:rPr lang="en-US" altLang="zh-CN" sz="1600" dirty="0" smtClean="0"/>
              <a:t>*node)</a:t>
            </a:r>
            <a:endParaRPr lang="en-US" altLang="zh-CN" sz="1600" dirty="0"/>
          </a:p>
          <a:p>
            <a:pPr>
              <a:lnSpc>
                <a:spcPts val="2300"/>
              </a:lnSpc>
              <a:tabLst/>
            </a:pPr>
            <a:r>
              <a:rPr lang="en-US" altLang="zh-CN" sz="1600" dirty="0"/>
              <a:t>{</a:t>
            </a:r>
          </a:p>
          <a:p>
            <a:pPr lvl="1">
              <a:lnSpc>
                <a:spcPts val="1500"/>
              </a:lnSpc>
            </a:pPr>
            <a:r>
              <a:rPr lang="en-US" altLang="zh-CN" sz="1600" dirty="0"/>
              <a:t>if(root   ==   NULL)   return;</a:t>
            </a:r>
          </a:p>
          <a:p>
            <a:pPr lvl="1">
              <a:lnSpc>
                <a:spcPts val="2300"/>
              </a:lnSpc>
            </a:pPr>
            <a:r>
              <a:rPr lang="en-US" altLang="zh-CN" sz="1600" dirty="0" err="1">
                <a:solidFill>
                  <a:srgbClr val="FF0000"/>
                </a:solidFill>
              </a:rPr>
              <a:t>mvstack.push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model_view</a:t>
            </a:r>
            <a:r>
              <a:rPr lang="en-US" altLang="zh-CN" sz="1600" dirty="0"/>
              <a:t>);</a:t>
            </a:r>
          </a:p>
          <a:p>
            <a:pPr lvl="1">
              <a:lnSpc>
                <a:spcPts val="1500"/>
              </a:lnSpc>
            </a:pPr>
            <a:r>
              <a:rPr lang="en-US" altLang="zh-CN" sz="1600" dirty="0" err="1"/>
              <a:t>model_view</a:t>
            </a:r>
            <a:r>
              <a:rPr lang="en-US" altLang="zh-CN" sz="1600" dirty="0"/>
              <a:t> = </a:t>
            </a:r>
            <a:r>
              <a:rPr lang="en-US" altLang="zh-CN" sz="1600" dirty="0" err="1" smtClean="0"/>
              <a:t>model_view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*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node-&gt;</a:t>
            </a:r>
            <a:r>
              <a:rPr lang="en-US" altLang="zh-CN" sz="1600" dirty="0"/>
              <a:t>m;</a:t>
            </a:r>
          </a:p>
          <a:p>
            <a:pPr lvl="1">
              <a:lnSpc>
                <a:spcPts val="2300"/>
              </a:lnSpc>
              <a:spcAft>
                <a:spcPts val="600"/>
              </a:spcAft>
            </a:pPr>
            <a:r>
              <a:rPr lang="en-US" altLang="zh-CN" sz="1600" dirty="0" smtClean="0"/>
              <a:t>node-&gt;render();</a:t>
            </a:r>
            <a:endParaRPr lang="en-US" altLang="zh-CN" sz="1600" dirty="0"/>
          </a:p>
          <a:p>
            <a:pPr lvl="1">
              <a:lnSpc>
                <a:spcPts val="1500"/>
              </a:lnSpc>
              <a:tabLst>
                <a:tab pos="571500" algn="l"/>
              </a:tabLst>
            </a:pPr>
            <a:r>
              <a:rPr lang="en-US" altLang="zh-CN" sz="1600" dirty="0" smtClean="0"/>
              <a:t>if(</a:t>
            </a:r>
            <a:r>
              <a:rPr lang="en-US" altLang="zh-CN" sz="1600" dirty="0"/>
              <a:t>node </a:t>
            </a:r>
            <a:r>
              <a:rPr lang="en-US" altLang="zh-CN" sz="1600" dirty="0" smtClean="0"/>
              <a:t>-&gt;</a:t>
            </a:r>
            <a:r>
              <a:rPr lang="en-US" altLang="zh-CN" sz="1600" dirty="0"/>
              <a:t>child!=</a:t>
            </a:r>
            <a:r>
              <a:rPr lang="en-US" altLang="zh-CN" sz="1600" dirty="0" smtClean="0"/>
              <a:t>NULL)</a:t>
            </a:r>
            <a:r>
              <a:rPr lang="zh-CN" altLang="en-US" sz="1600" dirty="0" smtClean="0"/>
              <a:t>   </a:t>
            </a:r>
            <a:r>
              <a:rPr lang="en-US" altLang="zh-CN" sz="1600" b="1" dirty="0" smtClean="0"/>
              <a:t>traverse</a:t>
            </a:r>
            <a:r>
              <a:rPr lang="en-US" altLang="zh-CN" sz="1600" dirty="0" smtClean="0"/>
              <a:t>(root-&gt;child);</a:t>
            </a:r>
          </a:p>
          <a:p>
            <a:pPr lvl="1">
              <a:lnSpc>
                <a:spcPts val="2300"/>
              </a:lnSpc>
            </a:pPr>
            <a:r>
              <a:rPr lang="en-US" altLang="zh-CN" sz="1600" dirty="0" err="1" smtClean="0"/>
              <a:t>model_view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= </a:t>
            </a:r>
            <a:r>
              <a:rPr lang="en-US" altLang="zh-CN" sz="1600" dirty="0" err="1">
                <a:solidFill>
                  <a:srgbClr val="FF0000"/>
                </a:solidFill>
              </a:rPr>
              <a:t>mvstack.pop</a:t>
            </a:r>
            <a:r>
              <a:rPr lang="en-US" altLang="zh-CN" sz="1600" dirty="0"/>
              <a:t>();</a:t>
            </a:r>
          </a:p>
          <a:p>
            <a:pPr lvl="1">
              <a:lnSpc>
                <a:spcPts val="1500"/>
              </a:lnSpc>
              <a:tabLst>
                <a:tab pos="571500" algn="l"/>
              </a:tabLst>
            </a:pPr>
            <a:r>
              <a:rPr lang="en-US" altLang="zh-CN" sz="1600" dirty="0"/>
              <a:t>if(root-&gt;</a:t>
            </a:r>
            <a:r>
              <a:rPr lang="en-US" altLang="zh-CN" sz="1600" dirty="0" smtClean="0"/>
              <a:t>sibling!=NULL)</a:t>
            </a:r>
            <a:r>
              <a:rPr lang="zh-CN" altLang="en-US" sz="1600" dirty="0" smtClean="0"/>
              <a:t>  </a:t>
            </a:r>
            <a:r>
              <a:rPr lang="zh-CN" altLang="en-US" sz="1600" dirty="0"/>
              <a:t> </a:t>
            </a:r>
            <a:r>
              <a:rPr lang="en-US" altLang="zh-CN" sz="1600" b="1" dirty="0" smtClean="0"/>
              <a:t>traverse</a:t>
            </a:r>
            <a:r>
              <a:rPr lang="en-US" altLang="zh-CN" sz="1600" dirty="0" smtClean="0"/>
              <a:t>(root-</a:t>
            </a:r>
            <a:r>
              <a:rPr lang="en-US" altLang="zh-CN" sz="1600" dirty="0"/>
              <a:t>&gt;sibling);</a:t>
            </a:r>
          </a:p>
          <a:p>
            <a:pPr>
              <a:lnSpc>
                <a:spcPts val="2300"/>
              </a:lnSpc>
            </a:pPr>
            <a:r>
              <a:rPr lang="en-US" altLang="zh-CN" sz="1600" dirty="0" smtClean="0"/>
              <a:t>}</a:t>
            </a:r>
            <a:endParaRPr lang="en-US" altLang="zh-CN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8515350" y="51248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33439" y="3540136"/>
            <a:ext cx="2392506" cy="66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对于子节点，</a:t>
            </a:r>
            <a:r>
              <a:rPr lang="zh-CN" altLang="en-US"/>
              <a:t>以</a:t>
            </a:r>
            <a:r>
              <a:rPr lang="zh-CN" altLang="en-US" smtClean="0"/>
              <a:t>增量方式</a:t>
            </a:r>
            <a:r>
              <a:rPr lang="zh-CN" altLang="en-US" dirty="0"/>
              <a:t>改变模</a:t>
            </a:r>
            <a:r>
              <a:rPr lang="en-US" altLang="zh-CN" dirty="0"/>
              <a:t>-</a:t>
            </a:r>
            <a:r>
              <a:rPr lang="zh-CN" altLang="en-US" dirty="0"/>
              <a:t>视</a:t>
            </a:r>
            <a:r>
              <a:rPr lang="zh-CN" altLang="en-US" dirty="0" smtClean="0"/>
              <a:t>矩阵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33439" y="4606109"/>
            <a:ext cx="2392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对于兄弟</a:t>
            </a:r>
            <a:r>
              <a:rPr lang="zh-CN" altLang="en-US" smtClean="0"/>
              <a:t>节点，恢复初始模</a:t>
            </a:r>
            <a:r>
              <a:rPr lang="en-US" altLang="zh-CN" dirty="0"/>
              <a:t>-</a:t>
            </a:r>
            <a:r>
              <a:rPr lang="zh-CN" altLang="en-US" dirty="0"/>
              <a:t>视</a:t>
            </a:r>
            <a:r>
              <a:rPr lang="zh-CN" altLang="en-US" dirty="0" smtClean="0"/>
              <a:t>矩阵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 flipV="1">
            <a:off x="4316819" y="4784651"/>
            <a:ext cx="2116620" cy="14462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</p:cNvCxnSpPr>
          <p:nvPr/>
        </p:nvCxnSpPr>
        <p:spPr>
          <a:xfrm flipH="1">
            <a:off x="5762847" y="4929275"/>
            <a:ext cx="670592" cy="1145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5592726" y="3917928"/>
            <a:ext cx="840713" cy="61656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0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208824" y="3387220"/>
            <a:ext cx="6726352" cy="3288217"/>
            <a:chOff x="1208824" y="3387220"/>
            <a:chExt cx="6726352" cy="328821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8824" y="3387220"/>
              <a:ext cx="6726352" cy="3288217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1346731" y="4767123"/>
              <a:ext cx="218079" cy="7498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2582510" y="3870170"/>
              <a:ext cx="615977" cy="3307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树</a:t>
            </a:r>
            <a:r>
              <a:rPr lang="zh-CN" altLang="en-US" dirty="0"/>
              <a:t>数据结构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需要</a:t>
            </a:r>
            <a:r>
              <a:rPr lang="zh-CN" altLang="en-US" sz="2400" dirty="0"/>
              <a:t>一个数据结构表示</a:t>
            </a:r>
            <a:r>
              <a:rPr lang="zh-CN" altLang="en-US" sz="2400" dirty="0" smtClean="0"/>
              <a:t>树，从而支持上述遍历方式</a:t>
            </a:r>
            <a:endParaRPr lang="zh-CN" altLang="en-US" sz="24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采用</a:t>
            </a:r>
            <a:r>
              <a:rPr lang="zh-CN" altLang="en-US" sz="2400" dirty="0"/>
              <a:t>左子右亲（</a:t>
            </a:r>
            <a:r>
              <a:rPr lang="en-US" altLang="zh-CN" sz="2400" dirty="0"/>
              <a:t>left-child right-sibling</a:t>
            </a:r>
            <a:r>
              <a:rPr lang="zh-CN" altLang="en-US" sz="2400" dirty="0"/>
              <a:t>）结构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应用</a:t>
            </a:r>
            <a:r>
              <a:rPr lang="zh-CN" altLang="en-US" sz="1800" dirty="0" smtClean="0"/>
              <a:t>链表结构</a:t>
            </a:r>
            <a:endParaRPr lang="zh-CN" altLang="en-US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在</a:t>
            </a:r>
            <a:r>
              <a:rPr lang="zh-CN" altLang="en-US" sz="1800" dirty="0"/>
              <a:t>数据结构中每个节点有两个指针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左</a:t>
            </a:r>
            <a:r>
              <a:rPr lang="zh-CN" altLang="en-US" sz="1600" dirty="0"/>
              <a:t>：子节</a:t>
            </a:r>
            <a:r>
              <a:rPr lang="zh-CN" altLang="en-US" sz="1600" dirty="0" smtClean="0"/>
              <a:t>点链</a:t>
            </a:r>
            <a:r>
              <a:rPr lang="zh-CN" altLang="en-US" sz="1600" dirty="0"/>
              <a:t>表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右：下</a:t>
            </a:r>
            <a:r>
              <a:rPr lang="zh-CN" altLang="en-US" sz="1600" dirty="0"/>
              <a:t>一个兄弟节点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59408" y="487743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无子节点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52576" y="4242851"/>
            <a:ext cx="1082348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无兄弟节点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202775" y="3894559"/>
            <a:ext cx="914400" cy="612648"/>
          </a:xfrm>
          <a:prstGeom prst="wedgeRectCallout">
            <a:avLst>
              <a:gd name="adj1" fmla="val 108037"/>
              <a:gd name="adj2" fmla="val 28778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子节点指针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202775" y="4582740"/>
            <a:ext cx="914400" cy="612648"/>
          </a:xfrm>
          <a:prstGeom prst="wedgeRectCallout">
            <a:avLst>
              <a:gd name="adj1" fmla="val 107619"/>
              <a:gd name="adj2" fmla="val -51782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兄弟节点指针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617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树节点的结构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在每个节点需要存贮下列</a:t>
            </a:r>
            <a:r>
              <a:rPr lang="zh-CN" altLang="en-US" sz="2400" dirty="0" smtClean="0"/>
              <a:t>信息：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c</a:t>
            </a:r>
            <a:r>
              <a:rPr lang="en-US" altLang="zh-CN" sz="1800" dirty="0" smtClean="0"/>
              <a:t>hild:</a:t>
            </a:r>
            <a:r>
              <a:rPr lang="zh-CN" altLang="en-US" sz="1800" dirty="0" smtClean="0"/>
              <a:t> 指向子</a:t>
            </a:r>
            <a:r>
              <a:rPr lang="zh-CN" altLang="en-US" sz="1800" dirty="0"/>
              <a:t>节点的指针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 err="1" smtClean="0"/>
              <a:t>silbling</a:t>
            </a:r>
            <a:r>
              <a:rPr lang="en-US" altLang="zh-CN" sz="1800" dirty="0" smtClean="0"/>
              <a:t>:</a:t>
            </a:r>
            <a:r>
              <a:rPr lang="zh-CN" altLang="en-US" sz="1800" dirty="0" smtClean="0"/>
              <a:t> 指向兄弟节点的</a:t>
            </a:r>
            <a:r>
              <a:rPr lang="zh-CN" altLang="en-US" sz="1800" dirty="0"/>
              <a:t>指针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f</a:t>
            </a:r>
            <a:r>
              <a:rPr lang="en-US" altLang="zh-CN" sz="1800" dirty="0" smtClean="0"/>
              <a:t>:</a:t>
            </a:r>
            <a:r>
              <a:rPr lang="zh-CN" altLang="en-US" sz="1800" dirty="0" smtClean="0"/>
              <a:t> 一</a:t>
            </a:r>
            <a:r>
              <a:rPr lang="zh-CN" altLang="en-US" sz="1800" dirty="0"/>
              <a:t>个函数指针，</a:t>
            </a:r>
            <a:r>
              <a:rPr lang="zh-CN" altLang="en-US" sz="1800" dirty="0" smtClean="0"/>
              <a:t>指向节点</a:t>
            </a:r>
            <a:r>
              <a:rPr lang="zh-CN" altLang="en-US" sz="1800" dirty="0"/>
              <a:t>表示对象的绘制函数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/>
              <a:t>m</a:t>
            </a:r>
            <a:r>
              <a:rPr lang="en-US" altLang="zh-CN" sz="1800" dirty="0" smtClean="0"/>
              <a:t>:</a:t>
            </a:r>
            <a:r>
              <a:rPr lang="zh-CN" altLang="en-US" sz="1800" dirty="0" smtClean="0"/>
              <a:t> 乘</a:t>
            </a:r>
            <a:r>
              <a:rPr lang="zh-CN" altLang="en-US" sz="1800" dirty="0"/>
              <a:t>在当前模型视图矩阵右边的齐次坐标矩阵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表示从父节点到当前节点</a:t>
            </a:r>
            <a:r>
              <a:rPr lang="zh-CN" altLang="en-US" sz="1600" dirty="0" smtClean="0"/>
              <a:t>的变化矩阵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156953" y="3559366"/>
            <a:ext cx="2787726" cy="181588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struct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/>
              <a:t>treenode</a:t>
            </a:r>
            <a:endParaRPr lang="en-US" altLang="zh-CN" sz="1600" b="1" dirty="0"/>
          </a:p>
          <a:p>
            <a:pPr>
              <a:buClr>
                <a:srgbClr val="94003F"/>
              </a:buClr>
            </a:pPr>
            <a:r>
              <a:rPr lang="en-US" altLang="zh-CN" sz="1600" dirty="0"/>
              <a:t>{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  </a:t>
            </a:r>
            <a:r>
              <a:rPr lang="en-US" altLang="zh-CN" sz="1600" dirty="0" smtClean="0">
                <a:solidFill>
                  <a:srgbClr val="0000FF"/>
                </a:solidFill>
              </a:rPr>
              <a:t>mat4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m;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/>
              <a:t>   void (*f)( )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</a:t>
            </a:r>
            <a:r>
              <a:rPr lang="zh-CN" altLang="en-US" sz="1600" dirty="0" smtClean="0"/>
              <a:t>  </a:t>
            </a:r>
            <a:r>
              <a:rPr lang="en-US" altLang="zh-CN" sz="1600" dirty="0" err="1" smtClean="0">
                <a:solidFill>
                  <a:srgbClr val="0000FF"/>
                </a:solidFill>
              </a:rPr>
              <a:t>struct</a:t>
            </a:r>
            <a:r>
              <a:rPr lang="en-US" altLang="zh-CN" sz="1600" dirty="0" smtClean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 smtClean="0"/>
              <a:t>treenode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*sibling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 </a:t>
            </a:r>
            <a:r>
              <a:rPr lang="zh-CN" altLang="en-US" sz="1600" dirty="0" smtClean="0"/>
              <a:t>  </a:t>
            </a:r>
            <a:r>
              <a:rPr lang="en-US" altLang="zh-CN" sz="1600" dirty="0" err="1" smtClean="0">
                <a:solidFill>
                  <a:srgbClr val="0000FF"/>
                </a:solidFill>
              </a:rPr>
              <a:t>struct</a:t>
            </a:r>
            <a:r>
              <a:rPr lang="en-US" altLang="zh-CN" sz="1600" dirty="0" smtClean="0">
                <a:solidFill>
                  <a:srgbClr val="0000FF"/>
                </a:solidFill>
              </a:rPr>
              <a:t> </a:t>
            </a:r>
            <a:r>
              <a:rPr lang="en-US" altLang="zh-CN" sz="1600" b="1" dirty="0" err="1" smtClean="0"/>
              <a:t>treenode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*child ;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} ;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780297" y="3492500"/>
            <a:ext cx="3859747" cy="1998465"/>
            <a:chOff x="891793" y="3030279"/>
            <a:chExt cx="7040095" cy="3645158"/>
          </a:xfrm>
        </p:grpSpPr>
        <p:pic>
          <p:nvPicPr>
            <p:cNvPr id="7" name="图片 3"/>
            <p:cNvPicPr>
              <a:picLocks noChangeAspect="1"/>
            </p:cNvPicPr>
            <p:nvPr/>
          </p:nvPicPr>
          <p:blipFill rotWithShape="1">
            <a:blip r:embed="rId2"/>
            <a:srcRect t="4789"/>
            <a:stretch/>
          </p:blipFill>
          <p:spPr>
            <a:xfrm>
              <a:off x="891793" y="3030279"/>
              <a:ext cx="7040095" cy="364515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1050" b="0" i="0" smtClean="0">
                            <a:latin typeface="Cambria Math" charset="0"/>
                          </a:rPr>
                          <m:t>M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6865" y="3218749"/>
                  <a:ext cx="393786" cy="45624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722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139678" y="336410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动画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10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动画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机器人手臂和机器人都是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</a:t>
            </a:r>
            <a:r>
              <a:rPr lang="en-US" altLang="zh-CN" sz="2400" dirty="0" smtClean="0">
                <a:solidFill>
                  <a:srgbClr val="0000FF"/>
                </a:solidFill>
              </a:rPr>
              <a:t>articulated </a:t>
            </a:r>
            <a:r>
              <a:rPr lang="en-US" altLang="zh-CN" sz="2400" dirty="0">
                <a:solidFill>
                  <a:srgbClr val="0000FF"/>
                </a:solidFill>
              </a:rPr>
              <a:t>model</a:t>
            </a:r>
            <a:r>
              <a:rPr lang="en-US" altLang="zh-CN" sz="24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zh-CN" altLang="en-US" sz="2400" dirty="0" smtClean="0"/>
              <a:t>这些模型都包含了一些由关节连接起来的刚体部件</a:t>
            </a:r>
            <a:endParaRPr lang="en-US" altLang="zh-CN" sz="2400" dirty="0" smtClean="0"/>
          </a:p>
          <a:p>
            <a:r>
              <a:rPr lang="zh-CN" altLang="en-US" sz="2400" dirty="0" smtClean="0"/>
              <a:t>主要改变各个</a:t>
            </a:r>
            <a:r>
              <a:rPr lang="zh-CN" altLang="en-US" sz="2400" dirty="0" smtClean="0">
                <a:solidFill>
                  <a:srgbClr val="0000FF"/>
                </a:solidFill>
              </a:rPr>
              <a:t>关节角</a:t>
            </a:r>
            <a:r>
              <a:rPr lang="zh-CN" altLang="en-US" sz="2400" dirty="0" smtClean="0"/>
              <a:t>就可以使这些模型随时间变化而改变位置，即绘制这些模型的动画效果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40" y="3177121"/>
            <a:ext cx="6742719" cy="340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运动学和反向运动学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 smtClean="0"/>
                  <a:t>仅根据关节角度确定模型各部件的位置是</a:t>
                </a:r>
                <a:r>
                  <a:rPr lang="zh-CN" altLang="en-US" sz="2400" dirty="0" smtClean="0">
                    <a:solidFill>
                      <a:srgbClr val="0000FF"/>
                    </a:solidFill>
                  </a:rPr>
                  <a:t>运动学</a:t>
                </a:r>
                <a:r>
                  <a:rPr lang="zh-CN" altLang="en-US" sz="2400" dirty="0" smtClean="0"/>
                  <a:t>的范畴：</a:t>
                </a:r>
                <a:endParaRPr lang="en-US" altLang="zh-CN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charset="0"/>
                      </a:rPr>
                      <m:t>𝑝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800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mr-IN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mr-IN" altLang="zh-CN" sz="18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CN" sz="1800" dirty="0" smtClean="0"/>
                  <a:t>,</a:t>
                </a:r>
                <a:r>
                  <a:rPr lang="zh-CN" altLang="en-US" sz="1800" dirty="0" smtClean="0"/>
                  <a:t> 其中 </a:t>
                </a:r>
                <a14:m>
                  <m:oMath xmlns:m="http://schemas.openxmlformats.org/officeDocument/2006/math">
                    <m:r>
                      <a:rPr lang="mr-IN" altLang="zh-CN" sz="1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zh-CN" altLang="en-US" sz="1800" dirty="0" smtClean="0"/>
                  <a:t>是关节角度数组，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charset="0"/>
                      </a:rPr>
                      <m:t>𝑝</m:t>
                    </m:r>
                  </m:oMath>
                </a14:m>
                <a:r>
                  <a:rPr lang="zh-CN" altLang="en-US" sz="1800" dirty="0" smtClean="0"/>
                  <a:t>是模型的顶点数组</a:t>
                </a:r>
                <a:endParaRPr lang="en-US" altLang="zh-CN" sz="1800" dirty="0" smtClean="0"/>
              </a:p>
              <a:p>
                <a:endParaRPr lang="en-US" sz="2400" dirty="0" smtClean="0"/>
              </a:p>
              <a:p>
                <a:r>
                  <a:rPr lang="zh-CN" altLang="en-US" sz="2400" dirty="0" smtClean="0"/>
                  <a:t>在动画领域，我们更关心的是</a:t>
                </a:r>
                <a:r>
                  <a:rPr lang="zh-CN" altLang="en-US" sz="2400" dirty="0" smtClean="0">
                    <a:solidFill>
                      <a:srgbClr val="0000FF"/>
                    </a:solidFill>
                  </a:rPr>
                  <a:t>反向运动学</a:t>
                </a:r>
                <a:r>
                  <a:rPr lang="zh-CN" altLang="en-US" sz="2400" dirty="0" smtClean="0"/>
                  <a:t>和</a:t>
                </a:r>
                <a:r>
                  <a:rPr lang="zh-CN" altLang="en-US" sz="2400" dirty="0" smtClean="0">
                    <a:solidFill>
                      <a:srgbClr val="0000FF"/>
                    </a:solidFill>
                  </a:rPr>
                  <a:t>反向动力学</a:t>
                </a:r>
                <a:r>
                  <a:rPr lang="zh-CN" altLang="en-US" sz="2400" dirty="0" smtClean="0"/>
                  <a:t>：</a:t>
                </a:r>
                <a:endParaRPr lang="en-US" altLang="zh-CN" sz="2400" dirty="0" smtClean="0"/>
              </a:p>
              <a:p>
                <a:pPr lvl="1"/>
                <a:r>
                  <a:rPr lang="zh-CN" altLang="en-US" sz="1800" dirty="0" smtClean="0"/>
                  <a:t>给定模型的某个特定状态，如何调整关节角度才能达到这个位置状态？</a:t>
                </a:r>
                <a:endParaRPr lang="en-US" altLang="zh-CN" sz="18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sz="1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  <m:r>
                      <a:rPr lang="en-US" altLang="zh-CN" sz="18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  <m:sup>
                        <m:r>
                          <a:rPr lang="en-US" altLang="zh-CN" sz="18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mr-IN" altLang="zh-CN" sz="1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1800" i="1" dirty="0" smtClean="0"/>
              </a:p>
              <a:p>
                <a:pPr lvl="1"/>
                <a:r>
                  <a:rPr lang="zh-CN" altLang="en-US" sz="1800" dirty="0" smtClean="0"/>
                  <a:t>但是，对于某个给定的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𝑝</m:t>
                    </m:r>
                  </m:oMath>
                </a14:m>
                <a:r>
                  <a:rPr lang="zh-CN" altLang="en-US" sz="1800" dirty="0" smtClean="0"/>
                  <a:t>，一般来说，我们无法确定是否存在解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ambria Math" charset="0"/>
                        <a:cs typeface="Cambria Math" charset="0"/>
                      </a:rPr>
                      <m:t>𝜃</m:t>
                    </m:r>
                  </m:oMath>
                </a14:m>
                <a:r>
                  <a:rPr lang="zh-CN" altLang="en-US" sz="1800" dirty="0" smtClean="0"/>
                  <a:t>或者这个解是否唯一；求解这样的问题一般比较困难</a:t>
                </a:r>
                <a:endParaRPr lang="en-US" altLang="zh-CN" sz="1800" dirty="0" smtClean="0"/>
              </a:p>
              <a:p>
                <a:pPr lvl="1"/>
                <a:endParaRPr lang="en-US" sz="1800" dirty="0"/>
              </a:p>
              <a:p>
                <a:r>
                  <a:rPr lang="zh-CN" altLang="en-US" sz="2600" dirty="0" smtClean="0"/>
                  <a:t>关键帧动画：</a:t>
                </a:r>
                <a:endParaRPr lang="en-US" altLang="zh-CN" sz="2600" dirty="0" smtClean="0"/>
              </a:p>
              <a:p>
                <a:pPr lvl="1"/>
                <a:r>
                  <a:rPr lang="zh-CN" altLang="en-US" sz="1800" dirty="0" smtClean="0"/>
                  <a:t>在手动设置好关键帧，</a:t>
                </a:r>
                <a:r>
                  <a:rPr lang="zh-CN" altLang="en-US" sz="1800" smtClean="0"/>
                  <a:t>然后通过插值</a:t>
                </a:r>
                <a:r>
                  <a:rPr lang="zh-CN" altLang="en-US" sz="1800" dirty="0" smtClean="0"/>
                  <a:t>关节角度的方式生成中间帧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961" r="-4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410681" y="994681"/>
            <a:ext cx="1189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kinematics</a:t>
            </a:r>
          </a:p>
        </p:txBody>
      </p:sp>
    </p:spTree>
    <p:extLst>
      <p:ext uri="{BB962C8B-B14F-4D97-AF65-F5344CB8AC3E}">
        <p14:creationId xmlns:p14="http://schemas.microsoft.com/office/powerpoint/2010/main" val="73306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实验补充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人形</a:t>
            </a:r>
            <a:r>
              <a:rPr lang="zh-CN" altLang="en-US" sz="2400" dirty="0" smtClean="0"/>
              <a:t>机器人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掌握</a:t>
            </a:r>
            <a:r>
              <a:rPr lang="zh-CN" altLang="en-US" sz="1800" dirty="0"/>
              <a:t>根据层级结构深度遍历层级树的方法</a:t>
            </a:r>
          </a:p>
          <a:p>
            <a:pPr lvl="1"/>
            <a:r>
              <a:rPr lang="zh-CN" altLang="en-US" sz="1800" dirty="0" smtClean="0"/>
              <a:t>掌握</a:t>
            </a:r>
            <a:r>
              <a:rPr lang="zh-CN" altLang="en-US" sz="1800" dirty="0"/>
              <a:t>采用堆栈的方式在父子和兄弟节点直接传递变换矩阵的</a:t>
            </a:r>
            <a:r>
              <a:rPr lang="zh-CN" altLang="en-US" sz="1800" dirty="0" smtClean="0"/>
              <a:t>方法</a:t>
            </a:r>
            <a:endParaRPr lang="zh-CN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101174" y="2767341"/>
            <a:ext cx="1754890" cy="3725534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4488" b="1975"/>
          <a:stretch/>
        </p:blipFill>
        <p:spPr>
          <a:xfrm>
            <a:off x="5370071" y="2604325"/>
            <a:ext cx="2087586" cy="34761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9070" y="29239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高配版：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469219" y="29239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低配版：</a:t>
            </a:r>
            <a:endParaRPr lang="en-US" dirty="0"/>
          </a:p>
        </p:txBody>
      </p:sp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5369378" y="2817682"/>
            <a:ext cx="2391989" cy="34116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30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</a:t>
            </a:r>
            <a:r>
              <a:rPr lang="zh-CN" altLang="en-US" dirty="0"/>
              <a:t>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81927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图形绘制系统的</a:t>
            </a:r>
            <a:r>
              <a:rPr lang="en-US" altLang="zh-CN" sz="2400" dirty="0"/>
              <a:t>4</a:t>
            </a:r>
            <a:r>
              <a:rPr lang="zh-CN" altLang="en-US" sz="2400" dirty="0"/>
              <a:t>个主要</a:t>
            </a:r>
            <a:r>
              <a:rPr lang="zh-CN" altLang="en-US" sz="2400" dirty="0" smtClean="0"/>
              <a:t>任务：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839984" y="3929414"/>
            <a:ext cx="7985961" cy="623063"/>
            <a:chOff x="490352" y="4486020"/>
            <a:chExt cx="8403651" cy="655651"/>
          </a:xfrm>
        </p:grpSpPr>
        <p:sp>
          <p:nvSpPr>
            <p:cNvPr id="9" name="矩形 7"/>
            <p:cNvSpPr/>
            <p:nvPr/>
          </p:nvSpPr>
          <p:spPr>
            <a:xfrm>
              <a:off x="490352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8"/>
            <p:cNvSpPr txBox="1"/>
            <p:nvPr/>
          </p:nvSpPr>
          <p:spPr>
            <a:xfrm>
              <a:off x="721550" y="4615290"/>
              <a:ext cx="701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建模</a:t>
              </a:r>
              <a:endParaRPr lang="zh-CN" altLang="en-US" dirty="0"/>
            </a:p>
          </p:txBody>
        </p:sp>
        <p:cxnSp>
          <p:nvCxnSpPr>
            <p:cNvPr id="11" name="直接箭头连接符 10"/>
            <p:cNvCxnSpPr>
              <a:stCxn id="15" idx="3"/>
            </p:cNvCxnSpPr>
            <p:nvPr/>
          </p:nvCxnSpPr>
          <p:spPr>
            <a:xfrm>
              <a:off x="1654134" y="4799950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287979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26971" y="4490598"/>
              <a:ext cx="701386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几何处理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>
              <a:stCxn id="19" idx="3"/>
            </p:cNvCxnSpPr>
            <p:nvPr/>
          </p:nvCxnSpPr>
          <p:spPr>
            <a:xfrm>
              <a:off x="3451763" y="4799952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4085608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21999" y="4612462"/>
              <a:ext cx="959462" cy="38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光栅化</a:t>
              </a:r>
              <a:endParaRPr lang="zh-CN" altLang="en-US" dirty="0"/>
            </a:p>
          </p:txBody>
        </p:sp>
        <p:cxnSp>
          <p:nvCxnSpPr>
            <p:cNvPr id="17" name="直接箭头连接符 16"/>
            <p:cNvCxnSpPr>
              <a:stCxn id="22" idx="3"/>
            </p:cNvCxnSpPr>
            <p:nvPr/>
          </p:nvCxnSpPr>
          <p:spPr>
            <a:xfrm>
              <a:off x="5249389" y="4797128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937786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76778" y="4495338"/>
              <a:ext cx="701386" cy="64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片</a:t>
              </a:r>
              <a:r>
                <a:rPr lang="zh-CN" altLang="en-US" dirty="0" smtClean="0"/>
                <a:t>元处理</a:t>
              </a:r>
              <a:endParaRPr lang="zh-CN" altLang="en-US" dirty="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101570" y="4797126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730221" y="4486020"/>
              <a:ext cx="1163782" cy="613063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89580" y="4607890"/>
              <a:ext cx="98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帧缓存</a:t>
              </a:r>
              <a:endParaRPr lang="zh-CN" altLang="en-US" dirty="0"/>
            </a:p>
          </p:txBody>
        </p:sp>
      </p:grpSp>
      <p:cxnSp>
        <p:nvCxnSpPr>
          <p:cNvPr id="8" name="Straight Arrow Connector 7"/>
          <p:cNvCxnSpPr/>
          <p:nvPr/>
        </p:nvCxnSpPr>
        <p:spPr>
          <a:xfrm flipV="1">
            <a:off x="1382066" y="3524964"/>
            <a:ext cx="0" cy="41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5" name="图片 3"/>
          <p:cNvPicPr>
            <a:picLocks noChangeAspect="1"/>
          </p:cNvPicPr>
          <p:nvPr/>
        </p:nvPicPr>
        <p:blipFill rotWithShape="1">
          <a:blip r:embed="rId2"/>
          <a:srcRect r="69644" b="27271"/>
          <a:stretch/>
        </p:blipFill>
        <p:spPr>
          <a:xfrm>
            <a:off x="2036537" y="2200839"/>
            <a:ext cx="1089361" cy="120542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79207" y="313311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Ch08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4809513" y="3524963"/>
            <a:ext cx="0" cy="41148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8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111" y="2277868"/>
            <a:ext cx="905293" cy="89953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466" y="2293165"/>
            <a:ext cx="842029" cy="84202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10059" y="313589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Ch06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045529" y="313276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Ch02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rot="16200000" flipV="1">
            <a:off x="2081649" y="2480166"/>
            <a:ext cx="0" cy="41148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3" name="Picture 1" descr="QQ截图2016082415243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7" t="13412" r="12586" b="10501"/>
          <a:stretch/>
        </p:blipFill>
        <p:spPr bwMode="auto">
          <a:xfrm>
            <a:off x="960343" y="2305173"/>
            <a:ext cx="834336" cy="84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/>
          <p:cNvCxnSpPr/>
          <p:nvPr/>
        </p:nvCxnSpPr>
        <p:spPr>
          <a:xfrm flipV="1">
            <a:off x="6601190" y="3524962"/>
            <a:ext cx="0" cy="4114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47717" y="618076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/>
              <a:t>Ch05</a:t>
            </a:r>
            <a:endParaRPr lang="en-US" dirty="0"/>
          </a:p>
        </p:txBody>
      </p:sp>
      <p:pic>
        <p:nvPicPr>
          <p:cNvPr id="38" name="Picture 37"/>
          <p:cNvPicPr/>
          <p:nvPr/>
        </p:nvPicPr>
        <p:blipFill>
          <a:blip r:embed="rId6"/>
          <a:stretch>
            <a:fillRect/>
          </a:stretch>
        </p:blipFill>
        <p:spPr>
          <a:xfrm>
            <a:off x="3431951" y="10516595"/>
            <a:ext cx="825339" cy="872883"/>
          </a:xfrm>
          <a:prstGeom prst="rect">
            <a:avLst/>
          </a:prstGeom>
        </p:spPr>
      </p:pic>
      <p:pic>
        <p:nvPicPr>
          <p:cNvPr id="39" name="Picture 38"/>
          <p:cNvPicPr/>
          <p:nvPr/>
        </p:nvPicPr>
        <p:blipFill>
          <a:blip r:embed="rId7"/>
          <a:stretch>
            <a:fillRect/>
          </a:stretch>
        </p:blipFill>
        <p:spPr>
          <a:xfrm>
            <a:off x="5964822" y="5326651"/>
            <a:ext cx="825332" cy="872883"/>
          </a:xfrm>
          <a:prstGeom prst="rect">
            <a:avLst/>
          </a:prstGeom>
        </p:spPr>
      </p:pic>
      <p:cxnSp>
        <p:nvCxnSpPr>
          <p:cNvPr id="40" name="Straight Arrow Connector 39"/>
          <p:cNvCxnSpPr/>
          <p:nvPr/>
        </p:nvCxnSpPr>
        <p:spPr>
          <a:xfrm rot="5400000" flipV="1">
            <a:off x="7311407" y="2483602"/>
            <a:ext cx="0" cy="4114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00333" y="313276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Ch07</a:t>
            </a:r>
            <a:endParaRPr lang="en-US" dirty="0"/>
          </a:p>
        </p:txBody>
      </p:sp>
      <p:pic>
        <p:nvPicPr>
          <p:cNvPr id="42" name="图片 3"/>
          <p:cNvPicPr>
            <a:picLocks noChangeAspect="1"/>
          </p:cNvPicPr>
          <p:nvPr/>
        </p:nvPicPr>
        <p:blipFill rotWithShape="1">
          <a:blip r:embed="rId8"/>
          <a:srcRect l="49770" r="2105" b="12188"/>
          <a:stretch/>
        </p:blipFill>
        <p:spPr>
          <a:xfrm>
            <a:off x="7545021" y="2263001"/>
            <a:ext cx="959732" cy="8870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2757" y="495961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模</a:t>
            </a:r>
            <a:r>
              <a:rPr lang="en-US" altLang="zh-CN" dirty="0" smtClean="0"/>
              <a:t>-</a:t>
            </a:r>
            <a:r>
              <a:rPr lang="zh-CN" altLang="en-US" dirty="0" smtClean="0"/>
              <a:t>视变换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750390" y="49596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投影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400225" y="49596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裁剪</a:t>
            </a:r>
            <a:endParaRPr lang="en-US" dirty="0"/>
          </a:p>
        </p:txBody>
      </p:sp>
      <p:cxnSp>
        <p:nvCxnSpPr>
          <p:cNvPr id="46" name="Straight Arrow Connector 45"/>
          <p:cNvCxnSpPr/>
          <p:nvPr/>
        </p:nvCxnSpPr>
        <p:spPr>
          <a:xfrm rot="10800000" flipV="1">
            <a:off x="3058466" y="4522568"/>
            <a:ext cx="0" cy="41148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365007" y="617591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Ch06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25615" y="617591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Ch03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2715172" y="617591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Ch04</a:t>
            </a:r>
            <a:endParaRPr lang="en-US" dirty="0"/>
          </a:p>
        </p:txBody>
      </p:sp>
      <p:cxnSp>
        <p:nvCxnSpPr>
          <p:cNvPr id="50" name="Straight Arrow Connector 49"/>
          <p:cNvCxnSpPr/>
          <p:nvPr/>
        </p:nvCxnSpPr>
        <p:spPr>
          <a:xfrm rot="5400000" flipV="1">
            <a:off x="2285932" y="4952332"/>
            <a:ext cx="0" cy="41148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5400000" flipV="1">
            <a:off x="3898473" y="4938537"/>
            <a:ext cx="0" cy="41148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2" name="Picture 2" descr="E:\CG\交互式计算机图形学—基于OpenGL着色器的自顶向下方法（第六版）\Figures\CHAPTER03 JPEG\an03f36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17356" y="5368750"/>
            <a:ext cx="947662" cy="813837"/>
          </a:xfrm>
          <a:prstGeom prst="rect">
            <a:avLst/>
          </a:prstGeom>
          <a:noFill/>
        </p:spPr>
      </p:pic>
      <p:pic>
        <p:nvPicPr>
          <p:cNvPr id="53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3064" y="5354754"/>
            <a:ext cx="848180" cy="755539"/>
          </a:xfrm>
          <a:prstGeom prst="rect">
            <a:avLst/>
          </a:prstGeom>
        </p:spPr>
      </p:pic>
      <p:pic>
        <p:nvPicPr>
          <p:cNvPr id="54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7717" y="2364267"/>
            <a:ext cx="1030076" cy="65153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269208" y="312688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Ch06</a:t>
            </a:r>
            <a:endParaRPr lang="en-US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17" t="2858" r="128" b="31715"/>
          <a:stretch/>
        </p:blipFill>
        <p:spPr>
          <a:xfrm>
            <a:off x="4261469" y="5448162"/>
            <a:ext cx="884087" cy="58042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68479" y="18718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基本图元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2118346" y="18718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层级建模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463587" y="187182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光栅化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825176" y="49568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明暗绘制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7457576" y="18718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纹理映射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5931776" y="18680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隐藏面消除</a:t>
            </a:r>
            <a:endParaRPr lang="en-US" dirty="0"/>
          </a:p>
        </p:txBody>
      </p:sp>
      <p:cxnSp>
        <p:nvCxnSpPr>
          <p:cNvPr id="64" name="Straight Arrow Connector 63"/>
          <p:cNvCxnSpPr/>
          <p:nvPr/>
        </p:nvCxnSpPr>
        <p:spPr>
          <a:xfrm rot="5400000" flipV="1">
            <a:off x="5434374" y="4960866"/>
            <a:ext cx="0" cy="41148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9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6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2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2" grpId="0"/>
      <p:bldP spid="37" grpId="0"/>
      <p:bldP spid="41" grpId="0"/>
      <p:bldP spid="35" grpId="0"/>
      <p:bldP spid="35" grpId="1"/>
      <p:bldP spid="44" grpId="0"/>
      <p:bldP spid="44" grpId="1"/>
      <p:bldP spid="45" grpId="0"/>
      <p:bldP spid="47" grpId="0"/>
      <p:bldP spid="48" grpId="0"/>
      <p:bldP spid="49" grpId="0"/>
      <p:bldP spid="56" grpId="0"/>
      <p:bldP spid="58" grpId="0"/>
      <p:bldP spid="59" grpId="0"/>
      <p:bldP spid="59" grpId="1"/>
      <p:bldP spid="60" grpId="0"/>
      <p:bldP spid="61" grpId="0"/>
      <p:bldP spid="61" grpId="1"/>
      <p:bldP spid="62" grpId="0"/>
      <p:bldP spid="62" grpId="1"/>
      <p:bldP spid="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</a:t>
            </a:r>
            <a:r>
              <a:rPr lang="zh-CN" altLang="en-US" dirty="0" smtClean="0"/>
              <a:t>建模</a:t>
            </a:r>
            <a:endParaRPr lang="en-US" altLang="en-US" dirty="0"/>
          </a:p>
          <a:p>
            <a:pPr lvl="1"/>
            <a:r>
              <a:rPr lang="zh-CN" altLang="en-US" dirty="0"/>
              <a:t>场景设计和</a:t>
            </a:r>
            <a:r>
              <a:rPr lang="zh-CN" altLang="en-US" dirty="0" smtClean="0"/>
              <a:t>显示；添加纹理；添加光照，</a:t>
            </a:r>
            <a:r>
              <a:rPr lang="zh-CN" altLang="en-US" dirty="0"/>
              <a:t>材质，阴影效果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zh-CN" altLang="en-US" dirty="0"/>
              <a:t>用户交互实现视角切换完成对场景的任意角度</a:t>
            </a:r>
            <a:r>
              <a:rPr lang="zh-CN" altLang="en-US" dirty="0" smtClean="0"/>
              <a:t>浏览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zh-CN" altLang="en-US" dirty="0"/>
              <a:t>交互控制</a:t>
            </a:r>
            <a:r>
              <a:rPr lang="zh-CN" altLang="en-US" dirty="0" smtClean="0"/>
              <a:t>物体变换</a:t>
            </a:r>
            <a:endParaRPr lang="en-US" altLang="zh-CN" dirty="0" smtClean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20</a:t>
            </a:r>
            <a:r>
              <a:rPr lang="en-US" altLang="zh-CN" b="1" dirty="0" smtClean="0">
                <a:solidFill>
                  <a:srgbClr val="FF0000"/>
                </a:solidFill>
              </a:rPr>
              <a:t>24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01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02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23:59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b="1" dirty="0" smtClean="0">
                <a:solidFill>
                  <a:srgbClr val="FF0000"/>
                </a:solidFill>
              </a:rPr>
              <a:t>17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18</a:t>
            </a:r>
            <a:r>
              <a:rPr lang="zh-CN" altLang="en-US" b="1" dirty="0" smtClean="0">
                <a:solidFill>
                  <a:srgbClr val="FF0000"/>
                </a:solidFill>
              </a:rPr>
              <a:t>周</a:t>
            </a:r>
            <a:r>
              <a:rPr lang="zh-CN" altLang="en-US" b="1" dirty="0" smtClean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2023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27</a:t>
            </a:r>
            <a:r>
              <a:rPr lang="zh-CN" altLang="en-US" b="1" dirty="0" smtClean="0">
                <a:solidFill>
                  <a:srgbClr val="FF0000"/>
                </a:solidFill>
              </a:rPr>
              <a:t>日、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2024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01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03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</a:rPr>
              <a:t>理论</a:t>
            </a:r>
            <a:r>
              <a:rPr lang="zh-CN" altLang="en-US" b="1" dirty="0">
                <a:solidFill>
                  <a:srgbClr val="FF0000"/>
                </a:solidFill>
              </a:rPr>
              <a:t>课和实验课将安排课程大作业答辩</a:t>
            </a:r>
            <a:r>
              <a:rPr lang="zh-CN" altLang="en-US" dirty="0" smtClean="0"/>
              <a:t>，自愿优先，否则按照</a:t>
            </a:r>
            <a:r>
              <a:rPr lang="zh-CN" altLang="en-US" dirty="0"/>
              <a:t>学号顺序，每人上台展示自己的期末大</a:t>
            </a:r>
            <a:r>
              <a:rPr lang="zh-CN" altLang="en-US" dirty="0" smtClean="0"/>
              <a:t>作业。</a:t>
            </a:r>
            <a:endParaRPr lang="en-US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pic>
        <p:nvPicPr>
          <p:cNvPr id="6" name="Picture 5" descr="C:\Users\xieke\Documents\Tencent Files\2314228897\Image\C2C\FCQHRQJIU96ZXZ){6JJF{RX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56" y="4070831"/>
            <a:ext cx="3678865" cy="261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4070831"/>
            <a:ext cx="2566284" cy="265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7296</TotalTime>
  <Words>1362</Words>
  <Application>Microsoft Office PowerPoint</Application>
  <PresentationFormat>全屏显示(4:3)</PresentationFormat>
  <Paragraphs>309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04b</vt:lpstr>
      <vt:lpstr>Mangal</vt:lpstr>
      <vt:lpstr>楷体</vt:lpstr>
      <vt:lpstr>宋体</vt:lpstr>
      <vt:lpstr>微软雅黑</vt:lpstr>
      <vt:lpstr>Arial</vt:lpstr>
      <vt:lpstr>Calibri</vt:lpstr>
      <vt:lpstr>Cambria Math</vt:lpstr>
      <vt:lpstr>Wingdings</vt:lpstr>
      <vt:lpstr>Office 主题</vt:lpstr>
      <vt:lpstr>1_Office 主题</vt:lpstr>
      <vt:lpstr>PowerPoint 演示文稿</vt:lpstr>
      <vt:lpstr>知识点回顾 - 图符</vt:lpstr>
      <vt:lpstr>知识点回顾 - 实例变换</vt:lpstr>
      <vt:lpstr>知识点回顾 - 机器人手臂</vt:lpstr>
      <vt:lpstr>知识点回顾 - 关联模型</vt:lpstr>
      <vt:lpstr>知识点回顾 - 变换矩阵</vt:lpstr>
      <vt:lpstr>知识点回顾 - OpenGL实现</vt:lpstr>
      <vt:lpstr>知识点回顾 - OpenGL实现</vt:lpstr>
      <vt:lpstr>知识点回顾 - 实验补充 1</vt:lpstr>
      <vt:lpstr>内容提要</vt:lpstr>
      <vt:lpstr>大纲</vt:lpstr>
      <vt:lpstr>机器人手臂的OpenGL实现</vt:lpstr>
      <vt:lpstr>机器人的树结构</vt:lpstr>
      <vt:lpstr>带有矩阵的树结构</vt:lpstr>
      <vt:lpstr>基于堆栈的遍历</vt:lpstr>
      <vt:lpstr>遍历代码</vt:lpstr>
      <vt:lpstr>部件绘制</vt:lpstr>
      <vt:lpstr>递归遍历</vt:lpstr>
      <vt:lpstr>树数据结构</vt:lpstr>
      <vt:lpstr>树节点的结构</vt:lpstr>
      <vt:lpstr>大纲</vt:lpstr>
      <vt:lpstr>动画</vt:lpstr>
      <vt:lpstr>运动学和反向运动学</vt:lpstr>
      <vt:lpstr>实验补充 2</vt:lpstr>
      <vt:lpstr>主要任务</vt:lpstr>
      <vt:lpstr>期末大作业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周 漾</cp:lastModifiedBy>
  <cp:revision>297</cp:revision>
  <dcterms:created xsi:type="dcterms:W3CDTF">2016-08-04T07:29:19Z</dcterms:created>
  <dcterms:modified xsi:type="dcterms:W3CDTF">2023-11-29T08:18:23Z</dcterms:modified>
</cp:coreProperties>
</file>