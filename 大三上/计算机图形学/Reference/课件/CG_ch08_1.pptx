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84" r:id="rId2"/>
  </p:sldMasterIdLst>
  <p:notesMasterIdLst>
    <p:notesMasterId r:id="rId34"/>
  </p:notesMasterIdLst>
  <p:sldIdLst>
    <p:sldId id="354" r:id="rId3"/>
    <p:sldId id="265" r:id="rId4"/>
    <p:sldId id="266" r:id="rId5"/>
    <p:sldId id="267" r:id="rId6"/>
    <p:sldId id="268" r:id="rId7"/>
    <p:sldId id="269" r:id="rId8"/>
    <p:sldId id="334" r:id="rId9"/>
    <p:sldId id="335" r:id="rId10"/>
    <p:sldId id="336" r:id="rId11"/>
    <p:sldId id="337" r:id="rId12"/>
    <p:sldId id="270" r:id="rId13"/>
    <p:sldId id="271" r:id="rId14"/>
    <p:sldId id="275" r:id="rId15"/>
    <p:sldId id="276" r:id="rId16"/>
    <p:sldId id="277" r:id="rId17"/>
    <p:sldId id="281" r:id="rId18"/>
    <p:sldId id="279" r:id="rId19"/>
    <p:sldId id="280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338" r:id="rId29"/>
    <p:sldId id="349" r:id="rId30"/>
    <p:sldId id="352" r:id="rId31"/>
    <p:sldId id="350" r:id="rId32"/>
    <p:sldId id="351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6" autoAdjust="0"/>
    <p:restoredTop sz="94641"/>
  </p:normalViewPr>
  <p:slideViewPr>
    <p:cSldViewPr snapToGrid="0">
      <p:cViewPr varScale="1">
        <p:scale>
          <a:sx n="109" d="100"/>
          <a:sy n="109" d="100"/>
        </p:scale>
        <p:origin x="12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C56F0-BEE5-4715-8E33-DABC78619DE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03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dirty="0" smtClean="0">
                <a:effectLst/>
              </a:rPr>
              <a:t>/</a:t>
            </a:r>
            <a:r>
              <a:rPr lang="en-US" dirty="0" err="1" smtClean="0">
                <a:effectLst/>
              </a:rPr>
              <a:t>faɪ</a:t>
            </a:r>
            <a:r>
              <a:rPr lang="en-US" dirty="0" smtClean="0">
                <a:effectLst/>
              </a:rPr>
              <a:t>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psi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 smtClean="0">
                <a:effectLst/>
              </a:rPr>
              <a:t>/</a:t>
            </a:r>
            <a:r>
              <a:rPr lang="en-US" dirty="0" err="1" smtClean="0">
                <a:effectLst/>
              </a:rPr>
              <a:t>psaɪ</a:t>
            </a:r>
            <a:r>
              <a:rPr lang="en-US" dirty="0" smtClean="0">
                <a:effectLst/>
              </a:rPr>
              <a:t>/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0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BE31F-852E-4C21-A5BF-45A621D063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456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D8B5D-A758-4441-AB52-89DDE7AF36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03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D77614-659B-42BB-94D6-453193BCDA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31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9A146-8CD6-4CAA-B3D3-2C21DC42388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080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6B5B9-9CF5-47F0-9553-3F68E408061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23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754A2-9B8A-4D21-BA10-2D4311C5CCE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9868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81895-D564-41D2-A6FC-FB534A1687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004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9337D-A0CC-4C7E-87C9-35D7F76F26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973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11D75-C662-4506-9923-F360C490CD8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44615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DD6D4-6C22-42E4-BD00-B5AB433AEB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6852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094D1-277E-4F0D-A9D3-6C723ED9405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91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4977B-C4EC-482F-96C1-0349DC32933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415052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9400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计算机图形学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8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7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层级建模方法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 smtClean="0">
                <a:solidFill>
                  <a:schemeClr val="bg1"/>
                </a:solidFill>
              </a:rPr>
              <a:t>8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5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 smtClean="0"/>
              <a:t>图符和实例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层级模型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机器人手臂的实现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机器人的实现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动画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11692" y="3273223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47165" y="336410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图符和实例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40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计算机图形学中的模型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 indent="-360000">
              <a:buClr>
                <a:srgbClr val="94003F"/>
              </a:buClr>
            </a:pPr>
            <a:r>
              <a:rPr lang="zh-CN" altLang="en-US" sz="2400" dirty="0"/>
              <a:t>模型是世界的抽象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这里的世界既可以是真实的，也可以是虚拟的</a:t>
            </a:r>
          </a:p>
          <a:p>
            <a:pPr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>
                <a:latin typeface="Cambria Math" charset="0"/>
                <a:ea typeface="Microsoft YaHei" charset="-122"/>
                <a:cs typeface="Microsoft YaHei" charset="-122"/>
              </a:rPr>
              <a:t>用</a:t>
            </a:r>
            <a:r>
              <a:rPr lang="zh-CN" altLang="en-US" sz="2400" dirty="0" smtClean="0">
                <a:solidFill>
                  <a:srgbClr val="0000FF"/>
                </a:solidFill>
                <a:latin typeface="Cambria Math" charset="0"/>
                <a:ea typeface="Microsoft YaHei" charset="-122"/>
                <a:cs typeface="Microsoft YaHei" charset="-122"/>
              </a:rPr>
              <a:t>抽象</a:t>
            </a:r>
            <a:r>
              <a:rPr lang="zh-CN" altLang="en-US" sz="2400" dirty="0">
                <a:solidFill>
                  <a:srgbClr val="0000FF"/>
                </a:solidFill>
                <a:latin typeface="Cambria Math" charset="0"/>
                <a:ea typeface="Microsoft YaHei" charset="-122"/>
                <a:cs typeface="Microsoft YaHei" charset="-122"/>
              </a:rPr>
              <a:t>数据</a:t>
            </a:r>
            <a:r>
              <a:rPr lang="zh-CN" altLang="en-US" sz="2400" dirty="0" smtClean="0">
                <a:solidFill>
                  <a:srgbClr val="0000FF"/>
                </a:solidFill>
                <a:latin typeface="Cambria Math" charset="0"/>
                <a:ea typeface="Microsoft YaHei" charset="-122"/>
                <a:cs typeface="Microsoft YaHei" charset="-122"/>
              </a:rPr>
              <a:t>类型</a:t>
            </a:r>
            <a:r>
              <a:rPr lang="zh-CN" altLang="en-US" sz="2400" dirty="0" smtClean="0"/>
              <a:t>表示对象之间的结构关系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zh-CN" altLang="en-US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计算机图形学中的建模主要包括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几何</a:t>
            </a:r>
            <a:r>
              <a:rPr lang="zh-CN" altLang="en-US" sz="1800" dirty="0"/>
              <a:t>对象：物体的几何表示等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材质</a:t>
            </a:r>
            <a:r>
              <a:rPr lang="zh-CN" altLang="en-US" sz="1800" dirty="0"/>
              <a:t>模型：反射</a:t>
            </a:r>
            <a:r>
              <a:rPr lang="zh-CN" altLang="en-US" sz="1800" dirty="0" smtClean="0"/>
              <a:t>系数等</a:t>
            </a:r>
            <a:endParaRPr lang="zh-CN" altLang="en-US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光源</a:t>
            </a:r>
            <a:r>
              <a:rPr lang="zh-CN" altLang="en-US" sz="1800" dirty="0"/>
              <a:t>模型：光源颜色、光源的几何属性等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虚拟</a:t>
            </a:r>
            <a:r>
              <a:rPr lang="zh-CN" altLang="en-US" sz="1800" dirty="0"/>
              <a:t>照相机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64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</a:t>
            </a:r>
            <a:r>
              <a:rPr lang="zh-CN" altLang="en-US" dirty="0" smtClean="0"/>
              <a:t>的表示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在计算机科学领域，当</a:t>
            </a:r>
            <a:r>
              <a:rPr lang="zh-CN" altLang="en-US" sz="2400" dirty="0"/>
              <a:t>建立一个数学模型时，</a:t>
            </a:r>
            <a:r>
              <a:rPr lang="zh-CN" altLang="en-US" sz="2400" dirty="0" smtClean="0"/>
              <a:t>需要仔细</a:t>
            </a:r>
            <a:r>
              <a:rPr lang="zh-CN" altLang="en-US" sz="2400" dirty="0"/>
              <a:t>确定采用哪种</a:t>
            </a:r>
            <a:r>
              <a:rPr lang="zh-CN" altLang="en-US" sz="2400" dirty="0" smtClean="0"/>
              <a:t>数学表示</a:t>
            </a:r>
            <a:endParaRPr lang="zh-CN" altLang="en-US" sz="2400" dirty="0"/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根据所需要模拟的现象进行选择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例：常微分方程适用于模拟弹簧质子系统的行为；而偏微分方程则适用于</a:t>
            </a:r>
            <a:r>
              <a:rPr lang="zh-CN" altLang="en-US" sz="1800" dirty="0" smtClean="0"/>
              <a:t>模拟流体</a:t>
            </a:r>
            <a:r>
              <a:rPr lang="zh-CN" altLang="en-US" sz="1800" dirty="0"/>
              <a:t>的行为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计算机</a:t>
            </a:r>
            <a:r>
              <a:rPr lang="zh-CN" altLang="en-US" sz="2400" dirty="0" smtClean="0"/>
              <a:t>图形学领域，在建立一个模型时，需要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选择模型使用的图元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表示这些图元之间的关系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600" dirty="0" smtClean="0"/>
              <a:t>如何定义并表示一个复杂的几何模型？</a:t>
            </a:r>
            <a:endParaRPr lang="en-US" altLang="zh-CN" sz="2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94003F"/>
              </a:buClr>
              <a:buSzPct val="70000"/>
              <a:buNone/>
            </a:pPr>
            <a:endParaRPr lang="zh-CN" altLang="en-US" sz="2400" dirty="0" smtClean="0"/>
          </a:p>
        </p:txBody>
      </p:sp>
      <p:pic>
        <p:nvPicPr>
          <p:cNvPr id="7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824944" y="4412512"/>
            <a:ext cx="1216877" cy="12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7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Ch03</a:t>
            </a:r>
            <a:r>
              <a:rPr lang="zh-CN" altLang="en-US" dirty="0" smtClean="0"/>
              <a:t>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变换的作用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生成多个相同或者近似几何对象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雪花的构造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28650" y="2381788"/>
            <a:ext cx="7991444" cy="3442991"/>
            <a:chOff x="254" y="1168"/>
            <a:chExt cx="5176" cy="2230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>
              <p:extLst/>
            </p:nvPr>
          </p:nvGraphicFramePr>
          <p:xfrm>
            <a:off x="254" y="1168"/>
            <a:ext cx="5176" cy="2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3" name="Image" r:id="rId3" imgW="14146032" imgH="5777778" progId="Photoshop.Image.7">
                    <p:embed/>
                  </p:oleObj>
                </mc:Choice>
                <mc:Fallback>
                  <p:oleObj name="Image" r:id="rId3" imgW="14146032" imgH="5777778" progId="Photoshop.Image.7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168"/>
                          <a:ext cx="5176" cy="2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987" y="1248"/>
              <a:ext cx="1027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应用</a:t>
              </a:r>
              <a:r>
                <a:rPr lang="en-US" altLang="zh-CN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12</a:t>
              </a:r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6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生成多个相同或者近似几何</a:t>
            </a:r>
            <a:r>
              <a:rPr lang="zh-CN" altLang="en-US" sz="2400" dirty="0" smtClean="0"/>
              <a:t>对象</a:t>
            </a:r>
            <a:endParaRPr lang="en-US" altLang="zh-CN" sz="2400" dirty="0"/>
          </a:p>
          <a:p>
            <a:pPr lvl="1"/>
            <a:r>
              <a:rPr lang="zh-CN" altLang="en-US" sz="1800" dirty="0" smtClean="0"/>
              <a:t>二维场景组合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54" y="2230734"/>
            <a:ext cx="7927247" cy="300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 smtClean="0"/>
              <a:t>三维场景组合</a:t>
            </a:r>
            <a:endParaRPr lang="zh-CN" alt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/>
          </p:nvPr>
        </p:nvGraphicFramePr>
        <p:xfrm>
          <a:off x="1961897" y="2406116"/>
          <a:ext cx="4723716" cy="3778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" name="Image" r:id="rId3" imgW="11530159" imgH="8749206" progId="Photoshop.Image.7">
                  <p:embed/>
                </p:oleObj>
              </mc:Choice>
              <mc:Fallback>
                <p:oleObj name="Image" r:id="rId3" imgW="11530159" imgH="874920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97" y="2406116"/>
                        <a:ext cx="4723716" cy="3778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078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大多数图形</a:t>
            </a:r>
            <a:r>
              <a:rPr lang="en-US" altLang="zh-CN" sz="2400" dirty="0" smtClean="0"/>
              <a:t>API</a:t>
            </a:r>
            <a:r>
              <a:rPr lang="zh-CN" altLang="en-US" sz="2400" dirty="0" smtClean="0"/>
              <a:t>对图元采取</a:t>
            </a:r>
            <a:r>
              <a:rPr lang="zh-CN" altLang="en-US" sz="2400" dirty="0" smtClean="0">
                <a:solidFill>
                  <a:srgbClr val="0000FF"/>
                </a:solidFill>
              </a:rPr>
              <a:t>最小完备</a:t>
            </a:r>
            <a:r>
              <a:rPr lang="zh-CN" altLang="en-US" sz="2400" dirty="0" smtClean="0"/>
              <a:t>的观点：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他们只包含少数的基本图元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而让用户通过这些基本的图元来构建更复杂的对象</a:t>
            </a:r>
            <a:endParaRPr lang="en-US" altLang="zh-CN" sz="1800" dirty="0" smtClean="0"/>
          </a:p>
          <a:p>
            <a:pPr lvl="1"/>
            <a:endParaRPr lang="en-US" sz="1800" dirty="0"/>
          </a:p>
          <a:p>
            <a:r>
              <a:rPr lang="zh-CN" altLang="en-US" sz="2600" dirty="0" smtClean="0"/>
              <a:t>这些基本图元通常被视为一些</a:t>
            </a:r>
            <a:r>
              <a:rPr lang="zh-CN" altLang="en-US" sz="2600" dirty="0" smtClean="0">
                <a:solidFill>
                  <a:srgbClr val="0000FF"/>
                </a:solidFill>
              </a:rPr>
              <a:t>图符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symbol</a:t>
            </a:r>
            <a:r>
              <a:rPr lang="zh-CN" altLang="en-US" sz="2600" dirty="0" smtClean="0"/>
              <a:t>），所要建模的世界可以看成由这些离散的图符组成</a:t>
            </a:r>
            <a:endParaRPr lang="en-US" altLang="zh-CN" sz="2600" dirty="0" smtClean="0"/>
          </a:p>
          <a:p>
            <a:endParaRPr lang="en-US" sz="2600" dirty="0"/>
          </a:p>
          <a:p>
            <a:r>
              <a:rPr lang="zh-CN" altLang="en-US" sz="2600" dirty="0" smtClean="0"/>
              <a:t>通常根据自身的几何特征表示为合适的大小和方位：</a:t>
            </a:r>
            <a:endParaRPr lang="en-US" altLang="zh-CN" sz="2600" dirty="0" smtClean="0"/>
          </a:p>
          <a:p>
            <a:pPr lvl="1"/>
            <a:r>
              <a:rPr lang="zh-CN" altLang="en-US" sz="1800" dirty="0" smtClean="0"/>
              <a:t>圆柱体：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中心轴与坐标系的某个主轴平行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高度为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个单位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半径为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个单位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0000FF"/>
                </a:solidFill>
              </a:rPr>
              <a:t>建模标架</a:t>
            </a:r>
            <a:endParaRPr lang="en-US" altLang="zh-CN" sz="1600" dirty="0" smtClean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 smtClean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OpenGL</a:t>
            </a:r>
            <a:r>
              <a:rPr lang="zh-CN" altLang="en-US" sz="2400" dirty="0" smtClean="0"/>
              <a:t>应用程序中，必须通过几何变换把图符从</a:t>
            </a:r>
            <a:r>
              <a:rPr lang="zh-CN" altLang="en-US" sz="2400" dirty="0" smtClean="0">
                <a:solidFill>
                  <a:srgbClr val="0000FF"/>
                </a:solidFill>
              </a:rPr>
              <a:t>建模标架</a:t>
            </a:r>
            <a:r>
              <a:rPr lang="zh-CN" altLang="en-US" sz="2400" dirty="0" smtClean="0"/>
              <a:t>变换到</a:t>
            </a:r>
            <a:r>
              <a:rPr lang="zh-CN" altLang="en-US" sz="2400" dirty="0" smtClean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得到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实例变化把每个图符实例按照所需的</a:t>
            </a:r>
            <a:r>
              <a:rPr lang="zh-CN" altLang="en-US" sz="2400" dirty="0" smtClean="0">
                <a:solidFill>
                  <a:srgbClr val="0000FF"/>
                </a:solidFill>
              </a:rPr>
              <a:t>大小</a:t>
            </a:r>
            <a:r>
              <a:rPr lang="zh-CN" altLang="en-US" sz="2400" dirty="0" smtClean="0"/>
              <a:t>，</a:t>
            </a:r>
            <a:r>
              <a:rPr lang="zh-CN" altLang="en-US" sz="2400" dirty="0" smtClean="0">
                <a:solidFill>
                  <a:srgbClr val="0000FF"/>
                </a:solidFill>
              </a:rPr>
              <a:t>方向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0000FF"/>
                </a:solidFill>
              </a:rPr>
              <a:t>位置</a:t>
            </a:r>
            <a:r>
              <a:rPr lang="zh-CN" altLang="en-US" sz="2400" dirty="0" smtClean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35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图符</a:t>
            </a:r>
            <a:r>
              <a:rPr lang="en-US" altLang="zh-CN" dirty="0" smtClean="0"/>
              <a:t>-</a:t>
            </a:r>
            <a:r>
              <a:rPr lang="zh-CN" altLang="en-US" dirty="0" smtClean="0"/>
              <a:t>实例表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64992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存储模型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方法：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给每个图符赋</a:t>
            </a:r>
            <a:r>
              <a:rPr lang="zh-CN" altLang="en-US" sz="1800" dirty="0"/>
              <a:t>一</a:t>
            </a:r>
            <a:r>
              <a:rPr lang="zh-CN" altLang="en-US" sz="1800" dirty="0" smtClean="0"/>
              <a:t>个唯一的数值编号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对于每一个实例，存储实例</a:t>
            </a:r>
            <a:r>
              <a:rPr lang="zh-CN" altLang="en-US" sz="1800" dirty="0"/>
              <a:t>变换的</a:t>
            </a:r>
            <a:r>
              <a:rPr lang="zh-CN" altLang="en-US" sz="1800" dirty="0" smtClean="0"/>
              <a:t>参数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 smtClean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 smtClean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 smtClean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 smtClean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但是，</a:t>
            </a:r>
            <a:r>
              <a:rPr lang="zh-CN" altLang="en-US" sz="2400" dirty="0" smtClean="0">
                <a:solidFill>
                  <a:srgbClr val="0000FF"/>
                </a:solidFill>
              </a:rPr>
              <a:t>这种存储方式并没有反映对象之间的关系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449" y="2443883"/>
            <a:ext cx="4179352" cy="292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1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77998" y="336410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层级模型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04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汽车动画模型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考虑</a:t>
            </a:r>
            <a:r>
              <a:rPr lang="zh-CN" altLang="en-US" sz="2400" dirty="0"/>
              <a:t>汽车的</a:t>
            </a:r>
            <a:r>
              <a:rPr lang="zh-CN" altLang="en-US" sz="2400" dirty="0" smtClean="0"/>
              <a:t>模型部件</a:t>
            </a:r>
            <a:endParaRPr lang="en-US" altLang="zh-CN" sz="2400" dirty="0"/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车身</a:t>
            </a:r>
            <a:r>
              <a:rPr lang="en-US" altLang="zh-CN" sz="1800" dirty="0" smtClean="0"/>
              <a:t>+</a:t>
            </a:r>
            <a:r>
              <a:rPr lang="zh-CN" altLang="en-US" sz="1800" dirty="0" smtClean="0"/>
              <a:t>四</a:t>
            </a:r>
            <a:r>
              <a:rPr lang="zh-CN" altLang="en-US" sz="1800" dirty="0"/>
              <a:t>个一样的车轮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两</a:t>
            </a:r>
            <a:r>
              <a:rPr lang="zh-CN" altLang="en-US" sz="1800" dirty="0" smtClean="0"/>
              <a:t>个图符，五个实例</a:t>
            </a: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如何生成汽车动画？</a:t>
            </a:r>
            <a:endParaRPr lang="en-US" altLang="zh-CN" sz="2400" dirty="0" smtClean="0"/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82" y="1723488"/>
            <a:ext cx="4915463" cy="18793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75" y="4659571"/>
            <a:ext cx="3332475" cy="13261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419" y="4659570"/>
            <a:ext cx="3332475" cy="132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1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线性程序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43484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伪代码：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问题：无法描述汽车各个部件之间的关系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不能把车身的运动和轮子的运动分隔开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联动关系：轮子跟着车身一起动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 smtClean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 smtClean="0"/>
          </a:p>
          <a:p>
            <a:pPr>
              <a:buClr>
                <a:srgbClr val="94003F"/>
              </a:buClr>
            </a:pP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957909" y="1804730"/>
            <a:ext cx="5228181" cy="341632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dirty="0" smtClean="0"/>
              <a:t>{</a:t>
            </a:r>
          </a:p>
          <a:p>
            <a:pPr>
              <a:buClr>
                <a:srgbClr val="94003F"/>
              </a:buClr>
            </a:pPr>
            <a:r>
              <a:rPr lang="zh-CN" altLang="en-US" dirty="0" smtClean="0"/>
              <a:t>      </a:t>
            </a:r>
            <a:r>
              <a:rPr lang="en-US" altLang="zh-CN" dirty="0" smtClean="0">
                <a:solidFill>
                  <a:srgbClr val="0000FF"/>
                </a:solidFill>
              </a:rPr>
              <a:t>float</a:t>
            </a:r>
            <a:r>
              <a:rPr lang="zh-CN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CN" dirty="0" smtClean="0"/>
              <a:t>s;</a:t>
            </a:r>
            <a:r>
              <a:rPr lang="zh-CN" altLang="en-US" dirty="0" smtClean="0"/>
              <a:t>  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r>
              <a:rPr lang="zh-CN" altLang="en-US" dirty="0" smtClean="0">
                <a:solidFill>
                  <a:schemeClr val="accent6"/>
                </a:solidFill>
              </a:rPr>
              <a:t>* 速度*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</a:t>
            </a:r>
            <a:r>
              <a:rPr lang="zh-CN" altLang="en-US" dirty="0" smtClean="0"/>
              <a:t>     </a:t>
            </a:r>
            <a:r>
              <a:rPr lang="en-US" altLang="zh-CN" dirty="0" smtClean="0">
                <a:solidFill>
                  <a:srgbClr val="0000FF"/>
                </a:solidFill>
              </a:rPr>
              <a:t>float</a:t>
            </a:r>
            <a:r>
              <a:rPr lang="zh-CN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CN" dirty="0" smtClean="0"/>
              <a:t>d[3];</a:t>
            </a:r>
            <a:r>
              <a:rPr lang="zh-CN" altLang="en-US" dirty="0" smtClean="0"/>
              <a:t>  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</a:t>
            </a:r>
            <a:r>
              <a:rPr lang="zh-CN" altLang="en-US" dirty="0" smtClean="0">
                <a:solidFill>
                  <a:schemeClr val="accent6"/>
                </a:solidFill>
              </a:rPr>
              <a:t>方向*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      </a:t>
            </a:r>
            <a:r>
              <a:rPr lang="en-US" altLang="zh-CN" dirty="0" smtClean="0">
                <a:solidFill>
                  <a:srgbClr val="0000FF"/>
                </a:solidFill>
              </a:rPr>
              <a:t>float</a:t>
            </a:r>
            <a:r>
              <a:rPr lang="zh-CN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CN" dirty="0" smtClean="0"/>
              <a:t>t;</a:t>
            </a:r>
            <a:r>
              <a:rPr lang="zh-CN" altLang="en-US" dirty="0" smtClean="0"/>
              <a:t>  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</a:t>
            </a:r>
            <a:r>
              <a:rPr lang="zh-CN" altLang="en-US" dirty="0" smtClean="0">
                <a:solidFill>
                  <a:schemeClr val="accent6"/>
                </a:solidFill>
              </a:rPr>
              <a:t>时间*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>
                <a:solidFill>
                  <a:schemeClr val="accent6"/>
                </a:solidFill>
              </a:rPr>
              <a:t>     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</a:t>
            </a:r>
            <a:r>
              <a:rPr lang="zh-CN" altLang="en-US" dirty="0" smtClean="0">
                <a:solidFill>
                  <a:schemeClr val="accent6"/>
                </a:solidFill>
              </a:rPr>
              <a:t>确定汽车在时刻</a:t>
            </a:r>
            <a:r>
              <a:rPr lang="en-US" altLang="zh-CN" dirty="0" smtClean="0">
                <a:solidFill>
                  <a:schemeClr val="accent6"/>
                </a:solidFill>
              </a:rPr>
              <a:t>t</a:t>
            </a:r>
            <a:r>
              <a:rPr lang="zh-CN" altLang="en-US" dirty="0" smtClean="0">
                <a:solidFill>
                  <a:schemeClr val="accent6"/>
                </a:solidFill>
              </a:rPr>
              <a:t>的位置和方向*</a:t>
            </a:r>
            <a:r>
              <a:rPr lang="en-US" altLang="zh-CN" dirty="0" smtClean="0">
                <a:solidFill>
                  <a:schemeClr val="accent6"/>
                </a:solidFill>
              </a:rPr>
              <a:t>/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      </a:t>
            </a:r>
            <a:r>
              <a:rPr lang="en-US" altLang="zh-CN" b="1" dirty="0" err="1" smtClean="0"/>
              <a:t>draw_right_front_wheel</a:t>
            </a:r>
            <a:r>
              <a:rPr lang="en-US" altLang="zh-CN" dirty="0" smtClean="0"/>
              <a:t>(t,</a:t>
            </a:r>
            <a:r>
              <a:rPr lang="zh-CN" altLang="en-US" dirty="0" smtClean="0"/>
              <a:t> </a:t>
            </a:r>
            <a:r>
              <a:rPr lang="en-US" altLang="zh-CN" dirty="0" smtClean="0"/>
              <a:t>s,</a:t>
            </a:r>
            <a:r>
              <a:rPr lang="zh-CN" altLang="en-US" dirty="0" smtClean="0"/>
              <a:t> </a:t>
            </a:r>
            <a:r>
              <a:rPr lang="en-US" altLang="zh-CN" dirty="0" smtClean="0"/>
              <a:t>d);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 </a:t>
            </a:r>
            <a:r>
              <a:rPr lang="zh-CN" altLang="en-US" dirty="0" smtClean="0"/>
              <a:t>     </a:t>
            </a:r>
            <a:r>
              <a:rPr lang="en-US" altLang="zh-CN" b="1" dirty="0" err="1" smtClean="0"/>
              <a:t>draw_left_front_wheel</a:t>
            </a:r>
            <a:r>
              <a:rPr lang="en-US" altLang="zh-CN" dirty="0" smtClean="0"/>
              <a:t>(</a:t>
            </a:r>
            <a:r>
              <a:rPr lang="en-US" altLang="zh-CN" dirty="0"/>
              <a:t>t,</a:t>
            </a:r>
            <a:r>
              <a:rPr lang="zh-CN" altLang="en-US" dirty="0"/>
              <a:t> </a:t>
            </a:r>
            <a:r>
              <a:rPr lang="en-US" altLang="zh-CN" dirty="0" smtClean="0"/>
              <a:t>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dirty="0" smtClean="0"/>
              <a:t>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</a:t>
            </a:r>
            <a:r>
              <a:rPr lang="zh-CN" altLang="en-US" dirty="0" smtClean="0"/>
              <a:t>     </a:t>
            </a:r>
            <a:r>
              <a:rPr lang="en-US" altLang="zh-CN" b="1" dirty="0" err="1" smtClean="0"/>
              <a:t>draw_right_back_wheel</a:t>
            </a:r>
            <a:r>
              <a:rPr lang="en-US" altLang="zh-CN" dirty="0" smtClean="0"/>
              <a:t>(</a:t>
            </a:r>
            <a:r>
              <a:rPr lang="en-US" altLang="zh-CN" dirty="0"/>
              <a:t>t,</a:t>
            </a:r>
            <a:r>
              <a:rPr lang="zh-CN" altLang="en-US" dirty="0"/>
              <a:t> </a:t>
            </a:r>
            <a:r>
              <a:rPr lang="en-US" altLang="zh-CN" dirty="0" smtClean="0"/>
              <a:t>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dirty="0" smtClean="0"/>
              <a:t>);</a:t>
            </a:r>
          </a:p>
          <a:p>
            <a:pPr>
              <a:buClr>
                <a:srgbClr val="94003F"/>
              </a:buClr>
            </a:pPr>
            <a:r>
              <a:rPr lang="zh-CN" altLang="en-US" dirty="0" smtClean="0"/>
              <a:t>      </a:t>
            </a:r>
            <a:r>
              <a:rPr lang="en-US" altLang="zh-CN" b="1" dirty="0" err="1" smtClean="0"/>
              <a:t>draw_left_back_wheel</a:t>
            </a:r>
            <a:r>
              <a:rPr lang="en-US" altLang="zh-CN" dirty="0" smtClean="0"/>
              <a:t>(</a:t>
            </a:r>
            <a:r>
              <a:rPr lang="en-US" altLang="zh-CN" dirty="0"/>
              <a:t>t,</a:t>
            </a:r>
            <a:r>
              <a:rPr lang="zh-CN" altLang="en-US" dirty="0"/>
              <a:t> </a:t>
            </a:r>
            <a:r>
              <a:rPr lang="en-US" altLang="zh-CN" dirty="0" smtClean="0"/>
              <a:t>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dirty="0" smtClean="0"/>
              <a:t>);</a:t>
            </a:r>
          </a:p>
          <a:p>
            <a:pPr>
              <a:buClr>
                <a:srgbClr val="94003F"/>
              </a:buClr>
            </a:pPr>
            <a:r>
              <a:rPr lang="zh-CN" altLang="en-US" dirty="0" smtClean="0"/>
              <a:t>      </a:t>
            </a:r>
            <a:r>
              <a:rPr lang="en-US" altLang="zh-CN" b="1" dirty="0" err="1" smtClean="0"/>
              <a:t>draw_chassis</a:t>
            </a:r>
            <a:r>
              <a:rPr lang="en-US" altLang="zh-CN" dirty="0" smtClean="0"/>
              <a:t>(</a:t>
            </a:r>
            <a:r>
              <a:rPr lang="en-US" altLang="zh-CN" dirty="0"/>
              <a:t>t,</a:t>
            </a:r>
            <a:r>
              <a:rPr lang="zh-CN" altLang="en-US" dirty="0"/>
              <a:t> </a:t>
            </a:r>
            <a:r>
              <a:rPr lang="en-US" altLang="zh-CN" dirty="0" smtClean="0"/>
              <a:t>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196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汽车</a:t>
            </a:r>
            <a:r>
              <a:rPr lang="zh-CN" altLang="en-US" dirty="0" smtClean="0"/>
              <a:t>的层级模型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树状结构：</a:t>
            </a: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9" y="1812470"/>
            <a:ext cx="7673030" cy="37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8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在数学上，一个图（</a:t>
            </a:r>
            <a:r>
              <a:rPr lang="en-US" altLang="zh-CN" sz="2400" dirty="0" smtClean="0"/>
              <a:t>graph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由一些节点</a:t>
            </a:r>
            <a:r>
              <a:rPr lang="zh-CN" altLang="en-US" sz="2400" dirty="0"/>
              <a:t>（</a:t>
            </a:r>
            <a:r>
              <a:rPr lang="en-US" altLang="zh-CN" sz="2400" dirty="0"/>
              <a:t>node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和一些边</a:t>
            </a:r>
            <a:r>
              <a:rPr lang="zh-CN" altLang="en-US" sz="2400" dirty="0"/>
              <a:t>（</a:t>
            </a:r>
            <a:r>
              <a:rPr lang="en-US" altLang="zh-CN" sz="2400" dirty="0" smtClean="0"/>
              <a:t>edge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组成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一条边</a:t>
            </a:r>
            <a:r>
              <a:rPr lang="zh-CN" altLang="en-US" sz="2400" dirty="0"/>
              <a:t>连接两个</a:t>
            </a:r>
            <a:r>
              <a:rPr lang="zh-CN" altLang="en-US" sz="2400" dirty="0" smtClean="0"/>
              <a:t>节点 ，可以具有方向性                                  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有向图（</a:t>
            </a:r>
            <a:r>
              <a:rPr lang="en-US" altLang="zh-CN" sz="1800" dirty="0">
                <a:solidFill>
                  <a:srgbClr val="0000FF"/>
                </a:solidFill>
              </a:rPr>
              <a:t>directed graph</a:t>
            </a:r>
            <a:r>
              <a:rPr lang="zh-CN" altLang="en-US" sz="1800" dirty="0">
                <a:solidFill>
                  <a:srgbClr val="0000FF"/>
                </a:solidFill>
              </a:rPr>
              <a:t>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无向图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环路</a:t>
            </a:r>
            <a:r>
              <a:rPr lang="zh-CN" altLang="en-US" sz="2400" dirty="0"/>
              <a:t>（</a:t>
            </a:r>
            <a:r>
              <a:rPr lang="en-US" altLang="zh-CN" sz="2400" dirty="0"/>
              <a:t>cycle</a:t>
            </a:r>
            <a:r>
              <a:rPr lang="zh-CN" altLang="en-US" sz="2400" dirty="0"/>
              <a:t>）</a:t>
            </a:r>
            <a:r>
              <a:rPr lang="en-US" altLang="zh-CN" sz="2400" dirty="0"/>
              <a:t>: </a:t>
            </a:r>
            <a:r>
              <a:rPr lang="zh-CN" altLang="en-US" sz="2400" dirty="0" smtClean="0"/>
              <a:t>一</a:t>
            </a:r>
            <a:r>
              <a:rPr lang="zh-CN" altLang="en-US" sz="2400" dirty="0"/>
              <a:t>个循环的有向路径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87" y="4661107"/>
            <a:ext cx="4265900" cy="219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4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树是一</a:t>
            </a:r>
            <a:r>
              <a:rPr lang="zh-CN" altLang="en-US" sz="2400" dirty="0"/>
              <a:t>种特殊的</a:t>
            </a:r>
            <a:r>
              <a:rPr lang="zh-CN" altLang="en-US" sz="2400" dirty="0" smtClean="0"/>
              <a:t>图结构：没有环路的图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每个节点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都有</a:t>
            </a:r>
            <a:r>
              <a:rPr lang="zh-CN" altLang="en-US" sz="1800" dirty="0"/>
              <a:t>一个</a:t>
            </a:r>
            <a:r>
              <a:rPr lang="zh-CN" altLang="en-US" sz="1800" dirty="0" smtClean="0"/>
              <a:t>父节点</a:t>
            </a:r>
            <a:r>
              <a:rPr lang="zh-CN" altLang="en-US" sz="1800" dirty="0"/>
              <a:t>（除了根节点</a:t>
            </a:r>
            <a:r>
              <a:rPr lang="zh-CN" altLang="en-US" sz="1800" dirty="0" smtClean="0"/>
              <a:t>）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可以</a:t>
            </a:r>
            <a:r>
              <a:rPr lang="zh-CN" altLang="en-US" sz="1800" dirty="0"/>
              <a:t>有多个子节点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叶子节点：</a:t>
            </a:r>
            <a:r>
              <a:rPr lang="zh-CN" altLang="en-US" sz="2400" dirty="0"/>
              <a:t>没有子节点的节点</a:t>
            </a:r>
            <a:endParaRPr lang="zh-CN" altLang="en-US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87" y="3492500"/>
            <a:ext cx="4854614" cy="291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有向无环图（</a:t>
            </a:r>
            <a:r>
              <a:rPr lang="en-US" altLang="zh-CN" dirty="0" smtClean="0"/>
              <a:t>DAG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汽车</a:t>
            </a:r>
            <a:r>
              <a:rPr lang="zh-CN" altLang="en-US" sz="2400" dirty="0" smtClean="0"/>
              <a:t>的轮子</a:t>
            </a:r>
            <a:r>
              <a:rPr lang="zh-CN" altLang="en-US" sz="2400" dirty="0"/>
              <a:t>都是相同的，只是他们的位置和方向</a:t>
            </a:r>
            <a:r>
              <a:rPr lang="zh-CN" altLang="en-US" sz="2400" dirty="0" smtClean="0"/>
              <a:t>不同</a:t>
            </a:r>
            <a:endParaRPr lang="zh-CN" altLang="en-US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他们是相同图符的不同实例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可表示成有</a:t>
            </a:r>
            <a:r>
              <a:rPr lang="zh-CN" altLang="en-US" sz="2400" dirty="0"/>
              <a:t>向</a:t>
            </a:r>
            <a:r>
              <a:rPr lang="zh-CN" altLang="en-US" sz="2400" dirty="0" smtClean="0"/>
              <a:t>无环图</a:t>
            </a:r>
            <a:r>
              <a:rPr lang="zh-CN" altLang="en-US" sz="2400" dirty="0"/>
              <a:t>（</a:t>
            </a:r>
            <a:r>
              <a:rPr lang="en-US" altLang="zh-CN" sz="2400" dirty="0"/>
              <a:t>directed acyclic graph, DAG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与树结构的处理没有很大的不同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216" y="3204442"/>
            <a:ext cx="2263605" cy="3483438"/>
          </a:xfrm>
          <a:prstGeom prst="rect">
            <a:avLst/>
          </a:prstGeom>
        </p:spPr>
      </p:pic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40009"/>
            <a:ext cx="4816709" cy="23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应用树结构建模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需要确定把哪种信息放在节点上，哪种信息放在</a:t>
            </a:r>
            <a:r>
              <a:rPr lang="zh-CN" altLang="en-US" sz="2400" dirty="0" smtClean="0">
                <a:solidFill>
                  <a:srgbClr val="0000FF"/>
                </a:solidFill>
              </a:rPr>
              <a:t>边上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节点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要绘制</a:t>
            </a:r>
            <a:r>
              <a:rPr lang="zh-CN" altLang="en-US" sz="1800" dirty="0" smtClean="0"/>
              <a:t>的实例</a:t>
            </a:r>
            <a:endParaRPr lang="zh-CN" altLang="en-US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指向</a:t>
            </a:r>
            <a:r>
              <a:rPr lang="zh-CN" altLang="en-US" sz="1800" dirty="0"/>
              <a:t>子节点的</a:t>
            </a:r>
            <a:r>
              <a:rPr lang="zh-CN" altLang="en-US" sz="1800" dirty="0" smtClean="0"/>
              <a:t>指针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边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可以</a:t>
            </a:r>
            <a:r>
              <a:rPr lang="zh-CN" altLang="en-US" sz="1800" dirty="0" smtClean="0"/>
              <a:t>包含变换</a:t>
            </a:r>
            <a:r>
              <a:rPr lang="zh-CN" altLang="en-US" sz="1800" dirty="0"/>
              <a:t>矩阵改变的信息（也可以保存在节点处）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7" y="3777828"/>
            <a:ext cx="5587490" cy="271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0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7767" y="3364107"/>
            <a:ext cx="399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机器人手臂的实现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0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关联模型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 smtClean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部件之间</a:t>
            </a:r>
            <a:r>
              <a:rPr lang="zh-CN" altLang="en-US" sz="2400" dirty="0"/>
              <a:t>在关节</a:t>
            </a:r>
            <a:r>
              <a:rPr lang="zh-CN" altLang="en-US" sz="2400" dirty="0" smtClean="0"/>
              <a:t>处连接</a:t>
            </a:r>
            <a:r>
              <a:rPr lang="zh-CN" altLang="en-US" sz="2400" dirty="0"/>
              <a:t>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可以通过给定</a:t>
            </a:r>
            <a:r>
              <a:rPr lang="zh-CN" altLang="en-US" sz="2400" dirty="0" smtClean="0">
                <a:solidFill>
                  <a:srgbClr val="0000FF"/>
                </a:solidFill>
              </a:rPr>
              <a:t>关节角</a:t>
            </a:r>
            <a:r>
              <a:rPr lang="zh-CN" altLang="en-US" sz="2400" dirty="0" smtClean="0"/>
              <a:t>指定模型的状态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4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运动自由度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支架独立</a:t>
            </a:r>
            <a:r>
              <a:rPr lang="zh-CN" altLang="en-US" sz="2400" dirty="0"/>
              <a:t>旋转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单个</a:t>
            </a:r>
            <a:r>
              <a:rPr lang="zh-CN" altLang="en-US" sz="1600" dirty="0"/>
              <a:t>角度确定它的</a:t>
            </a:r>
            <a:r>
              <a:rPr lang="zh-CN" altLang="en-US" sz="1600" dirty="0" smtClean="0"/>
              <a:t>位置</a:t>
            </a:r>
            <a:endParaRPr lang="zh-CN" altLang="en-US" sz="16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下臂</a:t>
            </a:r>
            <a:r>
              <a:rPr lang="zh-CN" altLang="en-US" sz="2400" dirty="0"/>
              <a:t>与</a:t>
            </a:r>
            <a:r>
              <a:rPr lang="zh-CN" altLang="en-US" sz="2400" dirty="0" smtClean="0"/>
              <a:t>支架相连</a:t>
            </a:r>
            <a:endParaRPr lang="zh-CN" altLang="en-US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它</a:t>
            </a:r>
            <a:r>
              <a:rPr lang="zh-CN" altLang="en-US" sz="1600" dirty="0"/>
              <a:t>的位置与支架的旋转</a:t>
            </a:r>
            <a:r>
              <a:rPr lang="zh-CN" altLang="en-US" sz="1600" dirty="0" smtClean="0"/>
              <a:t>相关，会随着支架运动</a:t>
            </a:r>
            <a:endParaRPr lang="zh-CN" altLang="en-US" sz="16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必须</a:t>
            </a:r>
            <a:r>
              <a:rPr lang="zh-CN" altLang="en-US" sz="1600" dirty="0"/>
              <a:t>相对于支架</a:t>
            </a:r>
            <a:r>
              <a:rPr lang="zh-CN" altLang="en-US" sz="1600" dirty="0" smtClean="0"/>
              <a:t>平移，并且绕关节处旋</a:t>
            </a:r>
            <a:r>
              <a:rPr lang="zh-CN" altLang="en-US" sz="1600" dirty="0"/>
              <a:t>转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上臂</a:t>
            </a:r>
            <a:r>
              <a:rPr lang="zh-CN" altLang="en-US" sz="2400" dirty="0"/>
              <a:t>与下臂相连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它</a:t>
            </a:r>
            <a:r>
              <a:rPr lang="zh-CN" altLang="en-US" sz="1600" dirty="0"/>
              <a:t>的位置与支架和下臂的位置</a:t>
            </a:r>
            <a:r>
              <a:rPr lang="zh-CN" altLang="en-US" sz="1600" dirty="0" smtClean="0"/>
              <a:t>有关，会随着下臂运动</a:t>
            </a:r>
            <a:endParaRPr lang="zh-CN" altLang="en-US" sz="16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相对</a:t>
            </a:r>
            <a:r>
              <a:rPr lang="zh-CN" altLang="en-US" sz="1600" dirty="0"/>
              <a:t>于</a:t>
            </a:r>
            <a:r>
              <a:rPr lang="zh-CN" altLang="en-US" sz="1600" dirty="0" smtClean="0"/>
              <a:t>下臂平移</a:t>
            </a:r>
            <a:r>
              <a:rPr lang="zh-CN" altLang="en-US" sz="1600" dirty="0"/>
              <a:t>，并且绕与下臂相连的关节处旋转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4098471" y="829765"/>
            <a:ext cx="1073888" cy="1694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5945317" y="2224802"/>
            <a:ext cx="1063256" cy="15422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939273" y="3767090"/>
            <a:ext cx="1094197" cy="1542288"/>
          </a:xfrm>
          <a:prstGeom prst="rect">
            <a:avLst/>
          </a:prstGeom>
        </p:spPr>
      </p:pic>
      <p:pic>
        <p:nvPicPr>
          <p:cNvPr id="11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630" y="754354"/>
            <a:ext cx="1358157" cy="21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变换矩阵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支架</a:t>
                </a:r>
                <a:r>
                  <a:rPr lang="zh-CN" altLang="en-US" sz="2400" dirty="0"/>
                  <a:t>的旋转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下臂</a:t>
                </a:r>
                <a:r>
                  <a:rPr lang="zh-CN" altLang="en-US" sz="2400" dirty="0"/>
                  <a:t>相对于支架部分部分平移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下</a:t>
                </a:r>
                <a:r>
                  <a:rPr lang="zh-CN" altLang="en-US" sz="2400" dirty="0"/>
                  <a:t>臂绕关节旋转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应用</a:t>
                </a:r>
                <a:r>
                  <a:rPr lang="zh-CN" altLang="en-US" sz="1600" dirty="0"/>
                  <a:t>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上臂</a:t>
                </a:r>
                <a:r>
                  <a:rPr lang="zh-CN" altLang="en-US" sz="2400" dirty="0"/>
                  <a:t>相对于下臂平移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上臂</a:t>
                </a:r>
                <a:r>
                  <a:rPr lang="zh-CN" altLang="en-US" sz="2400" dirty="0"/>
                  <a:t>绕关节旋转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应用</a:t>
                </a:r>
                <a:r>
                  <a:rPr lang="zh-CN" altLang="en-US" sz="1600" dirty="0"/>
                  <a:t>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以增量的方式改变模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视矩阵以体现运动联动性：</a:t>
            </a:r>
            <a:endParaRPr lang="en-US" altLang="zh-CN" sz="2400" dirty="0" smtClean="0"/>
          </a:p>
          <a:p>
            <a:pPr lvl="1"/>
            <a:r>
              <a:rPr lang="zh-CN" altLang="en-US" sz="1600" dirty="0" smtClean="0"/>
              <a:t>假设给定了三个关节角：</a:t>
            </a:r>
            <a:r>
              <a:rPr lang="en-US" sz="1600" dirty="0" smtClean="0"/>
              <a:t>Theta[Base]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sz="1600" dirty="0" smtClean="0"/>
              <a:t>Theta[</a:t>
            </a:r>
            <a:r>
              <a:rPr lang="en-US" sz="1600" dirty="0" err="1" smtClean="0"/>
              <a:t>LowerArm</a:t>
            </a:r>
            <a:r>
              <a:rPr lang="en-US" altLang="zh-CN" sz="1600" dirty="0" smtClean="0"/>
              <a:t>],</a:t>
            </a:r>
            <a:r>
              <a:rPr lang="zh-CN" altLang="en-US" sz="1600" dirty="0" smtClean="0"/>
              <a:t> </a:t>
            </a:r>
            <a:r>
              <a:rPr lang="en-US" sz="1600" dirty="0" smtClean="0"/>
              <a:t>Theta[</a:t>
            </a:r>
            <a:r>
              <a:rPr lang="en-US" sz="1600" dirty="0" err="1" smtClean="0"/>
              <a:t>UpperArm</a:t>
            </a:r>
            <a:r>
              <a:rPr lang="en-US" sz="1600" dirty="0"/>
              <a:t>]</a:t>
            </a:r>
            <a:r>
              <a:rPr lang="zh-CN" altLang="en-US" sz="1600" dirty="0" smtClean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</a:t>
            </a:r>
            <a:r>
              <a:rPr lang="en-US" dirty="0" smtClean="0"/>
              <a:t>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支架变换</a:t>
            </a:r>
            <a:r>
              <a:rPr lang="zh-CN" altLang="en-US" dirty="0">
                <a:solidFill>
                  <a:schemeClr val="accent6"/>
                </a:solidFill>
              </a:rPr>
              <a:t>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smtClean="0"/>
              <a:t>base</a:t>
            </a:r>
            <a:r>
              <a:rPr lang="en-US" dirty="0" smtClean="0"/>
              <a:t>();</a:t>
            </a:r>
            <a:r>
              <a:rPr lang="zh-CN" altLang="en-US" dirty="0" smtClean="0"/>
              <a:t> 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绘制支架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 smtClean="0"/>
              <a:t>model_view</a:t>
            </a:r>
            <a:r>
              <a:rPr lang="en-US" dirty="0" smtClean="0"/>
              <a:t> = </a:t>
            </a:r>
            <a:r>
              <a:rPr lang="en-US" dirty="0" err="1" smtClean="0"/>
              <a:t>model_view</a:t>
            </a:r>
            <a:r>
              <a:rPr lang="zh-CN" altLang="en-US" dirty="0" smtClean="0"/>
              <a:t> * </a:t>
            </a:r>
            <a:r>
              <a:rPr lang="en-US" b="1" dirty="0" smtClean="0"/>
              <a:t>Translate</a:t>
            </a:r>
            <a:r>
              <a:rPr lang="en-US" dirty="0" smtClean="0"/>
              <a:t>(0.0</a:t>
            </a:r>
            <a:r>
              <a:rPr lang="en-US" dirty="0"/>
              <a:t>, BASE_HEIGHT, 0.0) </a:t>
            </a:r>
          </a:p>
          <a:p>
            <a:r>
              <a:rPr lang="en-US" dirty="0"/>
              <a:t>		    </a:t>
            </a:r>
            <a:r>
              <a:rPr lang="zh-CN" altLang="en-US" dirty="0" smtClean="0"/>
              <a:t>          * </a:t>
            </a:r>
            <a:r>
              <a:rPr lang="en-US" b="1" dirty="0" err="1" smtClean="0"/>
              <a:t>RotateZ</a:t>
            </a:r>
            <a:r>
              <a:rPr lang="en-US" dirty="0" smtClean="0"/>
              <a:t>(Theta[</a:t>
            </a:r>
            <a:r>
              <a:rPr lang="en-US" dirty="0" err="1" smtClean="0"/>
              <a:t>LowerArm</a:t>
            </a:r>
            <a:r>
              <a:rPr lang="en-US" dirty="0" smtClean="0"/>
              <a:t>]);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</a:t>
            </a:r>
            <a:r>
              <a:rPr lang="zh-CN" altLang="en-US" dirty="0" smtClean="0">
                <a:solidFill>
                  <a:schemeClr val="accent6"/>
                </a:solidFill>
              </a:rPr>
              <a:t>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 smtClean="0"/>
              <a:t>lower_arm</a:t>
            </a:r>
            <a:r>
              <a:rPr lang="en-US" dirty="0" smtClean="0"/>
              <a:t>();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  <a:endParaRPr lang="en-US" dirty="0" smtClean="0"/>
          </a:p>
          <a:p>
            <a:r>
              <a:rPr lang="en-US" dirty="0" err="1" smtClean="0"/>
              <a:t>model_view</a:t>
            </a:r>
            <a:r>
              <a:rPr lang="en-US" dirty="0" smtClean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 smtClean="0"/>
              <a:t>Translate</a:t>
            </a:r>
            <a:r>
              <a:rPr lang="en-US" dirty="0" smtClean="0"/>
              <a:t>(0.0</a:t>
            </a:r>
            <a:r>
              <a:rPr lang="en-US" dirty="0"/>
              <a:t>, LOWER_ARM_HEIGHT, 0.0) </a:t>
            </a:r>
          </a:p>
          <a:p>
            <a:r>
              <a:rPr lang="en-US" dirty="0"/>
              <a:t>		    </a:t>
            </a:r>
            <a:r>
              <a:rPr lang="zh-CN" altLang="en-US" dirty="0" smtClean="0"/>
              <a:t>          * </a:t>
            </a:r>
            <a:r>
              <a:rPr lang="en-US" b="1" dirty="0" err="1" smtClean="0"/>
              <a:t>RotateZ</a:t>
            </a:r>
            <a:r>
              <a:rPr lang="en-US" dirty="0" smtClean="0"/>
              <a:t>(Theta[</a:t>
            </a:r>
            <a:r>
              <a:rPr lang="en-US" dirty="0" err="1" smtClean="0"/>
              <a:t>UpperArm</a:t>
            </a:r>
            <a:r>
              <a:rPr lang="en-US" dirty="0" smtClean="0"/>
              <a:t>]);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 smtClean="0"/>
              <a:t>upper_arm</a:t>
            </a:r>
            <a:r>
              <a:rPr lang="en-US" dirty="0" smtClean="0"/>
              <a:t>();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249183" y="2188931"/>
                <a:ext cx="8615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183" y="2188931"/>
                <a:ext cx="861583" cy="369332"/>
              </a:xfrm>
              <a:prstGeom prst="rect">
                <a:avLst/>
              </a:prstGeom>
              <a:blipFill>
                <a:blip r:embed="rId4"/>
                <a:stretch>
                  <a:fillRect l="-567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654113" y="3535950"/>
                <a:ext cx="13698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113" y="3535950"/>
                <a:ext cx="1369862" cy="369332"/>
              </a:xfrm>
              <a:prstGeom prst="rect">
                <a:avLst/>
              </a:prstGeom>
              <a:blipFill>
                <a:blip r:embed="rId5"/>
                <a:stretch>
                  <a:fillRect l="-4018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398283" y="4640722"/>
                <a:ext cx="20765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83" y="4640722"/>
                <a:ext cx="2076594" cy="369332"/>
              </a:xfrm>
              <a:prstGeom prst="rect">
                <a:avLst/>
              </a:prstGeom>
              <a:blipFill>
                <a:blip r:embed="rId6"/>
                <a:stretch>
                  <a:fillRect l="-2647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38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绘制每一个部件实例：</a:t>
            </a:r>
            <a:r>
              <a:rPr lang="zh-CN" altLang="en-US" dirty="0" smtClean="0">
                <a:solidFill>
                  <a:srgbClr val="0000FF"/>
                </a:solidFill>
              </a:rPr>
              <a:t>图符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zh-CN" altLang="en-US" dirty="0" smtClean="0">
                <a:solidFill>
                  <a:srgbClr val="0000FF"/>
                </a:solidFill>
              </a:rPr>
              <a:t>实例变换矩阵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实验</a:t>
            </a:r>
            <a:r>
              <a:rPr lang="zh-CN" altLang="en-US" dirty="0"/>
              <a:t>补充</a:t>
            </a:r>
            <a:r>
              <a:rPr lang="en-US" altLang="zh-CN" dirty="0" smtClean="0"/>
              <a:t>1</a:t>
            </a:r>
            <a:r>
              <a:rPr lang="zh-CN" altLang="en-US" dirty="0" smtClean="0"/>
              <a:t>中以</a:t>
            </a:r>
            <a:r>
              <a:rPr lang="zh-CN" altLang="en-US" dirty="0" smtClean="0">
                <a:solidFill>
                  <a:srgbClr val="0000FF"/>
                </a:solidFill>
              </a:rPr>
              <a:t>单位正方体</a:t>
            </a:r>
            <a:r>
              <a:rPr lang="zh-CN" altLang="en-US" dirty="0" smtClean="0"/>
              <a:t>作为图符：中心在原点，边长为</a:t>
            </a:r>
            <a:r>
              <a:rPr lang="en-US" altLang="zh-CN" dirty="0" smtClean="0"/>
              <a:t>1</a:t>
            </a:r>
          </a:p>
          <a:p>
            <a:pPr lvl="1"/>
            <a:r>
              <a:rPr lang="zh-CN" altLang="en-US" dirty="0" smtClean="0"/>
              <a:t>以上臂为例：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797442" y="3628940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 smtClean="0"/>
              <a:t>upper_arm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 smtClean="0">
                <a:solidFill>
                  <a:srgbClr val="0000FF"/>
                </a:solidFill>
              </a:rPr>
              <a:t>mat4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/>
              <a:t>instance = </a:t>
            </a:r>
            <a:r>
              <a:rPr lang="en-US" dirty="0" smtClean="0"/>
              <a:t>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 smtClean="0"/>
              <a:t>UPPER</a:t>
            </a:r>
            <a:r>
              <a:rPr lang="en-US" dirty="0" smtClean="0"/>
              <a:t>_</a:t>
            </a:r>
            <a:r>
              <a:rPr lang="en-US" altLang="zh-CN" dirty="0" smtClean="0"/>
              <a:t>ARM_</a:t>
            </a:r>
            <a:r>
              <a:rPr lang="en-US" dirty="0" smtClean="0"/>
              <a:t>HEIGHT</a:t>
            </a:r>
            <a:r>
              <a:rPr lang="en-US" dirty="0"/>
              <a:t>, 0.0 ) </a:t>
            </a:r>
            <a:endParaRPr lang="en-US" dirty="0" smtClean="0"/>
          </a:p>
          <a:p>
            <a:pPr lvl="1"/>
            <a:r>
              <a:rPr lang="zh-CN" altLang="en-US" dirty="0"/>
              <a:t> </a:t>
            </a:r>
            <a:r>
              <a:rPr lang="zh-CN" altLang="en-US" dirty="0" smtClean="0"/>
              <a:t>                           </a:t>
            </a:r>
            <a:r>
              <a:rPr lang="en-US" dirty="0" smtClean="0"/>
              <a:t>* </a:t>
            </a:r>
            <a:r>
              <a:rPr lang="en-US" b="1" dirty="0" smtClean="0"/>
              <a:t>Scale</a:t>
            </a:r>
            <a:r>
              <a:rPr lang="en-US" dirty="0" smtClean="0"/>
              <a:t>(</a:t>
            </a:r>
            <a:r>
              <a:rPr lang="en-US" altLang="zh-CN" dirty="0" smtClean="0"/>
              <a:t>UA_</a:t>
            </a:r>
            <a:r>
              <a:rPr lang="en-US" dirty="0" smtClean="0"/>
              <a:t>WIDTH,</a:t>
            </a:r>
            <a:r>
              <a:rPr lang="zh-CN" altLang="en-US" dirty="0" smtClean="0"/>
              <a:t> </a:t>
            </a:r>
            <a:r>
              <a:rPr lang="en-US" altLang="zh-CN" dirty="0" smtClean="0"/>
              <a:t>UA_</a:t>
            </a:r>
            <a:r>
              <a:rPr lang="en-US" dirty="0" smtClean="0"/>
              <a:t>HEIGHT,</a:t>
            </a:r>
            <a:r>
              <a:rPr lang="zh-CN" altLang="en-US" dirty="0" smtClean="0"/>
              <a:t> </a:t>
            </a:r>
            <a:r>
              <a:rPr lang="en-US" altLang="zh-CN" dirty="0" smtClean="0"/>
              <a:t>UA_</a:t>
            </a:r>
            <a:r>
              <a:rPr lang="en-US" dirty="0" smtClean="0"/>
              <a:t>WIDTH </a:t>
            </a:r>
            <a:r>
              <a:rPr lang="en-US" dirty="0"/>
              <a:t>) </a:t>
            </a:r>
            <a:r>
              <a:rPr lang="en-US" dirty="0" smtClean="0"/>
              <a:t>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</a:t>
            </a:r>
            <a:r>
              <a:rPr lang="zh-CN" altLang="en-US" dirty="0" smtClean="0">
                <a:solidFill>
                  <a:schemeClr val="accent6"/>
                </a:solidFill>
              </a:rPr>
              <a:t>平移使得底面在</a:t>
            </a:r>
            <a:r>
              <a:rPr lang="en-US" altLang="zh-CN" dirty="0" smtClean="0">
                <a:solidFill>
                  <a:schemeClr val="accent6"/>
                </a:solidFill>
              </a:rPr>
              <a:t>y=0</a:t>
            </a:r>
            <a:r>
              <a:rPr lang="zh-CN" altLang="en-US" dirty="0" smtClean="0">
                <a:solidFill>
                  <a:schemeClr val="accent6"/>
                </a:solidFill>
              </a:rPr>
              <a:t>上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 smtClean="0"/>
              <a:t>glUniformMatrix4fv</a:t>
            </a:r>
            <a:r>
              <a:rPr lang="en-US" dirty="0" smtClean="0"/>
              <a:t>(</a:t>
            </a:r>
            <a:r>
              <a:rPr lang="en-US" dirty="0" err="1" smtClean="0"/>
              <a:t>ModelView</a:t>
            </a:r>
            <a:r>
              <a:rPr lang="en-US" dirty="0"/>
              <a:t>, 1, GL_TRUE,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 smtClean="0"/>
              <a:t>);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将完整的模</a:t>
            </a:r>
            <a:r>
              <a:rPr lang="en-US" altLang="zh-CN" dirty="0" smtClean="0">
                <a:solidFill>
                  <a:schemeClr val="accent6"/>
                </a:solidFill>
              </a:rPr>
              <a:t>-</a:t>
            </a:r>
            <a:r>
              <a:rPr lang="zh-CN" altLang="en-US" dirty="0" smtClean="0">
                <a:solidFill>
                  <a:schemeClr val="accent6"/>
                </a:solidFill>
              </a:rPr>
              <a:t>视矩阵</a:t>
            </a:r>
            <a:r>
              <a:rPr lang="zh-CN" altLang="en-US" dirty="0">
                <a:solidFill>
                  <a:schemeClr val="accent6"/>
                </a:solidFill>
              </a:rPr>
              <a:t>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 smtClean="0"/>
          </a:p>
          <a:p>
            <a:pPr lvl="1"/>
            <a:r>
              <a:rPr lang="zh-CN" altLang="en-US" i="1" dirty="0" smtClean="0"/>
              <a:t> </a:t>
            </a:r>
            <a:r>
              <a:rPr lang="en-US" b="1" dirty="0" err="1" smtClean="0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</a:t>
            </a:r>
            <a:r>
              <a:rPr lang="en-US" dirty="0" smtClean="0"/>
              <a:t>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绘制相应的三角</a:t>
            </a:r>
            <a:r>
              <a:rPr lang="zh-CN" altLang="en-US" dirty="0">
                <a:solidFill>
                  <a:schemeClr val="accent6"/>
                </a:solidFill>
              </a:rPr>
              <a:t>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72407" y="43171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图符到实例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74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实验补充 </a:t>
            </a:r>
            <a:r>
              <a:rPr lang="en-US" altLang="zh-CN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 smtClean="0"/>
              <a:t>-</a:t>
            </a:r>
            <a:r>
              <a:rPr lang="zh-CN" altLang="en-US" sz="2400" dirty="0" smtClean="0"/>
              <a:t>机械手臂</a:t>
            </a:r>
            <a:endParaRPr lang="en-US" altLang="zh-CN" sz="2400" dirty="0" smtClean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892372" y="3085565"/>
            <a:ext cx="2679506" cy="2846648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329070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高配版：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69219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低配版：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08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 </a:t>
            </a:r>
            <a:r>
              <a:rPr lang="en-US" altLang="zh-CN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读取</a:t>
            </a:r>
            <a:r>
              <a:rPr lang="zh-CN" altLang="en-US" dirty="0"/>
              <a:t>带纹理的</a:t>
            </a:r>
            <a:r>
              <a:rPr lang="en-US" dirty="0" err="1"/>
              <a:t>obj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载入</a:t>
            </a:r>
            <a:r>
              <a:rPr lang="zh-CN" altLang="en-US" dirty="0"/>
              <a:t>相应的纹理图片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zh-CN" altLang="en-US" dirty="0"/>
              <a:t>带纹理的模型显示在程序窗口中</a:t>
            </a:r>
            <a:r>
              <a:rPr lang="en-US" dirty="0"/>
              <a:t>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截止</a:t>
            </a:r>
            <a:r>
              <a:rPr lang="zh-CN" altLang="en-US" dirty="0"/>
              <a:t>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</a:t>
            </a:r>
            <a:r>
              <a:rPr lang="en-US" altLang="zh-CN" b="1" dirty="0" smtClean="0">
                <a:solidFill>
                  <a:srgbClr val="FF0000"/>
                </a:solidFill>
              </a:rPr>
              <a:t>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06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23:59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03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</a:t>
            </a:r>
            <a:r>
              <a:rPr lang="zh-CN" altLang="en-US" dirty="0" smtClean="0"/>
              <a:t>建模</a:t>
            </a:r>
            <a:endParaRPr lang="en-US" altLang="en-US" dirty="0"/>
          </a:p>
          <a:p>
            <a:pPr lvl="1"/>
            <a:r>
              <a:rPr lang="zh-CN" altLang="en-US" dirty="0"/>
              <a:t>场景设计和</a:t>
            </a:r>
            <a:r>
              <a:rPr lang="zh-CN" altLang="en-US" dirty="0" smtClean="0"/>
              <a:t>显示；添加纹理；添加光照，</a:t>
            </a:r>
            <a:r>
              <a:rPr lang="zh-CN" altLang="en-US" dirty="0"/>
              <a:t>材质，阴影效果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zh-CN" altLang="en-US" dirty="0"/>
              <a:t>用户交互实现视角切换完成对场景的任意角度</a:t>
            </a:r>
            <a:r>
              <a:rPr lang="zh-CN" altLang="en-US" dirty="0" smtClean="0"/>
              <a:t>浏览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zh-CN" altLang="en-US" dirty="0"/>
              <a:t>交互控制</a:t>
            </a:r>
            <a:r>
              <a:rPr lang="zh-CN" altLang="en-US" dirty="0" smtClean="0"/>
              <a:t>物体变换</a:t>
            </a:r>
            <a:endParaRPr lang="en-US" altLang="zh-CN" dirty="0" smtClean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02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23:59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18</a:t>
            </a:r>
            <a:r>
              <a:rPr lang="zh-CN" altLang="en-US" b="1" dirty="0" smtClean="0">
                <a:solidFill>
                  <a:srgbClr val="FF0000"/>
                </a:solidFill>
              </a:rPr>
              <a:t>周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2023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27</a:t>
            </a:r>
            <a:r>
              <a:rPr lang="zh-CN" altLang="en-US" b="1" dirty="0" smtClean="0">
                <a:solidFill>
                  <a:srgbClr val="FF0000"/>
                </a:solidFill>
              </a:rPr>
              <a:t>日、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2024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03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</a:rPr>
              <a:t>将</a:t>
            </a:r>
            <a:r>
              <a:rPr lang="zh-CN" altLang="en-US" b="1" dirty="0">
                <a:solidFill>
                  <a:srgbClr val="FF0000"/>
                </a:solidFill>
              </a:rPr>
              <a:t>安排课程大作业答辩</a:t>
            </a:r>
            <a:r>
              <a:rPr lang="zh-CN" altLang="en-US" dirty="0" smtClean="0"/>
              <a:t>，自愿优先，否则按照</a:t>
            </a:r>
            <a:r>
              <a:rPr lang="zh-CN" altLang="en-US" dirty="0"/>
              <a:t>学号顺序，每人上台展示自己的期末大作业</a:t>
            </a:r>
            <a:r>
              <a:rPr lang="zh-CN" altLang="en-US" dirty="0" smtClean="0"/>
              <a:t>。</a:t>
            </a:r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6" name="Picture 5" descr="C:\Users\xieke\Documents\Tencent Files\2314228897\Image\C2C\FCQHRQJIU96ZXZ){6JJF{RX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56" y="4059477"/>
            <a:ext cx="3678865" cy="261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4059477"/>
            <a:ext cx="2566284" cy="26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 smtClean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 smtClean="0"/>
              <a:t>”，包括：</a:t>
            </a:r>
            <a:endParaRPr lang="en-US" altLang="zh-CN" sz="2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过程说明</a:t>
            </a:r>
            <a:r>
              <a:rPr lang="zh-CN" altLang="en-US" sz="1800" dirty="0"/>
              <a:t>报告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填写</a:t>
            </a:r>
            <a:r>
              <a:rPr lang="en-US" altLang="en-US" sz="1600" dirty="0" smtClean="0"/>
              <a:t>“</a:t>
            </a:r>
            <a:r>
              <a:rPr lang="zh-CN" altLang="en-US" sz="1600" dirty="0" smtClean="0"/>
              <a:t>以</a:t>
            </a:r>
            <a:r>
              <a:rPr lang="zh-CN" altLang="en-US" sz="1600" dirty="0"/>
              <a:t>论文、报告等形式考核专用答题纸</a:t>
            </a:r>
            <a:r>
              <a:rPr lang="en-US" altLang="en-US" sz="1600" dirty="0"/>
              <a:t>.</a:t>
            </a:r>
            <a:r>
              <a:rPr lang="en-US" altLang="en-US" sz="1600" dirty="0" smtClean="0"/>
              <a:t>doc</a:t>
            </a:r>
            <a:r>
              <a:rPr lang="zh-CN" altLang="en-US" sz="1600" dirty="0" smtClean="0"/>
              <a:t>”，</a:t>
            </a:r>
            <a:r>
              <a:rPr lang="zh-CN" altLang="en-US" sz="1600" dirty="0"/>
              <a:t>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使用</a:t>
            </a:r>
            <a:r>
              <a:rPr lang="zh-CN" altLang="en-US" sz="1800" dirty="0"/>
              <a:t>说明书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自行</a:t>
            </a:r>
            <a:r>
              <a:rPr lang="zh-CN" altLang="en-US" sz="1600" dirty="0"/>
              <a:t>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 smtClean="0"/>
              <a:t>”</a:t>
            </a:r>
            <a:endParaRPr lang="en-US" altLang="zh-CN" sz="16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内容</a:t>
            </a:r>
            <a:r>
              <a:rPr lang="zh-CN" altLang="en-US" sz="1600" dirty="0"/>
              <a:t>必须</a:t>
            </a:r>
            <a:r>
              <a:rPr lang="zh-CN" altLang="en-US" sz="1600" dirty="0" smtClean="0"/>
              <a:t>包含：</a:t>
            </a:r>
            <a:endParaRPr lang="en-US" altLang="zh-CN" sz="16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一</a:t>
            </a:r>
            <a:r>
              <a:rPr lang="zh-CN" altLang="en-US" sz="1400" dirty="0"/>
              <a:t>张有代表性</a:t>
            </a:r>
            <a:r>
              <a:rPr lang="zh-CN" altLang="en-US" sz="1400" dirty="0" smtClean="0"/>
              <a:t>的场景绘制截图</a:t>
            </a:r>
            <a:endParaRPr lang="en-US" altLang="zh-CN" sz="1400" dirty="0" smtClean="0"/>
          </a:p>
          <a:p>
            <a:pPr lvl="4">
              <a:spcAft>
                <a:spcPts val="600"/>
              </a:spcAft>
            </a:pPr>
            <a:r>
              <a:rPr lang="zh-CN" altLang="en-US" sz="1400" dirty="0" smtClean="0"/>
              <a:t>将图片单独保存并一起上传，</a:t>
            </a:r>
            <a:r>
              <a:rPr lang="zh-CN" altLang="en-US" sz="1400" dirty="0"/>
              <a:t>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 smtClean="0"/>
              <a:t>”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场景中模型</a:t>
            </a:r>
            <a:r>
              <a:rPr lang="zh-CN" altLang="en-US" sz="1400" dirty="0"/>
              <a:t>的层次结构</a:t>
            </a:r>
            <a:r>
              <a:rPr lang="zh-CN" altLang="en-US" sz="1400" dirty="0" smtClean="0"/>
              <a:t>框图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鼠标</a:t>
            </a:r>
            <a:r>
              <a:rPr lang="zh-CN" altLang="en-US" sz="1400" dirty="0"/>
              <a:t>和键盘的具体交互用</a:t>
            </a:r>
            <a:r>
              <a:rPr lang="zh-CN" altLang="en-US" sz="1400" dirty="0" smtClean="0"/>
              <a:t>法</a:t>
            </a:r>
            <a:endParaRPr lang="en-US" altLang="zh-CN" sz="1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源代</a:t>
            </a:r>
            <a:r>
              <a:rPr lang="zh-CN" altLang="en-US" sz="1800" dirty="0"/>
              <a:t>码压缩包</a:t>
            </a:r>
            <a:r>
              <a:rPr lang="en-US" sz="1800" dirty="0"/>
              <a:t> </a:t>
            </a:r>
            <a:r>
              <a:rPr lang="zh-CN" altLang="en-US" sz="1800" dirty="0" smtClean="0"/>
              <a:t>：</a:t>
            </a:r>
            <a:endParaRPr lang="en-US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41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7125</TotalTime>
  <Words>1431</Words>
  <Application>Microsoft Office PowerPoint</Application>
  <PresentationFormat>全屏显示(4:3)</PresentationFormat>
  <Paragraphs>290</Paragraphs>
  <Slides>31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04b</vt:lpstr>
      <vt:lpstr>楷体_GB2312</vt:lpstr>
      <vt:lpstr>宋体</vt:lpstr>
      <vt:lpstr>Microsoft YaHei</vt:lpstr>
      <vt:lpstr>Microsoft YaHei</vt:lpstr>
      <vt:lpstr>Arial</vt:lpstr>
      <vt:lpstr>Calibri</vt:lpstr>
      <vt:lpstr>Cambria Math</vt:lpstr>
      <vt:lpstr>Wingdings</vt:lpstr>
      <vt:lpstr>Office 主题</vt:lpstr>
      <vt:lpstr>1_Office 主题</vt:lpstr>
      <vt:lpstr>Image</vt:lpstr>
      <vt:lpstr>PowerPoint 演示文稿</vt:lpstr>
      <vt:lpstr>大纲</vt:lpstr>
      <vt:lpstr>内容提要</vt:lpstr>
      <vt:lpstr>大纲</vt:lpstr>
      <vt:lpstr>计算机图形学中的模型</vt:lpstr>
      <vt:lpstr>模型的表示</vt:lpstr>
      <vt:lpstr>Ch03 - 变换的作用（1）</vt:lpstr>
      <vt:lpstr>Ch03 - 变换的作用（1）</vt:lpstr>
      <vt:lpstr>Ch03 - 变换的作用（1）</vt:lpstr>
      <vt:lpstr>图符</vt:lpstr>
      <vt:lpstr>实例变换</vt:lpstr>
      <vt:lpstr>图符-实例表</vt:lpstr>
      <vt:lpstr>大纲</vt:lpstr>
      <vt:lpstr>汽车动画模型</vt:lpstr>
      <vt:lpstr>线性程序</vt:lpstr>
      <vt:lpstr>汽车的层级模型</vt:lpstr>
      <vt:lpstr>图</vt:lpstr>
      <vt:lpstr>树</vt:lpstr>
      <vt:lpstr>有向无环图（DAG）</vt:lpstr>
      <vt:lpstr>应用树结构建模</vt:lpstr>
      <vt:lpstr>大纲</vt:lpstr>
      <vt:lpstr>机器人手臂</vt:lpstr>
      <vt:lpstr>关联模型</vt:lpstr>
      <vt:lpstr>运动自由度</vt:lpstr>
      <vt:lpstr>变换矩阵</vt:lpstr>
      <vt:lpstr>机器人手臂的OpenGL实现</vt:lpstr>
      <vt:lpstr>机器人手臂的OpenGL实现</vt:lpstr>
      <vt:lpstr>实验补充 1</vt:lpstr>
      <vt:lpstr>实验 4</vt:lpstr>
      <vt:lpstr>期末大作业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周 漾</cp:lastModifiedBy>
  <cp:revision>287</cp:revision>
  <dcterms:created xsi:type="dcterms:W3CDTF">2016-08-04T07:29:19Z</dcterms:created>
  <dcterms:modified xsi:type="dcterms:W3CDTF">2023-11-28T08:48:45Z</dcterms:modified>
</cp:coreProperties>
</file>